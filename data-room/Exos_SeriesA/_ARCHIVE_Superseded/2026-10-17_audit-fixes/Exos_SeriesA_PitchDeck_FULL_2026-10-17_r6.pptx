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9"/>
    <p:sldId id="511" r:id="rId10"/>
    <p:sldId id="257" r:id="rId11"/>
    <p:sldId id="258" r:id="rId12"/>
    <p:sldId id="259" r:id="rId13"/>
    <p:sldId id="261" r:id="rId14"/>
    <p:sldId id="262" r:id="rId15"/>
    <p:sldId id="264" r:id="rId16"/>
    <p:sldId id="265" r:id="rId17"/>
    <p:sldId id="266" r:id="rId18"/>
    <p:sldId id="267" r:id="rId19"/>
    <p:sldId id="268" r:id="rId20"/>
    <p:sldId id="269" r:id="rId21"/>
    <p:sldId id="270" r:id="rId22"/>
    <p:sldId id="514" r:id="rId23"/>
    <p:sldId id="518" r:id="rId24"/>
    <p:sldId id="272" r:id="rId25"/>
    <p:sldId id="273" r:id="rId26"/>
    <p:sldId id="27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F55B5-88D9-4BD7-8CB3-C49E08BBB2BB}" v="2" dt="2026-10-17T02:49:36.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606"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Admin)" userId="9ec5d443-2d67-4e26-b1cd-861106efeb5d" providerId="ADAL" clId="{571F70E9-1B0C-46D2-8C0D-E5E87DF9624D}"/>
    <pc:docChg chg="undo custSel addSld delSld modSld">
      <pc:chgData name="John Quinn (Admin)" userId="9ec5d443-2d67-4e26-b1cd-861106efeb5d" providerId="ADAL" clId="{571F70E9-1B0C-46D2-8C0D-E5E87DF9624D}" dt="2026-10-17T02:49:39.610" v="127" actId="47"/>
      <pc:docMkLst>
        <pc:docMk/>
      </pc:docMkLst>
      <pc:sldChg chg="modSp mod">
        <pc:chgData name="John Quinn (Admin)" userId="9ec5d443-2d67-4e26-b1cd-861106efeb5d" providerId="ADAL" clId="{571F70E9-1B0C-46D2-8C0D-E5E87DF9624D}" dt="2026-09-18T11:19:37.933" v="2" actId="14100"/>
        <pc:sldMkLst>
          <pc:docMk/>
          <pc:sldMk cId="0" sldId="268"/>
        </pc:sldMkLst>
        <pc:spChg chg="mod">
          <ac:chgData name="John Quinn (Admin)" userId="9ec5d443-2d67-4e26-b1cd-861106efeb5d" providerId="ADAL" clId="{571F70E9-1B0C-46D2-8C0D-E5E87DF9624D}" dt="2026-09-18T11:19:27.686" v="1" actId="20577"/>
          <ac:spMkLst>
            <pc:docMk/>
            <pc:sldMk cId="0" sldId="268"/>
            <ac:spMk id="6" creationId="{00000000-0000-0000-0000-000000000000}"/>
          </ac:spMkLst>
        </pc:spChg>
        <pc:spChg chg="mod">
          <ac:chgData name="John Quinn (Admin)" userId="9ec5d443-2d67-4e26-b1cd-861106efeb5d" providerId="ADAL" clId="{571F70E9-1B0C-46D2-8C0D-E5E87DF9624D}" dt="2026-09-18T11:19:37.933" v="2" actId="14100"/>
          <ac:spMkLst>
            <pc:docMk/>
            <pc:sldMk cId="0" sldId="268"/>
            <ac:spMk id="9" creationId="{00000000-0000-0000-0000-000000000000}"/>
          </ac:spMkLst>
        </pc:spChg>
      </pc:sldChg>
      <pc:sldChg chg="modSp mod">
        <pc:chgData name="John Quinn (Admin)" userId="9ec5d443-2d67-4e26-b1cd-861106efeb5d" providerId="ADAL" clId="{571F70E9-1B0C-46D2-8C0D-E5E87DF9624D}" dt="2026-09-29T18:19:49.198" v="5" actId="27636"/>
        <pc:sldMkLst>
          <pc:docMk/>
          <pc:sldMk cId="0" sldId="514"/>
        </pc:sldMkLst>
        <pc:spChg chg="mod">
          <ac:chgData name="John Quinn (Admin)" userId="9ec5d443-2d67-4e26-b1cd-861106efeb5d" providerId="ADAL" clId="{571F70E9-1B0C-46D2-8C0D-E5E87DF9624D}" dt="2026-09-29T18:19:49.198" v="5" actId="27636"/>
          <ac:spMkLst>
            <pc:docMk/>
            <pc:sldMk cId="0" sldId="514"/>
            <ac:spMk id="2" creationId="{00000000-0000-0000-0000-000000000000}"/>
          </ac:spMkLst>
        </pc:spChg>
      </pc:sldChg>
      <pc:sldChg chg="del">
        <pc:chgData name="John Quinn (Admin)" userId="9ec5d443-2d67-4e26-b1cd-861106efeb5d" providerId="ADAL" clId="{571F70E9-1B0C-46D2-8C0D-E5E87DF9624D}" dt="2026-10-17T02:49:39.610" v="127" actId="47"/>
        <pc:sldMkLst>
          <pc:docMk/>
          <pc:sldMk cId="230331564" sldId="515"/>
        </pc:sldMkLst>
      </pc:sldChg>
      <pc:sldChg chg="addSp modSp add mod">
        <pc:chgData name="John Quinn (Admin)" userId="9ec5d443-2d67-4e26-b1cd-861106efeb5d" providerId="ADAL" clId="{571F70E9-1B0C-46D2-8C0D-E5E87DF9624D}" dt="2026-09-29T18:21:30.888" v="125" actId="20577"/>
        <pc:sldMkLst>
          <pc:docMk/>
          <pc:sldMk cId="1192431783" sldId="517"/>
        </pc:sldMkLst>
        <pc:spChg chg="mod">
          <ac:chgData name="John Quinn (Admin)" userId="9ec5d443-2d67-4e26-b1cd-861106efeb5d" providerId="ADAL" clId="{571F70E9-1B0C-46D2-8C0D-E5E87DF9624D}" dt="2026-09-29T18:21:30.888" v="125" actId="20577"/>
          <ac:spMkLst>
            <pc:docMk/>
            <pc:sldMk cId="1192431783" sldId="517"/>
            <ac:spMk id="4" creationId="{6F0426BE-6C6F-7365-C4F7-31570EA51587}"/>
          </ac:spMkLst>
        </pc:spChg>
        <pc:spChg chg="mod">
          <ac:chgData name="John Quinn (Admin)" userId="9ec5d443-2d67-4e26-b1cd-861106efeb5d" providerId="ADAL" clId="{571F70E9-1B0C-46D2-8C0D-E5E87DF9624D}" dt="2026-09-29T18:19:56.197" v="7" actId="20577"/>
          <ac:spMkLst>
            <pc:docMk/>
            <pc:sldMk cId="1192431783" sldId="517"/>
            <ac:spMk id="6" creationId="{3AF162F2-524D-FEDD-3DDF-F69668A24FA9}"/>
          </ac:spMkLst>
        </pc:spChg>
        <pc:picChg chg="add mod">
          <ac:chgData name="John Quinn (Admin)" userId="9ec5d443-2d67-4e26-b1cd-861106efeb5d" providerId="ADAL" clId="{571F70E9-1B0C-46D2-8C0D-E5E87DF9624D}" dt="2026-09-29T18:20:44.816" v="24" actId="27614"/>
          <ac:picMkLst>
            <pc:docMk/>
            <pc:sldMk cId="1192431783" sldId="517"/>
            <ac:picMk id="9" creationId="{7625C4B0-4AA8-779A-0568-F393770770F7}"/>
          </ac:picMkLst>
        </pc:picChg>
      </pc:sldChg>
      <pc:sldChg chg="add">
        <pc:chgData name="John Quinn (Admin)" userId="9ec5d443-2d67-4e26-b1cd-861106efeb5d" providerId="ADAL" clId="{571F70E9-1B0C-46D2-8C0D-E5E87DF9624D}" dt="2026-10-17T02:49:36.143" v="126"/>
        <pc:sldMkLst>
          <pc:docMk/>
          <pc:sldMk cId="301949951" sldId="5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2" qsCatId="simple" csTypeId="urn:microsoft.com/office/officeart/2005/8/colors/accent2_2" csCatId="accent2" phldr="1"/>
      <dgm:spPr/>
      <dgm:t>
        <a:bodyPr/>
        <a:lstStyle/>
        <a:p>
          <a:endParaRPr lang="en-US"/>
        </a:p>
      </dgm:t>
    </dgm:pt>
    <dgm:pt modelId="{927A0650-4234-49E7-B1AD-6E709BF2AFE4}">
      <dgm:prSet phldrT="[Text]"/>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a:latin typeface="Duplicate Sans Light" pitchFamily="2" charset="77"/>
            </a:rPr>
            <a:t>Positioned for Merger or Acquisition</a:t>
          </a: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dgm:pt>
    <dgm:pt modelId="{63AF966E-8D6D-48FA-873C-46E931BD833D}" type="pres">
      <dgm:prSet presAssocID="{927A0650-4234-49E7-B1AD-6E709BF2AFE4}" presName="ParentAccent2" presStyleLbl="alignNode1" presStyleIdx="1" presStyleCnt="34"/>
      <dgm:spPr/>
    </dgm:pt>
    <dgm:pt modelId="{B80959DB-28D6-4CEE-BDEA-44F98A4CEE49}" type="pres">
      <dgm:prSet presAssocID="{927A0650-4234-49E7-B1AD-6E709BF2AFE4}" presName="ParentAccent3" presStyleLbl="alignNode1" presStyleIdx="2" presStyleCnt="34"/>
      <dgm:spPr/>
    </dgm:pt>
    <dgm:pt modelId="{DFBC5DD1-6060-4D48-BD7F-2BC0F265DD65}" type="pres">
      <dgm:prSet presAssocID="{927A0650-4234-49E7-B1AD-6E709BF2AFE4}" presName="ParentAccent4" presStyleLbl="alignNode1" presStyleIdx="3" presStyleCnt="34"/>
      <dgm:spPr/>
    </dgm:pt>
    <dgm:pt modelId="{E43ADEE5-A519-4489-8D26-96FB34D57305}" type="pres">
      <dgm:prSet presAssocID="{927A0650-4234-49E7-B1AD-6E709BF2AFE4}" presName="ParentAccent5" presStyleLbl="alignNode1" presStyleIdx="4" presStyleCnt="34"/>
      <dgm:spPr/>
    </dgm:pt>
    <dgm:pt modelId="{9A391C6C-CCB5-4E08-8F88-62D62AF953C4}" type="pres">
      <dgm:prSet presAssocID="{927A0650-4234-49E7-B1AD-6E709BF2AFE4}" presName="ParentAccent6" presStyleLbl="alignNode1" presStyleIdx="5" presStyleCnt="34"/>
      <dgm:spPr/>
    </dgm:pt>
    <dgm:pt modelId="{CB5C31B4-1748-4468-9A09-30EE4D5578C3}" type="pres">
      <dgm:prSet presAssocID="{927A0650-4234-49E7-B1AD-6E709BF2AFE4}" presName="ParentAccent7" presStyleLbl="alignNode1" presStyleIdx="6" presStyleCnt="34"/>
      <dgm:spPr/>
    </dgm:pt>
    <dgm:pt modelId="{E0C61048-F64E-4273-860E-CEE04FDE7F09}" type="pres">
      <dgm:prSet presAssocID="{927A0650-4234-49E7-B1AD-6E709BF2AFE4}" presName="ParentAccent8" presStyleLbl="alignNode1" presStyleIdx="7" presStyleCnt="34"/>
      <dgm:spPr/>
    </dgm:pt>
    <dgm:pt modelId="{8B5ADAF4-7512-401E-AAD9-8012D2FA10D9}" type="pres">
      <dgm:prSet presAssocID="{927A0650-4234-49E7-B1AD-6E709BF2AFE4}" presName="ParentAccent9" presStyleLbl="alignNode1" presStyleIdx="8" presStyleCnt="34"/>
      <dgm:spPr/>
    </dgm:pt>
    <dgm:pt modelId="{7799C585-58BC-426E-95E9-66A3F1BFA4FC}" type="pres">
      <dgm:prSet presAssocID="{927A0650-4234-49E7-B1AD-6E709BF2AFE4}" presName="ParentAccent10" presStyleLbl="alignNode1" presStyleIdx="9" presStyleCnt="34"/>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custLinFactNeighborX="8896" custLinFactNeighborY="-2285"/>
      <dgm:spPr/>
    </dgm:pt>
    <dgm:pt modelId="{EA7F15F4-BC11-452B-AD11-8558DE40472F}" type="pres">
      <dgm:prSet presAssocID="{FA70011F-51B1-4453-BC10-DE795A85EFBA}" presName="Child1Accent2" presStyleLbl="alignNode1" presStyleIdx="12" presStyleCnt="34"/>
      <dgm:spPr/>
    </dgm:pt>
    <dgm:pt modelId="{E1C307BD-6D13-4973-A92E-E36C9AAE84D7}" type="pres">
      <dgm:prSet presAssocID="{FA70011F-51B1-4453-BC10-DE795A85EFBA}" presName="Child1Accent3" presStyleLbl="alignNode1" presStyleIdx="13" presStyleCnt="34"/>
      <dgm:spPr/>
    </dgm:pt>
    <dgm:pt modelId="{C59FF9DA-0E2A-44B3-8FD5-174FD97A1E12}" type="pres">
      <dgm:prSet presAssocID="{FA70011F-51B1-4453-BC10-DE795A85EFBA}" presName="Child1Accent4" presStyleLbl="alignNode1" presStyleIdx="14" presStyleCnt="34"/>
      <dgm:spPr/>
    </dgm:pt>
    <dgm:pt modelId="{023771EB-27EA-42B2-8076-28D155A65C87}" type="pres">
      <dgm:prSet presAssocID="{FA70011F-51B1-4453-BC10-DE795A85EFBA}" presName="Child1Accent5" presStyleLbl="alignNode1" presStyleIdx="15" presStyleCnt="34"/>
      <dgm:spPr/>
    </dgm:pt>
    <dgm:pt modelId="{5A673C9A-B60F-4208-A783-2C306272D0C7}" type="pres">
      <dgm:prSet presAssocID="{FA70011F-51B1-4453-BC10-DE795A85EFBA}" presName="Child1Accent6" presStyleLbl="alignNode1" presStyleIdx="16" presStyleCnt="34"/>
      <dgm:spPr/>
    </dgm:pt>
    <dgm:pt modelId="{094A2FA5-8DD5-4DA3-88A9-3BA586EC30CE}" type="pres">
      <dgm:prSet presAssocID="{FA70011F-51B1-4453-BC10-DE795A85EFBA}" presName="Child1Accent7" presStyleLbl="alignNode1" presStyleIdx="17" presStyleCnt="34"/>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X="8896" custLinFactNeighborY="-83940"/>
      <dgm:spPr/>
    </dgm:pt>
    <dgm:pt modelId="{619C3C34-D496-497C-9090-22A187BB6CAF}" type="pres">
      <dgm:prSet presAssocID="{15A89210-B323-4C6E-AC5E-98A7F48139D8}" presName="Child2Accent2" presStyleLbl="alignNode1" presStyleIdx="21" presStyleCnt="34" custLinFactY="-66638" custLinFactNeighborY="-100000"/>
      <dgm:spPr/>
    </dgm:pt>
    <dgm:pt modelId="{051D6D60-3189-401A-AA9D-CE95987530A1}" type="pres">
      <dgm:prSet presAssocID="{15A89210-B323-4C6E-AC5E-98A7F48139D8}" presName="Child2Accent3" presStyleLbl="alignNode1" presStyleIdx="22" presStyleCnt="34" custLinFactY="-66638" custLinFactNeighborY="-100000"/>
      <dgm:spPr/>
    </dgm:pt>
    <dgm:pt modelId="{4C59A25A-0308-4E47-9A15-2B8D72675750}" type="pres">
      <dgm:prSet presAssocID="{15A89210-B323-4C6E-AC5E-98A7F48139D8}" presName="Child2Accent4" presStyleLbl="alignNode1" presStyleIdx="23" presStyleCnt="34" custLinFactY="-66638" custLinFactNeighborY="-100000"/>
      <dgm:spPr/>
    </dgm:pt>
    <dgm:pt modelId="{70CAEBDA-7E84-401A-A48E-50421F3BF1B9}" type="pres">
      <dgm:prSet presAssocID="{15A89210-B323-4C6E-AC5E-98A7F48139D8}" presName="Child2Accent5" presStyleLbl="alignNode1" presStyleIdx="24" presStyleCnt="34" custLinFactY="-66638" custLinFactNeighborY="-100000"/>
      <dgm:spPr/>
    </dgm:pt>
    <dgm:pt modelId="{DC29DA05-5B98-4595-BFEA-ADC31E38B2A4}" type="pres">
      <dgm:prSet presAssocID="{15A89210-B323-4C6E-AC5E-98A7F48139D8}" presName="Child2Accent6" presStyleLbl="alignNode1" presStyleIdx="25" presStyleCnt="34" custLinFactY="-66638" custLinFactNeighborY="-100000"/>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custLinFactNeighborX="8896" custLinFactNeighborY="-2285"/>
      <dgm:spPr/>
    </dgm:pt>
    <dgm:pt modelId="{62AD223F-77C0-4827-A09D-8B63847CB5EF}" type="pres">
      <dgm:prSet presAssocID="{C34C1816-98FA-46EE-97D2-68DE722368A3}" presName="Child3Accent2" presStyleLbl="alignNode1" presStyleIdx="28" presStyleCnt="34"/>
      <dgm:spPr/>
    </dgm:pt>
    <dgm:pt modelId="{C02A46F8-6F87-43B9-ADB9-43B46A7E53CB}" type="pres">
      <dgm:prSet presAssocID="{C34C1816-98FA-46EE-97D2-68DE722368A3}" presName="Child3Accent3" presStyleLbl="alignNode1" presStyleIdx="29" presStyleCnt="34"/>
      <dgm:spPr/>
    </dgm:pt>
    <dgm:pt modelId="{7DF0A8AA-EC07-4717-B17C-A2254B45EB22}" type="pres">
      <dgm:prSet presAssocID="{C34C1816-98FA-46EE-97D2-68DE722368A3}" presName="Child3Accent4" presStyleLbl="alignNode1" presStyleIdx="30" presStyleCnt="34"/>
      <dgm:spPr/>
    </dgm:pt>
    <dgm:pt modelId="{A366387B-EFC0-4567-894F-B8995322A132}" type="pres">
      <dgm:prSet presAssocID="{C34C1816-98FA-46EE-97D2-68DE722368A3}" presName="Child3Accent5" presStyleLbl="alignNode1" presStyleIdx="31" presStyleCnt="34"/>
      <dgm:spPr/>
    </dgm:pt>
    <dgm:pt modelId="{A11E41D5-29A0-4139-ADCF-F2CEC06D1224}" type="pres">
      <dgm:prSet presAssocID="{C34C1816-98FA-46EE-97D2-68DE722368A3}" presName="Child3Accent6" presStyleLbl="alignNode1" presStyleIdx="32" presStyleCnt="34"/>
      <dgm:spPr/>
    </dgm:pt>
    <dgm:pt modelId="{B7DC1A33-7999-4FC0-80DE-FB25EB38A9DA}" type="pres">
      <dgm:prSet presAssocID="{C34C1816-98FA-46EE-97D2-68DE722368A3}" presName="Child3Accent7" presStyleLbl="alignNode1" presStyleIdx="33" presStyleCnt="34"/>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17600" y="411726"/>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75512" y="637048"/>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17600" y="1080402"/>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a:latin typeface="Duplicate Sans Light" pitchFamily="2" charset="77"/>
            </a:rPr>
            <a:t>Positioned for Merger or Acquisition</a:t>
          </a: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jpe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jpe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jpeg"/><Relationship Id="rId15" Type="http://schemas.openxmlformats.org/officeDocument/2006/relationships/image" Target="../media/image17.jpe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 Id="rId26" Type="http://schemas.openxmlformats.org/officeDocument/2006/relationships/image" Target="../media/image23.png"/><Relationship Id="rId27"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FAA Part 431 Launch License (→ Part 450)  |  Lunar-Proven Technology  |  Profitable</a:t>
            </a:r>
          </a:p>
          <a:p>
            <a:pPr algn="l">
              <a:spcBef>
                <a:spcPts val="0"/>
              </a:spcBef>
              <a:spcAft>
                <a:spcPts val="800"/>
              </a:spcAft>
            </a:pPr>
            <a:r>
              <a:rPr sz="2000" b="1">
                <a:solidFill>
                  <a:srgbClr val="FFB800"/>
                </a:solidFill>
                <a:latin typeface="Calibri"/>
              </a:rPr>
              <a:t>Raising a $10M Series A — the first step of a $215M growth plan</a:t>
            </a:r>
          </a:p>
          <a:p>
            <a:pPr algn="l">
              <a:spcBef>
                <a:spcPts val="0"/>
              </a:spcBef>
              <a:spcAft>
                <a:spcPts val="400"/>
              </a:spcAft>
            </a:pPr>
            <a:r>
              <a:rPr sz="1400" b="0">
                <a:solidFill>
                  <a:srgbClr val="999999"/>
                </a:solidFill>
                <a:latin typeface="Calibri"/>
              </a:rPr>
              <a:t>October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flight-proven hardware, manufacturing, regulatory clearance. Moats that take years and cannot be cloned like an app.</a:t>
            </a:r>
          </a:p>
        </p:txBody>
      </p:sp>
      <p:sp>
        <p:nvSpPr>
          <p:cNvPr id="14" name="TextBox 13"/>
          <p:cNvSpPr txBox="1"/>
          <p:nvPr/>
        </p:nvSpPr>
        <p:spPr>
          <a:xfrm>
            <a:off x="731520" y="5433684"/>
            <a:ext cx="10698480" cy="338554"/>
          </a:xfrm>
          <a:prstGeom prst="rect">
            <a:avLst/>
          </a:prstGeom>
          <a:noFill/>
        </p:spPr>
        <p:txBody>
          <a:bodyPr wrap="square" anchor="t">
            <a:spAutoFit/>
          </a:bodyPr>
          <a:lstStyle/>
          <a:p>
            <a:pPr algn="ctr"/>
            <a:r>
              <a:rPr sz="1600" b="1" dirty="0">
                <a:solidFill>
                  <a:srgbClr val="FFB800"/>
                </a:solidFill>
                <a:latin typeface="Calibri"/>
              </a:rPr>
              <a:t>That difficulty is the opportunity. </a:t>
            </a:r>
            <a:r>
              <a:rPr sz="1600" b="1" dirty="0">
                <a:solidFill>
                  <a:srgbClr val="FFFFFF"/>
                </a:solidFill>
                <a:latin typeface="Calibri"/>
              </a:rPr>
              <a:t>Exos is already on the other side of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three FAA-licensed reusable rocket launch providers in the U.S. (Part 431, transitioning to Part 450).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by completing our acquisition of Scorpius before the market reprices it as a completed package.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FAA-licensed reusable rocket launch providers in the U.S. (Part 431, transitioning to Part 450) — now booking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is designed to fly to space, execute reentry profiles, then recover.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offers commercial suborbital flight-test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Designed for a suborbital profile reaching 100+ km</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Operates under Exos's FAA Part 431 launch license (transitioning to Part 450); hover test campaign completed; first commercial flight targeted early 2027</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dirty="0">
                <a:solidFill>
                  <a:srgbClr val="FFB800"/>
                </a:solidFill>
                <a:latin typeface="Calibri"/>
              </a:rPr>
              <a:t>Own the stack — resin to flight: Scorpius's evolved resin (trade secret) and patented winding method for TRL‑9 Type‑5 tanks, integrated into Exos's reusable vehicle</a:t>
            </a:r>
          </a:p>
        </p:txBody>
      </p:sp>
      <p:sp>
        <p:nvSpPr>
          <p:cNvPr id="6" name="Rectangle 5"/>
          <p:cNvSpPr/>
          <p:nvPr/>
        </p:nvSpPr>
        <p:spPr>
          <a:xfrm>
            <a:off x="731520" y="164592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265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 completes our acquisition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Flight heritage</a:t>
                      </a:r>
                    </a:p>
                  </a:txBody>
                  <a:tcPr>
                    <a:solidFill>
                      <a:srgbClr val="101626"/>
                    </a:solidFill>
                  </a:tcPr>
                </a:tc>
                <a:tc>
                  <a:txBody>
                    <a:bodyPr/>
                    <a:lstStyle/>
                    <a:p>
                      <a:r>
                        <a:rPr sz="1200">
                          <a:solidFill>
                            <a:srgbClr val="CCCCCC"/>
                          </a:solidFill>
                        </a:rPr>
                        <a:t>Intuitive Machines IM-1 Odysseus (2024) &amp; IM-2 Athena (2025)</a:t>
                      </a:r>
                    </a:p>
                  </a:txBody>
                  <a:tcPr>
                    <a:solidFill>
                      <a:srgbClr val="101626"/>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Commercial traction</a:t>
                      </a:r>
                    </a:p>
                  </a:txBody>
                  <a:tcPr>
                    <a:solidFill>
                      <a:srgbClr val="0D1220"/>
                    </a:solidFill>
                  </a:tcPr>
                </a:tc>
                <a:tc>
                  <a:txBody>
                    <a:bodyPr/>
                    <a:lstStyle/>
                    <a:p>
                      <a:r>
                        <a:rPr sz="1100">
                          <a:solidFill>
                            <a:srgbClr val="FFFFFF"/>
                          </a:solidFill>
                          <a:latin typeface="Calibri"/>
                        </a:rPr>
                        <a:t>First tank sale for an orbital transfer vehicle</a:t>
                      </a:r>
                    </a:p>
                  </a:txBody>
                  <a:tcPr>
                    <a:solidFill>
                      <a:srgbClr val="0D1220"/>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101626"/>
                    </a:solidFill>
                  </a:tcPr>
                </a:tc>
                <a:tc>
                  <a:txBody>
                    <a:bodyPr/>
                    <a:lstStyle/>
                    <a:p>
                      <a:r>
                        <a:rPr sz="1100">
                          <a:solidFill>
                            <a:srgbClr val="FFFFFF"/>
                          </a:solidFill>
                          <a:latin typeface="Calibri"/>
                        </a:rPr>
                        <a:t>SpaceX, NGC, NASA Artemis</a:t>
                      </a:r>
                    </a:p>
                  </a:txBody>
                  <a:tcPr>
                    <a:solidFill>
                      <a:srgbClr val="101626"/>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200">
                          <a:solidFill>
                            <a:srgbClr val="CCCCCC"/>
                          </a:solidFill>
                        </a:rPr>
                        <a:t>Exos owns 18% today</a:t>
                      </a:r>
                    </a:p>
                  </a:txBody>
                  <a:tcPr>
                    <a:solidFill>
                      <a:srgbClr val="0D1220"/>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2026 YTD (Jan–Sep) revenue: $1.58M — +168% vs. Jan–Sep 2025</a:t>
            </a:r>
          </a:p>
          <a:p>
            <a:pPr algn="l">
              <a:spcBef>
                <a:spcPts val="0"/>
              </a:spcBef>
              <a:spcAft>
                <a:spcPts val="600"/>
              </a:spcAft>
            </a:pPr>
            <a:r>
              <a:rPr sz="1300" b="0">
                <a:solidFill>
                  <a:srgbClr val="CCCCCC"/>
                </a:solidFill>
                <a:latin typeface="Calibri"/>
              </a:rPr>
              <a:t>•  2026 YTD (Jan–Sep) EBITDA: $278K (18% margin)</a:t>
            </a:r>
          </a:p>
          <a:p>
            <a:pPr algn="l">
              <a:spcBef>
                <a:spcPts val="0"/>
              </a:spcBef>
              <a:spcAft>
                <a:spcPts val="600"/>
              </a:spcAft>
            </a:pPr>
            <a:r>
              <a:rPr sz="1300" b="0">
                <a:solidFill>
                  <a:srgbClr val="CCCCCC"/>
                </a:solidFill>
                <a:latin typeface="Calibri"/>
              </a:rPr>
              <a:t>•  FY2025 revenue: $1.49M — first profitable year (operating income $254K, 17%; net income $191K)</a:t>
            </a:r>
          </a:p>
          <a:p>
            <a:pPr algn="l">
              <a:spcBef>
                <a:spcPts val="0"/>
              </a:spcBef>
              <a:spcAft>
                <a:spcPts val="600"/>
              </a:spcAft>
            </a:pPr>
            <a:r>
              <a:rPr sz="1300" b="0">
                <a:solidFill>
                  <a:srgbClr val="CCCCCC"/>
                </a:solidFill>
                <a:latin typeface="Calibri"/>
              </a:rPr>
              <a:t>•  History: $0.19M (2022) → $0.31M → $0.62M → $1.49M; ~100% 3-yr CAGR</a:t>
            </a:r>
          </a:p>
          <a:p>
            <a:r>
              <a:rPr sz="1300"/>
              <a:t>•  ~$6.2M NOL carryforward (2025 Form 1120)</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award pending, not in base case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QuickBooks (accrual, unaudited); EBITDA = operating income + net interest; YTD net income is before 2026 depreciation (booked at year-end). FY2025 net income: Form 1120 $187,861 vs. QuickBooks $190,855 — CFO reconciling.</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Contracted backbone → ~$121.6M by Y5 (conservative Cash Flow case)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YoY</a:t>
                      </a:r>
                    </a:p>
                  </a:txBody>
                  <a:tcPr>
                    <a:solidFill>
                      <a:srgbClr val="0A142A"/>
                    </a:solidFill>
                  </a:tcPr>
                </a:tc>
                <a:tc>
                  <a:txBody>
                    <a:bodyPr/>
                    <a:lstStyle/>
                    <a:p>
                      <a:r>
                        <a:rPr sz="1100" b="1">
                          <a:solidFill>
                            <a:srgbClr val="009ED9"/>
                          </a:solidFill>
                          <a:latin typeface="Calibri"/>
                        </a:rPr>
                        <a:t>EBITDA</a:t>
                      </a:r>
                    </a:p>
                  </a:txBody>
                  <a:tcPr>
                    <a:solidFill>
                      <a:srgbClr val="0A142A"/>
                    </a:solidFill>
                  </a:tcPr>
                </a:tc>
                <a:tc>
                  <a:txBody>
                    <a:bodyPr/>
                    <a:lstStyle/>
                    <a:p>
                      <a:r>
                        <a:rPr sz="1100" b="1">
                          <a:solidFill>
                            <a:srgbClr val="009ED9"/>
                          </a:solidFill>
                          <a:latin typeface="Calibri"/>
                        </a:rPr>
                        <a:t>EBITDA Margin</a:t>
                      </a:r>
                    </a:p>
                  </a:txBody>
                  <a:tcPr>
                    <a:solidFill>
                      <a:srgbClr val="0A142A"/>
                    </a:solidFill>
                  </a:tcPr>
                </a:tc>
                <a:tc>
                  <a:txBody>
                    <a:bodyPr/>
                    <a:lstStyle/>
                    <a:p>
                      <a:r>
                        <a:rPr sz="1100" b="1">
                          <a:solidFill>
                            <a:srgbClr val="009ED9"/>
                          </a:solidFill>
                          <a:latin typeface="Calibri"/>
                        </a:rPr>
                        <a:t>Free Cash Flow</a:t>
                      </a:r>
                    </a:p>
                  </a:txBody>
                  <a:tcPr>
                    <a:solidFill>
                      <a:srgbClr val="0A142A"/>
                    </a:solidFill>
                  </a:tcPr>
                </a:tc>
                <a:tc>
                  <a:txBody>
                    <a:bodyPr/>
                    <a:lstStyle/>
                    <a:p>
                      <a:r>
                        <a:rPr sz="1100" b="1">
                          <a:solidFill>
                            <a:srgbClr val="009ED9"/>
                          </a:solidFill>
                          <a:latin typeface="Calibri"/>
                        </a:rPr>
                        <a:t>Basis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$1.49M</a:t>
                      </a:r>
                    </a:p>
                  </a:txBody>
                  <a:tcPr>
                    <a:solidFill>
                      <a:srgbClr val="0D1220"/>
                    </a:solidFill>
                  </a:tcPr>
                </a:tc>
                <a:tc>
                  <a:txBody>
                    <a:bodyPr/>
                    <a:lstStyle/>
                    <a:p>
                      <a:r>
                        <a:rPr sz="1100">
                          <a:solidFill>
                            <a:srgbClr val="FFFFFF"/>
                          </a:solidFill>
                          <a:latin typeface="Calibri"/>
                        </a:rPr>
                        <a:t>140%</a:t>
                      </a:r>
                    </a:p>
                  </a:txBody>
                  <a:tcPr>
                    <a:solidFill>
                      <a:srgbClr val="0D1220"/>
                    </a:solidFill>
                  </a:tcPr>
                </a:tc>
                <a:tc>
                  <a:txBody>
                    <a:bodyPr/>
                    <a:lstStyle/>
                    <a:p>
                      <a:r>
                        <a:rPr sz="1100">
                          <a:solidFill>
                            <a:srgbClr val="FFFFFF"/>
                          </a:solidFill>
                          <a:latin typeface="Calibri"/>
                        </a:rPr>
                        <a:t>$254K*</a:t>
                      </a:r>
                    </a:p>
                  </a:txBody>
                  <a:tcPr>
                    <a:solidFill>
                      <a:srgbClr val="0D1220"/>
                    </a:solidFill>
                  </a:tcPr>
                </a:tc>
                <a:tc>
                  <a:txBody>
                    <a:bodyPr/>
                    <a:lstStyle/>
                    <a:p>
                      <a:r>
                        <a:rPr sz="1100">
                          <a:solidFill>
                            <a:srgbClr val="FFFFFF"/>
                          </a:solidFill>
                          <a:latin typeface="Calibri"/>
                        </a:rPr>
                        <a:t>17%</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QuickBooks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 YTD (Jan–Sep)</a:t>
                      </a:r>
                    </a:p>
                  </a:txBody>
                  <a:tcPr>
                    <a:solidFill>
                      <a:srgbClr val="101626"/>
                    </a:solidFill>
                  </a:tcPr>
                </a:tc>
                <a:tc>
                  <a:txBody>
                    <a:bodyPr/>
                    <a:lstStyle/>
                    <a:p>
                      <a:r>
                        <a:rPr sz="1100">
                          <a:solidFill>
                            <a:srgbClr val="FFFFFF"/>
                          </a:solidFill>
                          <a:latin typeface="Calibri"/>
                        </a:rPr>
                        <a:t>$1.58M</a:t>
                      </a:r>
                    </a:p>
                  </a:txBody>
                  <a:tcPr>
                    <a:solidFill>
                      <a:srgbClr val="101626"/>
                    </a:solidFill>
                  </a:tcPr>
                </a:tc>
                <a:tc>
                  <a:txBody>
                    <a:bodyPr/>
                    <a:lstStyle/>
                    <a:p>
                      <a:r>
                        <a:rPr sz="1100">
                          <a:solidFill>
                            <a:srgbClr val="FFFFFF"/>
                          </a:solidFill>
                          <a:latin typeface="Calibri"/>
                        </a:rPr>
                        <a:t>+168%</a:t>
                      </a:r>
                    </a:p>
                  </a:txBody>
                  <a:tcPr>
                    <a:solidFill>
                      <a:srgbClr val="101626"/>
                    </a:solidFill>
                  </a:tcPr>
                </a:tc>
                <a:tc>
                  <a:txBody>
                    <a:bodyPr/>
                    <a:lstStyle/>
                    <a:p>
                      <a:r>
                        <a:rPr sz="1100">
                          <a:solidFill>
                            <a:srgbClr val="FFFFFF"/>
                          </a:solidFill>
                          <a:latin typeface="Calibri"/>
                        </a:rPr>
                        <a:t>$278K</a:t>
                      </a:r>
                    </a:p>
                  </a:txBody>
                  <a:tcPr>
                    <a:solidFill>
                      <a:srgbClr val="101626"/>
                    </a:solidFill>
                  </a:tcPr>
                </a:tc>
                <a:tc>
                  <a:txBody>
                    <a:bodyPr/>
                    <a:lstStyle/>
                    <a:p>
                      <a:r>
                        <a:rPr sz="1100">
                          <a:solidFill>
                            <a:srgbClr val="FFFFFF"/>
                          </a:solidFill>
                          <a:latin typeface="Calibri"/>
                        </a:rPr>
                        <a:t>18%</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QuickBooks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Y1 (FY27)</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$1.3M</a:t>
                      </a:r>
                    </a:p>
                  </a:txBody>
                  <a:tcPr>
                    <a:solidFill>
                      <a:srgbClr val="0D1220"/>
                    </a:solidFill>
                  </a:tcPr>
                </a:tc>
                <a:tc>
                  <a:txBody>
                    <a:bodyPr/>
                    <a:lstStyle/>
                    <a:p>
                      <a:r>
                        <a:rPr sz="1100">
                          <a:solidFill>
                            <a:srgbClr val="FFFFFF"/>
                          </a:solidFill>
                          <a:latin typeface="Calibri"/>
                        </a:rPr>
                        <a:t>15%</a:t>
                      </a:r>
                    </a:p>
                  </a:txBody>
                  <a:tcPr>
                    <a:solidFill>
                      <a:srgbClr val="0D1220"/>
                    </a:solidFill>
                  </a:tcPr>
                </a:tc>
                <a:tc>
                  <a:txBody>
                    <a:bodyPr/>
                    <a:lstStyle/>
                    <a:p>
                      <a:r>
                        <a:rPr sz="1100">
                          <a:solidFill>
                            <a:srgbClr val="FFFFFF"/>
                          </a:solidFill>
                          <a:latin typeface="Calibri"/>
                        </a:rPr>
                        <a:t>($1.5M)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Y2 (FY28)</a:t>
                      </a:r>
                    </a:p>
                  </a:txBody>
                  <a:tcPr>
                    <a:solidFill>
                      <a:srgbClr val="101626"/>
                    </a:solidFill>
                  </a:tcPr>
                </a:tc>
                <a:tc>
                  <a:txBody>
                    <a:bodyPr/>
                    <a:lstStyle/>
                    <a:p>
                      <a:r>
                        <a:rPr sz="1100">
                          <a:solidFill>
                            <a:srgbClr val="FFFFFF"/>
                          </a:solidFill>
                          <a:latin typeface="Calibri"/>
                        </a:rPr>
                        <a:t>$21.1M</a:t>
                      </a:r>
                    </a:p>
                  </a:txBody>
                  <a:tcPr>
                    <a:solidFill>
                      <a:srgbClr val="101626"/>
                    </a:solidFill>
                  </a:tcPr>
                </a:tc>
                <a:tc>
                  <a:txBody>
                    <a:bodyPr/>
                    <a:lstStyle/>
                    <a:p>
                      <a:r>
                        <a:rPr sz="1100">
                          <a:solidFill>
                            <a:srgbClr val="FFFFFF"/>
                          </a:solidFill>
                          <a:latin typeface="Calibri"/>
                        </a:rPr>
                        <a:t>133%</a:t>
                      </a:r>
                    </a:p>
                  </a:txBody>
                  <a:tcPr>
                    <a:solidFill>
                      <a:srgbClr val="101626"/>
                    </a:solidFill>
                  </a:tcPr>
                </a:tc>
                <a:tc>
                  <a:txBody>
                    <a:bodyPr/>
                    <a:lstStyle/>
                    <a:p>
                      <a:r>
                        <a:rPr sz="1100">
                          <a:solidFill>
                            <a:srgbClr val="FFFFFF"/>
                          </a:solidFill>
                          <a:latin typeface="Calibri"/>
                        </a:rPr>
                        <a:t>$5.4M</a:t>
                      </a:r>
                    </a:p>
                  </a:txBody>
                  <a:tcPr>
                    <a:solidFill>
                      <a:srgbClr val="101626"/>
                    </a:solidFill>
                  </a:tcPr>
                </a:tc>
                <a:tc>
                  <a:txBody>
                    <a:bodyPr/>
                    <a:lstStyle/>
                    <a:p>
                      <a:r>
                        <a:rPr sz="1100">
                          <a:solidFill>
                            <a:srgbClr val="FFFFFF"/>
                          </a:solidFill>
                          <a:latin typeface="Calibri"/>
                        </a:rPr>
                        <a:t>26%</a:t>
                      </a:r>
                    </a:p>
                  </a:txBody>
                  <a:tcPr>
                    <a:solidFill>
                      <a:srgbClr val="101626"/>
                    </a:solidFill>
                  </a:tcPr>
                </a:tc>
                <a:tc>
                  <a:txBody>
                    <a:bodyPr/>
                    <a:lstStyle/>
                    <a:p>
                      <a:r>
                        <a:rPr sz="1100">
                          <a:solidFill>
                            <a:srgbClr val="FFFFFF"/>
                          </a:solidFill>
                          <a:latin typeface="Calibri"/>
                        </a:rPr>
                        <a:t>($0.9M)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Y3 (FY29)</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78%</a:t>
                      </a:r>
                    </a:p>
                  </a:txBody>
                  <a:tcPr>
                    <a:solidFill>
                      <a:srgbClr val="0D1220"/>
                    </a:solidFill>
                  </a:tcPr>
                </a:tc>
                <a:tc>
                  <a:txBody>
                    <a:bodyPr/>
                    <a:lstStyle/>
                    <a:p>
                      <a:r>
                        <a:rPr sz="1100">
                          <a:solidFill>
                            <a:srgbClr val="FFFFFF"/>
                          </a:solidFill>
                          <a:latin typeface="Calibri"/>
                        </a:rPr>
                        <a:t>$11.8M</a:t>
                      </a:r>
                    </a:p>
                  </a:txBody>
                  <a:tcPr>
                    <a:solidFill>
                      <a:srgbClr val="0D1220"/>
                    </a:solidFill>
                  </a:tcPr>
                </a:tc>
                <a:tc>
                  <a:txBody>
                    <a:bodyPr/>
                    <a:lstStyle/>
                    <a:p>
                      <a:r>
                        <a:rPr sz="1100">
                          <a:solidFill>
                            <a:srgbClr val="FFFFFF"/>
                          </a:solidFill>
                          <a:latin typeface="Calibri"/>
                        </a:rPr>
                        <a:t>32%</a:t>
                      </a:r>
                    </a:p>
                  </a:txBody>
                  <a:tcPr>
                    <a:solidFill>
                      <a:srgbClr val="0D1220"/>
                    </a:solidFill>
                  </a:tcPr>
                </a:tc>
                <a:tc>
                  <a:txBody>
                    <a:bodyPr/>
                    <a:lstStyle/>
                    <a:p>
                      <a:r>
                        <a:rPr sz="1100">
                          <a:solidFill>
                            <a:srgbClr val="FFFFFF"/>
                          </a:solidFill>
                          <a:latin typeface="Calibri"/>
                        </a:rPr>
                        <a:t>$9.3M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Y4 (FY30)</a:t>
                      </a:r>
                    </a:p>
                  </a:txBody>
                  <a:tcPr>
                    <a:solidFill>
                      <a:srgbClr val="101626"/>
                    </a:solidFill>
                  </a:tcPr>
                </a:tc>
                <a:tc>
                  <a:txBody>
                    <a:bodyPr/>
                    <a:lstStyle/>
                    <a:p>
                      <a:r>
                        <a:rPr sz="1100">
                          <a:solidFill>
                            <a:srgbClr val="FFFFFF"/>
                          </a:solidFill>
                          <a:latin typeface="Calibri"/>
                        </a:rPr>
                        <a:t>$61.6M</a:t>
                      </a:r>
                    </a:p>
                  </a:txBody>
                  <a:tcPr>
                    <a:solidFill>
                      <a:srgbClr val="101626"/>
                    </a:solidFill>
                  </a:tcPr>
                </a:tc>
                <a:tc>
                  <a:txBody>
                    <a:bodyPr/>
                    <a:lstStyle/>
                    <a:p>
                      <a:r>
                        <a:rPr sz="1100">
                          <a:solidFill>
                            <a:srgbClr val="FFFFFF"/>
                          </a:solidFill>
                          <a:latin typeface="Calibri"/>
                        </a:rPr>
                        <a:t>64%</a:t>
                      </a:r>
                    </a:p>
                  </a:txBody>
                  <a:tcPr>
                    <a:solidFill>
                      <a:srgbClr val="101626"/>
                    </a:solidFill>
                  </a:tcPr>
                </a:tc>
                <a:tc>
                  <a:txBody>
                    <a:bodyPr/>
                    <a:lstStyle/>
                    <a:p>
                      <a:r>
                        <a:rPr sz="1100">
                          <a:solidFill>
                            <a:srgbClr val="FFFFFF"/>
                          </a:solidFill>
                          <a:latin typeface="Calibri"/>
                        </a:rPr>
                        <a:t>$19.6M</a:t>
                      </a:r>
                    </a:p>
                  </a:txBody>
                  <a:tcPr>
                    <a:solidFill>
                      <a:srgbClr val="101626"/>
                    </a:solidFill>
                  </a:tcPr>
                </a:tc>
                <a:tc>
                  <a:txBody>
                    <a:bodyPr/>
                    <a:lstStyle/>
                    <a:p>
                      <a:r>
                        <a:rPr sz="1100">
                          <a:solidFill>
                            <a:srgbClr val="FFFFFF"/>
                          </a:solidFill>
                          <a:latin typeface="Calibri"/>
                        </a:rPr>
                        <a:t>32%</a:t>
                      </a:r>
                    </a:p>
                  </a:txBody>
                  <a:tcPr>
                    <a:solidFill>
                      <a:srgbClr val="101626"/>
                    </a:solidFill>
                  </a:tcPr>
                </a:tc>
                <a:tc>
                  <a:txBody>
                    <a:bodyPr/>
                    <a:lstStyle/>
                    <a:p>
                      <a:r>
                        <a:rPr sz="1100">
                          <a:solidFill>
                            <a:srgbClr val="FFFFFF"/>
                          </a:solidFill>
                          <a:latin typeface="Calibri"/>
                        </a:rPr>
                        <a:t>$8.0M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Y5 (FY31)</a:t>
                      </a:r>
                    </a:p>
                  </a:txBody>
                  <a:tcPr>
                    <a:solidFill>
                      <a:srgbClr val="101626"/>
                    </a:solidFill>
                  </a:tcPr>
                </a:tc>
                <a:tc>
                  <a:txBody>
                    <a:bodyPr/>
                    <a:lstStyle/>
                    <a:p>
                      <a:r>
                        <a:rPr sz="1100">
                          <a:solidFill>
                            <a:srgbClr val="FFFFFF"/>
                          </a:solidFill>
                          <a:latin typeface="Calibri"/>
                        </a:rPr>
                        <a:t>$121.6M</a:t>
                      </a:r>
                    </a:p>
                  </a:txBody>
                  <a:tcPr>
                    <a:solidFill>
                      <a:srgbClr val="101626"/>
                    </a:solidFill>
                  </a:tcPr>
                </a:tc>
                <a:tc>
                  <a:txBody>
                    <a:bodyPr/>
                    <a:lstStyle/>
                    <a:p>
                      <a:r>
                        <a:rPr sz="1100">
                          <a:solidFill>
                            <a:srgbClr val="FFFFFF"/>
                          </a:solidFill>
                          <a:latin typeface="Calibri"/>
                        </a:rPr>
                        <a:t>98%</a:t>
                      </a:r>
                    </a:p>
                  </a:txBody>
                  <a:tcPr>
                    <a:solidFill>
                      <a:srgbClr val="101626"/>
                    </a:solidFill>
                  </a:tcPr>
                </a:tc>
                <a:tc>
                  <a:txBody>
                    <a:bodyPr/>
                    <a:lstStyle/>
                    <a:p>
                      <a:r>
                        <a:rPr sz="1100">
                          <a:solidFill>
                            <a:srgbClr val="FFFFFF"/>
                          </a:solidFill>
                          <a:latin typeface="Calibri"/>
                        </a:rPr>
                        <a:t>$49.5M</a:t>
                      </a:r>
                    </a:p>
                  </a:txBody>
                  <a:tcPr>
                    <a:solidFill>
                      <a:srgbClr val="101626"/>
                    </a:solidFill>
                  </a:tcPr>
                </a:tc>
                <a:tc>
                  <a:txBody>
                    <a:bodyPr/>
                    <a:lstStyle/>
                    <a:p>
                      <a:r>
                        <a:rPr sz="1100">
                          <a:solidFill>
                            <a:srgbClr val="FFFFFF"/>
                          </a:solidFill>
                          <a:latin typeface="Calibri"/>
                        </a:rPr>
                        <a:t>41%</a:t>
                      </a:r>
                    </a:p>
                  </a:txBody>
                  <a:tcPr>
                    <a:solidFill>
                      <a:srgbClr val="101626"/>
                    </a:solidFill>
                  </a:tcPr>
                </a:tc>
                <a:tc>
                  <a:txBody>
                    <a:bodyPr/>
                    <a:lstStyle/>
                    <a:p>
                      <a:r>
                        <a:rPr sz="1100">
                          <a:solidFill>
                            <a:srgbClr val="FFFFFF"/>
                          </a:solidFill>
                          <a:latin typeface="Calibri"/>
                        </a:rPr>
                        <a:t>$32.9M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Future BLK4 sale (gated orbital path):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 (if awarded): 30% margin (70% COGS for gov't dev)</a:t>
            </a:r>
          </a:p>
          <a:p>
            <a:pPr algn="l">
              <a:spcBef>
                <a:spcPts val="0"/>
              </a:spcBef>
              <a:spcAft>
                <a:spcPts val="400"/>
              </a:spcAft>
            </a:pPr>
            <a:r>
              <a:rPr sz="1200" b="0">
                <a:solidFill>
                  <a:srgbClr val="CCCCCC"/>
                </a:solidFill>
                <a:latin typeface="Calibri"/>
              </a:rPr>
              <a:t>•  Commercialization (M&amp;A / JV / teaming &amp; licensing): partner products &amp; services — $30M over 36 months from Apr 2028 (model assumption)</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*2025 = operating income per QuickBooks. Fiscal years Jul–Jun; TACFI, commercialization and entX sit in a separate upside layer, not the base. Historical and 2026 YTD (Jan–Sep) figures per QuickBooks (accrual, unaudited); EBITDA = operating income + net interest; 2026 depreciation is booked at year-end, so YTD net income is before depreciation (EBITDA is unaffected). Projections: management-prepared financial model v12 (rev. 10/17/26), conservative Cash Flow case. FY2025: the filed Form 1120 shows net income $187,861 vs. $190,855 in QuickBooks (revenue agrees); the CFO is reconciling the difference. See disclaimers.</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 THE $215M PLAN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$215M total — a $10M Series A now, the balance via our public-markets path; deployed over 36 months</a:t>
            </a:r>
          </a:p>
        </p:txBody>
      </p:sp>
      <p:graphicFrame>
        <p:nvGraphicFramePr>
          <p:cNvPr id="7" name="Table 6"/>
          <p:cNvGraphicFramePr>
            <a:graphicFrameLocks noGrp="1"/>
          </p:cNvGraphicFramePr>
          <p:nvPr/>
        </p:nvGraphicFramePr>
        <p:xfrm>
          <a:off x="731520" y="1740000"/>
          <a:ext cx="10515600" cy="1800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0000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Series A program</a:t>
                      </a:r>
                    </a:p>
                  </a:txBody>
                  <a:tcPr>
                    <a:solidFill>
                      <a:srgbClr val="0D1220"/>
                    </a:solidFill>
                  </a:tcPr>
                </a:tc>
                <a:tc>
                  <a:txBody>
                    <a:bodyPr/>
                    <a:lstStyle/>
                    <a:p>
                      <a:r>
                        <a:rPr sz="1200">
                          <a:solidFill>
                            <a:srgbClr val="CCCCCC"/>
                          </a:solidFill>
                        </a:rPr>
                        <a:t>$10.0M</a:t>
                      </a:r>
                    </a:p>
                  </a:txBody>
                  <a:tcPr>
                    <a:solidFill>
                      <a:srgbClr val="0D1220"/>
                    </a:solidFill>
                  </a:tcPr>
                </a:tc>
                <a:tc>
                  <a:txBody>
                    <a:bodyPr/>
                    <a:lstStyle/>
                    <a:p>
                      <a:r>
                        <a:rPr sz="1200">
                          <a:solidFill>
                            <a:srgbClr val="CCCCCC"/>
                          </a:solidFill>
                        </a:rPr>
                        <a:t>Scorpius acquisition $3.4M · BLK3 to flight $2.5M · propulsion study $4.1M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Acquisitions / mergers / JVs</a:t>
                      </a:r>
                    </a:p>
                  </a:txBody>
                  <a:tcPr>
                    <a:solidFill>
                      <a:srgbClr val="101626"/>
                    </a:solidFill>
                  </a:tcPr>
                </a:tc>
                <a:tc>
                  <a:txBody>
                    <a:bodyPr/>
                    <a:lstStyle/>
                    <a:p>
                      <a:r>
                        <a:rPr sz="1100">
                          <a:solidFill>
                            <a:srgbClr val="FFFFFF"/>
                          </a:solidFill>
                          <a:latin typeface="Calibri"/>
                        </a:rPr>
                        <a:t>$95.0M</a:t>
                      </a:r>
                    </a:p>
                  </a:txBody>
                  <a:tcPr>
                    <a:solidFill>
                      <a:srgbClr val="101626"/>
                    </a:solidFill>
                  </a:tcPr>
                </a:tc>
                <a:tc>
                  <a:txBody>
                    <a:bodyPr/>
                    <a:lstStyle/>
                    <a:p>
                      <a:r>
                        <a:rPr sz="1100">
                          <a:solidFill>
                            <a:srgbClr val="FFFFFF"/>
                          </a:solidFill>
                          <a:latin typeface="Calibri"/>
                        </a:rPr>
                        <a:t>Consortium partners — resin/composite, tankage, manufacturing capacity</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Mobile industrial-automation robots</a:t>
                      </a:r>
                    </a:p>
                  </a:txBody>
                  <a:tcPr>
                    <a:solidFill>
                      <a:srgbClr val="0D1220"/>
                    </a:solidFill>
                  </a:tcPr>
                </a:tc>
                <a:tc>
                  <a:txBody>
                    <a:bodyPr/>
                    <a:lstStyle/>
                    <a:p>
                      <a:r>
                        <a:rPr sz="1100">
                          <a:solidFill>
                            <a:srgbClr val="FFFFFF"/>
                          </a:solidFill>
                          <a:latin typeface="Calibri"/>
                        </a:rPr>
                        <a:t>$65.0M</a:t>
                      </a:r>
                    </a:p>
                  </a:txBody>
                  <a:tcPr>
                    <a:solidFill>
                      <a:srgbClr val="0D1220"/>
                    </a:solidFill>
                  </a:tcPr>
                </a:tc>
                <a:tc>
                  <a:txBody>
                    <a:bodyPr/>
                    <a:lstStyle/>
                    <a:p>
                      <a:r>
                        <a:rPr sz="1100">
                          <a:solidFill>
                            <a:srgbClr val="FFFFFF"/>
                          </a:solidFill>
                          <a:latin typeface="Calibri"/>
                        </a:rPr>
                        <a:t>Installed at partner facilities to put idle capacity to work</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Building (pulled forward from Y4)</a:t>
                      </a:r>
                    </a:p>
                  </a:txBody>
                  <a:tcPr>
                    <a:solidFill>
                      <a:srgbClr val="101626"/>
                    </a:solidFill>
                  </a:tcPr>
                </a:tc>
                <a:tc>
                  <a:txBody>
                    <a:bodyPr/>
                    <a:lstStyle/>
                    <a:p>
                      <a:r>
                        <a:rPr sz="1200">
                          <a:solidFill>
                            <a:srgbClr val="CCCCCC"/>
                          </a:solidFill>
                        </a:rPr>
                        <a:t>$20.0M</a:t>
                      </a:r>
                    </a:p>
                  </a:txBody>
                  <a:tcPr>
                    <a:solidFill>
                      <a:srgbClr val="101626"/>
                    </a:solidFill>
                  </a:tcPr>
                </a:tc>
                <a:tc>
                  <a:txBody>
                    <a:bodyPr/>
                    <a:lstStyle/>
                    <a:p>
                      <a:r>
                        <a:rPr sz="1100">
                          <a:solidFill>
                            <a:srgbClr val="FFFFFF"/>
                          </a:solidFill>
                          <a:latin typeface="Calibri"/>
                        </a:rPr>
                        <a:t>Equity-funded in Y2 instead of debt-financed in Y4</a:t>
                      </a:r>
                    </a:p>
                  </a:txBody>
                  <a:tcPr>
                    <a:solidFill>
                      <a:srgbClr val="101626"/>
                    </a:solidFill>
                  </a:tcPr>
                </a:tc>
                <a:extLst>
                  <a:ext uri="{0D108BD9-81ED-4DB2-BD59-A6C34878D82A}">
                    <a16:rowId xmlns:a16="http://schemas.microsoft.com/office/drawing/2014/main" val="10004"/>
                  </a:ext>
                </a:extLst>
              </a:tr>
              <a:tr h="300000">
                <a:tc>
                  <a:txBody>
                    <a:bodyPr/>
                    <a:lstStyle/>
                    <a:p>
                      <a:r>
                        <a:rPr sz="1100">
                          <a:solidFill>
                            <a:srgbClr val="FFFFFF"/>
                          </a:solidFill>
                          <a:latin typeface="Calibri"/>
                        </a:rPr>
                        <a:t>Transaction costs + working capital</a:t>
                      </a:r>
                    </a:p>
                  </a:txBody>
                  <a:tcPr>
                    <a:solidFill>
                      <a:srgbClr val="101626"/>
                    </a:solidFill>
                  </a:tcPr>
                </a:tc>
                <a:tc>
                  <a:txBody>
                    <a:bodyPr/>
                    <a:lstStyle/>
                    <a:p>
                      <a:r>
                        <a:rPr sz="1200">
                          <a:solidFill>
                            <a:srgbClr val="CCCCCC"/>
                          </a:solidFill>
                        </a:rPr>
                        <a:t>$25.0M</a:t>
                      </a:r>
                    </a:p>
                  </a:txBody>
                  <a:tcPr>
                    <a:solidFill>
                      <a:srgbClr val="101626"/>
                    </a:solidFill>
                  </a:tcPr>
                </a:tc>
                <a:tc>
                  <a:txBody>
                    <a:bodyPr/>
                    <a:lstStyle/>
                    <a:p>
                      <a:r>
                        <a:rPr sz="1100">
                          <a:solidFill>
                            <a:srgbClr val="FFFFFF"/>
                          </a:solidFill>
                          <a:latin typeface="Calibri"/>
                        </a:rPr>
                        <a:t>Placement costs (~5%) and public-company reserve</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900000"/>
            <a:ext cx="10515600" cy="560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BASE CASE + $215M PLAN</a:t>
            </a:r>
          </a:p>
          <a:p>
            <a:pPr>
              <a:spcBef>
                <a:spcPts val="600"/>
              </a:spcBef>
            </a:pPr>
            <a:r>
              <a:rPr sz="1100">
                <a:solidFill>
                  <a:srgbClr val="CCCCCC"/>
                </a:solidFill>
                <a:latin typeface="Calibri"/>
              </a:rPr>
              <a:t>Base case unchanged (~$121.6M Y5). Plan drivers are management assumptions — model tab "$215M Capital Plan".</a:t>
            </a:r>
          </a:p>
        </p:txBody>
      </p:sp>
      <p:graphicFrame>
        <p:nvGraphicFramePr>
          <p:cNvPr id="9" name="Table 8"/>
          <p:cNvGraphicFramePr>
            <a:graphicFrameLocks noGrp="1"/>
          </p:cNvGraphicFramePr>
          <p:nvPr/>
        </p:nvGraphicFramePr>
        <p:xfrm>
          <a:off x="731520" y="4520000"/>
          <a:ext cx="10515600" cy="1500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0000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Y1 (FY27)</a:t>
                      </a:r>
                    </a:p>
                  </a:txBody>
                  <a:tcPr>
                    <a:solidFill>
                      <a:srgbClr val="0A142A"/>
                    </a:solidFill>
                  </a:tcPr>
                </a:tc>
                <a:tc>
                  <a:txBody>
                    <a:bodyPr/>
                    <a:lstStyle/>
                    <a:p>
                      <a:r>
                        <a:rPr sz="1100" b="1">
                          <a:solidFill>
                            <a:srgbClr val="009ED9"/>
                          </a:solidFill>
                          <a:latin typeface="Calibri"/>
                        </a:rPr>
                        <a:t>Y2 (FY28)</a:t>
                      </a:r>
                    </a:p>
                  </a:txBody>
                  <a:tcPr>
                    <a:solidFill>
                      <a:srgbClr val="0A142A"/>
                    </a:solidFill>
                  </a:tcPr>
                </a:tc>
                <a:tc>
                  <a:txBody>
                    <a:bodyPr/>
                    <a:lstStyle/>
                    <a:p>
                      <a:r>
                        <a:rPr sz="1100" b="1">
                          <a:solidFill>
                            <a:srgbClr val="009ED9"/>
                          </a:solidFill>
                          <a:latin typeface="Calibri"/>
                        </a:rPr>
                        <a:t>Y3 (FY29)</a:t>
                      </a:r>
                    </a:p>
                  </a:txBody>
                  <a:tcPr>
                    <a:solidFill>
                      <a:srgbClr val="0A142A"/>
                    </a:solidFill>
                  </a:tcPr>
                </a:tc>
                <a:tc>
                  <a:txBody>
                    <a:bodyPr/>
                    <a:lstStyle/>
                    <a:p>
                      <a:r>
                        <a:rPr sz="1100" b="1">
                          <a:solidFill>
                            <a:srgbClr val="009ED9"/>
                          </a:solidFill>
                          <a:latin typeface="Calibri"/>
                        </a:rPr>
                        <a:t>Y4 (FY30)</a:t>
                      </a:r>
                    </a:p>
                  </a:txBody>
                  <a:tcPr>
                    <a:solidFill>
                      <a:srgbClr val="0A142A"/>
                    </a:solidFill>
                  </a:tcPr>
                </a:tc>
                <a:tc>
                  <a:txBody>
                    <a:bodyPr/>
                    <a:lstStyle/>
                    <a:p>
                      <a:r>
                        <a:rPr sz="1100" b="1">
                          <a:solidFill>
                            <a:srgbClr val="009ED9"/>
                          </a:solidFill>
                          <a:latin typeface="Calibri"/>
                        </a:rPr>
                        <a:t>Y5 (FY31)</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Base-case revenue</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$21.1M</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$61.6M</a:t>
                      </a:r>
                    </a:p>
                  </a:txBody>
                  <a:tcPr>
                    <a:solidFill>
                      <a:srgbClr val="0D1220"/>
                    </a:solidFill>
                  </a:tcPr>
                </a:tc>
                <a:tc>
                  <a:txBody>
                    <a:bodyPr/>
                    <a:lstStyle/>
                    <a:p>
                      <a:r>
                        <a:rPr sz="1100">
                          <a:solidFill>
                            <a:srgbClr val="FFFFFF"/>
                          </a:solidFill>
                          <a:latin typeface="Calibri"/>
                        </a:rPr>
                        <a:t>$121.6M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$215M plan revenue</a:t>
                      </a:r>
                    </a:p>
                  </a:txBody>
                  <a:tcPr>
                    <a:solidFill>
                      <a:srgbClr val="101626"/>
                    </a:solidFill>
                  </a:tcPr>
                </a:tc>
                <a:tc>
                  <a:txBody>
                    <a:bodyPr/>
                    <a:lstStyle/>
                    <a:p>
                      <a:r>
                        <a:rPr sz="1100">
                          <a:solidFill>
                            <a:srgbClr val="FFFFFF"/>
                          </a:solidFill>
                          <a:latin typeface="Calibri"/>
                        </a:rPr>
                        <a:t>$31.3M</a:t>
                      </a:r>
                    </a:p>
                  </a:txBody>
                  <a:tcPr>
                    <a:solidFill>
                      <a:srgbClr val="101626"/>
                    </a:solidFill>
                  </a:tcPr>
                </a:tc>
                <a:tc>
                  <a:txBody>
                    <a:bodyPr/>
                    <a:lstStyle/>
                    <a:p>
                      <a:r>
                        <a:rPr sz="1100">
                          <a:solidFill>
                            <a:srgbClr val="FFFFFF"/>
                          </a:solidFill>
                          <a:latin typeface="Calibri"/>
                        </a:rPr>
                        <a:t>$102.5M</a:t>
                      </a:r>
                    </a:p>
                  </a:txBody>
                  <a:tcPr>
                    <a:solidFill>
                      <a:srgbClr val="101626"/>
                    </a:solidFill>
                  </a:tcPr>
                </a:tc>
                <a:tc>
                  <a:txBody>
                    <a:bodyPr/>
                    <a:lstStyle/>
                    <a:p>
                      <a:r>
                        <a:rPr sz="1100">
                          <a:solidFill>
                            <a:srgbClr val="FFFFFF"/>
                          </a:solidFill>
                          <a:latin typeface="Calibri"/>
                        </a:rPr>
                        <a:t>$190.8M</a:t>
                      </a:r>
                    </a:p>
                  </a:txBody>
                  <a:tcPr>
                    <a:solidFill>
                      <a:srgbClr val="101626"/>
                    </a:solidFill>
                  </a:tcPr>
                </a:tc>
                <a:tc>
                  <a:txBody>
                    <a:bodyPr/>
                    <a:lstStyle/>
                    <a:p>
                      <a:r>
                        <a:rPr sz="1100">
                          <a:solidFill>
                            <a:srgbClr val="FFFFFF"/>
                          </a:solidFill>
                          <a:latin typeface="Calibri"/>
                        </a:rPr>
                        <a:t>$250.0M</a:t>
                      </a:r>
                    </a:p>
                  </a:txBody>
                  <a:tcPr>
                    <a:solidFill>
                      <a:srgbClr val="101626"/>
                    </a:solidFill>
                  </a:tcPr>
                </a:tc>
                <a:tc>
                  <a:txBody>
                    <a:bodyPr/>
                    <a:lstStyle/>
                    <a:p>
                      <a:r>
                        <a:rPr sz="1100">
                          <a:solidFill>
                            <a:srgbClr val="FFFFFF"/>
                          </a:solidFill>
                          <a:latin typeface="Calibri"/>
                        </a:rPr>
                        <a:t>$310.0M</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$215M plan EBITDA</a:t>
                      </a:r>
                    </a:p>
                  </a:txBody>
                  <a:tcPr>
                    <a:solidFill>
                      <a:srgbClr val="0D1220"/>
                    </a:solidFill>
                  </a:tcPr>
                </a:tc>
                <a:tc>
                  <a:txBody>
                    <a:bodyPr/>
                    <a:lstStyle/>
                    <a:p>
                      <a:r>
                        <a:rPr sz="1100">
                          <a:solidFill>
                            <a:srgbClr val="FFFFFF"/>
                          </a:solidFill>
                          <a:latin typeface="Calibri"/>
                        </a:rPr>
                        <a:t>$4.7M</a:t>
                      </a:r>
                    </a:p>
                  </a:txBody>
                  <a:tcPr>
                    <a:solidFill>
                      <a:srgbClr val="0D1220"/>
                    </a:solidFill>
                  </a:tcPr>
                </a:tc>
                <a:tc>
                  <a:txBody>
                    <a:bodyPr/>
                    <a:lstStyle/>
                    <a:p>
                      <a:r>
                        <a:rPr sz="1100">
                          <a:solidFill>
                            <a:srgbClr val="FFFFFF"/>
                          </a:solidFill>
                          <a:latin typeface="Calibri"/>
                        </a:rPr>
                        <a:t>$20.0M</a:t>
                      </a:r>
                    </a:p>
                  </a:txBody>
                  <a:tcPr>
                    <a:solidFill>
                      <a:srgbClr val="0D1220"/>
                    </a:solidFill>
                  </a:tcPr>
                </a:tc>
                <a:tc>
                  <a:txBody>
                    <a:bodyPr/>
                    <a:lstStyle/>
                    <a:p>
                      <a:r>
                        <a:rPr sz="1100">
                          <a:solidFill>
                            <a:srgbClr val="FFFFFF"/>
                          </a:solidFill>
                          <a:latin typeface="Calibri"/>
                        </a:rPr>
                        <a:t>$43.2M</a:t>
                      </a:r>
                    </a:p>
                  </a:txBody>
                  <a:tcPr>
                    <a:solidFill>
                      <a:srgbClr val="0D1220"/>
                    </a:solidFill>
                  </a:tcPr>
                </a:tc>
                <a:tc>
                  <a:txBody>
                    <a:bodyPr/>
                    <a:lstStyle/>
                    <a:p>
                      <a:r>
                        <a:rPr sz="1100">
                          <a:solidFill>
                            <a:srgbClr val="FFFFFF"/>
                          </a:solidFill>
                          <a:latin typeface="Calibri"/>
                        </a:rPr>
                        <a:t>$59.5M</a:t>
                      </a:r>
                    </a:p>
                  </a:txBody>
                  <a:tcPr>
                    <a:solidFill>
                      <a:srgbClr val="0D1220"/>
                    </a:solidFill>
                  </a:tcPr>
                </a:tc>
                <a:tc>
                  <a:txBody>
                    <a:bodyPr/>
                    <a:lstStyle/>
                    <a:p>
                      <a:r>
                        <a:rPr sz="1100">
                          <a:solidFill>
                            <a:srgbClr val="FFFFFF"/>
                          </a:solidFill>
                          <a:latin typeface="Calibri"/>
                        </a:rPr>
                        <a:t>$89.3M</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Plan EBITDA margin</a:t>
                      </a:r>
                    </a:p>
                  </a:txBody>
                  <a:tcPr>
                    <a:solidFill>
                      <a:srgbClr val="101626"/>
                    </a:solidFill>
                  </a:tcPr>
                </a:tc>
                <a:tc>
                  <a:txBody>
                    <a:bodyPr/>
                    <a:lstStyle/>
                    <a:p>
                      <a:r>
                        <a:rPr sz="1100">
                          <a:solidFill>
                            <a:srgbClr val="FFFFFF"/>
                          </a:solidFill>
                          <a:latin typeface="Calibri"/>
                        </a:rPr>
                        <a:t>15%</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23%</a:t>
                      </a:r>
                    </a:p>
                  </a:txBody>
                  <a:tcPr>
                    <a:solidFill>
                      <a:srgbClr val="101626"/>
                    </a:solidFill>
                  </a:tcPr>
                </a:tc>
                <a:tc>
                  <a:txBody>
                    <a:bodyPr/>
                    <a:lstStyle/>
                    <a:p>
                      <a:r>
                        <a:rPr sz="1100">
                          <a:solidFill>
                            <a:srgbClr val="FFFFFF"/>
                          </a:solidFill>
                          <a:latin typeface="Calibri"/>
                        </a:rPr>
                        <a:t>24%</a:t>
                      </a:r>
                    </a:p>
                  </a:txBody>
                  <a:tcPr>
                    <a:solidFill>
                      <a:srgbClr val="101626"/>
                    </a:solidFill>
                  </a:tcPr>
                </a:tc>
                <a:tc>
                  <a:txBody>
                    <a:bodyPr/>
                    <a:lstStyle/>
                    <a:p>
                      <a:r>
                        <a:rPr sz="1100">
                          <a:solidFill>
                            <a:srgbClr val="FFFFFF"/>
                          </a:solidFill>
                          <a:latin typeface="Calibri"/>
                        </a:rPr>
                        <a:t>29%</a:t>
                      </a:r>
                    </a:p>
                  </a:txBody>
                  <a:tcPr>
                    <a:solidFill>
                      <a:srgbClr val="101626"/>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Per final terms</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 Cap table as of February 20, 2026 (date of last update), fully diluted.</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 PART 431 LAUNCH LICENSE (→ PART 450)</a:t>
            </a:r>
          </a:p>
          <a:p>
            <a:pPr algn="ctr"/>
            <a:r>
              <a:rPr lang="en-US" sz="1100" b="0" dirty="0">
                <a:solidFill>
                  <a:srgbClr val="CCCCCC"/>
                </a:solidFill>
              </a:rPr>
              <a:t>Reusable suborbital launch | ITAR-controlled technology | Government contracts | Texas operations</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364480" cy="307777"/>
          </a:xfrm>
          <a:prstGeom prst="rect">
            <a:avLst/>
          </a:prstGeom>
          <a:noFill/>
        </p:spPr>
        <p:txBody>
          <a:bodyPr wrap="square">
            <a:spAutoFit/>
          </a:bodyPr>
          <a:lstStyle/>
          <a:p>
            <a:pPr algn="l">
              <a:spcAft>
                <a:spcPts val="400"/>
              </a:spcAft>
            </a:pPr>
            <a:r>
              <a:rPr sz="1400" b="1" dirty="0">
                <a:solidFill>
                  <a:srgbClr val="FFB800"/>
                </a:solidFill>
                <a:latin typeface="Calibri"/>
              </a:rPr>
              <a:t>PUBLIC-MARKETS PATH — IN PROGRESS; TXSE LISTING AS BACKUP</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Public-markets path: in progress; a Texas Stock Exchange (TXSE) listing is the backup route.</a:t>
            </a:r>
          </a:p>
          <a:p>
            <a:pPr algn="l">
              <a:spcBef>
                <a:spcPts val="0"/>
              </a:spcBef>
              <a:spcAft>
                <a:spcPts val="300"/>
              </a:spcAft>
            </a:pPr>
            <a:r>
              <a:rPr sz="1100" b="0">
                <a:solidFill>
                  <a:srgbClr val="CCCCCC"/>
                </a:solidFill>
                <a:latin typeface="Calibri"/>
              </a:rPr>
              <a:t>Private growth Series A now ($10M) — the first step of a $215M total raise.</a:t>
            </a:r>
          </a:p>
          <a:p>
            <a:pPr algn="l">
              <a:spcBef>
                <a:spcPts val="0"/>
              </a:spcBef>
              <a:spcAft>
                <a:spcPts val="300"/>
              </a:spcAft>
            </a:pPr>
            <a:endParaRPr sz="1100" b="0">
              <a:solidFill>
                <a:srgbClr val="CCCCCC"/>
              </a:solidFill>
              <a:latin typeface="Calibri"/>
            </a:endParaRP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Q4 2026: Series A close + Scorpius acquisition</a:t>
            </a:r>
          </a:p>
          <a:p>
            <a:pPr algn="l">
              <a:spcBef>
                <a:spcPts val="0"/>
              </a:spcBef>
              <a:spcAft>
                <a:spcPts val="300"/>
              </a:spcAft>
            </a:pPr>
            <a:r>
              <a:rPr lang="en-US" sz="1100" b="0" dirty="0">
                <a:solidFill>
                  <a:srgbClr val="CCCCCC"/>
                </a:solidFill>
              </a:rPr>
              <a:t>•  Early 2027: first BLK3 commercial flight targeted</a:t>
            </a:r>
          </a:p>
          <a:p>
            <a:pPr algn="l">
              <a:spcBef>
                <a:spcPts val="0"/>
              </a:spcBef>
              <a:spcAft>
                <a:spcPts val="300"/>
              </a:spcAft>
            </a:pPr>
            <a:r>
              <a:rPr lang="en-US" sz="1100" b="0" dirty="0">
                <a:solidFill>
                  <a:srgbClr val="CCCCCC"/>
                </a:solidFill>
              </a:rPr>
              <a:t>•  2027–2028: public-markets transaction (TXSE listing as backup)</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TTM Revenue</a:t>
                      </a:r>
                    </a:p>
                  </a:txBody>
                  <a:tcPr>
                    <a:solidFill>
                      <a:srgbClr val="0A142A"/>
                    </a:solidFill>
                  </a:tcPr>
                </a:tc>
                <a:tc>
                  <a:txBody>
                    <a:bodyPr/>
                    <a:lstStyle/>
                    <a:p>
                      <a:r>
                        <a:rPr sz="1100" b="1">
                          <a:solidFill>
                            <a:srgbClr val="009ED9"/>
                          </a:solidFill>
                          <a:latin typeface="Calibri"/>
                        </a:rPr>
                        <a:t>EV/Rev</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$30.4B</a:t>
                      </a:r>
                    </a:p>
                  </a:txBody>
                  <a:tcPr>
                    <a:solidFill>
                      <a:srgbClr val="0D1220"/>
                    </a:solidFill>
                  </a:tcPr>
                </a:tc>
                <a:tc>
                  <a:txBody>
                    <a:bodyPr/>
                    <a:lstStyle/>
                    <a:p>
                      <a:r>
                        <a:rPr sz="1100">
                          <a:solidFill>
                            <a:srgbClr val="FFFFFF"/>
                          </a:solidFill>
                          <a:latin typeface="Calibri"/>
                        </a:rPr>
                        <a:t>$769M</a:t>
                      </a:r>
                    </a:p>
                  </a:txBody>
                  <a:tcPr>
                    <a:solidFill>
                      <a:srgbClr val="0D1220"/>
                    </a:solidFill>
                  </a:tcPr>
                </a:tc>
                <a:tc>
                  <a:txBody>
                    <a:bodyPr/>
                    <a:lstStyle/>
                    <a:p>
                      <a:r>
                        <a:rPr sz="1100">
                          <a:solidFill>
                            <a:srgbClr val="FFFFFF"/>
                          </a:solidFill>
                          <a:latin typeface="Calibri"/>
                        </a:rPr>
                        <a:t>36.6x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Firefly Aerospace (FLY)</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$2.8B</a:t>
                      </a:r>
                    </a:p>
                  </a:txBody>
                  <a:tcPr>
                    <a:solidFill>
                      <a:srgbClr val="101626"/>
                    </a:solidFill>
                  </a:tcPr>
                </a:tc>
                <a:tc>
                  <a:txBody>
                    <a:bodyPr/>
                    <a:lstStyle/>
                    <a:p>
                      <a:r>
                        <a:rPr sz="1100">
                          <a:solidFill>
                            <a:srgbClr val="FFFFFF"/>
                          </a:solidFill>
                          <a:latin typeface="Calibri"/>
                        </a:rPr>
                        <a:t>$287M</a:t>
                      </a:r>
                    </a:p>
                  </a:txBody>
                  <a:tcPr>
                    <a:solidFill>
                      <a:srgbClr val="101626"/>
                    </a:solidFill>
                  </a:tcPr>
                </a:tc>
                <a:tc>
                  <a:txBody>
                    <a:bodyPr/>
                    <a:lstStyle/>
                    <a:p>
                      <a:r>
                        <a:rPr sz="1100">
                          <a:solidFill>
                            <a:srgbClr val="FFFFFF"/>
                          </a:solidFill>
                          <a:latin typeface="Calibri"/>
                        </a:rPr>
                        <a:t>8.0x</a:t>
                      </a:r>
                    </a:p>
                  </a:txBody>
                  <a:tcPr>
                    <a:solidFill>
                      <a:srgbClr val="101626"/>
                    </a:solidFill>
                  </a:tcPr>
                </a:tc>
                <a:tc>
                  <a:txBody>
                    <a:bodyPr/>
                    <a:lstStyle/>
                    <a:p>
                      <a:r>
                        <a:rPr sz="1100">
                          <a:solidFill>
                            <a:srgbClr val="FFFFFF"/>
                          </a:solidFill>
                          <a:latin typeface="Calibri"/>
                        </a:rPr>
                        <a:t>Launch + lunar; IPO Aug 2025</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Intuitive Machines (LUNR)</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$2.5B</a:t>
                      </a:r>
                    </a:p>
                  </a:txBody>
                  <a:tcPr>
                    <a:solidFill>
                      <a:srgbClr val="0D1220"/>
                    </a:solidFill>
                  </a:tcPr>
                </a:tc>
                <a:tc>
                  <a:txBody>
                    <a:bodyPr/>
                    <a:lstStyle/>
                    <a:p>
                      <a:r>
                        <a:rPr sz="1100">
                          <a:solidFill>
                            <a:srgbClr val="FFFFFF"/>
                          </a:solidFill>
                          <a:latin typeface="Calibri"/>
                        </a:rPr>
                        <a:t>$490M</a:t>
                      </a:r>
                    </a:p>
                  </a:txBody>
                  <a:tcPr>
                    <a:solidFill>
                      <a:srgbClr val="0D1220"/>
                    </a:solidFill>
                  </a:tcPr>
                </a:tc>
                <a:tc>
                  <a:txBody>
                    <a:bodyPr/>
                    <a:lstStyle/>
                    <a:p>
                      <a:r>
                        <a:rPr sz="1100">
                          <a:solidFill>
                            <a:srgbClr val="FFFFFF"/>
                          </a:solidFill>
                          <a:latin typeface="Calibri"/>
                        </a:rPr>
                        <a:t>5.3x</a:t>
                      </a:r>
                    </a:p>
                  </a:txBody>
                  <a:tcPr>
                    <a:solidFill>
                      <a:srgbClr val="0D1220"/>
                    </a:solidFill>
                  </a:tcPr>
                </a:tc>
                <a:tc>
                  <a:txBody>
                    <a:bodyPr/>
                    <a:lstStyle/>
                    <a:p>
                      <a:r>
                        <a:rPr sz="1100">
                          <a:solidFill>
                            <a:srgbClr val="FFFFFF"/>
                          </a:solidFill>
                          <a:latin typeface="Calibri"/>
                        </a:rPr>
                        <a:t>Flew Scorpius tanks (IM-1/IM-2)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Spire Global (SPIR)</a:t>
                      </a:r>
                    </a:p>
                  </a:txBody>
                  <a:tcPr>
                    <a:solidFill>
                      <a:srgbClr val="101626"/>
                    </a:solidFill>
                  </a:tcPr>
                </a:tc>
                <a:tc>
                  <a:txBody>
                    <a:bodyPr/>
                    <a:lstStyle/>
                    <a:p>
                      <a:r>
                        <a:rPr sz="1100">
                          <a:solidFill>
                            <a:srgbClr val="FFFFFF"/>
                          </a:solidFill>
                          <a:latin typeface="Calibri"/>
                        </a:rPr>
                        <a:t>NYSE</a:t>
                      </a:r>
                    </a:p>
                  </a:txBody>
                  <a:tcPr>
                    <a:solidFill>
                      <a:srgbClr val="101626"/>
                    </a:solidFill>
                  </a:tcPr>
                </a:tc>
                <a:tc>
                  <a:txBody>
                    <a:bodyPr/>
                    <a:lstStyle/>
                    <a:p>
                      <a:r>
                        <a:rPr sz="1100">
                          <a:solidFill>
                            <a:srgbClr val="FFFFFF"/>
                          </a:solidFill>
                          <a:latin typeface="Calibri"/>
                        </a:rPr>
                        <a:t>$350M</a:t>
                      </a:r>
                    </a:p>
                  </a:txBody>
                  <a:tcPr>
                    <a:solidFill>
                      <a:srgbClr val="101626"/>
                    </a:solidFill>
                  </a:tcPr>
                </a:tc>
                <a:tc>
                  <a:txBody>
                    <a:bodyPr/>
                    <a:lstStyle/>
                    <a:p>
                      <a:r>
                        <a:rPr sz="1100">
                          <a:solidFill>
                            <a:srgbClr val="FFFFFF"/>
                          </a:solidFill>
                          <a:latin typeface="Calibri"/>
                        </a:rPr>
                        <a:t>$62M</a:t>
                      </a:r>
                    </a:p>
                  </a:txBody>
                  <a:tcPr>
                    <a:solidFill>
                      <a:srgbClr val="101626"/>
                    </a:solidFill>
                  </a:tcPr>
                </a:tc>
                <a:tc>
                  <a:txBody>
                    <a:bodyPr/>
                    <a:lstStyle/>
                    <a:p>
                      <a:r>
                        <a:rPr sz="1100">
                          <a:solidFill>
                            <a:srgbClr val="FFFFFF"/>
                          </a:solidFill>
                          <a:latin typeface="Calibri"/>
                        </a:rPr>
                        <a:t>4.3x</a:t>
                      </a:r>
                    </a:p>
                  </a:txBody>
                  <a:tcPr>
                    <a:solidFill>
                      <a:srgbClr val="101626"/>
                    </a:solidFill>
                  </a:tcPr>
                </a:tc>
                <a:tc>
                  <a:txBody>
                    <a:bodyPr/>
                    <a:lstStyle/>
                    <a:p>
                      <a:r>
                        <a:rPr sz="1100">
                          <a:solidFill>
                            <a:srgbClr val="FFFFFF"/>
                          </a:solidFill>
                          <a:latin typeface="Calibri"/>
                        </a:rPr>
                        <a:t>Space data/analytics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$368M</a:t>
                      </a:r>
                    </a:p>
                  </a:txBody>
                  <a:tcPr>
                    <a:solidFill>
                      <a:srgbClr val="0D1220"/>
                    </a:solidFill>
                  </a:tcPr>
                </a:tc>
                <a:tc>
                  <a:txBody>
                    <a:bodyPr/>
                    <a:lstStyle/>
                    <a:p>
                      <a:r>
                        <a:rPr sz="1100">
                          <a:solidFill>
                            <a:srgbClr val="FFFFFF"/>
                          </a:solidFill>
                          <a:latin typeface="Calibri"/>
                        </a:rPr>
                        <a:t>$1M</a:t>
                      </a:r>
                    </a:p>
                  </a:txBody>
                  <a:tcPr>
                    <a:solidFill>
                      <a:srgbClr val="0D1220"/>
                    </a:solidFill>
                  </a:tcPr>
                </a:tc>
                <a:tc>
                  <a:txBody>
                    <a:bodyPr/>
                    <a:lstStyle/>
                    <a:p>
                      <a:r>
                        <a:rPr sz="1100">
                          <a:solidFill>
                            <a:srgbClr val="FFFFFF"/>
                          </a:solidFill>
                          <a:latin typeface="Calibri"/>
                        </a:rPr>
                        <a:t>NM</a:t>
                      </a:r>
                    </a:p>
                  </a:txBody>
                  <a:tcPr>
                    <a:solidFill>
                      <a:srgbClr val="0D1220"/>
                    </a:solidFill>
                  </a:tcPr>
                </a:tc>
                <a:tc>
                  <a:txBody>
                    <a:bodyPr/>
                    <a:lstStyle/>
                    <a:p>
                      <a:r>
                        <a:rPr sz="1100">
                          <a:solidFill>
                            <a:srgbClr val="FFFFFF"/>
                          </a:solidFill>
                          <a:latin typeface="Calibri"/>
                        </a:rPr>
                        <a:t>Suborbital tourism; flights paused</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Market data: stockanalysis.com, 10/16/26 close; TTM revenue through latest reported quarter. DCF and market approach sit behind the model's reconciliation tab.
</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lunar-proven cryogenic tank IP (Scorpius)
• Growth from commercializing M&amp;A / JV / teaming &amp; licensing products</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Type-5 tanks are TRL-9, flown to the Moon on IM-1 and IM-2.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normAutofit fontScale="90000"/>
          </a:bodyPr>
          <a:lstStyle/>
          <a:p>
            <a:r>
              <a:rPr>
                <a:solidFill>
                  <a:srgbClr val="FFFFFF"/>
                </a:solidFill>
              </a:rPr>
              <a:t>POLICY TAILWIND — THE 'GOLDEN AGE OF SPACE TRANSPORTATION'</a:t>
            </a:r>
          </a:p>
        </p:txBody>
      </p:sp>
      <p:sp>
        <p:nvSpPr>
          <p:cNvPr id="3" name="Content Placeholder 2"/>
          <p:cNvSpPr>
            <a:spLocks noGrp="1"/>
          </p:cNvSpPr>
          <p:nvPr>
            <p:ph idx="1"/>
          </p:nvPr>
        </p:nvSpPr>
        <p:spPr/>
        <p:txBody>
          <a:bodyPr wrap="square"/>
          <a:lstStyle/>
          <a:p>
            <a:pPr>
              <a:defRPr sz="1500"/>
            </a:pPr>
            <a:r>
              <a:rPr>
                <a:solidFill>
                  <a:srgbClr val="FFFFFF"/>
                </a:solidFill>
              </a:rPr>
              <a:t>New U.S. National Space Transportation Policy (Aug 2026) targets 1,000+ launches AND reentries per year by 2030 — a ~10x market expansion; reentry is the underserved half.</a:t>
            </a:r>
          </a:p>
          <a:p>
            <a:pPr>
              <a:defRPr sz="1500"/>
            </a:pPr>
            <a:r>
              <a:rPr>
                <a:solidFill>
                  <a:srgbClr val="FFFFFF"/>
                </a:solidFill>
              </a:rPr>
              <a:t>Reusable + recoverable: every Exos flight is a launch and a reentry — native to the policy's hardest goal, where few operators compete.</a:t>
            </a:r>
          </a:p>
          <a:p>
            <a:pPr>
              <a:defRPr sz="1500"/>
            </a:pPr>
            <a:r>
              <a:rPr>
                <a:solidFill>
                  <a:srgbClr val="FFFFFF"/>
                </a:solidFill>
              </a:rPr>
              <a:t>48-hour responsive launch: a 2-flight / 48-hour turnaround is proposed under Exos Project KARMEN (USSF SBIR SF254-D1002) — not yet demonstrated.</a:t>
            </a:r>
          </a:p>
          <a:p>
            <a:pPr>
              <a:defRPr sz="1500"/>
            </a:pPr>
            <a:r>
              <a:rPr>
                <a:solidFill>
                  <a:srgbClr val="FFFFFF"/>
                </a:solidFill>
              </a:rPr>
              <a:t>Spaceport &amp; reentry-site build-out + streamlined Part 450 portfolio licensing favor Exos's minimal-infrastructure, multi-site model (West Texas).</a:t>
            </a:r>
          </a:p>
          <a:p>
            <a:pPr>
              <a:defRPr sz="1500"/>
            </a:pPr>
            <a:r>
              <a:rPr>
                <a:solidFill>
                  <a:srgbClr val="FFFFFF"/>
                </a:solidFill>
              </a:rPr>
              <a:t>Commercial Moon/Mars push + export emphasis align with Scorpius Type-5 tanks (lunar heritage) and international wet-lease.</a:t>
            </a:r>
          </a:p>
          <a:p>
            <a:pPr>
              <a:defRPr sz="1500"/>
            </a:pPr>
            <a:r>
              <a:rPr>
                <a:solidFill>
                  <a:srgbClr val="FFFFFF"/>
                </a:solidFill>
              </a:rPr>
              <a:t>Net: federal demand-pull that reinforces the market-timing thesis.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Lunar Lander Challenge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Lunar Lander Challenge 2009 — Armadillo prize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2010-2013</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Super Mod</a:t>
            </a:r>
          </a:p>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4 Launches and 3 recoveries on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 </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SARGE vehicle</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Aug 2018 – Oct 2019</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807662" y="32909"/>
            <a:ext cx="369333" cy="4911323"/>
            <a:chOff x="7677522" y="58032"/>
            <a:chExt cx="313660"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7952995" y="58032"/>
              <a:ext cx="0" cy="6599005"/>
            </a:xfrm>
            <a:prstGeom prst="line">
              <a:avLst/>
            </a:prstGeom>
            <a:ln/>
          </p:spPr>
          <p:style>
            <a:lnRef idx="2">
              <a:schemeClr val="accent2"/>
            </a:lnRef>
            <a:fillRef idx="0">
              <a:schemeClr val="accent2"/>
            </a:fillRef>
            <a:effectRef idx="1">
              <a:schemeClr val="accent2"/>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7152499" y="1171202"/>
              <a:ext cx="1363706" cy="313660"/>
            </a:xfrm>
            <a:prstGeom prst="rect">
              <a:avLst/>
            </a:prstGeom>
            <a:noFill/>
          </p:spPr>
          <p:txBody>
            <a:bodyPr wrap="square" rtlCol="0">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Duplicate Sans Light" pitchFamily="2" charset="77"/>
                  <a:ea typeface="+mn-ea"/>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552167" y="1688528"/>
            <a:ext cx="1857420" cy="1740598"/>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Italy $6.4M grant LOI.  2022 -2025 Exos Aerospace Italia </a:t>
            </a:r>
            <a:r>
              <a:rPr kumimoji="0" lang="en-US" sz="1200" b="0" i="0" u="none" strike="noStrike" kern="1200" cap="none" spc="0" normalizeH="0" baseline="0" noProof="0" err="1">
                <a:ln>
                  <a:noFill/>
                </a:ln>
                <a:solidFill>
                  <a:prstClr val="white"/>
                </a:solidFill>
                <a:effectLst/>
                <a:uLnTx/>
                <a:uFillTx/>
                <a:latin typeface="Duplicate Sans Regular" pitchFamily="2" charset="77"/>
                <a:ea typeface="+mn-ea"/>
                <a:cs typeface="Arial"/>
                <a:sym typeface="Arial"/>
              </a:rPr>
              <a:t>Srl</a:t>
            </a: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  work with Defense on Suborbital Air Launch   development and work with Spaceland.it on microgravity research</a:t>
            </a:r>
          </a:p>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lumMod val="75000"/>
                  </a:srgbClr>
                </a:solidFill>
                <a:effectLst/>
                <a:uLnTx/>
                <a:uFillTx/>
                <a:latin typeface="Calibri" panose="020F0502020204030204"/>
                <a:ea typeface="+mn-ea"/>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2024- 2026</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DoD HVRR Rotating Detonation Rocket Engine  (RDRE)  Test Vehicle Design and build USAF contracts</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34217" y="3631748"/>
            <a:ext cx="1334123" cy="1054135"/>
          </a:xfrm>
          <a:prstGeom prst="rect">
            <a:avLst/>
          </a:prstGeom>
        </p:spPr>
        <p:txBody>
          <a:bodyPr wrap="square" lIns="91440" tIns="45720" rIns="91440" bIns="45720" anchor="t">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Our OTV-prop </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solutions offer </a:t>
            </a: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LEO → Moon → Earth round-</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trip capability — </a:t>
            </a:r>
            <a:endParaRPr kumimoji="0" lang="en-US" sz="1250" b="0" i="0" u="none" strike="noStrike" kern="0" cap="none" spc="0" normalizeH="0" baseline="0" noProof="0">
              <a:ln>
                <a:noFill/>
              </a:ln>
              <a:solidFill>
                <a:prstClr val="white"/>
              </a:solidFill>
              <a:effectLst/>
              <a:uLnTx/>
              <a:uFillTx/>
              <a:latin typeface="Arial"/>
              <a:ea typeface="+mn-ea"/>
              <a:cs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mn-cs"/>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6259372-27C7-3E40-8925-123E12025AA1}"/>
              </a:ext>
            </a:extLst>
          </p:cNvPr>
          <p:cNvCxnSpPr>
            <a:cxnSpLocks/>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2025</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146812" y="1653122"/>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rPr>
              <a:t>2026+</a:t>
            </a:r>
            <a:r>
              <a:rPr kumimoji="0" lang="en-US" sz="1255" b="0" i="0" u="none" strike="noStrike" kern="1200" cap="none" spc="0" normalizeH="0" baseline="0" noProof="0" dirty="0">
                <a:ln>
                  <a:noFill/>
                </a:ln>
                <a:solidFill>
                  <a:prstClr val="white"/>
                </a:solidFill>
                <a:effectLst/>
                <a:highlight>
                  <a:srgbClr val="000000"/>
                </a:highlight>
                <a:uLnTx/>
                <a:uFillTx/>
                <a:latin typeface="Metrophobic" panose="020B0604020202020204" charset="0"/>
                <a:ea typeface="+mn-ea"/>
                <a:cs typeface="+mn-cs"/>
                <a:sym typeface="Arial"/>
              </a:rPr>
              <a:t> Technology and Reputation Risk Reduction flights testing your hardware and software on our Reusable Rockets</a:t>
            </a:r>
            <a:endParaRPr kumimoji="0" lang="en-US" sz="1255" b="0" i="0" u="none" strike="noStrike" kern="0" cap="none" spc="0" normalizeH="0" baseline="0" noProof="0" dirty="0">
              <a:ln>
                <a:noFill/>
              </a:ln>
              <a:solidFill>
                <a:prstClr val="white"/>
              </a:solidFill>
              <a:effectLst/>
              <a:highlight>
                <a:srgbClr val="000000"/>
              </a:highlight>
              <a:uLnTx/>
              <a:uFillTx/>
              <a:latin typeface="Metrophobic" panose="020B0604020202020204" charset="0"/>
              <a:ea typeface="+mn-ea"/>
              <a:cs typeface="Arial"/>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2022 USAF Contract for Hypersonic Reusable Launch Vehicle</a:t>
            </a:r>
            <a:endPar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495868" y="6373632"/>
            <a:ext cx="2781660" cy="461665"/>
          </a:xfrm>
          <a:prstGeom prst="rect">
            <a:avLst/>
          </a:prstGeom>
          <a:noFill/>
        </p:spPr>
        <p:txBody>
          <a:bodyPr wrap="non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Working with companies like Vaya Space </a:t>
            </a:r>
          </a:p>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ED7D31"/>
                </a:solidFill>
                <a:effectLst/>
                <a:uLnTx/>
                <a:uFillTx/>
                <a:latin typeface="Calibri" panose="020F0502020204030204"/>
                <a:ea typeface="+mn-ea"/>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154531" y="4828651"/>
            <a:ext cx="1354444" cy="1996440"/>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
        <p:nvSpPr>
          <p:cNvPr id="10" name="Rectangle 9">
            <a:extLst>
              <a:ext uri="{FF2B5EF4-FFF2-40B4-BE49-F238E27FC236}">
                <a16:creationId xmlns:a16="http://schemas.microsoft.com/office/drawing/2014/main" id="{6AC05270-9EA8-E02E-592C-3668384987A0}"/>
              </a:ext>
            </a:extLst>
          </p:cNvPr>
          <p:cNvSpPr/>
          <p:nvPr/>
        </p:nvSpPr>
        <p:spPr>
          <a:xfrm>
            <a:off x="1723262" y="3283155"/>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2008</a:t>
            </a:r>
          </a:p>
        </p:txBody>
      </p:sp>
      <p:grpSp>
        <p:nvGrpSpPr>
          <p:cNvPr id="11" name="Group 10">
            <a:extLst>
              <a:ext uri="{FF2B5EF4-FFF2-40B4-BE49-F238E27FC236}">
                <a16:creationId xmlns:a16="http://schemas.microsoft.com/office/drawing/2014/main" id="{C1F93062-11DA-6CD9-FC46-20DBC8F128BB}"/>
              </a:ext>
            </a:extLst>
          </p:cNvPr>
          <p:cNvGrpSpPr/>
          <p:nvPr/>
        </p:nvGrpSpPr>
        <p:grpSpPr>
          <a:xfrm>
            <a:off x="2379334" y="3251592"/>
            <a:ext cx="316547" cy="316547"/>
            <a:chOff x="762004" y="3201390"/>
            <a:chExt cx="457195" cy="457195"/>
          </a:xfrm>
        </p:grpSpPr>
        <p:sp>
          <p:nvSpPr>
            <p:cNvPr id="12" name="Oval 11">
              <a:extLst>
                <a:ext uri="{FF2B5EF4-FFF2-40B4-BE49-F238E27FC236}">
                  <a16:creationId xmlns:a16="http://schemas.microsoft.com/office/drawing/2014/main" id="{F3661D16-2A05-A9CD-3EE9-1AAA2982EF8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3" name="Oval 12">
              <a:extLst>
                <a:ext uri="{FF2B5EF4-FFF2-40B4-BE49-F238E27FC236}">
                  <a16:creationId xmlns:a16="http://schemas.microsoft.com/office/drawing/2014/main" id="{2841F59A-EF61-3A02-8006-D14D047C9F2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4" name="Oval 13">
              <a:extLst>
                <a:ext uri="{FF2B5EF4-FFF2-40B4-BE49-F238E27FC236}">
                  <a16:creationId xmlns:a16="http://schemas.microsoft.com/office/drawing/2014/main" id="{639A95A9-6322-3F58-BA54-58C7B9A05A6B}"/>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grpSp>
      <p:sp>
        <p:nvSpPr>
          <p:cNvPr id="17" name="Rectangle 16">
            <a:extLst>
              <a:ext uri="{FF2B5EF4-FFF2-40B4-BE49-F238E27FC236}">
                <a16:creationId xmlns:a16="http://schemas.microsoft.com/office/drawing/2014/main" id="{6D73F273-98AD-FF83-248E-D1F0BF37FD3A}"/>
              </a:ext>
            </a:extLst>
          </p:cNvPr>
          <p:cNvSpPr/>
          <p:nvPr/>
        </p:nvSpPr>
        <p:spPr>
          <a:xfrm>
            <a:off x="2944089" y="327244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2010</a:t>
            </a:r>
          </a:p>
        </p:txBody>
      </p:sp>
      <p:sp>
        <p:nvSpPr>
          <p:cNvPr id="21" name="Rectangle 20">
            <a:extLst>
              <a:ext uri="{FF2B5EF4-FFF2-40B4-BE49-F238E27FC236}">
                <a16:creationId xmlns:a16="http://schemas.microsoft.com/office/drawing/2014/main" id="{8717EBB9-FCE4-0076-4957-1E6648D868BD}"/>
              </a:ext>
            </a:extLst>
          </p:cNvPr>
          <p:cNvSpPr/>
          <p:nvPr/>
        </p:nvSpPr>
        <p:spPr>
          <a:xfrm>
            <a:off x="4055354" y="3292374"/>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2011</a:t>
            </a:r>
          </a:p>
        </p:txBody>
      </p:sp>
      <p:sp>
        <p:nvSpPr>
          <p:cNvPr id="23" name="Rectangle 22">
            <a:extLst>
              <a:ext uri="{FF2B5EF4-FFF2-40B4-BE49-F238E27FC236}">
                <a16:creationId xmlns:a16="http://schemas.microsoft.com/office/drawing/2014/main" id="{D312AA91-8E42-2771-CF67-0A1EC86721C0}"/>
              </a:ext>
            </a:extLst>
          </p:cNvPr>
          <p:cNvSpPr/>
          <p:nvPr/>
        </p:nvSpPr>
        <p:spPr>
          <a:xfrm>
            <a:off x="4918162" y="327067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2015</a:t>
            </a:r>
          </a:p>
        </p:txBody>
      </p:sp>
      <p:sp>
        <p:nvSpPr>
          <p:cNvPr id="25" name="Rectangle 24">
            <a:extLst>
              <a:ext uri="{FF2B5EF4-FFF2-40B4-BE49-F238E27FC236}">
                <a16:creationId xmlns:a16="http://schemas.microsoft.com/office/drawing/2014/main" id="{739B0315-0521-7CAC-A374-F4AB83E3A636}"/>
              </a:ext>
            </a:extLst>
          </p:cNvPr>
          <p:cNvSpPr/>
          <p:nvPr/>
        </p:nvSpPr>
        <p:spPr>
          <a:xfrm>
            <a:off x="6237089" y="327356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2020</a:t>
            </a:r>
          </a:p>
        </p:txBody>
      </p:sp>
      <p:sp>
        <p:nvSpPr>
          <p:cNvPr id="27" name="Rectangle 26">
            <a:extLst>
              <a:ext uri="{FF2B5EF4-FFF2-40B4-BE49-F238E27FC236}">
                <a16:creationId xmlns:a16="http://schemas.microsoft.com/office/drawing/2014/main" id="{5FDF7F20-A5C3-E0F9-2EA5-7D9C0A2F6D02}"/>
              </a:ext>
            </a:extLst>
          </p:cNvPr>
          <p:cNvSpPr/>
          <p:nvPr/>
        </p:nvSpPr>
        <p:spPr>
          <a:xfrm>
            <a:off x="7109579" y="330683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28" name="Rectangle 27">
            <a:extLst>
              <a:ext uri="{FF2B5EF4-FFF2-40B4-BE49-F238E27FC236}">
                <a16:creationId xmlns:a16="http://schemas.microsoft.com/office/drawing/2014/main" id="{CC2B71A4-0198-3EFB-AE51-101B6C340738}"/>
              </a:ext>
            </a:extLst>
          </p:cNvPr>
          <p:cNvSpPr/>
          <p:nvPr/>
        </p:nvSpPr>
        <p:spPr>
          <a:xfrm>
            <a:off x="8603588" y="328829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2022</a:t>
            </a:r>
          </a:p>
        </p:txBody>
      </p:sp>
      <p:sp>
        <p:nvSpPr>
          <p:cNvPr id="29" name="Rectangle 28">
            <a:extLst>
              <a:ext uri="{FF2B5EF4-FFF2-40B4-BE49-F238E27FC236}">
                <a16:creationId xmlns:a16="http://schemas.microsoft.com/office/drawing/2014/main" id="{47607DB2-3841-F4EB-FD25-D9B91F0F44CA}"/>
              </a:ext>
            </a:extLst>
          </p:cNvPr>
          <p:cNvSpPr/>
          <p:nvPr/>
        </p:nvSpPr>
        <p:spPr>
          <a:xfrm>
            <a:off x="9152456" y="3231810"/>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2023</a:t>
            </a:r>
          </a:p>
        </p:txBody>
      </p:sp>
      <p:sp>
        <p:nvSpPr>
          <p:cNvPr id="30" name="Rectangle 29">
            <a:extLst>
              <a:ext uri="{FF2B5EF4-FFF2-40B4-BE49-F238E27FC236}">
                <a16:creationId xmlns:a16="http://schemas.microsoft.com/office/drawing/2014/main" id="{38229A42-1DFE-591A-A7C4-6CE1AF5D8BEF}"/>
              </a:ext>
            </a:extLst>
          </p:cNvPr>
          <p:cNvSpPr/>
          <p:nvPr/>
        </p:nvSpPr>
        <p:spPr>
          <a:xfrm>
            <a:off x="5634100" y="326722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2018</a:t>
            </a:r>
          </a:p>
        </p:txBody>
      </p:sp>
      <p:sp>
        <p:nvSpPr>
          <p:cNvPr id="31" name="Rectangle 30">
            <a:extLst>
              <a:ext uri="{FF2B5EF4-FFF2-40B4-BE49-F238E27FC236}">
                <a16:creationId xmlns:a16="http://schemas.microsoft.com/office/drawing/2014/main" id="{248EBAB9-D100-168D-A680-196BE5CFDBCF}"/>
              </a:ext>
            </a:extLst>
          </p:cNvPr>
          <p:cNvSpPr/>
          <p:nvPr/>
        </p:nvSpPr>
        <p:spPr>
          <a:xfrm>
            <a:off x="7943461" y="3297591"/>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32" name="Rectangle 31">
            <a:extLst>
              <a:ext uri="{FF2B5EF4-FFF2-40B4-BE49-F238E27FC236}">
                <a16:creationId xmlns:a16="http://schemas.microsoft.com/office/drawing/2014/main" id="{A058BB5C-4B62-85C5-DD27-0B8623F87C19}"/>
              </a:ext>
            </a:extLst>
          </p:cNvPr>
          <p:cNvSpPr/>
          <p:nvPr/>
        </p:nvSpPr>
        <p:spPr>
          <a:xfrm>
            <a:off x="9896540" y="324975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2024</a:t>
            </a:r>
          </a:p>
        </p:txBody>
      </p:sp>
    </p:spTree>
    <p:extLst>
      <p:ext uri="{BB962C8B-B14F-4D97-AF65-F5344CB8AC3E}">
        <p14:creationId xmlns:p14="http://schemas.microsoft.com/office/powerpoint/2010/main" val="30194995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to be appointed at listing;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(orbital path)</a:t>
                      </a:r>
                    </a:p>
                  </a:txBody>
                  <a:tcPr>
                    <a:solidFill>
                      <a:srgbClr val="0D1220"/>
                    </a:solidFill>
                  </a:tcPr>
                </a:tc>
                <a:tc>
                  <a:txBody>
                    <a:bodyPr/>
                    <a:lstStyle/>
                    <a:p>
                      <a:r>
                        <a:rPr sz="1100">
                          <a:solidFill>
                            <a:srgbClr val="FFFFFF"/>
                          </a:solidFill>
                          <a:latin typeface="Calibri"/>
                        </a:rPr>
                        <a:t>Future, gated orbital path — not funded by the Series A; base-case revenue does not depend on BLK4</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OFFER — $10M SERIES A</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FAA Part 431 Launch License (→ Part 450)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t/>
                      </a:r>
                      <a:endParaRPr/>
                    </a:p>
                  </a:txBody>
                  <a:tcPr>
                    <a:solidFill>
                      <a:srgbClr val="0A142A"/>
                    </a:solidFill>
                  </a:tcPr>
                </a:tc>
                <a:tc>
                  <a:txBody>
                    <a:bodyPr/>
                    <a:lstStyle/>
                    <a:p>
                      <a:r>
                        <a:t/>
                      </a:r>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The offer</a:t>
                      </a:r>
                    </a:p>
                  </a:txBody>
                  <a:tcPr>
                    <a:solidFill>
                      <a:srgbClr val="0D1220"/>
                    </a:solidFill>
                  </a:tcPr>
                </a:tc>
                <a:tc>
                  <a:txBody>
                    <a:bodyPr/>
                    <a:lstStyle/>
                    <a:p>
                      <a:r>
                        <a:rPr sz="1100">
                          <a:solidFill>
                            <a:srgbClr val="FFFFFF"/>
                          </a:solidFill>
                          <a:latin typeface="Calibri"/>
                        </a:rPr>
                        <a:t>$10M Series A · common stock (no preferred classes)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What $10M buys</a:t>
                      </a:r>
                    </a:p>
                  </a:txBody>
                  <a:tcPr>
                    <a:solidFill>
                      <a:srgbClr val="101626"/>
                    </a:solidFill>
                  </a:tcPr>
                </a:tc>
                <a:tc>
                  <a:txBody>
                    <a:bodyPr/>
                    <a:lstStyle/>
                    <a:p>
                      <a:r>
                        <a:rPr sz="1100">
                          <a:solidFill>
                            <a:srgbClr val="FFFFFF"/>
                          </a:solidFill>
                          <a:latin typeface="Calibri"/>
                        </a:rPr>
                        <a:t>Scorpius acquisition $3.4M · BLK3 to first flight $2.5M · propulsion study $4.1M</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Why it is de-risked</a:t>
                      </a:r>
                    </a:p>
                  </a:txBody>
                  <a:tcPr>
                    <a:solidFill>
                      <a:srgbClr val="0D1220"/>
                    </a:solidFill>
                  </a:tcPr>
                </a:tc>
                <a:tc>
                  <a:txBody>
                    <a:bodyPr/>
                    <a:lstStyle/>
                    <a:p>
                      <a:r>
                        <a:rPr sz="1100">
                          <a:solidFill>
                            <a:srgbClr val="FFFFFF"/>
                          </a:solidFill>
                          <a:latin typeface="Calibri"/>
                        </a:rPr>
                        <a:t>Profitable since 2025 · $1.58M revenue YTD Sep 2026 (+168%) · tanks flown to the Moon</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Path to liquidity</a:t>
                      </a:r>
                    </a:p>
                  </a:txBody>
                  <a:tcPr>
                    <a:solidFill>
                      <a:srgbClr val="101626"/>
                    </a:solidFill>
                  </a:tcPr>
                </a:tc>
                <a:tc>
                  <a:txBody>
                    <a:bodyPr/>
                    <a:lstStyle/>
                    <a:p>
                      <a:r>
                        <a:rPr sz="1100">
                          <a:solidFill>
                            <a:srgbClr val="FFFFFF"/>
                          </a:solidFill>
                          <a:latin typeface="Calibri"/>
                        </a:rPr>
                        <a:t>Public-markets transaction targeted 2027–28 (TXSE listing as backup)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Growth case</a:t>
                      </a:r>
                    </a:p>
                  </a:txBody>
                  <a:tcPr>
                    <a:solidFill>
                      <a:srgbClr val="0D1220"/>
                    </a:solidFill>
                  </a:tcPr>
                </a:tc>
                <a:tc>
                  <a:txBody>
                    <a:bodyPr/>
                    <a:lstStyle/>
                    <a:p>
                      <a:r>
                        <a:rPr sz="1100">
                          <a:solidFill>
                            <a:srgbClr val="FFFFFF"/>
                          </a:solidFill>
                          <a:latin typeface="Calibri"/>
                        </a:rPr>
                        <a:t>Y5 revenue ~$121.6M base case · ~$310M with the full $215M plan</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Additional growth</a:t>
                      </a:r>
                    </a:p>
                  </a:txBody>
                  <a:tcPr>
                    <a:solidFill>
                      <a:srgbClr val="101626"/>
                    </a:solidFill>
                  </a:tcPr>
                </a:tc>
                <a:tc>
                  <a:txBody>
                    <a:bodyPr/>
                    <a:lstStyle/>
                    <a:p>
                      <a:r>
                        <a:rPr sz="1100">
                          <a:solidFill>
                            <a:srgbClr val="FFFFFF"/>
                          </a:solidFill>
                          <a:latin typeface="Calibri"/>
                        </a:rPr>
                        <a:t>Commercializing products &amp; services from M&amp;A, JVs and teaming/licensing</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AFTER THE SERIES A (FULL $215M PLAN, 36 MONTHS):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$95M acquisitions / mergers / JVs</a:t>
            </a:r>
          </a:p>
          <a:p>
            <a:pPr algn="l">
              <a:spcBef>
                <a:spcPts val="0"/>
              </a:spcBef>
              <a:spcAft>
                <a:spcPts val="300"/>
              </a:spcAft>
            </a:pPr>
            <a:r>
              <a:rPr lang="en-US" sz="1200" b="0" dirty="0">
                <a:solidFill>
                  <a:srgbClr val="CCCCCC"/>
                </a:solidFill>
              </a:rPr>
              <a:t>•  $65M partner-site robots · $20M building</a:t>
            </a:r>
          </a:p>
          <a:p>
            <a:pPr algn="l">
              <a:spcBef>
                <a:spcPts val="0"/>
              </a:spcBef>
              <a:spcAft>
                <a:spcPts val="300"/>
              </a:spcAft>
            </a:pPr>
            <a:r>
              <a:rPr lang="en-US" sz="1200" b="0" dirty="0">
                <a:solidFill>
                  <a:srgbClr val="CCCCCC"/>
                </a:solidFill>
              </a:rPr>
              <a:t>•  Funded through the public-markets path — not this round</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Historical and 2026 YTD (Jan–Sep) figures per QuickBooks (accrual, unaudited); EBITDA = operating income + net interest; 2026 depreciation is booked at year-end, so YTD net income is before depreciation (EBITDA is unaffected). Projections: management-prepared financial model v12 (rev. 10/17/26), conservative Cash Flow case. FY2025: the filed Form 1120 shows net income $187,861 vs. $190,855 in QuickBooks (revenue agrees); the CFO is reconciling the difference. Figures are management-prepared and unaudited; audited statements will be prepared in connection with the listing process. Cap table as of February 20, 2026 (date of last update).</a:t>
            </a:r>
          </a:p>
          <a:p>
            <a:pPr algn="l">
              <a:spcBef>
                <a:spcPts val="0"/>
              </a:spcBef>
              <a:spcAft>
                <a:spcPts val="0"/>
              </a:spcAft>
            </a:pPr>
            <a:r>
              <a:rPr sz="1000" b="0" i="1">
                <a:solidFill>
                  <a:srgbClr val="999999"/>
                </a:solidFill>
                <a:latin typeface="Calibri"/>
              </a:rPr>
              <a:t>Exos Aerospace Systems &amp; Technologies, Inc. | Greenville, TX | October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4E1208-CA5A-4667-8C4D-84041752A3EA}">
  <ds:schemaRefs>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purl.org/dc/dcmitype/"/>
    <ds:schemaRef ds:uri="917a3f04-5547-4e83-a675-a0677bb25779"/>
    <ds:schemaRef ds:uri="http://purl.org/dc/elements/1.1/"/>
    <ds:schemaRef ds:uri="http://schemas.microsoft.com/office/infopath/2007/PartnerControls"/>
    <ds:schemaRef ds:uri="e1558a10-1879-455f-b4fa-cfdedf85505e"/>
    <ds:schemaRef ds:uri="http://purl.org/dc/terms/"/>
  </ds:schemaRefs>
</ds:datastoreItem>
</file>

<file path=customXml/itemProps3.xml><?xml version="1.0" encoding="utf-8"?>
<ds:datastoreItem xmlns:ds="http://schemas.openxmlformats.org/officeDocument/2006/customXml" ds:itemID="{40B2AEEC-7AED-4D24-8C5B-8FFFCA181F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93</TotalTime>
  <Words>3751</Words>
  <Application>Microsoft Office PowerPoint</Application>
  <PresentationFormat>Widescreen</PresentationFormat>
  <Paragraphs>488</Paragraphs>
  <Slides>23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POLICY TAILWIND — THE 'GOLDEN AGE OF SPACE TRANSPORTATION'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Quinn</dc:creator>
  <cp:keywords/>
  <dc:description>generated using python-pptx</dc:description>
  <cp:lastModifiedBy>John Quinn (Admin)</cp:lastModifiedBy>
  <cp:revision>5</cp:revision>
  <dcterms:created xsi:type="dcterms:W3CDTF">2013-01-27T09:14:16Z</dcterms:created>
  <dcterms:modified xsi:type="dcterms:W3CDTF">2026-10-17T02:49:45Z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