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7" r:id="rId5"/>
    <p:sldId id="25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7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C85A65-8EA1-F1CD-9B2D-3D6A56E6C0DA}" v="1" dt="2026-03-30T13:13:26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58" d="100"/>
          <a:sy n="58" d="100"/>
        </p:scale>
        <p:origin x="36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B3547-91C0-4D86-AF83-E1ADA783ED0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8FE94F-EE27-4895-9442-2CC0A855C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28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8FE94F-EE27-4895-9442-2CC0A855C5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599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750D2-F5EA-06A4-D1EF-C183872E4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7A5E9-D37D-0529-ADC4-6C4051DC5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751DA-9C55-9E92-4E87-AA6803FC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A5F07-1F8B-31E0-AC8E-BE4D633AD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CB897-F53F-D51C-D73C-5D58D8A1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95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7711F-C26C-5283-2BFF-A88EFD3A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2929D-DD70-246C-7102-E6839E5D1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5236F-CCBF-8F2A-C56E-07FB6577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74B98-5E92-BC79-1394-19E9F748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6A756-81B0-4EF7-1BD8-38771FD1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11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A6AB-5ECE-F0F7-54C6-C493B205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4C7C1-FCD9-8FC3-DE81-9811CE1F6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4D7DD-0543-867E-3B49-7F1717EA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B9FB-F2AF-8F1E-03B8-30959F1D3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BDB55-CEDA-7439-B908-9F45A206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2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80E9-37AA-97FC-D00C-C689290A2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4EBFE-3294-7F9D-E229-9BB498B62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6ABF8-723B-9CF9-883C-0BBBA148A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FACB7-CAB3-15F0-F714-9B5882089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6C5F6-397B-C33F-A742-9C027410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8DBAC-72E3-9BC9-E6DB-DFF22DC0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9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634F-D543-118D-1F50-36D95BCE6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44C92-5F5D-D9CA-E4CA-3D504186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4FCDC-E784-4FB8-99E6-C0ECCEFB1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C88E24-278E-6269-89B9-22E476B5F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29E1C-3CD7-41BF-1CE8-76EB32066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A38450-D3C9-CFFA-79D8-2A6B2E455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812FC1-1FA7-2627-BC00-16677B824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0079B-C2A8-393E-0172-F01DA5DE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71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7C4-CD7C-67CD-8A21-62711CB25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4C2A7A-F691-50D5-764F-20FDECFD8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79271-A0F9-BD1E-C691-FE16A3C45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ED518-E0D5-54B7-6B50-62C203643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16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59B96-94DD-6480-D87E-EC375FE6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5B7ED-EB90-B636-1794-F51C72AF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3B8DB-4034-B728-8072-50E7DF04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0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2854-0151-C5CA-C9F5-45E191923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ED783-F13C-B320-D39C-7A3DE05C8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670A3-D2F0-290D-64A1-6AEB11908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C255A-4AF9-F9FE-BF24-AADB0A47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841AB-0377-7196-91BE-056AF692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2A705-5116-5295-82CA-E801C173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7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7FBE7-FA45-34C8-3DB6-FB544183F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277C8-7652-F7F7-F506-9DFEBD7B3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BA26C-155D-0FED-DA27-554193DDD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0A2E0-1E6D-A0C3-06F9-74DC0FD1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3D6F4-12DB-ED5C-1D2A-E48CA15C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78FC0-CA06-2736-B2E4-DFB94511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0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D5266-6DDF-C955-12E8-AAF54D80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6D7FE-F452-45EA-309E-6861CDDA2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1105C-8EFC-84F7-642B-7B5DCCC1D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B6E79-B260-88FF-98F0-40B36EEF2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54AF6-E05B-6C85-EE49-0C0CFA9C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90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74403F-B43A-0001-EA31-5CC6654F2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0BDB6-4289-45B4-9AE5-B276526F3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24C3A-2B75-22BD-6ECE-25CAB3FEB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D7868-7A79-3B2A-7B35-12D0B5F9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9767D-83A9-F652-C8F5-71107FFD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7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98C7ED-9595-8E1D-6565-9A7F9889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53F58-E9E3-1386-3EA2-942AF4119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4348D-0B4E-CD91-1BB4-0CEC6E9C2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7F5D2-7BC6-3082-28F9-3AEB53131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38C57-7B0A-5E48-816B-3B9687BD2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8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jp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3F2CF78-C2BE-4238-096E-E8B14C60C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07B6E57-A594-3D23-EC37-E2C7139AF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560" y="0"/>
            <a:ext cx="6624440" cy="343417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2EC1F0B-4FC6-20D8-0C01-8CEF36884072}"/>
              </a:ext>
            </a:extLst>
          </p:cNvPr>
          <p:cNvSpPr txBox="1"/>
          <p:nvPr/>
        </p:nvSpPr>
        <p:spPr>
          <a:xfrm>
            <a:off x="1070876" y="3705014"/>
            <a:ext cx="99019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INNOVATIVE SPACE CARRIER - EXOS </a:t>
            </a:r>
          </a:p>
          <a:p>
            <a:pPr algn="ctr"/>
            <a:r>
              <a:rPr lang="en-US" sz="4800" dirty="0"/>
              <a:t>ASCA ETV</a:t>
            </a:r>
          </a:p>
          <a:p>
            <a:pPr algn="ctr"/>
            <a:r>
              <a:rPr lang="en-US" sz="4800" dirty="0"/>
              <a:t>EXPERIMENTAL TRAINING VEHICLE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499241-F5BD-C816-97EF-7868E8640757}"/>
              </a:ext>
            </a:extLst>
          </p:cNvPr>
          <p:cNvSpPr txBox="1"/>
          <p:nvPr/>
        </p:nvSpPr>
        <p:spPr>
          <a:xfrm>
            <a:off x="9685064" y="6245014"/>
            <a:ext cx="2357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MARCH,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9E7FCC-43DD-400C-2EEA-278E3AF3C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5632950" cy="3429000"/>
          </a:xfrm>
          <a:prstGeom prst="rect">
            <a:avLst/>
          </a:prstGeom>
        </p:spPr>
      </p:pic>
      <p:pic>
        <p:nvPicPr>
          <p:cNvPr id="27" name="Picture 26" descr="exos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1568" y="45720"/>
            <a:ext cx="109728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657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DCA013-1AED-B95F-E95F-900777F9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62" y="866441"/>
            <a:ext cx="6017649" cy="37982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8A39B9-1066-873F-A2E9-BED1C7312241}"/>
              </a:ext>
            </a:extLst>
          </p:cNvPr>
          <p:cNvSpPr txBox="1"/>
          <p:nvPr/>
        </p:nvSpPr>
        <p:spPr>
          <a:xfrm>
            <a:off x="2180492" y="118673"/>
            <a:ext cx="2616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ASCA 1.0</a:t>
            </a:r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D4483E-A7AB-7929-CBA5-ACA2AE667356}"/>
              </a:ext>
            </a:extLst>
          </p:cNvPr>
          <p:cNvSpPr txBox="1"/>
          <p:nvPr/>
        </p:nvSpPr>
        <p:spPr>
          <a:xfrm>
            <a:off x="6497611" y="314178"/>
            <a:ext cx="544117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Flight altitude: 0.1 km (328ft)</a:t>
            </a:r>
            <a:br>
              <a:rPr lang="en-US" sz="2400" dirty="0"/>
            </a:br>
            <a:r>
              <a:rPr lang="en-US" sz="2400" dirty="0"/>
              <a:t>・Purpose: Demonstration of vertical takeoff and landing</a:t>
            </a:r>
            <a:br>
              <a:rPr lang="en-US" sz="2400" dirty="0"/>
            </a:br>
            <a:r>
              <a:rPr lang="en-US" sz="2400" dirty="0"/>
              <a:t>・Features:</a:t>
            </a:r>
            <a:br>
              <a:rPr lang="en-US" sz="2400" dirty="0"/>
            </a:br>
            <a:r>
              <a:rPr lang="en-US" sz="2400" dirty="0"/>
              <a:t>     - Hadley engines (2?)</a:t>
            </a:r>
            <a:br>
              <a:rPr lang="en-US" sz="2400" dirty="0"/>
            </a:br>
            <a:r>
              <a:rPr lang="en-US" sz="2400" dirty="0"/>
              <a:t>     -  ~40% of the airframe mass </a:t>
            </a:r>
          </a:p>
          <a:p>
            <a:r>
              <a:rPr lang="en-US" sz="2400" dirty="0"/>
              <a:t>         3D-printed</a:t>
            </a:r>
            <a:br>
              <a:rPr lang="en-US" sz="2400" dirty="0"/>
            </a:br>
            <a:r>
              <a:rPr lang="en-US" sz="2400" dirty="0"/>
              <a:t>     -  Adoption of Model Predictive  </a:t>
            </a:r>
          </a:p>
          <a:p>
            <a:r>
              <a:rPr lang="en-US" sz="2400" dirty="0"/>
              <a:t>         Control</a:t>
            </a:r>
            <a:r>
              <a:rPr lang="en-US" sz="2800" dirty="0"/>
              <a:t> (MPC) for powered</a:t>
            </a:r>
          </a:p>
          <a:p>
            <a:r>
              <a:rPr lang="en-US" sz="2800" dirty="0"/>
              <a:t>        landing</a:t>
            </a:r>
            <a:br>
              <a:rPr lang="en-US" dirty="0"/>
            </a:br>
            <a:r>
              <a:rPr lang="en-US" dirty="0"/>
              <a:t>      - </a:t>
            </a:r>
            <a:r>
              <a:rPr lang="en-US" sz="2400" dirty="0"/>
              <a:t>Autonomous flight safety measures</a:t>
            </a:r>
          </a:p>
          <a:p>
            <a:r>
              <a:rPr lang="en-US" sz="2400" dirty="0"/>
              <a:t>    - Spaceport America (NM, USA)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0617D7-43C4-0FD5-221D-29C88FD6ABD5}"/>
              </a:ext>
            </a:extLst>
          </p:cNvPr>
          <p:cNvSpPr txBox="1"/>
          <p:nvPr/>
        </p:nvSpPr>
        <p:spPr>
          <a:xfrm>
            <a:off x="158788" y="4961604"/>
            <a:ext cx="118269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ASCA ETV (Experimental Training Vehicle) Goals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Multiple VTVL missions to demonstrate reusability and repeatability.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Performance evaluation for subsystems and components.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Replacing various components to evaluate</a:t>
            </a:r>
          </a:p>
        </p:txBody>
      </p:sp>
      <p:pic>
        <p:nvPicPr>
          <p:cNvPr id="19" name="Picture 18" descr="exo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1568" y="594360"/>
            <a:ext cx="109728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47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EE4B-280C-C226-AEC7-952609F5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1D5645-7358-5D1B-B7B9-32C8E36720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6A643A-D2BB-2F56-EA92-BF9D5E9FD6CE}"/>
              </a:ext>
            </a:extLst>
          </p:cNvPr>
          <p:cNvSpPr txBox="1"/>
          <p:nvPr/>
        </p:nvSpPr>
        <p:spPr>
          <a:xfrm>
            <a:off x="133236" y="3698763"/>
            <a:ext cx="1192552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Designed, fabricated and test flown by today’s EXOS team, then Armadillo Aerospace in 2010 (old construction technology)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From concept to successful flight test at our Caddo Mills test center in four months.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 LOX/Ethanol propulsion and stowable/deployable landing legs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This video shows a “boosted hop”, engine always on, to </a:t>
            </a:r>
            <a:r>
              <a:rPr lang="en-US" sz="2800" b="1" dirty="0"/>
              <a:t>1,200m </a:t>
            </a:r>
            <a:r>
              <a:rPr lang="en-US" sz="2800" dirty="0"/>
              <a:t>with a precision landing dead center of the launch pad.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CE3D6-5E3E-4E1B-77C6-7785626E38DE}"/>
              </a:ext>
            </a:extLst>
          </p:cNvPr>
          <p:cNvSpPr txBox="1"/>
          <p:nvPr/>
        </p:nvSpPr>
        <p:spPr>
          <a:xfrm>
            <a:off x="3387567" y="3263266"/>
            <a:ext cx="5416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/>
              <a:t>SuperMOD</a:t>
            </a:r>
            <a:r>
              <a:rPr lang="en-US" sz="3600" b="1" dirty="0"/>
              <a:t> VTVL </a:t>
            </a:r>
          </a:p>
        </p:txBody>
      </p:sp>
      <p:pic>
        <p:nvPicPr>
          <p:cNvPr id="19" name="Picture 18" descr="exo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1568" y="45720"/>
            <a:ext cx="109728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8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9DFCE-E698-8CB3-128C-31E9A8B5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BD209-4AFF-9B44-5486-5D825F999F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AAC654-23AA-1CB6-7F0C-61BD98908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97" y="171742"/>
            <a:ext cx="4014343" cy="5856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4DC964-0622-88A1-8F06-8CA36FCD5591}"/>
              </a:ext>
            </a:extLst>
          </p:cNvPr>
          <p:cNvSpPr txBox="1"/>
          <p:nvPr/>
        </p:nvSpPr>
        <p:spPr>
          <a:xfrm>
            <a:off x="4522721" y="171742"/>
            <a:ext cx="758393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Designed for USAF/AFRL to test new Rotating Detonation  Propulsion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Currently under construction with test flights scheduled in 2026Q3.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USAF/AFRL opted initially for hover testing only not VTVL boosted hops.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Currently reviewing an extension program to take the HVRR RDRE to free flights.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/>
              <a:t>This vehicle is capable of VTVL boosted hops with precision landing to  ~20km+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High altitude hops can be undertaken under FAA AST regulations, 14CFR §437 “Experimental Rocket Testing” or §101 waiver.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/>
              <a:t>No 14CFR §450 Launch License required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13ACDE-7B36-1D1B-1D69-FD3B780F7636}"/>
              </a:ext>
            </a:extLst>
          </p:cNvPr>
          <p:cNvSpPr txBox="1"/>
          <p:nvPr/>
        </p:nvSpPr>
        <p:spPr>
          <a:xfrm>
            <a:off x="208067" y="6028470"/>
            <a:ext cx="3871143" cy="525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EXOS HVRR RDRE</a:t>
            </a:r>
          </a:p>
        </p:txBody>
      </p:sp>
      <p:pic>
        <p:nvPicPr>
          <p:cNvPr id="27" name="Picture 26" descr="exo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1568" y="594360"/>
            <a:ext cx="109728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43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2F0BE-2B1D-EC80-6282-C5D3A9DEB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D828B7-17BA-6C6C-D1CF-402DEF5C56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82678B-4EFF-F692-570A-E11CD4855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889" y="149003"/>
            <a:ext cx="6766222" cy="30264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176AAB-9488-BC9B-B7B5-BEB21E199071}"/>
              </a:ext>
            </a:extLst>
          </p:cNvPr>
          <p:cNvSpPr txBox="1"/>
          <p:nvPr/>
        </p:nvSpPr>
        <p:spPr>
          <a:xfrm>
            <a:off x="4528555" y="3175445"/>
            <a:ext cx="313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BLK3 PRSLV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C8144-156E-D000-A20C-88A36620AED1}"/>
              </a:ext>
            </a:extLst>
          </p:cNvPr>
          <p:cNvSpPr txBox="1"/>
          <p:nvPr/>
        </p:nvSpPr>
        <p:spPr>
          <a:xfrm>
            <a:off x="54754" y="3682555"/>
            <a:ext cx="121372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800" b="1" dirty="0"/>
              <a:t>Precision Reusable Suborbital Launch Vehicle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Designed, built &amp; successfully static / hover tested for USAF in 9-months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Constructed using EXOS-SSLC all Carbon Fiber Composite [CFC]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Type V cryogenic (LOX) compatible, TRL9 space-rated, propellant tanks with integral structure (the tanks are part of the airframe.)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Two-stage recovery, with supersonic decelerator ballute and GPS guided Joint Precision Air Drop System [JPADS] main chute.</a:t>
            </a:r>
          </a:p>
        </p:txBody>
      </p:sp>
      <p:pic>
        <p:nvPicPr>
          <p:cNvPr id="19" name="Picture 18" descr="exo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1568" y="45720"/>
            <a:ext cx="109728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9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DB9B-5EAC-38C4-DFB0-139F61223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5C5075-0528-08B8-4CC0-C42E2276ED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B9C1CB-903C-A0FD-B60F-94B81A92F2D6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A2389-E1D9-ACE7-4D30-1A6C0375A609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 err="1">
                <a:solidFill>
                  <a:srgbClr val="000000"/>
                </a:solidFill>
                <a:latin typeface="Aptos" panose="020B0004020202020204" pitchFamily="34" charset="0"/>
              </a:rPr>
              <a:t>Hosokuni</a:t>
            </a:r>
            <a:r>
              <a:rPr lang="en-US" altLang="en-US" sz="2800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00"/>
                </a:solidFill>
                <a:latin typeface="Aptos" panose="020B0004020202020204" pitchFamily="34" charset="0"/>
              </a:rPr>
              <a:t>san</a:t>
            </a:r>
            <a:r>
              <a:rPr lang="en-US" altLang="en-US" sz="2800" dirty="0">
                <a:solidFill>
                  <a:srgbClr val="000000"/>
                </a:solidFill>
                <a:latin typeface="Aptos" panose="020B0004020202020204" pitchFamily="34" charset="0"/>
              </a:rPr>
              <a:t> [ISC] would like to hear about what kinds of systems &amp; technologies your company (EXOS) has available.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Propulsion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ptos" panose="020B0004020202020204" pitchFamily="34" charset="0"/>
              </a:rPr>
              <a:t>LOX/Ethanol engines (6kN/1,350lbf – 25kN/5,700lbf MSL)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Simple, robust, pressure-fed (no turbopump!) &amp; film-cooled chambe</a:t>
            </a:r>
            <a:r>
              <a:rPr lang="en-US" altLang="en-US" sz="2800" dirty="0">
                <a:latin typeface="Aptos" panose="020B0004020202020204" pitchFamily="34" charset="0"/>
              </a:rPr>
              <a:t>rs.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Designed for reusability (clean running) &amp; multiple restarts in flight.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ptos" panose="020B0004020202020204" pitchFamily="34" charset="0"/>
              </a:rPr>
              <a:t>One man-rated flight engine demonstrated 1,000 successive relights.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ptos" panose="020B0004020202020204" pitchFamily="34" charset="0"/>
              </a:rPr>
              <a:t>Throttleable down to 30% thrust &amp; stable combustion.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 design drastically reduces part count compared to other engines in th</a:t>
            </a:r>
            <a:r>
              <a:rPr lang="en-US" altLang="en-US" sz="2800" dirty="0">
                <a:latin typeface="Aptos" panose="020B0004020202020204" pitchFamily="34" charset="0"/>
              </a:rPr>
              <a:t>e same thrust class.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Engine is gimbaled using gear driven actuators for precise GNC.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ptos" panose="020B0004020202020204" pitchFamily="34" charset="0"/>
              </a:rPr>
              <a:t>Dual, linked propellant valves with Main Propellant Feed [MPF] and inline Master Cut-Off [MCO] valves as part of the Flight Safety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Thrust Termination System [TTS] back up to Main Flight Computer</a:t>
            </a:r>
          </a:p>
        </p:txBody>
      </p:sp>
      <p:pic>
        <p:nvPicPr>
          <p:cNvPr id="43" name="Picture 42" descr="exo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1568" y="45720"/>
            <a:ext cx="109728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17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8E31E-7800-792F-1F41-2B1DC8853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636FD8-07D7-69D1-BBD5-851C6BFEB5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752DB2-CAAB-6F2C-0C03-D744E4769CF0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78718-C6E3-B581-F756-FA4B45C43D34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Propellant Tanks (LOX &amp; Ethanol or RP)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All EXOS-SSLC Carbon Fiber Composite [CFC] technology.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</a:t>
            </a:r>
            <a:r>
              <a:rPr lang="en-US" altLang="en-US" sz="2800" dirty="0">
                <a:latin typeface="Arial" panose="020B0604020202020204" pitchFamily="34" charset="0"/>
              </a:rPr>
              <a:t>erless, out of autoclave cured construction. NOT 3D printed!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US company (Relativity Space) abandoned 3D after launch failures.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V</a:t>
            </a:r>
            <a:r>
              <a:rPr lang="en-US" altLang="en-US" sz="2800" dirty="0">
                <a:latin typeface="Arial" panose="020B0604020202020204" pitchFamily="34" charset="0"/>
              </a:rPr>
              <a:t>, LOX compatible construction, particle and NVR cleaned to NASA specifications.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TRL9 space-rated by NASA &amp; SpaceX (tanks now on lunar surface)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Tanks are part of the airframe; NOT tank within an airframe.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 and aft “skirts” allow nesting of m</a:t>
            </a:r>
            <a:r>
              <a:rPr lang="en-US" altLang="en-US" sz="2800" dirty="0">
                <a:latin typeface="Arial" panose="020B0604020202020204" pitchFamily="34" charset="0"/>
              </a:rPr>
              <a:t>odules which increases structural strength &amp; resistance to bending loads (Q-Alpha)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Integral, CFC flanged connections.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EXOS-SSLC CFC technology </a:t>
            </a:r>
            <a:r>
              <a:rPr lang="en-US" altLang="en-US" sz="2800" dirty="0">
                <a:latin typeface="Arial" panose="020B0604020202020204" pitchFamily="34" charset="0"/>
              </a:rPr>
              <a:t>reduces parts count and dry mass.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Changing from aluminum construction to CFC increased propellant capacity of the BLK3 by 50% and still reduced dry mass by ~30%</a:t>
            </a:r>
          </a:p>
        </p:txBody>
      </p:sp>
      <p:pic>
        <p:nvPicPr>
          <p:cNvPr id="43" name="Picture 42" descr="exo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1568" y="45720"/>
            <a:ext cx="109728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87F1-1235-EBB5-3E5E-DACB14A44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140688-79CA-FF67-1BE6-5D0F5AF737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FAE303-27EB-2C75-457A-5388B5539018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AECBD-2757-5DD4-13BF-4F824E74C17C}"/>
              </a:ext>
            </a:extLst>
          </p:cNvPr>
          <p:cNvSpPr txBox="1"/>
          <p:nvPr/>
        </p:nvSpPr>
        <p:spPr>
          <a:xfrm>
            <a:off x="98558" y="739186"/>
            <a:ext cx="1199488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Pressurant Module (Helium)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All Carbon Fiber Composite CFC construction helium tank.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Two designs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Tank within an airframe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Tank with integral structure (best for smaller launch vehicles)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High pressure helium, 35MPa/5,000psig with 2.0 Safety Factor.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Pressure regulation system with independent feeds to fuel and LOX tanks.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Reduces bulk helium pressure to 2.75MPa/400psig.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Pressurant module airframe (or tank) equipped with nesting skirts to slide inside other modules.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Picture 30" descr="exo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1568" y="45720"/>
            <a:ext cx="109728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11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E1C8D-FBF2-6556-886F-3D30267D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50F4B4-1DAB-735E-1EEA-837E883BBE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97BAD5-41CF-791B-B5DC-07EEACAFD15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9D693A-F77F-3178-884D-703971AD4E97}"/>
              </a:ext>
            </a:extLst>
          </p:cNvPr>
          <p:cNvSpPr txBox="1"/>
          <p:nvPr/>
        </p:nvSpPr>
        <p:spPr>
          <a:xfrm>
            <a:off x="98558" y="739186"/>
            <a:ext cx="1199488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Carbon Fiber Composite [CFC] airframe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Computer stack with Main Flight Computer [MFC] that provides autonomous, Guidance, Navigation &amp; Control.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JAVAD GNSS unrestricted GPS, multiple satellite system tracker for increased accuracy.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 err="1">
                <a:latin typeface="Arial" panose="020B0604020202020204" pitchFamily="34" charset="0"/>
              </a:rPr>
              <a:t>Systron</a:t>
            </a:r>
            <a:r>
              <a:rPr lang="en-US" altLang="en-US" sz="2800" dirty="0">
                <a:latin typeface="Arial" panose="020B0604020202020204" pitchFamily="34" charset="0"/>
              </a:rPr>
              <a:t> Donner IMU with Fiber Optic Gyros, Tactical Grade Inertial Navigation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 signal to independent Watchdog Computer [WDC] so in event of </a:t>
            </a:r>
            <a:r>
              <a:rPr lang="en-US" altLang="en-US" sz="2800" dirty="0">
                <a:latin typeface="Arial" panose="020B0604020202020204" pitchFamily="34" charset="0"/>
              </a:rPr>
              <a:t>MFC failure, WDC can terminate thrust.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FAA AST 14CFR §437 launch license safety system compliant.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Flight software is EXOS proprietary based on NASA Project Morpheus (lunar lander) software. (EXOS team built Morpheus)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Picture 30" descr="exo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1568" y="45720"/>
            <a:ext cx="109728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95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E9ED-048A-EE81-E7FC-C1BE12DB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3DA422-F37F-7808-D436-8DEAA943CA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17218B-1551-0291-A10D-FECCE673F669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95488-839C-9A55-EF1E-6939FF72D6A8}"/>
              </a:ext>
            </a:extLst>
          </p:cNvPr>
          <p:cNvSpPr txBox="1"/>
          <p:nvPr/>
        </p:nvSpPr>
        <p:spPr>
          <a:xfrm>
            <a:off x="98558" y="739186"/>
            <a:ext cx="1199488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Recovery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Although intended recovery is by powered landing, would recommend EXOS recovery system as back-up.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</a:t>
            </a:r>
            <a:r>
              <a:rPr lang="en-US" altLang="en-US" sz="2800" dirty="0">
                <a:latin typeface="Arial" panose="020B0604020202020204" pitchFamily="34" charset="0"/>
              </a:rPr>
              <a:t>stage recovery system, 100km altitude capable.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Supersonic Ballute decelerator, deployed at 30km+AGL &amp; Mach 4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Joint Precision Air Drop System [JPADS] GPS guided and steerable chute to land back at launch site., deployed at 3km AGL &amp; 70m/s.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DED05A-4E3A-49F4-3DA3-56DFDB175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34" y="3926809"/>
            <a:ext cx="4538985" cy="28221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17CE86-7FAA-D91A-8495-E3F46C868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227" y="3901936"/>
            <a:ext cx="4041013" cy="2868018"/>
          </a:xfrm>
          <a:prstGeom prst="rect">
            <a:avLst/>
          </a:prstGeom>
        </p:spPr>
      </p:pic>
      <p:pic>
        <p:nvPicPr>
          <p:cNvPr id="23" name="Picture 22" descr="exos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1568" y="45720"/>
            <a:ext cx="109728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30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71DF3-887F-9EC5-01A8-25D350BB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09D88C-FA24-6079-3291-83C3485668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7CC2DB-1BE3-F9CB-9F26-7C5767A2DB87}"/>
              </a:ext>
            </a:extLst>
          </p:cNvPr>
          <p:cNvSpPr txBox="1"/>
          <p:nvPr/>
        </p:nvSpPr>
        <p:spPr>
          <a:xfrm>
            <a:off x="3955099" y="136886"/>
            <a:ext cx="4281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3C1E6-A275-75F4-827D-1C66C319EA1E}"/>
              </a:ext>
            </a:extLst>
          </p:cNvPr>
          <p:cNvSpPr txBox="1"/>
          <p:nvPr/>
        </p:nvSpPr>
        <p:spPr>
          <a:xfrm>
            <a:off x="98558" y="739186"/>
            <a:ext cx="1199488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Flight Testing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EXOS can provide all ground launch control equipment and personnel to conduct missions and train ISC.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Low altitude missions to ~1,200m can be undertaken at EXOS’ Caddo Mills Test Facility.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Higher altitude flights to 20km – 100km to be undertaken at Spaceport America and/or other emerging test sites.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EXOS can obtain </a:t>
            </a:r>
            <a:r>
              <a:rPr lang="en-US" sz="2800" dirty="0"/>
              <a:t>14CFR §437  Experimental Permit or §101 waivers as necessary for all the above missions.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training missions in the USA, EXOS can apply for 12CFR </a:t>
            </a:r>
            <a:r>
              <a:rPr lang="en-US" sz="2800" dirty="0"/>
              <a:t>§123 “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License for the Export and Temporary Import of Defense Articles.” to enable ISC to test in Japan.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 can assist ISC with license to conduct test missions in Japan (Hokkaido Spaceport?)</a:t>
            </a:r>
          </a:p>
        </p:txBody>
      </p:sp>
      <p:pic>
        <p:nvPicPr>
          <p:cNvPr id="27" name="Picture 26" descr="exo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1568" y="45720"/>
            <a:ext cx="109728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5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D36C-14E1-0223-5447-D6CBF5B0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45398F-A6BD-CE2F-1AD1-8C76D65CC9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A93AB9-9434-A11B-A235-1D1E200247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F46038-41F2-2B02-E51F-DB1C1CE9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3" y="1095089"/>
            <a:ext cx="3619740" cy="51416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4DB861-7046-EE4B-BB49-D143D67B1AF8}"/>
              </a:ext>
            </a:extLst>
          </p:cNvPr>
          <p:cNvSpPr txBox="1"/>
          <p:nvPr/>
        </p:nvSpPr>
        <p:spPr>
          <a:xfrm>
            <a:off x="619978" y="6110144"/>
            <a:ext cx="2751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HVRR VARIANT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CD297-DF90-7F40-3219-F9F320BA1975}"/>
              </a:ext>
            </a:extLst>
          </p:cNvPr>
          <p:cNvSpPr txBox="1"/>
          <p:nvPr/>
        </p:nvSpPr>
        <p:spPr>
          <a:xfrm>
            <a:off x="3991602" y="1040335"/>
            <a:ext cx="797773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Most similar to original ASCA 1.0 but significantly better performance.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Use proven EXOS LOX-Ethanol propulsion instead of experimental RDRE.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stowable / deployable landing legs for precision powered landings.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deployable CG shift module to allow freefall descent before engine relight.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EXOS two-stage recovery system for emergency recovery in event of system failure.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Multiple mission campaigns up to 20km at Spaceport America &amp; in Japan.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~$3.0M and 12-months to free flights</a:t>
            </a:r>
          </a:p>
        </p:txBody>
      </p:sp>
      <p:pic>
        <p:nvPicPr>
          <p:cNvPr id="31" name="Picture 30" descr="exo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1568" y="45720"/>
            <a:ext cx="109728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5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E3032-9569-2A77-F473-1A00AA9E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522C16-E7E8-8025-BF6B-9F054AD5CE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41D042-D225-9B34-2993-64FD5C917C0A}"/>
              </a:ext>
            </a:extLst>
          </p:cNvPr>
          <p:cNvSpPr txBox="1"/>
          <p:nvPr/>
        </p:nvSpPr>
        <p:spPr>
          <a:xfrm>
            <a:off x="1398065" y="175215"/>
            <a:ext cx="939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7881A2-CD2B-2A36-0F50-BC0B5F034478}"/>
              </a:ext>
            </a:extLst>
          </p:cNvPr>
          <p:cNvSpPr txBox="1"/>
          <p:nvPr/>
        </p:nvSpPr>
        <p:spPr>
          <a:xfrm>
            <a:off x="1844315" y="3631865"/>
            <a:ext cx="2516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BLK3 VARIANT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1B6E1-2BFB-5993-4E78-6955A74C4D86}"/>
              </a:ext>
            </a:extLst>
          </p:cNvPr>
          <p:cNvSpPr txBox="1"/>
          <p:nvPr/>
        </p:nvSpPr>
        <p:spPr>
          <a:xfrm>
            <a:off x="6433653" y="672422"/>
            <a:ext cx="575834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More representative missions for booster recovery of orbital rocket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stowable/deployable legs for precision powered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CG shift module for freefall guidance (grid fins?)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2C3CE9-1519-4F5A-B122-B5046E4B1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16" y="742201"/>
            <a:ext cx="6236537" cy="28458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C5AE16-BBD7-6E17-5EE5-A2D217C66456}"/>
              </a:ext>
            </a:extLst>
          </p:cNvPr>
          <p:cNvSpPr txBox="1"/>
          <p:nvPr/>
        </p:nvSpPr>
        <p:spPr>
          <a:xfrm>
            <a:off x="241403" y="4155085"/>
            <a:ext cx="60284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BLK3 already has EXOS two-stage emergency recovery system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Also has upper and lower cold gas Attitude Control System [ACS]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Multiple mission campaigns at Spaceport America &amp; in Japan.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96A92A-D307-FDD1-02B6-33F15601464D}"/>
              </a:ext>
            </a:extLst>
          </p:cNvPr>
          <p:cNvSpPr txBox="1"/>
          <p:nvPr/>
        </p:nvSpPr>
        <p:spPr>
          <a:xfrm>
            <a:off x="6269873" y="4111319"/>
            <a:ext cx="58089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Following test campaign, BLK3 can be repurposed as Japanese Suborbital Zero-G launch vehicle; ~$1.0M per full manifest.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~$4.5M and 18.months to free flights. </a:t>
            </a:r>
          </a:p>
        </p:txBody>
      </p:sp>
      <p:pic>
        <p:nvPicPr>
          <p:cNvPr id="35" name="Picture 34" descr="exo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1568" y="45720"/>
            <a:ext cx="109728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90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21191-5006-9A36-AB2F-D12A3CAF4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D3C756-0E10-84F8-1CF8-DBDD210376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3410EB-E894-EC0B-3E64-B948C0749E6A}"/>
              </a:ext>
            </a:extLst>
          </p:cNvPr>
          <p:cNvSpPr txBox="1"/>
          <p:nvPr/>
        </p:nvSpPr>
        <p:spPr>
          <a:xfrm>
            <a:off x="1051287" y="0"/>
            <a:ext cx="10113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ISC FUTURE VISION – SSTO PASSENGER TRANSPORT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AAF8A1-8E51-E176-45F2-16024470F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47" y="689704"/>
            <a:ext cx="4758165" cy="27878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82DF1B-3C62-4492-C409-0A8F02A6FD0B}"/>
              </a:ext>
            </a:extLst>
          </p:cNvPr>
          <p:cNvSpPr txBox="1"/>
          <p:nvPr/>
        </p:nvSpPr>
        <p:spPr>
          <a:xfrm>
            <a:off x="5376891" y="744813"/>
            <a:ext cx="63405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SSTO Passenger &amp; cargo to LEO.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Glide body horizontal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Point to Point [</a:t>
            </a:r>
            <a:r>
              <a:rPr lang="en-US" sz="2800" dirty="0" err="1"/>
              <a:t>PtP</a:t>
            </a:r>
            <a:r>
              <a:rPr lang="en-US" sz="2800" dirty="0"/>
              <a:t>] transportation globally in hours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Reusable aircraft like flight cadence &amp; flight safety.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8829B-29AD-BF78-FA25-8F113CD26FE4}"/>
              </a:ext>
            </a:extLst>
          </p:cNvPr>
          <p:cNvSpPr txBox="1"/>
          <p:nvPr/>
        </p:nvSpPr>
        <p:spPr>
          <a:xfrm>
            <a:off x="271947" y="3641174"/>
            <a:ext cx="966051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SSTO VERY difficult even with advanced propulsion &amp; modern CFC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Glide body recovery with delta wing &amp; horizontal landing with retractable undercarriage (Shuttle like) is virtually impossible (mass fraction!)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Better solution would be recoverable/reusable first stage booster and glide body second stage horizontal recovery.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52D20F-068B-C9DF-E462-A03EA57F2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3678" y="3077202"/>
            <a:ext cx="2407736" cy="3780798"/>
          </a:xfrm>
          <a:prstGeom prst="rect">
            <a:avLst/>
          </a:prstGeom>
        </p:spPr>
      </p:pic>
      <p:pic>
        <p:nvPicPr>
          <p:cNvPr id="29" name="Picture 28" descr="exos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1568" y="45720"/>
            <a:ext cx="109728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835F0-301B-599F-D235-A4C91A8F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CEFF1D-7844-7B5C-15B4-3F24A52EB0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exo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1568" y="45720"/>
            <a:ext cx="109728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52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3BA222B086F94CB80A831AC79560FC" ma:contentTypeVersion="13" ma:contentTypeDescription="Create a new document." ma:contentTypeScope="" ma:versionID="f51fc69e8bbd42d3be512d7ef1c1493c">
  <xsd:schema xmlns:xsd="http://www.w3.org/2001/XMLSchema" xmlns:xs="http://www.w3.org/2001/XMLSchema" xmlns:p="http://schemas.microsoft.com/office/2006/metadata/properties" xmlns:ns2="e1558a10-1879-455f-b4fa-cfdedf85505e" xmlns:ns3="917a3f04-5547-4e83-a675-a0677bb25779" targetNamespace="http://schemas.microsoft.com/office/2006/metadata/properties" ma:root="true" ma:fieldsID="03e4d1102a05b14230e5c9e20d839415" ns2:_="" ns3:_="">
    <xsd:import namespace="e1558a10-1879-455f-b4fa-cfdedf85505e"/>
    <xsd:import namespace="917a3f04-5547-4e83-a675-a0677bb25779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558a10-1879-455f-b4fa-cfdedf85505e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bbbd00b4-2324-4224-9886-28f0fa24cb4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7a3f04-5547-4e83-a675-a0677bb2577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3ac47e6-c9a8-4c5a-9ea2-d1b4df31c29b}" ma:internalName="TaxCatchAll" ma:showField="CatchAllData" ma:web="917a3f04-5547-4e83-a675-a0677bb257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7a3f04-5547-4e83-a675-a0677bb25779" xsi:nil="true"/>
    <lcf76f155ced4ddcb4097134ff3c332f xmlns="e1558a10-1879-455f-b4fa-cfdedf85505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6C7EC9-B14A-48F4-8E1E-C6DB2DC135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558a10-1879-455f-b4fa-cfdedf85505e"/>
    <ds:schemaRef ds:uri="917a3f04-5547-4e83-a675-a0677bb257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706FA4-BB61-4689-9E25-D7FF74E959FD}">
  <ds:schemaRefs>
    <ds:schemaRef ds:uri="http://schemas.microsoft.com/office/2006/metadata/properties"/>
    <ds:schemaRef ds:uri="http://schemas.microsoft.com/office/infopath/2007/PartnerControls"/>
    <ds:schemaRef ds:uri="917a3f04-5547-4e83-a675-a0677bb25779"/>
    <ds:schemaRef ds:uri="e1558a10-1879-455f-b4fa-cfdedf85505e"/>
  </ds:schemaRefs>
</ds:datastoreItem>
</file>

<file path=customXml/itemProps3.xml><?xml version="1.0" encoding="utf-8"?>
<ds:datastoreItem xmlns:ds="http://schemas.openxmlformats.org/officeDocument/2006/customXml" ds:itemID="{6FF29153-6341-4038-986A-243CAEC376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1357</Words>
  <Application>Microsoft Office PowerPoint</Application>
  <PresentationFormat>Widescreen</PresentationFormat>
  <Paragraphs>118</Paragraphs>
  <Slides>15</Slides>
  <Notes>1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Milburn</dc:creator>
  <cp:lastModifiedBy>Neil Milburn</cp:lastModifiedBy>
  <cp:revision>5</cp:revision>
  <dcterms:created xsi:type="dcterms:W3CDTF">2026-03-25T21:27:39Z</dcterms:created>
  <dcterms:modified xsi:type="dcterms:W3CDTF">2026-03-30T13:13:35Z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0x010100B93BA222B086F94CB80A831AC79560FC</vt:lpwstr>
  </property>
  <property fmtid="{D5CDD505-2E9C-101B-9397-08002B2CF9AE}" pid="3" name="MediaServiceImageTags">
    <vt:lpwstr/>
  </property>
</Properties>
</file>