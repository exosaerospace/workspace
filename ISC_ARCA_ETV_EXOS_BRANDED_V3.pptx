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INNOVATIVE SPACE CARRIER - EXOS </a:t>
            </a:r>
          </a:p>
          <a:p>
            <a:pPr algn="ctr"/>
            <a:r>
              <a:rPr lang="en-US" sz="4800" dirty="0"/>
              <a:t>ASCA ETV</a:t>
            </a:r>
          </a:p>
          <a:p>
            <a:pPr algn="ctr"/>
            <a:r>
              <a:rPr lang="en-US" sz="4800" dirty="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4008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47104"/>
            <a:ext cx="1164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BBCC"/>
                </a:solidFill>
                <a:latin typeface="Calibri"/>
              </a:rPr>
              <a:t>EXOS AEROSPACE  |  www.exosaero.com  |  CONFIDENTIAL     1/15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0292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Flight altitude: 0.1 km (328ft)</a:t>
            </a:r>
            <a:br>
              <a:rPr lang="en-US" sz="2400" dirty="0"/>
            </a:br>
            <a:r>
              <a:rPr lang="en-US" sz="2400" dirty="0"/>
              <a:t>・Purpose: Demonstration of vertical takeoff and landing</a:t>
            </a:r>
            <a:br>
              <a:rPr lang="en-US" sz="2400" dirty="0"/>
            </a:br>
            <a:r>
              <a:rPr lang="en-US" sz="2400" dirty="0"/>
              <a:t>・Features:</a:t>
            </a:r>
            <a:br>
              <a:rPr lang="en-US" sz="2400" dirty="0"/>
            </a:br>
            <a:r>
              <a:rPr lang="en-US" sz="2400" dirty="0"/>
              <a:t>     - Hadley engines (2?)</a:t>
            </a:r>
            <a:br>
              <a:rPr lang="en-US" sz="2400" dirty="0"/>
            </a:br>
            <a:r>
              <a:rPr lang="en-US" sz="2400" dirty="0"/>
              <a:t>     -  ~40% of the airframe mass </a:t>
            </a:r>
          </a:p>
          <a:p>
            <a:r>
              <a:rPr lang="en-US" sz="2400" dirty="0"/>
              <a:t>         3D-printed</a:t>
            </a:r>
            <a:br>
              <a:rPr lang="en-US" sz="2400" dirty="0"/>
            </a:br>
            <a:r>
              <a:rPr lang="en-US" sz="2400" dirty="0"/>
              <a:t>     -  Adoption of Model Predictive  </a:t>
            </a:r>
          </a:p>
          <a:p>
            <a:r>
              <a:rPr lang="en-US" sz="2400" dirty="0"/>
              <a:t>         Control</a:t>
            </a:r>
            <a:r>
              <a:rPr lang="en-US" sz="2800" dirty="0"/>
              <a:t> (MPC) for powered</a:t>
            </a:r>
          </a:p>
          <a:p>
            <a:r>
              <a:rPr lang="en-US" sz="2800" dirty="0"/>
              <a:t>        landing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sz="2400" dirty="0"/>
              <a:t>Autonomous flight safety measures</a:t>
            </a:r>
          </a:p>
          <a:p>
            <a:r>
              <a:rPr lang="en-US" sz="2400" dirty="0"/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Replacing various components to evaluate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2 /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This video shows a “boosted hop”, engine always on, to </a:t>
            </a:r>
            <a:r>
              <a:rPr lang="en-US" sz="2800" b="1" dirty="0"/>
              <a:t>1,200m </a:t>
            </a:r>
            <a:r>
              <a:rPr lang="en-US" sz="2800" dirty="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SuperMOD</a:t>
            </a:r>
            <a:r>
              <a:rPr lang="en-US" sz="3600" b="1" dirty="0"/>
              <a:t> VTVL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3 /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EXOS HVRR RDRE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4 / 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Two-stage recovery, with supersonic decelerator ballute and GPS guided Joint Precision Air Drop System [JPADS] main chute.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5 /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6 / 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 dirty="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 dirty="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 dirty="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7 / 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8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latin typeface="Arial" panose="020B0604020202020204" pitchFamily="34" charset="0"/>
              </a:rPr>
              <a:t>Systron</a:t>
            </a:r>
            <a:r>
              <a:rPr lang="en-US" altLang="en-US" sz="2800" dirty="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9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 dirty="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10 / 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obtain </a:t>
            </a:r>
            <a:r>
              <a:rPr lang="en-US" sz="2800" dirty="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 dirty="0"/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11 / 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~$3.0M and 12-months to free flights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12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~$4.5M and 18.months to free flights.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13 / 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to Point [</a:t>
            </a:r>
            <a:r>
              <a:rPr lang="en-US" sz="2800" dirty="0" err="1"/>
              <a:t>PtP</a:t>
            </a:r>
            <a:r>
              <a:rPr lang="en-US" sz="2800" dirty="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14 / 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75488"/>
            <a:ext cx="12192000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11112"/>
            <a:ext cx="11643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4008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20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66CC"/>
                </a:solidFill>
                <a:latin typeface="Calibri"/>
              </a:rPr>
              <a:t>jquinn@exosaero.com  |  +1-972-740-8355  |  www.exosaero.com</a:t>
            </a:r>
          </a:p>
        </p:txBody>
      </p:sp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