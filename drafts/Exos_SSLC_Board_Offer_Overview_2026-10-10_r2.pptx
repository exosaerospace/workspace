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69" r:id="rId20"/>
    <p:sldId id="271" r:id="rId22"/>
    <p:sldId id="259" r:id="rId5"/>
    <p:sldId id="260" r:id="rId6"/>
    <p:sldId id="261" r:id="rId7"/>
    <p:sldId id="262" r:id="rId8"/>
    <p:sldId id="263" r:id="rId9"/>
    <p:sldId id="264" r:id="rId10"/>
    <p:sldId id="268" r:id="rId19"/>
    <p:sldId id="267" r:id="rId18"/>
    <p:sldId id="270" r:id="rId21"/>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7.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6.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14.xml"/><Relationship Id="rId19" Type="http://schemas.openxmlformats.org/officeDocument/2006/relationships/slide" Target="slides/slide13.xml"/><Relationship Id="rId20" Type="http://schemas.openxmlformats.org/officeDocument/2006/relationships/slide" Target="slides/slide5.xml"/><Relationship Id="rId21" Type="http://schemas.openxmlformats.org/officeDocument/2006/relationships/slide" Target="slides/slide1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p/>
        </p:txBody>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p/>
        </p:txBody>
      </p:sp>
      <p:sp>
        <p:nvSpPr>
          <p:cNvPr id="6" name="Text 4"/>
          <p:cNvSpPr txBox="1"/>
          <p:nvPr/>
        </p:nvSpPr>
        <p:spPr>
          <a:xfrm>
            <a:off x="640080" y="2999232"/>
            <a:ext cx="7863840" cy="1508760"/>
          </a:xfrm>
          <a:prstGeom prst="rect">
            <a:avLst/>
          </a:prstGeom>
          <a:noFill/>
          <a:ln/>
        </p:spPr>
        <p:txBody>
          <a:bodyPr wrap="square" rtlCol="0" anchor="t"/>
          <a:lstStyle/>
          <a:p>
            <a:pPr indent="0" marL="0">
              <a:buNone/>
            </a:pPr>
            <a:r>
              <a:rPr lang="en-US" sz="1200" b="1" dirty="0">
                <a:solidFill>
                  <a:srgbClr val="F26A21"/>
                </a:solidFill>
              </a:rPr>
              <a:t>Motion 1: </a:t>
            </a:r>
            <a:pPr indent="0" marL="0">
              <a:buNone/>
            </a:pPr>
            <a:r>
              <a:rPr lang="en-US" sz="1000" dirty="0">
                <a:solidFill>
                  <a:srgbClr val="CCCCCC"/>
                </a:solidFill>
              </a:rPr>
              <a:t>Approve Exos offer (Option B) + §3 exclusivity (90-day) + ROFR on asset sale
</a:t>
            </a:r>
            <a:pPr indent="0" marL="0">
              <a:buNone/>
            </a:pPr>
            <a:r>
              <a:rPr lang="en-US" sz="1200" b="1" dirty="0">
                <a:solidFill>
                  <a:srgbClr val="F26A21"/>
                </a:solidFill>
              </a:rPr>
              <a:t>Motion 2: </a:t>
            </a:r>
            <a:pPr indent="0" marL="0">
              <a:buNone/>
            </a:pPr>
            <a:r>
              <a:rPr lang="en-US" sz="1200" dirty="0">
                <a:solidFill>
                  <a:srgbClr val="CCCCCC"/>
                </a:solidFill>
              </a:rPr>
              <a:t>Full read-only QB Online access for diligence (Cal. Corp. Code §1602 + AAA §4; under 7/27/2021 NDA)
</a:t>
            </a:r>
            <a:pPr indent="0" marL="0">
              <a:buNone/>
            </a:pPr>
            <a:r>
              <a:rPr lang="en-US" sz="1200" b="1" dirty="0">
                <a:solidFill>
                  <a:srgbClr val="F26A21"/>
                </a:solidFill>
              </a:rPr>
              <a:t>Motion 3: </a:t>
            </a:r>
            <a:r>
              <a:rPr lang="en-US" sz="1200" dirty="0" b="0">
                <a:solidFill>
                  <a:srgbClr val="CCCCCC"/>
                </a:solidFill>
              </a:rPr>
              <a:t>Correct AR Unbilled &amp; Deposits accounting within 5 days (A La Carte + outside CPAs)
</a:t>
            </a:r>
            <a:r>
              <a:rPr lang="en-US" sz="1200" b="1" dirty="0">
                <a:solidFill>
                  <a:srgbClr val="F26A21"/>
                </a:solidFill>
              </a:rPr>
              <a:t>Motion 4: </a:t>
            </a:r>
            <a:pPr indent="0" marL="0">
              <a:buNone/>
            </a:pPr>
            <a:r>
              <a:rPr lang="en-US" sz="1200" dirty="0">
                <a:solidFill>
                  <a:srgbClr val="CCCCCC"/>
                </a:solidFill>
              </a:rPr>
              <a:t>Consent to ERP/MRP &amp; inventory evaluation using QB data (confidential under NDA)</a:t>
            </a:r>
            <a:endParaRPr lang="en-US" sz="1400" dirty="0"/>
          </a:p>
          <a:p>
            <a:r>
              <a:rPr lang="en-US" sz="1000">
                <a:solidFill>
                  <a:srgbClr val="FFFFFF"/>
                </a:solidFill>
                <a:latin typeface="Calibri"/>
              </a:rPr>
              <a:t>Motion 5: Resolve related-party balances (4/30/2026 entries) — independent accountant; Microcosm/Wertz directors abstain</a:t>
            </a:r>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pPr algn="l"/>
            <a:r>
              <a:rPr sz="1000" b="0" i="1">
                <a:solidFill>
                  <a:srgbClr val="888888"/>
                </a:solidFill>
                <a:latin typeface="Calibri"/>
              </a:rPr>
              <a:t>Ownership: Jim Wertz held most of SSLC until Exos's ~10% purchase, then Exos's ~8% follow-on to keep SSLC cash-flow positive.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p/>
        </p:txBody>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p/>
        </p:txBody>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p/>
        </p:txBody>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p/>
        </p:txBody>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$789,572</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1000" b="0" i="0">
                <a:solidFill>
                  <a:srgbClr val="CCCCCC"/>
                </a:solidFill>
                <a:latin typeface="Calibri"/>
              </a:rPr>
              <a:t>Total liabilities (10/11)</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1000" b="1" i="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pPr algn="l"/>
            <a:r>
              <a:rPr sz="1000" b="1" i="0">
                <a:solidFill>
                  <a:srgbClr val="CCCCCC"/>
                </a:solidFill>
                <a:latin typeface="Calibri"/>
              </a:rPr>
              <a:t>Exos loan reconciled: $60K→$31.2K (11% int.); records match. $30K prior loan→5,464 shares (incl. in $790K paid-in).</a:t>
            </a:r>
          </a:p>
        </p:txBody>
      </p:sp>
      <p:sp>
        <p:nvSpPr>
          <p:cNvPr id="53" name="Rectangle 52"/>
          <p:cNvSpPr/>
          <p:nvPr/>
        </p:nvSpPr>
        <p:spPr>
          <a:xfrm>
            <a:off x="201168" y="3593592"/>
            <a:ext cx="8741664" cy="117500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1168" y="3593592"/>
            <a:ext cx="8741664" cy="1463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92608" y="3610051"/>
            <a:ext cx="5486400" cy="173736"/>
          </a:xfrm>
          <a:prstGeom prst="rect">
            <a:avLst/>
          </a:prstGeom>
          <a:noFill/>
        </p:spPr>
        <p:txBody>
          <a:bodyPr wrap="none">
            <a:spAutoFit/>
          </a:bodyPr>
          <a:lstStyle/>
          <a:p>
            <a:pPr algn="l"/>
            <a:r>
              <a:rPr sz="1000" b="1" i="0">
                <a:solidFill>
                  <a:srgbClr val="F26A21"/>
                </a:solidFill>
                <a:latin typeface="Calibri"/>
              </a:rPr>
              <a:t>Exos Assessment  (Motions 2 &amp; 3)  — As Booked vs. Adjusted</a:t>
            </a:r>
          </a:p>
        </p:txBody>
      </p:sp>
      <p:sp>
        <p:nvSpPr>
          <p:cNvPr id="56" name="TextBox 55"/>
          <p:cNvSpPr txBox="1"/>
          <p:nvPr/>
        </p:nvSpPr>
        <p:spPr>
          <a:xfrm>
            <a:off x="7360920" y="3610051"/>
            <a:ext cx="1463040" cy="173736"/>
          </a:xfrm>
          <a:prstGeom prst="rect">
            <a:avLst/>
          </a:prstGeom>
          <a:noFill/>
        </p:spPr>
        <p:txBody>
          <a:bodyPr wrap="none">
            <a:spAutoFit/>
          </a:bodyPr>
          <a:lstStyle/>
          <a:p>
            <a:pPr algn="r"/>
            <a:r>
              <a:rPr sz="1000" b="0" i="1">
                <a:solidFill>
                  <a:srgbClr val="888888"/>
                </a:solidFill>
                <a:latin typeface="Calibri"/>
              </a:rPr>
              <a:t>pending reconciliation</a:t>
            </a:r>
          </a:p>
        </p:txBody>
      </p:sp>
      <p:sp>
        <p:nvSpPr>
          <p:cNvPr id="57" name="TextBox 56"/>
          <p:cNvSpPr txBox="1"/>
          <p:nvPr/>
        </p:nvSpPr>
        <p:spPr>
          <a:xfrm>
            <a:off x="292608" y="3802075"/>
            <a:ext cx="2926080" cy="160020"/>
          </a:xfrm>
          <a:prstGeom prst="rect">
            <a:avLst/>
          </a:prstGeom>
          <a:noFill/>
        </p:spPr>
        <p:txBody>
          <a:bodyPr wrap="none">
            <a:spAutoFit/>
          </a:bodyPr>
          <a:lstStyle/>
          <a:p>
            <a:pPr algn="l"/>
            <a:r>
              <a:rPr sz="1000" b="1" i="0">
                <a:solidFill>
                  <a:srgbClr val="CCCCCC"/>
                </a:solidFill>
                <a:latin typeface="Calibri"/>
              </a:rPr>
              <a:t>Line item</a:t>
            </a:r>
          </a:p>
        </p:txBody>
      </p:sp>
      <p:sp>
        <p:nvSpPr>
          <p:cNvPr id="58" name="TextBox 57"/>
          <p:cNvSpPr txBox="1"/>
          <p:nvPr/>
        </p:nvSpPr>
        <p:spPr>
          <a:xfrm>
            <a:off x="3310128" y="3802075"/>
            <a:ext cx="1170432" cy="160020"/>
          </a:xfrm>
          <a:prstGeom prst="rect">
            <a:avLst/>
          </a:prstGeom>
          <a:noFill/>
        </p:spPr>
        <p:txBody>
          <a:bodyPr wrap="none">
            <a:spAutoFit/>
          </a:bodyPr>
          <a:lstStyle/>
          <a:p>
            <a:pPr algn="r"/>
            <a:r>
              <a:rPr sz="1000" b="1" i="0">
                <a:solidFill>
                  <a:srgbClr val="CCCCCC"/>
                </a:solidFill>
                <a:latin typeface="Calibri"/>
              </a:rPr>
              <a:t>As booked</a:t>
            </a:r>
          </a:p>
        </p:txBody>
      </p:sp>
      <p:sp>
        <p:nvSpPr>
          <p:cNvPr id="59" name="TextBox 58"/>
          <p:cNvSpPr txBox="1"/>
          <p:nvPr/>
        </p:nvSpPr>
        <p:spPr>
          <a:xfrm>
            <a:off x="4572000" y="3802075"/>
            <a:ext cx="1143000" cy="160020"/>
          </a:xfrm>
          <a:prstGeom prst="rect">
            <a:avLst/>
          </a:prstGeom>
          <a:noFill/>
        </p:spPr>
        <p:txBody>
          <a:bodyPr wrap="none">
            <a:spAutoFit/>
          </a:bodyPr>
          <a:lstStyle/>
          <a:p>
            <a:pPr algn="r"/>
            <a:r>
              <a:rPr sz="1000" b="1" i="0">
                <a:solidFill>
                  <a:srgbClr val="CCCCCC"/>
                </a:solidFill>
                <a:latin typeface="Calibri"/>
              </a:rPr>
              <a:t>Adjusted</a:t>
            </a:r>
          </a:p>
        </p:txBody>
      </p:sp>
      <p:sp>
        <p:nvSpPr>
          <p:cNvPr id="60" name="TextBox 59"/>
          <p:cNvSpPr txBox="1"/>
          <p:nvPr/>
        </p:nvSpPr>
        <p:spPr>
          <a:xfrm>
            <a:off x="5806440" y="3802075"/>
            <a:ext cx="2980944" cy="160020"/>
          </a:xfrm>
          <a:prstGeom prst="rect">
            <a:avLst/>
          </a:prstGeom>
          <a:noFill/>
        </p:spPr>
        <p:txBody>
          <a:bodyPr wrap="none">
            <a:spAutoFit/>
          </a:bodyPr>
          <a:lstStyle/>
          <a:p>
            <a:pPr algn="l"/>
            <a:r>
              <a:rPr sz="1000" b="1" i="0">
                <a:solidFill>
                  <a:srgbClr val="CCCCCC"/>
                </a:solidFill>
                <a:latin typeface="Calibri"/>
              </a:rPr>
              <a:t>Basis</a:t>
            </a:r>
          </a:p>
        </p:txBody>
      </p:sp>
      <p:sp>
        <p:nvSpPr>
          <p:cNvPr id="61" name="Rectangle 60"/>
          <p:cNvSpPr/>
          <p:nvPr/>
        </p:nvSpPr>
        <p:spPr>
          <a:xfrm>
            <a:off x="201168" y="3962095"/>
            <a:ext cx="8741664"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98848" y="3973068"/>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3" name="TextBox 62"/>
          <p:cNvSpPr txBox="1"/>
          <p:nvPr/>
        </p:nvSpPr>
        <p:spPr>
          <a:xfrm>
            <a:off x="4498848" y="4165091"/>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4" name="TextBox 63"/>
          <p:cNvSpPr txBox="1"/>
          <p:nvPr/>
        </p:nvSpPr>
        <p:spPr>
          <a:xfrm>
            <a:off x="4498848" y="4357116"/>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5" name="TextBox 64"/>
          <p:cNvSpPr txBox="1"/>
          <p:nvPr/>
        </p:nvSpPr>
        <p:spPr>
          <a:xfrm>
            <a:off x="4498848" y="4549140"/>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6" name="TextBox 65"/>
          <p:cNvSpPr txBox="1"/>
          <p:nvPr/>
        </p:nvSpPr>
        <p:spPr>
          <a:xfrm>
            <a:off x="292608" y="3973068"/>
            <a:ext cx="2926080" cy="182880"/>
          </a:xfrm>
          <a:prstGeom prst="rect">
            <a:avLst/>
          </a:prstGeom>
          <a:noFill/>
        </p:spPr>
        <p:txBody>
          <a:bodyPr wrap="none">
            <a:spAutoFit/>
          </a:bodyPr>
          <a:lstStyle/>
          <a:p>
            <a:pPr algn="l"/>
            <a:r>
              <a:rPr sz="1000" b="1" i="0">
                <a:solidFill>
                  <a:srgbClr val="FFCC44"/>
                </a:solidFill>
                <a:latin typeface="Calibri"/>
              </a:rPr>
              <a:t>Due to Microcosm</a:t>
            </a:r>
          </a:p>
        </p:txBody>
      </p:sp>
      <p:sp>
        <p:nvSpPr>
          <p:cNvPr id="67" name="TextBox 66"/>
          <p:cNvSpPr txBox="1"/>
          <p:nvPr/>
        </p:nvSpPr>
        <p:spPr>
          <a:xfrm>
            <a:off x="3310128" y="3973068"/>
            <a:ext cx="1170432" cy="182880"/>
          </a:xfrm>
          <a:prstGeom prst="rect">
            <a:avLst/>
          </a:prstGeom>
          <a:noFill/>
        </p:spPr>
        <p:txBody>
          <a:bodyPr wrap="none">
            <a:spAutoFit/>
          </a:bodyPr>
          <a:lstStyle/>
          <a:p>
            <a:pPr algn="r"/>
            <a:r>
              <a:rPr sz="1000" b="0" i="0">
                <a:solidFill>
                  <a:srgbClr val="888888"/>
                </a:solidFill>
                <a:latin typeface="Calibri"/>
              </a:rPr>
              <a:t>$451K</a:t>
            </a:r>
          </a:p>
        </p:txBody>
      </p:sp>
      <p:sp>
        <p:nvSpPr>
          <p:cNvPr id="68" name="TextBox 67"/>
          <p:cNvSpPr txBox="1"/>
          <p:nvPr/>
        </p:nvSpPr>
        <p:spPr>
          <a:xfrm>
            <a:off x="4572000" y="3973068"/>
            <a:ext cx="1143000" cy="182880"/>
          </a:xfrm>
          <a:prstGeom prst="rect">
            <a:avLst/>
          </a:prstGeom>
          <a:noFill/>
        </p:spPr>
        <p:txBody>
          <a:bodyPr wrap="none">
            <a:spAutoFit/>
          </a:bodyPr>
          <a:lstStyle/>
          <a:p>
            <a:pPr algn="r"/>
            <a:r>
              <a:rPr sz="1000" b="1" i="0">
                <a:solidFill>
                  <a:srgbClr val="44BB44"/>
                </a:solidFill>
                <a:latin typeface="Calibri"/>
              </a:rPr>
              <a:t>~$100K</a:t>
            </a:r>
          </a:p>
        </p:txBody>
      </p:sp>
      <p:sp>
        <p:nvSpPr>
          <p:cNvPr id="69" name="TextBox 68"/>
          <p:cNvSpPr txBox="1"/>
          <p:nvPr/>
        </p:nvSpPr>
        <p:spPr>
          <a:xfrm>
            <a:off x="5806440" y="3973068"/>
            <a:ext cx="2980944" cy="182880"/>
          </a:xfrm>
          <a:prstGeom prst="rect">
            <a:avLst/>
          </a:prstGeom>
          <a:noFill/>
        </p:spPr>
        <p:txBody>
          <a:bodyPr wrap="none">
            <a:spAutoFit/>
          </a:bodyPr>
          <a:lstStyle/>
          <a:p>
            <a:pPr algn="l"/>
            <a:r>
              <a:rPr sz="1000" b="0" i="1">
                <a:solidFill>
                  <a:srgbClr val="CCCCCC"/>
                </a:solidFill>
                <a:latin typeface="Calibri"/>
              </a:rPr>
              <a:t>Rent+util credit ~$351K (Jul '24-Aug '26)</a:t>
            </a:r>
          </a:p>
        </p:txBody>
      </p:sp>
      <p:sp>
        <p:nvSpPr>
          <p:cNvPr id="70" name="TextBox 69"/>
          <p:cNvSpPr txBox="1"/>
          <p:nvPr/>
        </p:nvSpPr>
        <p:spPr>
          <a:xfrm>
            <a:off x="292608" y="4165091"/>
            <a:ext cx="2926080" cy="182880"/>
          </a:xfrm>
          <a:prstGeom prst="rect">
            <a:avLst/>
          </a:prstGeom>
          <a:noFill/>
        </p:spPr>
        <p:txBody>
          <a:bodyPr wrap="none">
            <a:spAutoFit/>
          </a:bodyPr>
          <a:lstStyle/>
          <a:p>
            <a:pPr algn="l"/>
            <a:r>
              <a:rPr sz="1000" b="0" i="0">
                <a:solidFill>
                  <a:srgbClr val="FFFFFF"/>
                </a:solidFill>
                <a:latin typeface="Calibri"/>
              </a:rPr>
              <a:t>Bookstore note</a:t>
            </a:r>
          </a:p>
        </p:txBody>
      </p:sp>
      <p:sp>
        <p:nvSpPr>
          <p:cNvPr id="71" name="TextBox 70"/>
          <p:cNvSpPr txBox="1"/>
          <p:nvPr/>
        </p:nvSpPr>
        <p:spPr>
          <a:xfrm>
            <a:off x="3310128" y="4165091"/>
            <a:ext cx="1170432" cy="182880"/>
          </a:xfrm>
          <a:prstGeom prst="rect">
            <a:avLst/>
          </a:prstGeom>
          <a:noFill/>
        </p:spPr>
        <p:txBody>
          <a:bodyPr wrap="none">
            <a:spAutoFit/>
          </a:bodyPr>
          <a:lstStyle/>
          <a:p>
            <a:pPr algn="r"/>
            <a:r>
              <a:rPr sz="1000" b="0" i="0">
                <a:solidFill>
                  <a:srgbClr val="888888"/>
                </a:solidFill>
                <a:latin typeface="Calibri"/>
              </a:rPr>
              <a:t>$321K</a:t>
            </a:r>
          </a:p>
        </p:txBody>
      </p:sp>
      <p:sp>
        <p:nvSpPr>
          <p:cNvPr id="72" name="TextBox 71"/>
          <p:cNvSpPr txBox="1"/>
          <p:nvPr/>
        </p:nvSpPr>
        <p:spPr>
          <a:xfrm>
            <a:off x="4572000" y="4165091"/>
            <a:ext cx="1143000" cy="182880"/>
          </a:xfrm>
          <a:prstGeom prst="rect">
            <a:avLst/>
          </a:prstGeom>
          <a:noFill/>
        </p:spPr>
        <p:txBody>
          <a:bodyPr wrap="none">
            <a:spAutoFit/>
          </a:bodyPr>
          <a:lstStyle/>
          <a:p>
            <a:pPr algn="r"/>
            <a:r>
              <a:rPr sz="1000" b="0" i="0">
                <a:solidFill>
                  <a:srgbClr val="CCCCCC"/>
                </a:solidFill>
                <a:latin typeface="Calibri"/>
              </a:rPr>
              <a:t>$224K</a:t>
            </a:r>
          </a:p>
        </p:txBody>
      </p:sp>
      <p:sp>
        <p:nvSpPr>
          <p:cNvPr id="73" name="TextBox 72"/>
          <p:cNvSpPr txBox="1"/>
          <p:nvPr/>
        </p:nvSpPr>
        <p:spPr>
          <a:xfrm>
            <a:off x="5806440" y="4165091"/>
            <a:ext cx="2980944" cy="182880"/>
          </a:xfrm>
          <a:prstGeom prst="rect">
            <a:avLst/>
          </a:prstGeom>
          <a:noFill/>
        </p:spPr>
        <p:txBody>
          <a:bodyPr wrap="none">
            <a:spAutoFit/>
          </a:bodyPr>
          <a:lstStyle/>
          <a:p>
            <a:pPr algn="l"/>
            <a:r>
              <a:rPr sz="1000" b="0" i="1">
                <a:solidFill>
                  <a:srgbClr val="CCCCCC"/>
                </a:solidFill>
                <a:latin typeface="Calibri"/>
              </a:rPr>
              <a:t>$97K interest capitalized 4/30/2026</a:t>
            </a:r>
          </a:p>
        </p:txBody>
      </p:sp>
      <p:sp>
        <p:nvSpPr>
          <p:cNvPr id="74" name="TextBox 73"/>
          <p:cNvSpPr txBox="1"/>
          <p:nvPr/>
        </p:nvSpPr>
        <p:spPr>
          <a:xfrm>
            <a:off x="292608" y="4357116"/>
            <a:ext cx="2926080" cy="182880"/>
          </a:xfrm>
          <a:prstGeom prst="rect">
            <a:avLst/>
          </a:prstGeom>
          <a:noFill/>
        </p:spPr>
        <p:txBody>
          <a:bodyPr wrap="none">
            <a:spAutoFit/>
          </a:bodyPr>
          <a:lstStyle/>
          <a:p>
            <a:pPr algn="l"/>
            <a:r>
              <a:rPr sz="1000" b="0" i="0">
                <a:solidFill>
                  <a:srgbClr val="FFFFFF"/>
                </a:solidFill>
                <a:latin typeface="Calibri"/>
              </a:rPr>
              <a:t>Billed ahead (est.)</a:t>
            </a:r>
          </a:p>
        </p:txBody>
      </p:sp>
      <p:sp>
        <p:nvSpPr>
          <p:cNvPr id="75" name="TextBox 74"/>
          <p:cNvSpPr txBox="1"/>
          <p:nvPr/>
        </p:nvSpPr>
        <p:spPr>
          <a:xfrm>
            <a:off x="3310128" y="4357116"/>
            <a:ext cx="1170432" cy="182880"/>
          </a:xfrm>
          <a:prstGeom prst="rect">
            <a:avLst/>
          </a:prstGeom>
          <a:noFill/>
        </p:spPr>
        <p:txBody>
          <a:bodyPr wrap="none">
            <a:spAutoFit/>
          </a:bodyPr>
          <a:lstStyle/>
          <a:p>
            <a:pPr algn="r"/>
            <a:r>
              <a:rPr sz="1000" b="0" i="0">
                <a:solidFill>
                  <a:srgbClr val="888888"/>
                </a:solidFill>
                <a:latin typeface="Calibri"/>
              </a:rPr>
              <a:t>$942K</a:t>
            </a:r>
          </a:p>
        </p:txBody>
      </p:sp>
      <p:sp>
        <p:nvSpPr>
          <p:cNvPr id="76" name="TextBox 75"/>
          <p:cNvSpPr txBox="1"/>
          <p:nvPr/>
        </p:nvSpPr>
        <p:spPr>
          <a:xfrm>
            <a:off x="4572000" y="4357116"/>
            <a:ext cx="1143000" cy="182880"/>
          </a:xfrm>
          <a:prstGeom prst="rect">
            <a:avLst/>
          </a:prstGeom>
          <a:noFill/>
        </p:spPr>
        <p:txBody>
          <a:bodyPr wrap="none">
            <a:spAutoFit/>
          </a:bodyPr>
          <a:lstStyle/>
          <a:p>
            <a:pPr algn="r"/>
            <a:r>
              <a:rPr sz="1000" b="0" i="0">
                <a:solidFill>
                  <a:srgbClr val="CCCCCC"/>
                </a:solidFill>
                <a:latin typeface="Calibri"/>
              </a:rPr>
              <a:t>~$100-250K</a:t>
            </a:r>
          </a:p>
        </p:txBody>
      </p:sp>
      <p:sp>
        <p:nvSpPr>
          <p:cNvPr id="77" name="TextBox 76"/>
          <p:cNvSpPr txBox="1"/>
          <p:nvPr/>
        </p:nvSpPr>
        <p:spPr>
          <a:xfrm>
            <a:off x="5806440" y="4357116"/>
            <a:ext cx="2980944" cy="182880"/>
          </a:xfrm>
          <a:prstGeom prst="rect">
            <a:avLst/>
          </a:prstGeom>
          <a:noFill/>
        </p:spPr>
        <p:txBody>
          <a:bodyPr wrap="none">
            <a:spAutoFit/>
          </a:bodyPr>
          <a:lstStyle/>
          <a:p>
            <a:pPr algn="l"/>
            <a:r>
              <a:rPr sz="1000" b="0" i="1">
                <a:solidFill>
                  <a:srgbClr val="CCCCCC"/>
                </a:solidFill>
                <a:latin typeface="Calibri"/>
              </a:rPr>
              <a:t>Start-billings uncleared at ship (Motion 3)</a:t>
            </a:r>
          </a:p>
        </p:txBody>
      </p:sp>
      <p:sp>
        <p:nvSpPr>
          <p:cNvPr id="78" name="TextBox 77"/>
          <p:cNvSpPr txBox="1"/>
          <p:nvPr/>
        </p:nvSpPr>
        <p:spPr>
          <a:xfrm>
            <a:off x="292608" y="4549140"/>
            <a:ext cx="2926080" cy="182880"/>
          </a:xfrm>
          <a:prstGeom prst="rect">
            <a:avLst/>
          </a:prstGeom>
          <a:noFill/>
        </p:spPr>
        <p:txBody>
          <a:bodyPr wrap="none">
            <a:spAutoFit/>
          </a:bodyPr>
          <a:lstStyle/>
          <a:p>
            <a:pPr algn="l"/>
            <a:r>
              <a:rPr sz="1000" b="1" i="0">
                <a:solidFill>
                  <a:srgbClr val="FFCC44"/>
                </a:solidFill>
                <a:latin typeface="Calibri"/>
              </a:rPr>
              <a:t>Total equity</a:t>
            </a:r>
          </a:p>
        </p:txBody>
      </p:sp>
      <p:sp>
        <p:nvSpPr>
          <p:cNvPr id="79" name="TextBox 78"/>
          <p:cNvSpPr txBox="1"/>
          <p:nvPr/>
        </p:nvSpPr>
        <p:spPr>
          <a:xfrm>
            <a:off x="3310128" y="4549140"/>
            <a:ext cx="1170432" cy="182880"/>
          </a:xfrm>
          <a:prstGeom prst="rect">
            <a:avLst/>
          </a:prstGeom>
          <a:noFill/>
        </p:spPr>
        <p:txBody>
          <a:bodyPr wrap="none">
            <a:spAutoFit/>
          </a:bodyPr>
          <a:lstStyle/>
          <a:p>
            <a:pPr algn="r"/>
            <a:r>
              <a:rPr sz="1000" b="0" i="0">
                <a:solidFill>
                  <a:srgbClr val="888888"/>
                </a:solidFill>
                <a:latin typeface="Calibri"/>
              </a:rPr>
              <a:t>-$1.44M</a:t>
            </a:r>
          </a:p>
        </p:txBody>
      </p:sp>
      <p:sp>
        <p:nvSpPr>
          <p:cNvPr id="80" name="TextBox 79"/>
          <p:cNvSpPr txBox="1"/>
          <p:nvPr/>
        </p:nvSpPr>
        <p:spPr>
          <a:xfrm>
            <a:off x="4572000" y="4549140"/>
            <a:ext cx="1143000" cy="182880"/>
          </a:xfrm>
          <a:prstGeom prst="rect">
            <a:avLst/>
          </a:prstGeom>
          <a:noFill/>
        </p:spPr>
        <p:txBody>
          <a:bodyPr wrap="none">
            <a:spAutoFit/>
          </a:bodyPr>
          <a:lstStyle/>
          <a:p>
            <a:pPr algn="r"/>
            <a:r>
              <a:rPr sz="1000" b="1" i="0">
                <a:solidFill>
                  <a:srgbClr val="44BB44"/>
                </a:solidFill>
                <a:latin typeface="Calibri"/>
              </a:rPr>
              <a:t>~-$1.09M+</a:t>
            </a:r>
          </a:p>
        </p:txBody>
      </p:sp>
      <p:sp>
        <p:nvSpPr>
          <p:cNvPr id="81" name="TextBox 80"/>
          <p:cNvSpPr txBox="1"/>
          <p:nvPr/>
        </p:nvSpPr>
        <p:spPr>
          <a:xfrm>
            <a:off x="5806440" y="4549140"/>
            <a:ext cx="2980944" cy="182880"/>
          </a:xfrm>
          <a:prstGeom prst="rect">
            <a:avLst/>
          </a:prstGeom>
          <a:noFill/>
        </p:spPr>
        <p:txBody>
          <a:bodyPr wrap="none">
            <a:spAutoFit/>
          </a:bodyPr>
          <a:lstStyle/>
          <a:p>
            <a:pPr algn="l"/>
            <a:r>
              <a:rPr sz="1000" b="0" i="1">
                <a:solidFill>
                  <a:srgbClr val="CCCCCC"/>
                </a:solidFill>
                <a:latin typeface="Calibri"/>
              </a:rPr>
              <a:t>Credit alone; more if billed-ahead corrected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square">
            <a:spAutoFit/>
          </a:bodyPr>
          <a:lstStyle/>
          <a:p>
            <a:pPr algn="l"/>
            <a:r>
              <a:rPr sz="1000" b="1" i="0">
                <a:solidFill>
                  <a:srgbClr val="FFFFFF"/>
                </a:solidFill>
                <a:latin typeface="Calibri"/>
              </a:rPr>
              <a:t>SSLC loans to Microcosm fully netted against:</a:t>
            </a:r>
          </a:p>
        </p:txBody>
      </p:sp>
      <p:sp>
        <p:nvSpPr>
          <p:cNvPr id="17" name="TextBox 16"/>
          <p:cNvSpPr txBox="1"/>
          <p:nvPr/>
        </p:nvSpPr>
        <p:spPr>
          <a:xfrm>
            <a:off x="1152144" y="1947672"/>
            <a:ext cx="3246120" cy="534924"/>
          </a:xfrm>
          <a:prstGeom prst="rect">
            <a:avLst/>
          </a:prstGeom>
          <a:noFill/>
        </p:spPr>
        <p:txBody>
          <a:bodyPr wrap="square">
            <a:spAutoFit/>
          </a:bodyPr>
          <a:lstStyle/>
          <a:p>
            <a:pPr algn="l"/>
            <a:r>
              <a:rPr sz="1000" b="0" i="1">
                <a:solidFill>
                  <a:srgbClr val="CCCCCC"/>
                </a:solidFill>
                <a:latin typeface="Calibri"/>
              </a:rPr>
              <a:t>$294,499 loan payable  ·  $423,965 “reimbursables”
$61,290 “Judy’s time”  ·  $32,946 reimbursable  =  $518,201
No invoices or agreements provided for these offsets</a:t>
            </a:r>
          </a:p>
        </p:txBody>
      </p:sp>
      <p:sp>
        <p:nvSpPr>
          <p:cNvPr id="18" name="Rectangle 17"/>
          <p:cNvSpPr/>
          <p:nvPr/>
        </p:nvSpPr>
        <p:spPr>
          <a:xfrm>
            <a:off x="256032" y="2574036"/>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574036"/>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775204"/>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560320"/>
            <a:ext cx="4023360" cy="384048"/>
          </a:xfrm>
          <a:prstGeom prst="rect">
            <a:avLst/>
          </a:prstGeom>
          <a:noFill/>
        </p:spPr>
        <p:txBody>
          <a:bodyPr wrap="square">
            <a:spAutoFit/>
          </a:bodyPr>
          <a:lstStyle/>
          <a:p>
            <a:pPr algn="l"/>
            <a:r>
              <a:rPr sz="1000" b="0" i="0">
                <a:solidFill>
                  <a:srgbClr val="FFFFFF"/>
                </a:solidFill>
                <a:latin typeface="Calibri"/>
              </a:rPr>
              <a:t>Insider interest was capitalized while the one outside lender, Exos, went unpaid.</a:t>
            </a:r>
          </a:p>
        </p:txBody>
      </p:sp>
      <p:sp>
        <p:nvSpPr>
          <p:cNvPr id="33" name="TextBox 32"/>
          <p:cNvSpPr txBox="1"/>
          <p:nvPr/>
        </p:nvSpPr>
        <p:spPr>
          <a:xfrm>
            <a:off x="4736592" y="3044951"/>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58183"/>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77639"/>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77639"/>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97096"/>
            <a:ext cx="8631936" cy="402336"/>
          </a:xfrm>
          <a:prstGeom prst="rect">
            <a:avLst/>
          </a:prstGeom>
          <a:noFill/>
        </p:spPr>
        <p:txBody>
          <a:bodyPr wrap="square">
            <a:spAutoFit/>
          </a:bodyPr>
          <a:lstStyle/>
          <a:p>
            <a:pPr algn="l"/>
            <a:r>
              <a:rPr sz="1000" b="1" i="0">
                <a:solidFill>
                  <a:srgbClr val="FFCC44"/>
                </a:solidFill>
                <a:latin typeface="Calibri"/>
              </a:rPr>
              <a:t>Step 2  —  + Unsupported offsets if unresolved:    $967K total  ·  Non-Wertz holders lose ~$449K  (Conger ~$99K, Rufer ~$123K)  ·  Microcosm would owe SSLC</a:t>
            </a:r>
          </a:p>
        </p:txBody>
      </p:sp>
      <p:sp>
        <p:nvSpPr>
          <p:cNvPr id="41" name="Rectangle 40"/>
          <p:cNvSpPr/>
          <p:nvPr/>
        </p:nvSpPr>
        <p:spPr>
          <a:xfrm>
            <a:off x="256032" y="4626864"/>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4672583"/>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(answering Bob Conger)</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133087" y="795528"/>
            <a:ext cx="658368"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At close, cash only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$15.6K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$18.4K</a:t>
            </a:r>
          </a:p>
        </p:txBody>
      </p:sp>
      <p:sp>
        <p:nvSpPr>
          <p:cNvPr id="16" name="TextBox 15"/>
          <p:cNvSpPr txBox="1"/>
          <p:nvPr/>
        </p:nvSpPr>
        <p:spPr>
          <a:xfrm>
            <a:off x="4133087" y="1005840"/>
            <a:ext cx="658368" cy="246888"/>
          </a:xfrm>
          <a:prstGeom prst="rect">
            <a:avLst/>
          </a:prstGeom>
          <a:noFill/>
        </p:spPr>
        <p:txBody>
          <a:bodyPr wrap="none">
            <a:spAutoFit/>
          </a:bodyPr>
          <a:lstStyle/>
          <a:p>
            <a:pPr algn="r"/>
            <a:r>
              <a:rPr sz="1000" b="0" i="0">
                <a:solidFill>
                  <a:srgbClr val="FFFFFF"/>
                </a:solidFill>
                <a:latin typeface="Calibri"/>
              </a:rPr>
              <a:t>$21.2K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At close, books corrected  (+$351K)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$22.6K</a:t>
            </a:r>
          </a:p>
        </p:txBody>
      </p:sp>
      <p:sp>
        <p:nvSpPr>
          <p:cNvPr id="20" name="TextBox 19"/>
          <p:cNvSpPr txBox="1"/>
          <p:nvPr/>
        </p:nvSpPr>
        <p:spPr>
          <a:xfrm>
            <a:off x="4133087" y="1252728"/>
            <a:ext cx="658368" cy="246888"/>
          </a:xfrm>
          <a:prstGeom prst="rect">
            <a:avLst/>
          </a:prstGeom>
          <a:noFill/>
        </p:spPr>
        <p:txBody>
          <a:bodyPr wrap="none">
            <a:spAutoFit/>
          </a:bodyPr>
          <a:lstStyle/>
          <a:p>
            <a:pPr algn="r"/>
            <a:r>
              <a:rPr sz="1000" b="0" i="0">
                <a:solidFill>
                  <a:srgbClr val="CCCCCC"/>
                </a:solidFill>
                <a:latin typeface="Calibri"/>
              </a:rPr>
              <a:t>—</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5-year, Structure A  (low/base/high)</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$41.0K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$63.0K</a:t>
            </a:r>
          </a:p>
        </p:txBody>
      </p:sp>
      <p:sp>
        <p:nvSpPr>
          <p:cNvPr id="24" name="TextBox 23"/>
          <p:cNvSpPr txBox="1"/>
          <p:nvPr/>
        </p:nvSpPr>
        <p:spPr>
          <a:xfrm>
            <a:off x="4133087" y="1499616"/>
            <a:ext cx="658368" cy="246888"/>
          </a:xfrm>
          <a:prstGeom prst="rect">
            <a:avLst/>
          </a:prstGeom>
          <a:noFill/>
        </p:spPr>
        <p:txBody>
          <a:bodyPr wrap="none">
            <a:spAutoFit/>
          </a:bodyPr>
          <a:lstStyle/>
          <a:p>
            <a:pPr algn="r"/>
            <a:r>
              <a:rPr sz="1000" b="0" i="0">
                <a:solidFill>
                  <a:srgbClr val="FFFFFF"/>
                </a:solidFill>
                <a:latin typeface="Calibri"/>
              </a:rPr>
              <a:t>$85.1K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No sale  (book equity −$1.44M today)</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$0</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$0</a:t>
            </a:r>
          </a:p>
        </p:txBody>
      </p:sp>
      <p:sp>
        <p:nvSpPr>
          <p:cNvPr id="28" name="TextBox 27"/>
          <p:cNvSpPr txBox="1"/>
          <p:nvPr/>
        </p:nvSpPr>
        <p:spPr>
          <a:xfrm>
            <a:off x="4133087" y="1746504"/>
            <a:ext cx="658368" cy="246888"/>
          </a:xfrm>
          <a:prstGeom prst="rect">
            <a:avLst/>
          </a:prstGeom>
          <a:noFill/>
        </p:spPr>
        <p:txBody>
          <a:bodyPr wrap="none">
            <a:spAutoFit/>
          </a:bodyPr>
          <a:lstStyle/>
          <a:p>
            <a:pPr algn="r"/>
            <a:r>
              <a:rPr sz="1000" b="0" i="0">
                <a:solidFill>
                  <a:srgbClr val="DD4444"/>
                </a:solidFill>
                <a:latin typeface="Calibri"/>
              </a:rPr>
              <a:t>—</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$2.10 at close  ·  $7.22 over 5 years</a:t>
            </a:r>
          </a:p>
        </p:txBody>
      </p:sp>
      <p:sp>
        <p:nvSpPr>
          <p:cNvPr id="30" name="TextBox 29"/>
          <p:cNvSpPr txBox="1"/>
          <p:nvPr/>
        </p:nvSpPr>
        <p:spPr>
          <a:xfrm>
            <a:off x="4736592" y="566928"/>
            <a:ext cx="416052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4160520" cy="201168"/>
          </a:xfrm>
          <a:prstGeom prst="rect">
            <a:avLst/>
          </a:prstGeom>
          <a:noFill/>
        </p:spPr>
        <p:txBody>
          <a:bodyPr wrap="none">
            <a:spAutoFit/>
          </a:bodyPr>
          <a:lstStyle/>
          <a:p>
            <a:pPr algn="l"/>
            <a:r>
              <a:rPr sz="1000" b="0" i="0">
                <a:solidFill>
                  <a:srgbClr val="CCCCCC"/>
                </a:solidFill>
                <a:latin typeface="Calibri"/>
              </a:rPr>
              <a:t>8.37% of SSLC  ·  10.21% of payout distributions</a:t>
            </a:r>
          </a:p>
        </p:txBody>
      </p:sp>
      <p:sp>
        <p:nvSpPr>
          <p:cNvPr id="32" name="TextBox 31"/>
          <p:cNvSpPr txBox="1"/>
          <p:nvPr/>
        </p:nvSpPr>
        <p:spPr>
          <a:xfrm>
            <a:off x="4736592" y="932688"/>
            <a:ext cx="4160520" cy="182880"/>
          </a:xfrm>
          <a:prstGeom prst="rect">
            <a:avLst/>
          </a:prstGeom>
          <a:noFill/>
        </p:spPr>
        <p:txBody>
          <a:bodyPr wrap="none">
            <a:spAutoFit/>
          </a:bodyPr>
          <a:lstStyle/>
          <a:p>
            <a:pPr algn="l"/>
            <a:r>
              <a:rPr sz="1000" b="0" i="1">
                <a:solidFill>
                  <a:srgbClr val="888888"/>
                </a:solidFill>
                <a:latin typeface="Calibri"/>
              </a:rPr>
              <a:t>Cert #3 (44,000) + Cert #43 (29,000)</a:t>
            </a:r>
          </a:p>
        </p:txBody>
      </p:sp>
      <p:sp>
        <p:nvSpPr>
          <p:cNvPr id="33" name="TextBox 32"/>
          <p:cNvSpPr txBox="1"/>
          <p:nvPr/>
        </p:nvSpPr>
        <p:spPr>
          <a:xfrm>
            <a:off x="4736592" y="1170432"/>
            <a:ext cx="2286000" cy="219456"/>
          </a:xfrm>
          <a:prstGeom prst="rect">
            <a:avLst/>
          </a:prstGeom>
          <a:noFill/>
        </p:spPr>
        <p:txBody>
          <a:bodyPr wrap="none">
            <a:spAutoFit/>
          </a:bodyPr>
          <a:lstStyle/>
          <a:p>
            <a:pPr algn="l"/>
            <a:r>
              <a:rPr sz="1000" b="0" i="0">
                <a:solidFill>
                  <a:srgbClr val="CCCCCC"/>
                </a:solidFill>
                <a:latin typeface="Calibri"/>
              </a:rPr>
              <a:t>At close  (as booked):</a:t>
            </a:r>
          </a:p>
        </p:txBody>
      </p:sp>
      <p:sp>
        <p:nvSpPr>
          <p:cNvPr id="34" name="TextBox 33"/>
          <p:cNvSpPr txBox="1"/>
          <p:nvPr/>
        </p:nvSpPr>
        <p:spPr>
          <a:xfrm>
            <a:off x="7068312" y="1170432"/>
            <a:ext cx="1828800" cy="219456"/>
          </a:xfrm>
          <a:prstGeom prst="rect">
            <a:avLst/>
          </a:prstGeom>
          <a:noFill/>
        </p:spPr>
        <p:txBody>
          <a:bodyPr wrap="none">
            <a:spAutoFit/>
          </a:bodyPr>
          <a:lstStyle/>
          <a:p>
            <a:pPr algn="r"/>
            <a:r>
              <a:rPr sz="1000" b="1" i="0">
                <a:solidFill>
                  <a:srgbClr val="44BB44"/>
                </a:solidFill>
                <a:latin typeface="Calibri"/>
              </a:rPr>
              <a:t>~$153.7K</a:t>
            </a:r>
          </a:p>
        </p:txBody>
      </p:sp>
      <p:sp>
        <p:nvSpPr>
          <p:cNvPr id="35" name="TextBox 34"/>
          <p:cNvSpPr txBox="1"/>
          <p:nvPr/>
        </p:nvSpPr>
        <p:spPr>
          <a:xfrm>
            <a:off x="4736592" y="1399032"/>
            <a:ext cx="2286000" cy="219456"/>
          </a:xfrm>
          <a:prstGeom prst="rect">
            <a:avLst/>
          </a:prstGeom>
          <a:noFill/>
        </p:spPr>
        <p:txBody>
          <a:bodyPr wrap="none">
            <a:spAutoFit/>
          </a:bodyPr>
          <a:lstStyle/>
          <a:p>
            <a:pPr algn="l"/>
            <a:r>
              <a:rPr sz="1000" b="0" i="0">
                <a:solidFill>
                  <a:srgbClr val="CCCCCC"/>
                </a:solidFill>
                <a:latin typeface="Calibri"/>
              </a:rPr>
              <a:t>At close  (books corrected):</a:t>
            </a:r>
          </a:p>
        </p:txBody>
      </p:sp>
      <p:sp>
        <p:nvSpPr>
          <p:cNvPr id="36" name="TextBox 35"/>
          <p:cNvSpPr txBox="1"/>
          <p:nvPr/>
        </p:nvSpPr>
        <p:spPr>
          <a:xfrm>
            <a:off x="7068312" y="1399032"/>
            <a:ext cx="1828800" cy="219456"/>
          </a:xfrm>
          <a:prstGeom prst="rect">
            <a:avLst/>
          </a:prstGeom>
          <a:noFill/>
        </p:spPr>
        <p:txBody>
          <a:bodyPr wrap="none">
            <a:spAutoFit/>
          </a:bodyPr>
          <a:lstStyle/>
          <a:p>
            <a:pPr algn="r"/>
            <a:r>
              <a:rPr sz="1000" b="1" i="0">
                <a:solidFill>
                  <a:srgbClr val="FFCC44"/>
                </a:solidFill>
                <a:latin typeface="Calibri"/>
              </a:rPr>
              <a:t>~$189.5K</a:t>
            </a:r>
          </a:p>
        </p:txBody>
      </p:sp>
      <p:sp>
        <p:nvSpPr>
          <p:cNvPr id="37" name="TextBox 36"/>
          <p:cNvSpPr txBox="1"/>
          <p:nvPr/>
        </p:nvSpPr>
        <p:spPr>
          <a:xfrm>
            <a:off x="4736592" y="1627632"/>
            <a:ext cx="2286000" cy="219456"/>
          </a:xfrm>
          <a:prstGeom prst="rect">
            <a:avLst/>
          </a:prstGeom>
          <a:noFill/>
        </p:spPr>
        <p:txBody>
          <a:bodyPr wrap="none">
            <a:spAutoFit/>
          </a:bodyPr>
          <a:lstStyle/>
          <a:p>
            <a:pPr algn="l"/>
            <a:r>
              <a:rPr sz="1000" b="0" i="0">
                <a:solidFill>
                  <a:srgbClr val="CCCCCC"/>
                </a:solidFill>
                <a:latin typeface="Calibri"/>
              </a:rPr>
              <a:t>5-year base:</a:t>
            </a:r>
          </a:p>
        </p:txBody>
      </p:sp>
      <p:sp>
        <p:nvSpPr>
          <p:cNvPr id="38" name="TextBox 37"/>
          <p:cNvSpPr txBox="1"/>
          <p:nvPr/>
        </p:nvSpPr>
        <p:spPr>
          <a:xfrm>
            <a:off x="7068312" y="1627632"/>
            <a:ext cx="1828800" cy="219456"/>
          </a:xfrm>
          <a:prstGeom prst="rect">
            <a:avLst/>
          </a:prstGeom>
          <a:noFill/>
        </p:spPr>
        <p:txBody>
          <a:bodyPr wrap="none">
            <a:spAutoFit/>
          </a:bodyPr>
          <a:lstStyle/>
          <a:p>
            <a:pPr algn="r"/>
            <a:r>
              <a:rPr sz="1000" b="1" i="0">
                <a:solidFill>
                  <a:srgbClr val="FFCC44"/>
                </a:solidFill>
                <a:latin typeface="Calibri"/>
              </a:rPr>
              <a:t>~$527K</a:t>
            </a:r>
          </a:p>
        </p:txBody>
      </p:sp>
      <p:sp>
        <p:nvSpPr>
          <p:cNvPr id="39" name="TextBox 38"/>
          <p:cNvSpPr txBox="1"/>
          <p:nvPr/>
        </p:nvSpPr>
        <p:spPr>
          <a:xfrm>
            <a:off x="4736592" y="1856232"/>
            <a:ext cx="2286000" cy="219456"/>
          </a:xfrm>
          <a:prstGeom prst="rect">
            <a:avLst/>
          </a:prstGeom>
          <a:noFill/>
        </p:spPr>
        <p:txBody>
          <a:bodyPr wrap="none">
            <a:spAutoFit/>
          </a:bodyPr>
          <a:lstStyle/>
          <a:p>
            <a:pPr algn="l"/>
            <a:r>
              <a:rPr sz="1000" b="0" i="0">
                <a:solidFill>
                  <a:srgbClr val="CCCCCC"/>
                </a:solidFill>
                <a:latin typeface="Calibri"/>
              </a:rPr>
              <a:t>Paid in (est., ~$49.1K):</a:t>
            </a:r>
          </a:p>
        </p:txBody>
      </p:sp>
      <p:sp>
        <p:nvSpPr>
          <p:cNvPr id="40" name="TextBox 39"/>
          <p:cNvSpPr txBox="1"/>
          <p:nvPr/>
        </p:nvSpPr>
        <p:spPr>
          <a:xfrm>
            <a:off x="7068312" y="1856232"/>
            <a:ext cx="1828800" cy="219456"/>
          </a:xfrm>
          <a:prstGeom prst="rect">
            <a:avLst/>
          </a:prstGeom>
          <a:noFill/>
        </p:spPr>
        <p:txBody>
          <a:bodyPr wrap="none">
            <a:spAutoFit/>
          </a:bodyPr>
          <a:lstStyle/>
          <a:p>
            <a:pPr algn="r"/>
            <a:r>
              <a:rPr sz="1000" b="1" i="0">
                <a:solidFill>
                  <a:srgbClr val="CCCCCC"/>
                </a:solidFill>
                <a:latin typeface="Calibri"/>
              </a:rPr>
              <a:t>10.7× return at 5-yr base</a:t>
            </a:r>
          </a:p>
        </p:txBody>
      </p:sp>
      <p:sp>
        <p:nvSpPr>
          <p:cNvPr id="41" name="TextBox 40"/>
          <p:cNvSpPr txBox="1"/>
          <p:nvPr/>
        </p:nvSpPr>
        <p:spPr>
          <a:xfrm>
            <a:off x="4736592" y="2121408"/>
            <a:ext cx="4160520" cy="384048"/>
          </a:xfrm>
          <a:prstGeom prst="rect">
            <a:avLst/>
          </a:prstGeom>
          <a:noFill/>
        </p:spPr>
        <p:txBody>
          <a:bodyPr wrap="square">
            <a:spAutoFit/>
          </a:bodyPr>
          <a:lstStyle/>
          <a:p>
            <a:pPr algn="l"/>
            <a:r>
              <a:rPr sz="1000" b="0" i="1">
                <a:solidFill>
                  <a:srgbClr val="FFCC44"/>
                </a:solidFill>
                <a:latin typeface="Calibri"/>
              </a:rPr>
              <a:t>⚠ SSLC’s 6/3/2026 ledger lists only 29K shares (cert #43); cert #3 (44K) is missing.
Motion 2 corrects the share register.</a:t>
            </a:r>
          </a:p>
        </p:txBody>
      </p:sp>
      <p:sp>
        <p:nvSpPr>
          <p:cNvPr id="42" name="Rectangle 41"/>
          <p:cNvSpPr/>
          <p:nvPr/>
        </p:nvSpPr>
        <p:spPr>
          <a:xfrm>
            <a:off x="0" y="2596896"/>
            <a:ext cx="9144000" cy="877824"/>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5074920" y="2834639"/>
            <a:ext cx="1645920" cy="201168"/>
          </a:xfrm>
          <a:prstGeom prst="rect">
            <a:avLst/>
          </a:prstGeom>
          <a:noFill/>
        </p:spPr>
        <p:txBody>
          <a:bodyPr wrap="none">
            <a:spAutoFit/>
          </a:bodyPr>
          <a:lstStyle/>
          <a:p>
            <a:pPr algn="r"/>
            <a:r>
              <a:rPr sz="1000" b="1" i="0">
                <a:solidFill>
                  <a:srgbClr val="DD4444"/>
                </a:solidFill>
                <a:latin typeface="Calibri"/>
              </a:rPr>
              <a:t>Per 1%: −$5.5K</a:t>
            </a:r>
          </a:p>
        </p:txBody>
      </p:sp>
      <p:sp>
        <p:nvSpPr>
          <p:cNvPr id="47" name="TextBox 46"/>
          <p:cNvSpPr txBox="1"/>
          <p:nvPr/>
        </p:nvSpPr>
        <p:spPr>
          <a:xfrm>
            <a:off x="67482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6931152" y="2834639"/>
            <a:ext cx="1920240" cy="201168"/>
          </a:xfrm>
          <a:prstGeom prst="rect">
            <a:avLst/>
          </a:prstGeom>
          <a:noFill/>
        </p:spPr>
        <p:txBody>
          <a:bodyPr wrap="none">
            <a:spAutoFit/>
          </a:bodyPr>
          <a:lstStyle/>
          <a:p>
            <a:pPr algn="r"/>
            <a:r>
              <a:rPr sz="1000" b="1" i="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5074920" y="3090672"/>
            <a:ext cx="1645920" cy="201168"/>
          </a:xfrm>
          <a:prstGeom prst="rect">
            <a:avLst/>
          </a:prstGeom>
          <a:noFill/>
        </p:spPr>
        <p:txBody>
          <a:bodyPr wrap="none">
            <a:spAutoFit/>
          </a:bodyPr>
          <a:lstStyle/>
          <a:p>
            <a:pPr algn="r"/>
            <a:r>
              <a:rPr sz="1000" b="1" i="0">
                <a:solidFill>
                  <a:srgbClr val="DD4444"/>
                </a:solidFill>
                <a:latin typeface="Calibri"/>
              </a:rPr>
              <a:t>Per 1%: −$11.8K</a:t>
            </a:r>
          </a:p>
        </p:txBody>
      </p:sp>
      <p:sp>
        <p:nvSpPr>
          <p:cNvPr id="51" name="TextBox 50"/>
          <p:cNvSpPr txBox="1"/>
          <p:nvPr/>
        </p:nvSpPr>
        <p:spPr>
          <a:xfrm>
            <a:off x="67482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6931152" y="3090672"/>
            <a:ext cx="1920240" cy="201168"/>
          </a:xfrm>
          <a:prstGeom prst="rect">
            <a:avLst/>
          </a:prstGeom>
          <a:noFill/>
        </p:spPr>
        <p:txBody>
          <a:bodyPr wrap="none">
            <a:spAutoFit/>
          </a:bodyPr>
          <a:lstStyle/>
          <a:p>
            <a:pPr algn="r"/>
            <a:r>
              <a:rPr sz="1000" b="1" i="0">
                <a:solidFill>
                  <a:srgbClr val="DD4444"/>
                </a:solidFill>
                <a:latin typeface="Calibri"/>
              </a:rPr>
              <a:t>Conger: −$98.7K  (Microcosm would owe SSLC)</a:t>
            </a: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DECLINE</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~$18–23K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$0 per 1% at book value today (−$1.44M equity)</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~$63K per 1% over 5 years (Structure A)</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  funding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p/>
        </p:txBody>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p/>
        </p:txBody>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p/>
        </p:txBody>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p/>
        </p:txBody>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p/>
        </p:txBody>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p/>
        </p:txBody>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1000" dirty="0">
                <a:solidFill>
                  <a:srgbClr val="CCCCCC"/>
                </a:solidFill>
              </a:rPr>
              <a:t>5% of IM tank revenue/yr</a:t>
            </a:r>
            <a:endParaRPr lang="en-US" sz="900" dirty="0"/>
          </a:p>
          <a:p>
            <a:pPr algn="l" indent="0" marL="0">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p/>
        </p:txBody>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1000" dirty="0">
                <a:solidFill>
                  <a:srgbClr val="CCCCCC"/>
                </a:solidFill>
              </a:rPr>
              <a:t>Revenue SSLC achieves</a:t>
            </a:r>
            <a:endParaRPr lang="en-US" sz="900" dirty="0"/>
          </a:p>
          <a:p>
            <a:pPr algn="l" indent="0" marL="0">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p/>
        </p:txBody>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1000" dirty="0">
                <a:solidFill>
                  <a:srgbClr val="F26A21"/>
                </a:solidFill>
              </a:rPr>
              <a:t>$3.0M/yr</a:t>
            </a:r>
            <a:endParaRPr lang="en-US" sz="900" dirty="0"/>
          </a:p>
          <a:p>
            <a:pPr algn="ctr" indent="0" marL="0">
              <a:buNone/>
            </a:pPr>
            <a:r>
              <a:rPr lang="en-US" sz="1000" dirty="0">
                <a:solidFill>
                  <a:srgbClr val="F26A21"/>
                </a:solidFill>
              </a:rPr>
              <a:t>→$150K/yr</a:t>
            </a:r>
            <a:endParaRPr lang="en-US" sz="900" dirty="0"/>
          </a:p>
          <a:p>
            <a:pPr algn="ctr" indent="0" marL="0">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1000" dirty="0">
                <a:solidFill>
                  <a:srgbClr val="F26A21"/>
                </a:solidFill>
              </a:rPr>
              <a:t>$5.0M/yr</a:t>
            </a:r>
            <a:endParaRPr lang="en-US" sz="900" dirty="0"/>
          </a:p>
          <a:p>
            <a:pPr algn="ctr" indent="0" marL="0">
              <a:buNone/>
            </a:pPr>
            <a:r>
              <a:rPr lang="en-US" sz="1000" dirty="0">
                <a:solidFill>
                  <a:srgbClr val="F26A21"/>
                </a:solidFill>
              </a:rPr>
              <a:t>→$250K/yr</a:t>
            </a:r>
            <a:endParaRPr lang="en-US" sz="900" dirty="0"/>
          </a:p>
          <a:p>
            <a:pPr algn="ctr" indent="0" marL="0">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p/>
        </p:txBody>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1000" dirty="0">
                <a:solidFill>
                  <a:srgbClr val="F26A21"/>
                </a:solidFill>
              </a:rPr>
              <a:t>$6.0M+/yr</a:t>
            </a:r>
            <a:endParaRPr lang="en-US" sz="900" dirty="0"/>
          </a:p>
          <a:p>
            <a:pPr algn="ctr" indent="0" marL="0">
              <a:buNone/>
            </a:pPr>
            <a:r>
              <a:rPr lang="en-US" sz="1000" dirty="0">
                <a:solidFill>
                  <a:srgbClr val="F26A21"/>
                </a:solidFill>
              </a:rPr>
              <a:t>→$300K/yr (cap)</a:t>
            </a:r>
            <a:endParaRPr lang="en-US" sz="900" dirty="0"/>
          </a:p>
          <a:p>
            <a:pPr algn="ctr" indent="0" marL="0">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p/>
        </p:txBody>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1000" dirty="0">
                <a:solidFill>
                  <a:srgbClr val="F26A21"/>
                </a:solidFill>
              </a:rPr>
              <a:t>Annual</a:t>
            </a:r>
            <a:endParaRPr lang="en-US" sz="900" dirty="0"/>
          </a:p>
          <a:p>
            <a:pPr algn="ctr" indent="0" marL="0">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p/>
        </p:txBody>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p/>
        </p:txBody>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p/>
        </p:txBody>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p/>
        </p:txBody>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p/>
        </p:txBody>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p/>
        </p:txBody>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p/>
        </p:txBody>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p/>
        </p:txBody>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p/>
        </p:txBody>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p/>
        </p:txBody>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p/>
        </p:txBody>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p/>
        </p:txBody>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p/>
        </p:txBody>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p/>
        </p:txBody>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p/>
        </p:txBody>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p/>
        </p:txBody>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p/>
        </p:txBody>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p/>
        </p:txBody>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p/>
        </p:txBody>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p/>
        </p:txBody>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p/>
        </p:txBody>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p/>
        </p:txBody>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p/>
        </p:txBody>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p/>
        </p:txBody>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p/>
        </p:txBody>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1000" dirty="0">
                <a:solidFill>
                  <a:srgbClr val="CCCCCC"/>
                </a:solidFill>
              </a:rPr>
              <a:t>M5  50% reduction in tank build cost</a:t>
            </a:r>
            <a:endParaRPr lang="en-US" sz="900" dirty="0"/>
          </a:p>
          <a:p>
            <a:pPr algn="l" indent="0" marL="0">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p/>
        </p:txBody>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1000" dirty="0">
                <a:solidFill>
                  <a:srgbClr val="CCCCCC"/>
                </a:solidFill>
              </a:rPr>
              <a:t>50% cost reduction proven</a:t>
            </a:r>
            <a:endParaRPr lang="en-US" sz="900" dirty="0"/>
          </a:p>
          <a:p>
            <a:pPr algn="l" indent="0" marL="0">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p/>
        </p:txBody>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p/>
        </p:txBody>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p/>
        </p:txBody>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p/>
        </p:txBody>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p/>
        </p:txBody>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1000" dirty="0">
                <a:solidFill>
                  <a:srgbClr val="CCCCCC"/>
                </a:solidFill>
              </a:rPr>
              <a:t>Exos stock earn-out at RTO listing</a:t>
            </a:r>
            <a:endParaRPr lang="en-US" sz="900" dirty="0"/>
          </a:p>
          <a:p>
            <a:pPr algn="l" indent="0" marL="0">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p/>
        </p:txBody>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p/>
        </p:txBody>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p/>
        </p:txBody>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p/>
        </p:txBody>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p/>
        </p:txBody>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p/>
        </p:txBody>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p/>
        </p:txBody>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p/>
        </p:txBody>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p/>
        </p:txBody>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p/>
        </p:txBody>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p/>
        </p:txBody>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r>
              <a:rPr sz="1000" b="0" i="0">
                <a:solidFill>
                  <a:srgbClr val="FFFFFF"/>
                </a:solidFill>
                <a:latin typeface="Calibri"/>
              </a:rPr>
              <a:t/>
            </a: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$4.86M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~2.5×</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~0.95×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$5.8M – $9.0M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~3.0–4.7×</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~1.1–1.8×</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$18.9M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~9.8×</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~3.7×</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$18.9M maximum this offer projects (if Exos stock is held to 2031). Not a guarantee; "projects" is the operative word.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p/>
        </p:txBody>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p/>
        </p:txBody>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p/>
        </p:txBody>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p/>
        </p:txBody>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200" b="1" dirty="0">
                <a:solidFill>
                  <a:srgbClr val="F26A21"/>
                </a:solidFill>
              </a:rPr>
              <a:t>Five motions today: approve offer + §3 exclusivity + ROFR  →  90-day window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350922"/>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2378354"/>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378354"/>
            <a:ext cx="914400" cy="201168"/>
          </a:xfrm>
          <a:prstGeom prst="rect">
            <a:avLst/>
          </a:prstGeom>
          <a:noFill/>
        </p:spPr>
        <p:txBody>
          <a:bodyPr wrap="square">
            <a:spAutoFit/>
          </a:bodyPr>
          <a:lstStyle/>
          <a:p>
            <a:pPr algn="r"/>
            <a:r>
              <a:rPr sz="1100" b="1" i="0">
                <a:solidFill>
                  <a:srgbClr val="F26A21"/>
                </a:solidFill>
                <a:latin typeface="Calibri"/>
              </a:rPr>
              <a:t>~$1.51M</a:t>
            </a:r>
          </a:p>
        </p:txBody>
      </p:sp>
      <p:sp>
        <p:nvSpPr>
          <p:cNvPr id="30" name="TextBox 29"/>
          <p:cNvSpPr txBox="1"/>
          <p:nvPr/>
        </p:nvSpPr>
        <p:spPr>
          <a:xfrm>
            <a:off x="274320" y="2588666"/>
            <a:ext cx="3154679" cy="169164"/>
          </a:xfrm>
          <a:prstGeom prst="rect">
            <a:avLst/>
          </a:prstGeom>
          <a:noFill/>
        </p:spPr>
        <p:txBody>
          <a:bodyPr wrap="square">
            <a:spAutoFit/>
          </a:bodyPr>
          <a:lstStyle/>
          <a:p>
            <a:pPr algn="l"/>
            <a:r>
              <a:rPr sz="1000" b="0" i="0">
                <a:solidFill>
                  <a:srgbClr val="CCCCCC"/>
                </a:solidFill>
                <a:latin typeface="Calibri"/>
              </a:rPr>
              <a:t>+ Exos stock (EAI units, Rule 504, 409A)</a:t>
            </a:r>
          </a:p>
        </p:txBody>
      </p:sp>
      <p:sp>
        <p:nvSpPr>
          <p:cNvPr id="31" name="TextBox 30"/>
          <p:cNvSpPr txBox="1"/>
          <p:nvPr/>
        </p:nvSpPr>
        <p:spPr>
          <a:xfrm>
            <a:off x="3474719" y="2588666"/>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748686"/>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748686"/>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2908706"/>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2908706"/>
            <a:ext cx="914400" cy="169164"/>
          </a:xfrm>
          <a:prstGeom prst="rect">
            <a:avLst/>
          </a:prstGeom>
          <a:noFill/>
        </p:spPr>
        <p:txBody>
          <a:bodyPr wrap="square">
            <a:spAutoFit/>
          </a:bodyPr>
          <a:lstStyle/>
          <a:p>
            <a:pPr algn="r"/>
            <a:r>
              <a:rPr sz="1000" b="0" i="0">
                <a:solidFill>
                  <a:srgbClr val="44BB44"/>
                </a:solidFill>
                <a:latin typeface="Calibri"/>
              </a:rPr>
              <a:t>+$2,525,000</a:t>
            </a:r>
          </a:p>
        </p:txBody>
      </p:sp>
      <p:sp>
        <p:nvSpPr>
          <p:cNvPr id="36" name="Rectangle 35"/>
          <p:cNvSpPr/>
          <p:nvPr/>
        </p:nvSpPr>
        <p:spPr>
          <a:xfrm>
            <a:off x="274320" y="3077870"/>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3105302"/>
            <a:ext cx="3154679" cy="228600"/>
          </a:xfrm>
          <a:prstGeom prst="rect">
            <a:avLst/>
          </a:prstGeom>
          <a:noFill/>
        </p:spPr>
        <p:txBody>
          <a:bodyPr wrap="square">
            <a:spAutoFit/>
          </a:bodyPr>
          <a:lstStyle/>
          <a:p>
            <a:pPr algn="l"/>
            <a:r>
              <a:rPr sz="1000" b="1" i="0">
                <a:solidFill>
                  <a:srgbClr val="FFFFFF"/>
                </a:solidFill>
                <a:latin typeface="Calibri"/>
              </a:rPr>
              <a:t>~5-year total to SSLC shareholders</a:t>
            </a:r>
          </a:p>
        </p:txBody>
      </p:sp>
      <p:sp>
        <p:nvSpPr>
          <p:cNvPr id="38" name="TextBox 37"/>
          <p:cNvSpPr txBox="1"/>
          <p:nvPr/>
        </p:nvSpPr>
        <p:spPr>
          <a:xfrm>
            <a:off x="3383279" y="3105302"/>
            <a:ext cx="1005840" cy="228600"/>
          </a:xfrm>
          <a:prstGeom prst="rect">
            <a:avLst/>
          </a:prstGeom>
          <a:noFill/>
        </p:spPr>
        <p:txBody>
          <a:bodyPr wrap="square">
            <a:spAutoFit/>
          </a:bodyPr>
          <a:lstStyle/>
          <a:p>
            <a:pPr algn="r"/>
            <a:r>
              <a:rPr sz="1300" b="1" i="0">
                <a:solidFill>
                  <a:srgbClr val="F26A21"/>
                </a:solidFill>
                <a:latin typeface="Calibri"/>
              </a:rPr>
              <a:t>~$5.16M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 stock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~$2.5M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incl. earn-outs</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~$5.2M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11× at close / 23×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$1.28M–$1.74M; 5-yr $3.4M–$7.0M.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3095244"/>
            <a:ext cx="4133087" cy="923544"/>
          </a:xfrm>
          <a:prstGeom prst="rect">
            <a:avLst/>
          </a:prstGeom>
          <a:noFill/>
        </p:spPr>
        <p:txBody>
          <a:bodyPr wrap="square">
            <a:spAutoFit/>
          </a:bodyPr>
          <a:lstStyle/>
          <a:p>
            <a:r>
              <a:rPr sz="1000" b="1">
                <a:solidFill>
                  <a:srgbClr val="FFEE88"/>
                </a:solidFill>
                <a:latin typeface="Calibri"/>
              </a:rPr>
              <a:t>Microcosm's 50% facility costs, Jul 2024–Aug 2026: ~$351K</a:t>
            </a:r>
          </a:p>
          <a:p>
            <a:r>
              <a:rPr sz="1000" b="0">
                <a:solidFill>
                  <a:srgbClr val="CCCCCC"/>
                </a:solidFill>
                <a:latin typeface="Calibri"/>
              </a:rPr>
              <a:t>  (rent ~$316K + utilities ~$35K). Not credited vs. $451K owed to Microcosm.</a:t>
            </a:r>
          </a:p>
          <a:p>
            <a:r>
              <a:rPr sz="1000" b="1">
                <a:solidFill>
                  <a:srgbClr val="FFEE88"/>
                </a:solidFill>
                <a:latin typeface="Calibri"/>
              </a:rPr>
              <a:t>If applied: SSLC holders' cash at close ~$1.51M → ~$1.86M (base case).</a:t>
            </a:r>
          </a:p>
          <a:p>
            <a:r>
              <a:rPr sz="1000" b="1">
                <a:solidFill>
                  <a:srgbClr val="FFEE88"/>
                </a:solidFill>
                <a:latin typeface="Calibri"/>
              </a:rPr>
              <a:t>'Due to Microcosm' falls to ~$100K.</a:t>
            </a:r>
          </a:p>
          <a:p>
            <a:r>
              <a:rPr sz="1000" b="1">
                <a:solidFill>
                  <a:srgbClr val="FFEE88"/>
                </a:solidFill>
                <a:latin typeface="Calibri"/>
              </a:rPr>
              <a:t>Equity improves: -$1.44M to ~-$1.09M.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and Grant a ROFR</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sz="1000" b="0" i="0">
                <a:solidFill>
                  <a:srgbClr val="CCCCCC"/>
                </a:solidFill>
                <a:latin typeface="Calibri"/>
              </a:rPr>
              <a:t>The Board approves the Exos offer (Option B terms), confirms Exos's 90-day §3 exclusivity</a:t>
            </a:r>
          </a:p>
          <a:p>
            <a:r>
              <a:rPr sz="1000" b="0" i="0">
                <a:solidFill>
                  <a:srgbClr val="CCCCCC"/>
                </a:solidFill>
                <a:latin typeface="Calibri"/>
              </a:rPr>
              <a:t>under the May 2025 Asset Acquisition Agreement, and grants Exos a right of first refusal</a:t>
            </a:r>
          </a:p>
          <a:p>
            <a:r>
              <a:rPr sz="1000" b="0" i="0">
                <a:solidFill>
                  <a:srgbClr val="CCCCCC"/>
                </a:solidFill>
                <a:latin typeface="Calibri"/>
              </a:rPr>
              <a:t>on any sale of SSLC's assets or a controlling interest.</a:t>
            </a:r>
          </a:p>
          <a:p>
            <a:r>
              <a:rPr sz="1000" b="0" i="0">
                <a:solidFill>
                  <a:srgbClr val="CCCCCC"/>
                </a:solidFill>
                <a:latin typeface="Calibri"/>
              </a:rPr>
              <a:t>ROFR term: 6 months from approval; auto-extends while a definitive APA is under negotiation.</a:t>
            </a:r>
          </a:p>
          <a:p>
            <a:r>
              <a:rPr sz="1000" b="0" i="0">
                <a:solidFill>
                  <a:srgbClr val="CCCCCC"/>
                </a:solidFill>
                <a:latin typeface="Calibri"/>
              </a:rPr>
              <a:t>Extension not unreasonably withheld.   Target financing close: February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a:solidFill>
                  <a:srgbClr val="CCCCCC"/>
                </a:solidFill>
                <a:latin typeface="Calibri"/>
              </a:rPr>
              <a:t>Authorize Exos to use the QB data to evaluate compatible ERP/MRP and inventory systems.</a:t>
            </a:r>
          </a:p>
          <a:p>
            <a:r>
              <a:rPr sz="1000" b="0" i="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Slides 1-4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p/>
        </p:txBody>
      </p:sp>
      <p:sp>
        <p:nvSpPr>
          <p:cNvPr id="5" name="Shape 2"/>
          <p:cNvSpPr/>
          <p:nvPr/>
        </p:nvSpPr>
        <p:spPr>
          <a:xfrm>
            <a:off x="1024128" y="1426464"/>
            <a:ext cx="0" cy="201168"/>
          </a:xfrm>
          <a:prstGeom prst="line">
            <a:avLst/>
          </a:prstGeom>
          <a:noFill/>
          <a:ln w="12700">
            <a:solidFill>
              <a:srgbClr val="F26A21"/>
            </a:solidFill>
            <a:prstDash val="solid"/>
          </a:ln>
        </p:spPr>
        <p:txBody>
          <a:body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p/>
        </p:txBody>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p/>
        </p:txBody>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p/>
        </p:txBody>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p/>
        </p:txBody>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p/>
        </p:txBody>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txBody>
          <a:bodyPr/>
          <a:p/>
        </p:txBody>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000" b="1" dirty="0">
                <a:solidFill>
                  <a:srgbClr val="F26A21"/>
                </a:solidFill>
              </a:rPr>
              <a:t>The Board is asked today to vote on Motions 1–5: approving the Exos offer and granting exclusivity + ROFR (Motion 1), QB access (Motion 2), accounting correction (Motion 3), and ERP evaluation (Motion 4). Declining Motion 1 is a judgment that SSLC alone — without new capital — is more likely to create more than the $18.9M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