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rafts/_exos_white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3017520" cy="104145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33172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Space Vehicle Reusable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1605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Pressurized Structures built on moon-proven, TRL-9 Type-V tanks from our partner SSLC — the enabling base for reusable spaceflight.</a:t>
            </a:r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Investor Presentation   ·   October 2026   ·   Proprietary — Unclassified   ·   Not an offer of securities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economy runs on tanks — and flight-grade supply is scarce.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1460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launch vehicle, lunar lander, orbital-transfer vehicle, and commercial station needs flight-grade cryogenic tanks and pressure structures. The industry delivers them in ~2 years, single-sourced. Exos integrates moon-proven, TRL-9 Type-V tanks from partner SSLC (first lunar-lander tank set delivered in ~90 days), sells SSLC tank hardware as its channel, and is assembling the capacity under the rest of the defense industrial base: SRM cases, pressure structures, detonation engines.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75488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integrate the production layer.
</a:t>
            </a:r>
            <a:endParaRPr lang="en-US" sz="20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Moon-proven tanks from our partner, then the capacity beneath everything the space economy and the DIB can't make fast enough — cheaper, lighter, on U.S. soil.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772400" y="24688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772400" y="26974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$1T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35661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cryogenic-tank TAM by 2030 (from ~$640B) — plus the $20T physical economy beneath it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 can't produce what it needs — fast enough, cheaply enough, or at home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457200" cy="45720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3317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Solid-rocket-motor cases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69748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Single-source, ~2-year lead times, aging capacity — the munitions build-rate the Navy/DIB needs is out of reach today.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457200" cy="45720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85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657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Cryogenic tanks &amp; pressure structures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402336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 economy and hypersonics demand flight-grade tanks in weeks, not years.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5029200"/>
            <a:ext cx="457200" cy="45720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85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98348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Detonation engines (RDRE)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349240"/>
            <a:ext cx="6492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propulsion the DoD wants flown — with no scaled domestic producer.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2377440"/>
            <a:ext cx="3291840" cy="3703320"/>
          </a:xfrm>
          <a:prstGeom prst="roundRect">
            <a:avLst>
              <a:gd name="adj" fmla="val 2222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0" y="2834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5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657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/ year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411480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surge production the Navy / DIB has signaled it needs — versus the fragmented capacity that exists today.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YEARS OF DOING WHAT OTHERS ONLY PROMISE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that has flown, recovered, and re-flown — for two decades</a:t>
            </a:r>
            <a:endParaRPr lang="en-US" sz="2400" dirty="0"/>
          </a:p>
        </p:txBody>
      </p:sp>
      <p:pic>
        <p:nvPicPr>
          <p:cNvPr id="4" name="Image 0" descr="media/inbound/openclaw-staged-68ea7fa7-a2be-4b50-832c-c73503dd44d9/image---110065bb-4b5e-4d43-a5f0-68b2f89d9a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508" y="1417320"/>
            <a:ext cx="8072504" cy="4572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Armadillo Aerospace (John Carmack) → Lunar Lander Challenge → SARGE reusable flights → USAF/DoD contracts → SSLC tank partnership (moon-flown Type-V; 18% equity) → RDRE → a clear path to public markets and exit.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EXOS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not promise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487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SARGE launches / recoveries (2018–19) — reflight demonstrated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22860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93592" y="2487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 · $5.7M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&amp; spend that did it — peers spent hundreds of millions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22860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364224" y="2487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TRL-9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SSLC's Type-V cryo tanks flown on Intuitive Machines' lunar landers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228600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34856" y="248716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$2.6B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on the AEDC Velocity Alliance test consortium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3434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the cost. A fraction of the parts. BLK3 flies with &lt;3,000 components vs. ~80,000 for peers; SSLC delivered the first moon-lander tank set in ~90 days vs. an industry two years; Exos sells SSLC tanks at a 15% commission.</a:t>
            </a:r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Moon-proven tank access, run by an AI-native operating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231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Moon-proven, TRL-9 tank partner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 (Scorpius) Type-5 linerless cryo tanks flew as fuel + LOX tanks on Intuitive Machines' Odysseus &amp; Athena landers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 tanks are the baseline tank set for IM's Nebula orbital-transfer vehicle — IM lander backlog ~$4.1B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buys and integrates SSLC tanks into Integrated Pressurized Structures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is SSLC's tank sales channel — 15% commission at SSLC's own price, no markup — and holds 18% passive equity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24028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46520" y="24231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operating moat — Mission Control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9260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record, the 4th of Exos's four core assets — the AI-deployed operating platform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~125 governed automated agents across BD, finance, compliance; ~7,000 CRM contacts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public-grade cadence of programs and lights-out production without a public-company G&amp;A stack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autonomy with a full audit trail — operating leverage, not a black box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don't build one product. We own the capacity under all of them.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719072" y="2560320"/>
            <a:ext cx="548640" cy="54864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71907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robots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7033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partners' idle, single-shift facilities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33172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462272" y="2560320"/>
            <a:ext cx="548640" cy="54864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46227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lights-out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7033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~$30M of equipment they already own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33172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205472" y="2560320"/>
            <a:ext cx="548640" cy="54864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20547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producer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7033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their acquirer — Exos secures the IP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2331720"/>
            <a:ext cx="2615184" cy="2194560"/>
          </a:xfrm>
          <a:prstGeom prst="roundRect">
            <a:avLst>
              <a:gd name="adj" fmla="val 3333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948672" y="2560320"/>
            <a:ext cx="548640" cy="54864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948672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3246120"/>
            <a:ext cx="2340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098280" y="370332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 ~75% of U.S. winding capacity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80060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capability-gap ledger — acquire / build / license / partner.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culled 137 companies → 7 finalists filling 9 mapped gaps, aggregating to the ~1,000-unit volume the DIB needs. Own the machines before the AI-materials breakthrough hits (casing 50→13 lb; materials $10→$0.10) and you own the base.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generational tailwind — and we sit under all of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5786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$1.7T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U.S. defense budget — re-industrialization is national priority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56432" y="2377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93592" y="25786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$1T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cryogenic-tank TAM by 2030 (from ~$640B)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27064" y="2377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364224" y="25786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~$100B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/ missile production white 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97696" y="23774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134856" y="257860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$4.1B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Machines lunar-lander backlog our tank partner SSLC supplies into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4348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Defense-tech capital is at record highs and family offices are writing $25M+ checks into dual-use hard-tech. The scarce trade isn't another software play — it's the physical infrastructure almost no one can build.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at the unit — and a consortium that compounds 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that carry the story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~½ the cost, lighter, fewer parts (integrated pressurized structures)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~$12.5K/kg vs. Rocket Lab ~$25K/kg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 tank channel: 15% commission on SSLC tanks Exos sells (no customer markup) + an effective 15% rebate on SSLC tanks Exos buys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Flight-test-as-a-service: orbital developers prove avionics/GNC/materials before risking a &gt;$50M vehicle — recurring, high-margin</a:t>
            </a:r>
            <a:endParaRPr lang="en-US" sz="1150" dirty="0"/>
          </a:p>
          <a:p>
            <a:pPr marL="177800" indent="-177800">
              <a:lnSpc>
                <a:spcPts val="165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RDRE built ~$20K vs. a ~$300K market price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257800" cy="2743200"/>
          </a:xfrm>
          <a:prstGeom prst="roundRect">
            <a:avLst>
              <a:gd name="adj" fmla="val 2667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4652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revenue bridge — stated honestly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9260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(management-prepared): revenue $3.9M (FY27) → $103.6M (FY31)</a:t>
            </a:r>
            <a:endParaRPr lang="en-US" sz="1250" dirty="0"/>
          </a:p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positive from FY29; $55.9M in FY31 — no SSLC acquisition or consolidated SSLC revenue assumed</a:t>
            </a:r>
            <a:endParaRPr lang="en-US" sz="1250" dirty="0"/>
          </a:p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grew $500K → $150M identified in 9 months — capital converts it</a:t>
            </a:r>
            <a:endParaRPr lang="en-US" sz="1250" dirty="0"/>
          </a:p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 commission economics (incl. rebate) $68.1K (FY27) → $375K (FY31) — a capital-light channel, not a revenue driver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consortium adds capacity and revenue on top of the base case through JVs, licensing, supply and channel agreements, and selective acquisitions. FY = July–June; projections are management-prepared, not audited.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public-market path already in motion — with control retained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286000"/>
            <a:ext cx="66751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public via reverse takeover into a clean, U.S. exchange-listed shell — with a verifiable track record and clean EDGAR provenance required before any mandate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raise: ~$15M cash at close → +$25–50M on milestone news → $70–80M target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retain voting control in writing; charter foreign-ownership cap ≤10% with a funded corrective buyback — no SSA/FOCI, CFIUS-clean, ITAR intact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Near-term, non-dilutive-leaning capital via an Office of Strategic Capital note (5–6%) + Title III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35240" y="2286000"/>
            <a:ext cx="3886200" cy="3657600"/>
          </a:xfrm>
          <a:prstGeom prst="roundRect">
            <a:avLst>
              <a:gd name="adj" fmla="val 2000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863840" y="24688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legal news flywheel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2926080"/>
            <a:ext cx="34290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capacity →</a:t>
            </a:r>
            <a:endParaRPr lang="en-US" sz="1250" dirty="0"/>
          </a:p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orders →</a:t>
            </a:r>
            <a:endParaRPr lang="en-US" sz="1250" dirty="0"/>
          </a:p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Marquee customers →</a:t>
            </a:r>
            <a:endParaRPr lang="en-US" sz="1250" dirty="0"/>
          </a:p>
          <a:p>
            <a:pPr marL="177800" indent="-177800">
              <a:lnSpc>
                <a:spcPts val="175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early-2027 BLK3 flight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507492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counsel-approved milestones on a monthly cadence — substance under the tape, not promotion.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 the build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4871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~$75M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→ RTO onto NASDAQ (~$15M pre-merger pipe + ~$60M on-market)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16552" y="22860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553712" y="248716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 now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3246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prefunds BLK3 flight 2 — flight 1 is fully customer-funded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47304" y="228600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84464" y="24871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SSLC tanks sold through Exos — plus an effective rebate on the tanks we buy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proceeds — $15M pipe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0916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FNEX 7% fee $1.05M · RDRE/TACFI match $4.1M · BLK3 to flight $3.4M · BLK4/HVRR $3.5M · WC / Part 450 / public-co costs $2.95M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close $10M: RDRE/TACFI match $4.1M · BLK3 build/to flight $3.4M · BLK4/HVRR long-lead $1.0M · WC / Part 450 / contingency $1.5M</a:t>
            </a:r>
            <a:endParaRPr lang="en-US" sz="1400" dirty="0"/>
          </a:p>
          <a:p>
            <a:pPr marL="177800" indent="-1778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SSLC international/Consortium tank channel and the BD muscle to convert the $150M pipeline into booked revenue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Asymmetric upside, with a defined exit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upside is asymmetric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TRL-9 lunar-heritage Type-V tanks via partner SSLC — integrated by Exos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SSLC equity + a 15% commission channel on SSLC tank sales — capital-light tank exposure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operating moat — public-grade output at private-company cost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public window on the space/defense wave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28600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4652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exit — 2029–30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92608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Uplist → DoD-contract flywheel → positioned for merger / acquisition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comps: Quantum Space (~$1.2B de-SPAC), Rocket Lab, Firefly, Hadrian ($1.37B round)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Defense-tech M&amp;A consolidating fast — a scaled domestic producer is the prize</a:t>
            </a:r>
            <a:endParaRPr lang="en-US" sz="13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exit paths: strategic acquisition, secondary, or continued public compounding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6A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 have actually flown — and re-flown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27632" y="2606040"/>
            <a:ext cx="731520" cy="73152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62763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JQ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Quinn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4023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&amp; CEO — capital, BD, strategy; drives the consortium and the public path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70832" y="2606040"/>
            <a:ext cx="731520" cy="73152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37083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38728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Neil Milburn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4023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COO — 50-yr aerospace operator; launch ops &amp; manufacturing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23774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14032" y="2606040"/>
            <a:ext cx="731520" cy="73152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11403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 Eaton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4023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principal — direct John Carmack / Armadillo rocket lineage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2377440"/>
            <a:ext cx="2615184" cy="3108960"/>
          </a:xfrm>
          <a:prstGeom prst="roundRect">
            <a:avLst>
              <a:gd name="adj" fmla="val 2797"/>
            </a:avLst>
          </a:prstGeom>
          <a:solidFill>
            <a:srgbClr val="17171B"/>
          </a:solidFill>
          <a:ln w="12700">
            <a:solidFill>
              <a:srgbClr val="20202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857232" y="2606040"/>
            <a:ext cx="731520" cy="731520"/>
          </a:xfrm>
          <a:prstGeom prst="ellipse">
            <a:avLst/>
          </a:prstGeom>
          <a:solidFill>
            <a:srgbClr val="F26A2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9857232" y="2606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025128" y="3474720"/>
            <a:ext cx="2395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SSLC (Scorpius)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079992" y="40233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Type-V tank supply &amp; sales-channel partner; Exos holds 18% passive equity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4652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EXOS AEROSPACE</a:t>
            </a:r>
            <a:pPr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Confidential — Proprietary/Unclassified   ·   Not an offer of securities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rafts/_exos_white_offi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2468880" cy="85209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4688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space vehicle reusable — the production layer beneath reusable spaceflight.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886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Moon-flown TRL-9 tanks via partner SSLC. An AI operating moat. A public path in motion. The scarce physical-AI trade — and a defined exit.</a:t>
            </a:r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26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Quinn</a:t>
            </a:r>
            <a:pPr indent="0" marL="0">
              <a:buNone/>
            </a:pPr>
            <a:r>
              <a:rPr lang="en-US" sz="1500" dirty="0">
                <a:solidFill>
                  <a:srgbClr val="C2C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Cofounder &amp; CEO   ·   jquinn@exosaero.com   ·   +1-972-740-8355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not an offer of securities. Any offering is made only through definitive documents, subject to due diligence and applicable securities, export-control, and CFIUS law.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14</Slides>
	<Notes>14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14</vt:i4></vt:variant>
		</vt:vector>
	</HeadingPairs>
	<TitlesOfParts>
		<vt:vector size="17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
		</vt:vector>
	</TitlesOfParts>
	<Company>Exos Aerospace Systems & Technologies, Inc.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Exos Aerospace</dc:creator>
  <cp:lastModifiedBy>Exos Aerospace</cp:lastModifiedBy>
  <cp:revision>1</cp:revision>
  <dcterms:created xsi:type="dcterms:W3CDTF">2026-09-21T12:48:07Z</dcterms:created>
  <dcterms:modified xsi:type="dcterms:W3CDTF">2026-09-21T12:48:07Z</dcterms:modified>
</cp:coreProperties>
</file>