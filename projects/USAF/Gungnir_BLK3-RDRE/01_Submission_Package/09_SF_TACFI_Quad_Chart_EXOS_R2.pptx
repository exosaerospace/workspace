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9" r:id="rId5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hSLkmY2enLbmG0u/B5HwVl3WTb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4F2C066-C17C-4C57-85C5-91A376E551BF}">
  <a:tblStyle styleId="{94F2C066-C17C-4C57-85C5-91A376E551B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5" Type="http://customschemas.google.com/relationships/presentationmetadata" Target="meta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dfb287fc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37dfb287fc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ab80eedf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6ab80eedf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f8cca5fe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2f8cca5fe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c70bc678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3dc70bc678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f8cca5fe8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g2f8cca5fe8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ntures Slide">
  <p:cSld name="2_Page 1_1_1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4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783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4"/>
          <p:cNvPicPr preferRelativeResize="0"/>
          <p:nvPr/>
        </p:nvPicPr>
        <p:blipFill rotWithShape="1">
          <a:blip r:embed="rId3">
            <a:alphaModFix/>
          </a:blip>
          <a:srcRect l="16065" b="13955"/>
          <a:stretch/>
        </p:blipFill>
        <p:spPr>
          <a:xfrm>
            <a:off x="0" y="2398575"/>
            <a:ext cx="2687775" cy="27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General Title Slide 1">
  <p:cSld name="1_General Title Slide 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 descr="A picture containing outdoor, water, sky, star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422910" y="2424284"/>
            <a:ext cx="82983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Montserrat Black"/>
              <a:buNone/>
              <a:defRPr sz="45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422910" y="3735163"/>
            <a:ext cx="82983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BB691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BB69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5"/>
          <p:cNvPicPr preferRelativeResize="0"/>
          <p:nvPr/>
        </p:nvPicPr>
        <p:blipFill rotWithShape="1">
          <a:blip r:embed="rId3">
            <a:alphaModFix amt="11000"/>
          </a:blip>
          <a:srcRect l="39319" t="19530" r="33011" b="26127"/>
          <a:stretch/>
        </p:blipFill>
        <p:spPr>
          <a:xfrm>
            <a:off x="0" y="0"/>
            <a:ext cx="46555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me Slide">
  <p:cSld name="2_Page 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6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" name="Google Shape;25;p6"/>
          <p:cNvPicPr preferRelativeResize="0"/>
          <p:nvPr/>
        </p:nvPicPr>
        <p:blipFill rotWithShape="1">
          <a:blip r:embed="rId3">
            <a:alphaModFix amt="50000"/>
          </a:blip>
          <a:srcRect l="33408" b="5392"/>
          <a:stretch/>
        </p:blipFill>
        <p:spPr>
          <a:xfrm>
            <a:off x="-1" y="2710069"/>
            <a:ext cx="3605700" cy="243498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6"/>
          <p:cNvSpPr txBox="1"/>
          <p:nvPr/>
        </p:nvSpPr>
        <p:spPr>
          <a:xfrm>
            <a:off x="143025" y="719225"/>
            <a:ext cx="883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ark Slide">
  <p:cSld name="2_Page 1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7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" name="Google Shape;33;p7"/>
          <p:cNvPicPr preferRelativeResize="0"/>
          <p:nvPr/>
        </p:nvPicPr>
        <p:blipFill rotWithShape="1">
          <a:blip r:embed="rId3">
            <a:alphaModFix/>
          </a:blip>
          <a:srcRect l="7424" b="9860"/>
          <a:stretch/>
        </p:blipFill>
        <p:spPr>
          <a:xfrm>
            <a:off x="0" y="2370600"/>
            <a:ext cx="2849101" cy="277429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/>
        </p:nvSpPr>
        <p:spPr>
          <a:xfrm>
            <a:off x="143025" y="719225"/>
            <a:ext cx="883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ic AFWERX Slide">
  <p:cSld name="2_Page 1_1_1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8"/>
          <p:cNvPicPr preferRelativeResize="0"/>
          <p:nvPr/>
        </p:nvPicPr>
        <p:blipFill rotWithShape="1">
          <a:blip r:embed="rId3">
            <a:alphaModFix amt="11000"/>
          </a:blip>
          <a:srcRect l="39319" t="19530" r="33011" b="26127"/>
          <a:stretch/>
        </p:blipFill>
        <p:spPr>
          <a:xfrm>
            <a:off x="0" y="2257800"/>
            <a:ext cx="2611925" cy="288569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BIR STTR Slide">
  <p:cSld name="2_Page 1_1_1_1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9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49" name="Google Shape;49;p9"/>
          <p:cNvPicPr preferRelativeResize="0"/>
          <p:nvPr/>
        </p:nvPicPr>
        <p:blipFill rotWithShape="1">
          <a:blip r:embed="rId3">
            <a:alphaModFix/>
          </a:blip>
          <a:srcRect l="5383" b="7994"/>
          <a:stretch/>
        </p:blipFill>
        <p:spPr>
          <a:xfrm>
            <a:off x="0" y="2316525"/>
            <a:ext cx="2419026" cy="282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ic Slide">
  <p:cSld name="2_Page 1_1_1_1_2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0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in Slide">
  <p:cSld name="2_Page 1_1_1_1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in Slide (white #)">
  <p:cSld name="2_Page 1_1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6636cd4c0_0_118"/>
          <p:cNvSpPr txBox="1">
            <a:spLocks noGrp="1"/>
          </p:cNvSpPr>
          <p:nvPr>
            <p:ph type="title"/>
          </p:nvPr>
        </p:nvSpPr>
        <p:spPr>
          <a:xfrm>
            <a:off x="687704" y="610934"/>
            <a:ext cx="6360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1" i="0" u="none" strike="noStrike" cap="none">
                <a:solidFill>
                  <a:srgbClr val="0E121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g336636cd4c0_0_118"/>
          <p:cNvSpPr txBox="1">
            <a:spLocks noGrp="1"/>
          </p:cNvSpPr>
          <p:nvPr>
            <p:ph type="body" idx="1"/>
          </p:nvPr>
        </p:nvSpPr>
        <p:spPr>
          <a:xfrm>
            <a:off x="687704" y="1053849"/>
            <a:ext cx="46458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E12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g336636cd4c0_0_11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g336636cd4c0_0_1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g336636cd4c0_0_118"/>
          <p:cNvSpPr txBox="1">
            <a:spLocks noGrp="1"/>
          </p:cNvSpPr>
          <p:nvPr>
            <p:ph type="sldNum" idx="12"/>
          </p:nvPr>
        </p:nvSpPr>
        <p:spPr>
          <a:xfrm>
            <a:off x="8628126" y="4808639"/>
            <a:ext cx="190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254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54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4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4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54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4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54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ntures Slide">
  <p:cSld name="2_Page 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1eb882dea_0_1733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783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g3e1eb882dea_0_1733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g3e1eb882dea_0_17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e1eb882dea_0_1733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" name="Google Shape;75;g3e1eb882dea_0_1733"/>
          <p:cNvPicPr preferRelativeResize="0"/>
          <p:nvPr/>
        </p:nvPicPr>
        <p:blipFill rotWithShape="1">
          <a:blip r:embed="rId3">
            <a:alphaModFix/>
          </a:blip>
          <a:srcRect l="16065" b="13955"/>
          <a:stretch/>
        </p:blipFill>
        <p:spPr>
          <a:xfrm>
            <a:off x="0" y="2398575"/>
            <a:ext cx="2687775" cy="27552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e1eb882dea_0_1733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General Title Slide 1">
  <p:cSld name="1_General Title Slide 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g3e1eb882dea_0_1740" descr="A picture containing outdoor, water, sky, star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e1eb882dea_0_1740"/>
          <p:cNvSpPr txBox="1">
            <a:spLocks noGrp="1"/>
          </p:cNvSpPr>
          <p:nvPr>
            <p:ph type="ctrTitle"/>
          </p:nvPr>
        </p:nvSpPr>
        <p:spPr>
          <a:xfrm>
            <a:off x="422910" y="2424284"/>
            <a:ext cx="82983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Montserrat Black"/>
              <a:buNone/>
              <a:defRPr sz="45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g3e1eb882dea_0_1740"/>
          <p:cNvSpPr txBox="1">
            <a:spLocks noGrp="1"/>
          </p:cNvSpPr>
          <p:nvPr>
            <p:ph type="subTitle" idx="1"/>
          </p:nvPr>
        </p:nvSpPr>
        <p:spPr>
          <a:xfrm>
            <a:off x="422910" y="3735163"/>
            <a:ext cx="82983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BB691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2BB69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g3e1eb882dea_0_17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g3e1eb882dea_0_1740"/>
          <p:cNvPicPr preferRelativeResize="0"/>
          <p:nvPr/>
        </p:nvPicPr>
        <p:blipFill rotWithShape="1">
          <a:blip r:embed="rId3">
            <a:alphaModFix amt="11000"/>
          </a:blip>
          <a:srcRect l="39319" t="19530" r="33011" b="26127"/>
          <a:stretch/>
        </p:blipFill>
        <p:spPr>
          <a:xfrm>
            <a:off x="0" y="0"/>
            <a:ext cx="46555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ime Slide">
  <p:cSld name="2_Page 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1eb882dea_0_1746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g3e1eb882dea_0_1746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g3e1eb882dea_0_17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e1eb882dea_0_1746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8" name="Google Shape;88;g3e1eb882dea_0_1746"/>
          <p:cNvPicPr preferRelativeResize="0"/>
          <p:nvPr/>
        </p:nvPicPr>
        <p:blipFill rotWithShape="1">
          <a:blip r:embed="rId3">
            <a:alphaModFix amt="50000"/>
          </a:blip>
          <a:srcRect l="33408" b="5392"/>
          <a:stretch/>
        </p:blipFill>
        <p:spPr>
          <a:xfrm>
            <a:off x="-1" y="2710069"/>
            <a:ext cx="3605700" cy="243498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e1eb882dea_0_1746"/>
          <p:cNvSpPr txBox="1"/>
          <p:nvPr/>
        </p:nvSpPr>
        <p:spPr>
          <a:xfrm>
            <a:off x="143025" y="719225"/>
            <a:ext cx="883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g3e1eb882dea_0_1746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ark Slide">
  <p:cSld name="2_Page 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1eb882dea_0_1754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g3e1eb882dea_0_1754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g3e1eb882dea_0_17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e1eb882dea_0_1754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g3e1eb882dea_0_1754"/>
          <p:cNvPicPr preferRelativeResize="0"/>
          <p:nvPr/>
        </p:nvPicPr>
        <p:blipFill rotWithShape="1">
          <a:blip r:embed="rId3">
            <a:alphaModFix/>
          </a:blip>
          <a:srcRect l="7424" b="9860"/>
          <a:stretch/>
        </p:blipFill>
        <p:spPr>
          <a:xfrm>
            <a:off x="0" y="2370600"/>
            <a:ext cx="2849101" cy="277429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e1eb882dea_0_1754"/>
          <p:cNvSpPr txBox="1"/>
          <p:nvPr/>
        </p:nvSpPr>
        <p:spPr>
          <a:xfrm>
            <a:off x="143025" y="719225"/>
            <a:ext cx="883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g3e1eb882dea_0_1754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ic AFWERX Slide">
  <p:cSld name="2_Page 1_1_1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1eb882dea_0_1762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g3e1eb882dea_0_1762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g3e1eb882dea_0_17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e1eb882dea_0_1762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" name="Google Shape;104;g3e1eb882dea_0_1762"/>
          <p:cNvPicPr preferRelativeResize="0"/>
          <p:nvPr/>
        </p:nvPicPr>
        <p:blipFill rotWithShape="1">
          <a:blip r:embed="rId3">
            <a:alphaModFix amt="11000"/>
          </a:blip>
          <a:srcRect l="39319" t="19530" r="33011" b="26127"/>
          <a:stretch/>
        </p:blipFill>
        <p:spPr>
          <a:xfrm>
            <a:off x="0" y="2257800"/>
            <a:ext cx="2611925" cy="28856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e1eb882dea_0_1762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BIR STTR Slide">
  <p:cSld name="2_Page 1_1_1_1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1eb882dea_0_1769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g3e1eb882dea_0_1769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g3e1eb882dea_0_17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e1eb882dea_0_1769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g3e1eb882dea_0_1769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12" name="Google Shape;112;g3e1eb882dea_0_1769"/>
          <p:cNvPicPr preferRelativeResize="0"/>
          <p:nvPr/>
        </p:nvPicPr>
        <p:blipFill rotWithShape="1">
          <a:blip r:embed="rId3">
            <a:alphaModFix/>
          </a:blip>
          <a:srcRect l="5383" b="7994"/>
          <a:stretch/>
        </p:blipFill>
        <p:spPr>
          <a:xfrm>
            <a:off x="0" y="2316525"/>
            <a:ext cx="2419026" cy="282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ic Slide">
  <p:cSld name="2_Page 1_1_1_1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1eb882dea_0_1776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g3e1eb882dea_0_1776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g3e1eb882dea_0_17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e1eb882dea_0_1776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g3e1eb882dea_0_1776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in Slide">
  <p:cSld name="2_Page 1_1_1_1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1eb882dea_0_1782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g3e1eb882dea_0_1782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in Slide (white #)">
  <p:cSld name="2_Page 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1eb882dea_0_1785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g3e1eb882dea_0_1785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870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1eb882dea_0_1788"/>
          <p:cNvSpPr txBox="1">
            <a:spLocks noGrp="1"/>
          </p:cNvSpPr>
          <p:nvPr>
            <p:ph type="title"/>
          </p:nvPr>
        </p:nvSpPr>
        <p:spPr>
          <a:xfrm>
            <a:off x="687704" y="610934"/>
            <a:ext cx="6360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1" i="0" u="none" strike="noStrike" cap="none">
                <a:solidFill>
                  <a:srgbClr val="0E121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" name="Google Shape;127;g3e1eb882dea_0_1788"/>
          <p:cNvSpPr txBox="1">
            <a:spLocks noGrp="1"/>
          </p:cNvSpPr>
          <p:nvPr>
            <p:ph type="body" idx="1"/>
          </p:nvPr>
        </p:nvSpPr>
        <p:spPr>
          <a:xfrm>
            <a:off x="687704" y="1053849"/>
            <a:ext cx="46458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E121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g3e1eb882dea_0_178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g3e1eb882dea_0_178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g3e1eb882dea_0_1788"/>
          <p:cNvSpPr txBox="1">
            <a:spLocks noGrp="1"/>
          </p:cNvSpPr>
          <p:nvPr>
            <p:ph type="sldNum" idx="12"/>
          </p:nvPr>
        </p:nvSpPr>
        <p:spPr>
          <a:xfrm>
            <a:off x="8628126" y="4808639"/>
            <a:ext cx="1902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254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254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54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54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4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54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54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254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ntures Slide">
  <p:cSld name="Ventures Slide (g3e1eb882dea_78_0)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1eb882dea_0_1794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783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g3e1eb882dea_0_1794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g3e1eb882dea_0_1794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ntures Slide 1">
  <p:cSld name="Ventures Slide (g3e1eb882dea_50_0)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1eb882dea_0_1877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783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" name="Google Shape;137;g3e1eb882dea_0_1877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g3e1eb882dea_0_1877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ntures Slide 1 1">
  <p:cSld name="Ventures Slide (g3e1eb882dea_35_0)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1eb882dea_0_1881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783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g3e1eb882dea_0_1881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g3e1eb882dea_0_1881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ntures Slide 1 1 1">
  <p:cSld name="Ventures Slide (g3e1eb882dea_21_0)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1eb882dea_0_1885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783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g3e1eb882dea_0_1885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g3e1eb882dea_0_1885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ntures Slide 1 1 1 1">
  <p:cSld name="Ventures Slide (g3e1eb882dea_7_0)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1eb882dea_0_1889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783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21C"/>
              </a:buClr>
              <a:buSzPts val="2400"/>
              <a:buFont typeface="Montserrat Black"/>
              <a:buNone/>
              <a:defRPr sz="2400" b="1" i="0" u="none" strike="noStrike" cap="none">
                <a:solidFill>
                  <a:srgbClr val="0F121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" name="Google Shape;149;g3e1eb882dea_0_1889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g3e1eb882dea_0_1889"/>
          <p:cNvSpPr txBox="1">
            <a:spLocks noGrp="1"/>
          </p:cNvSpPr>
          <p:nvPr>
            <p:ph type="body" idx="1"/>
          </p:nvPr>
        </p:nvSpPr>
        <p:spPr>
          <a:xfrm>
            <a:off x="129450" y="737100"/>
            <a:ext cx="8851500" cy="3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1eb882dea_0_17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cto.mil/osc/critical-technologies/" TargetMode="External"/><Relationship Id="rId4" Type="http://schemas.openxmlformats.org/officeDocument/2006/relationships/hyperlink" Target="https://www.spaceforce.mil/Portals/1/Space%20Capstone%20Publication_10%20Aug%202020.pdf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dfb287fce_1_0"/>
          <p:cNvSpPr txBox="1">
            <a:spLocks noGrp="1"/>
          </p:cNvSpPr>
          <p:nvPr>
            <p:ph type="title"/>
          </p:nvPr>
        </p:nvSpPr>
        <p:spPr>
          <a:xfrm>
            <a:off x="64050" y="63025"/>
            <a:ext cx="5133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rgbClr val="0000FF"/>
                </a:solidFill>
              </a:rPr>
              <a:t>Exos Aerospace Systems &amp; Technologies, Inc.</a:t>
            </a:r>
            <a:endParaRPr sz="1800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rgbClr val="0000FF"/>
                </a:solidFill>
              </a:rPr>
              <a:t>RDRE/BLK3 Integrated Flight Demonstration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156" name="Google Shape;156;g37dfb287fce_1_0"/>
          <p:cNvSpPr txBox="1">
            <a:spLocks noGrp="1"/>
          </p:cNvSpPr>
          <p:nvPr>
            <p:ph type="title"/>
          </p:nvPr>
        </p:nvSpPr>
        <p:spPr>
          <a:xfrm>
            <a:off x="4132200" y="63000"/>
            <a:ext cx="49659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 b="0"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PY26.2 SF TACFI | SBIR (FA9300-25-C-6022)</a:t>
            </a:r>
            <a:r>
              <a:rPr lang="en" sz="1800" b="0"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/>
            </a:r>
            <a:r>
              <a:rPr lang="en" sz="1800" b="0"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/>
            </a:r>
            <a:r>
              <a:rPr lang="en" sz="1800" b="0"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"/>
                  </a:ext>
                </a:extLst>
              </a:rPr>
              <a:t/>
            </a:r>
            <a:r>
              <a:rPr lang="en" sz="1800" b="0"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</a:ext>
                </a:extLst>
              </a:rPr>
              <a:t/>
            </a:r>
            <a:endParaRPr sz="1800" b="0">
              <a:highlight>
                <a:srgbClr val="FFFF00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g37dfb287fce_1_0"/>
          <p:cNvSpPr txBox="1"/>
          <p:nvPr/>
        </p:nvSpPr>
        <p:spPr>
          <a:xfrm>
            <a:off x="4230950" y="597025"/>
            <a:ext cx="4867200" cy="21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TACFI</a:t>
            </a:r>
            <a:r>
              <a:rPr lang="en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Description</a:t>
            </a:r>
            <a:endParaRPr sz="12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" marR="0" lvl="0" indent="-1104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a flight-weight ~5,800 lbf Rotating Detonation Rocket Engine (RDRE) onto the new BLK3 reusable suborbital vehicle.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" marR="0" lvl="0" indent="-1104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Fly 1 hover and 2 flights to 85km+ over 24 months to characterize RDRE across the full altitude envelope (spaceport level to near-vacuum) — maturing responsive, low-cost space access, in-space mobility &amp; orbital-transfer propulsion.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5"/>
              <a:buFont typeface="Arial"/>
              <a:buNone/>
            </a:pPr>
            <a:r>
              <a:rPr lang="en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Innovation</a:t>
            </a:r>
            <a:endParaRPr sz="12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" marR="0" lvl="0" indent="-1104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altitude-swept FLIGHT characterization of an RDRE on a reusable VTVL platform — recoverable, iterative test (2-day turnaround).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" marR="0" lvl="0" indent="-11048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Detonation propulsion for responsive space launch and in-space mobility/logistics; ground test cannot replicate altitude-dependent dynamics; proves in-space RDRE relight.</a:t>
            </a:r>
            <a:b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" sz="1200" b="0" i="0" u="sng" strike="noStrike" cap="non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Operational Impact</a:t>
            </a:r>
            <a:endParaRPr sz="1200" b="0" i="0" u="sng" strike="noStrike" cap="non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90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0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ROI: flight-qualified detonation-propulsion data de-risking RDRE for USSF responsive space access, in-space mobility &amp; orbital transfer (proven by space-relight attempts).</a:t>
            </a:r>
            <a:endParaRPr sz="12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90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00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Deliverable: 1 hover + 2 RDRE flight tests + flight-qualified performance dataset and final report.</a:t>
            </a:r>
            <a:endParaRPr sz="120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5"/>
              <a:buFont typeface="Arial"/>
              <a:buNone/>
            </a:pPr>
            <a:r>
              <a:rPr lang="en" sz="12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</a:ext>
                </a:extLst>
              </a:rPr>
              <a:t>End User: AFRL/RQRI          Customer: AFRL/RQRI (Dr. M. Harvazinski, USSF)</a:t>
            </a: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</a:ext>
                </a:extLst>
              </a:rPr>
              <a:t/>
            </a:r>
            <a:r>
              <a:rPr lang="en" sz="12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7"/>
                  </a:ext>
                </a:extLst>
              </a:rPr>
              <a:t/>
            </a: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8"/>
                  </a:ext>
                </a:extLst>
              </a:rPr>
              <a:t/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g37dfb287fce_1_0"/>
          <p:cNvCxnSpPr/>
          <p:nvPr/>
        </p:nvCxnSpPr>
        <p:spPr>
          <a:xfrm>
            <a:off x="4230950" y="831500"/>
            <a:ext cx="1200" cy="424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g37dfb287fce_1_0"/>
          <p:cNvCxnSpPr/>
          <p:nvPr/>
        </p:nvCxnSpPr>
        <p:spPr>
          <a:xfrm>
            <a:off x="-112025" y="2571750"/>
            <a:ext cx="9149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" name="Google Shape;160;g37dfb287fce_1_0"/>
          <p:cNvSpPr txBox="1"/>
          <p:nvPr/>
        </p:nvSpPr>
        <p:spPr>
          <a:xfrm>
            <a:off x="64050" y="1425438"/>
            <a:ext cx="400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 Project Image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7dfb287fce_1_0"/>
          <p:cNvSpPr txBox="1"/>
          <p:nvPr/>
        </p:nvSpPr>
        <p:spPr>
          <a:xfrm>
            <a:off x="5573825" y="400375"/>
            <a:ext cx="3586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SBIR — Phase II FA9300-25-C-6022 (AFRL/RQRI)</a:t>
            </a:r>
            <a:endParaRPr sz="800" b="1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7dfb287fce_1_0"/>
          <p:cNvSpPr/>
          <p:nvPr/>
        </p:nvSpPr>
        <p:spPr>
          <a:xfrm>
            <a:off x="64049" y="2224088"/>
            <a:ext cx="4134900" cy="291000"/>
          </a:xfrm>
          <a:prstGeom prst="rect">
            <a:avLst/>
          </a:prstGeom>
          <a:solidFill>
            <a:srgbClr val="B3D9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9"/>
                  </a:ext>
                </a:extLst>
              </a:rPr>
              <a:t>Responsive, reusable space access through detonation propulsion.</a:t>
            </a: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37dfb287fce_1_0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64" name="Google Shape;164;g37dfb287fce_1_0"/>
          <p:cNvSpPr txBox="1"/>
          <p:nvPr/>
        </p:nvSpPr>
        <p:spPr>
          <a:xfrm>
            <a:off x="222725" y="4773150"/>
            <a:ext cx="584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REMOVE BEFORE SUBMISSION: </a:t>
            </a:r>
            <a:r>
              <a:rPr lang="en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DISTRIBUTION A. APPROVED FOR PUBLIC RELEASE; DISTRIBUTION UNLIMITED. AFRL-202</a:t>
            </a:r>
            <a:r>
              <a:rPr lang="en" sz="700"/>
              <a:t>6</a:t>
            </a:r>
            <a:br>
              <a:rPr lang="en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PY26.</a:t>
            </a:r>
            <a:r>
              <a:rPr lang="en" sz="700"/>
              <a:t>2</a:t>
            </a:r>
            <a:r>
              <a:rPr lang="en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Previous Versions Obsolete	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7dfb287fce_1_0"/>
          <p:cNvSpPr txBox="1"/>
          <p:nvPr/>
        </p:nvSpPr>
        <p:spPr>
          <a:xfrm>
            <a:off x="2694500" y="29750"/>
            <a:ext cx="288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"THIS DOCUMENT MUST NOT CONTAIN CUI"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7dfb287fce_1_0"/>
          <p:cNvSpPr txBox="1"/>
          <p:nvPr/>
        </p:nvSpPr>
        <p:spPr>
          <a:xfrm>
            <a:off x="493050" y="2571738"/>
            <a:ext cx="3148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0"/>
                  </a:ext>
                </a:extLst>
              </a:rPr>
              <a:t>Integrated Cost and Schedule ($M)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7" name="Google Shape;167;g37dfb287fce_1_0"/>
          <p:cNvGraphicFramePr/>
          <p:nvPr/>
        </p:nvGraphicFramePr>
        <p:xfrm>
          <a:off x="56393" y="2919148"/>
          <a:ext cx="4060700" cy="1955965"/>
        </p:xfrm>
        <a:graphic>
          <a:graphicData uri="http://schemas.openxmlformats.org/drawingml/2006/table">
            <a:tbl>
              <a:tblPr firstRow="1" bandRow="1">
                <a:noFill/>
                <a:tableStyleId>{94F2C066-C17C-4C57-85C5-91A376E551BF}</a:tableStyleId>
              </a:tblPr>
              <a:tblGrid>
                <a:gridCol w="149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5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18275" marB="1827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</a:rPr>
                        <a:t>Base Yr Execution</a:t>
                      </a:r>
                      <a:endParaRPr sz="1400" u="none" strike="noStrike" cap="none"/>
                    </a:p>
                  </a:txBody>
                  <a:tcPr marL="91450" marR="91450" marT="18275" marB="1827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</a:rPr>
                        <a:t>Yr Two Execution</a:t>
                      </a:r>
                      <a:endParaRPr sz="1400" u="none" strike="noStrike" cap="none"/>
                    </a:p>
                  </a:txBody>
                  <a:tcPr marL="91450" marR="91450" marT="18275" marB="18275"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Exp: </a:t>
                      </a:r>
                      <a:r>
                        <a:rPr lang="en" sz="800" b="1" u="none" strike="noStrike" cap="none"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1"/>
                            </a:ext>
                          </a:extLst>
                        </a:rPr>
                        <a:t>Development</a:t>
                      </a:r>
                      <a:endParaRPr sz="1400" b="1" u="none" strike="noStrike" cap="none"/>
                    </a:p>
                  </a:txBody>
                  <a:tcPr marL="45700" marR="45700" marT="45700" marB="457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>
                          <a:solidFill>
                            <a:schemeClr val="dk1"/>
                          </a:solidFill>
                        </a:rPr>
                        <a:t>Exp: </a:t>
                      </a:r>
                      <a:r>
                        <a:rPr lang="en" sz="800" b="1" u="none" strike="noStrike" cap="none"/>
                        <a:t>Prototype</a:t>
                      </a:r>
                      <a:endParaRPr sz="800" b="1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/>
                        <a:t>Delivered</a:t>
                      </a:r>
                      <a:endParaRPr sz="800" b="1" u="none" strike="noStrike" cap="none"/>
                    </a:p>
                  </a:txBody>
                  <a:tcPr marL="45700" marR="457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b="1" u="none" strike="noStrike" cap="none"/>
                        <a:t>Exp: Test Flights </a:t>
                      </a:r>
                      <a:endParaRPr sz="800" b="1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500" b="1" u="none" strike="noStrike" cap="none"/>
                    </a:p>
                  </a:txBody>
                  <a:tcPr marL="45700" marR="45700" marT="4570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lt1"/>
                          </a:solidFill>
                        </a:rPr>
                        <a:t>SBIR or STTR </a:t>
                      </a:r>
                      <a:endParaRPr sz="1400" u="none" strike="noStrike" cap="none"/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</a:t>
                      </a: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2M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lt1"/>
                          </a:solidFill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2"/>
                            </a:ext>
                          </a:extLst>
                        </a:rPr>
                        <a:t>Gov Funding Org</a:t>
                      </a:r>
                      <a:endParaRPr sz="1400" u="none" strike="noStrike" cap="none"/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</a:t>
                      </a: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2M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lt1"/>
                          </a:solidFill>
                        </a:rPr>
                        <a:t>Private  (# of VCs)</a:t>
                      </a:r>
                      <a:endParaRPr sz="1400" u="none" strike="noStrike" cap="none"/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$0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lt1"/>
                          </a:solidFill>
                        </a:rPr>
                        <a:t>Total</a:t>
                      </a:r>
                      <a:endParaRPr sz="1400" u="none" strike="noStrike" cap="none"/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</a:t>
                      </a: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2M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L="91450" marR="91450" marT="18275" marB="182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8" name="Google Shape;168;g37dfb287fce_1_0"/>
          <p:cNvSpPr txBox="1"/>
          <p:nvPr/>
        </p:nvSpPr>
        <p:spPr>
          <a:xfrm>
            <a:off x="4346000" y="3382800"/>
            <a:ext cx="46914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sz="1000"/>
              <a:t>Success &amp; Transition: Phase II (FA9300-25-C-6022, AFRL/RQRI) matures the HVRR-RDRE — a Hybrid Vehicle Rocket Reusable testbed integrating an RDRE for hover/flight demonstration on the new BLK3 — advancing RDRE from ground test toward recoverable flight. Transition: if successful, sole-source Phase III under 15 U.S.C. 638(r) transitions flight-qualified RDRE propulsion to USSF responsive space access, in-space mobility &amp; orbital transfer (RDRE relight proven); Exos scales to a recurring reusable flight-test cadence. Aligns with the signed Collaboration Agreement.</a:t>
            </a:r>
          </a:p>
        </p:txBody>
      </p:sp>
      <p:sp>
        <p:nvSpPr>
          <p:cNvPr id="169" name="Google Shape;169;g37dfb287fce_1_0"/>
          <p:cNvSpPr txBox="1"/>
          <p:nvPr/>
        </p:nvSpPr>
        <p:spPr>
          <a:xfrm>
            <a:off x="2263775" y="3496313"/>
            <a:ext cx="501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sz="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7dfb287fce_1_0"/>
          <p:cNvSpPr/>
          <p:nvPr/>
        </p:nvSpPr>
        <p:spPr>
          <a:xfrm flipH="1">
            <a:off x="2062050" y="3670750"/>
            <a:ext cx="138900" cy="83700"/>
          </a:xfrm>
          <a:prstGeom prst="rect">
            <a:avLst/>
          </a:prstGeom>
          <a:solidFill>
            <a:schemeClr val="dk1"/>
          </a:solidFill>
          <a:ln w="3810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7dfb287fce_1_0"/>
          <p:cNvSpPr txBox="1"/>
          <p:nvPr/>
        </p:nvSpPr>
        <p:spPr>
          <a:xfrm>
            <a:off x="1791200" y="3672438"/>
            <a:ext cx="855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Taxi Test(s)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7dfb287fce_1_0"/>
          <p:cNvSpPr/>
          <p:nvPr/>
        </p:nvSpPr>
        <p:spPr>
          <a:xfrm flipH="1">
            <a:off x="2767075" y="3662325"/>
            <a:ext cx="138900" cy="83700"/>
          </a:xfrm>
          <a:prstGeom prst="rect">
            <a:avLst/>
          </a:prstGeom>
          <a:solidFill>
            <a:schemeClr val="dk1"/>
          </a:solidFill>
          <a:ln w="3810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7dfb287fce_1_0"/>
          <p:cNvSpPr txBox="1"/>
          <p:nvPr/>
        </p:nvSpPr>
        <p:spPr>
          <a:xfrm>
            <a:off x="2486925" y="3672450"/>
            <a:ext cx="912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Flight Test(s)</a:t>
            </a:r>
            <a:endParaRPr sz="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7dfb287fce_1_0"/>
          <p:cNvSpPr txBox="1"/>
          <p:nvPr/>
        </p:nvSpPr>
        <p:spPr>
          <a:xfrm>
            <a:off x="1871077" y="3237888"/>
            <a:ext cx="392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PDR-1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7dfb287fce_1_0"/>
          <p:cNvSpPr txBox="1"/>
          <p:nvPr/>
        </p:nvSpPr>
        <p:spPr>
          <a:xfrm>
            <a:off x="2392500" y="3237889"/>
            <a:ext cx="37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CDR-1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7dfb287fce_1_0"/>
          <p:cNvSpPr txBox="1"/>
          <p:nvPr/>
        </p:nvSpPr>
        <p:spPr>
          <a:xfrm>
            <a:off x="2898613" y="3145488"/>
            <a:ext cx="501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CDR-2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7dfb287fce_1_0"/>
          <p:cNvSpPr txBox="1"/>
          <p:nvPr/>
        </p:nvSpPr>
        <p:spPr>
          <a:xfrm>
            <a:off x="4346000" y="2710275"/>
            <a:ext cx="44886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Critical Technology Area: Scaled Hypersonics (SHY)</a:t>
            </a:r>
          </a:p>
          <a:p>
            <a:r>
              <a:t>Core Competency: Space Mobility &amp; Logistics</a:t>
            </a:r>
          </a:p>
        </p:txBody>
      </p:sp>
      <p:sp>
        <p:nvSpPr>
          <p:cNvPr id="178" name="Google Shape;178;g37dfb287fce_1_0"/>
          <p:cNvSpPr/>
          <p:nvPr/>
        </p:nvSpPr>
        <p:spPr>
          <a:xfrm>
            <a:off x="2409700" y="3413363"/>
            <a:ext cx="138900" cy="83700"/>
          </a:xfrm>
          <a:prstGeom prst="flowChartExtract">
            <a:avLst/>
          </a:prstGeom>
          <a:solidFill>
            <a:schemeClr val="dk1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79" name="Google Shape;179;g37dfb287fce_1_0"/>
          <p:cNvSpPr/>
          <p:nvPr/>
        </p:nvSpPr>
        <p:spPr>
          <a:xfrm>
            <a:off x="1928975" y="3145488"/>
            <a:ext cx="138900" cy="83700"/>
          </a:xfrm>
          <a:prstGeom prst="flowChartExtract">
            <a:avLst/>
          </a:prstGeom>
          <a:solidFill>
            <a:schemeClr val="dk1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80" name="Google Shape;180;g37dfb287fce_1_0"/>
          <p:cNvSpPr/>
          <p:nvPr/>
        </p:nvSpPr>
        <p:spPr>
          <a:xfrm>
            <a:off x="2413800" y="3154288"/>
            <a:ext cx="138900" cy="83700"/>
          </a:xfrm>
          <a:prstGeom prst="flowChartExtract">
            <a:avLst/>
          </a:prstGeom>
          <a:solidFill>
            <a:schemeClr val="dk1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81" name="Google Shape;181;g37dfb287fce_1_0"/>
          <p:cNvSpPr/>
          <p:nvPr/>
        </p:nvSpPr>
        <p:spPr>
          <a:xfrm>
            <a:off x="3079975" y="3159063"/>
            <a:ext cx="138900" cy="83700"/>
          </a:xfrm>
          <a:prstGeom prst="flowChartExtract">
            <a:avLst/>
          </a:prstGeom>
          <a:solidFill>
            <a:schemeClr val="dk1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ab80eedf8_0_7"/>
          <p:cNvSpPr txBox="1">
            <a:spLocks noGrp="1"/>
          </p:cNvSpPr>
          <p:nvPr>
            <p:ph type="title"/>
          </p:nvPr>
        </p:nvSpPr>
        <p:spPr>
          <a:xfrm>
            <a:off x="19050" y="43625"/>
            <a:ext cx="90783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rgbClr val="0000FF"/>
                </a:solidFill>
              </a:rPr>
              <a:t>Critical Technology Area  </a:t>
            </a:r>
            <a:r>
              <a:rPr lang="en">
                <a:solidFill>
                  <a:srgbClr val="0000FF"/>
                </a:solidFill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0"/>
                  </a:ext>
                </a:extLst>
              </a:rPr>
              <a:t>|  Core Competency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87" name="Google Shape;187;g36ab80eedf8_0_7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88" name="Google Shape;188;g36ab80eedf8_0_7"/>
          <p:cNvSpPr txBox="1">
            <a:spLocks noGrp="1"/>
          </p:cNvSpPr>
          <p:nvPr>
            <p:ph type="body" idx="1"/>
          </p:nvPr>
        </p:nvSpPr>
        <p:spPr>
          <a:xfrm>
            <a:off x="115375" y="1378500"/>
            <a:ext cx="3526800" cy="3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185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"/>
              <a:buFont typeface="Arial"/>
              <a:buChar char="●"/>
            </a:pPr>
            <a:r>
              <a:rPr lang="en" sz="124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1"/>
                  </a:ext>
                </a:extLst>
              </a:rPr>
              <a:t>Applied Artificial Intelligence (AAI)</a:t>
            </a:r>
            <a:endParaRPr sz="1241">
              <a:solidFill>
                <a:schemeClr val="dk1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2"/>
                </a:ext>
              </a:extLst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41">
              <a:solidFill>
                <a:schemeClr val="dk1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3"/>
                </a:ext>
              </a:extLst>
            </a:endParaRPr>
          </a:p>
          <a:p>
            <a:pPr marL="457200" lvl="0" indent="-32185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"/>
              <a:buFont typeface="Arial"/>
              <a:buChar char="●"/>
            </a:pPr>
            <a:r>
              <a:rPr lang="en" sz="124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4"/>
                  </a:ext>
                </a:extLst>
              </a:rPr>
              <a:t>Biomanufacturing (BIO)</a:t>
            </a:r>
            <a:endParaRPr sz="1241">
              <a:solidFill>
                <a:schemeClr val="dk1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5"/>
                </a:ext>
              </a:extLst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41">
              <a:solidFill>
                <a:schemeClr val="dk1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6"/>
                </a:ext>
              </a:extLst>
            </a:endParaRPr>
          </a:p>
          <a:p>
            <a:pPr marL="457200" lvl="0" indent="-32185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"/>
              <a:buFont typeface="Arial"/>
              <a:buChar char="●"/>
            </a:pPr>
            <a:r>
              <a:rPr lang="en" sz="124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7"/>
                  </a:ext>
                </a:extLst>
              </a:rPr>
              <a:t>Contested Logistics Technologies (LOG)</a:t>
            </a:r>
            <a:endParaRPr sz="1241">
              <a:solidFill>
                <a:schemeClr val="dk1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8"/>
                </a:ext>
              </a:extLst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41">
              <a:solidFill>
                <a:schemeClr val="dk1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9"/>
                </a:ext>
              </a:extLst>
            </a:endParaRPr>
          </a:p>
          <a:p>
            <a:pPr marL="457200" lvl="0" indent="-32185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"/>
              <a:buFont typeface="Arial"/>
              <a:buChar char="●"/>
            </a:pPr>
            <a:r>
              <a:rPr lang="en" sz="124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0"/>
                  </a:ext>
                </a:extLst>
              </a:rPr>
              <a:t>Quanum &amp; Battlefield Information Dominance (Q-BID)</a:t>
            </a:r>
            <a:endParaRPr sz="1241">
              <a:solidFill>
                <a:schemeClr val="dk1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1"/>
                </a:ext>
              </a:extLst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41">
              <a:solidFill>
                <a:schemeClr val="dk1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2"/>
                </a:ext>
              </a:extLst>
            </a:endParaRPr>
          </a:p>
          <a:p>
            <a:pPr marL="457200" lvl="0" indent="-32185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"/>
              <a:buFont typeface="Arial"/>
              <a:buChar char="●"/>
            </a:pPr>
            <a:r>
              <a:rPr lang="en" sz="124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3"/>
                  </a:ext>
                </a:extLst>
              </a:rPr>
              <a:t>Scaled Directed Energy (SCADE)</a:t>
            </a:r>
            <a:endParaRPr sz="1241">
              <a:solidFill>
                <a:schemeClr val="dk1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4"/>
                </a:ext>
              </a:extLst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41">
              <a:solidFill>
                <a:schemeClr val="dk1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5"/>
                </a:ext>
              </a:extLst>
            </a:endParaRPr>
          </a:p>
          <a:p>
            <a:pPr marL="457200" lvl="0" indent="-321859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"/>
              <a:buFont typeface="Arial"/>
              <a:buChar char="●"/>
            </a:pPr>
            <a:r>
              <a:rPr lang="en" sz="124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6"/>
                  </a:ext>
                </a:extLst>
              </a:rPr>
              <a:t>Scaled Hypersonics (SHY)</a:t>
            </a:r>
            <a:br>
              <a:rPr lang="en" sz="124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4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6ab80eedf8_0_7"/>
          <p:cNvSpPr txBox="1">
            <a:spLocks noGrp="1"/>
          </p:cNvSpPr>
          <p:nvPr>
            <p:ph type="body" idx="1"/>
          </p:nvPr>
        </p:nvSpPr>
        <p:spPr>
          <a:xfrm>
            <a:off x="54025" y="648385"/>
            <a:ext cx="4038000" cy="7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5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Please select ONE area for Slide 1</a:t>
            </a:r>
            <a:endParaRPr sz="1450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For details on CTAs, please refer to</a:t>
            </a:r>
            <a:b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" sz="10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https://www.cto.mil/osc/critical-technologies/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6ab80eedf8_0_7"/>
          <p:cNvSpPr txBox="1"/>
          <p:nvPr/>
        </p:nvSpPr>
        <p:spPr>
          <a:xfrm>
            <a:off x="4301750" y="670203"/>
            <a:ext cx="4734600" cy="3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Please select ONE area for Slide 1</a:t>
            </a:r>
            <a:br>
              <a:rPr lang="en" sz="14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" sz="1200" u="sng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Inaugural Space Capstone Publication, Spacepower (SCP)</a:t>
            </a:r>
            <a:r>
              <a:rPr lang="en" sz="9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(pg </a:t>
            </a:r>
            <a:r>
              <a:rPr lang="en" sz="950">
                <a:solidFill>
                  <a:schemeClr val="dk1"/>
                </a:solidFill>
                <a:highlight>
                  <a:schemeClr val="lt1"/>
                </a:highlight>
              </a:rPr>
              <a:t>33</a:t>
            </a:r>
            <a:r>
              <a:rPr lang="en" sz="9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9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Security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Combat Power Projection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Mobility and Logistics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Mobility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Domain Awareness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lang="en" sz="14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400" b="1" i="0" u="none" strike="noStrike" cap="none">
                <a:solidFill>
                  <a:srgbClr val="0000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Stakeholders </a:t>
            </a:r>
            <a:r>
              <a:rPr lang="en" sz="2400" b="0" i="0" u="none" strike="noStrike" cap="none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</a:rPr>
              <a:t>| </a:t>
            </a:r>
            <a:r>
              <a:rPr lang="en" sz="1800" b="0" i="0" u="none" strike="noStrike" cap="none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</a:rPr>
              <a:t>Definitions</a:t>
            </a:r>
            <a:endParaRPr sz="1400" b="0" i="0" u="none" strike="noStrike" cap="none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DAF organization executing the program and</a:t>
            </a:r>
            <a:b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managing the contract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User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If multiple, name the primary DAF End-User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SBC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Small Business Concern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6ab80eedf8_0_7"/>
          <p:cNvSpPr txBox="1"/>
          <p:nvPr/>
        </p:nvSpPr>
        <p:spPr>
          <a:xfrm>
            <a:off x="1877250" y="-96025"/>
            <a:ext cx="5159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7"/>
                  </a:ext>
                </a:extLst>
              </a:rPr>
              <a:t>Slide is for reference only. Remove before submission.</a:t>
            </a:r>
            <a:endParaRPr sz="15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6ab80eedf8_0_7"/>
          <p:cNvSpPr txBox="1"/>
          <p:nvPr/>
        </p:nvSpPr>
        <p:spPr>
          <a:xfrm>
            <a:off x="1939200" y="4577325"/>
            <a:ext cx="504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800" b="1" i="1" u="sng" strike="noStrike" cap="none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Remove slide before submission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"/>
          <p:cNvSpPr txBox="1"/>
          <p:nvPr/>
        </p:nvSpPr>
        <p:spPr>
          <a:xfrm>
            <a:off x="75" y="6275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"/>
          <p:cNvGrpSpPr/>
          <p:nvPr/>
        </p:nvGrpSpPr>
        <p:grpSpPr>
          <a:xfrm>
            <a:off x="428625" y="329450"/>
            <a:ext cx="8286900" cy="561975"/>
            <a:chOff x="428625" y="571500"/>
            <a:chExt cx="8286900" cy="561975"/>
          </a:xfrm>
        </p:grpSpPr>
        <p:sp>
          <p:nvSpPr>
            <p:cNvPr id="201" name="Google Shape;201;p2"/>
            <p:cNvSpPr txBox="1"/>
            <p:nvPr/>
          </p:nvSpPr>
          <p:spPr>
            <a:xfrm>
              <a:off x="428625" y="571500"/>
              <a:ext cx="8286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0F12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TACFI Submission Chart</a:t>
              </a:r>
              <a:endParaRPr sz="2800" b="1">
                <a:solidFill>
                  <a:srgbClr val="0F121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428625" y="1095375"/>
              <a:ext cx="952500" cy="381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3" name="Google Shape;203;p2"/>
          <p:cNvPicPr preferRelativeResize="0"/>
          <p:nvPr/>
        </p:nvPicPr>
        <p:blipFill rotWithShape="1">
          <a:blip r:embed="rId5">
            <a:alphaModFix/>
          </a:blip>
          <a:srcRect l="16065" b="13955"/>
          <a:stretch/>
        </p:blipFill>
        <p:spPr>
          <a:xfrm>
            <a:off x="0" y="2398575"/>
            <a:ext cx="2687775" cy="2755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2"/>
          <p:cNvGrpSpPr/>
          <p:nvPr/>
        </p:nvGrpSpPr>
        <p:grpSpPr>
          <a:xfrm>
            <a:off x="428625" y="1333500"/>
            <a:ext cx="8286900" cy="571500"/>
            <a:chOff x="428625" y="1333500"/>
            <a:chExt cx="8286900" cy="571500"/>
          </a:xfrm>
        </p:grpSpPr>
        <p:sp>
          <p:nvSpPr>
            <p:cNvPr id="205" name="Google Shape;205;p2"/>
            <p:cNvSpPr/>
            <p:nvPr/>
          </p:nvSpPr>
          <p:spPr>
            <a:xfrm>
              <a:off x="428625" y="1333500"/>
              <a:ext cx="8286900" cy="5715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 txBox="1"/>
            <p:nvPr/>
          </p:nvSpPr>
          <p:spPr>
            <a:xfrm>
              <a:off x="619125" y="1333500"/>
              <a:ext cx="7905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 the next four slides, address the questions below. Ensure summaries cover prompts identified as </a:t>
              </a:r>
              <a:r>
                <a:rPr lang="en" sz="1200" b="1">
                  <a:solidFill>
                    <a:srgbClr val="0F172A"/>
                  </a:solidFill>
                  <a:highlight>
                    <a:srgbClr val="FFFF00"/>
                  </a:highlight>
                  <a:latin typeface="Arial"/>
                  <a:ea typeface="Arial"/>
                  <a:cs typeface="Arial"/>
                  <a:sym typeface="Arial"/>
                </a:rPr>
                <a:t>"At a minimum, your summary should cover."</a:t>
              </a:r>
              <a:endParaRPr sz="1200" b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2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208" name="Google Shape;208;p2"/>
          <p:cNvGrpSpPr/>
          <p:nvPr/>
        </p:nvGrpSpPr>
        <p:grpSpPr>
          <a:xfrm>
            <a:off x="428625" y="2095500"/>
            <a:ext cx="8286750" cy="2095500"/>
            <a:chOff x="428625" y="2095500"/>
            <a:chExt cx="8286750" cy="2095500"/>
          </a:xfrm>
        </p:grpSpPr>
        <p:grpSp>
          <p:nvGrpSpPr>
            <p:cNvPr id="209" name="Google Shape;209;p2"/>
            <p:cNvGrpSpPr/>
            <p:nvPr/>
          </p:nvGrpSpPr>
          <p:grpSpPr>
            <a:xfrm>
              <a:off x="428625" y="2095500"/>
              <a:ext cx="4000500" cy="952500"/>
              <a:chOff x="428625" y="2095500"/>
              <a:chExt cx="4000500" cy="952500"/>
            </a:xfrm>
          </p:grpSpPr>
          <p:sp>
            <p:nvSpPr>
              <p:cNvPr id="210" name="Google Shape;210;p2"/>
              <p:cNvSpPr/>
              <p:nvPr/>
            </p:nvSpPr>
            <p:spPr>
              <a:xfrm>
                <a:off x="428625" y="2095500"/>
                <a:ext cx="40005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952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 txBox="1"/>
              <p:nvPr/>
            </p:nvSpPr>
            <p:spPr>
              <a:xfrm>
                <a:off x="619125" y="2095500"/>
                <a:ext cx="3619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0000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SECTION 01</a:t>
                </a:r>
                <a:endParaRPr sz="1000" b="1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400" b="1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Summary of Phase II Technology Solution (Abstract)</a:t>
                </a:r>
                <a:endParaRPr sz="1400" b="1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12" name="Google Shape;212;p2"/>
            <p:cNvGrpSpPr/>
            <p:nvPr/>
          </p:nvGrpSpPr>
          <p:grpSpPr>
            <a:xfrm>
              <a:off x="4714875" y="2095500"/>
              <a:ext cx="4000500" cy="952500"/>
              <a:chOff x="4714875" y="2095500"/>
              <a:chExt cx="4000500" cy="952500"/>
            </a:xfrm>
          </p:grpSpPr>
          <p:sp>
            <p:nvSpPr>
              <p:cNvPr id="213" name="Google Shape;213;p2"/>
              <p:cNvSpPr/>
              <p:nvPr/>
            </p:nvSpPr>
            <p:spPr>
              <a:xfrm>
                <a:off x="4714875" y="2095500"/>
                <a:ext cx="40005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952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 txBox="1"/>
              <p:nvPr/>
            </p:nvSpPr>
            <p:spPr>
              <a:xfrm>
                <a:off x="4905375" y="2095500"/>
                <a:ext cx="3619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0000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SECTION 02</a:t>
                </a:r>
                <a:endParaRPr sz="1000" b="1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400" b="1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Summary of Proposed TACFI Technology Solution</a:t>
                </a:r>
                <a:endParaRPr sz="1400" b="1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15" name="Google Shape;215;p2"/>
            <p:cNvGrpSpPr/>
            <p:nvPr/>
          </p:nvGrpSpPr>
          <p:grpSpPr>
            <a:xfrm>
              <a:off x="428625" y="3238500"/>
              <a:ext cx="4000500" cy="952500"/>
              <a:chOff x="428625" y="3238500"/>
              <a:chExt cx="4000500" cy="952500"/>
            </a:xfrm>
          </p:grpSpPr>
          <p:sp>
            <p:nvSpPr>
              <p:cNvPr id="216" name="Google Shape;216;p2"/>
              <p:cNvSpPr/>
              <p:nvPr/>
            </p:nvSpPr>
            <p:spPr>
              <a:xfrm>
                <a:off x="428625" y="3238500"/>
                <a:ext cx="40005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952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"/>
              <p:cNvSpPr txBox="1"/>
              <p:nvPr/>
            </p:nvSpPr>
            <p:spPr>
              <a:xfrm>
                <a:off x="619125" y="3238500"/>
                <a:ext cx="3619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0000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SECTION 03</a:t>
                </a:r>
                <a:endParaRPr sz="1000" b="1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400" b="1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Transition Strategy</a:t>
                </a:r>
                <a:endParaRPr sz="1400" b="1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18" name="Google Shape;218;p2"/>
            <p:cNvGrpSpPr/>
            <p:nvPr/>
          </p:nvGrpSpPr>
          <p:grpSpPr>
            <a:xfrm>
              <a:off x="4714875" y="3238500"/>
              <a:ext cx="4000500" cy="952500"/>
              <a:chOff x="4714875" y="3238500"/>
              <a:chExt cx="4000500" cy="952500"/>
            </a:xfrm>
          </p:grpSpPr>
          <p:sp>
            <p:nvSpPr>
              <p:cNvPr id="219" name="Google Shape;219;p2"/>
              <p:cNvSpPr/>
              <p:nvPr/>
            </p:nvSpPr>
            <p:spPr>
              <a:xfrm>
                <a:off x="4714875" y="3238500"/>
                <a:ext cx="40005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952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 txBox="1"/>
              <p:nvPr/>
            </p:nvSpPr>
            <p:spPr>
              <a:xfrm>
                <a:off x="4905375" y="3238500"/>
                <a:ext cx="3619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rgbClr val="0000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SECTION 04</a:t>
                </a:r>
                <a:endParaRPr sz="1000" b="1">
                  <a:solidFill>
                    <a:srgbClr val="0000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400" b="1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Benefit to the Warfighter</a:t>
                </a:r>
                <a:endParaRPr sz="1400" b="1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grpSp>
        <p:nvGrpSpPr>
          <p:cNvPr id="221" name="Google Shape;221;p2"/>
          <p:cNvGrpSpPr/>
          <p:nvPr/>
        </p:nvGrpSpPr>
        <p:grpSpPr>
          <a:xfrm>
            <a:off x="428625" y="4381500"/>
            <a:ext cx="5524500" cy="342900"/>
            <a:chOff x="428625" y="4381500"/>
            <a:chExt cx="5524500" cy="342900"/>
          </a:xfrm>
        </p:grpSpPr>
        <p:sp>
          <p:nvSpPr>
            <p:cNvPr id="222" name="Google Shape;222;p2"/>
            <p:cNvSpPr/>
            <p:nvPr/>
          </p:nvSpPr>
          <p:spPr>
            <a:xfrm>
              <a:off x="428625" y="4381500"/>
              <a:ext cx="5524500" cy="342900"/>
            </a:xfrm>
            <a:prstGeom prst="roundRect">
              <a:avLst>
                <a:gd name="adj" fmla="val 11111"/>
              </a:avLst>
            </a:prstGeom>
            <a:solidFill>
              <a:srgbClr val="FEF2F2"/>
            </a:solidFill>
            <a:ln w="9525" cap="flat" cmpd="sng">
              <a:solidFill>
                <a:srgbClr val="FE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 txBox="1"/>
            <p:nvPr/>
          </p:nvSpPr>
          <p:spPr>
            <a:xfrm>
              <a:off x="428625" y="4381500"/>
              <a:ext cx="552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Slide is for reference only. </a:t>
              </a:r>
              <a:r>
                <a:rPr lang="en" sz="1100" b="1">
                  <a:solidFill>
                    <a:srgbClr val="991B1B"/>
                  </a:solidFill>
                  <a:highlight>
                    <a:srgbClr val="FFFF00"/>
                  </a:highlight>
                  <a:latin typeface="Arial"/>
                  <a:ea typeface="Arial"/>
                  <a:cs typeface="Arial"/>
                  <a:sym typeface="Arial"/>
                </a:rPr>
                <a:t>Remove slide before submission</a:t>
              </a:r>
              <a:endParaRPr sz="1100" b="1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3"/>
          <p:cNvPicPr preferRelativeResize="0"/>
          <p:nvPr/>
        </p:nvPicPr>
        <p:blipFill rotWithShape="1">
          <a:blip r:embed="rId4">
            <a:alphaModFix/>
          </a:blip>
          <a:srcRect t="554" b="554"/>
          <a:stretch/>
        </p:blipFill>
        <p:spPr>
          <a:xfrm>
            <a:off x="6232836" y="4892173"/>
            <a:ext cx="1522200" cy="18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3"/>
          <p:cNvSpPr txBox="1"/>
          <p:nvPr/>
        </p:nvSpPr>
        <p:spPr>
          <a:xfrm>
            <a:off x="0" y="0"/>
            <a:ext cx="91440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"THIS DOCUMENT MUST NOT CONTAIN CUI"</a:t>
            </a:r>
            <a:endParaRPr sz="8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232" name="Google Shape;232;p13"/>
          <p:cNvGrpSpPr/>
          <p:nvPr/>
        </p:nvGrpSpPr>
        <p:grpSpPr>
          <a:xfrm>
            <a:off x="428625" y="308725"/>
            <a:ext cx="8286900" cy="561975"/>
            <a:chOff x="428625" y="428625"/>
            <a:chExt cx="8286900" cy="561975"/>
          </a:xfrm>
        </p:grpSpPr>
        <p:sp>
          <p:nvSpPr>
            <p:cNvPr id="233" name="Google Shape;233;p13"/>
            <p:cNvSpPr/>
            <p:nvPr/>
          </p:nvSpPr>
          <p:spPr>
            <a:xfrm>
              <a:off x="428625" y="952500"/>
              <a:ext cx="8286900" cy="381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/>
            <p:cNvSpPr txBox="1"/>
            <p:nvPr/>
          </p:nvSpPr>
          <p:spPr>
            <a:xfrm>
              <a:off x="428625" y="428625"/>
              <a:ext cx="8286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70" b="1">
                  <a:solidFill>
                    <a:srgbClr val="0F12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 Summary of Phase II Technology Solution (Abstract)</a:t>
              </a:r>
              <a:endParaRPr sz="2170" b="1">
                <a:solidFill>
                  <a:srgbClr val="0F121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35" name="Google Shape;235;p13"/>
          <p:cNvSpPr txBox="1"/>
          <p:nvPr/>
        </p:nvSpPr>
        <p:spPr>
          <a:xfrm>
            <a:off x="623175" y="1515050"/>
            <a:ext cx="7897800" cy="9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r>
              <a:rPr sz="1000"/>
              <a:t>Exos's Phase II (FA9300-25-C-6022, "Design, Fabrication, and Hover Test of Exos HVRR-RDRE," AFRL/RQRI) matures a Hybrid Vehicle Rocket Reusable (HVRR) testbed and integrates a Rotating Detonation Rocket Engine (RDRE) for hover/flight demonstration on a new BLK3 reusable suborbital platform. Development to date: BLK3 is one of only three FAA-licensed reusable suborbital VTVL vehicles in the U.S. (FAA launch license March 2026); Exos operates a 10K-lbf-capable test stand and owns its propellant-transfer/test set; the program is advancing RDRE from ground test toward recoverable flight characterization with a 2-day vehicle turnaround.</a:t>
            </a:r>
          </a:p>
        </p:txBody>
      </p:sp>
      <p:sp>
        <p:nvSpPr>
          <p:cNvPr id="236" name="Google Shape;236;p13"/>
          <p:cNvSpPr txBox="1"/>
          <p:nvPr/>
        </p:nvSpPr>
        <p:spPr>
          <a:xfrm>
            <a:off x="1667425" y="1093700"/>
            <a:ext cx="5163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Delete </a:t>
            </a:r>
            <a:r>
              <a:rPr lang="en" sz="1100"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italicized red font</a:t>
            </a:r>
            <a:r>
              <a:rPr lang="en" sz="11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descriptions.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f8cca5fe82_0_0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242" name="Google Shape;242;g2f8cca5fe82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2f8cca5fe82_0_0"/>
          <p:cNvSpPr txBox="1"/>
          <p:nvPr/>
        </p:nvSpPr>
        <p:spPr>
          <a:xfrm>
            <a:off x="0" y="0"/>
            <a:ext cx="91440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"THIS DOCUMENT MUST NOT CONTAIN CUI"</a:t>
            </a:r>
            <a:endParaRPr sz="8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g2f8cca5fe82_0_0"/>
          <p:cNvGrpSpPr/>
          <p:nvPr/>
        </p:nvGrpSpPr>
        <p:grpSpPr>
          <a:xfrm>
            <a:off x="428625" y="304800"/>
            <a:ext cx="8286900" cy="571500"/>
            <a:chOff x="428625" y="304800"/>
            <a:chExt cx="8286900" cy="571500"/>
          </a:xfrm>
        </p:grpSpPr>
        <p:sp>
          <p:nvSpPr>
            <p:cNvPr id="245" name="Google Shape;245;g2f8cca5fe82_0_0"/>
            <p:cNvSpPr/>
            <p:nvPr/>
          </p:nvSpPr>
          <p:spPr>
            <a:xfrm>
              <a:off x="428625" y="838200"/>
              <a:ext cx="8286900" cy="381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g2f8cca5fe82_0_0"/>
            <p:cNvSpPr txBox="1"/>
            <p:nvPr/>
          </p:nvSpPr>
          <p:spPr>
            <a:xfrm>
              <a:off x="428625" y="304800"/>
              <a:ext cx="82869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0F12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 Summary of Proposed TACFI Technology Solution</a:t>
              </a:r>
              <a:endParaRPr sz="2400" b="1">
                <a:solidFill>
                  <a:srgbClr val="0F121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47" name="Google Shape;247;g2f8cca5fe82_0_0"/>
          <p:cNvGrpSpPr/>
          <p:nvPr/>
        </p:nvGrpSpPr>
        <p:grpSpPr>
          <a:xfrm>
            <a:off x="428625" y="1524000"/>
            <a:ext cx="8286900" cy="2857500"/>
            <a:chOff x="428625" y="1524000"/>
            <a:chExt cx="8286900" cy="2857500"/>
          </a:xfrm>
        </p:grpSpPr>
        <p:sp>
          <p:nvSpPr>
            <p:cNvPr id="248" name="Google Shape;248;g2f8cca5fe82_0_0"/>
            <p:cNvSpPr/>
            <p:nvPr/>
          </p:nvSpPr>
          <p:spPr>
            <a:xfrm>
              <a:off x="428625" y="1524000"/>
              <a:ext cx="82869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g2f8cca5fe82_0_0"/>
            <p:cNvSpPr txBox="1"/>
            <p:nvPr/>
          </p:nvSpPr>
          <p:spPr>
            <a:xfrm>
              <a:off x="428625" y="1524000"/>
              <a:ext cx="8286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sz="1000"/>
                <a:t>Integrate a flight-weight ~5,800 lbf RDRE (NASA printed design or GTL machined architecture) onto the new BLK3 and conduct a minimum of one hover and two recoverable flights to 85km+ over a 24-month period to characterize RDRE performance across the full suborbital altitude envelope (spaceport level to near-vacuum). Trials / acceptance criteria: measure detonation-wave stability vs. ambient backpressure (0.001-1 ATM), combustor wall heat flux and thermal gradient, thrust oscillation amplitude/frequency vs. altitude, and composite-airframe vibro-acoustic response; success = an altitude-swept RDRE flight dataset with engine recovery and reuse between flights. Key risks/mitigations: RDRE stability at altitude (incremental envelope expansion + GTL combustion models); thermal/heat-flux (instrumented checkouts, hot-fire qualification); recovery/refurbishment (proven BLK3 VTVL recovery); plus in-space RDRE relight capability testing — enabling RDRE for Orbital Transfer Vehicle (OTV) applications.</a:t>
              </a:r>
            </a:p>
          </p:txBody>
        </p:sp>
      </p:grpSp>
      <p:grpSp>
        <p:nvGrpSpPr>
          <p:cNvPr id="250" name="Google Shape;250;g2f8cca5fe82_0_0"/>
          <p:cNvGrpSpPr/>
          <p:nvPr/>
        </p:nvGrpSpPr>
        <p:grpSpPr>
          <a:xfrm>
            <a:off x="6067425" y="4800600"/>
            <a:ext cx="3076500" cy="342900"/>
            <a:chOff x="6067425" y="4800600"/>
            <a:chExt cx="3076500" cy="342900"/>
          </a:xfrm>
        </p:grpSpPr>
        <p:sp>
          <p:nvSpPr>
            <p:cNvPr id="251" name="Google Shape;251;g2f8cca5fe82_0_0"/>
            <p:cNvSpPr/>
            <p:nvPr/>
          </p:nvSpPr>
          <p:spPr>
            <a:xfrm>
              <a:off x="6067425" y="4800600"/>
              <a:ext cx="3076500" cy="342900"/>
            </a:xfrm>
            <a:prstGeom prst="rect">
              <a:avLst/>
            </a:prstGeom>
            <a:solidFill>
              <a:srgbClr val="0F121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2" name="Google Shape;252;g2f8cca5fe82_0_0"/>
            <p:cNvPicPr preferRelativeResize="0"/>
            <p:nvPr/>
          </p:nvPicPr>
          <p:blipFill rotWithShape="1">
            <a:blip r:embed="rId4">
              <a:alphaModFix/>
            </a:blip>
            <a:srcRect l="328" r="328"/>
            <a:stretch/>
          </p:blipFill>
          <p:spPr>
            <a:xfrm>
              <a:off x="6229350" y="4886325"/>
              <a:ext cx="15240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g2f8cca5fe82_0_0"/>
            <p:cNvSpPr txBox="1"/>
            <p:nvPr/>
          </p:nvSpPr>
          <p:spPr>
            <a:xfrm>
              <a:off x="8477250" y="4800600"/>
              <a:ext cx="381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54" name="Google Shape;254;g2f8cca5fe82_0_0"/>
          <p:cNvSpPr txBox="1"/>
          <p:nvPr/>
        </p:nvSpPr>
        <p:spPr>
          <a:xfrm>
            <a:off x="2061900" y="1023150"/>
            <a:ext cx="5163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Delete italicized red font descriptions.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g3dc70bc6784_1_0"/>
          <p:cNvPicPr preferRelativeResize="0"/>
          <p:nvPr/>
        </p:nvPicPr>
        <p:blipFill rotWithShape="1">
          <a:blip r:embed="rId4">
            <a:alphaModFix/>
          </a:blip>
          <a:srcRect l="16065" b="13955"/>
          <a:stretch/>
        </p:blipFill>
        <p:spPr>
          <a:xfrm>
            <a:off x="0" y="2398575"/>
            <a:ext cx="2687775" cy="275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dc70bc6784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dc70bc6784_1_0"/>
          <p:cNvSpPr txBox="1">
            <a:spLocks noGrp="1"/>
          </p:cNvSpPr>
          <p:nvPr>
            <p:ph type="sldNum" idx="12"/>
          </p:nvPr>
        </p:nvSpPr>
        <p:spPr>
          <a:xfrm>
            <a:off x="5941349" y="3618894"/>
            <a:ext cx="6846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62" name="Google Shape;262;g3dc70bc6784_1_0"/>
          <p:cNvSpPr txBox="1"/>
          <p:nvPr/>
        </p:nvSpPr>
        <p:spPr>
          <a:xfrm>
            <a:off x="2280809" y="0"/>
            <a:ext cx="4582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4570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"THIS DOCUMENT MUST NOT CONTAIN CUI"</a:t>
            </a:r>
            <a:endParaRPr sz="8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g3dc70bc6784_1_0"/>
          <p:cNvGrpSpPr/>
          <p:nvPr/>
        </p:nvGrpSpPr>
        <p:grpSpPr>
          <a:xfrm>
            <a:off x="428625" y="237000"/>
            <a:ext cx="8286900" cy="639300"/>
            <a:chOff x="428625" y="237000"/>
            <a:chExt cx="8286900" cy="639300"/>
          </a:xfrm>
        </p:grpSpPr>
        <p:sp>
          <p:nvSpPr>
            <p:cNvPr id="264" name="Google Shape;264;g3dc70bc6784_1_0"/>
            <p:cNvSpPr/>
            <p:nvPr/>
          </p:nvSpPr>
          <p:spPr>
            <a:xfrm>
              <a:off x="428625" y="304800"/>
              <a:ext cx="82869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g3dc70bc6784_1_0"/>
            <p:cNvSpPr txBox="1"/>
            <p:nvPr/>
          </p:nvSpPr>
          <p:spPr>
            <a:xfrm>
              <a:off x="428625" y="237000"/>
              <a:ext cx="82869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0F12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 Transition Strategy </a:t>
              </a:r>
              <a:r>
                <a:rPr lang="en" sz="833" i="1">
                  <a:solidFill>
                    <a:srgbClr val="FF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(This section should align with your signed Collaboration Agreement, Question 11 - Program of Record Transition Strategy)</a:t>
              </a:r>
              <a:endParaRPr sz="2400" b="1">
                <a:solidFill>
                  <a:srgbClr val="0F121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6" name="Google Shape;266;g3dc70bc6784_1_0"/>
            <p:cNvSpPr/>
            <p:nvPr/>
          </p:nvSpPr>
          <p:spPr>
            <a:xfrm>
              <a:off x="428625" y="838200"/>
              <a:ext cx="8286900" cy="381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" name="Google Shape;267;g3dc70bc6784_1_0"/>
          <p:cNvSpPr txBox="1"/>
          <p:nvPr/>
        </p:nvSpPr>
        <p:spPr>
          <a:xfrm>
            <a:off x="60600" y="1456775"/>
            <a:ext cx="8842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000"/>
              <a:t>Post-TACFI, Exos transitions via sole-source Phase III under 15 U.S.C. 638(r) citing FA9300-25-C-6022 — no further competition required — delivering flight-qualified RDRE propulsion to USSF responsive space-access, in-space mobility/logistics, and orbital-transfer programs of record. Exos's reusable, low-cost, 2-day-turnaround flight-test cadence enables iterative qualification and recurring revenue (e.g., NASA Flight Opportunities on-ramp). Aligns with the signed Collaboration Agreement (Program-of-Record Transition Strategy): AFRL/RQRI End-User/Customer; AFTC/PZRB executing. If proving successful, next step is Phase III RDRE qualification flights and integration onto operational space-mobility applications, Orbital Transfer Vehicles (OTVs), and evolution to a reusable Black Brant replacement capable of low-cost point-to-point operations.</a:t>
            </a:r>
          </a:p>
        </p:txBody>
      </p:sp>
      <p:grpSp>
        <p:nvGrpSpPr>
          <p:cNvPr id="268" name="Google Shape;268;g3dc70bc6784_1_0"/>
          <p:cNvGrpSpPr/>
          <p:nvPr/>
        </p:nvGrpSpPr>
        <p:grpSpPr>
          <a:xfrm>
            <a:off x="6067425" y="4800600"/>
            <a:ext cx="3076500" cy="342900"/>
            <a:chOff x="6067425" y="4800600"/>
            <a:chExt cx="3076500" cy="342900"/>
          </a:xfrm>
        </p:grpSpPr>
        <p:sp>
          <p:nvSpPr>
            <p:cNvPr id="269" name="Google Shape;269;g3dc70bc6784_1_0"/>
            <p:cNvSpPr/>
            <p:nvPr/>
          </p:nvSpPr>
          <p:spPr>
            <a:xfrm>
              <a:off x="6067425" y="4800600"/>
              <a:ext cx="3076500" cy="342900"/>
            </a:xfrm>
            <a:prstGeom prst="rect">
              <a:avLst/>
            </a:prstGeom>
            <a:solidFill>
              <a:srgbClr val="0F121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70" name="Google Shape;270;g3dc70bc6784_1_0"/>
            <p:cNvPicPr preferRelativeResize="0"/>
            <p:nvPr/>
          </p:nvPicPr>
          <p:blipFill rotWithShape="1">
            <a:blip r:embed="rId5">
              <a:alphaModFix/>
            </a:blip>
            <a:srcRect l="328" r="328"/>
            <a:stretch/>
          </p:blipFill>
          <p:spPr>
            <a:xfrm>
              <a:off x="6229350" y="4886325"/>
              <a:ext cx="15240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g3dc70bc6784_1_0"/>
            <p:cNvSpPr txBox="1"/>
            <p:nvPr/>
          </p:nvSpPr>
          <p:spPr>
            <a:xfrm>
              <a:off x="8477250" y="4800600"/>
              <a:ext cx="381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</a:t>
              </a:r>
              <a:endPara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72" name="Google Shape;272;g3dc70bc6784_1_0"/>
          <p:cNvSpPr txBox="1"/>
          <p:nvPr/>
        </p:nvSpPr>
        <p:spPr>
          <a:xfrm>
            <a:off x="2095700" y="562763"/>
            <a:ext cx="5163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Delete italicized red font descriptions.</a:t>
            </a:r>
            <a:endParaRPr i="1"/>
          </a:p>
        </p:txBody>
      </p:sp>
      <p:sp>
        <p:nvSpPr>
          <p:cNvPr id="273" name="Google Shape;273;g3dc70bc6784_1_0"/>
          <p:cNvSpPr txBox="1"/>
          <p:nvPr/>
        </p:nvSpPr>
        <p:spPr>
          <a:xfrm>
            <a:off x="129225" y="4628400"/>
            <a:ext cx="5859300" cy="6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33" i="1">
                <a:solidFill>
                  <a:srgbClr val="FF0000"/>
                </a:solidFill>
                <a:highlight>
                  <a:srgbClr val="F8FAFC"/>
                </a:highlight>
                <a:latin typeface="Montserrat"/>
                <a:ea typeface="Montserrat"/>
                <a:cs typeface="Montserrat"/>
                <a:sym typeface="Montserrat"/>
              </a:rPr>
              <a:t>For guidance on potential contracting or other opportunities, contact the Air Force Customer's Small Business Office or Small Business Professional.</a:t>
            </a:r>
            <a:endParaRPr sz="933" i="1">
              <a:solidFill>
                <a:srgbClr val="FF0000"/>
              </a:solidFill>
              <a:highlight>
                <a:srgbClr val="F8FAFC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3dc70bc6784_1_0"/>
          <p:cNvSpPr/>
          <p:nvPr/>
        </p:nvSpPr>
        <p:spPr>
          <a:xfrm>
            <a:off x="301125" y="920425"/>
            <a:ext cx="8480400" cy="7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18" i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The core objective of the AFWERX SBIR/STTR Program is to significantly increase the likelihood of small business innovations transitioning to Phase III</a:t>
            </a:r>
            <a:r>
              <a:rPr lang="en" sz="900" i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“bridge the technology transition valley of death”.</a:t>
            </a:r>
            <a:r>
              <a:rPr lang="en" sz="1018" i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This means ensuring innovations reach the operator/warfighter for operational use. Clearly articulate your strategy: "If this effort proves successful, what are our next steps?"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f8cca5fe82_0_12"/>
          <p:cNvSpPr/>
          <p:nvPr/>
        </p:nvSpPr>
        <p:spPr>
          <a:xfrm>
            <a:off x="6066225" y="4802000"/>
            <a:ext cx="3077700" cy="34290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g2f8cca5fe82_0_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2839" y="4892169"/>
            <a:ext cx="1522333" cy="18695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2f8cca5fe82_0_12"/>
          <p:cNvSpPr txBox="1">
            <a:spLocks noGrp="1"/>
          </p:cNvSpPr>
          <p:nvPr>
            <p:ph type="sldNum" idx="12"/>
          </p:nvPr>
        </p:nvSpPr>
        <p:spPr>
          <a:xfrm>
            <a:off x="7921798" y="4825192"/>
            <a:ext cx="912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82" name="Google Shape;282;g2f8cca5fe82_0_12"/>
          <p:cNvSpPr txBox="1"/>
          <p:nvPr/>
        </p:nvSpPr>
        <p:spPr>
          <a:xfrm>
            <a:off x="2280805" y="0"/>
            <a:ext cx="4582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"THIS DOCUMENT MUST NOT CONTAIN CUI"</a:t>
            </a:r>
            <a:endParaRPr sz="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3" name="Google Shape;283;g2f8cca5fe82_0_12"/>
          <p:cNvGrpSpPr/>
          <p:nvPr/>
        </p:nvGrpSpPr>
        <p:grpSpPr>
          <a:xfrm>
            <a:off x="428625" y="304800"/>
            <a:ext cx="8286900" cy="571500"/>
            <a:chOff x="428625" y="304800"/>
            <a:chExt cx="8286900" cy="571500"/>
          </a:xfrm>
        </p:grpSpPr>
        <p:sp>
          <p:nvSpPr>
            <p:cNvPr id="284" name="Google Shape;284;g2f8cca5fe82_0_12"/>
            <p:cNvSpPr/>
            <p:nvPr/>
          </p:nvSpPr>
          <p:spPr>
            <a:xfrm>
              <a:off x="428625" y="838200"/>
              <a:ext cx="8286900" cy="381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g2f8cca5fe82_0_12"/>
            <p:cNvSpPr txBox="1"/>
            <p:nvPr/>
          </p:nvSpPr>
          <p:spPr>
            <a:xfrm>
              <a:off x="428625" y="304800"/>
              <a:ext cx="82869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0F121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4. Benefit to the Warfighter</a:t>
              </a:r>
              <a:endParaRPr sz="2400" b="1">
                <a:solidFill>
                  <a:srgbClr val="0F121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86" name="Google Shape;286;g2f8cca5fe82_0_12"/>
          <p:cNvSpPr txBox="1"/>
          <p:nvPr/>
        </p:nvSpPr>
        <p:spPr>
          <a:xfrm>
            <a:off x="428625" y="1000125"/>
            <a:ext cx="8286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Delete italicized red font descriptions.</a:t>
            </a:r>
            <a:endParaRPr sz="1100" b="1" i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g2f8cca5fe82_0_12"/>
          <p:cNvGrpSpPr/>
          <p:nvPr/>
        </p:nvGrpSpPr>
        <p:grpSpPr>
          <a:xfrm>
            <a:off x="8477250" y="4800600"/>
            <a:ext cx="381000" cy="342900"/>
            <a:chOff x="8477250" y="4800600"/>
            <a:chExt cx="381000" cy="342900"/>
          </a:xfrm>
        </p:grpSpPr>
        <p:sp>
          <p:nvSpPr>
            <p:cNvPr id="288" name="Google Shape;288;g2f8cca5fe82_0_12"/>
            <p:cNvSpPr/>
            <p:nvPr/>
          </p:nvSpPr>
          <p:spPr>
            <a:xfrm>
              <a:off x="8477250" y="4800600"/>
              <a:ext cx="3810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g2f8cca5fe82_0_12"/>
            <p:cNvSpPr txBox="1"/>
            <p:nvPr/>
          </p:nvSpPr>
          <p:spPr>
            <a:xfrm>
              <a:off x="8477250" y="4800600"/>
              <a:ext cx="381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</a:t>
              </a:r>
              <a:endParaRPr sz="1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90" name="Google Shape;290;g2f8cca5fe82_0_12"/>
          <p:cNvSpPr txBox="1"/>
          <p:nvPr/>
        </p:nvSpPr>
        <p:spPr>
          <a:xfrm>
            <a:off x="505375" y="1595125"/>
            <a:ext cx="78105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000"/>
              <a:t>DAF Gap/Need: low-cost, responsive, reusable space access and flight-qualified advanced propulsion effective from dispersed, resilient postures. Benefit: this TACFI de-risks RDRE — compact, high-performance detonation propulsion — through recoverable flight test, compressing the develop-test-fly cycle and accelerating fielding. Outcome: responsive reusable space access, in-space mobility/logistics, and orbital transfer (RDRE relight) — the Space Mobility &amp; Logistics core competency — delivering the flexibility and MASS to operate from a globally distributed, resilient posture (Mission Areas MA1/MA2/MA3).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FWERX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FWERX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EB8AA7EB49BA43B8EFB3A5448A2323" ma:contentTypeVersion="10" ma:contentTypeDescription="Create a new document." ma:contentTypeScope="" ma:versionID="0aae9a012038bf51f4b4a9eedd0c34be">
  <xsd:schema xmlns:xsd="http://www.w3.org/2001/XMLSchema" xmlns:xs="http://www.w3.org/2001/XMLSchema" xmlns:p="http://schemas.microsoft.com/office/2006/metadata/properties" xmlns:ns2="72dd9093-9e75-4ffd-a570-9dda36a15cec" xmlns:ns3="5febdd18-e6cd-4108-ba5c-4e60dde6863a" targetNamespace="http://schemas.microsoft.com/office/2006/metadata/properties" ma:root="true" ma:fieldsID="8ded5163af50c90fbae6e32791ffd0f4" ns2:_="" ns3:_="">
    <xsd:import namespace="72dd9093-9e75-4ffd-a570-9dda36a15cec"/>
    <xsd:import namespace="5febdd18-e6cd-4108-ba5c-4e60dde686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dd9093-9e75-4ffd-a570-9dda36a15c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bdd18-e6cd-4108-ba5c-4e60dde6863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DB6414-79D6-4ADF-AB8B-5B961A0EAB5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7B5960E-3BD9-44CA-BE2E-38AA286C1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3523A9-DEDF-4AA4-A0D2-76FC9D8051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dd9093-9e75-4ffd-a570-9dda36a15cec"/>
    <ds:schemaRef ds:uri="5febdd18-e6cd-4108-ba5c-4e60dde686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7adc8ff-f4a3-4a14-9c0d-84b4985de0d2}" enabled="1" method="Privileged" siteId="{8331b18d-2d87-48ef-a35f-ac8818ebf9b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1179</Words>
  <Application>Microsoft Office PowerPoint</Application>
  <PresentationFormat>On-screen Show (16:9)</PresentationFormat>
  <Paragraphs>133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Times New Roman</vt:lpstr>
      <vt:lpstr>Montserrat Black</vt:lpstr>
      <vt:lpstr>Century Gothic</vt:lpstr>
      <vt:lpstr>Montserrat</vt:lpstr>
      <vt:lpstr>Arial</vt:lpstr>
      <vt:lpstr>Calibri</vt:lpstr>
      <vt:lpstr>AFWERX</vt:lpstr>
      <vt:lpstr>AFWERX</vt:lpstr>
      <vt:lpstr>SBC Name Project Name</vt:lpstr>
      <vt:lpstr>Critical Technology Area  |  Core Competency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BUMGARDNER, MELISA A CTR USAF AFMC AFRL/RRGM</dc:creator>
  <cp:lastModifiedBy>John Quinn</cp:lastModifiedBy>
  <cp:revision>1</cp:revision>
  <dcterms:modified xsi:type="dcterms:W3CDTF">2026-06-23T13:36:36Z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0x01010027EB8AA7EB49BA43B8EFB3A5448A2323</vt:lpwstr>
  </property>
</Properties>
</file>