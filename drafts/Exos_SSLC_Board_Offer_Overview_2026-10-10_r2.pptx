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6" r:id="rId17"/>
    <p:sldId id="269" r:id="rId20"/>
    <p:sldId id="271" r:id="rId22"/>
    <p:sldId id="259" r:id="rId5"/>
    <p:sldId id="260" r:id="rId6"/>
    <p:sldId id="261" r:id="rId7"/>
    <p:sldId id="262" r:id="rId8"/>
    <p:sldId id="263" r:id="rId9"/>
    <p:sldId id="264" r:id="rId10"/>
    <p:sldId id="268" r:id="rId19"/>
    <p:sldId id="267" r:id="rId18"/>
    <p:sldId id="270" r:id="rId21"/>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7.xml"/><Relationship Id="rId6" Type="http://schemas.openxmlformats.org/officeDocument/2006/relationships/slide" Target="slides/slide8.xml"/><Relationship Id="rId7" Type="http://schemas.openxmlformats.org/officeDocument/2006/relationships/slide" Target="slides/slide9.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6.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14.xml"/><Relationship Id="rId19" Type="http://schemas.openxmlformats.org/officeDocument/2006/relationships/slide" Target="slides/slide13.xml"/><Relationship Id="rId20" Type="http://schemas.openxmlformats.org/officeDocument/2006/relationships/slide" Target="slides/slide5.xml"/><Relationship Id="rId21" Type="http://schemas.openxmlformats.org/officeDocument/2006/relationships/slide" Target="slides/slide1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txBody>
          <a:body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algn="ctr" indent="0" marL="0">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p/>
        </p:txBody>
      </p:sp>
      <p:sp>
        <p:nvSpPr>
          <p:cNvPr id="7" name="Text 4"/>
          <p:cNvSpPr txBox="1"/>
          <p:nvPr/>
        </p:nvSpPr>
        <p:spPr>
          <a:xfrm>
            <a:off x="548640" y="2971800"/>
            <a:ext cx="8046720" cy="347472"/>
          </a:xfrm>
          <a:prstGeom prst="rect">
            <a:avLst/>
          </a:prstGeom>
          <a:noFill/>
          <a:ln/>
        </p:spPr>
        <p:txBody>
          <a:bodyPr wrap="square" rtlCol="0" anchor="ctr"/>
          <a:lstStyle/>
          <a:p>
            <a:pPr algn="ctr" indent="0" marL="0">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algn="ctr" indent="0" marL="0">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algn="ctr" indent="0" marL="0">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r>
          <p:cNvPicPr>
            <a:picLocks noChangeAspect="1"/>
          </p:cNvPicPr>
          <p:nvPr/>
        </p:nvPicPr>
        <p:blipFill>
          <a:blip r:embed="rId2"/>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indent="0" marL="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algn="l" indent="0" marL="0">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txBody>
          <a:bodyPr/>
          <a:p/>
        </p:txBody>
      </p:sp>
      <p:sp>
        <p:nvSpPr>
          <p:cNvPr id="6" name="Text 4"/>
          <p:cNvSpPr txBox="1"/>
          <p:nvPr/>
        </p:nvSpPr>
        <p:spPr>
          <a:xfrm>
            <a:off x="640080" y="2999232"/>
            <a:ext cx="7863840" cy="1508760"/>
          </a:xfrm>
          <a:prstGeom prst="rect">
            <a:avLst/>
          </a:prstGeom>
          <a:noFill/>
          <a:ln/>
        </p:spPr>
        <p:txBody>
          <a:bodyPr wrap="square" rtlCol="0" anchor="t"/>
          <a:lstStyle/>
          <a:p>
            <a:pPr indent="0" marL="0">
              <a:buNone/>
            </a:pPr>
            <a:r>
              <a:rPr lang="en-US" sz="1200" b="1" dirty="0">
                <a:solidFill>
                  <a:srgbClr val="F26A21"/>
                </a:solidFill>
              </a:rPr>
              <a:t>Motion 1: </a:t>
            </a:r>
            <a:pPr indent="0" marL="0">
              <a:buNone/>
            </a:pPr>
            <a:r>
              <a:rPr lang="en-US" sz="1000" dirty="0">
                <a:solidFill>
                  <a:srgbClr val="CCCCCC"/>
                </a:solidFill>
              </a:rPr>
              <a:t>Approve Exos offer (Option B) + §3 exclusivity (90-day) + ROFR on asset sale
</a:t>
            </a:r>
            <a:pPr indent="0" marL="0">
              <a:buNone/>
            </a:pPr>
            <a:r>
              <a:rPr lang="en-US" sz="1200" b="1" dirty="0">
                <a:solidFill>
                  <a:srgbClr val="F26A21"/>
                </a:solidFill>
              </a:rPr>
              <a:t>Motion 2: </a:t>
            </a:r>
            <a:pPr indent="0" marL="0">
              <a:buNone/>
            </a:pPr>
            <a:r>
              <a:rPr lang="en-US" sz="1200" dirty="0">
                <a:solidFill>
                  <a:srgbClr val="CCCCCC"/>
                </a:solidFill>
              </a:rPr>
              <a:t>Full read-only QB Online access for diligence (Cal. Corp. Code §1602 + AAA §4; under 7/27/2021 NDA)
</a:t>
            </a:r>
            <a:pPr indent="0" marL="0">
              <a:buNone/>
            </a:pPr>
            <a:r>
              <a:rPr lang="en-US" sz="1200" b="1" dirty="0">
                <a:solidFill>
                  <a:srgbClr val="F26A21"/>
                </a:solidFill>
              </a:rPr>
              <a:t>Motion 3: </a:t>
            </a:r>
            <a:r>
              <a:rPr lang="en-US" sz="1200" dirty="0" b="0">
                <a:solidFill>
                  <a:srgbClr val="CCCCCC"/>
                </a:solidFill>
              </a:rPr>
              <a:t>Correct AR Unbilled &amp; Deposits accounting within 5 days (A La Carte + outside CPAs)
</a:t>
            </a:r>
            <a:r>
              <a:rPr lang="en-US" sz="1200" b="1" dirty="0">
                <a:solidFill>
                  <a:srgbClr val="F26A21"/>
                </a:solidFill>
              </a:rPr>
              <a:t>Motion 4: </a:t>
            </a:r>
            <a:pPr indent="0" marL="0">
              <a:buNone/>
            </a:pPr>
            <a:r>
              <a:rPr lang="en-US" sz="1200" dirty="0">
                <a:solidFill>
                  <a:srgbClr val="CCCCCC"/>
                </a:solidFill>
              </a:rPr>
              <a:t>Consent to ERP/MRP &amp; inventory evaluation using QB data (confidential under NDA)</a:t>
            </a:r>
            <a:endParaRPr lang="en-US" sz="1400" dirty="0"/>
          </a:p>
          <a:p>
            <a:r>
              <a:rPr lang="en-US" sz="1000">
                <a:solidFill>
                  <a:srgbClr val="FFFFFF"/>
                </a:solidFill>
                <a:latin typeface="Calibri"/>
              </a:rPr>
              <a:t>Motion 5: Resolve related-party balances (4/30/2026 entries) — independent accountant; Microcosm/Wertz directors abstain</a:t>
            </a:r>
          </a:p>
        </p:txBody>
      </p:sp>
      <p:pic>
        <p:nvPicPr>
          <p:cNvPr id="7"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F26A21"/>
                </a:solidFill>
                <a:latin typeface="Calibri"/>
              </a:rPr>
              <a:t>These motions protect every SSLC holder outside the Microcosm/Wertz group, including Exos (18%),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pPr algn="l"/>
            <a:r>
              <a:rPr sz="1000" b="0" i="1">
                <a:solidFill>
                  <a:srgbClr val="888888"/>
                </a:solidFill>
                <a:latin typeface="Calibri"/>
              </a:rPr>
              <a:t>Ownership: Jim Wertz held most of SSLC until Exos's ~10% purchase, then Exos's ~8% follow-on to keep SSLC cash-flow positive.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txBody>
          <a:bodyPr/>
          <a:p/>
        </p:txBody>
      </p:sp>
      <p:sp>
        <p:nvSpPr>
          <p:cNvPr id="5" name="Text 3"/>
          <p:cNvSpPr txBox="1"/>
          <p:nvPr/>
        </p:nvSpPr>
        <p:spPr>
          <a:xfrm>
            <a:off x="457200" y="1234440"/>
            <a:ext cx="2377440" cy="868680"/>
          </a:xfrm>
          <a:prstGeom prst="rect">
            <a:avLst/>
          </a:prstGeom>
          <a:noFill/>
          <a:ln/>
        </p:spPr>
        <p:txBody>
          <a:bodyPr wrap="square" rtlCol="0" anchor="ctr"/>
          <a:lstStyle/>
          <a:p>
            <a:pPr algn="ctr" indent="0" marL="0">
              <a:buNone/>
            </a:pPr>
            <a:r>
              <a:rPr lang="en-US" sz="3400" b="1" dirty="0">
                <a:solidFill>
                  <a:srgbClr val="FFFFFF"/>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algn="ctr" indent="0" marL="0">
              <a:buNone/>
            </a:pPr>
            <a:r>
              <a:rPr lang="en-US" sz="1300" b="1" dirty="0">
                <a:solidFill>
                  <a:srgbClr val="CCCCCC"/>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algn="ctr" indent="0" marL="0">
              <a:buNone/>
            </a:pPr>
            <a:r>
              <a:rPr lang="en-US" sz="1100" dirty="0">
                <a:solidFill>
                  <a:srgbClr val="888888"/>
                </a:solidFill>
              </a:rPr>
              <a:t>One IM payment 10/7</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txBody>
          <a:bodyPr/>
          <a:p/>
        </p:txBody>
      </p:sp>
      <p:sp>
        <p:nvSpPr>
          <p:cNvPr id="9" name="Text 7"/>
          <p:cNvSpPr txBox="1"/>
          <p:nvPr/>
        </p:nvSpPr>
        <p:spPr>
          <a:xfrm>
            <a:off x="3291840" y="1234440"/>
            <a:ext cx="2377440" cy="868680"/>
          </a:xfrm>
          <a:prstGeom prst="rect">
            <a:avLst/>
          </a:prstGeom>
          <a:noFill/>
          <a:ln/>
        </p:spPr>
        <p:txBody>
          <a:bodyPr wrap="square" rtlCol="0" anchor="ctr"/>
          <a:lstStyle/>
          <a:p>
            <a:pPr algn="ctr" indent="0" marL="0">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algn="ctr" indent="0" marL="0">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algn="ctr" indent="0" marL="0">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txBody>
          <a:bodyPr/>
          <a:p/>
        </p:txBody>
      </p:sp>
      <p:sp>
        <p:nvSpPr>
          <p:cNvPr id="13" name="Text 11"/>
          <p:cNvSpPr txBox="1"/>
          <p:nvPr/>
        </p:nvSpPr>
        <p:spPr>
          <a:xfrm>
            <a:off x="6126480" y="1234440"/>
            <a:ext cx="2377440" cy="868680"/>
          </a:xfrm>
          <a:prstGeom prst="rect">
            <a:avLst/>
          </a:prstGeom>
          <a:noFill/>
          <a:ln/>
        </p:spPr>
        <p:txBody>
          <a:bodyPr wrap="square" rtlCol="0" anchor="ctr"/>
          <a:lstStyle/>
          <a:p>
            <a:pPr algn="ctr" indent="0" marL="0">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algn="ctr" indent="0" marL="0">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algn="ctr" indent="0" marL="0">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txBody>
          <a:bodyPr/>
          <a:p/>
        </p:txBody>
      </p:sp>
      <p:sp>
        <p:nvSpPr>
          <p:cNvPr id="17" name="Text 15"/>
          <p:cNvSpPr txBox="1"/>
          <p:nvPr/>
        </p:nvSpPr>
        <p:spPr>
          <a:xfrm>
            <a:off x="640080" y="3429000"/>
            <a:ext cx="7863840" cy="868680"/>
          </a:xfrm>
          <a:prstGeom prst="rect">
            <a:avLst/>
          </a:prstGeom>
          <a:noFill/>
          <a:ln/>
        </p:spPr>
        <p:txBody>
          <a:bodyPr wrap="square" rtlCol="0" anchor="ctr"/>
          <a:lstStyle/>
          <a:p>
            <a:pPr algn="l" indent="0" marL="0">
              <a:buNone/>
            </a:pPr>
            <a:r>
              <a:rPr lang="en-US" sz="1300" i="1" dirty="0">
                <a:solidFill>
                  <a:srgbClr val="CCCCCC"/>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FFFFFF"/>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07408" y="594360"/>
            <a:ext cx="46177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 y="594360"/>
            <a:ext cx="41605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07408" y="594360"/>
            <a:ext cx="46177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F26A21"/>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F26A21"/>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CCCCCC"/>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CCCCCC"/>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CCCCCC"/>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CCCCCC"/>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FFFFFF"/>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CCCCCC"/>
                </a:solidFill>
                <a:latin typeface="Calibri"/>
              </a:rPr>
              <a:t>Exos: 18.06% → $789,572</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F26A21"/>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CCCCCC"/>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FF6666"/>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CCCCCC"/>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CCCCCC"/>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FFFFFF"/>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CCCCCC"/>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FF6666"/>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CCCCCC"/>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FF6666"/>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CCCCCC"/>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FF6666"/>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CCCCCC"/>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FF6666"/>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CCCCCC"/>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F26A21"/>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17136" y="2482596"/>
            <a:ext cx="2926080" cy="205740"/>
          </a:xfrm>
          <a:prstGeom prst="rect">
            <a:avLst/>
          </a:prstGeom>
          <a:noFill/>
        </p:spPr>
        <p:txBody>
          <a:bodyPr wrap="square">
            <a:spAutoFit/>
          </a:bodyPr>
          <a:lstStyle/>
          <a:p>
            <a:pPr algn="l"/>
            <a:r>
              <a:rPr sz="1000" b="0" i="0">
                <a:solidFill>
                  <a:srgbClr val="CCCCCC"/>
                </a:solidFill>
                <a:latin typeface="Calibri"/>
              </a:rPr>
              <a:t>Total liabilities (10/11)</a:t>
            </a:r>
          </a:p>
        </p:txBody>
      </p:sp>
      <p:sp>
        <p:nvSpPr>
          <p:cNvPr id="41" name="TextBox 40"/>
          <p:cNvSpPr txBox="1"/>
          <p:nvPr/>
        </p:nvSpPr>
        <p:spPr>
          <a:xfrm>
            <a:off x="7351775" y="2482596"/>
            <a:ext cx="1527047" cy="205740"/>
          </a:xfrm>
          <a:prstGeom prst="rect">
            <a:avLst/>
          </a:prstGeom>
          <a:noFill/>
        </p:spPr>
        <p:txBody>
          <a:bodyPr wrap="square">
            <a:spAutoFit/>
          </a:bodyPr>
          <a:lstStyle/>
          <a:p>
            <a:pPr algn="r"/>
            <a:r>
              <a:rPr sz="1000" b="1" i="0">
                <a:solidFill>
                  <a:srgbClr val="FF6666"/>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888888"/>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CCCCCC"/>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FF6666"/>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pPr algn="l"/>
            <a:r>
              <a:rPr sz="1000" b="1" i="0">
                <a:solidFill>
                  <a:srgbClr val="CCCCCC"/>
                </a:solidFill>
                <a:latin typeface="Calibri"/>
              </a:rPr>
              <a:t>Exos loan reconciled: $60K→$31.2K (11% int.); records match. $30K prior loan→5,464 shares (incl. in $790K paid-in).</a:t>
            </a:r>
          </a:p>
        </p:txBody>
      </p:sp>
      <p:sp>
        <p:nvSpPr>
          <p:cNvPr id="53" name="Rectangle 52"/>
          <p:cNvSpPr/>
          <p:nvPr/>
        </p:nvSpPr>
        <p:spPr>
          <a:xfrm>
            <a:off x="201168" y="3593592"/>
            <a:ext cx="8741664" cy="1175004"/>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01168" y="3593592"/>
            <a:ext cx="8741664" cy="1463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92608" y="3610051"/>
            <a:ext cx="5486400" cy="173736"/>
          </a:xfrm>
          <a:prstGeom prst="rect">
            <a:avLst/>
          </a:prstGeom>
          <a:noFill/>
        </p:spPr>
        <p:txBody>
          <a:bodyPr wrap="none">
            <a:spAutoFit/>
          </a:bodyPr>
          <a:lstStyle/>
          <a:p>
            <a:pPr algn="l"/>
            <a:r>
              <a:rPr sz="1000" b="1" i="0">
                <a:solidFill>
                  <a:srgbClr val="F26A21"/>
                </a:solidFill>
                <a:latin typeface="Calibri"/>
              </a:rPr>
              <a:t>Exos Assessment  (Motions 2 &amp; 3)  — As Booked vs. Adjusted</a:t>
            </a:r>
          </a:p>
        </p:txBody>
      </p:sp>
      <p:sp>
        <p:nvSpPr>
          <p:cNvPr id="56" name="TextBox 55"/>
          <p:cNvSpPr txBox="1"/>
          <p:nvPr/>
        </p:nvSpPr>
        <p:spPr>
          <a:xfrm>
            <a:off x="7360920" y="3610051"/>
            <a:ext cx="1463040" cy="173736"/>
          </a:xfrm>
          <a:prstGeom prst="rect">
            <a:avLst/>
          </a:prstGeom>
          <a:noFill/>
        </p:spPr>
        <p:txBody>
          <a:bodyPr wrap="none">
            <a:spAutoFit/>
          </a:bodyPr>
          <a:lstStyle/>
          <a:p>
            <a:pPr algn="r"/>
            <a:r>
              <a:rPr sz="1000" b="0" i="1">
                <a:solidFill>
                  <a:srgbClr val="888888"/>
                </a:solidFill>
                <a:latin typeface="Calibri"/>
              </a:rPr>
              <a:t>pending reconciliation</a:t>
            </a:r>
          </a:p>
        </p:txBody>
      </p:sp>
      <p:sp>
        <p:nvSpPr>
          <p:cNvPr id="57" name="TextBox 56"/>
          <p:cNvSpPr txBox="1"/>
          <p:nvPr/>
        </p:nvSpPr>
        <p:spPr>
          <a:xfrm>
            <a:off x="292608" y="3802075"/>
            <a:ext cx="2926080" cy="160020"/>
          </a:xfrm>
          <a:prstGeom prst="rect">
            <a:avLst/>
          </a:prstGeom>
          <a:noFill/>
        </p:spPr>
        <p:txBody>
          <a:bodyPr wrap="none">
            <a:spAutoFit/>
          </a:bodyPr>
          <a:lstStyle/>
          <a:p>
            <a:pPr algn="l"/>
            <a:r>
              <a:rPr sz="1000" b="1" i="0">
                <a:solidFill>
                  <a:srgbClr val="CCCCCC"/>
                </a:solidFill>
                <a:latin typeface="Calibri"/>
              </a:rPr>
              <a:t>Line item</a:t>
            </a:r>
          </a:p>
        </p:txBody>
      </p:sp>
      <p:sp>
        <p:nvSpPr>
          <p:cNvPr id="58" name="TextBox 57"/>
          <p:cNvSpPr txBox="1"/>
          <p:nvPr/>
        </p:nvSpPr>
        <p:spPr>
          <a:xfrm>
            <a:off x="3310128" y="3802075"/>
            <a:ext cx="1170432" cy="160020"/>
          </a:xfrm>
          <a:prstGeom prst="rect">
            <a:avLst/>
          </a:prstGeom>
          <a:noFill/>
        </p:spPr>
        <p:txBody>
          <a:bodyPr wrap="none">
            <a:spAutoFit/>
          </a:bodyPr>
          <a:lstStyle/>
          <a:p>
            <a:pPr algn="r"/>
            <a:r>
              <a:rPr sz="1000" b="1" i="0">
                <a:solidFill>
                  <a:srgbClr val="CCCCCC"/>
                </a:solidFill>
                <a:latin typeface="Calibri"/>
              </a:rPr>
              <a:t>As booked</a:t>
            </a:r>
          </a:p>
        </p:txBody>
      </p:sp>
      <p:sp>
        <p:nvSpPr>
          <p:cNvPr id="59" name="TextBox 58"/>
          <p:cNvSpPr txBox="1"/>
          <p:nvPr/>
        </p:nvSpPr>
        <p:spPr>
          <a:xfrm>
            <a:off x="4572000" y="3802075"/>
            <a:ext cx="1143000" cy="160020"/>
          </a:xfrm>
          <a:prstGeom prst="rect">
            <a:avLst/>
          </a:prstGeom>
          <a:noFill/>
        </p:spPr>
        <p:txBody>
          <a:bodyPr wrap="none">
            <a:spAutoFit/>
          </a:bodyPr>
          <a:lstStyle/>
          <a:p>
            <a:pPr algn="r"/>
            <a:r>
              <a:rPr sz="1000" b="1" i="0">
                <a:solidFill>
                  <a:srgbClr val="CCCCCC"/>
                </a:solidFill>
                <a:latin typeface="Calibri"/>
              </a:rPr>
              <a:t>Adjusted</a:t>
            </a:r>
          </a:p>
        </p:txBody>
      </p:sp>
      <p:sp>
        <p:nvSpPr>
          <p:cNvPr id="60" name="TextBox 59"/>
          <p:cNvSpPr txBox="1"/>
          <p:nvPr/>
        </p:nvSpPr>
        <p:spPr>
          <a:xfrm>
            <a:off x="5806440" y="3802075"/>
            <a:ext cx="2980944" cy="160020"/>
          </a:xfrm>
          <a:prstGeom prst="rect">
            <a:avLst/>
          </a:prstGeom>
          <a:noFill/>
        </p:spPr>
        <p:txBody>
          <a:bodyPr wrap="none">
            <a:spAutoFit/>
          </a:bodyPr>
          <a:lstStyle/>
          <a:p>
            <a:pPr algn="l"/>
            <a:r>
              <a:rPr sz="1000" b="1" i="0">
                <a:solidFill>
                  <a:srgbClr val="CCCCCC"/>
                </a:solidFill>
                <a:latin typeface="Calibri"/>
              </a:rPr>
              <a:t>Basis</a:t>
            </a:r>
          </a:p>
        </p:txBody>
      </p:sp>
      <p:sp>
        <p:nvSpPr>
          <p:cNvPr id="61" name="Rectangle 60"/>
          <p:cNvSpPr/>
          <p:nvPr/>
        </p:nvSpPr>
        <p:spPr>
          <a:xfrm>
            <a:off x="201168" y="3962095"/>
            <a:ext cx="8741664"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98848" y="3973068"/>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3" name="TextBox 62"/>
          <p:cNvSpPr txBox="1"/>
          <p:nvPr/>
        </p:nvSpPr>
        <p:spPr>
          <a:xfrm>
            <a:off x="4498848" y="4165091"/>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4" name="TextBox 63"/>
          <p:cNvSpPr txBox="1"/>
          <p:nvPr/>
        </p:nvSpPr>
        <p:spPr>
          <a:xfrm>
            <a:off x="4498848" y="4357116"/>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5" name="TextBox 64"/>
          <p:cNvSpPr txBox="1"/>
          <p:nvPr/>
        </p:nvSpPr>
        <p:spPr>
          <a:xfrm>
            <a:off x="4498848" y="4549140"/>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6" name="TextBox 65"/>
          <p:cNvSpPr txBox="1"/>
          <p:nvPr/>
        </p:nvSpPr>
        <p:spPr>
          <a:xfrm>
            <a:off x="292608" y="3973068"/>
            <a:ext cx="2926080" cy="182880"/>
          </a:xfrm>
          <a:prstGeom prst="rect">
            <a:avLst/>
          </a:prstGeom>
          <a:noFill/>
        </p:spPr>
        <p:txBody>
          <a:bodyPr wrap="none">
            <a:spAutoFit/>
          </a:bodyPr>
          <a:lstStyle/>
          <a:p>
            <a:pPr algn="l"/>
            <a:r>
              <a:rPr sz="1000" b="1" i="0">
                <a:solidFill>
                  <a:srgbClr val="FFCC44"/>
                </a:solidFill>
                <a:latin typeface="Calibri"/>
              </a:rPr>
              <a:t>Due to Microcosm</a:t>
            </a:r>
          </a:p>
        </p:txBody>
      </p:sp>
      <p:sp>
        <p:nvSpPr>
          <p:cNvPr id="67" name="TextBox 66"/>
          <p:cNvSpPr txBox="1"/>
          <p:nvPr/>
        </p:nvSpPr>
        <p:spPr>
          <a:xfrm>
            <a:off x="3310128" y="3973068"/>
            <a:ext cx="1170432" cy="182880"/>
          </a:xfrm>
          <a:prstGeom prst="rect">
            <a:avLst/>
          </a:prstGeom>
          <a:noFill/>
        </p:spPr>
        <p:txBody>
          <a:bodyPr wrap="none">
            <a:spAutoFit/>
          </a:bodyPr>
          <a:lstStyle/>
          <a:p>
            <a:pPr algn="r"/>
            <a:r>
              <a:rPr sz="1000" b="0" i="0">
                <a:solidFill>
                  <a:srgbClr val="888888"/>
                </a:solidFill>
                <a:latin typeface="Calibri"/>
              </a:rPr>
              <a:t>$451K</a:t>
            </a:r>
          </a:p>
        </p:txBody>
      </p:sp>
      <p:sp>
        <p:nvSpPr>
          <p:cNvPr id="68" name="TextBox 67"/>
          <p:cNvSpPr txBox="1"/>
          <p:nvPr/>
        </p:nvSpPr>
        <p:spPr>
          <a:xfrm>
            <a:off x="4572000" y="3973068"/>
            <a:ext cx="1143000" cy="182880"/>
          </a:xfrm>
          <a:prstGeom prst="rect">
            <a:avLst/>
          </a:prstGeom>
          <a:noFill/>
        </p:spPr>
        <p:txBody>
          <a:bodyPr wrap="none">
            <a:spAutoFit/>
          </a:bodyPr>
          <a:lstStyle/>
          <a:p>
            <a:pPr algn="r"/>
            <a:r>
              <a:rPr sz="1000" b="1" i="0">
                <a:solidFill>
                  <a:srgbClr val="44BB44"/>
                </a:solidFill>
                <a:latin typeface="Calibri"/>
              </a:rPr>
              <a:t>~$100K</a:t>
            </a:r>
          </a:p>
        </p:txBody>
      </p:sp>
      <p:sp>
        <p:nvSpPr>
          <p:cNvPr id="69" name="TextBox 68"/>
          <p:cNvSpPr txBox="1"/>
          <p:nvPr/>
        </p:nvSpPr>
        <p:spPr>
          <a:xfrm>
            <a:off x="5806440" y="3973068"/>
            <a:ext cx="2980944" cy="182880"/>
          </a:xfrm>
          <a:prstGeom prst="rect">
            <a:avLst/>
          </a:prstGeom>
          <a:noFill/>
        </p:spPr>
        <p:txBody>
          <a:bodyPr wrap="none">
            <a:spAutoFit/>
          </a:bodyPr>
          <a:lstStyle/>
          <a:p>
            <a:pPr algn="l"/>
            <a:r>
              <a:rPr sz="1000" b="0" i="1">
                <a:solidFill>
                  <a:srgbClr val="CCCCCC"/>
                </a:solidFill>
                <a:latin typeface="Calibri"/>
              </a:rPr>
              <a:t>Rent+util credit ~$351K (Jul '24-Aug '26)</a:t>
            </a:r>
          </a:p>
        </p:txBody>
      </p:sp>
      <p:sp>
        <p:nvSpPr>
          <p:cNvPr id="70" name="TextBox 69"/>
          <p:cNvSpPr txBox="1"/>
          <p:nvPr/>
        </p:nvSpPr>
        <p:spPr>
          <a:xfrm>
            <a:off x="292608" y="4165091"/>
            <a:ext cx="2926080" cy="182880"/>
          </a:xfrm>
          <a:prstGeom prst="rect">
            <a:avLst/>
          </a:prstGeom>
          <a:noFill/>
        </p:spPr>
        <p:txBody>
          <a:bodyPr wrap="none">
            <a:spAutoFit/>
          </a:bodyPr>
          <a:lstStyle/>
          <a:p>
            <a:pPr algn="l"/>
            <a:r>
              <a:rPr sz="1000" b="0" i="0">
                <a:solidFill>
                  <a:srgbClr val="FFFFFF"/>
                </a:solidFill>
                <a:latin typeface="Calibri"/>
              </a:rPr>
              <a:t>Bookstore note</a:t>
            </a:r>
          </a:p>
        </p:txBody>
      </p:sp>
      <p:sp>
        <p:nvSpPr>
          <p:cNvPr id="71" name="TextBox 70"/>
          <p:cNvSpPr txBox="1"/>
          <p:nvPr/>
        </p:nvSpPr>
        <p:spPr>
          <a:xfrm>
            <a:off x="3310128" y="4165091"/>
            <a:ext cx="1170432" cy="182880"/>
          </a:xfrm>
          <a:prstGeom prst="rect">
            <a:avLst/>
          </a:prstGeom>
          <a:noFill/>
        </p:spPr>
        <p:txBody>
          <a:bodyPr wrap="none">
            <a:spAutoFit/>
          </a:bodyPr>
          <a:lstStyle/>
          <a:p>
            <a:pPr algn="r"/>
            <a:r>
              <a:rPr sz="1000" b="0" i="0">
                <a:solidFill>
                  <a:srgbClr val="888888"/>
                </a:solidFill>
                <a:latin typeface="Calibri"/>
              </a:rPr>
              <a:t>$321K</a:t>
            </a:r>
          </a:p>
        </p:txBody>
      </p:sp>
      <p:sp>
        <p:nvSpPr>
          <p:cNvPr id="72" name="TextBox 71"/>
          <p:cNvSpPr txBox="1"/>
          <p:nvPr/>
        </p:nvSpPr>
        <p:spPr>
          <a:xfrm>
            <a:off x="4572000" y="4165091"/>
            <a:ext cx="1143000" cy="182880"/>
          </a:xfrm>
          <a:prstGeom prst="rect">
            <a:avLst/>
          </a:prstGeom>
          <a:noFill/>
        </p:spPr>
        <p:txBody>
          <a:bodyPr wrap="none">
            <a:spAutoFit/>
          </a:bodyPr>
          <a:lstStyle/>
          <a:p>
            <a:pPr algn="r"/>
            <a:r>
              <a:rPr sz="1000" b="0" i="0">
                <a:solidFill>
                  <a:srgbClr val="CCCCCC"/>
                </a:solidFill>
                <a:latin typeface="Calibri"/>
              </a:rPr>
              <a:t>$224K</a:t>
            </a:r>
          </a:p>
        </p:txBody>
      </p:sp>
      <p:sp>
        <p:nvSpPr>
          <p:cNvPr id="73" name="TextBox 72"/>
          <p:cNvSpPr txBox="1"/>
          <p:nvPr/>
        </p:nvSpPr>
        <p:spPr>
          <a:xfrm>
            <a:off x="5806440" y="4165091"/>
            <a:ext cx="2980944" cy="182880"/>
          </a:xfrm>
          <a:prstGeom prst="rect">
            <a:avLst/>
          </a:prstGeom>
          <a:noFill/>
        </p:spPr>
        <p:txBody>
          <a:bodyPr wrap="none">
            <a:spAutoFit/>
          </a:bodyPr>
          <a:lstStyle/>
          <a:p>
            <a:pPr algn="l"/>
            <a:r>
              <a:rPr sz="1000" b="0" i="1">
                <a:solidFill>
                  <a:srgbClr val="CCCCCC"/>
                </a:solidFill>
                <a:latin typeface="Calibri"/>
              </a:rPr>
              <a:t>$97K interest capitalized 4/30/2026</a:t>
            </a:r>
          </a:p>
        </p:txBody>
      </p:sp>
      <p:sp>
        <p:nvSpPr>
          <p:cNvPr id="74" name="TextBox 73"/>
          <p:cNvSpPr txBox="1"/>
          <p:nvPr/>
        </p:nvSpPr>
        <p:spPr>
          <a:xfrm>
            <a:off x="292608" y="4357116"/>
            <a:ext cx="2926080" cy="182880"/>
          </a:xfrm>
          <a:prstGeom prst="rect">
            <a:avLst/>
          </a:prstGeom>
          <a:noFill/>
        </p:spPr>
        <p:txBody>
          <a:bodyPr wrap="none">
            <a:spAutoFit/>
          </a:bodyPr>
          <a:lstStyle/>
          <a:p>
            <a:pPr algn="l"/>
            <a:r>
              <a:rPr sz="1000" b="0" i="0">
                <a:solidFill>
                  <a:srgbClr val="FFFFFF"/>
                </a:solidFill>
                <a:latin typeface="Calibri"/>
              </a:rPr>
              <a:t>Billed ahead (est.)</a:t>
            </a:r>
          </a:p>
        </p:txBody>
      </p:sp>
      <p:sp>
        <p:nvSpPr>
          <p:cNvPr id="75" name="TextBox 74"/>
          <p:cNvSpPr txBox="1"/>
          <p:nvPr/>
        </p:nvSpPr>
        <p:spPr>
          <a:xfrm>
            <a:off x="3310128" y="4357116"/>
            <a:ext cx="1170432" cy="182880"/>
          </a:xfrm>
          <a:prstGeom prst="rect">
            <a:avLst/>
          </a:prstGeom>
          <a:noFill/>
        </p:spPr>
        <p:txBody>
          <a:bodyPr wrap="none">
            <a:spAutoFit/>
          </a:bodyPr>
          <a:lstStyle/>
          <a:p>
            <a:pPr algn="r"/>
            <a:r>
              <a:rPr sz="1000" b="0" i="0">
                <a:solidFill>
                  <a:srgbClr val="888888"/>
                </a:solidFill>
                <a:latin typeface="Calibri"/>
              </a:rPr>
              <a:t>$942K</a:t>
            </a:r>
          </a:p>
        </p:txBody>
      </p:sp>
      <p:sp>
        <p:nvSpPr>
          <p:cNvPr id="76" name="TextBox 75"/>
          <p:cNvSpPr txBox="1"/>
          <p:nvPr/>
        </p:nvSpPr>
        <p:spPr>
          <a:xfrm>
            <a:off x="4572000" y="4357116"/>
            <a:ext cx="1143000" cy="182880"/>
          </a:xfrm>
          <a:prstGeom prst="rect">
            <a:avLst/>
          </a:prstGeom>
          <a:noFill/>
        </p:spPr>
        <p:txBody>
          <a:bodyPr wrap="none">
            <a:spAutoFit/>
          </a:bodyPr>
          <a:lstStyle/>
          <a:p>
            <a:pPr algn="r"/>
            <a:r>
              <a:rPr sz="1000" b="0" i="0">
                <a:solidFill>
                  <a:srgbClr val="CCCCCC"/>
                </a:solidFill>
                <a:latin typeface="Calibri"/>
              </a:rPr>
              <a:t>~$100-250K</a:t>
            </a:r>
          </a:p>
        </p:txBody>
      </p:sp>
      <p:sp>
        <p:nvSpPr>
          <p:cNvPr id="77" name="TextBox 76"/>
          <p:cNvSpPr txBox="1"/>
          <p:nvPr/>
        </p:nvSpPr>
        <p:spPr>
          <a:xfrm>
            <a:off x="5806440" y="4357116"/>
            <a:ext cx="2980944" cy="182880"/>
          </a:xfrm>
          <a:prstGeom prst="rect">
            <a:avLst/>
          </a:prstGeom>
          <a:noFill/>
        </p:spPr>
        <p:txBody>
          <a:bodyPr wrap="none">
            <a:spAutoFit/>
          </a:bodyPr>
          <a:lstStyle/>
          <a:p>
            <a:pPr algn="l"/>
            <a:r>
              <a:rPr sz="1000" b="0" i="1">
                <a:solidFill>
                  <a:srgbClr val="CCCCCC"/>
                </a:solidFill>
                <a:latin typeface="Calibri"/>
              </a:rPr>
              <a:t>Start-billings uncleared at ship (Motion 3)</a:t>
            </a:r>
          </a:p>
        </p:txBody>
      </p:sp>
      <p:sp>
        <p:nvSpPr>
          <p:cNvPr id="78" name="TextBox 77"/>
          <p:cNvSpPr txBox="1"/>
          <p:nvPr/>
        </p:nvSpPr>
        <p:spPr>
          <a:xfrm>
            <a:off x="292608" y="4549140"/>
            <a:ext cx="2926080" cy="182880"/>
          </a:xfrm>
          <a:prstGeom prst="rect">
            <a:avLst/>
          </a:prstGeom>
          <a:noFill/>
        </p:spPr>
        <p:txBody>
          <a:bodyPr wrap="none">
            <a:spAutoFit/>
          </a:bodyPr>
          <a:lstStyle/>
          <a:p>
            <a:pPr algn="l"/>
            <a:r>
              <a:rPr sz="1000" b="1" i="0">
                <a:solidFill>
                  <a:srgbClr val="FFCC44"/>
                </a:solidFill>
                <a:latin typeface="Calibri"/>
              </a:rPr>
              <a:t>Total equity</a:t>
            </a:r>
          </a:p>
        </p:txBody>
      </p:sp>
      <p:sp>
        <p:nvSpPr>
          <p:cNvPr id="79" name="TextBox 78"/>
          <p:cNvSpPr txBox="1"/>
          <p:nvPr/>
        </p:nvSpPr>
        <p:spPr>
          <a:xfrm>
            <a:off x="3310128" y="4549140"/>
            <a:ext cx="1170432" cy="182880"/>
          </a:xfrm>
          <a:prstGeom prst="rect">
            <a:avLst/>
          </a:prstGeom>
          <a:noFill/>
        </p:spPr>
        <p:txBody>
          <a:bodyPr wrap="none">
            <a:spAutoFit/>
          </a:bodyPr>
          <a:lstStyle/>
          <a:p>
            <a:pPr algn="r"/>
            <a:r>
              <a:rPr sz="1000" b="0" i="0">
                <a:solidFill>
                  <a:srgbClr val="888888"/>
                </a:solidFill>
                <a:latin typeface="Calibri"/>
              </a:rPr>
              <a:t>-$1.44M</a:t>
            </a:r>
          </a:p>
        </p:txBody>
      </p:sp>
      <p:sp>
        <p:nvSpPr>
          <p:cNvPr id="80" name="TextBox 79"/>
          <p:cNvSpPr txBox="1"/>
          <p:nvPr/>
        </p:nvSpPr>
        <p:spPr>
          <a:xfrm>
            <a:off x="4572000" y="4549140"/>
            <a:ext cx="1143000" cy="182880"/>
          </a:xfrm>
          <a:prstGeom prst="rect">
            <a:avLst/>
          </a:prstGeom>
          <a:noFill/>
        </p:spPr>
        <p:txBody>
          <a:bodyPr wrap="none">
            <a:spAutoFit/>
          </a:bodyPr>
          <a:lstStyle/>
          <a:p>
            <a:pPr algn="r"/>
            <a:r>
              <a:rPr sz="1000" b="1" i="0">
                <a:solidFill>
                  <a:srgbClr val="44BB44"/>
                </a:solidFill>
                <a:latin typeface="Calibri"/>
              </a:rPr>
              <a:t>~-$1.09M+</a:t>
            </a:r>
          </a:p>
        </p:txBody>
      </p:sp>
      <p:sp>
        <p:nvSpPr>
          <p:cNvPr id="81" name="TextBox 80"/>
          <p:cNvSpPr txBox="1"/>
          <p:nvPr/>
        </p:nvSpPr>
        <p:spPr>
          <a:xfrm>
            <a:off x="5806440" y="4549140"/>
            <a:ext cx="2980944" cy="182880"/>
          </a:xfrm>
          <a:prstGeom prst="rect">
            <a:avLst/>
          </a:prstGeom>
          <a:noFill/>
        </p:spPr>
        <p:txBody>
          <a:bodyPr wrap="none">
            <a:spAutoFit/>
          </a:bodyPr>
          <a:lstStyle/>
          <a:p>
            <a:pPr algn="l"/>
            <a:r>
              <a:rPr sz="1000" b="0" i="1">
                <a:solidFill>
                  <a:srgbClr val="CCCCCC"/>
                </a:solidFill>
                <a:latin typeface="Calibri"/>
              </a:rPr>
              <a:t>Credit alone; more if billed-ahead corrected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FFFFFF"/>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F26A21"/>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FFCC44"/>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FFFFFF"/>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CCCCCC"/>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FFCC44"/>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FFFFFF"/>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CCCCCC"/>
                </a:solidFill>
                <a:latin typeface="Calibri"/>
              </a:rPr>
              <a:t>Increases the payout to Microcosm Astronautics Books</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FFCC44"/>
                </a:solidFill>
                <a:latin typeface="Calibri"/>
              </a:rPr>
              <a:t>$812,699</a:t>
            </a:r>
          </a:p>
        </p:txBody>
      </p:sp>
      <p:sp>
        <p:nvSpPr>
          <p:cNvPr id="16" name="TextBox 15"/>
          <p:cNvSpPr txBox="1"/>
          <p:nvPr/>
        </p:nvSpPr>
        <p:spPr>
          <a:xfrm>
            <a:off x="1152144" y="1746504"/>
            <a:ext cx="3246120" cy="182880"/>
          </a:xfrm>
          <a:prstGeom prst="rect">
            <a:avLst/>
          </a:prstGeom>
          <a:noFill/>
        </p:spPr>
        <p:txBody>
          <a:bodyPr wrap="none">
            <a:spAutoFit/>
          </a:bodyPr>
          <a:lstStyle/>
          <a:p>
            <a:r>
              <a:rPr lang="en-US" b="1" sz="1000">
                <a:solidFill>
                  <a:srgbClr val="FFFFFF"/>
                </a:solidFill>
                <a:latin typeface="Calibri"/>
              </a:rPr>
              <a:t>Loans to Microcosm, booked in workers’-comp acct 1480</a:t>
            </a:r>
          </a:p>
        </p:txBody>
      </p:sp>
      <p:sp>
        <p:nvSpPr>
          <p:cNvPr id="17" name="TextBox 16"/>
          <p:cNvSpPr txBox="1"/>
          <p:nvPr/>
        </p:nvSpPr>
        <p:spPr>
          <a:xfrm>
            <a:off x="1152144" y="1947672"/>
            <a:ext cx="3246120" cy="594360"/>
          </a:xfrm>
          <a:prstGeom prst="rect">
            <a:avLst/>
          </a:prstGeom>
          <a:noFill/>
        </p:spPr>
        <p:txBody>
          <a:bodyPr wrap="none">
            <a:spAutoFit/>
          </a:bodyPr>
          <a:lstStyle/>
          <a:p>
            <a:r>
              <a:rPr lang="en-US" i="1" sz="1000">
                <a:solidFill>
                  <a:srgbClr val="CCCCCC"/>
                </a:solidFill>
                <a:latin typeface="Calibri"/>
              </a:rPr>
              <a:t>Not a receivable. Netted 6/30/2025 (#25925-26):</a:t>
            </a:r>
          </a:p>
          <a:p>
            <a:r>
              <a:rPr lang="en-US" i="1" sz="1000">
                <a:solidFill>
                  <a:srgbClr val="CCCCCC"/>
                </a:solidFill>
                <a:latin typeface="Calibri"/>
              </a:rPr>
              <a:t>$294,499 loan payable + $518,201 no invoices</a:t>
            </a:r>
          </a:p>
          <a:p>
            <a:r>
              <a:rPr lang="en-US" i="1" sz="1000">
                <a:solidFill>
                  <a:srgbClr val="CCCCCC"/>
                </a:solidFill>
                <a:latin typeface="Calibri"/>
              </a:rPr>
              <a:t>Reclassified to acct 1481 on 4/30/2026; now $0</a:t>
            </a:r>
          </a:p>
        </p:txBody>
      </p:sp>
      <p:sp>
        <p:nvSpPr>
          <p:cNvPr id="18" name="Rectangle 17"/>
          <p:cNvSpPr/>
          <p:nvPr/>
        </p:nvSpPr>
        <p:spPr>
          <a:xfrm>
            <a:off x="256032" y="2606040"/>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2606040"/>
            <a:ext cx="4023360" cy="182880"/>
          </a:xfrm>
          <a:prstGeom prst="rect">
            <a:avLst/>
          </a:prstGeom>
          <a:noFill/>
        </p:spPr>
        <p:txBody>
          <a:bodyPr wrap="square">
            <a:spAutoFit/>
          </a:bodyPr>
          <a:lstStyle/>
          <a:p>
            <a:pPr algn="l"/>
            <a:r>
              <a:rPr sz="1000" b="1" i="0">
                <a:solidFill>
                  <a:srgbClr val="FFFFFF"/>
                </a:solidFill>
                <a:latin typeface="Calibri"/>
              </a:rPr>
              <a:t>Since Jul 2024: SSLC pays 100% of facility costs</a:t>
            </a:r>
          </a:p>
        </p:txBody>
      </p:sp>
      <p:sp>
        <p:nvSpPr>
          <p:cNvPr id="20" name="TextBox 19"/>
          <p:cNvSpPr txBox="1"/>
          <p:nvPr/>
        </p:nvSpPr>
        <p:spPr>
          <a:xfrm>
            <a:off x="1152144" y="2807208"/>
            <a:ext cx="3246120" cy="178308"/>
          </a:xfrm>
          <a:prstGeom prst="rect">
            <a:avLst/>
          </a:prstGeom>
          <a:noFill/>
        </p:spPr>
        <p:txBody>
          <a:bodyPr wrap="square">
            <a:spAutoFit/>
          </a:bodyPr>
          <a:lstStyle/>
          <a:p>
            <a:pPr algn="l"/>
            <a:r>
              <a:rPr sz="1000" b="0" i="1">
                <a:solidFill>
                  <a:srgbClr val="CCCCCC"/>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F26A21"/>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888888"/>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FFFFFF"/>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a:solidFill>
                  <a:srgbClr val="FFFFFF"/>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FFFFFF"/>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FFFFFF"/>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92040" y="2560320"/>
            <a:ext cx="4023360" cy="530352"/>
          </a:xfrm>
          <a:prstGeom prst="rect">
            <a:avLst/>
          </a:prstGeom>
          <a:noFill/>
        </p:spPr>
        <p:txBody>
          <a:bodyPr wrap="none">
            <a:spAutoFit/>
          </a:bodyPr>
          <a:lstStyle/>
          <a:p>
            <a:r>
              <a:rPr lang="en-US" sz="1000">
                <a:solidFill>
                  <a:srgbClr val="FFFFFF"/>
                </a:solidFill>
                <a:latin typeface="Calibri"/>
              </a:rPr>
              <a:t>Insider interest was capitalized while Exos, the one outside lender, went unpaid — Microcosm’s 2026 short-term loans ($150K) were repaid within months; Exos’s $31K loan remains past due.</a:t>
            </a:r>
          </a:p>
        </p:txBody>
      </p:sp>
      <p:sp>
        <p:nvSpPr>
          <p:cNvPr id="33" name="TextBox 32"/>
          <p:cNvSpPr txBox="1"/>
          <p:nvPr/>
        </p:nvSpPr>
        <p:spPr>
          <a:xfrm>
            <a:off x="4736592" y="3145536"/>
            <a:ext cx="4160520" cy="365760"/>
          </a:xfrm>
          <a:prstGeom prst="rect">
            <a:avLst/>
          </a:prstGeom>
          <a:noFill/>
        </p:spPr>
        <p:txBody>
          <a:bodyPr wrap="square">
            <a:spAutoFit/>
          </a:bodyPr>
          <a:lstStyle/>
          <a:p>
            <a:pPr algn="l"/>
            <a:r>
              <a:rPr sz="1000" b="1" i="1">
                <a:solidFill>
                  <a:srgbClr val="FFCC44"/>
                </a:solidFill>
                <a:latin typeface="Calibri"/>
              </a:rPr>
              <a:t>Together these create the appearance of self-dealing, which a buyer, fairness-opinion provider or court would question.</a:t>
            </a:r>
          </a:p>
        </p:txBody>
      </p:sp>
      <p:sp>
        <p:nvSpPr>
          <p:cNvPr id="34" name="Rectangle 33"/>
          <p:cNvSpPr/>
          <p:nvPr/>
        </p:nvSpPr>
        <p:spPr>
          <a:xfrm>
            <a:off x="0" y="3529584"/>
            <a:ext cx="9144000" cy="1362455"/>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F26A21"/>
                </a:solidFill>
                <a:latin typeface="Calibri"/>
              </a:rPr>
              <a:t>IMPACT ON SSLC HOLDERS</a:t>
            </a:r>
          </a:p>
        </p:txBody>
      </p:sp>
      <p:sp>
        <p:nvSpPr>
          <p:cNvPr id="37" name="TextBox 36"/>
          <p:cNvSpPr txBox="1"/>
          <p:nvPr/>
        </p:nvSpPr>
        <p:spPr>
          <a:xfrm>
            <a:off x="256032" y="3739896"/>
            <a:ext cx="8631936" cy="201168"/>
          </a:xfrm>
          <a:prstGeom prst="rect">
            <a:avLst/>
          </a:prstGeom>
          <a:noFill/>
        </p:spPr>
        <p:txBody>
          <a:bodyPr wrap="none">
            <a:spAutoFit/>
          </a:bodyPr>
          <a:lstStyle/>
          <a:p>
            <a:pPr algn="l"/>
            <a:r>
              <a:rPr sz="1000" b="1" i="0">
                <a:solidFill>
                  <a:srgbClr val="CCCCCC"/>
                </a:solidFill>
                <a:latin typeface="Calibri"/>
              </a:rPr>
              <a:t>~46% of each dollar paid to insiders comes from holders outside the Microcosm/Wertz group</a:t>
            </a:r>
          </a:p>
        </p:txBody>
      </p:sp>
      <p:sp>
        <p:nvSpPr>
          <p:cNvPr id="38" name="TextBox 37"/>
          <p:cNvSpPr txBox="1"/>
          <p:nvPr/>
        </p:nvSpPr>
        <p:spPr>
          <a:xfrm>
            <a:off x="256032" y="3931920"/>
            <a:ext cx="3749039" cy="201168"/>
          </a:xfrm>
          <a:prstGeom prst="rect">
            <a:avLst/>
          </a:prstGeom>
          <a:noFill/>
        </p:spPr>
        <p:txBody>
          <a:bodyPr wrap="none">
            <a:spAutoFit/>
          </a:bodyPr>
          <a:lstStyle/>
          <a:p>
            <a:pPr algn="l"/>
            <a:r>
              <a:rPr sz="1000" b="0" i="0">
                <a:solidFill>
                  <a:srgbClr val="FFFFFF"/>
                </a:solidFill>
                <a:latin typeface="Calibri"/>
              </a:rPr>
              <a:t>Step 1  —  Facility credit + capitalized interest:</a:t>
            </a:r>
          </a:p>
        </p:txBody>
      </p:sp>
      <p:sp>
        <p:nvSpPr>
          <p:cNvPr id="39" name="TextBox 38"/>
          <p:cNvSpPr txBox="1"/>
          <p:nvPr/>
        </p:nvSpPr>
        <p:spPr>
          <a:xfrm>
            <a:off x="4069080" y="3931920"/>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23944"/>
            <a:ext cx="3749039" cy="182880"/>
          </a:xfrm>
          <a:prstGeom prst="rect">
            <a:avLst/>
          </a:prstGeom>
          <a:noFill/>
        </p:spPr>
        <p:txBody>
          <a:bodyPr wrap="none">
            <a:spAutoFit/>
          </a:bodyPr>
          <a:lstStyle/>
          <a:p>
            <a:r>
              <a:rPr lang="en-US" sz="1000">
                <a:solidFill>
                  <a:srgbClr val="FFFFFF"/>
                </a:solidFill>
                <a:latin typeface="Calibri"/>
              </a:rPr>
              <a:t>Step 2  —  + Unsupported offsets ($967K total):</a:t>
            </a:r>
          </a:p>
        </p:txBody>
      </p:sp>
      <p:sp>
        <p:nvSpPr>
          <p:cNvPr id="41" name="Rectangle 40"/>
          <p:cNvSpPr/>
          <p:nvPr/>
        </p:nvSpPr>
        <p:spPr>
          <a:xfrm>
            <a:off x="256032" y="4517136"/>
            <a:ext cx="8631936" cy="265176"/>
          </a:xfrm>
          <a:prstGeom prst="rect">
            <a:avLst/>
          </a:prstGeom>
          <a:solidFill>
            <a:srgbClr val="2A1800"/>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4562856"/>
            <a:ext cx="8229600" cy="182880"/>
          </a:xfrm>
          <a:prstGeom prst="rect">
            <a:avLst/>
          </a:prstGeom>
          <a:noFill/>
        </p:spPr>
        <p:txBody>
          <a:bodyPr wrap="none">
            <a:spAutoFit/>
          </a:bodyPr>
          <a:lstStyle/>
          <a:p>
            <a:pPr algn="l"/>
            <a:r>
              <a:rPr sz="1100" b="1" i="0">
                <a:solidFill>
                  <a:srgbClr val="FFCC44"/>
                </a:solidFill>
                <a:latin typeface="Calibri"/>
              </a:rPr>
              <a:t>Microcosm can resolve this before the vote by supporting Motion 5.</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
        <p:nvSpPr>
          <p:cNvPr id="45" name="TextBox 44"/>
          <p:cNvSpPr txBox="1"/>
          <p:nvPr/>
        </p:nvSpPr>
        <p:spPr>
          <a:xfrm>
            <a:off x="4069080" y="4123944"/>
            <a:ext cx="4818888" cy="182880"/>
          </a:xfrm>
          <a:prstGeom prst="rect">
            <a:avLst/>
          </a:prstGeom>
          <a:noFill/>
        </p:spPr>
        <p:txBody>
          <a:bodyPr wrap="none">
            <a:spAutoFit/>
          </a:bodyPr>
          <a:lstStyle/>
          <a:p>
            <a:r>
              <a:rPr lang="en-US" b="1" sz="1000">
                <a:solidFill>
                  <a:srgbClr val="FFCC44"/>
                </a:solidFill>
                <a:latin typeface="Calibri"/>
              </a:rPr>
              <a:t>Non-Wertz lose ~$449K  ·  Conger ~$99K  ·  Rufer ~$123K  ·  Microcosm would owe SSLC</a:t>
            </a:r>
          </a:p>
        </p:txBody>
      </p:sp>
      <p:sp>
        <p:nvSpPr>
          <p:cNvPr id="46" name="TextBox 45"/>
          <p:cNvSpPr txBox="1"/>
          <p:nvPr/>
        </p:nvSpPr>
        <p:spPr>
          <a:xfrm>
            <a:off x="256032" y="4315968"/>
            <a:ext cx="3749039" cy="182880"/>
          </a:xfrm>
          <a:prstGeom prst="rect">
            <a:avLst/>
          </a:prstGeom>
          <a:noFill/>
        </p:spPr>
        <p:txBody>
          <a:bodyPr wrap="none">
            <a:spAutoFit/>
          </a:bodyPr>
          <a:lstStyle/>
          <a:p>
            <a:r>
              <a:rPr lang="en-US" sz="1000">
                <a:solidFill>
                  <a:srgbClr val="FFFFFF"/>
                </a:solidFill>
                <a:latin typeface="Calibri"/>
              </a:rPr>
              <a:t>Step 3  —  Full $812K Microcosm loan undocumented ($1.26M):</a:t>
            </a:r>
          </a:p>
        </p:txBody>
      </p:sp>
      <p:sp>
        <p:nvSpPr>
          <p:cNvPr id="47" name="TextBox 46"/>
          <p:cNvSpPr txBox="1"/>
          <p:nvPr/>
        </p:nvSpPr>
        <p:spPr>
          <a:xfrm>
            <a:off x="4069080" y="4315968"/>
            <a:ext cx="4818888" cy="182880"/>
          </a:xfrm>
          <a:prstGeom prst="rect">
            <a:avLst/>
          </a:prstGeom>
          <a:noFill/>
        </p:spPr>
        <p:txBody>
          <a:bodyPr wrap="none">
            <a:spAutoFit/>
          </a:bodyPr>
          <a:lstStyle/>
          <a:p>
            <a:r>
              <a:rPr lang="en-US" b="1" sz="1000">
                <a:solidFill>
                  <a:srgbClr val="DD4444"/>
                </a:solidFill>
                <a:latin typeface="Calibri"/>
              </a:rPr>
              <a:t>Non-Wertz lose ~$585K  ·  Conger ~$129K  ·  Rufer ~$160K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8631936" cy="402336"/>
          </a:xfrm>
          <a:prstGeom prst="rect">
            <a:avLst/>
          </a:prstGeom>
          <a:noFill/>
        </p:spPr>
        <p:txBody>
          <a:bodyPr wrap="none">
            <a:spAutoFit/>
          </a:bodyPr>
          <a:lstStyle/>
          <a:p>
            <a:pPr algn="l"/>
            <a:r>
              <a:rPr sz="1500" b="1" i="0">
                <a:solidFill>
                  <a:srgbClr val="FFFFFF"/>
                </a:solidFill>
                <a:latin typeface="Calibri"/>
              </a:rPr>
              <a:t>What SSLC Shareholders Get  (answering Bob Conger)</a:t>
            </a:r>
          </a:p>
        </p:txBody>
      </p:sp>
      <p:sp>
        <p:nvSpPr>
          <p:cNvPr id="6" name="Rectangle 5"/>
          <p:cNvSpPr/>
          <p:nvPr/>
        </p:nvSpPr>
        <p:spPr>
          <a:xfrm>
            <a:off x="4617720" y="548640"/>
            <a:ext cx="10972" cy="178308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566928"/>
            <a:ext cx="4206240" cy="201168"/>
          </a:xfrm>
          <a:prstGeom prst="rect">
            <a:avLst/>
          </a:prstGeom>
          <a:noFill/>
        </p:spPr>
        <p:txBody>
          <a:bodyPr wrap="none">
            <a:spAutoFit/>
          </a:bodyPr>
          <a:lstStyle/>
          <a:p>
            <a:pPr algn="l"/>
            <a:r>
              <a:rPr sz="1000" b="1" i="0">
                <a:solidFill>
                  <a:srgbClr val="F26A21"/>
                </a:solidFill>
                <a:latin typeface="Calibri"/>
              </a:rPr>
              <a:t>Value per 1% of SSLC  (= 8,725 shares; 1/82 of non-Exos pool)</a:t>
            </a:r>
          </a:p>
        </p:txBody>
      </p:sp>
      <p:sp>
        <p:nvSpPr>
          <p:cNvPr id="8" name="TextBox 7"/>
          <p:cNvSpPr txBox="1"/>
          <p:nvPr/>
        </p:nvSpPr>
        <p:spPr>
          <a:xfrm>
            <a:off x="256032" y="795528"/>
            <a:ext cx="2286000" cy="182880"/>
          </a:xfrm>
          <a:prstGeom prst="rect">
            <a:avLst/>
          </a:prstGeom>
          <a:noFill/>
        </p:spPr>
        <p:txBody>
          <a:bodyPr wrap="none">
            <a:spAutoFit/>
          </a:bodyPr>
          <a:lstStyle/>
          <a:p>
            <a:pPr algn="l"/>
            <a:r>
              <a:rPr sz="1000" b="1" i="0">
                <a:solidFill>
                  <a:srgbClr val="CCCCCC"/>
                </a:solidFill>
                <a:latin typeface="Calibri"/>
              </a:rPr>
              <a:t>Scenario</a:t>
            </a:r>
          </a:p>
        </p:txBody>
      </p:sp>
      <p:sp>
        <p:nvSpPr>
          <p:cNvPr id="9" name="TextBox 8"/>
          <p:cNvSpPr txBox="1"/>
          <p:nvPr/>
        </p:nvSpPr>
        <p:spPr>
          <a:xfrm>
            <a:off x="2606040" y="795528"/>
            <a:ext cx="713232" cy="182880"/>
          </a:xfrm>
          <a:prstGeom prst="rect">
            <a:avLst/>
          </a:prstGeom>
          <a:noFill/>
        </p:spPr>
        <p:txBody>
          <a:bodyPr wrap="none">
            <a:spAutoFit/>
          </a:bodyPr>
          <a:lstStyle/>
          <a:p>
            <a:pPr algn="r"/>
            <a:r>
              <a:rPr sz="1000" b="1" i="0">
                <a:solidFill>
                  <a:srgbClr val="F26A21"/>
                </a:solidFill>
                <a:latin typeface="Calibri"/>
              </a:rPr>
              <a:t>Low</a:t>
            </a:r>
          </a:p>
        </p:txBody>
      </p:sp>
      <p:sp>
        <p:nvSpPr>
          <p:cNvPr id="10" name="TextBox 9"/>
          <p:cNvSpPr txBox="1"/>
          <p:nvPr/>
        </p:nvSpPr>
        <p:spPr>
          <a:xfrm>
            <a:off x="3383280" y="795528"/>
            <a:ext cx="694944" cy="182880"/>
          </a:xfrm>
          <a:prstGeom prst="rect">
            <a:avLst/>
          </a:prstGeom>
          <a:noFill/>
        </p:spPr>
        <p:txBody>
          <a:bodyPr wrap="none">
            <a:spAutoFit/>
          </a:bodyPr>
          <a:lstStyle/>
          <a:p>
            <a:pPr algn="r"/>
            <a:r>
              <a:rPr sz="1000" b="1" i="0">
                <a:solidFill>
                  <a:srgbClr val="F26A21"/>
                </a:solidFill>
                <a:latin typeface="Calibri"/>
              </a:rPr>
              <a:t>Base</a:t>
            </a:r>
          </a:p>
        </p:txBody>
      </p:sp>
      <p:sp>
        <p:nvSpPr>
          <p:cNvPr id="11" name="TextBox 10"/>
          <p:cNvSpPr txBox="1"/>
          <p:nvPr/>
        </p:nvSpPr>
        <p:spPr>
          <a:xfrm>
            <a:off x="4050791" y="795528"/>
            <a:ext cx="548640" cy="182880"/>
          </a:xfrm>
          <a:prstGeom prst="rect">
            <a:avLst/>
          </a:prstGeom>
          <a:noFill/>
        </p:spPr>
        <p:txBody>
          <a:bodyPr wrap="none">
            <a:spAutoFit/>
          </a:bodyPr>
          <a:lstStyle/>
          <a:p>
            <a:pPr algn="r"/>
            <a:r>
              <a:rPr sz="1000" b="1" i="0">
                <a:solidFill>
                  <a:srgbClr val="F26A21"/>
                </a:solidFill>
                <a:latin typeface="Calibri"/>
              </a:rPr>
              <a:t>High</a:t>
            </a:r>
          </a:p>
        </p:txBody>
      </p:sp>
      <p:sp>
        <p:nvSpPr>
          <p:cNvPr id="12" name="Rectangle 11"/>
          <p:cNvSpPr/>
          <p:nvPr/>
        </p:nvSpPr>
        <p:spPr>
          <a:xfrm>
            <a:off x="256032" y="987552"/>
            <a:ext cx="425196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 y="1005840"/>
            <a:ext cx="2286000" cy="246888"/>
          </a:xfrm>
          <a:prstGeom prst="rect">
            <a:avLst/>
          </a:prstGeom>
          <a:noFill/>
        </p:spPr>
        <p:txBody>
          <a:bodyPr wrap="none">
            <a:spAutoFit/>
          </a:bodyPr>
          <a:lstStyle/>
          <a:p>
            <a:pPr algn="l"/>
            <a:r>
              <a:rPr sz="1000" b="0" i="0">
                <a:solidFill>
                  <a:srgbClr val="FFFFFF"/>
                </a:solidFill>
                <a:latin typeface="Calibri"/>
              </a:rPr>
              <a:t>At close, cash only  (as booked)</a:t>
            </a:r>
          </a:p>
        </p:txBody>
      </p:sp>
      <p:sp>
        <p:nvSpPr>
          <p:cNvPr id="14" name="TextBox 13"/>
          <p:cNvSpPr txBox="1"/>
          <p:nvPr/>
        </p:nvSpPr>
        <p:spPr>
          <a:xfrm>
            <a:off x="2606040" y="1005840"/>
            <a:ext cx="713232" cy="246888"/>
          </a:xfrm>
          <a:prstGeom prst="rect">
            <a:avLst/>
          </a:prstGeom>
          <a:noFill/>
        </p:spPr>
        <p:txBody>
          <a:bodyPr wrap="none">
            <a:spAutoFit/>
          </a:bodyPr>
          <a:lstStyle/>
          <a:p>
            <a:pPr algn="r"/>
            <a:r>
              <a:rPr sz="1000" b="0" i="0">
                <a:solidFill>
                  <a:srgbClr val="FFFFFF"/>
                </a:solidFill>
                <a:latin typeface="Calibri"/>
              </a:rPr>
              <a:t>$15.6K</a:t>
            </a:r>
          </a:p>
        </p:txBody>
      </p:sp>
      <p:sp>
        <p:nvSpPr>
          <p:cNvPr id="15" name="TextBox 14"/>
          <p:cNvSpPr txBox="1"/>
          <p:nvPr/>
        </p:nvSpPr>
        <p:spPr>
          <a:xfrm>
            <a:off x="3383280" y="1005840"/>
            <a:ext cx="694944" cy="246888"/>
          </a:xfrm>
          <a:prstGeom prst="rect">
            <a:avLst/>
          </a:prstGeom>
          <a:noFill/>
        </p:spPr>
        <p:txBody>
          <a:bodyPr wrap="none">
            <a:spAutoFit/>
          </a:bodyPr>
          <a:lstStyle/>
          <a:p>
            <a:pPr algn="r"/>
            <a:r>
              <a:rPr sz="1000" b="1" i="0">
                <a:solidFill>
                  <a:srgbClr val="44BB44"/>
                </a:solidFill>
                <a:latin typeface="Calibri"/>
              </a:rPr>
              <a:t>$18.4K</a:t>
            </a:r>
          </a:p>
        </p:txBody>
      </p:sp>
      <p:sp>
        <p:nvSpPr>
          <p:cNvPr id="16" name="TextBox 15"/>
          <p:cNvSpPr txBox="1"/>
          <p:nvPr/>
        </p:nvSpPr>
        <p:spPr>
          <a:xfrm>
            <a:off x="4050791" y="1005840"/>
            <a:ext cx="548640" cy="246888"/>
          </a:xfrm>
          <a:prstGeom prst="rect">
            <a:avLst/>
          </a:prstGeom>
          <a:noFill/>
        </p:spPr>
        <p:txBody>
          <a:bodyPr wrap="none">
            <a:spAutoFit/>
          </a:bodyPr>
          <a:lstStyle/>
          <a:p>
            <a:pPr algn="r"/>
            <a:r>
              <a:rPr sz="1000" b="0" i="0">
                <a:solidFill>
                  <a:srgbClr val="FFFFFF"/>
                </a:solidFill>
                <a:latin typeface="Calibri"/>
              </a:rPr>
              <a:t>$21.2K</a:t>
            </a:r>
          </a:p>
        </p:txBody>
      </p:sp>
      <p:sp>
        <p:nvSpPr>
          <p:cNvPr id="17" name="TextBox 16"/>
          <p:cNvSpPr txBox="1"/>
          <p:nvPr/>
        </p:nvSpPr>
        <p:spPr>
          <a:xfrm>
            <a:off x="256032" y="1252728"/>
            <a:ext cx="2286000" cy="246888"/>
          </a:xfrm>
          <a:prstGeom prst="rect">
            <a:avLst/>
          </a:prstGeom>
          <a:noFill/>
        </p:spPr>
        <p:txBody>
          <a:bodyPr wrap="none">
            <a:spAutoFit/>
          </a:bodyPr>
          <a:lstStyle/>
          <a:p>
            <a:pPr algn="l"/>
            <a:r>
              <a:rPr sz="1000" b="0" i="0">
                <a:solidFill>
                  <a:srgbClr val="CCCCCC"/>
                </a:solidFill>
                <a:latin typeface="Calibri"/>
              </a:rPr>
              <a:t>At close, books corrected  (+$351K)</a:t>
            </a:r>
          </a:p>
        </p:txBody>
      </p:sp>
      <p:sp>
        <p:nvSpPr>
          <p:cNvPr id="18" name="TextBox 17"/>
          <p:cNvSpPr txBox="1"/>
          <p:nvPr/>
        </p:nvSpPr>
        <p:spPr>
          <a:xfrm>
            <a:off x="2606040" y="1252728"/>
            <a:ext cx="713232" cy="246888"/>
          </a:xfrm>
          <a:prstGeom prst="rect">
            <a:avLst/>
          </a:prstGeom>
          <a:noFill/>
        </p:spPr>
        <p:txBody>
          <a:bodyPr wrap="none">
            <a:spAutoFit/>
          </a:bodyPr>
          <a:lstStyle/>
          <a:p>
            <a:pPr algn="r"/>
            <a:r>
              <a:rPr sz="1000" b="0" i="0">
                <a:solidFill>
                  <a:srgbClr val="CCCCCC"/>
                </a:solidFill>
                <a:latin typeface="Calibri"/>
              </a:rPr>
              <a:t>—</a:t>
            </a:r>
          </a:p>
        </p:txBody>
      </p:sp>
      <p:sp>
        <p:nvSpPr>
          <p:cNvPr id="19" name="TextBox 18"/>
          <p:cNvSpPr txBox="1"/>
          <p:nvPr/>
        </p:nvSpPr>
        <p:spPr>
          <a:xfrm>
            <a:off x="3383280" y="1252728"/>
            <a:ext cx="694944" cy="246888"/>
          </a:xfrm>
          <a:prstGeom prst="rect">
            <a:avLst/>
          </a:prstGeom>
          <a:noFill/>
        </p:spPr>
        <p:txBody>
          <a:bodyPr wrap="none">
            <a:spAutoFit/>
          </a:bodyPr>
          <a:lstStyle/>
          <a:p>
            <a:pPr algn="r"/>
            <a:r>
              <a:rPr sz="1000" b="1" i="0">
                <a:solidFill>
                  <a:srgbClr val="FFCC44"/>
                </a:solidFill>
                <a:latin typeface="Calibri"/>
              </a:rPr>
              <a:t>$22.6K</a:t>
            </a:r>
          </a:p>
        </p:txBody>
      </p:sp>
      <p:sp>
        <p:nvSpPr>
          <p:cNvPr id="20" name="TextBox 19"/>
          <p:cNvSpPr txBox="1"/>
          <p:nvPr/>
        </p:nvSpPr>
        <p:spPr>
          <a:xfrm>
            <a:off x="4050791" y="1252728"/>
            <a:ext cx="548640" cy="246888"/>
          </a:xfrm>
          <a:prstGeom prst="rect">
            <a:avLst/>
          </a:prstGeom>
          <a:noFill/>
        </p:spPr>
        <p:txBody>
          <a:bodyPr wrap="none">
            <a:spAutoFit/>
          </a:bodyPr>
          <a:lstStyle/>
          <a:p>
            <a:pPr algn="r"/>
            <a:r>
              <a:rPr sz="1000" b="0" i="0">
                <a:solidFill>
                  <a:srgbClr val="CCCCCC"/>
                </a:solidFill>
                <a:latin typeface="Calibri"/>
              </a:rPr>
              <a:t>—</a:t>
            </a:r>
          </a:p>
        </p:txBody>
      </p:sp>
      <p:sp>
        <p:nvSpPr>
          <p:cNvPr id="21" name="TextBox 20"/>
          <p:cNvSpPr txBox="1"/>
          <p:nvPr/>
        </p:nvSpPr>
        <p:spPr>
          <a:xfrm>
            <a:off x="256032" y="1499616"/>
            <a:ext cx="2286000" cy="246888"/>
          </a:xfrm>
          <a:prstGeom prst="rect">
            <a:avLst/>
          </a:prstGeom>
          <a:noFill/>
        </p:spPr>
        <p:txBody>
          <a:bodyPr wrap="none">
            <a:spAutoFit/>
          </a:bodyPr>
          <a:lstStyle/>
          <a:p>
            <a:pPr algn="l"/>
            <a:r>
              <a:rPr sz="1000" b="0" i="0">
                <a:solidFill>
                  <a:srgbClr val="FFFFFF"/>
                </a:solidFill>
                <a:latin typeface="Calibri"/>
              </a:rPr>
              <a:t>5-year, Structure A  (low/base/high)</a:t>
            </a:r>
          </a:p>
        </p:txBody>
      </p:sp>
      <p:sp>
        <p:nvSpPr>
          <p:cNvPr id="22" name="TextBox 21"/>
          <p:cNvSpPr txBox="1"/>
          <p:nvPr/>
        </p:nvSpPr>
        <p:spPr>
          <a:xfrm>
            <a:off x="2606040" y="1499616"/>
            <a:ext cx="713232" cy="246888"/>
          </a:xfrm>
          <a:prstGeom prst="rect">
            <a:avLst/>
          </a:prstGeom>
          <a:noFill/>
        </p:spPr>
        <p:txBody>
          <a:bodyPr wrap="none">
            <a:spAutoFit/>
          </a:bodyPr>
          <a:lstStyle/>
          <a:p>
            <a:pPr algn="r"/>
            <a:r>
              <a:rPr sz="1000" b="0" i="0">
                <a:solidFill>
                  <a:srgbClr val="FFFFFF"/>
                </a:solidFill>
                <a:latin typeface="Calibri"/>
              </a:rPr>
              <a:t>$41.0K</a:t>
            </a:r>
          </a:p>
        </p:txBody>
      </p:sp>
      <p:sp>
        <p:nvSpPr>
          <p:cNvPr id="23" name="TextBox 22"/>
          <p:cNvSpPr txBox="1"/>
          <p:nvPr/>
        </p:nvSpPr>
        <p:spPr>
          <a:xfrm>
            <a:off x="3383280" y="1499616"/>
            <a:ext cx="694944" cy="246888"/>
          </a:xfrm>
          <a:prstGeom prst="rect">
            <a:avLst/>
          </a:prstGeom>
          <a:noFill/>
        </p:spPr>
        <p:txBody>
          <a:bodyPr wrap="none">
            <a:spAutoFit/>
          </a:bodyPr>
          <a:lstStyle/>
          <a:p>
            <a:pPr algn="r"/>
            <a:r>
              <a:rPr sz="1000" b="1" i="0">
                <a:solidFill>
                  <a:srgbClr val="44BB44"/>
                </a:solidFill>
                <a:latin typeface="Calibri"/>
              </a:rPr>
              <a:t>$63.0K</a:t>
            </a:r>
          </a:p>
        </p:txBody>
      </p:sp>
      <p:sp>
        <p:nvSpPr>
          <p:cNvPr id="24" name="TextBox 23"/>
          <p:cNvSpPr txBox="1"/>
          <p:nvPr/>
        </p:nvSpPr>
        <p:spPr>
          <a:xfrm>
            <a:off x="4050791" y="1499616"/>
            <a:ext cx="548640" cy="246888"/>
          </a:xfrm>
          <a:prstGeom prst="rect">
            <a:avLst/>
          </a:prstGeom>
          <a:noFill/>
        </p:spPr>
        <p:txBody>
          <a:bodyPr wrap="none">
            <a:spAutoFit/>
          </a:bodyPr>
          <a:lstStyle/>
          <a:p>
            <a:pPr algn="r"/>
            <a:r>
              <a:rPr sz="1000" b="0" i="0">
                <a:solidFill>
                  <a:srgbClr val="FFFFFF"/>
                </a:solidFill>
                <a:latin typeface="Calibri"/>
              </a:rPr>
              <a:t>$85.1K</a:t>
            </a:r>
          </a:p>
        </p:txBody>
      </p:sp>
      <p:sp>
        <p:nvSpPr>
          <p:cNvPr id="25" name="TextBox 24"/>
          <p:cNvSpPr txBox="1"/>
          <p:nvPr/>
        </p:nvSpPr>
        <p:spPr>
          <a:xfrm>
            <a:off x="256032" y="1746504"/>
            <a:ext cx="2286000" cy="246888"/>
          </a:xfrm>
          <a:prstGeom prst="rect">
            <a:avLst/>
          </a:prstGeom>
          <a:noFill/>
        </p:spPr>
        <p:txBody>
          <a:bodyPr wrap="none">
            <a:spAutoFit/>
          </a:bodyPr>
          <a:lstStyle/>
          <a:p>
            <a:pPr algn="l"/>
            <a:r>
              <a:rPr sz="1000" b="0" i="0">
                <a:solidFill>
                  <a:srgbClr val="DD4444"/>
                </a:solidFill>
                <a:latin typeface="Calibri"/>
              </a:rPr>
              <a:t>No sale  (book equity −$1.44M today)</a:t>
            </a:r>
          </a:p>
        </p:txBody>
      </p:sp>
      <p:sp>
        <p:nvSpPr>
          <p:cNvPr id="26" name="TextBox 25"/>
          <p:cNvSpPr txBox="1"/>
          <p:nvPr/>
        </p:nvSpPr>
        <p:spPr>
          <a:xfrm>
            <a:off x="2606040" y="1746504"/>
            <a:ext cx="713232" cy="246888"/>
          </a:xfrm>
          <a:prstGeom prst="rect">
            <a:avLst/>
          </a:prstGeom>
          <a:noFill/>
        </p:spPr>
        <p:txBody>
          <a:bodyPr wrap="none">
            <a:spAutoFit/>
          </a:bodyPr>
          <a:lstStyle/>
          <a:p>
            <a:pPr algn="r"/>
            <a:r>
              <a:rPr sz="1000" b="0" i="0">
                <a:solidFill>
                  <a:srgbClr val="DD4444"/>
                </a:solidFill>
                <a:latin typeface="Calibri"/>
              </a:rPr>
              <a:t>$0</a:t>
            </a:r>
          </a:p>
        </p:txBody>
      </p:sp>
      <p:sp>
        <p:nvSpPr>
          <p:cNvPr id="27" name="TextBox 26"/>
          <p:cNvSpPr txBox="1"/>
          <p:nvPr/>
        </p:nvSpPr>
        <p:spPr>
          <a:xfrm>
            <a:off x="3383280" y="1746504"/>
            <a:ext cx="694944" cy="246888"/>
          </a:xfrm>
          <a:prstGeom prst="rect">
            <a:avLst/>
          </a:prstGeom>
          <a:noFill/>
        </p:spPr>
        <p:txBody>
          <a:bodyPr wrap="none">
            <a:spAutoFit/>
          </a:bodyPr>
          <a:lstStyle/>
          <a:p>
            <a:pPr algn="r"/>
            <a:r>
              <a:rPr sz="1000" b="0" i="0">
                <a:solidFill>
                  <a:srgbClr val="DD4444"/>
                </a:solidFill>
                <a:latin typeface="Calibri"/>
              </a:rPr>
              <a:t>$0</a:t>
            </a:r>
          </a:p>
        </p:txBody>
      </p:sp>
      <p:sp>
        <p:nvSpPr>
          <p:cNvPr id="28" name="TextBox 27"/>
          <p:cNvSpPr txBox="1"/>
          <p:nvPr/>
        </p:nvSpPr>
        <p:spPr>
          <a:xfrm>
            <a:off x="4050791" y="1746504"/>
            <a:ext cx="548640" cy="246888"/>
          </a:xfrm>
          <a:prstGeom prst="rect">
            <a:avLst/>
          </a:prstGeom>
          <a:noFill/>
        </p:spPr>
        <p:txBody>
          <a:bodyPr wrap="none">
            <a:spAutoFit/>
          </a:bodyPr>
          <a:lstStyle/>
          <a:p>
            <a:pPr algn="r"/>
            <a:r>
              <a:rPr sz="1000" b="0" i="0">
                <a:solidFill>
                  <a:srgbClr val="DD4444"/>
                </a:solidFill>
                <a:latin typeface="Calibri"/>
              </a:rPr>
              <a:t>—</a:t>
            </a:r>
          </a:p>
        </p:txBody>
      </p:sp>
      <p:sp>
        <p:nvSpPr>
          <p:cNvPr id="29" name="TextBox 28"/>
          <p:cNvSpPr txBox="1"/>
          <p:nvPr/>
        </p:nvSpPr>
        <p:spPr>
          <a:xfrm>
            <a:off x="256032" y="2029968"/>
            <a:ext cx="4251960" cy="182880"/>
          </a:xfrm>
          <a:prstGeom prst="rect">
            <a:avLst/>
          </a:prstGeom>
          <a:noFill/>
        </p:spPr>
        <p:txBody>
          <a:bodyPr wrap="none">
            <a:spAutoFit/>
          </a:bodyPr>
          <a:lstStyle/>
          <a:p>
            <a:pPr algn="l"/>
            <a:r>
              <a:rPr sz="1000" b="0" i="1">
                <a:solidFill>
                  <a:srgbClr val="CCCCCC"/>
                </a:solidFill>
                <a:latin typeface="Calibri"/>
              </a:rPr>
              <a:t>Per share (base):  $2.10 at close  ·  $7.22 over 5 years</a:t>
            </a:r>
          </a:p>
        </p:txBody>
      </p:sp>
      <p:sp>
        <p:nvSpPr>
          <p:cNvPr id="30" name="TextBox 29"/>
          <p:cNvSpPr txBox="1"/>
          <p:nvPr/>
        </p:nvSpPr>
        <p:spPr>
          <a:xfrm>
            <a:off x="4736592" y="566928"/>
            <a:ext cx="4160520" cy="201168"/>
          </a:xfrm>
          <a:prstGeom prst="rect">
            <a:avLst/>
          </a:prstGeom>
          <a:noFill/>
        </p:spPr>
        <p:txBody>
          <a:bodyPr wrap="none">
            <a:spAutoFit/>
          </a:bodyPr>
          <a:lstStyle/>
          <a:p>
            <a:pPr algn="l"/>
            <a:r>
              <a:rPr sz="1100" b="1" i="0">
                <a:solidFill>
                  <a:srgbClr val="F26A21"/>
                </a:solidFill>
                <a:latin typeface="Calibri"/>
              </a:rPr>
              <a:t>Bob Conger — 73,000 shares</a:t>
            </a:r>
          </a:p>
        </p:txBody>
      </p:sp>
      <p:sp>
        <p:nvSpPr>
          <p:cNvPr id="31" name="TextBox 30"/>
          <p:cNvSpPr txBox="1"/>
          <p:nvPr/>
        </p:nvSpPr>
        <p:spPr>
          <a:xfrm>
            <a:off x="4736592" y="795528"/>
            <a:ext cx="4160520" cy="201168"/>
          </a:xfrm>
          <a:prstGeom prst="rect">
            <a:avLst/>
          </a:prstGeom>
          <a:noFill/>
        </p:spPr>
        <p:txBody>
          <a:bodyPr wrap="none">
            <a:spAutoFit/>
          </a:bodyPr>
          <a:lstStyle/>
          <a:p>
            <a:pPr algn="l"/>
            <a:r>
              <a:rPr sz="1000" b="0" i="0">
                <a:solidFill>
                  <a:srgbClr val="CCCCCC"/>
                </a:solidFill>
                <a:latin typeface="Calibri"/>
              </a:rPr>
              <a:t>8.37% of SSLC  ·  10.21% of payout distributions</a:t>
            </a:r>
          </a:p>
        </p:txBody>
      </p:sp>
      <p:sp>
        <p:nvSpPr>
          <p:cNvPr id="32" name="TextBox 31"/>
          <p:cNvSpPr txBox="1"/>
          <p:nvPr/>
        </p:nvSpPr>
        <p:spPr>
          <a:xfrm>
            <a:off x="4736592" y="932688"/>
            <a:ext cx="4160520" cy="182880"/>
          </a:xfrm>
          <a:prstGeom prst="rect">
            <a:avLst/>
          </a:prstGeom>
          <a:noFill/>
        </p:spPr>
        <p:txBody>
          <a:bodyPr wrap="none">
            <a:spAutoFit/>
          </a:bodyPr>
          <a:lstStyle/>
          <a:p>
            <a:pPr algn="l"/>
            <a:r>
              <a:rPr sz="1000" b="0" i="1">
                <a:solidFill>
                  <a:srgbClr val="888888"/>
                </a:solidFill>
                <a:latin typeface="Calibri"/>
              </a:rPr>
              <a:t>Cert #3 (44,000) + Cert #43 (29,000)</a:t>
            </a:r>
          </a:p>
        </p:txBody>
      </p:sp>
      <p:sp>
        <p:nvSpPr>
          <p:cNvPr id="33" name="TextBox 32"/>
          <p:cNvSpPr txBox="1"/>
          <p:nvPr/>
        </p:nvSpPr>
        <p:spPr>
          <a:xfrm>
            <a:off x="4736592" y="1170432"/>
            <a:ext cx="2286000" cy="219456"/>
          </a:xfrm>
          <a:prstGeom prst="rect">
            <a:avLst/>
          </a:prstGeom>
          <a:noFill/>
        </p:spPr>
        <p:txBody>
          <a:bodyPr wrap="none">
            <a:spAutoFit/>
          </a:bodyPr>
          <a:lstStyle/>
          <a:p>
            <a:pPr algn="l"/>
            <a:r>
              <a:rPr sz="1000" b="0" i="0">
                <a:solidFill>
                  <a:srgbClr val="CCCCCC"/>
                </a:solidFill>
                <a:latin typeface="Calibri"/>
              </a:rPr>
              <a:t>At close  (as booked):</a:t>
            </a:r>
          </a:p>
        </p:txBody>
      </p:sp>
      <p:sp>
        <p:nvSpPr>
          <p:cNvPr id="34" name="TextBox 33"/>
          <p:cNvSpPr txBox="1"/>
          <p:nvPr/>
        </p:nvSpPr>
        <p:spPr>
          <a:xfrm>
            <a:off x="7068312" y="1170432"/>
            <a:ext cx="1828800" cy="219456"/>
          </a:xfrm>
          <a:prstGeom prst="rect">
            <a:avLst/>
          </a:prstGeom>
          <a:noFill/>
        </p:spPr>
        <p:txBody>
          <a:bodyPr wrap="none">
            <a:spAutoFit/>
          </a:bodyPr>
          <a:lstStyle/>
          <a:p>
            <a:pPr algn="r"/>
            <a:r>
              <a:rPr sz="1000" b="1" i="0">
                <a:solidFill>
                  <a:srgbClr val="44BB44"/>
                </a:solidFill>
                <a:latin typeface="Calibri"/>
              </a:rPr>
              <a:t>~$153.7K</a:t>
            </a:r>
          </a:p>
        </p:txBody>
      </p:sp>
      <p:sp>
        <p:nvSpPr>
          <p:cNvPr id="35" name="TextBox 34"/>
          <p:cNvSpPr txBox="1"/>
          <p:nvPr/>
        </p:nvSpPr>
        <p:spPr>
          <a:xfrm>
            <a:off x="4736592" y="1399032"/>
            <a:ext cx="2286000" cy="219456"/>
          </a:xfrm>
          <a:prstGeom prst="rect">
            <a:avLst/>
          </a:prstGeom>
          <a:noFill/>
        </p:spPr>
        <p:txBody>
          <a:bodyPr wrap="none">
            <a:spAutoFit/>
          </a:bodyPr>
          <a:lstStyle/>
          <a:p>
            <a:pPr algn="l"/>
            <a:r>
              <a:rPr sz="1000" b="0" i="0">
                <a:solidFill>
                  <a:srgbClr val="CCCCCC"/>
                </a:solidFill>
                <a:latin typeface="Calibri"/>
              </a:rPr>
              <a:t>At close  (books corrected):</a:t>
            </a:r>
          </a:p>
        </p:txBody>
      </p:sp>
      <p:sp>
        <p:nvSpPr>
          <p:cNvPr id="36" name="TextBox 35"/>
          <p:cNvSpPr txBox="1"/>
          <p:nvPr/>
        </p:nvSpPr>
        <p:spPr>
          <a:xfrm>
            <a:off x="7068312" y="1399032"/>
            <a:ext cx="1828800" cy="219456"/>
          </a:xfrm>
          <a:prstGeom prst="rect">
            <a:avLst/>
          </a:prstGeom>
          <a:noFill/>
        </p:spPr>
        <p:txBody>
          <a:bodyPr wrap="none">
            <a:spAutoFit/>
          </a:bodyPr>
          <a:lstStyle/>
          <a:p>
            <a:pPr algn="r"/>
            <a:r>
              <a:rPr sz="1000" b="1" i="0">
                <a:solidFill>
                  <a:srgbClr val="FFCC44"/>
                </a:solidFill>
                <a:latin typeface="Calibri"/>
              </a:rPr>
              <a:t>~$189.5K</a:t>
            </a:r>
          </a:p>
        </p:txBody>
      </p:sp>
      <p:sp>
        <p:nvSpPr>
          <p:cNvPr id="37" name="TextBox 36"/>
          <p:cNvSpPr txBox="1"/>
          <p:nvPr/>
        </p:nvSpPr>
        <p:spPr>
          <a:xfrm>
            <a:off x="4736592" y="1627632"/>
            <a:ext cx="2286000" cy="219456"/>
          </a:xfrm>
          <a:prstGeom prst="rect">
            <a:avLst/>
          </a:prstGeom>
          <a:noFill/>
        </p:spPr>
        <p:txBody>
          <a:bodyPr wrap="none">
            <a:spAutoFit/>
          </a:bodyPr>
          <a:lstStyle/>
          <a:p>
            <a:pPr algn="l"/>
            <a:r>
              <a:rPr sz="1000" b="0" i="0">
                <a:solidFill>
                  <a:srgbClr val="CCCCCC"/>
                </a:solidFill>
                <a:latin typeface="Calibri"/>
              </a:rPr>
              <a:t>5-year base:</a:t>
            </a:r>
          </a:p>
        </p:txBody>
      </p:sp>
      <p:sp>
        <p:nvSpPr>
          <p:cNvPr id="38" name="TextBox 37"/>
          <p:cNvSpPr txBox="1"/>
          <p:nvPr/>
        </p:nvSpPr>
        <p:spPr>
          <a:xfrm>
            <a:off x="7068312" y="1627632"/>
            <a:ext cx="1828800" cy="219456"/>
          </a:xfrm>
          <a:prstGeom prst="rect">
            <a:avLst/>
          </a:prstGeom>
          <a:noFill/>
        </p:spPr>
        <p:txBody>
          <a:bodyPr wrap="none">
            <a:spAutoFit/>
          </a:bodyPr>
          <a:lstStyle/>
          <a:p>
            <a:pPr algn="r"/>
            <a:r>
              <a:rPr sz="1000" b="1" i="0">
                <a:solidFill>
                  <a:srgbClr val="FFCC44"/>
                </a:solidFill>
                <a:latin typeface="Calibri"/>
              </a:rPr>
              <a:t>~$527K</a:t>
            </a:r>
          </a:p>
        </p:txBody>
      </p:sp>
      <p:sp>
        <p:nvSpPr>
          <p:cNvPr id="39" name="TextBox 38"/>
          <p:cNvSpPr txBox="1"/>
          <p:nvPr/>
        </p:nvSpPr>
        <p:spPr>
          <a:xfrm>
            <a:off x="4736592" y="1856232"/>
            <a:ext cx="2286000" cy="219456"/>
          </a:xfrm>
          <a:prstGeom prst="rect">
            <a:avLst/>
          </a:prstGeom>
          <a:noFill/>
        </p:spPr>
        <p:txBody>
          <a:bodyPr wrap="none">
            <a:spAutoFit/>
          </a:bodyPr>
          <a:lstStyle/>
          <a:p>
            <a:pPr algn="l"/>
            <a:r>
              <a:rPr sz="1000" b="0" i="0">
                <a:solidFill>
                  <a:srgbClr val="CCCCCC"/>
                </a:solidFill>
                <a:latin typeface="Calibri"/>
              </a:rPr>
              <a:t>Paid in (est., ~$49.1K):</a:t>
            </a:r>
          </a:p>
        </p:txBody>
      </p:sp>
      <p:sp>
        <p:nvSpPr>
          <p:cNvPr id="40" name="TextBox 39"/>
          <p:cNvSpPr txBox="1"/>
          <p:nvPr/>
        </p:nvSpPr>
        <p:spPr>
          <a:xfrm>
            <a:off x="7068312" y="1856232"/>
            <a:ext cx="1828800" cy="219456"/>
          </a:xfrm>
          <a:prstGeom prst="rect">
            <a:avLst/>
          </a:prstGeom>
          <a:noFill/>
        </p:spPr>
        <p:txBody>
          <a:bodyPr wrap="none">
            <a:spAutoFit/>
          </a:bodyPr>
          <a:lstStyle/>
          <a:p>
            <a:pPr algn="r"/>
            <a:r>
              <a:rPr sz="1000" b="1" i="0">
                <a:solidFill>
                  <a:srgbClr val="CCCCCC"/>
                </a:solidFill>
                <a:latin typeface="Calibri"/>
              </a:rPr>
              <a:t>10.7× return at 5-yr base</a:t>
            </a:r>
          </a:p>
        </p:txBody>
      </p:sp>
      <p:sp>
        <p:nvSpPr>
          <p:cNvPr id="41" name="TextBox 40"/>
          <p:cNvSpPr txBox="1"/>
          <p:nvPr/>
        </p:nvSpPr>
        <p:spPr>
          <a:xfrm>
            <a:off x="4736592" y="2121408"/>
            <a:ext cx="4160520" cy="384048"/>
          </a:xfrm>
          <a:prstGeom prst="rect">
            <a:avLst/>
          </a:prstGeom>
          <a:noFill/>
        </p:spPr>
        <p:txBody>
          <a:bodyPr wrap="square">
            <a:spAutoFit/>
          </a:bodyPr>
          <a:lstStyle/>
          <a:p>
            <a:pPr algn="l"/>
            <a:r>
              <a:rPr sz="1000" b="0" i="1">
                <a:solidFill>
                  <a:srgbClr val="FFCC44"/>
                </a:solidFill>
                <a:latin typeface="Calibri"/>
              </a:rPr>
              <a:t>⚠ SSLC’s 6/3/2026 ledger lists only 29K shares (cert #43); cert #3 (44K) is missing.
Motion 2 corrects the share register.</a:t>
            </a:r>
          </a:p>
        </p:txBody>
      </p:sp>
      <p:sp>
        <p:nvSpPr>
          <p:cNvPr id="42" name="Rectangle 41"/>
          <p:cNvSpPr/>
          <p:nvPr/>
        </p:nvSpPr>
        <p:spPr>
          <a:xfrm>
            <a:off x="0" y="2596896"/>
            <a:ext cx="9144000" cy="932688"/>
          </a:xfrm>
          <a:prstGeom prst="rect">
            <a:avLst/>
          </a:prstGeom>
          <a:solidFill>
            <a:srgbClr val="2A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2596896"/>
            <a:ext cx="9144000" cy="18288"/>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56032" y="2624327"/>
            <a:ext cx="8631936" cy="182880"/>
          </a:xfrm>
          <a:prstGeom prst="rect">
            <a:avLst/>
          </a:prstGeom>
          <a:noFill/>
        </p:spPr>
        <p:txBody>
          <a:bodyPr wrap="none">
            <a:spAutoFit/>
          </a:bodyPr>
          <a:lstStyle/>
          <a:p>
            <a:pPr algn="l"/>
            <a:r>
              <a:rPr sz="1000" b="1" i="0">
                <a:solidFill>
                  <a:srgbClr val="CC8800"/>
                </a:solidFill>
                <a:latin typeface="Calibri"/>
              </a:rPr>
              <a:t>IMPACT OF UNCORRECTED APRIL 30 ENTRIES  (negative to non-Wertz holders)</a:t>
            </a:r>
          </a:p>
        </p:txBody>
      </p:sp>
      <p:sp>
        <p:nvSpPr>
          <p:cNvPr id="45" name="TextBox 44"/>
          <p:cNvSpPr txBox="1"/>
          <p:nvPr/>
        </p:nvSpPr>
        <p:spPr>
          <a:xfrm>
            <a:off x="256032" y="2834639"/>
            <a:ext cx="4754880" cy="201168"/>
          </a:xfrm>
          <a:prstGeom prst="rect">
            <a:avLst/>
          </a:prstGeom>
          <a:noFill/>
        </p:spPr>
        <p:txBody>
          <a:bodyPr wrap="none">
            <a:spAutoFit/>
          </a:bodyPr>
          <a:lstStyle/>
          <a:p>
            <a:pPr algn="l"/>
            <a:r>
              <a:rPr sz="1000" b="0" i="0">
                <a:solidFill>
                  <a:srgbClr val="CCCCCC"/>
                </a:solidFill>
                <a:latin typeface="Calibri"/>
              </a:rPr>
              <a:t>Step 1  —  Facility credit + capitalized interest ($448K not credited):</a:t>
            </a:r>
          </a:p>
        </p:txBody>
      </p:sp>
      <p:sp>
        <p:nvSpPr>
          <p:cNvPr id="46" name="TextBox 45"/>
          <p:cNvSpPr txBox="1"/>
          <p:nvPr/>
        </p:nvSpPr>
        <p:spPr>
          <a:xfrm>
            <a:off x="5074920" y="2834639"/>
            <a:ext cx="1645920" cy="201168"/>
          </a:xfrm>
          <a:prstGeom prst="rect">
            <a:avLst/>
          </a:prstGeom>
          <a:noFill/>
        </p:spPr>
        <p:txBody>
          <a:bodyPr wrap="none">
            <a:spAutoFit/>
          </a:bodyPr>
          <a:lstStyle/>
          <a:p>
            <a:pPr algn="r"/>
            <a:r>
              <a:rPr sz="1000" b="1" i="0">
                <a:solidFill>
                  <a:srgbClr val="DD4444"/>
                </a:solidFill>
                <a:latin typeface="Calibri"/>
              </a:rPr>
              <a:t>Per 1%: −$5.5K</a:t>
            </a:r>
          </a:p>
        </p:txBody>
      </p:sp>
      <p:sp>
        <p:nvSpPr>
          <p:cNvPr id="47" name="TextBox 46"/>
          <p:cNvSpPr txBox="1"/>
          <p:nvPr/>
        </p:nvSpPr>
        <p:spPr>
          <a:xfrm>
            <a:off x="6748272" y="2834639"/>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48" name="TextBox 47"/>
          <p:cNvSpPr txBox="1"/>
          <p:nvPr/>
        </p:nvSpPr>
        <p:spPr>
          <a:xfrm>
            <a:off x="6931152" y="2834639"/>
            <a:ext cx="1920240" cy="201168"/>
          </a:xfrm>
          <a:prstGeom prst="rect">
            <a:avLst/>
          </a:prstGeom>
          <a:noFill/>
        </p:spPr>
        <p:txBody>
          <a:bodyPr wrap="none">
            <a:spAutoFit/>
          </a:bodyPr>
          <a:lstStyle/>
          <a:p>
            <a:pPr algn="r"/>
            <a:r>
              <a:rPr sz="1000" b="1" i="0">
                <a:solidFill>
                  <a:srgbClr val="DD4444"/>
                </a:solidFill>
                <a:latin typeface="Calibri"/>
              </a:rPr>
              <a:t>Conger: −$45.8K</a:t>
            </a:r>
          </a:p>
        </p:txBody>
      </p:sp>
      <p:sp>
        <p:nvSpPr>
          <p:cNvPr id="49" name="TextBox 48"/>
          <p:cNvSpPr txBox="1"/>
          <p:nvPr/>
        </p:nvSpPr>
        <p:spPr>
          <a:xfrm>
            <a:off x="256032" y="3090672"/>
            <a:ext cx="4754880" cy="201168"/>
          </a:xfrm>
          <a:prstGeom prst="rect">
            <a:avLst/>
          </a:prstGeom>
          <a:noFill/>
        </p:spPr>
        <p:txBody>
          <a:bodyPr wrap="none">
            <a:spAutoFit/>
          </a:bodyPr>
          <a:lstStyle/>
          <a:p>
            <a:pPr algn="l"/>
            <a:r>
              <a:rPr sz="1000" b="0" i="0">
                <a:solidFill>
                  <a:srgbClr val="CCCCCC"/>
                </a:solidFill>
                <a:latin typeface="Calibri"/>
              </a:rPr>
              <a:t>Step 1+2  —  + Unsupported offsets if unresolved ($967K):</a:t>
            </a:r>
          </a:p>
        </p:txBody>
      </p:sp>
      <p:sp>
        <p:nvSpPr>
          <p:cNvPr id="50" name="TextBox 49"/>
          <p:cNvSpPr txBox="1"/>
          <p:nvPr/>
        </p:nvSpPr>
        <p:spPr>
          <a:xfrm>
            <a:off x="5074920" y="3090672"/>
            <a:ext cx="1645920" cy="201168"/>
          </a:xfrm>
          <a:prstGeom prst="rect">
            <a:avLst/>
          </a:prstGeom>
          <a:noFill/>
        </p:spPr>
        <p:txBody>
          <a:bodyPr wrap="none">
            <a:spAutoFit/>
          </a:bodyPr>
          <a:lstStyle/>
          <a:p>
            <a:pPr algn="r"/>
            <a:r>
              <a:rPr sz="1000" b="1" i="0">
                <a:solidFill>
                  <a:srgbClr val="DD4444"/>
                </a:solidFill>
                <a:latin typeface="Calibri"/>
              </a:rPr>
              <a:t>Per 1%: −$11.8K</a:t>
            </a:r>
          </a:p>
        </p:txBody>
      </p:sp>
      <p:sp>
        <p:nvSpPr>
          <p:cNvPr id="51" name="TextBox 50"/>
          <p:cNvSpPr txBox="1"/>
          <p:nvPr/>
        </p:nvSpPr>
        <p:spPr>
          <a:xfrm>
            <a:off x="6748272" y="3090672"/>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52" name="TextBox 51"/>
          <p:cNvSpPr txBox="1"/>
          <p:nvPr/>
        </p:nvSpPr>
        <p:spPr>
          <a:xfrm>
            <a:off x="6931152" y="3090672"/>
            <a:ext cx="1920240" cy="201168"/>
          </a:xfrm>
          <a:prstGeom prst="rect">
            <a:avLst/>
          </a:prstGeom>
          <a:noFill/>
        </p:spPr>
        <p:txBody>
          <a:bodyPr wrap="none">
            <a:spAutoFit/>
          </a:bodyPr>
          <a:lstStyle/>
          <a:p>
            <a:pPr algn="r"/>
            <a:r>
              <a:rPr sz="1000" b="1" i="0">
                <a:solidFill>
                  <a:srgbClr val="DD4444"/>
                </a:solidFill>
                <a:latin typeface="Calibri"/>
              </a:rPr>
              <a:t>Conger: −$98.7K  (Microcosm would owe SSLC)</a:t>
            </a:r>
          </a:p>
        </p:txBody>
      </p:sp>
      <p:sp>
        <p:nvSpPr>
          <p:cNvPr id="53" name="Rectangle 52"/>
          <p:cNvSpPr/>
          <p:nvPr/>
        </p:nvSpPr>
        <p:spPr>
          <a:xfrm>
            <a:off x="0" y="3529584"/>
            <a:ext cx="4572000" cy="1207007"/>
          </a:xfrm>
          <a:prstGeom prst="rect">
            <a:avLst/>
          </a:prstGeom>
          <a:solidFill>
            <a:srgbClr val="0A1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0" y="3529584"/>
            <a:ext cx="4572000" cy="1207007"/>
          </a:xfrm>
          <a:prstGeom prst="rect">
            <a:avLst/>
          </a:prstGeom>
          <a:solidFill>
            <a:srgbClr val="1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0" y="3529584"/>
            <a:ext cx="9144000" cy="16459"/>
          </a:xfrm>
          <a:prstGeom prst="rect">
            <a:avLst/>
          </a:prstGeom>
          <a:solidFill>
            <a:srgbClr val="337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572000" y="3529584"/>
            <a:ext cx="10972" cy="1207007"/>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56032" y="3566160"/>
            <a:ext cx="4114800" cy="201168"/>
          </a:xfrm>
          <a:prstGeom prst="rect">
            <a:avLst/>
          </a:prstGeom>
          <a:noFill/>
        </p:spPr>
        <p:txBody>
          <a:bodyPr wrap="none">
            <a:spAutoFit/>
          </a:bodyPr>
          <a:lstStyle/>
          <a:p>
            <a:pPr algn="l"/>
            <a:r>
              <a:rPr sz="1100" b="1" i="0">
                <a:solidFill>
                  <a:srgbClr val="44BB44"/>
                </a:solidFill>
                <a:latin typeface="Calibri"/>
              </a:rPr>
              <a:t>✔  SELL TO EXOS</a:t>
            </a:r>
          </a:p>
        </p:txBody>
      </p:sp>
      <p:sp>
        <p:nvSpPr>
          <p:cNvPr id="58" name="TextBox 57"/>
          <p:cNvSpPr txBox="1"/>
          <p:nvPr/>
        </p:nvSpPr>
        <p:spPr>
          <a:xfrm>
            <a:off x="4736592" y="3566160"/>
            <a:ext cx="4114800" cy="201168"/>
          </a:xfrm>
          <a:prstGeom prst="rect">
            <a:avLst/>
          </a:prstGeom>
          <a:noFill/>
        </p:spPr>
        <p:txBody>
          <a:bodyPr wrap="none">
            <a:spAutoFit/>
          </a:bodyPr>
          <a:lstStyle/>
          <a:p>
            <a:pPr algn="l"/>
            <a:r>
              <a:rPr sz="1100" b="1" i="0">
                <a:solidFill>
                  <a:srgbClr val="DD4444"/>
                </a:solidFill>
                <a:latin typeface="Calibri"/>
              </a:rPr>
              <a:t>✘  DECLINE</a:t>
            </a:r>
          </a:p>
        </p:txBody>
      </p:sp>
      <p:sp>
        <p:nvSpPr>
          <p:cNvPr id="59" name="TextBox 58"/>
          <p:cNvSpPr txBox="1"/>
          <p:nvPr/>
        </p:nvSpPr>
        <p:spPr>
          <a:xfrm>
            <a:off x="457200" y="3785615"/>
            <a:ext cx="3977639" cy="201168"/>
          </a:xfrm>
          <a:prstGeom prst="rect">
            <a:avLst/>
          </a:prstGeom>
          <a:noFill/>
        </p:spPr>
        <p:txBody>
          <a:bodyPr wrap="none">
            <a:spAutoFit/>
          </a:bodyPr>
          <a:lstStyle/>
          <a:p>
            <a:pPr algn="l"/>
            <a:r>
              <a:rPr sz="1000" b="0" i="0">
                <a:solidFill>
                  <a:srgbClr val="44BB44"/>
                </a:solidFill>
                <a:latin typeface="Calibri"/>
              </a:rPr>
              <a:t>~$18–23K per 1% in cash at close</a:t>
            </a:r>
          </a:p>
        </p:txBody>
      </p:sp>
      <p:sp>
        <p:nvSpPr>
          <p:cNvPr id="60" name="TextBox 59"/>
          <p:cNvSpPr txBox="1"/>
          <p:nvPr/>
        </p:nvSpPr>
        <p:spPr>
          <a:xfrm>
            <a:off x="4736592" y="3785615"/>
            <a:ext cx="4160520" cy="201168"/>
          </a:xfrm>
          <a:prstGeom prst="rect">
            <a:avLst/>
          </a:prstGeom>
          <a:noFill/>
        </p:spPr>
        <p:txBody>
          <a:bodyPr wrap="none">
            <a:spAutoFit/>
          </a:bodyPr>
          <a:lstStyle/>
          <a:p>
            <a:pPr algn="l"/>
            <a:r>
              <a:rPr sz="1000" b="0" i="0">
                <a:solidFill>
                  <a:srgbClr val="DD4444"/>
                </a:solidFill>
                <a:latin typeface="Calibri"/>
              </a:rPr>
              <a:t>$0 per 1% at book value today (−$1.44M equity)</a:t>
            </a:r>
          </a:p>
        </p:txBody>
      </p:sp>
      <p:sp>
        <p:nvSpPr>
          <p:cNvPr id="61" name="TextBox 60"/>
          <p:cNvSpPr txBox="1"/>
          <p:nvPr/>
        </p:nvSpPr>
        <p:spPr>
          <a:xfrm>
            <a:off x="457200" y="4005072"/>
            <a:ext cx="3977639" cy="201168"/>
          </a:xfrm>
          <a:prstGeom prst="rect">
            <a:avLst/>
          </a:prstGeom>
          <a:noFill/>
        </p:spPr>
        <p:txBody>
          <a:bodyPr wrap="none">
            <a:spAutoFit/>
          </a:bodyPr>
          <a:lstStyle/>
          <a:p>
            <a:pPr algn="l"/>
            <a:r>
              <a:rPr sz="1000" b="0" i="0">
                <a:solidFill>
                  <a:srgbClr val="44BB44"/>
                </a:solidFill>
                <a:latin typeface="Calibri"/>
              </a:rPr>
              <a:t>~$63K per 1% over 5 years (Structure A)</a:t>
            </a:r>
          </a:p>
        </p:txBody>
      </p:sp>
      <p:sp>
        <p:nvSpPr>
          <p:cNvPr id="62" name="TextBox 61"/>
          <p:cNvSpPr txBox="1"/>
          <p:nvPr/>
        </p:nvSpPr>
        <p:spPr>
          <a:xfrm>
            <a:off x="4736592" y="4005072"/>
            <a:ext cx="4160520" cy="201168"/>
          </a:xfrm>
          <a:prstGeom prst="rect">
            <a:avLst/>
          </a:prstGeom>
          <a:noFill/>
        </p:spPr>
        <p:txBody>
          <a:bodyPr wrap="none">
            <a:spAutoFit/>
          </a:bodyPr>
          <a:lstStyle/>
          <a:p>
            <a:pPr algn="l"/>
            <a:r>
              <a:rPr sz="1000" b="0" i="0">
                <a:solidFill>
                  <a:srgbClr val="DD4444"/>
                </a:solidFill>
                <a:latin typeface="Calibri"/>
              </a:rPr>
              <a:t>$5.1M FY27 target still requires doubling last 3mo</a:t>
            </a:r>
          </a:p>
        </p:txBody>
      </p:sp>
      <p:sp>
        <p:nvSpPr>
          <p:cNvPr id="63" name="TextBox 62"/>
          <p:cNvSpPr txBox="1"/>
          <p:nvPr/>
        </p:nvSpPr>
        <p:spPr>
          <a:xfrm>
            <a:off x="457200" y="4224528"/>
            <a:ext cx="3977639" cy="201168"/>
          </a:xfrm>
          <a:prstGeom prst="rect">
            <a:avLst/>
          </a:prstGeom>
          <a:noFill/>
        </p:spPr>
        <p:txBody>
          <a:bodyPr wrap="none">
            <a:spAutoFit/>
          </a:bodyPr>
          <a:lstStyle/>
          <a:p>
            <a:pPr algn="l"/>
            <a:r>
              <a:rPr sz="1000" b="0" i="0">
                <a:solidFill>
                  <a:srgbClr val="44BB44"/>
                </a:solidFill>
                <a:latin typeface="Calibri"/>
              </a:rPr>
              <a:t>Books corrected  ·  funding risk removed</a:t>
            </a:r>
          </a:p>
        </p:txBody>
      </p:sp>
      <p:sp>
        <p:nvSpPr>
          <p:cNvPr id="64" name="TextBox 63"/>
          <p:cNvSpPr txBox="1"/>
          <p:nvPr/>
        </p:nvSpPr>
        <p:spPr>
          <a:xfrm>
            <a:off x="4736592" y="4224528"/>
            <a:ext cx="4160520" cy="201168"/>
          </a:xfrm>
          <a:prstGeom prst="rect">
            <a:avLst/>
          </a:prstGeom>
          <a:noFill/>
        </p:spPr>
        <p:txBody>
          <a:bodyPr wrap="none">
            <a:spAutoFit/>
          </a:bodyPr>
          <a:lstStyle/>
          <a:p>
            <a:pPr algn="l"/>
            <a:r>
              <a:rPr sz="1000" b="0" i="0">
                <a:solidFill>
                  <a:srgbClr val="DD4444"/>
                </a:solidFill>
                <a:latin typeface="Calibri"/>
              </a:rPr>
              <a:t>Insider balances ($864K as booked) paid first</a:t>
            </a:r>
          </a:p>
        </p:txBody>
      </p:sp>
      <p:sp>
        <p:nvSpPr>
          <p:cNvPr id="65" name="TextBox 64"/>
          <p:cNvSpPr txBox="1"/>
          <p:nvPr/>
        </p:nvSpPr>
        <p:spPr>
          <a:xfrm>
            <a:off x="256032" y="4480560"/>
            <a:ext cx="8631936" cy="182880"/>
          </a:xfrm>
          <a:prstGeom prst="rect">
            <a:avLst/>
          </a:prstGeom>
          <a:noFill/>
        </p:spPr>
        <p:txBody>
          <a:bodyPr wrap="none">
            <a:spAutoFit/>
          </a:bodyPr>
          <a:lstStyle/>
          <a:p>
            <a:pPr algn="l"/>
            <a:r>
              <a:rPr sz="1000" b="0" i="1">
                <a:solidFill>
                  <a:srgbClr val="CCCCCC"/>
                </a:solidFill>
                <a:latin typeface="Calibri"/>
              </a:rPr>
              <a:t>Declining means believing SSLC alone beats this without new capital.</a:t>
            </a:r>
          </a:p>
        </p:txBody>
      </p:sp>
      <p:sp>
        <p:nvSpPr>
          <p:cNvPr id="66" name="TextBox 65"/>
          <p:cNvSpPr txBox="1"/>
          <p:nvPr/>
        </p:nvSpPr>
        <p:spPr>
          <a:xfrm>
            <a:off x="256032" y="4736592"/>
            <a:ext cx="8631936" cy="137160"/>
          </a:xfrm>
          <a:prstGeom prst="rect">
            <a:avLst/>
          </a:prstGeom>
          <a:noFill/>
        </p:spPr>
        <p:txBody>
          <a:bodyPr wrap="none">
            <a:spAutoFit/>
          </a:bodyPr>
          <a:lstStyle/>
          <a:p>
            <a:pPr algn="l"/>
            <a:r>
              <a:rPr sz="1000" b="0" i="1">
                <a:solidFill>
                  <a:srgbClr val="888888"/>
                </a:solidFill>
                <a:latin typeface="Calibri"/>
              </a:rPr>
              <a:t>Projection, not a guarantee. Amounts estimated from SSLC QuickBooks (10/11/2026) and the 08-2024 share register.</a:t>
            </a:r>
          </a:p>
        </p:txBody>
      </p:sp>
      <p:sp>
        <p:nvSpPr>
          <p:cNvPr id="67" name="TextBox 66"/>
          <p:cNvSpPr txBox="1"/>
          <p:nvPr/>
        </p:nvSpPr>
        <p:spPr>
          <a:xfrm>
            <a:off x="3200400" y="4910328"/>
            <a:ext cx="2743200" cy="201168"/>
          </a:xfrm>
          <a:prstGeom prst="rect">
            <a:avLst/>
          </a:prstGeom>
          <a:noFill/>
        </p:spPr>
        <p:txBody>
          <a:bodyPr wrap="none">
            <a:spAutoFit/>
          </a:bodyPr>
          <a:lstStyle/>
          <a:p>
            <a:pPr algn="ctr"/>
            <a:r>
              <a:rPr sz="1000" b="0" i="0">
                <a:solidFill>
                  <a:srgbClr val="888888"/>
                </a:solidFill>
                <a:latin typeface="Calibri"/>
              </a:rPr>
              <a:t>DRAFT — NEGOTIATING TERMS</a:t>
            </a:r>
          </a:p>
        </p:txBody>
      </p:sp>
      <p:sp>
        <p:nvSpPr>
          <p:cNvPr id="68" name="TextBox 67"/>
          <p:cNvSpPr txBox="1"/>
          <p:nvPr/>
        </p:nvSpPr>
        <p:spPr>
          <a:xfrm>
            <a:off x="7863840" y="4910328"/>
            <a:ext cx="1188720" cy="201168"/>
          </a:xfrm>
          <a:prstGeom prst="rect">
            <a:avLst/>
          </a:prstGeom>
          <a:noFill/>
        </p:spPr>
        <p:txBody>
          <a:bodyPr wrap="none">
            <a:spAutoFit/>
          </a:bodyPr>
          <a:lstStyle/>
          <a:p>
            <a:pPr algn="r"/>
            <a:r>
              <a:rPr sz="1000" b="0" i="0">
                <a:solidFill>
                  <a:srgbClr val="888888"/>
                </a:solidFill>
                <a:latin typeface="Calibri"/>
              </a:rPr>
              <a:t>CONFIDENTIAL</a:t>
            </a:r>
          </a:p>
        </p:txBody>
      </p:sp>
      <p:sp>
        <p:nvSpPr>
          <p:cNvPr id="69" name="TextBox 68"/>
          <p:cNvSpPr txBox="1"/>
          <p:nvPr/>
        </p:nvSpPr>
        <p:spPr>
          <a:xfrm>
            <a:off x="256032" y="3310128"/>
            <a:ext cx="4754880" cy="201168"/>
          </a:xfrm>
          <a:prstGeom prst="rect">
            <a:avLst/>
          </a:prstGeom>
          <a:noFill/>
        </p:spPr>
        <p:txBody>
          <a:bodyPr wrap="none">
            <a:spAutoFit/>
          </a:bodyPr>
          <a:lstStyle/>
          <a:p>
            <a:r>
              <a:rPr lang="en-US" sz="1000">
                <a:solidFill>
                  <a:srgbClr val="CCCCCC"/>
                </a:solidFill>
                <a:latin typeface="Calibri"/>
              </a:rPr>
              <a:t>Step 3  —  If full $812K Microcosm loan undocumented ($1.26M total):</a:t>
            </a:r>
          </a:p>
        </p:txBody>
      </p:sp>
      <p:sp>
        <p:nvSpPr>
          <p:cNvPr id="70" name="TextBox 69"/>
          <p:cNvSpPr txBox="1"/>
          <p:nvPr/>
        </p:nvSpPr>
        <p:spPr>
          <a:xfrm>
            <a:off x="5074920" y="3310128"/>
            <a:ext cx="1645920" cy="201168"/>
          </a:xfrm>
          <a:prstGeom prst="rect">
            <a:avLst/>
          </a:prstGeom>
          <a:noFill/>
        </p:spPr>
        <p:txBody>
          <a:bodyPr wrap="none">
            <a:spAutoFit/>
          </a:bodyPr>
          <a:lstStyle/>
          <a:p>
            <a:r>
              <a:rPr lang="en-US" b="1" sz="1000">
                <a:solidFill>
                  <a:srgbClr val="DD4444"/>
                </a:solidFill>
                <a:latin typeface="Calibri"/>
              </a:rPr>
              <a:t>Per 1%: −$15.4K</a:t>
            </a:r>
          </a:p>
        </p:txBody>
      </p:sp>
      <p:sp>
        <p:nvSpPr>
          <p:cNvPr id="71" name="TextBox 70"/>
          <p:cNvSpPr txBox="1"/>
          <p:nvPr/>
        </p:nvSpPr>
        <p:spPr>
          <a:xfrm>
            <a:off x="6748272" y="3310128"/>
            <a:ext cx="164592" cy="201168"/>
          </a:xfrm>
          <a:prstGeom prst="rect">
            <a:avLst/>
          </a:prstGeom>
          <a:noFill/>
        </p:spPr>
        <p:txBody>
          <a:bodyPr wrap="none">
            <a:spAutoFit/>
          </a:bodyPr>
          <a:lstStyle/>
          <a:p>
            <a:r>
              <a:rPr lang="en-US" sz="1000">
                <a:solidFill>
                  <a:srgbClr val="CCCCCC"/>
                </a:solidFill>
                <a:latin typeface="Calibri"/>
              </a:rPr>
              <a:t>|</a:t>
            </a:r>
          </a:p>
        </p:txBody>
      </p:sp>
      <p:sp>
        <p:nvSpPr>
          <p:cNvPr id="72" name="TextBox 71"/>
          <p:cNvSpPr txBox="1"/>
          <p:nvPr/>
        </p:nvSpPr>
        <p:spPr>
          <a:xfrm>
            <a:off x="6931152" y="3310128"/>
            <a:ext cx="1920240" cy="201168"/>
          </a:xfrm>
          <a:prstGeom prst="rect">
            <a:avLst/>
          </a:prstGeom>
          <a:noFill/>
        </p:spPr>
        <p:txBody>
          <a:bodyPr wrap="none">
            <a:spAutoFit/>
          </a:bodyPr>
          <a:lstStyle/>
          <a:p>
            <a:r>
              <a:rPr lang="en-US" b="1" sz="1000">
                <a:solidFill>
                  <a:srgbClr val="DD4444"/>
                </a:solidFill>
                <a:latin typeface="Calibri"/>
              </a:rPr>
              <a:t>Conger: −$128.7K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p/>
        </p:txBody>
      </p:sp>
      <p:sp>
        <p:nvSpPr>
          <p:cNvPr id="5" name="Text 3"/>
          <p:cNvSpPr txBox="1"/>
          <p:nvPr/>
        </p:nvSpPr>
        <p:spPr>
          <a:xfrm>
            <a:off x="1005840" y="1042416"/>
            <a:ext cx="3657600" cy="347472"/>
          </a:xfrm>
          <a:prstGeom prst="rect">
            <a:avLst/>
          </a:prstGeom>
          <a:noFill/>
          <a:ln/>
        </p:spPr>
        <p:txBody>
          <a:bodyPr wrap="square" rtlCol="0" anchor="ctr"/>
          <a:lstStyle/>
          <a:p>
            <a:pPr indent="0" marL="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algn="r" indent="0" marL="0">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p/>
        </p:txBody>
      </p:sp>
      <p:sp>
        <p:nvSpPr>
          <p:cNvPr id="8" name="Text 6"/>
          <p:cNvSpPr txBox="1"/>
          <p:nvPr/>
        </p:nvSpPr>
        <p:spPr>
          <a:xfrm>
            <a:off x="1005840" y="1463040"/>
            <a:ext cx="3657600" cy="347472"/>
          </a:xfrm>
          <a:prstGeom prst="rect">
            <a:avLst/>
          </a:prstGeom>
          <a:noFill/>
          <a:ln/>
        </p:spPr>
        <p:txBody>
          <a:bodyPr wrap="square" rtlCol="0" anchor="ctr"/>
          <a:lstStyle/>
          <a:p>
            <a:pPr indent="0" marL="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algn="r" indent="0" marL="0">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p/>
        </p:txBody>
      </p:sp>
      <p:sp>
        <p:nvSpPr>
          <p:cNvPr id="11" name="Text 9"/>
          <p:cNvSpPr txBox="1"/>
          <p:nvPr/>
        </p:nvSpPr>
        <p:spPr>
          <a:xfrm>
            <a:off x="1005840" y="1883664"/>
            <a:ext cx="3657600" cy="347472"/>
          </a:xfrm>
          <a:prstGeom prst="rect">
            <a:avLst/>
          </a:prstGeom>
          <a:noFill/>
          <a:ln/>
        </p:spPr>
        <p:txBody>
          <a:bodyPr wrap="square" rtlCol="0" anchor="ctr"/>
          <a:lstStyle/>
          <a:p>
            <a:pPr indent="0" marL="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algn="r" indent="0" marL="0">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txBody>
          <a:bodyPr/>
          <a:p/>
        </p:txBody>
      </p:sp>
      <p:sp>
        <p:nvSpPr>
          <p:cNvPr id="16" name="Shape 14"/>
          <p:cNvSpPr/>
          <p:nvPr/>
        </p:nvSpPr>
        <p:spPr>
          <a:xfrm>
            <a:off x="914400" y="2688336"/>
            <a:ext cx="5669280" cy="393192"/>
          </a:xfrm>
          <a:prstGeom prst="rect">
            <a:avLst/>
          </a:prstGeom>
          <a:solidFill>
            <a:srgbClr val="222222"/>
          </a:solidFill>
          <a:ln w="12700">
            <a:solidFill>
              <a:srgbClr val="333333"/>
            </a:solidFill>
            <a:prstDash val="solid"/>
          </a:ln>
        </p:spPr>
        <p:txBody>
          <a:bodyPr/>
          <a:p/>
        </p:txBody>
      </p:sp>
      <p:sp>
        <p:nvSpPr>
          <p:cNvPr id="17" name="Text 15"/>
          <p:cNvSpPr txBox="1"/>
          <p:nvPr/>
        </p:nvSpPr>
        <p:spPr>
          <a:xfrm>
            <a:off x="1005840" y="2724912"/>
            <a:ext cx="3657600" cy="347472"/>
          </a:xfrm>
          <a:prstGeom prst="rect">
            <a:avLst/>
          </a:prstGeom>
          <a:noFill/>
          <a:ln/>
        </p:spPr>
        <p:txBody>
          <a:bodyPr wrap="square" rtlCol="0" anchor="ctr"/>
          <a:lstStyle/>
          <a:p>
            <a:pPr indent="0" marL="0">
              <a:buNone/>
            </a:pPr>
            <a:r>
              <a:rPr lang="en-US" sz="1300" dirty="0">
                <a:solidFill>
                  <a:srgbClr val="CCCCCC"/>
                </a:solidFill>
              </a:rPr>
              <a:t>Working-capital bridge</a:t>
            </a:r>
            <a:endParaRPr lang="en-US" sz="1300" dirty="0"/>
          </a:p>
        </p:txBody>
      </p:sp>
      <p:sp>
        <p:nvSpPr>
          <p:cNvPr id="18" name="Text 16"/>
          <p:cNvSpPr txBox="1"/>
          <p:nvPr/>
        </p:nvSpPr>
        <p:spPr>
          <a:xfrm>
            <a:off x="5486400" y="2724912"/>
            <a:ext cx="1005840" cy="347472"/>
          </a:xfrm>
          <a:prstGeom prst="rect">
            <a:avLst/>
          </a:prstGeom>
          <a:noFill/>
          <a:ln/>
        </p:spPr>
        <p:txBody>
          <a:bodyPr wrap="square" rtlCol="0" anchor="ctr"/>
          <a:lstStyle/>
          <a:p>
            <a:pPr algn="r" indent="0" marL="0">
              <a:buNone/>
            </a:pPr>
            <a:r>
              <a:rPr lang="en-US" sz="1300" b="1" dirty="0">
                <a:solidFill>
                  <a:srgbClr val="FFFFFF"/>
                </a:solidFill>
              </a:rPr>
              <a:t>$500K</a:t>
            </a:r>
            <a:endParaRPr lang="en-US" sz="1300" dirty="0"/>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p/>
        </p:txBody>
      </p:sp>
      <p:sp>
        <p:nvSpPr>
          <p:cNvPr id="20" name="Text 18"/>
          <p:cNvSpPr txBox="1"/>
          <p:nvPr/>
        </p:nvSpPr>
        <p:spPr>
          <a:xfrm>
            <a:off x="868680" y="3200400"/>
            <a:ext cx="3840480" cy="365760"/>
          </a:xfrm>
          <a:prstGeom prst="rect">
            <a:avLst/>
          </a:prstGeom>
          <a:noFill/>
          <a:ln/>
        </p:spPr>
        <p:txBody>
          <a:bodyPr wrap="square" rtlCol="0" anchor="ctr"/>
          <a:lstStyle/>
          <a:p>
            <a:pPr indent="0" marL="0">
              <a:buNone/>
            </a:pPr>
            <a:r>
              <a:rPr lang="en-US" sz="1300" b="1" dirty="0">
                <a:solidFill>
                  <a:srgbClr val="F26A21"/>
                </a:solidFill>
              </a:rPr>
              <a:t>① Cash at close — target by Feb 15th</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algn="r" indent="0" marL="0">
              <a:buNone/>
            </a:pPr>
            <a:r>
              <a:rPr lang="en-US" sz="1800" b="1" dirty="0">
                <a:solidFill>
                  <a:srgbClr val="F26A21"/>
                </a:solidFill>
              </a:rPr>
              <a:t>$3.86M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p/>
        </p:txBody>
      </p:sp>
      <p:sp>
        <p:nvSpPr>
          <p:cNvPr id="23" name="Text 21"/>
          <p:cNvSpPr txBox="1"/>
          <p:nvPr/>
        </p:nvSpPr>
        <p:spPr>
          <a:xfrm>
            <a:off x="1005840" y="3712464"/>
            <a:ext cx="3840480" cy="329184"/>
          </a:xfrm>
          <a:prstGeom prst="rect">
            <a:avLst/>
          </a:prstGeom>
          <a:noFill/>
          <a:ln/>
        </p:spPr>
        <p:txBody>
          <a:bodyPr wrap="square" rtlCol="0" anchor="ctr"/>
          <a:lstStyle/>
          <a:p>
            <a:pPr indent="0" marL="0">
              <a:buNone/>
            </a:pPr>
            <a:r>
              <a:rPr lang="en-US" sz="1300" dirty="0">
                <a:solidFill>
                  <a:srgbClr val="CCCCCC"/>
                </a:solidFill>
              </a:rPr>
              <a:t>+ Exos equity — EAI units at 409A (Rule 504, ~0.59%)</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algn="r" indent="0" marL="0">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p/>
        </p:txBody>
      </p:sp>
      <p:sp>
        <p:nvSpPr>
          <p:cNvPr id="26" name="Text 24"/>
          <p:cNvSpPr txBox="1"/>
          <p:nvPr/>
        </p:nvSpPr>
        <p:spPr>
          <a:xfrm>
            <a:off x="868680" y="4233672"/>
            <a:ext cx="4389120" cy="365760"/>
          </a:xfrm>
          <a:prstGeom prst="rect">
            <a:avLst/>
          </a:prstGeom>
          <a:noFill/>
          <a:ln/>
        </p:spPr>
        <p:txBody>
          <a:bodyPr wrap="square" rtlCol="0" anchor="ctr"/>
          <a:lstStyle/>
          <a:p>
            <a:pPr indent="0" marL="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algn="r" indent="0" marL="0">
              <a:buNone/>
            </a:pPr>
            <a:r>
              <a:rPr lang="en-US" sz="2000" b="1" dirty="0">
                <a:solidFill>
                  <a:srgbClr val="2ECC71"/>
                </a:solidFill>
              </a:rPr>
              <a:t>$4.86M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indent="0" marL="0">
              <a:buNone/>
            </a:pPr>
            <a:r>
              <a:rPr lang="en-US" sz="1100" dirty="0">
                <a:solidFill>
                  <a:srgbClr val="888888"/>
                </a:solidFill>
              </a:rPr>
              <a:t>Issued at financing close</a:t>
            </a:r>
            <a:endParaRPr lang="en-US" sz="1100" dirty="0"/>
          </a:p>
          <a:p>
            <a:pPr indent="0" marL="0">
              <a:buNone/>
            </a:pPr>
            <a:r>
              <a:rPr lang="en-US" sz="1100" dirty="0">
                <a:solidFill>
                  <a:srgbClr val="888888"/>
                </a:solidFill>
              </a:rPr>
              <a:t>Restricted at issuance (Rule 504)</a:t>
            </a:r>
            <a:endParaRPr lang="en-US" sz="1100" dirty="0"/>
          </a:p>
          <a:p>
            <a:pPr indent="0" marL="0">
              <a:buNone/>
            </a:pPr>
            <a:r>
              <a:rPr lang="en-US" sz="1100" dirty="0">
                <a:solidFill>
                  <a:srgbClr val="888888"/>
                </a:solidFill>
              </a:rPr>
              <a:t>Part of RTO public float</a:t>
            </a:r>
            <a:endParaRPr lang="en-US" sz="1100" dirty="0"/>
          </a:p>
          <a:p>
            <a:pPr indent="0" marL="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p/>
        </p:txBody>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txBody>
          <a:bodyPr/>
          <a:p/>
        </p:txBody>
      </p:sp>
      <p:sp>
        <p:nvSpPr>
          <p:cNvPr id="5" name="Text 3"/>
          <p:cNvSpPr txBox="1"/>
          <p:nvPr/>
        </p:nvSpPr>
        <p:spPr>
          <a:xfrm>
            <a:off x="320040" y="676656"/>
            <a:ext cx="1938528" cy="310896"/>
          </a:xfrm>
          <a:prstGeom prst="rect">
            <a:avLst/>
          </a:prstGeom>
          <a:noFill/>
          <a:ln/>
        </p:spPr>
        <p:txBody>
          <a:bodyPr wrap="square" rtlCol="0" anchor="ctr"/>
          <a:lstStyle/>
          <a:p>
            <a:pPr algn="l" indent="0" marL="0">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txBody>
          <a:bodyPr/>
          <a:p/>
        </p:txBody>
      </p:sp>
      <p:sp>
        <p:nvSpPr>
          <p:cNvPr id="7" name="Text 5"/>
          <p:cNvSpPr txBox="1"/>
          <p:nvPr/>
        </p:nvSpPr>
        <p:spPr>
          <a:xfrm>
            <a:off x="2377440" y="676656"/>
            <a:ext cx="1801368" cy="310896"/>
          </a:xfrm>
          <a:prstGeom prst="rect">
            <a:avLst/>
          </a:prstGeom>
          <a:noFill/>
          <a:ln/>
        </p:spPr>
        <p:txBody>
          <a:bodyPr wrap="square" rtlCol="0" anchor="ctr"/>
          <a:lstStyle/>
          <a:p>
            <a:pPr algn="l" indent="0" marL="0">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txBody>
          <a:bodyPr/>
          <a:p/>
        </p:txBody>
      </p:sp>
      <p:sp>
        <p:nvSpPr>
          <p:cNvPr id="9" name="Text 7"/>
          <p:cNvSpPr txBox="1"/>
          <p:nvPr/>
        </p:nvSpPr>
        <p:spPr>
          <a:xfrm>
            <a:off x="4297680" y="676656"/>
            <a:ext cx="978408" cy="310896"/>
          </a:xfrm>
          <a:prstGeom prst="rect">
            <a:avLst/>
          </a:prstGeom>
          <a:noFill/>
          <a:ln/>
        </p:spPr>
        <p:txBody>
          <a:bodyPr wrap="square" rtlCol="0" anchor="ctr"/>
          <a:lstStyle/>
          <a:p>
            <a:pPr algn="ctr" indent="0" marL="0">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txBody>
          <a:bodyPr/>
          <a:p/>
        </p:txBody>
      </p:sp>
      <p:sp>
        <p:nvSpPr>
          <p:cNvPr id="11" name="Text 9"/>
          <p:cNvSpPr txBox="1"/>
          <p:nvPr/>
        </p:nvSpPr>
        <p:spPr>
          <a:xfrm>
            <a:off x="5394960" y="676656"/>
            <a:ext cx="978408" cy="310896"/>
          </a:xfrm>
          <a:prstGeom prst="rect">
            <a:avLst/>
          </a:prstGeom>
          <a:noFill/>
          <a:ln/>
        </p:spPr>
        <p:txBody>
          <a:bodyPr wrap="square" rtlCol="0" anchor="ctr"/>
          <a:lstStyle/>
          <a:p>
            <a:pPr algn="ctr" indent="0" marL="0">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txBody>
          <a:bodyPr/>
          <a:p/>
        </p:txBody>
      </p:sp>
      <p:sp>
        <p:nvSpPr>
          <p:cNvPr id="13" name="Text 11"/>
          <p:cNvSpPr txBox="1"/>
          <p:nvPr/>
        </p:nvSpPr>
        <p:spPr>
          <a:xfrm>
            <a:off x="6492240" y="676656"/>
            <a:ext cx="978408" cy="310896"/>
          </a:xfrm>
          <a:prstGeom prst="rect">
            <a:avLst/>
          </a:prstGeom>
          <a:noFill/>
          <a:ln/>
        </p:spPr>
        <p:txBody>
          <a:bodyPr wrap="square" rtlCol="0" anchor="ctr"/>
          <a:lstStyle/>
          <a:p>
            <a:pPr algn="ctr" indent="0" marL="0">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txBody>
          <a:bodyPr/>
          <a:p/>
        </p:txBody>
      </p:sp>
      <p:sp>
        <p:nvSpPr>
          <p:cNvPr id="15" name="Text 13"/>
          <p:cNvSpPr txBox="1"/>
          <p:nvPr/>
        </p:nvSpPr>
        <p:spPr>
          <a:xfrm>
            <a:off x="7589520" y="676656"/>
            <a:ext cx="932688" cy="310896"/>
          </a:xfrm>
          <a:prstGeom prst="rect">
            <a:avLst/>
          </a:prstGeom>
          <a:noFill/>
          <a:ln/>
        </p:spPr>
        <p:txBody>
          <a:bodyPr wrap="square" rtlCol="0" anchor="ctr"/>
          <a:lstStyle/>
          <a:p>
            <a:pPr algn="ctr" indent="0" marL="0">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329184" y="1024128"/>
            <a:ext cx="1920240" cy="512064"/>
          </a:xfrm>
          <a:prstGeom prst="rect">
            <a:avLst/>
          </a:prstGeom>
          <a:noFill/>
          <a:ln/>
        </p:spPr>
        <p:txBody>
          <a:bodyPr wrap="square" rtlCol="0" anchor="ctr"/>
          <a:lstStyle/>
          <a:p>
            <a:pPr algn="l" indent="0" marL="0">
              <a:buNone/>
            </a:pPr>
            <a:r>
              <a:rPr lang="en-US" sz="1000" dirty="0">
                <a:solidFill>
                  <a:srgbClr val="CCCCCC"/>
                </a:solidFill>
              </a:rPr>
              <a:t>5% of IM tank revenue/yr</a:t>
            </a:r>
            <a:endParaRPr lang="en-US" sz="900" dirty="0"/>
          </a:p>
          <a:p>
            <a:pPr algn="l" indent="0" marL="0">
              <a:buNone/>
            </a:pPr>
            <a:r>
              <a:rPr lang="en-US" sz="10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txBody>
          <a:bodyPr/>
          <a:p/>
        </p:txBody>
      </p:sp>
      <p:sp>
        <p:nvSpPr>
          <p:cNvPr id="19" name="Text 17"/>
          <p:cNvSpPr txBox="1"/>
          <p:nvPr/>
        </p:nvSpPr>
        <p:spPr>
          <a:xfrm>
            <a:off x="2386584" y="1024128"/>
            <a:ext cx="1783080" cy="512064"/>
          </a:xfrm>
          <a:prstGeom prst="rect">
            <a:avLst/>
          </a:prstGeom>
          <a:noFill/>
          <a:ln/>
        </p:spPr>
        <p:txBody>
          <a:bodyPr wrap="square" rtlCol="0" anchor="ctr"/>
          <a:lstStyle/>
          <a:p>
            <a:pPr algn="l" indent="0" marL="0">
              <a:buNone/>
            </a:pPr>
            <a:r>
              <a:rPr lang="en-US" sz="1000" dirty="0">
                <a:solidFill>
                  <a:srgbClr val="CCCCCC"/>
                </a:solidFill>
              </a:rPr>
              <a:t>Revenue SSLC achieves</a:t>
            </a:r>
            <a:endParaRPr lang="en-US" sz="900" dirty="0"/>
          </a:p>
          <a:p>
            <a:pPr algn="l" indent="0" marL="0">
              <a:buNone/>
            </a:pPr>
            <a:r>
              <a:rPr lang="en-US" sz="10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txBody>
          <a:bodyPr/>
          <a:p/>
        </p:txBody>
      </p:sp>
      <p:sp>
        <p:nvSpPr>
          <p:cNvPr id="21" name="Text 19"/>
          <p:cNvSpPr txBox="1"/>
          <p:nvPr/>
        </p:nvSpPr>
        <p:spPr>
          <a:xfrm>
            <a:off x="4306824" y="1024128"/>
            <a:ext cx="960120" cy="512064"/>
          </a:xfrm>
          <a:prstGeom prst="rect">
            <a:avLst/>
          </a:prstGeom>
          <a:noFill/>
          <a:ln/>
        </p:spPr>
        <p:txBody>
          <a:bodyPr wrap="square" rtlCol="0" anchor="ctr"/>
          <a:lstStyle/>
          <a:p>
            <a:pPr algn="ctr" indent="0" marL="0">
              <a:buNone/>
            </a:pPr>
            <a:r>
              <a:rPr lang="en-US" sz="1000" dirty="0">
                <a:solidFill>
                  <a:srgbClr val="F26A21"/>
                </a:solidFill>
              </a:rPr>
              <a:t>$3.0M/yr</a:t>
            </a:r>
            <a:endParaRPr lang="en-US" sz="900" dirty="0"/>
          </a:p>
          <a:p>
            <a:pPr algn="ctr" indent="0" marL="0">
              <a:buNone/>
            </a:pPr>
            <a:r>
              <a:rPr lang="en-US" sz="1000" dirty="0">
                <a:solidFill>
                  <a:srgbClr val="F26A21"/>
                </a:solidFill>
              </a:rPr>
              <a:t>→$150K/yr</a:t>
            </a:r>
            <a:endParaRPr lang="en-US" sz="900" dirty="0"/>
          </a:p>
          <a:p>
            <a:pPr algn="ctr" indent="0" marL="0">
              <a:buNone/>
            </a:pPr>
            <a:r>
              <a:rPr lang="en-US" sz="10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04104" y="1024128"/>
            <a:ext cx="960120" cy="512064"/>
          </a:xfrm>
          <a:prstGeom prst="rect">
            <a:avLst/>
          </a:prstGeom>
          <a:noFill/>
          <a:ln/>
        </p:spPr>
        <p:txBody>
          <a:bodyPr wrap="square" rtlCol="0" anchor="ctr"/>
          <a:lstStyle/>
          <a:p>
            <a:pPr algn="ctr" indent="0" marL="0">
              <a:buNone/>
            </a:pPr>
            <a:r>
              <a:rPr lang="en-US" sz="1000" dirty="0">
                <a:solidFill>
                  <a:srgbClr val="F26A21"/>
                </a:solidFill>
              </a:rPr>
              <a:t>$5.0M/yr</a:t>
            </a:r>
            <a:endParaRPr lang="en-US" sz="900" dirty="0"/>
          </a:p>
          <a:p>
            <a:pPr algn="ctr" indent="0" marL="0">
              <a:buNone/>
            </a:pPr>
            <a:r>
              <a:rPr lang="en-US" sz="1000" dirty="0">
                <a:solidFill>
                  <a:srgbClr val="F26A21"/>
                </a:solidFill>
              </a:rPr>
              <a:t>→$250K/yr</a:t>
            </a:r>
            <a:endParaRPr lang="en-US" sz="900" dirty="0"/>
          </a:p>
          <a:p>
            <a:pPr algn="ctr" indent="0" marL="0">
              <a:buNone/>
            </a:pPr>
            <a:r>
              <a:rPr lang="en-US" sz="10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txBody>
          <a:bodyPr/>
          <a:p/>
        </p:txBody>
      </p:sp>
      <p:sp>
        <p:nvSpPr>
          <p:cNvPr id="25" name="Text 23"/>
          <p:cNvSpPr txBox="1"/>
          <p:nvPr/>
        </p:nvSpPr>
        <p:spPr>
          <a:xfrm>
            <a:off x="6501384" y="1024128"/>
            <a:ext cx="960120" cy="512064"/>
          </a:xfrm>
          <a:prstGeom prst="rect">
            <a:avLst/>
          </a:prstGeom>
          <a:noFill/>
          <a:ln/>
        </p:spPr>
        <p:txBody>
          <a:bodyPr wrap="square" rtlCol="0" anchor="ctr"/>
          <a:lstStyle/>
          <a:p>
            <a:pPr algn="ctr" indent="0" marL="0">
              <a:buNone/>
            </a:pPr>
            <a:r>
              <a:rPr lang="en-US" sz="1000" dirty="0">
                <a:solidFill>
                  <a:srgbClr val="F26A21"/>
                </a:solidFill>
              </a:rPr>
              <a:t>$6.0M+/yr</a:t>
            </a:r>
            <a:endParaRPr lang="en-US" sz="900" dirty="0"/>
          </a:p>
          <a:p>
            <a:pPr algn="ctr" indent="0" marL="0">
              <a:buNone/>
            </a:pPr>
            <a:r>
              <a:rPr lang="en-US" sz="1000" dirty="0">
                <a:solidFill>
                  <a:srgbClr val="F26A21"/>
                </a:solidFill>
              </a:rPr>
              <a:t>→$300K/yr (cap)</a:t>
            </a:r>
            <a:endParaRPr lang="en-US" sz="900" dirty="0"/>
          </a:p>
          <a:p>
            <a:pPr algn="ctr" indent="0" marL="0">
              <a:buNone/>
            </a:pPr>
            <a:r>
              <a:rPr lang="en-US" sz="10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txBody>
          <a:bodyPr/>
          <a:p/>
        </p:txBody>
      </p:sp>
      <p:sp>
        <p:nvSpPr>
          <p:cNvPr id="27" name="Text 25"/>
          <p:cNvSpPr txBox="1"/>
          <p:nvPr/>
        </p:nvSpPr>
        <p:spPr>
          <a:xfrm>
            <a:off x="7598664" y="1024128"/>
            <a:ext cx="914400" cy="512064"/>
          </a:xfrm>
          <a:prstGeom prst="rect">
            <a:avLst/>
          </a:prstGeom>
          <a:noFill/>
          <a:ln/>
        </p:spPr>
        <p:txBody>
          <a:bodyPr wrap="square" rtlCol="0" anchor="ctr"/>
          <a:lstStyle/>
          <a:p>
            <a:pPr algn="ctr" indent="0" marL="0">
              <a:buNone/>
            </a:pPr>
            <a:r>
              <a:rPr lang="en-US" sz="1000" dirty="0">
                <a:solidFill>
                  <a:srgbClr val="F26A21"/>
                </a:solidFill>
              </a:rPr>
              <a:t>Annual</a:t>
            </a:r>
            <a:endParaRPr lang="en-US" sz="900" dirty="0"/>
          </a:p>
          <a:p>
            <a:pPr algn="ctr" indent="0" marL="0">
              <a:buNone/>
            </a:pPr>
            <a:r>
              <a:rPr lang="en-US" sz="10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txBody>
          <a:bodyPr/>
          <a:p/>
        </p:txBody>
      </p:sp>
      <p:sp>
        <p:nvSpPr>
          <p:cNvPr id="29" name="Text 27"/>
          <p:cNvSpPr txBox="1"/>
          <p:nvPr/>
        </p:nvSpPr>
        <p:spPr>
          <a:xfrm>
            <a:off x="329184" y="1572768"/>
            <a:ext cx="1920240" cy="329184"/>
          </a:xfrm>
          <a:prstGeom prst="rect">
            <a:avLst/>
          </a:prstGeom>
          <a:noFill/>
          <a:ln/>
        </p:spPr>
        <p:txBody>
          <a:bodyPr wrap="square" rtlCol="0" anchor="ctr"/>
          <a:lstStyle/>
          <a:p>
            <a:pPr algn="l" indent="0" marL="0">
              <a:buNone/>
            </a:pPr>
            <a:r>
              <a:rPr lang="en-US" sz="10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txBody>
          <a:bodyPr/>
          <a:p/>
        </p:txBody>
      </p:sp>
      <p:sp>
        <p:nvSpPr>
          <p:cNvPr id="31" name="Text 29"/>
          <p:cNvSpPr txBox="1"/>
          <p:nvPr/>
        </p:nvSpPr>
        <p:spPr>
          <a:xfrm>
            <a:off x="2386584" y="1572768"/>
            <a:ext cx="1783080" cy="329184"/>
          </a:xfrm>
          <a:prstGeom prst="rect">
            <a:avLst/>
          </a:prstGeom>
          <a:noFill/>
          <a:ln/>
        </p:spPr>
        <p:txBody>
          <a:bodyPr wrap="square" rtlCol="0" anchor="ctr"/>
          <a:lstStyle/>
          <a:p>
            <a:pPr algn="l" indent="0" marL="0">
              <a:buNone/>
            </a:pPr>
            <a:r>
              <a:rPr lang="en-US" sz="10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txBody>
          <a:bodyPr/>
          <a:p/>
        </p:txBody>
      </p:sp>
      <p:sp>
        <p:nvSpPr>
          <p:cNvPr id="33" name="Text 31"/>
          <p:cNvSpPr txBox="1"/>
          <p:nvPr/>
        </p:nvSpPr>
        <p:spPr>
          <a:xfrm>
            <a:off x="430682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txBody>
          <a:bodyPr/>
          <a:p/>
        </p:txBody>
      </p:sp>
      <p:sp>
        <p:nvSpPr>
          <p:cNvPr id="35" name="Text 33"/>
          <p:cNvSpPr txBox="1"/>
          <p:nvPr/>
        </p:nvSpPr>
        <p:spPr>
          <a:xfrm>
            <a:off x="540410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txBody>
          <a:bodyPr/>
          <a:p/>
        </p:txBody>
      </p:sp>
      <p:sp>
        <p:nvSpPr>
          <p:cNvPr id="37" name="Text 35"/>
          <p:cNvSpPr txBox="1"/>
          <p:nvPr/>
        </p:nvSpPr>
        <p:spPr>
          <a:xfrm>
            <a:off x="650138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txBody>
          <a:bodyPr/>
          <a:p/>
        </p:txBody>
      </p:sp>
      <p:sp>
        <p:nvSpPr>
          <p:cNvPr id="39" name="Text 37"/>
          <p:cNvSpPr txBox="1"/>
          <p:nvPr/>
        </p:nvSpPr>
        <p:spPr>
          <a:xfrm>
            <a:off x="7598664" y="1572768"/>
            <a:ext cx="914400" cy="329184"/>
          </a:xfrm>
          <a:prstGeom prst="rect">
            <a:avLst/>
          </a:prstGeom>
          <a:noFill/>
          <a:ln/>
        </p:spPr>
        <p:txBody>
          <a:bodyPr wrap="square" rtlCol="0" anchor="ctr"/>
          <a:lstStyle/>
          <a:p>
            <a:pPr algn="ctr" indent="0" marL="0">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txBody>
          <a:bodyPr/>
          <a:p/>
        </p:txBody>
      </p:sp>
      <p:sp>
        <p:nvSpPr>
          <p:cNvPr id="41" name="Text 39"/>
          <p:cNvSpPr txBox="1"/>
          <p:nvPr/>
        </p:nvSpPr>
        <p:spPr>
          <a:xfrm>
            <a:off x="329184" y="1938528"/>
            <a:ext cx="1920240" cy="329184"/>
          </a:xfrm>
          <a:prstGeom prst="rect">
            <a:avLst/>
          </a:prstGeom>
          <a:noFill/>
          <a:ln/>
        </p:spPr>
        <p:txBody>
          <a:bodyPr wrap="square" rtlCol="0" anchor="ctr"/>
          <a:lstStyle/>
          <a:p>
            <a:pPr algn="l" indent="0" marL="0">
              <a:buNone/>
            </a:pPr>
            <a:r>
              <a:rPr lang="en-US" sz="1000" dirty="0">
                <a:solidFill>
                  <a:srgbClr val="CCCCCC"/>
                </a:solidFill>
              </a:rPr>
              <a:t>M2  Nebula OTV flight tank set delivered &amp; accepted by IM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txBody>
          <a:bodyPr/>
          <a:p/>
        </p:txBody>
      </p:sp>
      <p:sp>
        <p:nvSpPr>
          <p:cNvPr id="43" name="Text 41"/>
          <p:cNvSpPr txBox="1"/>
          <p:nvPr/>
        </p:nvSpPr>
        <p:spPr>
          <a:xfrm>
            <a:off x="2386584" y="1938528"/>
            <a:ext cx="1783080" cy="329184"/>
          </a:xfrm>
          <a:prstGeom prst="rect">
            <a:avLst/>
          </a:prstGeom>
          <a:noFill/>
          <a:ln/>
        </p:spPr>
        <p:txBody>
          <a:bodyPr wrap="square" rtlCol="0" anchor="ctr"/>
          <a:lstStyle/>
          <a:p>
            <a:pPr algn="l" indent="0" marL="0">
              <a:buNone/>
            </a:pPr>
            <a:r>
              <a:rPr lang="en-US" sz="10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txBody>
          <a:bodyPr/>
          <a:p/>
        </p:txBody>
      </p:sp>
      <p:sp>
        <p:nvSpPr>
          <p:cNvPr id="45" name="Text 43"/>
          <p:cNvSpPr txBox="1"/>
          <p:nvPr/>
        </p:nvSpPr>
        <p:spPr>
          <a:xfrm>
            <a:off x="4306824" y="193852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txBody>
          <a:bodyPr/>
          <a:p/>
        </p:txBody>
      </p:sp>
      <p:sp>
        <p:nvSpPr>
          <p:cNvPr id="47" name="Text 45"/>
          <p:cNvSpPr txBox="1"/>
          <p:nvPr/>
        </p:nvSpPr>
        <p:spPr>
          <a:xfrm>
            <a:off x="540410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txBody>
          <a:bodyPr/>
          <a:p/>
        </p:txBody>
      </p:sp>
      <p:sp>
        <p:nvSpPr>
          <p:cNvPr id="49" name="Text 47"/>
          <p:cNvSpPr txBox="1"/>
          <p:nvPr/>
        </p:nvSpPr>
        <p:spPr>
          <a:xfrm>
            <a:off x="650138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txBody>
          <a:bodyPr/>
          <a:p/>
        </p:txBody>
      </p:sp>
      <p:sp>
        <p:nvSpPr>
          <p:cNvPr id="51" name="Text 49"/>
          <p:cNvSpPr txBox="1"/>
          <p:nvPr/>
        </p:nvSpPr>
        <p:spPr>
          <a:xfrm>
            <a:off x="7598664" y="1938528"/>
            <a:ext cx="914400" cy="329184"/>
          </a:xfrm>
          <a:prstGeom prst="rect">
            <a:avLst/>
          </a:prstGeom>
          <a:noFill/>
          <a:ln/>
        </p:spPr>
        <p:txBody>
          <a:bodyPr wrap="square" rtlCol="0" anchor="ctr"/>
          <a:lstStyle/>
          <a:p>
            <a:pPr algn="ctr" indent="0" marL="0">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txBody>
          <a:bodyPr/>
          <a:p/>
        </p:txBody>
      </p:sp>
      <p:sp>
        <p:nvSpPr>
          <p:cNvPr id="53" name="Text 51"/>
          <p:cNvSpPr txBox="1"/>
          <p:nvPr/>
        </p:nvSpPr>
        <p:spPr>
          <a:xfrm>
            <a:off x="329184" y="2304288"/>
            <a:ext cx="1920240" cy="329184"/>
          </a:xfrm>
          <a:prstGeom prst="rect">
            <a:avLst/>
          </a:prstGeom>
          <a:noFill/>
          <a:ln/>
        </p:spPr>
        <p:txBody>
          <a:bodyPr wrap="square" rtlCol="0" anchor="ctr"/>
          <a:lstStyle/>
          <a:p>
            <a:pPr algn="l" indent="0" marL="0">
              <a:buNone/>
            </a:pPr>
            <a:r>
              <a:rPr lang="en-US" sz="10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txBody>
          <a:bodyPr/>
          <a:p/>
        </p:txBody>
      </p:sp>
      <p:sp>
        <p:nvSpPr>
          <p:cNvPr id="55" name="Text 53"/>
          <p:cNvSpPr txBox="1"/>
          <p:nvPr/>
        </p:nvSpPr>
        <p:spPr>
          <a:xfrm>
            <a:off x="2386584" y="2304288"/>
            <a:ext cx="1783080" cy="329184"/>
          </a:xfrm>
          <a:prstGeom prst="rect">
            <a:avLst/>
          </a:prstGeom>
          <a:noFill/>
          <a:ln/>
        </p:spPr>
        <p:txBody>
          <a:bodyPr wrap="square" rtlCol="0" anchor="ctr"/>
          <a:lstStyle/>
          <a:p>
            <a:pPr algn="l" indent="0" marL="0">
              <a:buNone/>
            </a:pPr>
            <a:r>
              <a:rPr lang="en-US" sz="10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txBody>
          <a:bodyPr/>
          <a:p/>
        </p:txBody>
      </p:sp>
      <p:sp>
        <p:nvSpPr>
          <p:cNvPr id="57" name="Text 55"/>
          <p:cNvSpPr txBox="1"/>
          <p:nvPr/>
        </p:nvSpPr>
        <p:spPr>
          <a:xfrm>
            <a:off x="4306824" y="230428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txBody>
          <a:bodyPr/>
          <a:p/>
        </p:txBody>
      </p:sp>
      <p:sp>
        <p:nvSpPr>
          <p:cNvPr id="59" name="Text 57"/>
          <p:cNvSpPr txBox="1"/>
          <p:nvPr/>
        </p:nvSpPr>
        <p:spPr>
          <a:xfrm>
            <a:off x="540410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txBody>
          <a:bodyPr/>
          <a:p/>
        </p:txBody>
      </p:sp>
      <p:sp>
        <p:nvSpPr>
          <p:cNvPr id="61" name="Text 59"/>
          <p:cNvSpPr txBox="1"/>
          <p:nvPr/>
        </p:nvSpPr>
        <p:spPr>
          <a:xfrm>
            <a:off x="650138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txBody>
          <a:bodyPr/>
          <a:p/>
        </p:txBody>
      </p:sp>
      <p:sp>
        <p:nvSpPr>
          <p:cNvPr id="63" name="Text 61"/>
          <p:cNvSpPr txBox="1"/>
          <p:nvPr/>
        </p:nvSpPr>
        <p:spPr>
          <a:xfrm>
            <a:off x="7598664" y="2304288"/>
            <a:ext cx="914400" cy="329184"/>
          </a:xfrm>
          <a:prstGeom prst="rect">
            <a:avLst/>
          </a:prstGeom>
          <a:noFill/>
          <a:ln/>
        </p:spPr>
        <p:txBody>
          <a:bodyPr wrap="square" rtlCol="0" anchor="ctr"/>
          <a:lstStyle/>
          <a:p>
            <a:pPr algn="ctr" indent="0" marL="0">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txBody>
          <a:bodyPr/>
          <a:p/>
        </p:txBody>
      </p:sp>
      <p:sp>
        <p:nvSpPr>
          <p:cNvPr id="65" name="Text 63"/>
          <p:cNvSpPr txBox="1"/>
          <p:nvPr/>
        </p:nvSpPr>
        <p:spPr>
          <a:xfrm>
            <a:off x="329184" y="2670048"/>
            <a:ext cx="1920240" cy="329184"/>
          </a:xfrm>
          <a:prstGeom prst="rect">
            <a:avLst/>
          </a:prstGeom>
          <a:noFill/>
          <a:ln/>
        </p:spPr>
        <p:txBody>
          <a:bodyPr wrap="square" rtlCol="0" anchor="ctr"/>
          <a:lstStyle/>
          <a:p>
            <a:pPr algn="l" indent="0" marL="0">
              <a:buNone/>
            </a:pPr>
            <a:r>
              <a:rPr lang="en-US" sz="10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txBody>
          <a:bodyPr/>
          <a:p/>
        </p:txBody>
      </p:sp>
      <p:sp>
        <p:nvSpPr>
          <p:cNvPr id="67" name="Text 65"/>
          <p:cNvSpPr txBox="1"/>
          <p:nvPr/>
        </p:nvSpPr>
        <p:spPr>
          <a:xfrm>
            <a:off x="2386584" y="2670048"/>
            <a:ext cx="1783080" cy="329184"/>
          </a:xfrm>
          <a:prstGeom prst="rect">
            <a:avLst/>
          </a:prstGeom>
          <a:noFill/>
          <a:ln/>
        </p:spPr>
        <p:txBody>
          <a:bodyPr wrap="square" rtlCol="0" anchor="ctr"/>
          <a:lstStyle/>
          <a:p>
            <a:pPr algn="l" indent="0" marL="0">
              <a:buNone/>
            </a:pPr>
            <a:r>
              <a:rPr lang="en-US" sz="10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txBody>
          <a:bodyPr/>
          <a:p/>
        </p:txBody>
      </p:sp>
      <p:sp>
        <p:nvSpPr>
          <p:cNvPr id="69" name="Text 67"/>
          <p:cNvSpPr txBox="1"/>
          <p:nvPr/>
        </p:nvSpPr>
        <p:spPr>
          <a:xfrm>
            <a:off x="430682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txBody>
          <a:bodyPr/>
          <a:p/>
        </p:txBody>
      </p:sp>
      <p:sp>
        <p:nvSpPr>
          <p:cNvPr id="71" name="Text 69"/>
          <p:cNvSpPr txBox="1"/>
          <p:nvPr/>
        </p:nvSpPr>
        <p:spPr>
          <a:xfrm>
            <a:off x="540410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txBody>
          <a:bodyPr/>
          <a:p/>
        </p:txBody>
      </p:sp>
      <p:sp>
        <p:nvSpPr>
          <p:cNvPr id="73" name="Text 71"/>
          <p:cNvSpPr txBox="1"/>
          <p:nvPr/>
        </p:nvSpPr>
        <p:spPr>
          <a:xfrm>
            <a:off x="6501384" y="267004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txBody>
          <a:bodyPr/>
          <a:p/>
        </p:txBody>
      </p:sp>
      <p:sp>
        <p:nvSpPr>
          <p:cNvPr id="75" name="Text 73"/>
          <p:cNvSpPr txBox="1"/>
          <p:nvPr/>
        </p:nvSpPr>
        <p:spPr>
          <a:xfrm>
            <a:off x="7598664" y="2670048"/>
            <a:ext cx="914400" cy="329184"/>
          </a:xfrm>
          <a:prstGeom prst="rect">
            <a:avLst/>
          </a:prstGeom>
          <a:noFill/>
          <a:ln/>
        </p:spPr>
        <p:txBody>
          <a:bodyPr wrap="square" rtlCol="0" anchor="ctr"/>
          <a:lstStyle/>
          <a:p>
            <a:pPr algn="ctr" indent="0" marL="0">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txBody>
          <a:bodyPr/>
          <a:p/>
        </p:txBody>
      </p:sp>
      <p:sp>
        <p:nvSpPr>
          <p:cNvPr id="77" name="Text 75"/>
          <p:cNvSpPr txBox="1"/>
          <p:nvPr/>
        </p:nvSpPr>
        <p:spPr>
          <a:xfrm>
            <a:off x="329184" y="3035808"/>
            <a:ext cx="1920240" cy="420624"/>
          </a:xfrm>
          <a:prstGeom prst="rect">
            <a:avLst/>
          </a:prstGeom>
          <a:noFill/>
          <a:ln/>
        </p:spPr>
        <p:txBody>
          <a:bodyPr wrap="square" rtlCol="0" anchor="ctr"/>
          <a:lstStyle/>
          <a:p>
            <a:pPr algn="l" indent="0" marL="0">
              <a:buNone/>
            </a:pPr>
            <a:r>
              <a:rPr lang="en-US" sz="1000" dirty="0">
                <a:solidFill>
                  <a:srgbClr val="CCCCCC"/>
                </a:solidFill>
              </a:rPr>
              <a:t>M5  50% reduction in tank build cost</a:t>
            </a:r>
            <a:endParaRPr lang="en-US" sz="900" dirty="0"/>
          </a:p>
          <a:p>
            <a:pPr algn="l" indent="0" marL="0">
              <a:buNone/>
            </a:pPr>
            <a:r>
              <a:rPr lang="en-US" sz="1000" dirty="0">
                <a:solidFill>
                  <a:srgbClr val="CCCCCC"/>
                </a:solidFill>
              </a:rPr>
              <a:t>(dome &amp; build-process automation proven)  →$200K (High)</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txBody>
          <a:bodyPr/>
          <a:p/>
        </p:txBody>
      </p:sp>
      <p:sp>
        <p:nvSpPr>
          <p:cNvPr id="79" name="Text 77"/>
          <p:cNvSpPr txBox="1"/>
          <p:nvPr/>
        </p:nvSpPr>
        <p:spPr>
          <a:xfrm>
            <a:off x="2386584" y="3035808"/>
            <a:ext cx="1783080" cy="420624"/>
          </a:xfrm>
          <a:prstGeom prst="rect">
            <a:avLst/>
          </a:prstGeom>
          <a:noFill/>
          <a:ln/>
        </p:spPr>
        <p:txBody>
          <a:bodyPr wrap="square" rtlCol="0" anchor="ctr"/>
          <a:lstStyle/>
          <a:p>
            <a:pPr algn="l" indent="0" marL="0">
              <a:buNone/>
            </a:pPr>
            <a:r>
              <a:rPr lang="en-US" sz="1000" dirty="0">
                <a:solidFill>
                  <a:srgbClr val="CCCCCC"/>
                </a:solidFill>
              </a:rPr>
              <a:t>50% cost reduction proven</a:t>
            </a:r>
            <a:endParaRPr lang="en-US" sz="900" dirty="0"/>
          </a:p>
          <a:p>
            <a:pPr algn="l" indent="0" marL="0">
              <a:buNone/>
            </a:pPr>
            <a:r>
              <a:rPr lang="en-US" sz="10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txBody>
          <a:bodyPr/>
          <a:p/>
        </p:txBody>
      </p:sp>
      <p:sp>
        <p:nvSpPr>
          <p:cNvPr id="81" name="Text 79"/>
          <p:cNvSpPr txBox="1"/>
          <p:nvPr/>
        </p:nvSpPr>
        <p:spPr>
          <a:xfrm>
            <a:off x="430682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txBody>
          <a:bodyPr/>
          <a:p/>
        </p:txBody>
      </p:sp>
      <p:sp>
        <p:nvSpPr>
          <p:cNvPr id="83" name="Text 81"/>
          <p:cNvSpPr txBox="1"/>
          <p:nvPr/>
        </p:nvSpPr>
        <p:spPr>
          <a:xfrm>
            <a:off x="540410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txBody>
          <a:bodyPr/>
          <a:p/>
        </p:txBody>
      </p:sp>
      <p:sp>
        <p:nvSpPr>
          <p:cNvPr id="85" name="Text 83"/>
          <p:cNvSpPr txBox="1"/>
          <p:nvPr/>
        </p:nvSpPr>
        <p:spPr>
          <a:xfrm>
            <a:off x="6501384" y="3035808"/>
            <a:ext cx="960120" cy="42062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txBody>
          <a:bodyPr/>
          <a:p/>
        </p:txBody>
      </p:sp>
      <p:sp>
        <p:nvSpPr>
          <p:cNvPr id="87" name="Text 85"/>
          <p:cNvSpPr txBox="1"/>
          <p:nvPr/>
        </p:nvSpPr>
        <p:spPr>
          <a:xfrm>
            <a:off x="7598664" y="3035808"/>
            <a:ext cx="914400" cy="420624"/>
          </a:xfrm>
          <a:prstGeom prst="rect">
            <a:avLst/>
          </a:prstGeom>
          <a:noFill/>
          <a:ln/>
        </p:spPr>
        <p:txBody>
          <a:bodyPr wrap="square" rtlCol="0" anchor="ctr"/>
          <a:lstStyle/>
          <a:p>
            <a:pPr algn="ctr" indent="0" marL="0">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txBody>
          <a:bodyPr/>
          <a:p/>
        </p:txBody>
      </p:sp>
      <p:sp>
        <p:nvSpPr>
          <p:cNvPr id="89" name="Text 87"/>
          <p:cNvSpPr txBox="1"/>
          <p:nvPr/>
        </p:nvSpPr>
        <p:spPr>
          <a:xfrm>
            <a:off x="329184" y="3493008"/>
            <a:ext cx="1920240" cy="420624"/>
          </a:xfrm>
          <a:prstGeom prst="rect">
            <a:avLst/>
          </a:prstGeom>
          <a:noFill/>
          <a:ln/>
        </p:spPr>
        <p:txBody>
          <a:bodyPr wrap="square" rtlCol="0" anchor="ctr"/>
          <a:lstStyle/>
          <a:p>
            <a:pPr algn="l" indent="0" marL="0">
              <a:buNone/>
            </a:pPr>
            <a:r>
              <a:rPr lang="en-US" sz="1000" dirty="0">
                <a:solidFill>
                  <a:srgbClr val="CCCCCC"/>
                </a:solidFill>
              </a:rPr>
              <a:t>Exos stock earn-out at RTO listing</a:t>
            </a:r>
            <a:endParaRPr lang="en-US" sz="900" dirty="0"/>
          </a:p>
          <a:p>
            <a:pPr algn="l" indent="0" marL="0">
              <a:buNone/>
            </a:pPr>
            <a:r>
              <a:rPr lang="en-US" sz="1000" dirty="0">
                <a:solidFill>
                  <a:srgbClr val="CCCCCC"/>
                </a:solidFill>
              </a:rPr>
              <a:t>(adds to ~0.59% EAI up-front)</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txBody>
          <a:bodyPr/>
          <a:p/>
        </p:txBody>
      </p:sp>
      <p:sp>
        <p:nvSpPr>
          <p:cNvPr id="91" name="Text 89"/>
          <p:cNvSpPr txBox="1"/>
          <p:nvPr/>
        </p:nvSpPr>
        <p:spPr>
          <a:xfrm>
            <a:off x="2386584" y="3493008"/>
            <a:ext cx="1783080" cy="420624"/>
          </a:xfrm>
          <a:prstGeom prst="rect">
            <a:avLst/>
          </a:prstGeom>
          <a:noFill/>
          <a:ln/>
        </p:spPr>
        <p:txBody>
          <a:bodyPr wrap="square" rtlCol="0" anchor="ctr"/>
          <a:lstStyle/>
          <a:p>
            <a:pPr algn="l" indent="0" marL="0">
              <a:buNone/>
            </a:pPr>
            <a:r>
              <a:rPr lang="en-US" sz="10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txBody>
          <a:bodyPr/>
          <a:p/>
        </p:txBody>
      </p:sp>
      <p:sp>
        <p:nvSpPr>
          <p:cNvPr id="93" name="Text 91"/>
          <p:cNvSpPr txBox="1"/>
          <p:nvPr/>
        </p:nvSpPr>
        <p:spPr>
          <a:xfrm>
            <a:off x="4306824" y="3493008"/>
            <a:ext cx="960120" cy="420624"/>
          </a:xfrm>
          <a:prstGeom prst="rect">
            <a:avLst/>
          </a:prstGeom>
          <a:noFill/>
          <a:ln/>
        </p:spPr>
        <p:txBody>
          <a:bodyPr wrap="square" rtlCol="0" anchor="ctr"/>
          <a:lstStyle/>
          <a:p>
            <a:pPr algn="ctr" indent="0" marL="0">
              <a:buNone/>
            </a:pPr>
            <a:r>
              <a:rPr lang="en-US" sz="1100" dirty="0">
                <a:solidFill>
                  <a:srgbClr val="FFFFFF"/>
                </a:solidFill>
              </a:rPr>
              <a:t>$0</a:t>
            </a:r>
            <a:endParaRPr lang="en-US" sz="1100" dirty="0"/>
          </a:p>
          <a:p>
            <a:pPr algn="ctr" indent="0" marL="0">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txBody>
          <a:bodyPr/>
          <a:p/>
        </p:txBody>
      </p:sp>
      <p:sp>
        <p:nvSpPr>
          <p:cNvPr id="95" name="Text 93"/>
          <p:cNvSpPr txBox="1"/>
          <p:nvPr/>
        </p:nvSpPr>
        <p:spPr>
          <a:xfrm>
            <a:off x="5404104" y="3493008"/>
            <a:ext cx="960120" cy="420624"/>
          </a:xfrm>
          <a:prstGeom prst="rect">
            <a:avLst/>
          </a:prstGeom>
          <a:noFill/>
          <a:ln/>
        </p:spPr>
        <p:txBody>
          <a:bodyPr wrap="square" rtlCol="0" anchor="ctr"/>
          <a:lstStyle/>
          <a:p>
            <a:pPr algn="ctr" indent="0" marL="0">
              <a:buNone/>
            </a:pPr>
            <a:r>
              <a:rPr lang="en-US" sz="1100" dirty="0">
                <a:solidFill>
                  <a:srgbClr val="FFFFFF"/>
                </a:solidFill>
              </a:rPr>
              <a:t>$625K</a:t>
            </a:r>
            <a:endParaRPr lang="en-US" sz="1100" dirty="0"/>
          </a:p>
          <a:p>
            <a:pPr algn="ctr" indent="0" marL="0">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txBody>
          <a:bodyPr/>
          <a:p/>
        </p:txBody>
      </p:sp>
      <p:sp>
        <p:nvSpPr>
          <p:cNvPr id="97" name="Text 95"/>
          <p:cNvSpPr txBox="1"/>
          <p:nvPr/>
        </p:nvSpPr>
        <p:spPr>
          <a:xfrm>
            <a:off x="6501384" y="3493008"/>
            <a:ext cx="960120" cy="420624"/>
          </a:xfrm>
          <a:prstGeom prst="rect">
            <a:avLst/>
          </a:prstGeom>
          <a:noFill/>
          <a:ln/>
        </p:spPr>
        <p:txBody>
          <a:bodyPr wrap="square" rtlCol="0" anchor="ctr"/>
          <a:lstStyle/>
          <a:p>
            <a:pPr algn="ctr" indent="0" marL="0">
              <a:buNone/>
            </a:pPr>
            <a:r>
              <a:rPr lang="en-US" sz="1100" dirty="0">
                <a:solidFill>
                  <a:srgbClr val="FFFFFF"/>
                </a:solidFill>
              </a:rPr>
              <a:t>$1,500K</a:t>
            </a:r>
            <a:endParaRPr lang="en-US" sz="1100" dirty="0"/>
          </a:p>
          <a:p>
            <a:pPr algn="ctr" indent="0" marL="0">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txBody>
          <a:bodyPr/>
          <a:p/>
        </p:txBody>
      </p:sp>
      <p:sp>
        <p:nvSpPr>
          <p:cNvPr id="99" name="Text 97"/>
          <p:cNvSpPr txBox="1"/>
          <p:nvPr/>
        </p:nvSpPr>
        <p:spPr>
          <a:xfrm>
            <a:off x="7598664" y="3493008"/>
            <a:ext cx="914400" cy="420624"/>
          </a:xfrm>
          <a:prstGeom prst="rect">
            <a:avLst/>
          </a:prstGeom>
          <a:noFill/>
          <a:ln/>
        </p:spPr>
        <p:txBody>
          <a:bodyPr wrap="square" rtlCol="0" anchor="ctr"/>
          <a:lstStyle/>
          <a:p>
            <a:pPr algn="ctr" indent="0" marL="0">
              <a:buNone/>
            </a:pPr>
            <a:r>
              <a:rPr lang="en-US" sz="1100" dirty="0">
                <a:solidFill>
                  <a:srgbClr val="FFFFFF"/>
                </a:solidFill>
              </a:rPr>
              <a:t>Post-RTO</a:t>
            </a:r>
            <a:endParaRPr lang="en-US" sz="1100" dirty="0"/>
          </a:p>
          <a:p>
            <a:pPr algn="ctr" indent="0" marL="0">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txBody>
          <a:bodyPr/>
          <a:p/>
        </p:txBody>
      </p:sp>
      <p:sp>
        <p:nvSpPr>
          <p:cNvPr id="101" name="Text 99"/>
          <p:cNvSpPr txBox="1"/>
          <p:nvPr/>
        </p:nvSpPr>
        <p:spPr>
          <a:xfrm>
            <a:off x="329184" y="3950208"/>
            <a:ext cx="1920240" cy="347472"/>
          </a:xfrm>
          <a:prstGeom prst="rect">
            <a:avLst/>
          </a:prstGeom>
          <a:noFill/>
          <a:ln/>
        </p:spPr>
        <p:txBody>
          <a:bodyPr wrap="square" rtlCol="0" anchor="ctr"/>
          <a:lstStyle/>
          <a:p>
            <a:pPr algn="l" indent="0" marL="0">
              <a:buNone/>
            </a:pPr>
            <a:r>
              <a:rPr lang="en-US" sz="1000" b="1" dirty="0">
                <a:solidFill>
                  <a:srgbClr val="CCCCCC"/>
                </a:solidFill>
              </a:rPr>
              <a:t>TOTAL EARN-OUTS  (③ minus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txBody>
          <a:bodyPr/>
          <a:p/>
        </p:txBody>
      </p:sp>
      <p:sp>
        <p:nvSpPr>
          <p:cNvPr id="103" name="Text 101"/>
          <p:cNvSpPr txBox="1"/>
          <p:nvPr/>
        </p:nvSpPr>
        <p:spPr>
          <a:xfrm>
            <a:off x="2386584" y="3950208"/>
            <a:ext cx="1783080" cy="347472"/>
          </a:xfrm>
          <a:prstGeom prst="rect">
            <a:avLst/>
          </a:prstGeom>
          <a:noFill/>
          <a:ln/>
        </p:spPr>
        <p:txBody>
          <a:bodyPr wrap="square" rtlCol="0" anchor="ctr"/>
          <a:lstStyle/>
          <a:p>
            <a:pPr algn="l" indent="0" marL="0">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txBody>
          <a:bodyPr/>
          <a:p/>
        </p:txBody>
      </p:sp>
      <p:sp>
        <p:nvSpPr>
          <p:cNvPr id="105" name="Text 103"/>
          <p:cNvSpPr txBox="1"/>
          <p:nvPr/>
        </p:nvSpPr>
        <p:spPr>
          <a:xfrm>
            <a:off x="4306824" y="3950208"/>
            <a:ext cx="960120" cy="347472"/>
          </a:xfrm>
          <a:prstGeom prst="rect">
            <a:avLst/>
          </a:prstGeom>
          <a:noFill/>
          <a:ln/>
        </p:spPr>
        <p:txBody>
          <a:bodyPr wrap="square" rtlCol="0" anchor="ctr"/>
          <a:lstStyle/>
          <a:p>
            <a:pPr algn="ctr" indent="0" marL="0">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txBody>
          <a:bodyPr/>
          <a:p/>
        </p:txBody>
      </p:sp>
      <p:sp>
        <p:nvSpPr>
          <p:cNvPr id="107" name="Text 105"/>
          <p:cNvSpPr txBox="1"/>
          <p:nvPr/>
        </p:nvSpPr>
        <p:spPr>
          <a:xfrm>
            <a:off x="5404104" y="3950208"/>
            <a:ext cx="960120" cy="347472"/>
          </a:xfrm>
          <a:prstGeom prst="rect">
            <a:avLst/>
          </a:prstGeom>
          <a:noFill/>
          <a:ln/>
        </p:spPr>
        <p:txBody>
          <a:bodyPr wrap="square" rtlCol="0" anchor="ctr"/>
          <a:lstStyle/>
          <a:p>
            <a:pPr algn="ctr" indent="0" marL="0">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txBody>
          <a:bodyPr/>
          <a:p/>
        </p:txBody>
      </p:sp>
      <p:sp>
        <p:nvSpPr>
          <p:cNvPr id="109" name="Text 107"/>
          <p:cNvSpPr txBox="1"/>
          <p:nvPr/>
        </p:nvSpPr>
        <p:spPr>
          <a:xfrm>
            <a:off x="6501384" y="3950208"/>
            <a:ext cx="960120" cy="347472"/>
          </a:xfrm>
          <a:prstGeom prst="rect">
            <a:avLst/>
          </a:prstGeom>
          <a:noFill/>
          <a:ln/>
        </p:spPr>
        <p:txBody>
          <a:bodyPr wrap="square" rtlCol="0" anchor="ctr"/>
          <a:lstStyle/>
          <a:p>
            <a:pPr algn="ctr" indent="0" marL="0">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txBody>
          <a:bodyPr/>
          <a:p/>
        </p:txBody>
      </p:sp>
      <p:sp>
        <p:nvSpPr>
          <p:cNvPr id="111" name="Text 109"/>
          <p:cNvSpPr txBox="1"/>
          <p:nvPr/>
        </p:nvSpPr>
        <p:spPr>
          <a:xfrm>
            <a:off x="7598664" y="3950208"/>
            <a:ext cx="914400" cy="347472"/>
          </a:xfrm>
          <a:prstGeom prst="rect">
            <a:avLst/>
          </a:prstGeom>
          <a:noFill/>
          <a:ln/>
        </p:spPr>
        <p:txBody>
          <a:bodyPr wrap="square" rtlCol="0" anchor="ctr"/>
          <a:lstStyle/>
          <a:p>
            <a:pPr algn="ctr" indent="0" marL="0">
              <a:buNone/>
            </a:pPr>
            <a:r>
              <a:rPr lang="en-US" sz="1100" b="1" dirty="0">
                <a:solidFill>
                  <a:srgbClr val="2ECC71"/>
                </a:solidFill>
              </a:rPr>
              <a:t>5-yr total</a:t>
            </a:r>
            <a:endParaRPr lang="en-US" sz="1100" dirty="0"/>
          </a:p>
        </p:txBody>
      </p:sp>
      <p:pic>
        <p:nvPicPr>
          <p:cNvPr id="11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p/>
        </p:txBody>
      </p:sp>
      <p:sp>
        <p:nvSpPr>
          <p:cNvPr id="4" name="Text 2"/>
          <p:cNvSpPr txBox="1"/>
          <p:nvPr/>
        </p:nvSpPr>
        <p:spPr>
          <a:xfrm>
            <a:off x="457200" y="914400"/>
            <a:ext cx="4389120" cy="320040"/>
          </a:xfrm>
          <a:prstGeom prst="rect">
            <a:avLst/>
          </a:prstGeom>
          <a:noFill/>
          <a:ln/>
        </p:spPr>
        <p:txBody>
          <a:bodyPr wrap="square" rtlCol="0" anchor="ctr"/>
          <a:lstStyle/>
          <a:p>
            <a:pPr indent="0" marL="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p/>
        </p:txBody>
      </p:sp>
      <p:sp>
        <p:nvSpPr>
          <p:cNvPr id="6" name="Text 4"/>
          <p:cNvSpPr txBox="1"/>
          <p:nvPr/>
        </p:nvSpPr>
        <p:spPr>
          <a:xfrm>
            <a:off x="457200" y="1298448"/>
            <a:ext cx="1325880" cy="292608"/>
          </a:xfrm>
          <a:prstGeom prst="rect">
            <a:avLst/>
          </a:prstGeom>
          <a:noFill/>
          <a:ln/>
        </p:spPr>
        <p:txBody>
          <a:bodyPr wrap="square" rtlCol="0" anchor="ctr"/>
          <a:lstStyle/>
          <a:p>
            <a:pPr algn="ctr" indent="0" marL="0">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algn="ctr" indent="0" marL="0">
              <a:buNone/>
            </a:pPr>
            <a:r>
              <a:rPr lang="en-US" sz="2600" b="1" dirty="0">
                <a:solidFill>
                  <a:srgbClr val="2ECC71"/>
                </a:solidFill>
              </a:rPr>
              <a:t>$5.8M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p/>
        </p:txBody>
      </p:sp>
      <p:sp>
        <p:nvSpPr>
          <p:cNvPr id="9" name="Text 7"/>
          <p:cNvSpPr txBox="1"/>
          <p:nvPr/>
        </p:nvSpPr>
        <p:spPr>
          <a:xfrm>
            <a:off x="45720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p/>
        </p:txBody>
      </p:sp>
      <p:sp>
        <p:nvSpPr>
          <p:cNvPr id="11" name="Text 9"/>
          <p:cNvSpPr txBox="1"/>
          <p:nvPr/>
        </p:nvSpPr>
        <p:spPr>
          <a:xfrm>
            <a:off x="1874520" y="1298448"/>
            <a:ext cx="1325880" cy="292608"/>
          </a:xfrm>
          <a:prstGeom prst="rect">
            <a:avLst/>
          </a:prstGeom>
          <a:noFill/>
          <a:ln/>
        </p:spPr>
        <p:txBody>
          <a:bodyPr wrap="square" rtlCol="0" anchor="ctr"/>
          <a:lstStyle/>
          <a:p>
            <a:pPr algn="ctr" indent="0" marL="0">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algn="ctr" indent="0" marL="0">
              <a:buNone/>
            </a:pPr>
            <a:r>
              <a:rPr lang="en-US" sz="2600" b="1" dirty="0">
                <a:solidFill>
                  <a:srgbClr val="2ECC71"/>
                </a:solidFill>
              </a:rPr>
              <a:t>$7.4M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p/>
        </p:txBody>
      </p:sp>
      <p:sp>
        <p:nvSpPr>
          <p:cNvPr id="14" name="Text 12"/>
          <p:cNvSpPr txBox="1"/>
          <p:nvPr/>
        </p:nvSpPr>
        <p:spPr>
          <a:xfrm>
            <a:off x="187452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p/>
        </p:txBody>
      </p:sp>
      <p:sp>
        <p:nvSpPr>
          <p:cNvPr id="16" name="Text 14"/>
          <p:cNvSpPr txBox="1"/>
          <p:nvPr/>
        </p:nvSpPr>
        <p:spPr>
          <a:xfrm>
            <a:off x="3291840" y="1298448"/>
            <a:ext cx="1325880" cy="292608"/>
          </a:xfrm>
          <a:prstGeom prst="rect">
            <a:avLst/>
          </a:prstGeom>
          <a:noFill/>
          <a:ln/>
        </p:spPr>
        <p:txBody>
          <a:bodyPr wrap="square" rtlCol="0" anchor="ctr"/>
          <a:lstStyle/>
          <a:p>
            <a:pPr algn="ctr" indent="0" marL="0">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algn="ctr" indent="0" marL="0">
              <a:buNone/>
            </a:pPr>
            <a:r>
              <a:rPr lang="en-US" sz="2600" b="1" dirty="0">
                <a:solidFill>
                  <a:srgbClr val="2ECC71"/>
                </a:solidFill>
              </a:rPr>
              <a:t>$9.0M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p/>
        </p:txBody>
      </p:sp>
      <p:sp>
        <p:nvSpPr>
          <p:cNvPr id="19" name="Text 17"/>
          <p:cNvSpPr txBox="1"/>
          <p:nvPr/>
        </p:nvSpPr>
        <p:spPr>
          <a:xfrm>
            <a:off x="329184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p/>
        </p:txBody>
      </p:sp>
      <p:sp>
        <p:nvSpPr>
          <p:cNvPr id="21" name="Text 19"/>
          <p:cNvSpPr txBox="1"/>
          <p:nvPr/>
        </p:nvSpPr>
        <p:spPr>
          <a:xfrm>
            <a:off x="4892040" y="914400"/>
            <a:ext cx="4023360" cy="320040"/>
          </a:xfrm>
          <a:prstGeom prst="rect">
            <a:avLst/>
          </a:prstGeom>
          <a:noFill/>
          <a:ln/>
        </p:spPr>
        <p:txBody>
          <a:bodyPr wrap="square" rtlCol="0" anchor="ctr"/>
          <a:lstStyle/>
          <a:p>
            <a:pPr indent="0" marL="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p/>
        </p:txBody>
      </p:sp>
      <p:sp>
        <p:nvSpPr>
          <p:cNvPr id="23" name="Text 21"/>
          <p:cNvSpPr txBox="1"/>
          <p:nvPr/>
        </p:nvSpPr>
        <p:spPr>
          <a:xfrm>
            <a:off x="4892040" y="1298448"/>
            <a:ext cx="1316736" cy="292608"/>
          </a:xfrm>
          <a:prstGeom prst="rect">
            <a:avLst/>
          </a:prstGeom>
          <a:noFill/>
          <a:ln/>
        </p:spPr>
        <p:txBody>
          <a:bodyPr wrap="square" rtlCol="0" anchor="ctr"/>
          <a:lstStyle/>
          <a:p>
            <a:pPr algn="ctr" indent="0" marL="0">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algn="ctr" indent="0" marL="0">
              <a:buNone/>
            </a:pPr>
            <a:r>
              <a:rPr lang="en-US" sz="2200" b="1" dirty="0">
                <a:solidFill>
                  <a:srgbClr val="F26A21"/>
                </a:solidFill>
              </a:rPr>
              <a:t>$11.5M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p/>
        </p:txBody>
      </p:sp>
      <p:sp>
        <p:nvSpPr>
          <p:cNvPr id="26" name="Text 24"/>
          <p:cNvSpPr txBox="1"/>
          <p:nvPr/>
        </p:nvSpPr>
        <p:spPr>
          <a:xfrm>
            <a:off x="4892040"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p/>
        </p:txBody>
      </p:sp>
      <p:sp>
        <p:nvSpPr>
          <p:cNvPr id="28" name="Text 26"/>
          <p:cNvSpPr txBox="1"/>
          <p:nvPr/>
        </p:nvSpPr>
        <p:spPr>
          <a:xfrm>
            <a:off x="6281928" y="1298448"/>
            <a:ext cx="1316736" cy="292608"/>
          </a:xfrm>
          <a:prstGeom prst="rect">
            <a:avLst/>
          </a:prstGeom>
          <a:noFill/>
          <a:ln/>
        </p:spPr>
        <p:txBody>
          <a:bodyPr wrap="square" rtlCol="0" anchor="ctr"/>
          <a:lstStyle/>
          <a:p>
            <a:pPr algn="ctr" indent="0" marL="0">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algn="ctr" indent="0" marL="0">
              <a:buNone/>
            </a:pPr>
            <a:r>
              <a:rPr lang="en-US" sz="2200" b="1" dirty="0">
                <a:solidFill>
                  <a:srgbClr val="F26A21"/>
                </a:solidFill>
              </a:rPr>
              <a:t>$15.3M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p/>
        </p:txBody>
      </p:sp>
      <p:sp>
        <p:nvSpPr>
          <p:cNvPr id="31" name="Text 29"/>
          <p:cNvSpPr txBox="1"/>
          <p:nvPr/>
        </p:nvSpPr>
        <p:spPr>
          <a:xfrm>
            <a:off x="6281928"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p/>
        </p:txBody>
      </p:sp>
      <p:sp>
        <p:nvSpPr>
          <p:cNvPr id="33" name="Text 31"/>
          <p:cNvSpPr txBox="1"/>
          <p:nvPr/>
        </p:nvSpPr>
        <p:spPr>
          <a:xfrm>
            <a:off x="7671816" y="1298448"/>
            <a:ext cx="1316736" cy="292608"/>
          </a:xfrm>
          <a:prstGeom prst="rect">
            <a:avLst/>
          </a:prstGeom>
          <a:noFill/>
          <a:ln/>
        </p:spPr>
        <p:txBody>
          <a:bodyPr wrap="square" rtlCol="0" anchor="ctr"/>
          <a:lstStyle/>
          <a:p>
            <a:pPr algn="ctr" indent="0" marL="0">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algn="ctr" indent="0" marL="0">
              <a:buNone/>
            </a:pPr>
            <a:r>
              <a:rPr lang="en-US" sz="2200" b="1" dirty="0">
                <a:solidFill>
                  <a:srgbClr val="F26A21"/>
                </a:solidFill>
              </a:rPr>
              <a:t>$18.9M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p/>
        </p:txBody>
      </p:sp>
      <p:sp>
        <p:nvSpPr>
          <p:cNvPr id="36" name="Text 34"/>
          <p:cNvSpPr txBox="1"/>
          <p:nvPr/>
        </p:nvSpPr>
        <p:spPr>
          <a:xfrm>
            <a:off x="7671816"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8" name="Shape 35"/>
          <p:cNvSpPr/>
          <p:nvPr/>
        </p:nvSpPr>
        <p:spPr>
          <a:xfrm>
            <a:off x="320040" y="2542032"/>
            <a:ext cx="8503920" cy="146304"/>
          </a:xfrm>
          <a:prstGeom prst="rect">
            <a:avLst/>
          </a:prstGeom>
          <a:solidFill>
            <a:srgbClr val="222200"/>
          </a:solidFill>
          <a:ln/>
        </p:spPr>
        <p:txBody>
          <a:bodyPr/>
          <a:p/>
        </p:txBody>
      </p:sp>
      <p:sp>
        <p:nvSpPr>
          <p:cNvPr id="39" name="Text 36"/>
          <p:cNvSpPr txBox="1"/>
          <p:nvPr/>
        </p:nvSpPr>
        <p:spPr>
          <a:xfrm>
            <a:off x="365760" y="2551176"/>
            <a:ext cx="8412480" cy="118872"/>
          </a:xfrm>
          <a:prstGeom prst="rect">
            <a:avLst/>
          </a:prstGeom>
          <a:noFill/>
          <a:ln/>
        </p:spPr>
        <p:txBody>
          <a:bodyPr wrap="square" rtlCol="0" anchor="ctr"/>
          <a:lstStyle/>
          <a:p>
            <a:pPr indent="0" marL="0">
              <a:buNone/>
            </a:pPr>
            <a:r>
              <a:rPr lang="en-US" sz="1000" i="1" dirty="0">
                <a:solidFill>
                  <a:srgbClr val="888888"/>
                </a:solidFill>
              </a:rPr>
              <a:t>④ is a forward-looking projection, not a guarantee; an alternative to ③, not additive.</a:t>
            </a:r>
            <a:endParaRPr lang="en-US" sz="800" dirty="0"/>
          </a:p>
        </p:txBody>
      </p:sp>
      <p:pic>
        <p:nvPicPr>
          <p:cNvPr id="40" name="Image 1" descr="/Users/exomac/.openclaw/workspace/drafts/_exos_white_official.png">    </p:cNvPr>
          <p:cNvPicPr>
            <a:picLocks noChangeAspect="1"/>
          </p:cNvPicPr>
          <p:nvPr/>
        </p:nvPicPr>
        <p:blipFill>
          <a:blip r:embed="rId2"/>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F26A21"/>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888888"/>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r>
              <a:rPr sz="1000" b="0" i="0">
                <a:solidFill>
                  <a:srgbClr val="FFFFFF"/>
                </a:solidFill>
                <a:latin typeface="Calibri"/>
              </a:rPr>
              <a:t/>
            </a: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CCCCCC"/>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CCCCCC"/>
                </a:solidFill>
                <a:latin typeface="Calibri"/>
              </a:rPr>
              <a:t>vs. FY27 target ($5.1M)</a:t>
            </a:r>
          </a:p>
        </p:txBody>
      </p:sp>
      <p:sp>
        <p:nvSpPr>
          <p:cNvPr id="49" name="Rectangle 48"/>
          <p:cNvSpPr/>
          <p:nvPr/>
        </p:nvSpPr>
        <p:spPr>
          <a:xfrm>
            <a:off x="365760" y="3182112"/>
            <a:ext cx="841248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FFFFFF"/>
                </a:solidFill>
                <a:latin typeface="Calibri"/>
              </a:rPr>
              <a:t>② At close: $4.86M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~2.5×</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~0.95×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FFFFFF"/>
                </a:solidFill>
                <a:latin typeface="Calibri"/>
              </a:rPr>
              <a:t>③ 5-year: $5.8M – $9.0M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~3.0–4.7×</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~1.1–1.8×</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F26A21"/>
                </a:solidFill>
                <a:latin typeface="Calibri"/>
              </a:rPr>
              <a:t>④ Max $18.9M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~9.8×</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~3.7×</a:t>
            </a:r>
          </a:p>
        </p:txBody>
      </p:sp>
      <p:sp>
        <p:nvSpPr>
          <p:cNvPr id="59" name="Rectangle 58"/>
          <p:cNvSpPr/>
          <p:nvPr/>
        </p:nvSpPr>
        <p:spPr>
          <a:xfrm>
            <a:off x="365760" y="3881628"/>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5760" y="3904488"/>
            <a:ext cx="8412480" cy="384048"/>
          </a:xfrm>
          <a:prstGeom prst="rect">
            <a:avLst/>
          </a:prstGeom>
          <a:noFill/>
        </p:spPr>
        <p:txBody>
          <a:bodyPr wrap="square">
            <a:spAutoFit/>
          </a:bodyPr>
          <a:lstStyle/>
          <a:p>
            <a:pPr algn="l"/>
            <a:r>
              <a:rPr sz="1000" b="0" i="1">
                <a:solidFill>
                  <a:srgbClr val="CCCCCC"/>
                </a:solidFill>
                <a:latin typeface="Calibri"/>
              </a:rPr>
              <a:t>Declining this offer is a judgment that SSLC alone, without new capital, is more likely to create more than the $18.9M maximum this offer projects (if Exos stock is held to 2031). Not a guarantee; "projects" is the operative word.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33272"/>
            <a:ext cx="3749040" cy="292608"/>
          </a:xfrm>
          <a:prstGeom prst="rect">
            <a:avLst/>
          </a:prstGeom>
          <a:noFill/>
          <a:ln/>
        </p:spPr>
        <p:txBody>
          <a:bodyPr wrap="square" rtlCol="0" anchor="ctr"/>
          <a:lstStyle/>
          <a:p>
            <a:pPr indent="0" marL="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indent="0" marL="0">
              <a:buNone/>
            </a:pPr>
            <a:r>
              <a:rPr lang="en-US" sz="1200" dirty="0">
                <a:solidFill>
                  <a:srgbClr val="CCCCCC"/>
                </a:solidFill>
              </a:rPr>
              <a:t>$1.0M EAI units at the current 409A valuation (~$169.7M); ~0.59% fully diluted at issuance.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33272"/>
            <a:ext cx="3749040" cy="292608"/>
          </a:xfrm>
          <a:prstGeom prst="rect">
            <a:avLst/>
          </a:prstGeom>
          <a:noFill/>
          <a:ln/>
        </p:spPr>
        <p:txBody>
          <a:bodyPr wrap="square" rtlCol="0" anchor="ctr"/>
          <a:lstStyle/>
          <a:p>
            <a:pPr indent="0" marL="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indent="0" marL="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txBody>
          <a:bodyPr/>
          <a:p/>
        </p:txBody>
      </p:sp>
      <p:sp>
        <p:nvSpPr>
          <p:cNvPr id="11" name="Text 9"/>
          <p:cNvSpPr txBox="1"/>
          <p:nvPr/>
        </p:nvSpPr>
        <p:spPr>
          <a:xfrm>
            <a:off x="502920" y="2313432"/>
            <a:ext cx="3749040" cy="292608"/>
          </a:xfrm>
          <a:prstGeom prst="rect">
            <a:avLst/>
          </a:prstGeom>
          <a:noFill/>
          <a:ln/>
        </p:spPr>
        <p:txBody>
          <a:bodyPr wrap="square" rtlCol="0" anchor="ctr"/>
          <a:lstStyle/>
          <a:p>
            <a:pPr indent="0" marL="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indent="0" marL="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txBody>
          <a:bodyPr/>
          <a:p/>
        </p:txBody>
      </p:sp>
      <p:sp>
        <p:nvSpPr>
          <p:cNvPr id="14" name="Text 12"/>
          <p:cNvSpPr txBox="1"/>
          <p:nvPr/>
        </p:nvSpPr>
        <p:spPr>
          <a:xfrm>
            <a:off x="4800600" y="2313432"/>
            <a:ext cx="3749040" cy="292608"/>
          </a:xfrm>
          <a:prstGeom prst="rect">
            <a:avLst/>
          </a:prstGeom>
          <a:noFill/>
          <a:ln/>
        </p:spPr>
        <p:txBody>
          <a:bodyPr wrap="square" rtlCol="0" anchor="ctr"/>
          <a:lstStyle/>
          <a:p>
            <a:pPr indent="0" marL="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indent="0" marL="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txBody>
          <a:bodyPr/>
          <a:p/>
        </p:txBody>
      </p:sp>
      <p:sp>
        <p:nvSpPr>
          <p:cNvPr id="17" name="Text 15"/>
          <p:cNvSpPr txBox="1"/>
          <p:nvPr/>
        </p:nvSpPr>
        <p:spPr>
          <a:xfrm>
            <a:off x="502920" y="3593592"/>
            <a:ext cx="3749040" cy="292608"/>
          </a:xfrm>
          <a:prstGeom prst="rect">
            <a:avLst/>
          </a:prstGeom>
          <a:noFill/>
          <a:ln/>
        </p:spPr>
        <p:txBody>
          <a:bodyPr wrap="square" rtlCol="0" anchor="ctr"/>
          <a:lstStyle/>
          <a:p>
            <a:pPr indent="0" marL="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indent="0" marL="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txBody>
          <a:bodyPr/>
          <a:p/>
        </p:txBody>
      </p:sp>
      <p:sp>
        <p:nvSpPr>
          <p:cNvPr id="20" name="Text 18"/>
          <p:cNvSpPr txBox="1"/>
          <p:nvPr/>
        </p:nvSpPr>
        <p:spPr>
          <a:xfrm>
            <a:off x="4800600" y="3593592"/>
            <a:ext cx="3749040" cy="292608"/>
          </a:xfrm>
          <a:prstGeom prst="rect">
            <a:avLst/>
          </a:prstGeom>
          <a:noFill/>
          <a:ln/>
        </p:spPr>
        <p:txBody>
          <a:bodyPr wrap="square" rtlCol="0" anchor="ctr"/>
          <a:lstStyle/>
          <a:p>
            <a:pPr indent="0" marL="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indent="0" marL="0">
              <a:buNone/>
            </a:pPr>
            <a:r>
              <a:rPr lang="en-US" sz="1200" dirty="0">
                <a:solidFill>
                  <a:srgbClr val="CCCCCC"/>
                </a:solidFill>
              </a:rPr>
              <a:t>Units issued at financing close. Targeted RTO ~6 months post-financing. Not assured — RTO may not close.</a:t>
            </a:r>
            <a:endParaRPr lang="en-US" sz="1200" dirty="0"/>
          </a:p>
        </p:txBody>
      </p:sp>
      <p:pic>
        <p:nvPicPr>
          <p:cNvPr id="2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1005840"/>
            <a:ext cx="4114800" cy="2743200"/>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78992"/>
            <a:ext cx="3840480" cy="365760"/>
          </a:xfrm>
          <a:prstGeom prst="rect">
            <a:avLst/>
          </a:prstGeom>
          <a:noFill/>
          <a:ln/>
        </p:spPr>
        <p:txBody>
          <a:bodyPr wrap="square" rtlCol="0" anchor="ctr"/>
          <a:lstStyle/>
          <a:p>
            <a:pPr indent="0" marL="0">
              <a:buNone/>
            </a:pPr>
            <a:r>
              <a:rPr lang="en-US" sz="1600" b="1" dirty="0">
                <a:solidFill>
                  <a:srgbClr val="F26A21"/>
                </a:solidFill>
              </a:rPr>
              <a:t>Employment Offer</a:t>
            </a:r>
            <a:endParaRPr lang="en-US" sz="1600" dirty="0"/>
          </a:p>
        </p:txBody>
      </p:sp>
      <p:sp>
        <p:nvSpPr>
          <p:cNvPr id="6" name="Text 4"/>
          <p:cNvSpPr txBox="1"/>
          <p:nvPr/>
        </p:nvSpPr>
        <p:spPr>
          <a:xfrm>
            <a:off x="502920" y="1481328"/>
            <a:ext cx="3840480" cy="2148840"/>
          </a:xfrm>
          <a:prstGeom prst="rect">
            <a:avLst/>
          </a:prstGeom>
          <a:noFill/>
          <a:ln/>
        </p:spPr>
        <p:txBody>
          <a:bodyPr wrap="square" rtlCol="0" anchor="t"/>
          <a:lstStyle/>
          <a:p>
            <a:pPr indent="0" marL="0">
              <a:buNone/>
            </a:pPr>
            <a:r>
              <a:rPr lang="en-US" sz="130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indent="0" marL="0">
              <a:buNone/>
            </a:pPr>
            <a:endParaRPr lang="en-US" sz="1300" dirty="0"/>
          </a:p>
          <a:p>
            <a:pPr indent="0" marL="0">
              <a:buNone/>
            </a:pPr>
            <a:r>
              <a:rPr lang="en-US" sz="130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4663440" y="1005840"/>
            <a:ext cx="4114800" cy="2743200"/>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78992"/>
            <a:ext cx="3840480" cy="365760"/>
          </a:xfrm>
          <a:prstGeom prst="rect">
            <a:avLst/>
          </a:prstGeom>
          <a:noFill/>
          <a:ln/>
        </p:spPr>
        <p:txBody>
          <a:bodyPr wrap="square" rtlCol="0" anchor="ctr"/>
          <a:lstStyle/>
          <a:p>
            <a:pPr indent="0" marL="0">
              <a:buNone/>
            </a:pPr>
            <a:r>
              <a:rPr lang="en-US" sz="1600" b="1" dirty="0">
                <a:solidFill>
                  <a:srgbClr val="F26A21"/>
                </a:solidFill>
              </a:rPr>
              <a:t>Key-Employee Option Pool</a:t>
            </a:r>
            <a:endParaRPr lang="en-US" sz="1600" dirty="0"/>
          </a:p>
        </p:txBody>
      </p:sp>
      <p:sp>
        <p:nvSpPr>
          <p:cNvPr id="9" name="Text 7"/>
          <p:cNvSpPr txBox="1"/>
          <p:nvPr/>
        </p:nvSpPr>
        <p:spPr>
          <a:xfrm>
            <a:off x="4800600" y="1481328"/>
            <a:ext cx="3840480" cy="2148840"/>
          </a:xfrm>
          <a:prstGeom prst="rect">
            <a:avLst/>
          </a:prstGeom>
          <a:noFill/>
          <a:ln/>
        </p:spPr>
        <p:txBody>
          <a:bodyPr wrap="square" rtlCol="0" anchor="t"/>
          <a:lstStyle/>
          <a:p>
            <a:pPr indent="0" marL="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p/>
        </p:txBody>
      </p:sp>
      <p:sp>
        <p:nvSpPr>
          <p:cNvPr id="5" name="Text 3"/>
          <p:cNvSpPr txBox="1"/>
          <p:nvPr/>
        </p:nvSpPr>
        <p:spPr>
          <a:xfrm>
            <a:off x="548640" y="950976"/>
            <a:ext cx="5303520" cy="292608"/>
          </a:xfrm>
          <a:prstGeom prst="rect">
            <a:avLst/>
          </a:prstGeom>
          <a:noFill/>
          <a:ln/>
        </p:spPr>
        <p:txBody>
          <a:bodyPr wrap="square" rtlCol="0" anchor="ctr"/>
          <a:lstStyle/>
          <a:p>
            <a:pPr indent="0" marL="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p/>
        </p:txBody>
      </p:sp>
      <p:sp>
        <p:nvSpPr>
          <p:cNvPr id="8" name="Text 6"/>
          <p:cNvSpPr txBox="1"/>
          <p:nvPr/>
        </p:nvSpPr>
        <p:spPr>
          <a:xfrm>
            <a:off x="548640" y="1335024"/>
            <a:ext cx="5303520" cy="292608"/>
          </a:xfrm>
          <a:prstGeom prst="rect">
            <a:avLst/>
          </a:prstGeom>
          <a:noFill/>
          <a:ln/>
        </p:spPr>
        <p:txBody>
          <a:bodyPr wrap="square" rtlCol="0" anchor="ctr"/>
          <a:lstStyle/>
          <a:p>
            <a:pPr indent="0" marL="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p/>
        </p:txBody>
      </p:sp>
      <p:sp>
        <p:nvSpPr>
          <p:cNvPr id="13" name="Shape 11"/>
          <p:cNvSpPr/>
          <p:nvPr/>
        </p:nvSpPr>
        <p:spPr>
          <a:xfrm>
            <a:off x="411480" y="2066544"/>
            <a:ext cx="8321040" cy="365760"/>
          </a:xfrm>
          <a:prstGeom prst="rect">
            <a:avLst/>
          </a:prstGeom>
          <a:solidFill>
            <a:srgbClr val="212121"/>
          </a:solidFill>
          <a:ln w="12700">
            <a:solidFill>
              <a:srgbClr val="2A2A2A"/>
            </a:solidFill>
            <a:prstDash val="solid"/>
          </a:ln>
        </p:spPr>
        <p:txBody>
          <a:bodyPr/>
          <a:p/>
        </p:txBody>
      </p:sp>
      <p:sp>
        <p:nvSpPr>
          <p:cNvPr id="14" name="Text 12"/>
          <p:cNvSpPr txBox="1"/>
          <p:nvPr/>
        </p:nvSpPr>
        <p:spPr>
          <a:xfrm>
            <a:off x="548640" y="2103120"/>
            <a:ext cx="5303520" cy="292608"/>
          </a:xfrm>
          <a:prstGeom prst="rect">
            <a:avLst/>
          </a:prstGeom>
          <a:noFill/>
          <a:ln/>
        </p:spPr>
        <p:txBody>
          <a:bodyPr wrap="square" rtlCol="0" anchor="ctr"/>
          <a:lstStyle/>
          <a:p>
            <a:pPr indent="0" marL="0">
              <a:buNone/>
            </a:pPr>
            <a:r>
              <a:rPr lang="en-US" sz="1200" b="1" dirty="0">
                <a:solidFill>
                  <a:srgbClr val="FFFFFF"/>
                </a:solidFill>
              </a:rPr>
              <a:t>Working-capital bridge $500K</a:t>
            </a:r>
            <a:endParaRPr lang="en-US" sz="1200" dirty="0"/>
          </a:p>
        </p:txBody>
      </p:sp>
      <p:sp>
        <p:nvSpPr>
          <p:cNvPr id="15" name="Text 13"/>
          <p:cNvSpPr txBox="1"/>
          <p:nvPr/>
        </p:nvSpPr>
        <p:spPr>
          <a:xfrm>
            <a:off x="5989320" y="2103120"/>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548640" y="2487168"/>
            <a:ext cx="5303520" cy="292608"/>
          </a:xfrm>
          <a:prstGeom prst="rect">
            <a:avLst/>
          </a:prstGeom>
          <a:noFill/>
          <a:ln/>
        </p:spPr>
        <p:txBody>
          <a:bodyPr wrap="square" rtlCol="0" anchor="ctr"/>
          <a:lstStyle/>
          <a:p>
            <a:pPr indent="0" marL="0">
              <a:buNone/>
            </a:pPr>
            <a:r>
              <a:rPr lang="en-US" sz="1200" b="1" dirty="0">
                <a:solidFill>
                  <a:srgbClr val="FFFFFF"/>
                </a:solidFill>
              </a:rPr>
              <a:t>$1.0M Exos stock (EAI units, Rule 504)</a:t>
            </a:r>
            <a:endParaRPr lang="en-US" sz="1200" dirty="0"/>
          </a:p>
        </p:txBody>
      </p:sp>
      <p:sp>
        <p:nvSpPr>
          <p:cNvPr id="18" name="Text 16"/>
          <p:cNvSpPr txBox="1"/>
          <p:nvPr/>
        </p:nvSpPr>
        <p:spPr>
          <a:xfrm>
            <a:off x="5989320" y="2487168"/>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p/>
        </p:txBody>
      </p:sp>
      <p:sp>
        <p:nvSpPr>
          <p:cNvPr id="20" name="Text 18"/>
          <p:cNvSpPr txBox="1"/>
          <p:nvPr/>
        </p:nvSpPr>
        <p:spPr>
          <a:xfrm>
            <a:off x="548640" y="2871216"/>
            <a:ext cx="5303520" cy="292608"/>
          </a:xfrm>
          <a:prstGeom prst="rect">
            <a:avLst/>
          </a:prstGeom>
          <a:noFill/>
          <a:ln/>
        </p:spPr>
        <p:txBody>
          <a:bodyPr wrap="square" rtlCol="0" anchor="ctr"/>
          <a:lstStyle/>
          <a:p>
            <a:pPr indent="0" marL="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algn="r" indent="0" marL="0">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8640" y="3255264"/>
            <a:ext cx="5303520" cy="292608"/>
          </a:xfrm>
          <a:prstGeom prst="rect">
            <a:avLst/>
          </a:prstGeom>
          <a:noFill/>
          <a:ln/>
        </p:spPr>
        <p:txBody>
          <a:bodyPr wrap="square" rtlCol="0" anchor="ctr"/>
          <a:lstStyle/>
          <a:p>
            <a:pPr indent="0" marL="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p/>
        </p:txBody>
      </p:sp>
      <p:sp>
        <p:nvSpPr>
          <p:cNvPr id="26" name="Text 24"/>
          <p:cNvSpPr txBox="1"/>
          <p:nvPr/>
        </p:nvSpPr>
        <p:spPr>
          <a:xfrm>
            <a:off x="548640" y="3639312"/>
            <a:ext cx="5303520" cy="292608"/>
          </a:xfrm>
          <a:prstGeom prst="rect">
            <a:avLst/>
          </a:prstGeom>
          <a:noFill/>
          <a:ln/>
        </p:spPr>
        <p:txBody>
          <a:bodyPr wrap="square" rtlCol="0" anchor="ctr"/>
          <a:lstStyle/>
          <a:p>
            <a:pPr indent="0" marL="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algn="r" indent="0" marL="0">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p/>
        </p:txBody>
      </p:sp>
      <p:sp>
        <p:nvSpPr>
          <p:cNvPr id="29" name="Text 27"/>
          <p:cNvSpPr txBox="1"/>
          <p:nvPr/>
        </p:nvSpPr>
        <p:spPr>
          <a:xfrm>
            <a:off x="502920" y="4142232"/>
            <a:ext cx="8229600" cy="457200"/>
          </a:xfrm>
          <a:prstGeom prst="rect">
            <a:avLst/>
          </a:prstGeom>
          <a:noFill/>
          <a:ln/>
        </p:spPr>
        <p:txBody>
          <a:bodyPr wrap="square" rtlCol="0" anchor="ctr"/>
          <a:lstStyle/>
          <a:p>
            <a:pPr algn="ctr" indent="0" marL="0">
              <a:buNone/>
            </a:pPr>
            <a:r>
              <a:rPr lang="en-US" sz="1200" b="1" dirty="0">
                <a:solidFill>
                  <a:srgbClr val="F26A21"/>
                </a:solidFill>
              </a:rPr>
              <a:t>Five motions today: approve offer + §3 exclusivity + ROFR  →  90-day window  →  financing close target Feb 15th</a:t>
            </a:r>
            <a:endParaRPr lang="en-US" sz="1500" dirty="0"/>
          </a:p>
        </p:txBody>
      </p:sp>
      <p:pic>
        <p:nvPicPr>
          <p:cNvPr id="3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FFFFFF"/>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F26A21"/>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CCCCCC"/>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FFFFFF"/>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888888"/>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888888"/>
                </a:solidFill>
                <a:latin typeface="Calibri"/>
              </a:rPr>
              <a:t>+$675,000</a:t>
            </a:r>
          </a:p>
        </p:txBody>
      </p:sp>
      <p:sp>
        <p:nvSpPr>
          <p:cNvPr id="12" name="Rectangle 11"/>
          <p:cNvSpPr/>
          <p:nvPr/>
        </p:nvSpPr>
        <p:spPr>
          <a:xfrm>
            <a:off x="274320" y="115214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CCCCCC"/>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CCCCCC"/>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CCCCCC"/>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FF7755"/>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CCCCCC"/>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FF7755"/>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CCCCCC"/>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FF7755"/>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CCCCCC"/>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FF7755"/>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CCCCCC"/>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FF7755"/>
                </a:solidFill>
                <a:latin typeface="Calibri"/>
              </a:rPr>
              <a:t>($125,500)</a:t>
            </a:r>
          </a:p>
        </p:txBody>
      </p:sp>
      <p:sp>
        <p:nvSpPr>
          <p:cNvPr id="27" name="Rectangle 26"/>
          <p:cNvSpPr/>
          <p:nvPr/>
        </p:nvSpPr>
        <p:spPr>
          <a:xfrm>
            <a:off x="274320" y="2350922"/>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 y="2378354"/>
            <a:ext cx="3154679" cy="201168"/>
          </a:xfrm>
          <a:prstGeom prst="rect">
            <a:avLst/>
          </a:prstGeom>
          <a:noFill/>
        </p:spPr>
        <p:txBody>
          <a:bodyPr wrap="square">
            <a:spAutoFit/>
          </a:bodyPr>
          <a:lstStyle/>
          <a:p>
            <a:pPr algn="l"/>
            <a:r>
              <a:rPr sz="1000" b="1" i="0">
                <a:solidFill>
                  <a:srgbClr val="FFFFFF"/>
                </a:solidFill>
                <a:latin typeface="Calibri"/>
              </a:rPr>
              <a:t>Net cash distributable at close</a:t>
            </a:r>
          </a:p>
        </p:txBody>
      </p:sp>
      <p:sp>
        <p:nvSpPr>
          <p:cNvPr id="29" name="TextBox 28"/>
          <p:cNvSpPr txBox="1"/>
          <p:nvPr/>
        </p:nvSpPr>
        <p:spPr>
          <a:xfrm>
            <a:off x="3474719" y="2378354"/>
            <a:ext cx="914400" cy="201168"/>
          </a:xfrm>
          <a:prstGeom prst="rect">
            <a:avLst/>
          </a:prstGeom>
          <a:noFill/>
        </p:spPr>
        <p:txBody>
          <a:bodyPr wrap="square">
            <a:spAutoFit/>
          </a:bodyPr>
          <a:lstStyle/>
          <a:p>
            <a:pPr algn="r"/>
            <a:r>
              <a:rPr sz="1100" b="1" i="0">
                <a:solidFill>
                  <a:srgbClr val="F26A21"/>
                </a:solidFill>
                <a:latin typeface="Calibri"/>
              </a:rPr>
              <a:t>~$1.51M</a:t>
            </a:r>
          </a:p>
        </p:txBody>
      </p:sp>
      <p:sp>
        <p:nvSpPr>
          <p:cNvPr id="30" name="TextBox 29"/>
          <p:cNvSpPr txBox="1"/>
          <p:nvPr/>
        </p:nvSpPr>
        <p:spPr>
          <a:xfrm>
            <a:off x="274320" y="2588666"/>
            <a:ext cx="3154679" cy="169164"/>
          </a:xfrm>
          <a:prstGeom prst="rect">
            <a:avLst/>
          </a:prstGeom>
          <a:noFill/>
        </p:spPr>
        <p:txBody>
          <a:bodyPr wrap="square">
            <a:spAutoFit/>
          </a:bodyPr>
          <a:lstStyle/>
          <a:p>
            <a:pPr algn="l"/>
            <a:r>
              <a:rPr sz="1000" b="0" i="0">
                <a:solidFill>
                  <a:srgbClr val="CCCCCC"/>
                </a:solidFill>
                <a:latin typeface="Calibri"/>
              </a:rPr>
              <a:t>+ Exos stock (EAI units, Rule 504, 409A)</a:t>
            </a:r>
          </a:p>
        </p:txBody>
      </p:sp>
      <p:sp>
        <p:nvSpPr>
          <p:cNvPr id="31" name="TextBox 30"/>
          <p:cNvSpPr txBox="1"/>
          <p:nvPr/>
        </p:nvSpPr>
        <p:spPr>
          <a:xfrm>
            <a:off x="3474719" y="2588666"/>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748686"/>
            <a:ext cx="3154679" cy="169164"/>
          </a:xfrm>
          <a:prstGeom prst="rect">
            <a:avLst/>
          </a:prstGeom>
          <a:noFill/>
        </p:spPr>
        <p:txBody>
          <a:bodyPr wrap="square">
            <a:spAutoFit/>
          </a:bodyPr>
          <a:lstStyle/>
          <a:p>
            <a:pPr algn="l"/>
            <a:r>
              <a:rPr sz="1000" b="0" i="0">
                <a:solidFill>
                  <a:srgbClr val="CCCCCC"/>
                </a:solidFill>
                <a:latin typeface="Calibri"/>
              </a:rPr>
              <a:t>+ Escrow release at 12 months</a:t>
            </a:r>
          </a:p>
        </p:txBody>
      </p:sp>
      <p:sp>
        <p:nvSpPr>
          <p:cNvPr id="33" name="TextBox 32"/>
          <p:cNvSpPr txBox="1"/>
          <p:nvPr/>
        </p:nvSpPr>
        <p:spPr>
          <a:xfrm>
            <a:off x="3474719" y="2748686"/>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2908706"/>
            <a:ext cx="3154679" cy="169164"/>
          </a:xfrm>
          <a:prstGeom prst="rect">
            <a:avLst/>
          </a:prstGeom>
          <a:noFill/>
        </p:spPr>
        <p:txBody>
          <a:bodyPr wrap="square">
            <a:spAutoFit/>
          </a:bodyPr>
          <a:lstStyle/>
          <a:p>
            <a:pPr algn="l"/>
            <a:r>
              <a:rPr sz="1000" b="0" i="0">
                <a:solidFill>
                  <a:srgbClr val="CCCCCC"/>
                </a:solidFill>
                <a:latin typeface="Calibri"/>
              </a:rPr>
              <a:t>+ Earn-outs base case (FY27–FY31)</a:t>
            </a:r>
          </a:p>
        </p:txBody>
      </p:sp>
      <p:sp>
        <p:nvSpPr>
          <p:cNvPr id="35" name="TextBox 34"/>
          <p:cNvSpPr txBox="1"/>
          <p:nvPr/>
        </p:nvSpPr>
        <p:spPr>
          <a:xfrm>
            <a:off x="3474719" y="2908706"/>
            <a:ext cx="914400" cy="169164"/>
          </a:xfrm>
          <a:prstGeom prst="rect">
            <a:avLst/>
          </a:prstGeom>
          <a:noFill/>
        </p:spPr>
        <p:txBody>
          <a:bodyPr wrap="square">
            <a:spAutoFit/>
          </a:bodyPr>
          <a:lstStyle/>
          <a:p>
            <a:pPr algn="r"/>
            <a:r>
              <a:rPr sz="1000" b="0" i="0">
                <a:solidFill>
                  <a:srgbClr val="44BB44"/>
                </a:solidFill>
                <a:latin typeface="Calibri"/>
              </a:rPr>
              <a:t>+$2,525,000</a:t>
            </a:r>
          </a:p>
        </p:txBody>
      </p:sp>
      <p:sp>
        <p:nvSpPr>
          <p:cNvPr id="36" name="Rectangle 35"/>
          <p:cNvSpPr/>
          <p:nvPr/>
        </p:nvSpPr>
        <p:spPr>
          <a:xfrm>
            <a:off x="274320" y="3077870"/>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3105302"/>
            <a:ext cx="3154679" cy="228600"/>
          </a:xfrm>
          <a:prstGeom prst="rect">
            <a:avLst/>
          </a:prstGeom>
          <a:noFill/>
        </p:spPr>
        <p:txBody>
          <a:bodyPr wrap="square">
            <a:spAutoFit/>
          </a:bodyPr>
          <a:lstStyle/>
          <a:p>
            <a:pPr algn="l"/>
            <a:r>
              <a:rPr sz="1000" b="1" i="0">
                <a:solidFill>
                  <a:srgbClr val="FFFFFF"/>
                </a:solidFill>
                <a:latin typeface="Calibri"/>
              </a:rPr>
              <a:t>~5-year total to SSLC shareholders</a:t>
            </a:r>
          </a:p>
        </p:txBody>
      </p:sp>
      <p:sp>
        <p:nvSpPr>
          <p:cNvPr id="38" name="TextBox 37"/>
          <p:cNvSpPr txBox="1"/>
          <p:nvPr/>
        </p:nvSpPr>
        <p:spPr>
          <a:xfrm>
            <a:off x="3383279" y="3105302"/>
            <a:ext cx="1005840" cy="228600"/>
          </a:xfrm>
          <a:prstGeom prst="rect">
            <a:avLst/>
          </a:prstGeom>
          <a:noFill/>
        </p:spPr>
        <p:txBody>
          <a:bodyPr wrap="square">
            <a:spAutoFit/>
          </a:bodyPr>
          <a:lstStyle/>
          <a:p>
            <a:pPr algn="r"/>
            <a:r>
              <a:rPr sz="1300" b="1" i="0">
                <a:solidFill>
                  <a:srgbClr val="F26A21"/>
                </a:solidFill>
                <a:latin typeface="Calibri"/>
              </a:rPr>
              <a:t>~$5.16M</a:t>
            </a:r>
          </a:p>
        </p:txBody>
      </p:sp>
      <p:sp>
        <p:nvSpPr>
          <p:cNvPr id="39" name="Rectangle 38"/>
          <p:cNvSpPr/>
          <p:nvPr/>
        </p:nvSpPr>
        <p:spPr>
          <a:xfrm>
            <a:off x="464515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F26A21"/>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888888"/>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888888"/>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888888"/>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888888"/>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888888"/>
                </a:solidFill>
                <a:latin typeface="Calibri"/>
              </a:rPr>
              <a:t>$4,042</a:t>
            </a:r>
          </a:p>
        </p:txBody>
      </p:sp>
      <p:sp>
        <p:nvSpPr>
          <p:cNvPr id="47" name="Rectangle 46"/>
          <p:cNvSpPr/>
          <p:nvPr/>
        </p:nvSpPr>
        <p:spPr>
          <a:xfrm>
            <a:off x="4754880" y="133502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FFFFFF"/>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888888"/>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888888"/>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FF7755"/>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888888"/>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CCCCCC"/>
                </a:solidFill>
                <a:latin typeface="Calibri"/>
              </a:rPr>
              <a:t>Cash + stock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~$2.5M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CCCCCC"/>
                </a:solidFill>
                <a:latin typeface="Calibri"/>
              </a:rPr>
              <a:t>Total over 5 years incl. earn-outs</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~$5.2M</a:t>
            </a:r>
          </a:p>
        </p:txBody>
      </p:sp>
      <p:sp>
        <p:nvSpPr>
          <p:cNvPr id="58" name="Rectangle 57"/>
          <p:cNvSpPr/>
          <p:nvPr/>
        </p:nvSpPr>
        <p:spPr>
          <a:xfrm>
            <a:off x="4754880" y="2601468"/>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CCCCCC"/>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FFCC44"/>
                </a:solidFill>
                <a:latin typeface="Calibri"/>
              </a:rPr>
              <a:t>11× at close / 23× over 5 yrs</a:t>
            </a:r>
          </a:p>
        </p:txBody>
      </p:sp>
      <p:sp>
        <p:nvSpPr>
          <p:cNvPr id="62" name="Rectangle 61"/>
          <p:cNvSpPr/>
          <p:nvPr/>
        </p:nvSpPr>
        <p:spPr>
          <a:xfrm>
            <a:off x="4754880" y="3172968"/>
            <a:ext cx="4151376" cy="224028"/>
          </a:xfrm>
          <a:prstGeom prst="rect">
            <a:avLst/>
          </a:prstGeom>
          <a:solidFill>
            <a:srgbClr val="22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4592" y="4078224"/>
            <a:ext cx="8814816" cy="713232"/>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F26A21"/>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a:solidFill>
                  <a:srgbClr val="CCCCCC"/>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CCCCCC"/>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888888"/>
                </a:solidFill>
                <a:latin typeface="Calibri"/>
              </a:rPr>
              <a:t>Projection based on SSLC books 10/11/2026 + Exos offer terms. Low/high: net cash $1.28M–$1.74M; 5-yr $3.4M–$7.0M.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888888"/>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2A1800"/>
          </a:solidFill>
          <a:ln w="9525">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736592" y="3095244"/>
            <a:ext cx="4133087" cy="923544"/>
          </a:xfrm>
          <a:prstGeom prst="rect">
            <a:avLst/>
          </a:prstGeom>
          <a:noFill/>
        </p:spPr>
        <p:txBody>
          <a:bodyPr wrap="square">
            <a:spAutoFit/>
          </a:bodyPr>
          <a:lstStyle/>
          <a:p>
            <a:r>
              <a:rPr sz="1000" b="1">
                <a:solidFill>
                  <a:srgbClr val="FFEE88"/>
                </a:solidFill>
                <a:latin typeface="Calibri"/>
              </a:rPr>
              <a:t>Microcosm's 50% facility costs, Jul 2024–Aug 2026: ~$351K</a:t>
            </a:r>
          </a:p>
          <a:p>
            <a:r>
              <a:rPr sz="1000" b="0">
                <a:solidFill>
                  <a:srgbClr val="CCCCCC"/>
                </a:solidFill>
                <a:latin typeface="Calibri"/>
              </a:rPr>
              <a:t>  (rent ~$316K + utilities ~$35K). Not credited vs. $451K owed to Microcosm.</a:t>
            </a:r>
          </a:p>
          <a:p>
            <a:r>
              <a:rPr sz="1000" b="1">
                <a:solidFill>
                  <a:srgbClr val="FFEE88"/>
                </a:solidFill>
                <a:latin typeface="Calibri"/>
              </a:rPr>
              <a:t>If applied: SSLC holders' cash at close ~$1.51M → ~$1.86M (base case).</a:t>
            </a:r>
          </a:p>
          <a:p>
            <a:r>
              <a:rPr sz="1000" b="1">
                <a:solidFill>
                  <a:srgbClr val="FFEE88"/>
                </a:solidFill>
                <a:latin typeface="Calibri"/>
              </a:rPr>
              <a:t>'Due to Microcosm' falls to ~$100K.</a:t>
            </a:r>
          </a:p>
          <a:p>
            <a:r>
              <a:rPr sz="1000" b="1">
                <a:solidFill>
                  <a:srgbClr val="FFEE88"/>
                </a:solidFill>
                <a:latin typeface="Calibri"/>
              </a:rPr>
              <a:t>Equity improves: -$1.44M to ~-$1.09M.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FFFFFF"/>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512064"/>
            <a:ext cx="8778240" cy="89611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2880" y="512064"/>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F26A21"/>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F26A21"/>
                </a:solidFill>
                <a:latin typeface="Calibri"/>
              </a:rPr>
              <a:t>Approve Exos's Offer, Confirm §3 Exclusivity and Grant a ROFR</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sz="1000" b="0" i="0">
                <a:solidFill>
                  <a:srgbClr val="CCCCCC"/>
                </a:solidFill>
                <a:latin typeface="Calibri"/>
              </a:rPr>
              <a:t>The Board approves the Exos offer (Option B terms), confirms Exos's 90-day §3 exclusivity</a:t>
            </a:r>
          </a:p>
          <a:p>
            <a:r>
              <a:rPr sz="1000" b="0" i="0">
                <a:solidFill>
                  <a:srgbClr val="CCCCCC"/>
                </a:solidFill>
                <a:latin typeface="Calibri"/>
              </a:rPr>
              <a:t>under the May 2025 Asset Acquisition Agreement, and grants Exos a right of first refusal</a:t>
            </a:r>
          </a:p>
          <a:p>
            <a:r>
              <a:rPr sz="1000" b="0" i="0">
                <a:solidFill>
                  <a:srgbClr val="CCCCCC"/>
                </a:solidFill>
                <a:latin typeface="Calibri"/>
              </a:rPr>
              <a:t>on any sale of SSLC's assets or a controlling interest.</a:t>
            </a:r>
          </a:p>
          <a:p>
            <a:r>
              <a:rPr sz="1000" b="0" i="0">
                <a:solidFill>
                  <a:srgbClr val="CCCCCC"/>
                </a:solidFill>
                <a:latin typeface="Calibri"/>
              </a:rPr>
              <a:t>ROFR term: 6 months from approval; auto-extends while a definitive APA is under negotiation.</a:t>
            </a:r>
          </a:p>
          <a:p>
            <a:r>
              <a:rPr sz="1000" b="0" i="0">
                <a:solidFill>
                  <a:srgbClr val="CCCCCC"/>
                </a:solidFill>
                <a:latin typeface="Calibri"/>
              </a:rPr>
              <a:t>Extension not unreasonably withheld.   Target financing close: February 15, 2027.</a:t>
            </a:r>
          </a:p>
        </p:txBody>
      </p:sp>
      <p:sp>
        <p:nvSpPr>
          <p:cNvPr id="14" name="Rectangle 13"/>
          <p:cNvSpPr/>
          <p:nvPr/>
        </p:nvSpPr>
        <p:spPr>
          <a:xfrm>
            <a:off x="182880" y="1444752"/>
            <a:ext cx="8778240" cy="98755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2880" y="1444752"/>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F26A21"/>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a:solidFill>
                  <a:srgbClr val="FFFFFF"/>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CCCCCC"/>
                </a:solidFill>
                <a:latin typeface="Calibri"/>
              </a:rPr>
              <a:t>Authorize all-access QB Online for John Quinn + one Exos finance reviewer.</a:t>
            </a:r>
          </a:p>
          <a:p>
            <a:r>
              <a:rPr sz="1000" b="0" i="0">
                <a:solidFill>
                  <a:srgbClr val="CCCCCC"/>
                </a:solidFill>
                <a:latin typeface="Calibri"/>
              </a:rPr>
              <a:t>Provide: stock ledger, cap table, subscription agreements, paid-in capital by shareholder.</a:t>
            </a:r>
          </a:p>
          <a:p>
            <a:r>
              <a:rPr sz="1000" b="0" i="0">
                <a:solidFill>
                  <a:srgbClr val="CCCCCC"/>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2880" y="2468880"/>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F26A21"/>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a:solidFill>
                  <a:srgbClr val="FFFFFF"/>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CCCCCC"/>
                </a:solidFill>
                <a:latin typeface="Calibri"/>
              </a:rPr>
              <a:t>Direct A La Carte Solutions + Singer Lewak / Welch &amp; Co. to reconcile within 5 days:</a:t>
            </a:r>
          </a:p>
          <a:p>
            <a:r>
              <a:rPr sz="1000" b="0" i="0">
                <a:solidFill>
                  <a:srgbClr val="CCCCCC"/>
                </a:solidFill>
                <a:latin typeface="Calibri"/>
              </a:rPr>
              <a:t>• Acct 1110 AR Unbilled ($942,177) and Acct 2380 Customer Deposits ($120,000).</a:t>
            </a:r>
          </a:p>
          <a:p>
            <a:r>
              <a:rPr sz="1000" b="0" i="0">
                <a:solidFill>
                  <a:srgbClr val="CCCCCC"/>
                </a:solidFill>
                <a:latin typeface="Calibri"/>
              </a:rPr>
              <a:t>• Clear start-billings on shipped tanks; post Jul–Sep 2026 revenue-recognition entries.</a:t>
            </a:r>
          </a:p>
          <a:p>
            <a:r>
              <a:rPr sz="1000" b="0" i="0">
                <a:solidFill>
                  <a:srgbClr val="CCCCCC"/>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82880" y="3675887"/>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F26A21"/>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FFFFFF"/>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a:solidFill>
                  <a:srgbClr val="CCCCCC"/>
                </a:solidFill>
                <a:latin typeface="Calibri"/>
              </a:rPr>
              <a:t>Authorize Exos to use the QB data to evaluate compatible ERP/MRP and inventory systems.</a:t>
            </a:r>
          </a:p>
          <a:p>
            <a:r>
              <a:rPr sz="1000" b="0" i="0">
                <a:solidFill>
                  <a:srgbClr val="CCCCCC"/>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F26A21"/>
                </a:solidFill>
                <a:latin typeface="Calibri"/>
              </a:rPr>
              <a:t>Governance: John Quinn abstains on Motions 1 and 4 (Exos is the counterparty); Motions 2 and 3 are decided by the full Board.</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888888"/>
                </a:solidFill>
                <a:latin typeface="Calibri"/>
              </a:rPr>
              <a:t>CONFIDENTIAL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114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FFFFFF"/>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888888"/>
                </a:solidFill>
                <a:latin typeface="Calibri"/>
              </a:rPr>
              <a:t>Slides 1-4 of 5</a:t>
            </a:r>
          </a:p>
        </p:txBody>
      </p:sp>
      <p:sp>
        <p:nvSpPr>
          <p:cNvPr id="7" name="Rectangle 6"/>
          <p:cNvSpPr/>
          <p:nvPr/>
        </p:nvSpPr>
        <p:spPr>
          <a:xfrm>
            <a:off x="201168" y="512064"/>
            <a:ext cx="8741664" cy="393192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512064"/>
            <a:ext cx="8741664" cy="22860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512064"/>
            <a:ext cx="8741664" cy="10972"/>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539496"/>
            <a:ext cx="320040" cy="201168"/>
          </a:xfrm>
          <a:prstGeom prst="rect">
            <a:avLst/>
          </a:prstGeom>
          <a:noFill/>
        </p:spPr>
        <p:txBody>
          <a:bodyPr wrap="square">
            <a:spAutoFit/>
          </a:bodyPr>
          <a:lstStyle/>
          <a:p>
            <a:pPr algn="l"/>
            <a:r>
              <a:rPr sz="1800" b="1" i="0">
                <a:solidFill>
                  <a:srgbClr val="FFCC44"/>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100" b="1" i="0">
                <a:solidFill>
                  <a:srgbClr val="FFCC44"/>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a:solidFill>
                  <a:srgbClr val="FFFFFF"/>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a:solidFill>
                  <a:srgbClr val="FFFFFF"/>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a:solidFill>
                  <a:srgbClr val="FFFFFF"/>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4562855"/>
            <a:ext cx="8485632" cy="292608"/>
          </a:xfrm>
          <a:prstGeom prst="rect">
            <a:avLst/>
          </a:prstGeom>
          <a:noFill/>
        </p:spPr>
        <p:txBody>
          <a:bodyPr wrap="square">
            <a:spAutoFit/>
          </a:bodyPr>
          <a:lstStyle/>
          <a:p>
            <a:r>
              <a:rPr lang="en-US" sz="1000">
                <a:solidFill>
                  <a:srgbClr val="888888"/>
                </a:solidFill>
                <a:latin typeface="Calibri"/>
              </a:rPr>
              <a:t>Governance: Interested directors J. Wertz and A. Wertz abstain on Motion 5 (Cal. Corp. Code §310). Motion 5 is decided by the disinterested directors: J. Quinn, M. Rufer, R. Conger.</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p/>
        </p:txBody>
      </p:sp>
      <p:sp>
        <p:nvSpPr>
          <p:cNvPr id="5" name="Shape 2"/>
          <p:cNvSpPr/>
          <p:nvPr/>
        </p:nvSpPr>
        <p:spPr>
          <a:xfrm>
            <a:off x="1024128" y="1426464"/>
            <a:ext cx="0" cy="201168"/>
          </a:xfrm>
          <a:prstGeom prst="line">
            <a:avLst/>
          </a:prstGeom>
          <a:noFill/>
          <a:ln w="12700">
            <a:solidFill>
              <a:srgbClr val="F26A21"/>
            </a:solidFill>
            <a:prstDash val="solid"/>
          </a:ln>
        </p:spPr>
        <p:txBody>
          <a:bodyPr/>
          <a:p/>
        </p:txBody>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txBody>
          <a:bodyPr/>
          <a:p/>
        </p:txBody>
      </p:sp>
      <p:sp>
        <p:nvSpPr>
          <p:cNvPr id="7" name="Text 4"/>
          <p:cNvSpPr txBox="1"/>
          <p:nvPr/>
        </p:nvSpPr>
        <p:spPr>
          <a:xfrm>
            <a:off x="548640" y="978408"/>
            <a:ext cx="512064" cy="384048"/>
          </a:xfrm>
          <a:prstGeom prst="rect">
            <a:avLst/>
          </a:prstGeom>
          <a:noFill/>
          <a:ln/>
        </p:spPr>
        <p:txBody>
          <a:bodyPr wrap="square" rtlCol="0" anchor="ctr"/>
          <a:lstStyle/>
          <a:p>
            <a:pPr algn="ctr" indent="0" marL="0">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indent="0" marL="0">
              <a:buNone/>
            </a:pPr>
            <a:r>
              <a:rPr lang="en-US" sz="1400" b="1" dirty="0">
                <a:solidFill>
                  <a:srgbClr val="FFFFFF"/>
                </a:solidFill>
              </a:rPr>
              <a:t>Board Votes — Five Motions</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indent="0" marL="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txBody>
          <a:bodyPr/>
          <a:p/>
        </p:txBody>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txBody>
          <a:bodyPr/>
          <a:p/>
        </p:txBody>
      </p:sp>
      <p:sp>
        <p:nvSpPr>
          <p:cNvPr id="12" name="Text 9"/>
          <p:cNvSpPr txBox="1"/>
          <p:nvPr/>
        </p:nvSpPr>
        <p:spPr>
          <a:xfrm>
            <a:off x="548640" y="1673352"/>
            <a:ext cx="512064" cy="384048"/>
          </a:xfrm>
          <a:prstGeom prst="rect">
            <a:avLst/>
          </a:prstGeom>
          <a:noFill/>
          <a:ln/>
        </p:spPr>
        <p:txBody>
          <a:bodyPr wrap="square" rtlCol="0" anchor="ctr"/>
          <a:lstStyle/>
          <a:p>
            <a:pPr algn="ctr" indent="0" marL="0">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indent="0" marL="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indent="0" marL="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txBody>
          <a:bodyPr/>
          <a:p/>
        </p:txBody>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txBody>
          <a:bodyPr/>
          <a:p/>
        </p:txBody>
      </p:sp>
      <p:sp>
        <p:nvSpPr>
          <p:cNvPr id="17" name="Text 14"/>
          <p:cNvSpPr txBox="1"/>
          <p:nvPr/>
        </p:nvSpPr>
        <p:spPr>
          <a:xfrm>
            <a:off x="548640" y="2368296"/>
            <a:ext cx="512064" cy="384048"/>
          </a:xfrm>
          <a:prstGeom prst="rect">
            <a:avLst/>
          </a:prstGeom>
          <a:noFill/>
          <a:ln/>
        </p:spPr>
        <p:txBody>
          <a:bodyPr wrap="square" rtlCol="0" anchor="ctr"/>
          <a:lstStyle/>
          <a:p>
            <a:pPr algn="ctr" indent="0" marL="0">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indent="0" marL="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indent="0" marL="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txBody>
          <a:bodyPr/>
          <a:p/>
        </p:txBody>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txBody>
          <a:bodyPr/>
          <a:p/>
        </p:txBody>
      </p:sp>
      <p:sp>
        <p:nvSpPr>
          <p:cNvPr id="22" name="Text 19"/>
          <p:cNvSpPr txBox="1"/>
          <p:nvPr/>
        </p:nvSpPr>
        <p:spPr>
          <a:xfrm>
            <a:off x="548640" y="3063240"/>
            <a:ext cx="512064" cy="384048"/>
          </a:xfrm>
          <a:prstGeom prst="rect">
            <a:avLst/>
          </a:prstGeom>
          <a:noFill/>
          <a:ln/>
        </p:spPr>
        <p:txBody>
          <a:bodyPr wrap="square" rtlCol="0" anchor="ctr"/>
          <a:lstStyle/>
          <a:p>
            <a:pPr algn="ctr" indent="0" marL="0">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indent="0" marL="0">
              <a:buNone/>
            </a:pPr>
            <a:r>
              <a:rPr lang="en-US" sz="1400" b="1" dirty="0">
                <a:solidFill>
                  <a:srgbClr val="FFFFFF"/>
                </a:solidFill>
              </a:rPr>
              <a:t>Financing Close — target Feb 15th</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indent="0" marL="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txBody>
          <a:bodyPr/>
          <a:p/>
        </p:txBody>
      </p:sp>
      <p:sp>
        <p:nvSpPr>
          <p:cNvPr id="26" name="Text 23"/>
          <p:cNvSpPr txBox="1"/>
          <p:nvPr/>
        </p:nvSpPr>
        <p:spPr>
          <a:xfrm>
            <a:off x="548640" y="3758184"/>
            <a:ext cx="512064" cy="384048"/>
          </a:xfrm>
          <a:prstGeom prst="rect">
            <a:avLst/>
          </a:prstGeom>
          <a:noFill/>
          <a:ln/>
        </p:spPr>
        <p:txBody>
          <a:bodyPr wrap="square" rtlCol="0" anchor="ctr"/>
          <a:lstStyle/>
          <a:p>
            <a:pPr algn="ctr" indent="0" marL="0">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indent="0" marL="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indent="0" marL="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407408"/>
            <a:ext cx="8412480" cy="402336"/>
          </a:xfrm>
          <a:prstGeom prst="rect">
            <a:avLst/>
          </a:prstGeom>
          <a:solidFill>
            <a:srgbClr val="2A1000"/>
          </a:solidFill>
          <a:ln w="12700">
            <a:solidFill>
              <a:srgbClr val="F26A21"/>
            </a:solidFill>
            <a:prstDash val="solid"/>
          </a:ln>
        </p:spPr>
        <p:txBody>
          <a:bodyPr/>
          <a:p/>
        </p:txBody>
      </p:sp>
      <p:sp>
        <p:nvSpPr>
          <p:cNvPr id="30" name="Text 27"/>
          <p:cNvSpPr txBox="1"/>
          <p:nvPr/>
        </p:nvSpPr>
        <p:spPr>
          <a:xfrm>
            <a:off x="502920" y="4443984"/>
            <a:ext cx="8229600" cy="329184"/>
          </a:xfrm>
          <a:prstGeom prst="rect">
            <a:avLst/>
          </a:prstGeom>
          <a:noFill/>
          <a:ln/>
        </p:spPr>
        <p:txBody>
          <a:bodyPr wrap="square" rtlCol="0" anchor="ctr"/>
          <a:lstStyle/>
          <a:p>
            <a:pPr algn="ctr" indent="0" marL="0">
              <a:buNone/>
            </a:pPr>
            <a:r>
              <a:rPr lang="en-US" sz="1000" b="1" dirty="0">
                <a:solidFill>
                  <a:srgbClr val="F26A21"/>
                </a:solidFill>
              </a:rPr>
              <a:t>The Board is asked today to vote on Motions 1–5: approving the Exos offer and granting exclusivity + ROFR (Motion 1), QB access (Motion 2), accounting correction (Motion 3), and ERP evaluation (Motion 4). Declining Motion 1 is a judgment that SSLC alone — without new capital — is more likely to create more than the $18.9M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2026-10-10T23:08:01Z</dcterms:created>
  <dcterms:modified xsi:type="dcterms:W3CDTF">2026-10-10T23:08:01Z</dcterms:modified>
</cp:coreProperties>
</file>