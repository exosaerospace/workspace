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9" r:id="rId20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jpe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jpg"/><Relationship Id="rId15" Type="http://schemas.openxmlformats.org/officeDocument/2006/relationships/image" Target="../media/image16.jpg"/><Relationship Id="rId16" Type="http://schemas.openxmlformats.org/officeDocument/2006/relationships/image" Target="../media/image17.tiff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os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877367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9659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EXOS AEROSPACE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DCE6F0"/>
                </a:solidFill>
                <a:latin typeface="Helvetica Neue"/>
              </a:rPr>
              <a:t>AI-Native Industrial Power for the Space &amp; Defense Industrial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6"/>
                </a:solidFill>
                <a:latin typeface="Helvetica Neue"/>
              </a:rPr>
              <a:t>Reusable flight-test platform  ·  TRL-9 lunar-proven composites  ·  the consortium that re-industrializes space &amp; defense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Profitable (2025)  ·  Raising a $10M Series A  ·  October 2026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675"/>
                </a:solidFill>
                <a:latin typeface="Helvetica Neue"/>
              </a:rPr>
              <a:t>John Quinn, Cofounder &amp; CEO  ·  jquinn@exosaero.com  ·  www.exosaero.com   |  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Three waves converge — and Exos sits at the intersection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$20T PHYSICAL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AI conquered software; the physical world is next. Almost no one can apply AI to real flight hardware. Exos already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4146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INDUSTRIAL-BASE IMPERATIVE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4146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Congress and DoD are re-industrializing for surge to 2045. Capital is moving to dual-use hardware and dormant capacity — Exos's exact lane.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036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3036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4204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CAPITAL WAVE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4204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The SpaceX IPO and record defense spending are pulling institutional capital into space-defense hardware. The window to enter at this basis is 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Helvetica Neue"/>
              </a:rPr>
              <a:t>Exos is the rare asset that is all three at once: a profitable, licensed, reusable hardware operator, running AI-native, holding lunar-proven 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FOUR CORE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Three technical assets, compounded by a fourth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63624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1 · SCORPIUS TYPE-5 CRYO TANK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75688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TRL-9 linerless composite cryogenic tanks, flight-proven on Intuitive Machines' IM-1 and IM-2. Exos owns 18% today; the Series A completes our acquisition and brings the technology fully in-house.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417320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417320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4175" y="1563624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2 · REUSABLE SUBORBITAL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4175" y="2075688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BLK3 — one of only three FAA-licensed reusable rocket launch providers in the U.S. Recoverable, high-cadence, minimal fixed infrastructure.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84448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3 · RDRE / ADVANCED PROPULSION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242816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Active USAF SBIR Phase II on a government-furnished RDRE, opening a sole-source Phase III path with no dollar ceiling. Next-gen propulsion via a structured trade study (Exos is the flight-test integrator, not a propulsion provider).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584448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584448"/>
            <a:ext cx="5455767" cy="381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4175" y="3730752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4 · AI-DEPLOYED OPERATING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75" y="4242816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Mission Control plus a governed agent fleet run BD, capture, compliance, and operations. A compounding, owned decision-and-audit-trail asset — capital-efficient and ITAR/CUI-safe.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Helvetica Neue"/>
              </a:rPr>
              <a:t>Assets 1–3 are the hardware and IP; #4 is the operating system that compounds them — management-characterized, a moat, not a separate line item. Single valuation of record: $169.7M.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05F5189F-7000-F349-8F07-549B491CE0DE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74878" y="3381363"/>
            <a:ext cx="11417123" cy="2036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97CC9A0-2882-2743-A0BA-3C78230875D7}"/>
              </a:ext>
            </a:extLst>
          </p:cNvPr>
          <p:cNvGrpSpPr/>
          <p:nvPr/>
        </p:nvGrpSpPr>
        <p:grpSpPr>
          <a:xfrm>
            <a:off x="-6795" y="-7680"/>
            <a:ext cx="1423729" cy="2405984"/>
            <a:chOff x="-6796" y="-7680"/>
            <a:chExt cx="1423729" cy="2405984"/>
          </a:xfrm>
        </p:grpSpPr>
        <p:sp>
          <p:nvSpPr>
            <p:cNvPr id="2" name="Text Placeholder 29">
              <a:extLst>
                <a:ext uri="{FF2B5EF4-FFF2-40B4-BE49-F238E27FC236}">
                  <a16:creationId xmlns:a16="http://schemas.microsoft.com/office/drawing/2014/main" id="{0134226A-4BE6-B644-994F-1D1228F619F6}"/>
                </a:ext>
              </a:extLst>
            </p:cNvPr>
            <p:cNvSpPr txBox="1">
              <a:spLocks/>
            </p:cNvSpPr>
            <p:nvPr/>
          </p:nvSpPr>
          <p:spPr>
            <a:xfrm>
              <a:off x="93734" y="1729890"/>
              <a:ext cx="1047990" cy="668414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Armadillo Aerospace Founded by John Carmack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40D61C-0BD0-4047-99BF-216FCA510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832" r="7819"/>
            <a:stretch/>
          </p:blipFill>
          <p:spPr>
            <a:xfrm>
              <a:off x="-6796" y="-7680"/>
              <a:ext cx="1423729" cy="1223696"/>
            </a:xfrm>
            <a:prstGeom prst="rect">
              <a:avLst/>
            </a:prstGeom>
          </p:spPr>
        </p:pic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7D382C9-9F43-AC48-A2DD-48DAF2C85417}"/>
              </a:ext>
            </a:extLst>
          </p:cNvPr>
          <p:cNvGrpSpPr/>
          <p:nvPr/>
        </p:nvGrpSpPr>
        <p:grpSpPr>
          <a:xfrm>
            <a:off x="76201" y="3861926"/>
            <a:ext cx="1204347" cy="2984483"/>
            <a:chOff x="1352913" y="3854267"/>
            <a:chExt cx="1204347" cy="2984483"/>
          </a:xfrm>
        </p:grpSpPr>
        <p:sp>
          <p:nvSpPr>
            <p:cNvPr id="50" name="Text Placeholder 28">
              <a:extLst>
                <a:ext uri="{FF2B5EF4-FFF2-40B4-BE49-F238E27FC236}">
                  <a16:creationId xmlns:a16="http://schemas.microsoft.com/office/drawing/2014/main" id="{9B629466-F313-5B43-AA9F-24DD372A948B}"/>
                </a:ext>
              </a:extLst>
            </p:cNvPr>
            <p:cNvSpPr txBox="1">
              <a:spLocks/>
            </p:cNvSpPr>
            <p:nvPr/>
          </p:nvSpPr>
          <p:spPr>
            <a:xfrm>
              <a:off x="1370447" y="3854267"/>
              <a:ext cx="1179272" cy="83703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 dirty="0">
                  <a:solidFill>
                    <a:prstClr val="white">
                      <a:tint val="75000"/>
                    </a:prstClr>
                  </a:solidFill>
                  <a:sym typeface="Arial"/>
                </a:rPr>
                <a:t> X-Prize Competition w/Pixel and Texel Round 1 Winners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18ED0C30-928B-9042-AC56-19102AC67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2913" y="5752903"/>
              <a:ext cx="1204347" cy="1085847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D751345-26E3-C341-878A-A5CE9E689EB1}"/>
              </a:ext>
            </a:extLst>
          </p:cNvPr>
          <p:cNvGrpSpPr/>
          <p:nvPr/>
        </p:nvGrpSpPr>
        <p:grpSpPr>
          <a:xfrm>
            <a:off x="1447801" y="0"/>
            <a:ext cx="995353" cy="2434792"/>
            <a:chOff x="2294784" y="1264"/>
            <a:chExt cx="995353" cy="2434792"/>
          </a:xfrm>
        </p:grpSpPr>
        <p:sp>
          <p:nvSpPr>
            <p:cNvPr id="52" name="Text Placeholder 31">
              <a:extLst>
                <a:ext uri="{FF2B5EF4-FFF2-40B4-BE49-F238E27FC236}">
                  <a16:creationId xmlns:a16="http://schemas.microsoft.com/office/drawing/2014/main" id="{8AFE6FE1-A6FB-554B-8D70-CEC726AFC554}"/>
                </a:ext>
              </a:extLst>
            </p:cNvPr>
            <p:cNvSpPr txBox="1">
              <a:spLocks/>
            </p:cNvSpPr>
            <p:nvPr/>
          </p:nvSpPr>
          <p:spPr>
            <a:xfrm>
              <a:off x="2309841" y="1774749"/>
              <a:ext cx="980296" cy="66130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Lunar Lander Challenge 1</a:t>
              </a:r>
              <a:r>
                <a:rPr lang="en-US" sz="1200" baseline="30000" dirty="0">
                  <a:solidFill>
                    <a:prstClr val="white"/>
                  </a:solidFill>
                  <a:sym typeface="Arial"/>
                </a:rPr>
                <a:t>st</a:t>
              </a: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 Place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1D16C87-7D80-F342-A24D-9B4F977C1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94784" y="1264"/>
              <a:ext cx="873950" cy="1202595"/>
            </a:xfrm>
            <a:prstGeom prst="rect">
              <a:avLst/>
            </a:prstGeom>
          </p:spPr>
        </p:pic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CA0F7DE-FA5B-AC42-A5A6-AAA615674B4E}"/>
              </a:ext>
            </a:extLst>
          </p:cNvPr>
          <p:cNvGrpSpPr/>
          <p:nvPr/>
        </p:nvGrpSpPr>
        <p:grpSpPr>
          <a:xfrm>
            <a:off x="1334350" y="3689003"/>
            <a:ext cx="1421163" cy="3165022"/>
            <a:chOff x="2652891" y="3689002"/>
            <a:chExt cx="1421163" cy="3165022"/>
          </a:xfrm>
        </p:grpSpPr>
        <p:sp>
          <p:nvSpPr>
            <p:cNvPr id="64" name="Text Placeholder 30">
              <a:extLst>
                <a:ext uri="{FF2B5EF4-FFF2-40B4-BE49-F238E27FC236}">
                  <a16:creationId xmlns:a16="http://schemas.microsoft.com/office/drawing/2014/main" id="{94F49064-4A41-9B4B-8A3E-DE0C19202185}"/>
                </a:ext>
              </a:extLst>
            </p:cNvPr>
            <p:cNvSpPr txBox="1">
              <a:spLocks/>
            </p:cNvSpPr>
            <p:nvPr/>
          </p:nvSpPr>
          <p:spPr>
            <a:xfrm>
              <a:off x="2652891" y="3689002"/>
              <a:ext cx="1301208" cy="1177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 dirty="0">
                  <a:solidFill>
                    <a:prstClr val="white">
                      <a:tint val="75000"/>
                    </a:prstClr>
                  </a:solidFill>
                  <a:sym typeface="Arial"/>
                </a:rPr>
                <a:t>Lunar lander Challenge2009 Armadillo prize $ winner- NASA Morpheus Sale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F3EE0CA-C51F-FA49-858F-6605AB5D1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90142" y="5760562"/>
              <a:ext cx="1383912" cy="1093462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755081C-60D2-DB48-8DBC-DCFE562F53F7}"/>
              </a:ext>
            </a:extLst>
          </p:cNvPr>
          <p:cNvGrpSpPr/>
          <p:nvPr/>
        </p:nvGrpSpPr>
        <p:grpSpPr>
          <a:xfrm>
            <a:off x="2330660" y="-4627"/>
            <a:ext cx="1550463" cy="2245769"/>
            <a:chOff x="2516713" y="12957"/>
            <a:chExt cx="2696293" cy="4058372"/>
          </a:xfrm>
        </p:grpSpPr>
        <p:sp>
          <p:nvSpPr>
            <p:cNvPr id="111" name="Text Placeholder 33">
              <a:extLst>
                <a:ext uri="{FF2B5EF4-FFF2-40B4-BE49-F238E27FC236}">
                  <a16:creationId xmlns:a16="http://schemas.microsoft.com/office/drawing/2014/main" id="{7B7F0C78-F6B8-864A-BDB5-DF3758C31578}"/>
                </a:ext>
              </a:extLst>
            </p:cNvPr>
            <p:cNvSpPr txBox="1">
              <a:spLocks/>
            </p:cNvSpPr>
            <p:nvPr/>
          </p:nvSpPr>
          <p:spPr>
            <a:xfrm>
              <a:off x="3021265" y="3234291"/>
              <a:ext cx="1840514" cy="83703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Rocket Racing League  development program</a:t>
              </a: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E2744DA-1242-8240-BA05-20707829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6713" y="12957"/>
              <a:ext cx="2696293" cy="2236248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4A6F9BE-F17E-D842-AD5F-39182FA2099B}"/>
              </a:ext>
            </a:extLst>
          </p:cNvPr>
          <p:cNvGrpSpPr/>
          <p:nvPr/>
        </p:nvGrpSpPr>
        <p:grpSpPr>
          <a:xfrm>
            <a:off x="2847158" y="3861564"/>
            <a:ext cx="1301824" cy="3005478"/>
            <a:chOff x="10370476" y="3852521"/>
            <a:chExt cx="1301824" cy="3005478"/>
          </a:xfrm>
        </p:grpSpPr>
        <p:sp>
          <p:nvSpPr>
            <p:cNvPr id="115" name="Text Placeholder 32">
              <a:extLst>
                <a:ext uri="{FF2B5EF4-FFF2-40B4-BE49-F238E27FC236}">
                  <a16:creationId xmlns:a16="http://schemas.microsoft.com/office/drawing/2014/main" id="{9800EAC4-26D8-3E43-88E1-8DBC2DF7B2DE}"/>
                </a:ext>
              </a:extLst>
            </p:cNvPr>
            <p:cNvSpPr txBox="1">
              <a:spLocks/>
            </p:cNvSpPr>
            <p:nvPr/>
          </p:nvSpPr>
          <p:spPr>
            <a:xfrm>
              <a:off x="10406362" y="3852521"/>
              <a:ext cx="1256137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latin typeface="Duplicate Sans Medium" pitchFamily="2" charset="77"/>
                  <a:sym typeface="Arial"/>
                </a:rPr>
                <a:t>2010-2013</a:t>
              </a:r>
              <a:r>
                <a:rPr lang="en-US" dirty="0">
                  <a:solidFill>
                    <a:prstClr val="white"/>
                  </a:solidFill>
                  <a:sym typeface="Arial"/>
                </a:rPr>
                <a:t> STIG Rocket flies to 95km</a:t>
              </a:r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AA1FFEEA-2509-B94C-B49A-E866AD2FF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70477" y="5755678"/>
              <a:ext cx="909394" cy="110232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D388C5FD-7DC7-394A-83BA-A97CC5617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70476" y="5735318"/>
              <a:ext cx="441114" cy="545826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514848F5-FDDB-0848-A81B-26D9FD894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325203" y="5746746"/>
              <a:ext cx="347097" cy="111125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02C090-3748-EE41-9733-27DA275AE7B4}"/>
              </a:ext>
            </a:extLst>
          </p:cNvPr>
          <p:cNvGrpSpPr/>
          <p:nvPr/>
        </p:nvGrpSpPr>
        <p:grpSpPr>
          <a:xfrm>
            <a:off x="458331" y="2662318"/>
            <a:ext cx="316547" cy="897677"/>
            <a:chOff x="458330" y="2662318"/>
            <a:chExt cx="316547" cy="89767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8BA7303-DE4C-904C-832D-4FBC8EA2BAA3}"/>
                </a:ext>
              </a:extLst>
            </p:cNvPr>
            <p:cNvGrpSpPr/>
            <p:nvPr/>
          </p:nvGrpSpPr>
          <p:grpSpPr>
            <a:xfrm>
              <a:off x="458330" y="3243448"/>
              <a:ext cx="316547" cy="316547"/>
              <a:chOff x="762004" y="3201390"/>
              <a:chExt cx="457195" cy="457195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FCBBC82-AC46-9B4E-91EC-83CEDA239615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757FD6F-726E-9846-A73A-FE48459EBD85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559950-0179-9947-9CB8-326A3154920E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2DA4D71-EFF6-FB46-BF9C-B59369DE4744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616603" y="2662318"/>
              <a:ext cx="0" cy="59399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3E420DB-D41C-EC48-A371-C917AFDF0950}"/>
              </a:ext>
            </a:extLst>
          </p:cNvPr>
          <p:cNvSpPr/>
          <p:nvPr/>
        </p:nvSpPr>
        <p:spPr>
          <a:xfrm>
            <a:off x="370857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791FC6-4928-2F4D-8D14-BA5D589831A9}"/>
              </a:ext>
            </a:extLst>
          </p:cNvPr>
          <p:cNvSpPr/>
          <p:nvPr/>
        </p:nvSpPr>
        <p:spPr>
          <a:xfrm rot="10800000">
            <a:off x="1000471" y="3257328"/>
            <a:ext cx="316547" cy="316547"/>
          </a:xfrm>
          <a:prstGeom prst="ellipse">
            <a:avLst/>
          </a:prstGeom>
          <a:noFill/>
          <a:ln w="3810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384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9B06481-E239-C04A-A089-FCCD4A1F48B0}"/>
              </a:ext>
            </a:extLst>
          </p:cNvPr>
          <p:cNvCxnSpPr>
            <a:cxnSpLocks/>
          </p:cNvCxnSpPr>
          <p:nvPr/>
        </p:nvCxnSpPr>
        <p:spPr>
          <a:xfrm flipH="1">
            <a:off x="6179300" y="4260467"/>
            <a:ext cx="440107" cy="68376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FDBAE9B-9D8C-6347-81D4-369DC63E7832}"/>
              </a:ext>
            </a:extLst>
          </p:cNvPr>
          <p:cNvSpPr/>
          <p:nvPr/>
        </p:nvSpPr>
        <p:spPr>
          <a:xfrm>
            <a:off x="4157499" y="3232194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181" name="Text Placeholder 32">
            <a:extLst>
              <a:ext uri="{FF2B5EF4-FFF2-40B4-BE49-F238E27FC236}">
                <a16:creationId xmlns:a16="http://schemas.microsoft.com/office/drawing/2014/main" id="{D3788FEE-C5AD-CC43-B5E5-2EAF73969D9D}"/>
              </a:ext>
            </a:extLst>
          </p:cNvPr>
          <p:cNvSpPr txBox="1">
            <a:spLocks/>
          </p:cNvSpPr>
          <p:nvPr/>
        </p:nvSpPr>
        <p:spPr>
          <a:xfrm>
            <a:off x="3684237" y="1774751"/>
            <a:ext cx="1330540" cy="384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84">
              <a:buNone/>
              <a:defRPr/>
            </a:pPr>
            <a:r>
              <a:rPr lang="en-US" sz="1200" dirty="0">
                <a:solidFill>
                  <a:prstClr val="white"/>
                </a:solidFill>
                <a:sym typeface="Arial"/>
              </a:rPr>
              <a:t>Super Mod</a:t>
            </a:r>
          </a:p>
          <a:p>
            <a:pPr marL="0" indent="0" algn="ctr" defTabSz="914384">
              <a:buNone/>
              <a:defRPr/>
            </a:pPr>
            <a:r>
              <a:rPr lang="en-US" sz="1200" dirty="0">
                <a:solidFill>
                  <a:prstClr val="white"/>
                </a:solidFill>
                <a:sym typeface="Arial"/>
              </a:rPr>
              <a:t>(VTVL)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195BAC4E-5D8F-0142-9316-20DAF4D3054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3436"/>
          <a:stretch/>
        </p:blipFill>
        <p:spPr>
          <a:xfrm>
            <a:off x="3898333" y="-7679"/>
            <a:ext cx="945249" cy="1215387"/>
          </a:xfrm>
          <a:prstGeom prst="rect">
            <a:avLst/>
          </a:prstGeom>
        </p:spPr>
      </p:pic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3FC663D2-0D67-824C-8442-C6FB3023AB64}"/>
              </a:ext>
            </a:extLst>
          </p:cNvPr>
          <p:cNvCxnSpPr>
            <a:cxnSpLocks/>
            <a:stCxn id="179" idx="0"/>
          </p:cNvCxnSpPr>
          <p:nvPr/>
        </p:nvCxnSpPr>
        <p:spPr>
          <a:xfrm flipV="1">
            <a:off x="4407845" y="2660154"/>
            <a:ext cx="0" cy="57605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EB1963F-7B5D-754D-B655-579A9D2FC104}"/>
              </a:ext>
            </a:extLst>
          </p:cNvPr>
          <p:cNvGrpSpPr/>
          <p:nvPr/>
        </p:nvGrpSpPr>
        <p:grpSpPr>
          <a:xfrm>
            <a:off x="4153036" y="3824829"/>
            <a:ext cx="1780283" cy="3006793"/>
            <a:chOff x="1078123" y="3862798"/>
            <a:chExt cx="1780283" cy="3006793"/>
          </a:xfrm>
        </p:grpSpPr>
        <p:sp>
          <p:nvSpPr>
            <p:cNvPr id="202" name="Text Placeholder 32">
              <a:extLst>
                <a:ext uri="{FF2B5EF4-FFF2-40B4-BE49-F238E27FC236}">
                  <a16:creationId xmlns:a16="http://schemas.microsoft.com/office/drawing/2014/main" id="{7569ED2E-CB43-4F48-89A2-92A0F234B407}"/>
                </a:ext>
              </a:extLst>
            </p:cNvPr>
            <p:cNvSpPr txBox="1">
              <a:spLocks/>
            </p:cNvSpPr>
            <p:nvPr/>
          </p:nvSpPr>
          <p:spPr>
            <a:xfrm>
              <a:off x="1078123" y="3862798"/>
              <a:ext cx="169242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Exos Aerospace continues funding of Armadillo Team with new management and commercial objectives</a:t>
              </a:r>
            </a:p>
          </p:txBody>
        </p:sp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C6FEB611-574D-FB42-85E7-438A8690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85382" y="5758403"/>
              <a:ext cx="1673024" cy="1111188"/>
            </a:xfrm>
            <a:prstGeom prst="rect">
              <a:avLst/>
            </a:prstGeom>
          </p:spPr>
        </p:pic>
      </p:grpSp>
      <p:sp>
        <p:nvSpPr>
          <p:cNvPr id="224" name="Text Placeholder 32">
            <a:extLst>
              <a:ext uri="{FF2B5EF4-FFF2-40B4-BE49-F238E27FC236}">
                <a16:creationId xmlns:a16="http://schemas.microsoft.com/office/drawing/2014/main" id="{317E6F62-0FFA-1A4A-8F24-C46C10827361}"/>
              </a:ext>
            </a:extLst>
          </p:cNvPr>
          <p:cNvSpPr txBox="1">
            <a:spLocks/>
          </p:cNvSpPr>
          <p:nvPr/>
        </p:nvSpPr>
        <p:spPr>
          <a:xfrm>
            <a:off x="4979487" y="1695205"/>
            <a:ext cx="1611297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4 Launches and 3 recoveries on 1</a:t>
            </a:r>
            <a:r>
              <a:rPr lang="en-US" baseline="30000" dirty="0">
                <a:solidFill>
                  <a:prstClr val="white"/>
                </a:solidFill>
                <a:sym typeface="Arial"/>
              </a:rPr>
              <a:t>st </a:t>
            </a:r>
            <a:r>
              <a:rPr lang="en-US" dirty="0">
                <a:solidFill>
                  <a:prstClr val="white"/>
                </a:solidFill>
                <a:sym typeface="Arial"/>
              </a:rPr>
              <a:t> SARGE vehicle</a:t>
            </a:r>
          </a:p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Duplicate Sans Medium" pitchFamily="2" charset="77"/>
                <a:sym typeface="Arial"/>
              </a:rPr>
              <a:t>Aug 2018 – Oct 2019</a:t>
            </a: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225" name="Picture 224">
            <a:extLst>
              <a:ext uri="{FF2B5EF4-FFF2-40B4-BE49-F238E27FC236}">
                <a16:creationId xmlns:a16="http://schemas.microsoft.com/office/drawing/2014/main" id="{839BA090-4058-F244-9834-F51CE5F59A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3721" y="-32336"/>
            <a:ext cx="994885" cy="1231761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01161775-7701-6445-BAF8-B83595F4D6E0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81"/>
          <a:stretch/>
        </p:blipFill>
        <p:spPr>
          <a:xfrm>
            <a:off x="4901029" y="-24011"/>
            <a:ext cx="746824" cy="1223436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59E856E3-0134-A349-B382-39FB07E31B7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6398" y="-38609"/>
            <a:ext cx="592559" cy="395039"/>
          </a:xfrm>
          <a:prstGeom prst="rect">
            <a:avLst/>
          </a:prstGeom>
        </p:spPr>
      </p:pic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7FBA38D-3624-324C-A353-15294698B577}"/>
              </a:ext>
            </a:extLst>
          </p:cNvPr>
          <p:cNvGrpSpPr/>
          <p:nvPr/>
        </p:nvGrpSpPr>
        <p:grpSpPr>
          <a:xfrm>
            <a:off x="6089400" y="3959646"/>
            <a:ext cx="1964807" cy="2871977"/>
            <a:chOff x="4118160" y="4185575"/>
            <a:chExt cx="2210315" cy="2996494"/>
          </a:xfrm>
        </p:grpSpPr>
        <p:sp>
          <p:nvSpPr>
            <p:cNvPr id="238" name="Text Placeholder 32">
              <a:extLst>
                <a:ext uri="{FF2B5EF4-FFF2-40B4-BE49-F238E27FC236}">
                  <a16:creationId xmlns:a16="http://schemas.microsoft.com/office/drawing/2014/main" id="{735AC0AF-F008-C84F-8442-A7DF7D886174}"/>
                </a:ext>
              </a:extLst>
            </p:cNvPr>
            <p:cNvSpPr txBox="1">
              <a:spLocks/>
            </p:cNvSpPr>
            <p:nvPr/>
          </p:nvSpPr>
          <p:spPr>
            <a:xfrm>
              <a:off x="4469736" y="4185575"/>
              <a:ext cx="142933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2021 Phase II Air Force Hypersonic Contract</a:t>
              </a:r>
            </a:p>
          </p:txBody>
        </p:sp>
        <p:pic>
          <p:nvPicPr>
            <p:cNvPr id="240" name="Picture 239">
              <a:extLst>
                <a:ext uri="{FF2B5EF4-FFF2-40B4-BE49-F238E27FC236}">
                  <a16:creationId xmlns:a16="http://schemas.microsoft.com/office/drawing/2014/main" id="{64E35E0C-20F6-3A4D-A921-3195FDF01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118160" y="6037589"/>
              <a:ext cx="2210315" cy="1144480"/>
            </a:xfrm>
            <a:prstGeom prst="rect">
              <a:avLst/>
            </a:prstGeom>
          </p:spPr>
        </p:pic>
      </p:grp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9FBC1DE2-1C20-444F-B0F4-E35A37D1F2C0}"/>
              </a:ext>
            </a:extLst>
          </p:cNvPr>
          <p:cNvCxnSpPr>
            <a:cxnSpLocks/>
          </p:cNvCxnSpPr>
          <p:nvPr/>
        </p:nvCxnSpPr>
        <p:spPr>
          <a:xfrm flipH="1" flipV="1">
            <a:off x="5767673" y="2650679"/>
            <a:ext cx="1312" cy="610012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13EB33-ED6B-3949-8484-0FB238054A85}"/>
              </a:ext>
            </a:extLst>
          </p:cNvPr>
          <p:cNvGrpSpPr/>
          <p:nvPr/>
        </p:nvGrpSpPr>
        <p:grpSpPr>
          <a:xfrm>
            <a:off x="10769703" y="-437011"/>
            <a:ext cx="369332" cy="6856508"/>
            <a:chOff x="9308068" y="487595"/>
            <a:chExt cx="369332" cy="6599005"/>
          </a:xfrm>
        </p:grpSpPr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F018645-0BFB-624C-91C0-B130ABD0FB0B}"/>
                </a:ext>
              </a:extLst>
            </p:cNvPr>
            <p:cNvCxnSpPr>
              <a:cxnSpLocks/>
            </p:cNvCxnSpPr>
            <p:nvPr/>
          </p:nvCxnSpPr>
          <p:spPr>
            <a:xfrm>
              <a:off x="9632067" y="487595"/>
              <a:ext cx="0" cy="659900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8885FC4-93EE-7849-9417-0C542331D5A8}"/>
                </a:ext>
              </a:extLst>
            </p:cNvPr>
            <p:cNvSpPr txBox="1"/>
            <p:nvPr/>
          </p:nvSpPr>
          <p:spPr>
            <a:xfrm rot="16200000">
              <a:off x="9093387" y="2369760"/>
              <a:ext cx="79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84">
                <a:defRPr/>
              </a:pPr>
              <a:r>
                <a:rPr lang="en-US" dirty="0">
                  <a:solidFill>
                    <a:srgbClr val="C00000"/>
                  </a:solidFill>
                  <a:latin typeface="Duplicate Sans Light" pitchFamily="2" charset="77"/>
                  <a:cs typeface="Arial"/>
                  <a:sym typeface="Arial"/>
                </a:rPr>
                <a:t>Today</a:t>
              </a:r>
            </a:p>
          </p:txBody>
        </p:sp>
      </p:grpSp>
      <p:sp>
        <p:nvSpPr>
          <p:cNvPr id="262" name="Rectangle 261">
            <a:extLst>
              <a:ext uri="{FF2B5EF4-FFF2-40B4-BE49-F238E27FC236}">
                <a16:creationId xmlns:a16="http://schemas.microsoft.com/office/drawing/2014/main" id="{42899B24-B296-B846-8476-C4F16033E316}"/>
              </a:ext>
            </a:extLst>
          </p:cNvPr>
          <p:cNvSpPr/>
          <p:nvPr/>
        </p:nvSpPr>
        <p:spPr>
          <a:xfrm>
            <a:off x="6758112" y="1688528"/>
            <a:ext cx="16514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Italy $6.4M grant LOI.  2022 -2025 Exos Aerospace Italia </a:t>
            </a:r>
            <a:r>
              <a:rPr lang="en-US" sz="1200" dirty="0" err="1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Srl</a:t>
            </a:r>
            <a:r>
              <a:rPr lang="en-US" sz="1200" dirty="0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  work with Defense on Suborbital Air Launch   development and work with Spaceland.it on microgravity research</a:t>
            </a:r>
          </a:p>
          <a:p>
            <a:pPr defTabSz="914384">
              <a:defRPr/>
            </a:pPr>
            <a:endParaRPr lang="en-US" sz="1200" dirty="0">
              <a:solidFill>
                <a:prstClr val="white"/>
              </a:solidFill>
              <a:latin typeface="Duplicate Sans Regular" pitchFamily="2" charset="77"/>
              <a:cs typeface="Arial"/>
              <a:sym typeface="Arial"/>
            </a:endParaRPr>
          </a:p>
        </p:txBody>
      </p: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A60BE43-1378-C846-9F4C-10206CDF49ED}"/>
              </a:ext>
            </a:extLst>
          </p:cNvPr>
          <p:cNvGrpSpPr/>
          <p:nvPr/>
        </p:nvGrpSpPr>
        <p:grpSpPr>
          <a:xfrm>
            <a:off x="6647049" y="-34606"/>
            <a:ext cx="1145550" cy="1153347"/>
            <a:chOff x="8023332" y="360458"/>
            <a:chExt cx="908606" cy="1073807"/>
          </a:xfrm>
        </p:grpSpPr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9F4BBF18-51FA-CB44-B4FA-7DF24C08E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023332" y="360458"/>
              <a:ext cx="908606" cy="1073807"/>
            </a:xfrm>
            <a:prstGeom prst="rect">
              <a:avLst/>
            </a:prstGeom>
          </p:spPr>
        </p:pic>
        <p:pic>
          <p:nvPicPr>
            <p:cNvPr id="265" name="Picture 264" descr="A close up of a logo&#10;&#10;Description automatically generated">
              <a:extLst>
                <a:ext uri="{FF2B5EF4-FFF2-40B4-BE49-F238E27FC236}">
                  <a16:creationId xmlns:a16="http://schemas.microsoft.com/office/drawing/2014/main" id="{0EDFFA98-58D0-5744-A65F-6B59D9F08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464851">
              <a:off x="8340622" y="781956"/>
              <a:ext cx="399480" cy="185503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F91C66-C73F-D945-AAB0-2B19C3D96EBF}"/>
              </a:ext>
            </a:extLst>
          </p:cNvPr>
          <p:cNvGrpSpPr/>
          <p:nvPr/>
        </p:nvGrpSpPr>
        <p:grpSpPr>
          <a:xfrm>
            <a:off x="3006346" y="2660155"/>
            <a:ext cx="316547" cy="899841"/>
            <a:chOff x="3298542" y="2660154"/>
            <a:chExt cx="316547" cy="89984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3CB007D-7E63-484B-BA71-DE50F047D356}"/>
                </a:ext>
              </a:extLst>
            </p:cNvPr>
            <p:cNvCxnSpPr>
              <a:cxnSpLocks/>
              <a:stCxn id="168" idx="0"/>
            </p:cNvCxnSpPr>
            <p:nvPr/>
          </p:nvCxnSpPr>
          <p:spPr>
            <a:xfrm flipH="1" flipV="1">
              <a:off x="3448870" y="2660154"/>
              <a:ext cx="7945" cy="596156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903E3315-DE37-EB43-B540-1A79CE7DEDD7}"/>
                </a:ext>
              </a:extLst>
            </p:cNvPr>
            <p:cNvGrpSpPr/>
            <p:nvPr/>
          </p:nvGrpSpPr>
          <p:grpSpPr>
            <a:xfrm>
              <a:off x="3298542" y="3243448"/>
              <a:ext cx="316547" cy="316547"/>
              <a:chOff x="762004" y="3201390"/>
              <a:chExt cx="457195" cy="457195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45C003D3-C127-1E47-8F34-0CC4B8B75379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EC047F8A-F840-CB4C-A869-5E33AD4539BF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82BEEBC-D165-114B-866A-351851EB3295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3F907F6-0631-DC4F-9148-A9C7ACC10A69}"/>
              </a:ext>
            </a:extLst>
          </p:cNvPr>
          <p:cNvGrpSpPr/>
          <p:nvPr/>
        </p:nvGrpSpPr>
        <p:grpSpPr>
          <a:xfrm>
            <a:off x="4249572" y="3236210"/>
            <a:ext cx="316547" cy="316547"/>
            <a:chOff x="762004" y="3201390"/>
            <a:chExt cx="457195" cy="457195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418756D-4CB2-084B-83FC-9257C085D77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9BE516B5-8F11-334D-BCF9-6C26179F7F0C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1D5D6F5-E86D-5F46-BC85-9C27C104041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9FB6F08-07E3-C845-9E61-2FEE7733EA77}"/>
              </a:ext>
            </a:extLst>
          </p:cNvPr>
          <p:cNvGrpSpPr/>
          <p:nvPr/>
        </p:nvGrpSpPr>
        <p:grpSpPr>
          <a:xfrm>
            <a:off x="4985893" y="3243449"/>
            <a:ext cx="316547" cy="316547"/>
            <a:chOff x="762004" y="3201390"/>
            <a:chExt cx="457195" cy="457195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0DBAE9A4-C466-2B47-BC76-718A199BE15F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AFDE4AE-19DA-B341-BAE7-A61474056E51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3393304-48AE-0446-BAE4-BE16CA0D9F1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5E99FCD-BC5D-7042-A737-B4158326977A}"/>
              </a:ext>
            </a:extLst>
          </p:cNvPr>
          <p:cNvSpPr/>
          <p:nvPr/>
        </p:nvSpPr>
        <p:spPr>
          <a:xfrm>
            <a:off x="921306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2006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83810D-8F09-AC40-B37D-ED26DE93F9A2}"/>
              </a:ext>
            </a:extLst>
          </p:cNvPr>
          <p:cNvGrpSpPr/>
          <p:nvPr/>
        </p:nvGrpSpPr>
        <p:grpSpPr>
          <a:xfrm>
            <a:off x="1794869" y="2686378"/>
            <a:ext cx="316547" cy="873617"/>
            <a:chOff x="1794868" y="2686378"/>
            <a:chExt cx="316547" cy="87361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4582BFA-844F-6549-9F47-6DB62EAE2BDC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1953141" y="2686378"/>
              <a:ext cx="0" cy="56993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52C6E261-9F21-2D49-B7EF-30917AA407AE}"/>
                </a:ext>
              </a:extLst>
            </p:cNvPr>
            <p:cNvGrpSpPr/>
            <p:nvPr/>
          </p:nvGrpSpPr>
          <p:grpSpPr>
            <a:xfrm>
              <a:off x="1794868" y="3243448"/>
              <a:ext cx="316547" cy="316547"/>
              <a:chOff x="762004" y="3201390"/>
              <a:chExt cx="457195" cy="457195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45A41C49-E033-0B43-A5A1-3B053B80229B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C8D71FF-3379-764A-8A5F-173EA1991C98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E29616E-C49F-674B-B0CF-1DD1E0CD90F2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B8238E-12F9-364B-B2F9-8F82CC3B2E53}"/>
              </a:ext>
            </a:extLst>
          </p:cNvPr>
          <p:cNvSpPr/>
          <p:nvPr/>
        </p:nvSpPr>
        <p:spPr>
          <a:xfrm>
            <a:off x="1706129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2008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4E6560D-09DC-8F40-88BF-6C24EC744F6C}"/>
              </a:ext>
            </a:extLst>
          </p:cNvPr>
          <p:cNvGrpSpPr/>
          <p:nvPr/>
        </p:nvGrpSpPr>
        <p:grpSpPr>
          <a:xfrm>
            <a:off x="2362201" y="3232194"/>
            <a:ext cx="316547" cy="316547"/>
            <a:chOff x="762004" y="3201390"/>
            <a:chExt cx="457195" cy="457195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0761E6A-146D-5448-A2D6-896D94765F0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BC2EE945-B71F-7C42-93AF-E59B57B58690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06C6A8DE-A5A2-D94D-96A1-77267DFF337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53F20DC-295E-9C48-A8FA-8BAE89F7268B}"/>
              </a:ext>
            </a:extLst>
          </p:cNvPr>
          <p:cNvSpPr/>
          <p:nvPr/>
        </p:nvSpPr>
        <p:spPr>
          <a:xfrm>
            <a:off x="2926956" y="3253043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2010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5BAC40A4-15DC-F44A-AA77-BB65F9F4BE87}"/>
              </a:ext>
            </a:extLst>
          </p:cNvPr>
          <p:cNvSpPr/>
          <p:nvPr/>
        </p:nvSpPr>
        <p:spPr>
          <a:xfrm>
            <a:off x="4038221" y="3272976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2011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74951E1-71CF-C141-BA59-B5D1058F66F2}"/>
              </a:ext>
            </a:extLst>
          </p:cNvPr>
          <p:cNvSpPr/>
          <p:nvPr/>
        </p:nvSpPr>
        <p:spPr>
          <a:xfrm>
            <a:off x="4901029" y="325128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2015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8B2F0F5-D578-214B-A291-49C76074F8F7}"/>
              </a:ext>
            </a:extLst>
          </p:cNvPr>
          <p:cNvSpPr/>
          <p:nvPr/>
        </p:nvSpPr>
        <p:spPr>
          <a:xfrm>
            <a:off x="6219956" y="325417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722967F-9B9F-8241-A29A-36E8E1D39804}"/>
              </a:ext>
            </a:extLst>
          </p:cNvPr>
          <p:cNvSpPr/>
          <p:nvPr/>
        </p:nvSpPr>
        <p:spPr>
          <a:xfrm>
            <a:off x="2276046" y="325372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2009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82CE72F-B85D-F94A-BCD9-E9E2B4C50AD2}"/>
              </a:ext>
            </a:extLst>
          </p:cNvPr>
          <p:cNvGrpSpPr/>
          <p:nvPr/>
        </p:nvGrpSpPr>
        <p:grpSpPr>
          <a:xfrm>
            <a:off x="3574613" y="3236896"/>
            <a:ext cx="316547" cy="316547"/>
            <a:chOff x="762004" y="3201390"/>
            <a:chExt cx="457195" cy="457195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D9FB6B5B-5957-2540-A43A-A43427C58A3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B5717212-7438-3145-8917-3D232DE5D4A5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45723BD0-741E-AB48-93EE-F1C23CB01B0A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251" name="Text Placeholder 32">
            <a:extLst>
              <a:ext uri="{FF2B5EF4-FFF2-40B4-BE49-F238E27FC236}">
                <a16:creationId xmlns:a16="http://schemas.microsoft.com/office/drawing/2014/main" id="{AE9A7C24-600B-A644-9843-DB490C290712}"/>
              </a:ext>
            </a:extLst>
          </p:cNvPr>
          <p:cNvSpPr txBox="1">
            <a:spLocks/>
          </p:cNvSpPr>
          <p:nvPr/>
        </p:nvSpPr>
        <p:spPr>
          <a:xfrm>
            <a:off x="9498837" y="1526356"/>
            <a:ext cx="1266295" cy="1160023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2024- 2026</a:t>
            </a:r>
          </a:p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 DoD HVRR Rotating Detonation Rocket Engine  (RDRE)  Test Vehicle Design and build USAF contracts</a:t>
            </a: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11FB1975-BA6E-DE4B-8E83-466C3A74FE60}"/>
              </a:ext>
            </a:extLst>
          </p:cNvPr>
          <p:cNvSpPr/>
          <p:nvPr/>
        </p:nvSpPr>
        <p:spPr>
          <a:xfrm>
            <a:off x="8120487" y="3473856"/>
            <a:ext cx="1334123" cy="2409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84">
              <a:defRPr/>
            </a:pPr>
            <a:r>
              <a:rPr lang="en-US" sz="1255" kern="0" dirty="0">
                <a:solidFill>
                  <a:prstClr val="white"/>
                </a:solidFill>
                <a:latin typeface="Arial"/>
                <a:cs typeface="Arial"/>
                <a:sym typeface="Arial"/>
              </a:rPr>
              <a:t>We don't build OTVs — we supply the enabling technology: Scorpius Type-5 cryo tank sets today (first tank sale for an orbital transfer vehicle already made), and a structured next-generation propulsion trade study for LEO→Moon→Earth orbital mobility.</a:t>
            </a:r>
            <a:endParaRPr lang="en-US" sz="1200" dirty="0">
              <a:solidFill>
                <a:prstClr val="white"/>
              </a:solidFill>
              <a:latin typeface="Duplicate Sans Light" pitchFamily="2" charset="77"/>
              <a:cs typeface="Arial"/>
              <a:sym typeface="Arial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3656ABF-70EF-9443-9EF2-413B04690662}"/>
              </a:ext>
            </a:extLst>
          </p:cNvPr>
          <p:cNvSpPr/>
          <p:nvPr/>
        </p:nvSpPr>
        <p:spPr>
          <a:xfrm>
            <a:off x="8847644" y="3773363"/>
            <a:ext cx="1240528" cy="779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4">
              <a:defRPr/>
            </a:pPr>
            <a:endParaRPr lang="en-US" sz="1200" dirty="0">
              <a:solidFill>
                <a:prstClr val="white"/>
              </a:solidFill>
              <a:latin typeface="Duplicate Sans Regular" pitchFamily="2" charset="77"/>
              <a:sym typeface="Arial"/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15D6BF4-167C-5F43-BC13-1AE10135B4CA}"/>
              </a:ext>
            </a:extLst>
          </p:cNvPr>
          <p:cNvGrpSpPr/>
          <p:nvPr/>
        </p:nvGrpSpPr>
        <p:grpSpPr>
          <a:xfrm>
            <a:off x="7996302" y="3239386"/>
            <a:ext cx="316547" cy="316547"/>
            <a:chOff x="762004" y="3201390"/>
            <a:chExt cx="457195" cy="457195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0EBA82EF-90DF-C949-A572-8B891B919CC5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BF45D0EF-1392-1A45-8B4E-D29D6B5D2EC2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939AA10-CC93-0B4F-878F-E5A13492A44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EC73C57-A794-DC4B-9CF5-23A7AE0F778B}"/>
              </a:ext>
            </a:extLst>
          </p:cNvPr>
          <p:cNvGrpSpPr/>
          <p:nvPr/>
        </p:nvGrpSpPr>
        <p:grpSpPr>
          <a:xfrm>
            <a:off x="9414526" y="3232194"/>
            <a:ext cx="316547" cy="316547"/>
            <a:chOff x="762004" y="3201390"/>
            <a:chExt cx="457195" cy="457195"/>
          </a:xfrm>
        </p:grpSpPr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F25265E-6CD1-E440-9FC4-1B084319A2C0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208ED91F-5499-2A4F-9FA5-27A8807CBC6F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05CB889-36C7-8247-B86E-3E7299CC1E2F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8F5F1E8-56A8-A947-BB79-8D974A5CFD0E}"/>
              </a:ext>
            </a:extLst>
          </p:cNvPr>
          <p:cNvGrpSpPr/>
          <p:nvPr/>
        </p:nvGrpSpPr>
        <p:grpSpPr>
          <a:xfrm>
            <a:off x="10042221" y="3227067"/>
            <a:ext cx="316547" cy="316547"/>
            <a:chOff x="762004" y="3201390"/>
            <a:chExt cx="457195" cy="457195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5172C26-1DE0-A14E-913C-EE1154E0EDE1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A82AEBA-6330-2944-9C7E-0C5AE2F5F3D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52C75B2C-3FFA-B449-B2AC-3FEA196521C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8B7F783A-0E54-0B4D-9CA1-41D280D15DCA}"/>
              </a:ext>
            </a:extLst>
          </p:cNvPr>
          <p:cNvCxnSpPr>
            <a:cxnSpLocks/>
          </p:cNvCxnSpPr>
          <p:nvPr/>
        </p:nvCxnSpPr>
        <p:spPr>
          <a:xfrm flipH="1">
            <a:off x="8161210" y="2991244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D255554-5765-6A42-9AEF-A854CB2E4B77}"/>
              </a:ext>
            </a:extLst>
          </p:cNvPr>
          <p:cNvGrpSpPr/>
          <p:nvPr/>
        </p:nvGrpSpPr>
        <p:grpSpPr>
          <a:xfrm>
            <a:off x="11179459" y="3217498"/>
            <a:ext cx="316547" cy="316547"/>
            <a:chOff x="762004" y="3201390"/>
            <a:chExt cx="457195" cy="457195"/>
          </a:xfrm>
        </p:grpSpPr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C75C9E9B-B4CC-C44E-9409-B4815E1C67D4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35746170-F290-7B4F-B385-FDAACCF0043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433D9D9F-FD1B-B842-9732-4EEA47544236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6259372-27C7-3E40-8925-123E12025AA1}"/>
              </a:ext>
            </a:extLst>
          </p:cNvPr>
          <p:cNvCxnSpPr>
            <a:cxnSpLocks/>
            <a:endCxn id="292" idx="0"/>
          </p:cNvCxnSpPr>
          <p:nvPr/>
        </p:nvCxnSpPr>
        <p:spPr>
          <a:xfrm>
            <a:off x="11337731" y="2955686"/>
            <a:ext cx="0" cy="274674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36BE18A3-4514-3347-8214-E5D48A9BFE9A}"/>
              </a:ext>
            </a:extLst>
          </p:cNvPr>
          <p:cNvCxnSpPr>
            <a:cxnSpLocks/>
          </p:cNvCxnSpPr>
          <p:nvPr/>
        </p:nvCxnSpPr>
        <p:spPr>
          <a:xfrm flipH="1">
            <a:off x="10016750" y="3525848"/>
            <a:ext cx="183743" cy="28798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48C29CE-FB8E-5E4F-84DA-95682D56AD80}"/>
              </a:ext>
            </a:extLst>
          </p:cNvPr>
          <p:cNvCxnSpPr>
            <a:cxnSpLocks/>
          </p:cNvCxnSpPr>
          <p:nvPr/>
        </p:nvCxnSpPr>
        <p:spPr>
          <a:xfrm flipH="1">
            <a:off x="8154574" y="2981601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88ADBD0-F6F6-5B47-BEDC-BBDC8D2F5769}"/>
              </a:ext>
            </a:extLst>
          </p:cNvPr>
          <p:cNvSpPr/>
          <p:nvPr/>
        </p:nvSpPr>
        <p:spPr>
          <a:xfrm>
            <a:off x="7092446" y="328743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DC9FD511-7686-B340-A416-A64F8695C442}"/>
              </a:ext>
            </a:extLst>
          </p:cNvPr>
          <p:cNvSpPr/>
          <p:nvPr/>
        </p:nvSpPr>
        <p:spPr>
          <a:xfrm>
            <a:off x="8586455" y="326889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2022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442170F4-67F0-4342-8142-5D9F8AE7E40F}"/>
              </a:ext>
            </a:extLst>
          </p:cNvPr>
          <p:cNvSpPr/>
          <p:nvPr/>
        </p:nvSpPr>
        <p:spPr>
          <a:xfrm>
            <a:off x="9135323" y="3212412"/>
            <a:ext cx="5841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2023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78D77BE1-AF61-BE41-A676-3C7D6E1C469B}"/>
              </a:ext>
            </a:extLst>
          </p:cNvPr>
          <p:cNvSpPr/>
          <p:nvPr/>
        </p:nvSpPr>
        <p:spPr>
          <a:xfrm>
            <a:off x="10663179" y="321749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2025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0C43A2BF-7A99-3645-B2BE-53801B2A24FE}"/>
              </a:ext>
            </a:extLst>
          </p:cNvPr>
          <p:cNvSpPr/>
          <p:nvPr/>
        </p:nvSpPr>
        <p:spPr>
          <a:xfrm>
            <a:off x="11291931" y="3221065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2028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DA4803-78DB-4A0E-A6D6-26120D77239F}"/>
              </a:ext>
            </a:extLst>
          </p:cNvPr>
          <p:cNvSpPr/>
          <p:nvPr/>
        </p:nvSpPr>
        <p:spPr>
          <a:xfrm>
            <a:off x="5616967" y="3247829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C0E91F2-7D3C-474D-8771-F722E0D6EB75}"/>
              </a:ext>
            </a:extLst>
          </p:cNvPr>
          <p:cNvSpPr/>
          <p:nvPr/>
        </p:nvSpPr>
        <p:spPr>
          <a:xfrm>
            <a:off x="7926328" y="3278193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EA59299-CC01-4EFE-87E4-CA82C673B0CE}"/>
              </a:ext>
            </a:extLst>
          </p:cNvPr>
          <p:cNvSpPr/>
          <p:nvPr/>
        </p:nvSpPr>
        <p:spPr>
          <a:xfrm>
            <a:off x="9879407" y="3230360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2024</a:t>
            </a:r>
          </a:p>
        </p:txBody>
      </p:sp>
      <p:sp>
        <p:nvSpPr>
          <p:cNvPr id="160" name="Text Placeholder 32">
            <a:extLst>
              <a:ext uri="{FF2B5EF4-FFF2-40B4-BE49-F238E27FC236}">
                <a16:creationId xmlns:a16="http://schemas.microsoft.com/office/drawing/2014/main" id="{0CF02F89-8E9B-4CEF-9BB4-943DA2C9D5B2}"/>
              </a:ext>
            </a:extLst>
          </p:cNvPr>
          <p:cNvSpPr txBox="1">
            <a:spLocks/>
          </p:cNvSpPr>
          <p:nvPr/>
        </p:nvSpPr>
        <p:spPr>
          <a:xfrm>
            <a:off x="11092268" y="1526356"/>
            <a:ext cx="1070196" cy="3045841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2026+</a:t>
            </a:r>
            <a:r>
              <a:rPr lang="en-US" sz="1255" dirty="0">
                <a:solidFill>
                  <a:prstClr val="white"/>
                </a:solidFill>
                <a:highlight>
                  <a:srgbClr val="000000"/>
                </a:highlight>
                <a:latin typeface="Metrophobic" panose="020B0604020202020204" charset="0"/>
                <a:sym typeface="Arial"/>
              </a:rPr>
              <a:t> Technology and Reputation Risk Reduction flights testing your hardware and software on our Reusable Rockets</a:t>
            </a:r>
            <a:endParaRPr lang="en-US" sz="1255" kern="0" dirty="0">
              <a:solidFill>
                <a:prstClr val="white"/>
              </a:solidFill>
              <a:highlight>
                <a:srgbClr val="000000"/>
              </a:highlight>
              <a:latin typeface="Metrophobic" panose="020B0604020202020204" charset="0"/>
              <a:cs typeface="Arial"/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graphicFrame>
        <p:nvGraphicFramePr>
          <p:cNvPr id="163" name="Diagram 162">
            <a:extLst>
              <a:ext uri="{FF2B5EF4-FFF2-40B4-BE49-F238E27FC236}">
                <a16:creationId xmlns:a16="http://schemas.microsoft.com/office/drawing/2014/main" id="{C21A2781-ED4C-4A0E-85F0-6B164897928F}"/>
              </a:ext>
            </a:extLst>
          </p:cNvPr>
          <p:cNvGraphicFramePr/>
          <p:nvPr/>
        </p:nvGraphicFramePr>
        <p:xfrm>
          <a:off x="9421006" y="3694336"/>
          <a:ext cx="2770995" cy="1563231"/>
        </p:xfrm>
        <a:graphic>
          <a:graphicData uri="http://schemas.openxmlformats.org/drawingml/2006/diagram">
            <dgm:relIds xmlns:dgm="http://schemas.openxmlformats.org/drawingml/2006/diagram" r:dm="rId18" r:lo="rId19" r:qs="rId20" r:cs="rId21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FA09F6A-F480-CDF0-6206-3AB973FE458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5285" y="32910"/>
            <a:ext cx="960829" cy="1085830"/>
          </a:xfrm>
          <a:prstGeom prst="rect">
            <a:avLst/>
          </a:prstGeom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40277BD2-187A-4E98-BAC5-DE88605E7A12}"/>
              </a:ext>
            </a:extLst>
          </p:cNvPr>
          <p:cNvSpPr txBox="1">
            <a:spLocks/>
          </p:cNvSpPr>
          <p:nvPr/>
        </p:nvSpPr>
        <p:spPr>
          <a:xfrm>
            <a:off x="8234467" y="1706300"/>
            <a:ext cx="962446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2022 USAF Contract for Hypersonic Reusable Launch Vehicle</a:t>
            </a:r>
            <a:endParaRPr lang="en-US" dirty="0">
              <a:solidFill>
                <a:prstClr val="white"/>
              </a:solidFill>
              <a:latin typeface="Duplicate Sans Medium" pitchFamily="2" charset="77"/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18035-92F0-DE36-0AF3-1DB24D9EEB4F}"/>
              </a:ext>
            </a:extLst>
          </p:cNvPr>
          <p:cNvSpPr txBox="1"/>
          <p:nvPr/>
        </p:nvSpPr>
        <p:spPr>
          <a:xfrm>
            <a:off x="9344841" y="6387362"/>
            <a:ext cx="2781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prstClr val="white"/>
                </a:solidFill>
                <a:latin typeface="Calibri" panose="020F0502020204030204"/>
                <a:cs typeface="Arial"/>
                <a:sym typeface="Arial"/>
              </a:rPr>
              <a:t>Working with companies like Vaya Space </a:t>
            </a:r>
          </a:p>
          <a:p>
            <a:pPr algn="ctr" defTabSz="914384">
              <a:defRPr/>
            </a:pPr>
            <a:r>
              <a:rPr lang="en-US" sz="1200" dirty="0">
                <a:solidFill>
                  <a:prstClr val="white"/>
                </a:solidFill>
                <a:latin typeface="Calibri" panose="020F0502020204030204"/>
                <a:cs typeface="Arial"/>
                <a:sym typeface="Arial"/>
              </a:rPr>
              <a:t>and others Derisking Orbital access.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E4A3B-D5AA-4F4B-A889-F56EFE3A7470}"/>
              </a:ext>
            </a:extLst>
          </p:cNvPr>
          <p:cNvSpPr txBox="1"/>
          <p:nvPr/>
        </p:nvSpPr>
        <p:spPr>
          <a:xfrm>
            <a:off x="58713" y="4973180"/>
            <a:ext cx="831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4">
              <a:defRPr/>
            </a:pPr>
            <a:r>
              <a:rPr lang="en-US" b="1" i="1" dirty="0">
                <a:solidFill>
                  <a:schemeClr val="accent4"/>
                </a:solidFill>
                <a:latin typeface="Calibri" panose="020F0502020204030204"/>
                <a:cs typeface="Arial"/>
                <a:sym typeface="Arial"/>
              </a:rPr>
              <a:t>Our Competitive Advantage is demonstrated by what our team has already done: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C6D4545-A6A0-F897-B145-AE8C73F5B6A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52463" y="10630"/>
            <a:ext cx="759043" cy="15033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5E2522-B5B3-E9FC-1806-6635BB414FA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7178" y="5618110"/>
            <a:ext cx="798392" cy="120698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A86C673-172A-47AC-79A0-C3126C51D99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0881057" y="512031"/>
            <a:ext cx="1503300" cy="463880"/>
          </a:xfrm>
          <a:prstGeom prst="rect">
            <a:avLst/>
          </a:prstGeom>
        </p:spPr>
      </p:pic>
      <p:pic>
        <p:nvPicPr>
          <p:cNvPr id="8" name="Picture 7" descr="A person standing next to a large machine&#10;&#10;AI-generated content may be incorrect.">
            <a:extLst>
              <a:ext uri="{FF2B5EF4-FFF2-40B4-BE49-F238E27FC236}">
                <a16:creationId xmlns:a16="http://schemas.microsoft.com/office/drawing/2014/main" id="{14B418F9-FD1A-F95A-143D-CF5E11B9C6F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8741" y="5078258"/>
            <a:ext cx="1745471" cy="1309104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25 years of reusable rockets — to a profitable, lunar-proven inflection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645920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71907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Armadillo Aerospace — reusable VTVL rockets; 100+ engines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9424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249424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32257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John Quinn buys out the program → Exos Aerospace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169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2018–19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852928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92608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SARGE: 4 flights in 14 months, guided-canopy recovery — capital-efficient reuse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56432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456432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52958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Carbon-composite pivot; Exos takes an 18% stake in Scorpius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9936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2394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2024–25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4059936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4133088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Scorpius Type-5 cryo tanks fly to the Moon — IM-1 Odysseus &amp; IM-2 Athena (TRL-9)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2744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4663440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473659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First profitable year; 1 of 3 FAA-licensed reusable providers; AI-native ops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66944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3095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2026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5266944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534009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Series A: complete our acquisition of Scorpius + finish and fly BLK3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BLK3 — a reusable de-risk engine for the whole orbital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One of only three FAA-licensed reusable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launch-and-recovery providers in the U.S. (Part 431 → Part 450).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De-risk orbital programs on a proven ~$5M vehicle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instead of losing $50–100M rockets on first flight — industry loses 4–7 to reach orbit; Exos can help cut that to 2–5.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Customers place avionics, sensors, controls, and recovery in the BLK3 bay;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hardware comes back, not just telemetry.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$1M per flight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(135 kg @ $7,500/kg); designed for rapid reuse (a 2-flight / 48-hour turnaround is proposed under Project KARMEN, not yet demonstrated).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Licensed and hover-demonstrated;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first commercial flight targeted early 2027.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4434840" cy="416052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lk3_h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4160520" cy="2340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251960"/>
            <a:ext cx="4160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675"/>
                </a:solidFill>
                <a:latin typeface="Helvetica Neue"/>
              </a:rPr>
              <a:t>BLK3 PSRLV — vertical for integrated test at Caddo Mills. Reusable, recoverable, licensed.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CROWN JEWEL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Scorpius — completing our acquisition of Moon-proven tank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OWN  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of Scorpius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0531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IP  $20–40M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0531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TRL-9 lunar-flown Type-5 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tank sale for an orbital transfer vehicle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753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753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flown to the Moon (IM-1 / IM-2)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World's only TRL-9 linerless (Type-5) cryogenic composite tank technology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, flown as fuel &amp; LOX tanks on Intuitive Machines' Odysseus (2024) and Athena (2025).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Scorpius's tank technology has made its first tank sale for an orbital transfer vehicle. The same Type-5 LOX/methane heritage is moving from lunar landers into the orbital-mobility market.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~50% mass reduction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vs. metal; room-temperature-cure resin (no microcracking through 150 cycles); qualified to fuel on a Falcon 9 on the pad; export-approved variant.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Exos owns 18% of Scorpius today; the Series A completes our acquisition and brings this composite cryogenic tank technology fully in-house.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/>
            </a:r>
            <a:r>
              <a:rPr sz="1350" b="0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Enables in-space refueling and long-duration cryo storage — the tankage a commercial space economy is built 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The IP value figure is Exos's own valuation, independent of the $169.7M 409A equity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AI-native operations — 5× output, and the way we commercialize dormant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Mission Control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an in-house, AI-native operating system (ExO 3.0). Ran a 12-person team to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~5× output in 9 months.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AI-driven DFARS/CFR compliance (caught same-day regulatory changes on a live contract); CMMC L1 → L2; DoD data walled off from commercial AI.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This is how the consortium ships: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the AI stack drops into acquired sub-50-person firms and makes them AI-native overnight — the commercialization engine dormant DoD tech never had.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The physical-AI proof point institutional capital is looking for — AI applied where it is hardest, real flight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output, 12-person team, 9 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0531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0531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0531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$180M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0531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AI-built pipeline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2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2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8142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2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decisions cleared in-system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753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753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753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1,240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753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tasks orchestrated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Activate America's dormant industrial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PROBLEM &amp; THE ENGINE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Stranded capital is real: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Virgin Orbit ($1B+ → Ch.11), Astra ($500M), ABL ($461M) — enormous capacity built, then idled.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~10 partner firms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(CTD, GTL, Goodman, Firefly, Via Space) sit at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5–20% utilization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, holding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$1B+ of DoD-funded tech, &lt;5% commercialized.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Exos is the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prime integrator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that knits them into one skunk-works — surging Type-5 tanks, SRM cases, orbital-transfer tank sets, missile &amp; Navy structures with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no new CapEx.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The same model transfers beyond space: advanced mfg, critical materials, energy, maritime, munitions.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257800" cy="416052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5727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Helvetica Neue"/>
              </a:rPr>
              <a:t>SAME PLANT, UP TO 3×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5740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Idle winders &amp; machines put to work at ~$150/hr — </a:t>
            </a:r>
            <a:r>
              <a:rPr sz="1250" b="1">
                <a:solidFill>
                  <a:srgbClr val="14202E"/>
                </a:solidFill>
                <a:latin typeface="Helvetica Neue"/>
              </a:rPr>
              <a:t>10× manufacturing overnight.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Humanoids + Mission Control fill 2nd/3rd shifts the labor market can't — fixed cost amortized across up to 3× output.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Partner IP advances the Exos tech stack — continuous improvement, not one-off buys.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The government has already validated the platform — and under-resourced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155448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8100" cy="1554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A4A"/>
                </a:solidFill>
                <a:latin typeface="Helvetica Neue"/>
              </a:rPr>
              <a:t>PROJECT KARMEN — USSF SBIR SF254-D1002 (Direct-to-Phase-II)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 reusable suborbital platform to empirically qualify cargo, supplies &amp; equipment under real spacelift conditions — a proposed 2-flight / 48-hour rapid-turnaround demonstration (not yet demonstrated). Competitively selected, then funded at ~1/10th of its validated $3M scope. A reissue at the proposed scope funds the next commercial launches and stands the pilot up in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Up to ~$34M in government co-investment (TACFI + STRATFI) is pursued alongside the raise. Non-dilutive upside, milestone-gated — not counted in the base case.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/>
            </a:r>
            <a:r>
              <a:rPr sz="1350" b="1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$180M AI-built pipeline;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Commission on the Future of the Navy toured Exos (Aug 2026) and is weighing the consortium/ITZ model for its report.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Secure International Trade Zone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(DHS-CRADA containers) bridges the foreign carbon fiber and cryo tankage the U.S. can't source — a national supply-chain-resilience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 pilot fund built on DoD's own playbook — where strategic capital plugs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FOR TITLE III / OSC / STRATEGIC CAPITAL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$50M pilot fund, deployed in 12–18 months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activation capital for dormant capacity, steered by insiders, run by pros.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Mirrors mechanisms DoD already uses: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DPA Title III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(direct industrial-base investment), the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Office of Strategic Capital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(loans / loan guarantees), and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OTA consortia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(NSTXL / SpaceWERX).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Cost-share where viable; the fund fills the gap where it isn't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 blanket 50% match kills small vendors.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OTA + firm-fixed-price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is the home for this: weeks-to-award, outcome-based, non-dilutive alongside the equity.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257800" cy="41605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2763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THE THREE WAYS TO PARTICIPATE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1  Institutional 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4144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Series A at a $169.7M 409A basis; TXSE listing path; SpaceX-IPO tailwind.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729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2  Strategic / Starfighters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65576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JV / co-development on flight-test + reusable spacelift; shared cadence and range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9709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3  Title III / OSC / 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489704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Non-dilutive industrial-base capital into the consortium + KARMEN reissue.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Profitable today, a government-backed path to ~$120M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$1.55M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FY2025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0531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0531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4-yr revenue CAGR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2025 EBITDA margin (first profit)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753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~$5M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753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combined pro-forma run-rate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History: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$0.19M (2022) → $0.31M → $0.63M →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$1.55M (2025), first profitable year.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Projection: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~$120M by Y5 on a contracted backbone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(conservative Cash Flow case); TACFI/STRATFI/entX-expansion sit in a separate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upside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layer, not the base.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Unit economics: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future BLK4 sale (gated orbital path) $6M (50%+ GM); wet-lease flight $3.75M (60%+); tanks $200K–$1M (45%+).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Valuation: $169.7M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independent 409A equity value (Eqvista 3/31/26; $8.66/share; DLOM 36.51%) — comps cross-check 4–6× 2028E revenue.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80360"/>
            <a:ext cx="4434840" cy="274320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2880360"/>
            <a:ext cx="38100" cy="2743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303580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Helvetica Neue"/>
              </a:rPr>
              <a:t>WHERE WE'VE BEEN → WHERE WE'RE 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35204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520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$0.19M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39227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9227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$0.31M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43251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$0.63M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72744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7274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$1.55M ✓ 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51297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Y5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297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~$120M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 $10M Series A — 100% deployed on three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$10M Series A — use of funds: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Complete our acquisition of Scorpius — bring its composite cryogenic tank technology fully in-house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/>
            </a:r>
            <a:r>
              <a:rPr sz="1300" b="0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Finish and fly BLK3 — first commercial flight targeted early 2027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Advance next-generation propulsion through a structured trade study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Listing path: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Texas Stock Exchange (TXSE), dated/conditioned, ~18–24 months.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All common stock; founders retain ~56% control; EAI investors' first liquidity window in the raise.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4434840" cy="41605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64592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WHAT $10M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219456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Complete our acquisition of Scorpius — tank technology fully in-house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Finish and fly BLK3 — flight evidence for orbital developers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Advance next-gen propulsion via a structured trade study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Put idle partner capacity to work — no new CapEx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Bridge to the Title III / OSC non-dilutive layer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Scale Scorpius into DoD orbital-mobility + SRM-case production — Title III non-dilutive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</a:rPr>
              <a:t>De-risk the impossible.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DCE6F0"/>
                </a:solidFill>
                <a:latin typeface="Helvetica Neue"/>
              </a:rPr>
              <a:t>Deliver the mass that builds humanity's future in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John Quinn, Cofounder &amp; CEO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9C6D6"/>
                </a:solidFill>
                <a:latin typeface="Helvetica Neue"/>
              </a:rPr>
              <a:t>jquinn@exosaero.com  ·  +1-972-740-8355  ·  www.exosaero.com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5"/>
                </a:solidFill>
                <a:latin typeface="Helvetica Neue"/>
              </a:rPr>
              <a:t>PRIVATE &amp; CONFIDENTIAL — not an offer to sell or a solicitation of securities. Financial figures are management-prepared estimates.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