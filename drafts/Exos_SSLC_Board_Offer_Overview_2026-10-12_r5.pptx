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F26A21"/>
                </a:solidFill>
              </a:rPr>
              <a:t>Motion 1: </a:t>
            </a:r>
            <a:r>
              <a:rPr lang="en-US" sz="1200" dirty="0">
                <a:solidFill>
                  <a:srgbClr val="CCCCCC"/>
                </a:solidFill>
              </a:rPr>
              <a:t>Approve Exos offer (Option B) + §3 exclusivity (90-day; 60-day ext. if progress)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b="0" dirty="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b="1" dirty="0">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CCCCCC"/>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DD4444"/>
                </a:solidFill>
                <a:latin typeface="Calibri"/>
              </a:rPr>
              <a:t>-$1,443,882</a:t>
            </a:r>
          </a:p>
        </p:txBody>
      </p:sp>
      <p:sp>
        <p:nvSpPr>
          <p:cNvPr id="56" name="TextBox 55"/>
          <p:cNvSpPr txBox="1"/>
          <p:nvPr/>
        </p:nvSpPr>
        <p:spPr>
          <a:xfrm>
            <a:off x="256032" y="2286000"/>
            <a:ext cx="265176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2926080" y="2286000"/>
            <a:ext cx="2011680" cy="164592"/>
          </a:xfrm>
          <a:prstGeom prst="rect">
            <a:avLst/>
          </a:prstGeom>
          <a:noFill/>
        </p:spPr>
        <p:txBody>
          <a:bodyPr wrap="none" anchor="ctr">
            <a:spAutoFit/>
          </a:bodyPr>
          <a:lstStyle/>
          <a:p>
            <a:r>
              <a:rPr lang="en-US" sz="1000" b="1" dirty="0">
                <a:solidFill>
                  <a:srgbClr val="F26A21"/>
                </a:solidFill>
                <a:latin typeface="Calibri"/>
              </a:rPr>
              <a:t>-$1,443,882 + $448K ≈ -$996K</a:t>
            </a:r>
          </a:p>
        </p:txBody>
      </p:sp>
      <p:sp>
        <p:nvSpPr>
          <p:cNvPr id="58" name="TextBox 57"/>
          <p:cNvSpPr txBox="1"/>
          <p:nvPr/>
        </p:nvSpPr>
        <p:spPr>
          <a:xfrm>
            <a:off x="256032" y="2468880"/>
            <a:ext cx="265176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2926080" y="2468880"/>
            <a:ext cx="2011680" cy="164592"/>
          </a:xfrm>
          <a:prstGeom prst="rect">
            <a:avLst/>
          </a:prstGeom>
          <a:noFill/>
        </p:spPr>
        <p:txBody>
          <a:bodyPr wrap="none" anchor="ctr">
            <a:spAutoFit/>
          </a:bodyPr>
          <a:lstStyle/>
          <a:p>
            <a:r>
              <a:rPr lang="en-US" sz="1000" b="1" dirty="0">
                <a:solidFill>
                  <a:srgbClr val="F26A21"/>
                </a:solidFill>
                <a:latin typeface="Calibri"/>
              </a:rPr>
              <a:t>-$1,443,882 + $967K ≈ -$477K</a:t>
            </a:r>
          </a:p>
        </p:txBody>
      </p:sp>
      <p:sp>
        <p:nvSpPr>
          <p:cNvPr id="60" name="TextBox 59"/>
          <p:cNvSpPr txBox="1"/>
          <p:nvPr/>
        </p:nvSpPr>
        <p:spPr>
          <a:xfrm>
            <a:off x="256032" y="2651760"/>
            <a:ext cx="265176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2926080" y="2651760"/>
            <a:ext cx="201168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72968"/>
            <a:ext cx="8631936" cy="182880"/>
          </a:xfrm>
          <a:prstGeom prst="rect">
            <a:avLst/>
          </a:prstGeom>
          <a:noFill/>
        </p:spPr>
        <p:txBody>
          <a:bodyPr wrap="none" anchor="ctr">
            <a:spAutoFit/>
          </a:bodyPr>
          <a:lstStyle/>
          <a:p>
            <a:r>
              <a:rPr lang="en-US" sz="1050" dirty="0" b="1">
                <a:solidFill>
                  <a:srgbClr val="FFFFFF"/>
                </a:solidFill>
                <a:latin typeface="Calibri"/>
              </a:rPr>
              <a:t>WHAT THIS MEANS FOR SHAREHOLDERS OUTSIDE MICROCOSM/WERTZ: cash at a Jan 15, 2027 close per 1% of SSLC (8,725 sh.)</a:t>
            </a:r>
          </a:p>
          <a:p>
            <a:r>
              <a:rPr lang="en-US" sz="1050" dirty="0">
                <a:solidFill>
                  <a:srgbClr val="CCCCCC"/>
                </a:solidFill>
                <a:latin typeface="Calibri"/>
              </a:rPr>
              <a:t/>
            </a:r>
          </a:p>
        </p:txBody>
      </p:sp>
      <p:sp>
        <p:nvSpPr>
          <p:cNvPr id="66" name="TextBox 65"/>
          <p:cNvSpPr txBox="1"/>
          <p:nvPr/>
        </p:nvSpPr>
        <p:spPr>
          <a:xfrm>
            <a:off x="256032" y="3392424"/>
            <a:ext cx="3749039" cy="164592"/>
          </a:xfrm>
          <a:prstGeom prst="rect">
            <a:avLst/>
          </a:prstGeom>
          <a:noFill/>
        </p:spPr>
        <p:txBody>
          <a:bodyPr wrap="none" anchor="ctr">
            <a:spAutoFit/>
          </a:bodyPr>
          <a:lstStyle/>
          <a:p>
            <a:r>
              <a:rPr lang="en-US" sz="1000" dirty="0">
                <a:solidFill>
                  <a:srgbClr val="888888"/>
                </a:solidFill>
                <a:latin typeface="Calibri"/>
              </a:rPr>
              <a:t>As booked (no corrections applied):</a:t>
            </a:r>
          </a:p>
        </p:txBody>
      </p:sp>
      <p:sp>
        <p:nvSpPr>
          <p:cNvPr id="67" name="TextBox 66"/>
          <p:cNvSpPr txBox="1"/>
          <p:nvPr/>
        </p:nvSpPr>
        <p:spPr>
          <a:xfrm>
            <a:off x="4114800" y="3392424"/>
            <a:ext cx="2194560" cy="164592"/>
          </a:xfrm>
          <a:prstGeom prst="rect">
            <a:avLst/>
          </a:prstGeom>
          <a:noFill/>
        </p:spPr>
        <p:txBody>
          <a:bodyPr wrap="none" anchor="ctr">
            <a:spAutoFit/>
          </a:bodyPr>
          <a:lstStyle/>
          <a:p>
            <a:r>
              <a:rPr lang="en-US" sz="1000" dirty="0">
                <a:solidFill>
                  <a:srgbClr val="888888"/>
                </a:solidFill>
                <a:latin typeface="Calibri"/>
              </a:rPr>
              <a:t>$1,388,000 / 82 =</a:t>
            </a:r>
          </a:p>
        </p:txBody>
      </p:sp>
      <p:sp>
        <p:nvSpPr>
          <p:cNvPr id="68" name="TextBox 67"/>
          <p:cNvSpPr txBox="1"/>
          <p:nvPr/>
        </p:nvSpPr>
        <p:spPr>
          <a:xfrm>
            <a:off x="6400800" y="3392424"/>
            <a:ext cx="2560320" cy="164592"/>
          </a:xfrm>
          <a:prstGeom prst="rect">
            <a:avLst/>
          </a:prstGeom>
          <a:noFill/>
        </p:spPr>
        <p:txBody>
          <a:bodyPr wrap="none" anchor="ctr">
            <a:spAutoFit/>
          </a:bodyPr>
          <a:lstStyle/>
          <a:p>
            <a:r>
              <a:rPr lang="en-US" sz="1000" b="1" dirty="0">
                <a:solidFill>
                  <a:srgbClr val="888888"/>
                </a:solidFill>
                <a:latin typeface="Calibri"/>
              </a:rPr>
              <a:t>$16.9K</a:t>
            </a:r>
          </a:p>
        </p:txBody>
      </p:sp>
      <p:sp>
        <p:nvSpPr>
          <p:cNvPr id="69" name="TextBox 68"/>
          <p:cNvSpPr txBox="1"/>
          <p:nvPr/>
        </p:nvSpPr>
        <p:spPr>
          <a:xfrm>
            <a:off x="256032" y="3579876"/>
            <a:ext cx="3749039" cy="164592"/>
          </a:xfrm>
          <a:prstGeom prst="rect">
            <a:avLst/>
          </a:prstGeom>
          <a:noFill/>
        </p:spPr>
        <p:txBody>
          <a:bodyPr wrap="none" anchor="ctr">
            <a:spAutoFit/>
          </a:bodyPr>
          <a:lstStyle/>
          <a:p>
            <a:r>
              <a:rPr lang="en-US" sz="1000" dirty="0">
                <a:solidFill>
                  <a:srgbClr val="F26A21"/>
                </a:solidFill>
                <a:latin typeface="Calibri"/>
              </a:rPr>
              <a:t>Step 1 applied (+$448K — facility credit + capitalized interest):</a:t>
            </a:r>
          </a:p>
        </p:txBody>
      </p:sp>
      <p:sp>
        <p:nvSpPr>
          <p:cNvPr id="70" name="TextBox 69"/>
          <p:cNvSpPr txBox="1"/>
          <p:nvPr/>
        </p:nvSpPr>
        <p:spPr>
          <a:xfrm>
            <a:off x="4114800" y="3579876"/>
            <a:ext cx="2194560" cy="164592"/>
          </a:xfrm>
          <a:prstGeom prst="rect">
            <a:avLst/>
          </a:prstGeom>
          <a:noFill/>
        </p:spPr>
        <p:txBody>
          <a:bodyPr wrap="none" anchor="ctr">
            <a:spAutoFit/>
          </a:bodyPr>
          <a:lstStyle/>
          <a:p>
            <a:r>
              <a:rPr lang="en-US" sz="1000" dirty="0">
                <a:solidFill>
                  <a:srgbClr val="888888"/>
                </a:solidFill>
                <a:latin typeface="Calibri"/>
              </a:rPr>
              <a:t>$1,836,000 / 82 =</a:t>
            </a:r>
          </a:p>
        </p:txBody>
      </p:sp>
      <p:sp>
        <p:nvSpPr>
          <p:cNvPr id="71" name="TextBox 70"/>
          <p:cNvSpPr txBox="1"/>
          <p:nvPr/>
        </p:nvSpPr>
        <p:spPr>
          <a:xfrm>
            <a:off x="6400800" y="3579876"/>
            <a:ext cx="2560320" cy="164592"/>
          </a:xfrm>
          <a:prstGeom prst="rect">
            <a:avLst/>
          </a:prstGeom>
          <a:noFill/>
        </p:spPr>
        <p:txBody>
          <a:bodyPr wrap="none" anchor="ctr">
            <a:spAutoFit/>
          </a:bodyPr>
          <a:lstStyle/>
          <a:p>
            <a:r>
              <a:rPr lang="en-US" sz="1000" b="1" dirty="0">
                <a:solidFill>
                  <a:srgbClr val="F26A21"/>
                </a:solidFill>
                <a:latin typeface="Calibri"/>
              </a:rPr>
              <a:t>$22.4K</a:t>
            </a:r>
          </a:p>
        </p:txBody>
      </p:sp>
      <p:sp>
        <p:nvSpPr>
          <p:cNvPr id="72" name="TextBox 71"/>
          <p:cNvSpPr txBox="1"/>
          <p:nvPr/>
        </p:nvSpPr>
        <p:spPr>
          <a:xfrm>
            <a:off x="256032" y="3767328"/>
            <a:ext cx="3749039" cy="164592"/>
          </a:xfrm>
          <a:prstGeom prst="rect">
            <a:avLst/>
          </a:prstGeom>
          <a:noFill/>
        </p:spPr>
        <p:txBody>
          <a:bodyPr wrap="none" anchor="ctr">
            <a:spAutoFit/>
          </a:bodyPr>
          <a:lstStyle/>
          <a:p>
            <a:r>
              <a:rPr lang="en-US" sz="1000" dirty="0">
                <a:solidFill>
                  <a:srgbClr val="F26A21"/>
                </a:solidFill>
                <a:latin typeface="Calibri"/>
              </a:rPr>
              <a:t>Steps 1+2 (+$967K — + unsupported offsets corrected):</a:t>
            </a:r>
          </a:p>
        </p:txBody>
      </p:sp>
      <p:sp>
        <p:nvSpPr>
          <p:cNvPr id="73" name="TextBox 72"/>
          <p:cNvSpPr txBox="1"/>
          <p:nvPr/>
        </p:nvSpPr>
        <p:spPr>
          <a:xfrm>
            <a:off x="4114800" y="3767328"/>
            <a:ext cx="2194560" cy="164592"/>
          </a:xfrm>
          <a:prstGeom prst="rect">
            <a:avLst/>
          </a:prstGeom>
          <a:noFill/>
        </p:spPr>
        <p:txBody>
          <a:bodyPr wrap="none" anchor="ctr">
            <a:spAutoFit/>
          </a:bodyPr>
          <a:lstStyle/>
          <a:p>
            <a:r>
              <a:rPr lang="en-US" sz="1000" dirty="0">
                <a:solidFill>
                  <a:srgbClr val="888888"/>
                </a:solidFill>
                <a:latin typeface="Calibri"/>
              </a:rPr>
              <a:t>$2,355,000 / 82 =</a:t>
            </a:r>
          </a:p>
        </p:txBody>
      </p:sp>
      <p:sp>
        <p:nvSpPr>
          <p:cNvPr id="74" name="TextBox 73"/>
          <p:cNvSpPr txBox="1"/>
          <p:nvPr/>
        </p:nvSpPr>
        <p:spPr>
          <a:xfrm>
            <a:off x="6400800" y="3767328"/>
            <a:ext cx="2560320" cy="164592"/>
          </a:xfrm>
          <a:prstGeom prst="rect">
            <a:avLst/>
          </a:prstGeom>
          <a:noFill/>
        </p:spPr>
        <p:txBody>
          <a:bodyPr wrap="none" anchor="ctr">
            <a:spAutoFit/>
          </a:bodyPr>
          <a:lstStyle/>
          <a:p>
            <a:r>
              <a:rPr lang="en-US" sz="1000" b="1" dirty="0">
                <a:solidFill>
                  <a:srgbClr val="F26A21"/>
                </a:solidFill>
                <a:latin typeface="Calibri"/>
              </a:rPr>
              <a:t>$28.7K</a:t>
            </a:r>
          </a:p>
        </p:txBody>
      </p:sp>
      <p:sp>
        <p:nvSpPr>
          <p:cNvPr id="75" name="TextBox 74"/>
          <p:cNvSpPr txBox="1"/>
          <p:nvPr/>
        </p:nvSpPr>
        <p:spPr>
          <a:xfrm>
            <a:off x="256032" y="3954780"/>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954780"/>
            <a:ext cx="2194560" cy="164592"/>
          </a:xfrm>
          <a:prstGeom prst="rect">
            <a:avLst/>
          </a:prstGeom>
          <a:noFill/>
        </p:spPr>
        <p:txBody>
          <a:bodyPr wrap="none" anchor="ctr">
            <a:spAutoFit/>
          </a:bodyPr>
          <a:lstStyle/>
          <a:p>
            <a:r>
              <a:rPr lang="en-US" sz="1000" dirty="0">
                <a:solidFill>
                  <a:srgbClr val="888888"/>
                </a:solidFill>
                <a:latin typeface="Calibri"/>
              </a:rPr>
              <a:t>$2,649,000 / 82 =</a:t>
            </a:r>
          </a:p>
        </p:txBody>
      </p:sp>
      <p:sp>
        <p:nvSpPr>
          <p:cNvPr id="77" name="TextBox 76"/>
          <p:cNvSpPr txBox="1"/>
          <p:nvPr/>
        </p:nvSpPr>
        <p:spPr>
          <a:xfrm>
            <a:off x="6400800" y="3954780"/>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F26A21"/>
                </a:solidFill>
                <a:latin typeface="Calibri"/>
              </a:rPr>
              <a:t>S3</a:t>
            </a:r>
          </a:p>
        </p:txBody>
      </p:sp>
      <p:sp>
        <p:nvSpPr>
          <p:cNvPr id="57" name="TextBox 56"/>
          <p:cNvSpPr txBox="1"/>
          <p:nvPr/>
        </p:nvSpPr>
        <p:spPr>
          <a:xfrm>
            <a:off x="4983480" y="2286000"/>
            <a:ext cx="3977639" cy="164592"/>
          </a:xfrm>
          <a:prstGeom prst="rect">
            <a:avLst/>
          </a:prstGeom>
          <a:noFill/>
        </p:spPr>
        <p:txBody>
          <a:bodyPr wrap="none" anchor="ctr">
            <a:spAutoFit/>
          </a:bodyPr>
          <a:lstStyle/>
          <a:p>
            <a:r>
              <a:rPr lang="en-US" sz="1000" b="0" dirty="0" i="1">
                <a:solidFill>
                  <a:srgbClr val="CCCCCC"/>
                </a:solidFill>
                <a:latin typeface="Calibri"/>
              </a:rPr>
              <a:t>Facility credit + no Bookstore interest: holders recover $448K.</a:t>
            </a:r>
          </a:p>
        </p:txBody>
      </p:sp>
      <p:sp>
        <p:nvSpPr>
          <p:cNvPr id="59" name="TextBox 58"/>
          <p:cNvSpPr txBox="1"/>
          <p:nvPr/>
        </p:nvSpPr>
        <p:spPr>
          <a:xfrm>
            <a:off x="4983480" y="2468880"/>
            <a:ext cx="3977639" cy="164592"/>
          </a:xfrm>
          <a:prstGeom prst="rect">
            <a:avLst/>
          </a:prstGeom>
          <a:noFill/>
        </p:spPr>
        <p:txBody>
          <a:bodyPr wrap="none" anchor="ctr">
            <a:spAutoFit/>
          </a:bodyPr>
          <a:lstStyle/>
          <a:p>
            <a:r>
              <a:rPr lang="en-US" sz="1000" b="0" dirty="0" i="1">
                <a:solidFill>
                  <a:srgbClr val="CCCCCC"/>
                </a:solidFill>
                <a:latin typeface="Calibri"/>
              </a:rPr>
              <a:t>Also reverse $518K of netting offsets with no invoices.</a:t>
            </a:r>
          </a:p>
        </p:txBody>
      </p:sp>
      <p:sp>
        <p:nvSpPr>
          <p:cNvPr id="61" name="TextBox 60"/>
          <p:cNvSpPr txBox="1"/>
          <p:nvPr/>
        </p:nvSpPr>
        <p:spPr>
          <a:xfrm>
            <a:off x="4983480" y="2651760"/>
            <a:ext cx="3977639" cy="164592"/>
          </a:xfrm>
          <a:prstGeom prst="rect">
            <a:avLst/>
          </a:prstGeom>
          <a:noFill/>
        </p:spPr>
        <p:txBody>
          <a:bodyPr wrap="none" anchor="ctr">
            <a:spAutoFit/>
          </a:bodyPr>
          <a:lstStyle/>
          <a:p>
            <a:r>
              <a:rPr lang="en-US" sz="1000" b="0" dirty="0" i="1">
                <a:solidFill>
                  <a:srgbClr val="CCCCCC"/>
                </a:solidFill>
                <a:latin typeface="Calibri"/>
              </a:rPr>
              <a:t>Also reverse the undocumented pre-2024 $294K Microcosm loan.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480560" cy="155448"/>
          </a:xfrm>
          <a:prstGeom prst="rect">
            <a:avLst/>
          </a:prstGeom>
          <a:solidFill>
            <a:srgbClr val="7A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480560" cy="155448"/>
          </a:xfrm>
          <a:prstGeom prst="rect">
            <a:avLst/>
          </a:prstGeom>
          <a:solidFill>
            <a:srgbClr val="7A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888888"/>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DD4444"/>
                </a:solidFill>
                <a:latin typeface="Calibri"/>
              </a:rPr>
              <a:t>⚠  Conger: cert #3 (44,000 sh.) not listed by name on the ledger (folded into 'other'). Motion 2 corrects both.</a:t>
            </a:r>
          </a:p>
        </p:txBody>
      </p:sp>
      <p:sp>
        <p:nvSpPr>
          <p:cNvPr id="63" name="TextBox 62"/>
          <p:cNvSpPr txBox="1"/>
          <p:nvPr/>
        </p:nvSpPr>
        <p:spPr>
          <a:xfrm>
            <a:off x="256032" y="2898648"/>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108960"/>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CCCCCC"/>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CCCCCC"/>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FFCC44"/>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914400" cy="164592"/>
          </a:xfrm>
          <a:prstGeom prst="rect">
            <a:avLst/>
          </a:prstGeom>
          <a:noFill/>
        </p:spPr>
        <p:txBody>
          <a:bodyPr wrap="none">
            <a:spAutoFit/>
          </a:bodyPr>
          <a:lstStyle/>
          <a:p>
            <a:r>
              <a:rPr lang="en-US" sz="1000" b="1" dirty="0">
                <a:solidFill>
                  <a:srgbClr val="F26A21"/>
                </a:solidFill>
                <a:latin typeface="Calibri"/>
              </a:rPr>
              <a:t>Holder</a:t>
            </a:r>
          </a:p>
        </p:txBody>
      </p:sp>
      <p:sp>
        <p:nvSpPr>
          <p:cNvPr id="97" name="TextBox 96"/>
          <p:cNvSpPr txBox="1"/>
          <p:nvPr/>
        </p:nvSpPr>
        <p:spPr>
          <a:xfrm>
            <a:off x="1188720" y="969264"/>
            <a:ext cx="685800" cy="164592"/>
          </a:xfrm>
          <a:prstGeom prst="rect">
            <a:avLst/>
          </a:prstGeom>
          <a:noFill/>
        </p:spPr>
        <p:txBody>
          <a:bodyPr wrap="none">
            <a:spAutoFit/>
          </a:bodyPr>
          <a:lstStyle/>
          <a:p>
            <a:pPr algn="r"/>
            <a:r>
              <a:rPr lang="en-US" sz="1000" b="1" dirty="0">
                <a:solidFill>
                  <a:srgbClr val="F26A21"/>
                </a:solidFill>
                <a:latin typeface="Calibri"/>
              </a:rPr>
              <a:t>Register</a:t>
            </a:r>
          </a:p>
        </p:txBody>
      </p:sp>
      <p:sp>
        <p:nvSpPr>
          <p:cNvPr id="98" name="TextBox 97"/>
          <p:cNvSpPr txBox="1"/>
          <p:nvPr/>
        </p:nvSpPr>
        <p:spPr>
          <a:xfrm>
            <a:off x="1901952" y="969264"/>
            <a:ext cx="594360" cy="164592"/>
          </a:xfrm>
          <a:prstGeom prst="rect">
            <a:avLst/>
          </a:prstGeom>
          <a:noFill/>
        </p:spPr>
        <p:txBody>
          <a:bodyPr wrap="none">
            <a:spAutoFit/>
          </a:bodyPr>
          <a:lstStyle/>
          <a:p>
            <a:pPr algn="r"/>
            <a:r>
              <a:rPr lang="en-US" sz="1000" b="1" dirty="0">
                <a:solidFill>
                  <a:srgbClr val="F26A21"/>
                </a:solidFill>
                <a:latin typeface="Calibri"/>
              </a:rPr>
              <a:t>Reg %</a:t>
            </a:r>
          </a:p>
        </p:txBody>
      </p:sp>
      <p:sp>
        <p:nvSpPr>
          <p:cNvPr id="99" name="TextBox 98"/>
          <p:cNvSpPr txBox="1"/>
          <p:nvPr/>
        </p:nvSpPr>
        <p:spPr>
          <a:xfrm>
            <a:off x="2523744" y="969264"/>
            <a:ext cx="685800" cy="164592"/>
          </a:xfrm>
          <a:prstGeom prst="rect">
            <a:avLst/>
          </a:prstGeom>
          <a:noFill/>
        </p:spPr>
        <p:txBody>
          <a:bodyPr wrap="none">
            <a:spAutoFit/>
          </a:bodyPr>
          <a:lstStyle/>
          <a:p>
            <a:pPr algn="r"/>
            <a:r>
              <a:rPr lang="en-US" sz="1000" b="1" dirty="0">
                <a:solidFill>
                  <a:srgbClr val="F26A21"/>
                </a:solidFill>
                <a:latin typeface="Calibri"/>
              </a:rPr>
              <a:t>Ledger</a:t>
            </a:r>
          </a:p>
        </p:txBody>
      </p:sp>
      <p:sp>
        <p:nvSpPr>
          <p:cNvPr id="100" name="TextBox 99"/>
          <p:cNvSpPr txBox="1"/>
          <p:nvPr/>
        </p:nvSpPr>
        <p:spPr>
          <a:xfrm>
            <a:off x="3236976" y="969264"/>
            <a:ext cx="594360" cy="164592"/>
          </a:xfrm>
          <a:prstGeom prst="rect">
            <a:avLst/>
          </a:prstGeom>
          <a:noFill/>
        </p:spPr>
        <p:txBody>
          <a:bodyPr wrap="none">
            <a:spAutoFit/>
          </a:bodyPr>
          <a:lstStyle/>
          <a:p>
            <a:pPr algn="r"/>
            <a:r>
              <a:rPr lang="en-US" sz="1000" b="1" dirty="0">
                <a:solidFill>
                  <a:srgbClr val="F26A21"/>
                </a:solidFill>
                <a:latin typeface="Calibri"/>
              </a:rPr>
              <a:t>Ldgr %</a:t>
            </a:r>
          </a:p>
        </p:txBody>
      </p:sp>
      <p:sp>
        <p:nvSpPr>
          <p:cNvPr id="101" name="TextBox 100"/>
          <p:cNvSpPr txBox="1"/>
          <p:nvPr/>
        </p:nvSpPr>
        <p:spPr>
          <a:xfrm>
            <a:off x="3858768" y="969264"/>
            <a:ext cx="822960" cy="164592"/>
          </a:xfrm>
          <a:prstGeom prst="rect">
            <a:avLst/>
          </a:prstGeom>
          <a:noFill/>
        </p:spPr>
        <p:txBody>
          <a:bodyPr wrap="none">
            <a:spAutoFit/>
          </a:bodyPr>
          <a:lstStyle/>
          <a:p>
            <a:pPr algn="r"/>
            <a:r>
              <a:rPr lang="en-US" sz="1000" b="1" dirty="0">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91440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188720" y="1152144"/>
            <a:ext cx="685800" cy="155448"/>
          </a:xfrm>
          <a:prstGeom prst="rect">
            <a:avLst/>
          </a:prstGeom>
          <a:noFill/>
        </p:spPr>
        <p:txBody>
          <a:bodyPr wrap="none">
            <a:spAutoFit/>
          </a:bodyPr>
          <a:lstStyle/>
          <a:p>
            <a:pPr algn="r"/>
            <a:r>
              <a:rPr lang="en-US" sz="1000" dirty="0">
                <a:solidFill>
                  <a:srgbClr val="CCCCCC"/>
                </a:solidFill>
                <a:latin typeface="Calibri"/>
              </a:rPr>
              <a:t>280,000</a:t>
            </a:r>
          </a:p>
        </p:txBody>
      </p:sp>
      <p:sp>
        <p:nvSpPr>
          <p:cNvPr id="105" name="TextBox 104"/>
          <p:cNvSpPr txBox="1"/>
          <p:nvPr/>
        </p:nvSpPr>
        <p:spPr>
          <a:xfrm>
            <a:off x="1901952" y="1152144"/>
            <a:ext cx="594360" cy="155448"/>
          </a:xfrm>
          <a:prstGeom prst="rect">
            <a:avLst/>
          </a:prstGeom>
          <a:noFill/>
        </p:spPr>
        <p:txBody>
          <a:bodyPr wrap="none">
            <a:spAutoFit/>
          </a:bodyPr>
          <a:lstStyle/>
          <a:p>
            <a:pPr algn="r"/>
            <a:r>
              <a:rPr lang="en-US" sz="1000" dirty="0">
                <a:solidFill>
                  <a:srgbClr val="CCCCCC"/>
                </a:solidFill>
                <a:latin typeface="Calibri"/>
              </a:rPr>
              <a:t>32.09%</a:t>
            </a:r>
          </a:p>
        </p:txBody>
      </p:sp>
      <p:sp>
        <p:nvSpPr>
          <p:cNvPr id="106" name="TextBox 105"/>
          <p:cNvSpPr txBox="1"/>
          <p:nvPr/>
        </p:nvSpPr>
        <p:spPr>
          <a:xfrm>
            <a:off x="2523744" y="1152144"/>
            <a:ext cx="685800" cy="155448"/>
          </a:xfrm>
          <a:prstGeom prst="rect">
            <a:avLst/>
          </a:prstGeom>
          <a:noFill/>
        </p:spPr>
        <p:txBody>
          <a:bodyPr wrap="none">
            <a:spAutoFit/>
          </a:bodyPr>
          <a:lstStyle/>
          <a:p>
            <a:pPr algn="r"/>
            <a:r>
              <a:rPr lang="en-US" sz="1000" dirty="0">
                <a:solidFill>
                  <a:srgbClr val="CCCCCC"/>
                </a:solidFill>
                <a:latin typeface="Calibri"/>
              </a:rPr>
              <a:t>280,000</a:t>
            </a:r>
          </a:p>
        </p:txBody>
      </p:sp>
      <p:sp>
        <p:nvSpPr>
          <p:cNvPr id="107" name="TextBox 106"/>
          <p:cNvSpPr txBox="1"/>
          <p:nvPr/>
        </p:nvSpPr>
        <p:spPr>
          <a:xfrm>
            <a:off x="3236976" y="1152144"/>
            <a:ext cx="594360" cy="155448"/>
          </a:xfrm>
          <a:prstGeom prst="rect">
            <a:avLst/>
          </a:prstGeom>
          <a:noFill/>
        </p:spPr>
        <p:txBody>
          <a:bodyPr wrap="none">
            <a:spAutoFit/>
          </a:bodyPr>
          <a:lstStyle/>
          <a:p>
            <a:pPr algn="r"/>
            <a:r>
              <a:rPr lang="en-US" sz="1000" dirty="0">
                <a:solidFill>
                  <a:srgbClr val="CCCCCC"/>
                </a:solidFill>
                <a:latin typeface="Calibri"/>
              </a:rPr>
              <a:t>33.02%</a:t>
            </a:r>
          </a:p>
        </p:txBody>
      </p:sp>
      <p:sp>
        <p:nvSpPr>
          <p:cNvPr id="108" name="TextBox 107"/>
          <p:cNvSpPr txBox="1"/>
          <p:nvPr/>
        </p:nvSpPr>
        <p:spPr>
          <a:xfrm>
            <a:off x="3858768" y="1152144"/>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09" name="TextBox 108"/>
          <p:cNvSpPr txBox="1"/>
          <p:nvPr/>
        </p:nvSpPr>
        <p:spPr>
          <a:xfrm>
            <a:off x="256032" y="1316736"/>
            <a:ext cx="91440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188720" y="1316736"/>
            <a:ext cx="685800" cy="155448"/>
          </a:xfrm>
          <a:prstGeom prst="rect">
            <a:avLst/>
          </a:prstGeom>
          <a:noFill/>
        </p:spPr>
        <p:txBody>
          <a:bodyPr wrap="none">
            <a:spAutoFit/>
          </a:bodyPr>
          <a:lstStyle/>
          <a:p>
            <a:pPr algn="r"/>
            <a:r>
              <a:rPr lang="en-US" sz="1000" dirty="0">
                <a:solidFill>
                  <a:srgbClr val="CCCCCC"/>
                </a:solidFill>
                <a:latin typeface="Calibri"/>
              </a:rPr>
              <a:t>103,000</a:t>
            </a:r>
          </a:p>
        </p:txBody>
      </p:sp>
      <p:sp>
        <p:nvSpPr>
          <p:cNvPr id="111" name="TextBox 110"/>
          <p:cNvSpPr txBox="1"/>
          <p:nvPr/>
        </p:nvSpPr>
        <p:spPr>
          <a:xfrm>
            <a:off x="1901952" y="1316736"/>
            <a:ext cx="594360" cy="155448"/>
          </a:xfrm>
          <a:prstGeom prst="rect">
            <a:avLst/>
          </a:prstGeom>
          <a:noFill/>
        </p:spPr>
        <p:txBody>
          <a:bodyPr wrap="none">
            <a:spAutoFit/>
          </a:bodyPr>
          <a:lstStyle/>
          <a:p>
            <a:pPr algn="r"/>
            <a:r>
              <a:rPr lang="en-US" sz="1000" dirty="0">
                <a:solidFill>
                  <a:srgbClr val="CCCCCC"/>
                </a:solidFill>
                <a:latin typeface="Calibri"/>
              </a:rPr>
              <a:t>11.80%</a:t>
            </a:r>
          </a:p>
        </p:txBody>
      </p:sp>
      <p:sp>
        <p:nvSpPr>
          <p:cNvPr id="112" name="TextBox 111"/>
          <p:cNvSpPr txBox="1"/>
          <p:nvPr/>
        </p:nvSpPr>
        <p:spPr>
          <a:xfrm>
            <a:off x="2523744" y="1316736"/>
            <a:ext cx="685800" cy="155448"/>
          </a:xfrm>
          <a:prstGeom prst="rect">
            <a:avLst/>
          </a:prstGeom>
          <a:noFill/>
        </p:spPr>
        <p:txBody>
          <a:bodyPr wrap="none">
            <a:spAutoFit/>
          </a:bodyPr>
          <a:lstStyle/>
          <a:p>
            <a:pPr algn="r"/>
            <a:r>
              <a:rPr lang="en-US" sz="1000" dirty="0">
                <a:solidFill>
                  <a:srgbClr val="CCCCCC"/>
                </a:solidFill>
                <a:latin typeface="Calibri"/>
              </a:rPr>
              <a:t>103,000</a:t>
            </a:r>
          </a:p>
        </p:txBody>
      </p:sp>
      <p:sp>
        <p:nvSpPr>
          <p:cNvPr id="113" name="TextBox 112"/>
          <p:cNvSpPr txBox="1"/>
          <p:nvPr/>
        </p:nvSpPr>
        <p:spPr>
          <a:xfrm>
            <a:off x="3236976" y="1316736"/>
            <a:ext cx="594360" cy="155448"/>
          </a:xfrm>
          <a:prstGeom prst="rect">
            <a:avLst/>
          </a:prstGeom>
          <a:noFill/>
        </p:spPr>
        <p:txBody>
          <a:bodyPr wrap="none">
            <a:spAutoFit/>
          </a:bodyPr>
          <a:lstStyle/>
          <a:p>
            <a:pPr algn="r"/>
            <a:r>
              <a:rPr lang="en-US" sz="1000" dirty="0">
                <a:solidFill>
                  <a:srgbClr val="CCCCCC"/>
                </a:solidFill>
                <a:latin typeface="Calibri"/>
              </a:rPr>
              <a:t>12.15%</a:t>
            </a:r>
          </a:p>
        </p:txBody>
      </p:sp>
      <p:sp>
        <p:nvSpPr>
          <p:cNvPr id="114" name="TextBox 113"/>
          <p:cNvSpPr txBox="1"/>
          <p:nvPr/>
        </p:nvSpPr>
        <p:spPr>
          <a:xfrm>
            <a:off x="3858768" y="1316736"/>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15" name="TextBox 114"/>
          <p:cNvSpPr txBox="1"/>
          <p:nvPr/>
        </p:nvSpPr>
        <p:spPr>
          <a:xfrm>
            <a:off x="256032" y="1481328"/>
            <a:ext cx="914400" cy="155448"/>
          </a:xfrm>
          <a:prstGeom prst="rect">
            <a:avLst/>
          </a:prstGeom>
          <a:noFill/>
        </p:spPr>
        <p:txBody>
          <a:bodyPr wrap="none">
            <a:spAutoFit/>
          </a:bodyPr>
          <a:lstStyle/>
          <a:p>
            <a:r>
              <a:rPr lang="en-US" sz="1000" dirty="0" b="1">
                <a:solidFill>
                  <a:srgbClr val="FFFFFF"/>
                </a:solidFill>
                <a:latin typeface="Calibri"/>
              </a:rPr>
              <a:t>Exos</a:t>
            </a:r>
          </a:p>
        </p:txBody>
      </p:sp>
      <p:sp>
        <p:nvSpPr>
          <p:cNvPr id="116" name="TextBox 115"/>
          <p:cNvSpPr txBox="1"/>
          <p:nvPr/>
        </p:nvSpPr>
        <p:spPr>
          <a:xfrm>
            <a:off x="1188720" y="1481328"/>
            <a:ext cx="685800" cy="155448"/>
          </a:xfrm>
          <a:prstGeom prst="rect">
            <a:avLst/>
          </a:prstGeom>
          <a:noFill/>
        </p:spPr>
        <p:txBody>
          <a:bodyPr wrap="none">
            <a:spAutoFit/>
          </a:bodyPr>
          <a:lstStyle/>
          <a:p>
            <a:pPr algn="r"/>
            <a:r>
              <a:rPr lang="en-US" sz="1000" dirty="0" b="1">
                <a:solidFill>
                  <a:srgbClr val="FFFFFF"/>
                </a:solidFill>
                <a:latin typeface="Calibri"/>
              </a:rPr>
              <a:t>157,553</a:t>
            </a:r>
          </a:p>
        </p:txBody>
      </p:sp>
      <p:sp>
        <p:nvSpPr>
          <p:cNvPr id="117" name="TextBox 116"/>
          <p:cNvSpPr txBox="1"/>
          <p:nvPr/>
        </p:nvSpPr>
        <p:spPr>
          <a:xfrm>
            <a:off x="1901952" y="1481328"/>
            <a:ext cx="594360" cy="155448"/>
          </a:xfrm>
          <a:prstGeom prst="rect">
            <a:avLst/>
          </a:prstGeom>
          <a:noFill/>
        </p:spPr>
        <p:txBody>
          <a:bodyPr wrap="none">
            <a:spAutoFit/>
          </a:bodyPr>
          <a:lstStyle/>
          <a:p>
            <a:pPr algn="r"/>
            <a:r>
              <a:rPr lang="en-US" sz="1000" dirty="0" b="1">
                <a:solidFill>
                  <a:srgbClr val="FFFFFF"/>
                </a:solidFill>
                <a:latin typeface="Calibri"/>
              </a:rPr>
              <a:t>18.06%</a:t>
            </a:r>
          </a:p>
        </p:txBody>
      </p:sp>
      <p:sp>
        <p:nvSpPr>
          <p:cNvPr id="118" name="TextBox 117"/>
          <p:cNvSpPr txBox="1"/>
          <p:nvPr/>
        </p:nvSpPr>
        <p:spPr>
          <a:xfrm>
            <a:off x="2523744" y="1481328"/>
            <a:ext cx="685800" cy="155448"/>
          </a:xfrm>
          <a:prstGeom prst="rect">
            <a:avLst/>
          </a:prstGeom>
          <a:noFill/>
        </p:spPr>
        <p:txBody>
          <a:bodyPr wrap="none">
            <a:spAutoFit/>
          </a:bodyPr>
          <a:lstStyle/>
          <a:p>
            <a:pPr algn="r"/>
            <a:r>
              <a:rPr lang="en-US" sz="1000" dirty="0" b="1">
                <a:solidFill>
                  <a:srgbClr val="FFFFFF"/>
                </a:solidFill>
                <a:latin typeface="Calibri"/>
              </a:rPr>
              <a:t>132,972</a:t>
            </a:r>
          </a:p>
        </p:txBody>
      </p:sp>
      <p:sp>
        <p:nvSpPr>
          <p:cNvPr id="119" name="TextBox 118"/>
          <p:cNvSpPr txBox="1"/>
          <p:nvPr/>
        </p:nvSpPr>
        <p:spPr>
          <a:xfrm>
            <a:off x="3236976" y="1481328"/>
            <a:ext cx="594360" cy="155448"/>
          </a:xfrm>
          <a:prstGeom prst="rect">
            <a:avLst/>
          </a:prstGeom>
          <a:noFill/>
        </p:spPr>
        <p:txBody>
          <a:bodyPr wrap="none">
            <a:spAutoFit/>
          </a:bodyPr>
          <a:lstStyle/>
          <a:p>
            <a:pPr algn="r"/>
            <a:r>
              <a:rPr lang="en-US" sz="1000" dirty="0" b="1">
                <a:solidFill>
                  <a:srgbClr val="FFFFFF"/>
                </a:solidFill>
                <a:latin typeface="Calibri"/>
              </a:rPr>
              <a:t>15.68%</a:t>
            </a:r>
          </a:p>
        </p:txBody>
      </p:sp>
      <p:sp>
        <p:nvSpPr>
          <p:cNvPr id="120" name="TextBox 119"/>
          <p:cNvSpPr txBox="1"/>
          <p:nvPr/>
        </p:nvSpPr>
        <p:spPr>
          <a:xfrm>
            <a:off x="3858768" y="1481328"/>
            <a:ext cx="822960" cy="155448"/>
          </a:xfrm>
          <a:prstGeom prst="rect">
            <a:avLst/>
          </a:prstGeom>
          <a:noFill/>
        </p:spPr>
        <p:txBody>
          <a:bodyPr wrap="none">
            <a:spAutoFit/>
          </a:bodyPr>
          <a:lstStyle/>
          <a:p>
            <a:pPr algn="r"/>
            <a:r>
              <a:rPr lang="en-US" sz="1000" dirty="0" b="1">
                <a:solidFill>
                  <a:srgbClr val="FFFFFF"/>
                </a:solidFill>
                <a:latin typeface="Calibri"/>
              </a:rPr>
              <a:t>-24,581</a:t>
            </a:r>
          </a:p>
        </p:txBody>
      </p:sp>
      <p:sp>
        <p:nvSpPr>
          <p:cNvPr id="121" name="TextBox 120"/>
          <p:cNvSpPr txBox="1"/>
          <p:nvPr/>
        </p:nvSpPr>
        <p:spPr>
          <a:xfrm>
            <a:off x="256032" y="1645920"/>
            <a:ext cx="914400" cy="155448"/>
          </a:xfrm>
          <a:prstGeom prst="rect">
            <a:avLst/>
          </a:prstGeom>
          <a:noFill/>
        </p:spPr>
        <p:txBody>
          <a:bodyPr wrap="none">
            <a:spAutoFit/>
          </a:bodyPr>
          <a:lstStyle/>
          <a:p>
            <a:r>
              <a:rPr lang="en-US" sz="1000" dirty="0" b="1">
                <a:solidFill>
                  <a:srgbClr val="FFFFFF"/>
                </a:solidFill>
                <a:latin typeface="Calibri"/>
              </a:rPr>
              <a:t>Conger</a:t>
            </a:r>
          </a:p>
        </p:txBody>
      </p:sp>
      <p:sp>
        <p:nvSpPr>
          <p:cNvPr id="122" name="TextBox 121"/>
          <p:cNvSpPr txBox="1"/>
          <p:nvPr/>
        </p:nvSpPr>
        <p:spPr>
          <a:xfrm>
            <a:off x="1188720" y="1645920"/>
            <a:ext cx="685800" cy="155448"/>
          </a:xfrm>
          <a:prstGeom prst="rect">
            <a:avLst/>
          </a:prstGeom>
          <a:noFill/>
        </p:spPr>
        <p:txBody>
          <a:bodyPr wrap="none">
            <a:spAutoFit/>
          </a:bodyPr>
          <a:lstStyle/>
          <a:p>
            <a:pPr algn="r"/>
            <a:r>
              <a:rPr lang="en-US" sz="1000" dirty="0" b="1">
                <a:solidFill>
                  <a:srgbClr val="FFFFFF"/>
                </a:solidFill>
                <a:latin typeface="Calibri"/>
              </a:rPr>
              <a:t>73,000</a:t>
            </a:r>
          </a:p>
        </p:txBody>
      </p:sp>
      <p:sp>
        <p:nvSpPr>
          <p:cNvPr id="123" name="TextBox 122"/>
          <p:cNvSpPr txBox="1"/>
          <p:nvPr/>
        </p:nvSpPr>
        <p:spPr>
          <a:xfrm>
            <a:off x="1901952" y="1645920"/>
            <a:ext cx="594360" cy="155448"/>
          </a:xfrm>
          <a:prstGeom prst="rect">
            <a:avLst/>
          </a:prstGeom>
          <a:noFill/>
        </p:spPr>
        <p:txBody>
          <a:bodyPr wrap="none">
            <a:spAutoFit/>
          </a:bodyPr>
          <a:lstStyle/>
          <a:p>
            <a:pPr algn="r"/>
            <a:r>
              <a:rPr lang="en-US" sz="1000" dirty="0" b="1">
                <a:solidFill>
                  <a:srgbClr val="FFFFFF"/>
                </a:solidFill>
                <a:latin typeface="Calibri"/>
              </a:rPr>
              <a:t> 8.37%</a:t>
            </a:r>
          </a:p>
        </p:txBody>
      </p:sp>
      <p:sp>
        <p:nvSpPr>
          <p:cNvPr id="124" name="TextBox 123"/>
          <p:cNvSpPr txBox="1"/>
          <p:nvPr/>
        </p:nvSpPr>
        <p:spPr>
          <a:xfrm>
            <a:off x="2523744" y="1645920"/>
            <a:ext cx="685800" cy="155448"/>
          </a:xfrm>
          <a:prstGeom prst="rect">
            <a:avLst/>
          </a:prstGeom>
          <a:noFill/>
        </p:spPr>
        <p:txBody>
          <a:bodyPr wrap="none">
            <a:spAutoFit/>
          </a:bodyPr>
          <a:lstStyle/>
          <a:p>
            <a:pPr algn="r"/>
            <a:r>
              <a:rPr lang="en-US" sz="1000" dirty="0" b="1">
                <a:solidFill>
                  <a:srgbClr val="FFFFFF"/>
                </a:solidFill>
                <a:latin typeface="Calibri"/>
              </a:rPr>
              <a:t>29,000</a:t>
            </a:r>
          </a:p>
        </p:txBody>
      </p:sp>
      <p:sp>
        <p:nvSpPr>
          <p:cNvPr id="125" name="TextBox 124"/>
          <p:cNvSpPr txBox="1"/>
          <p:nvPr/>
        </p:nvSpPr>
        <p:spPr>
          <a:xfrm>
            <a:off x="3236976" y="1645920"/>
            <a:ext cx="594360" cy="155448"/>
          </a:xfrm>
          <a:prstGeom prst="rect">
            <a:avLst/>
          </a:prstGeom>
          <a:noFill/>
        </p:spPr>
        <p:txBody>
          <a:bodyPr wrap="none">
            <a:spAutoFit/>
          </a:bodyPr>
          <a:lstStyle/>
          <a:p>
            <a:pPr algn="r"/>
            <a:r>
              <a:rPr lang="en-US" sz="1000" dirty="0" b="1">
                <a:solidFill>
                  <a:srgbClr val="FFFFFF"/>
                </a:solidFill>
                <a:latin typeface="Calibri"/>
              </a:rPr>
              <a:t> 3.42%</a:t>
            </a:r>
          </a:p>
        </p:txBody>
      </p:sp>
      <p:sp>
        <p:nvSpPr>
          <p:cNvPr id="126" name="TextBox 125"/>
          <p:cNvSpPr txBox="1"/>
          <p:nvPr/>
        </p:nvSpPr>
        <p:spPr>
          <a:xfrm>
            <a:off x="3858768" y="1645920"/>
            <a:ext cx="822960" cy="155448"/>
          </a:xfrm>
          <a:prstGeom prst="rect">
            <a:avLst/>
          </a:prstGeom>
          <a:noFill/>
        </p:spPr>
        <p:txBody>
          <a:bodyPr wrap="none">
            <a:spAutoFit/>
          </a:bodyPr>
          <a:lstStyle/>
          <a:p>
            <a:pPr algn="r"/>
            <a:r>
              <a:rPr lang="en-US" sz="1000" dirty="0" b="1">
                <a:solidFill>
                  <a:srgbClr val="FFFFFF"/>
                </a:solidFill>
                <a:latin typeface="Calibri"/>
              </a:rPr>
              <a:t>-44,000</a:t>
            </a:r>
          </a:p>
        </p:txBody>
      </p:sp>
      <p:sp>
        <p:nvSpPr>
          <p:cNvPr id="127" name="TextBox 126"/>
          <p:cNvSpPr txBox="1"/>
          <p:nvPr/>
        </p:nvSpPr>
        <p:spPr>
          <a:xfrm>
            <a:off x="256032" y="1810512"/>
            <a:ext cx="91440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188720" y="1810512"/>
            <a:ext cx="685800" cy="155448"/>
          </a:xfrm>
          <a:prstGeom prst="rect">
            <a:avLst/>
          </a:prstGeom>
          <a:noFill/>
        </p:spPr>
        <p:txBody>
          <a:bodyPr wrap="none">
            <a:spAutoFit/>
          </a:bodyPr>
          <a:lstStyle/>
          <a:p>
            <a:pPr algn="r"/>
            <a:r>
              <a:rPr lang="en-US" sz="1000" dirty="0">
                <a:solidFill>
                  <a:srgbClr val="CCCCCC"/>
                </a:solidFill>
                <a:latin typeface="Calibri"/>
              </a:rPr>
              <a:t>91,000</a:t>
            </a:r>
          </a:p>
        </p:txBody>
      </p:sp>
      <p:sp>
        <p:nvSpPr>
          <p:cNvPr id="129" name="TextBox 128"/>
          <p:cNvSpPr txBox="1"/>
          <p:nvPr/>
        </p:nvSpPr>
        <p:spPr>
          <a:xfrm>
            <a:off x="1901952" y="1810512"/>
            <a:ext cx="594360" cy="155448"/>
          </a:xfrm>
          <a:prstGeom prst="rect">
            <a:avLst/>
          </a:prstGeom>
          <a:noFill/>
        </p:spPr>
        <p:txBody>
          <a:bodyPr wrap="none">
            <a:spAutoFit/>
          </a:bodyPr>
          <a:lstStyle/>
          <a:p>
            <a:pPr algn="r"/>
            <a:r>
              <a:rPr lang="en-US" sz="1000" dirty="0">
                <a:solidFill>
                  <a:srgbClr val="CCCCCC"/>
                </a:solidFill>
                <a:latin typeface="Calibri"/>
              </a:rPr>
              <a:t>10.43%</a:t>
            </a:r>
          </a:p>
        </p:txBody>
      </p:sp>
      <p:sp>
        <p:nvSpPr>
          <p:cNvPr id="130" name="TextBox 129"/>
          <p:cNvSpPr txBox="1"/>
          <p:nvPr/>
        </p:nvSpPr>
        <p:spPr>
          <a:xfrm>
            <a:off x="2523744" y="1810512"/>
            <a:ext cx="685800" cy="155448"/>
          </a:xfrm>
          <a:prstGeom prst="rect">
            <a:avLst/>
          </a:prstGeom>
          <a:noFill/>
        </p:spPr>
        <p:txBody>
          <a:bodyPr wrap="none">
            <a:spAutoFit/>
          </a:bodyPr>
          <a:lstStyle/>
          <a:p>
            <a:pPr algn="r"/>
            <a:r>
              <a:rPr lang="en-US" sz="1000" dirty="0">
                <a:solidFill>
                  <a:srgbClr val="CCCCCC"/>
                </a:solidFill>
                <a:latin typeface="Calibri"/>
              </a:rPr>
              <a:t>91,000</a:t>
            </a:r>
          </a:p>
        </p:txBody>
      </p:sp>
      <p:sp>
        <p:nvSpPr>
          <p:cNvPr id="131" name="TextBox 130"/>
          <p:cNvSpPr txBox="1"/>
          <p:nvPr/>
        </p:nvSpPr>
        <p:spPr>
          <a:xfrm>
            <a:off x="3236976" y="1810512"/>
            <a:ext cx="594360" cy="155448"/>
          </a:xfrm>
          <a:prstGeom prst="rect">
            <a:avLst/>
          </a:prstGeom>
          <a:noFill/>
        </p:spPr>
        <p:txBody>
          <a:bodyPr wrap="none">
            <a:spAutoFit/>
          </a:bodyPr>
          <a:lstStyle/>
          <a:p>
            <a:pPr algn="r"/>
            <a:r>
              <a:rPr lang="en-US" sz="1000" dirty="0">
                <a:solidFill>
                  <a:srgbClr val="CCCCCC"/>
                </a:solidFill>
                <a:latin typeface="Calibri"/>
              </a:rPr>
              <a:t>10.73%</a:t>
            </a:r>
          </a:p>
        </p:txBody>
      </p:sp>
      <p:sp>
        <p:nvSpPr>
          <p:cNvPr id="132" name="TextBox 131"/>
          <p:cNvSpPr txBox="1"/>
          <p:nvPr/>
        </p:nvSpPr>
        <p:spPr>
          <a:xfrm>
            <a:off x="3858768" y="1810512"/>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33" name="TextBox 132"/>
          <p:cNvSpPr txBox="1"/>
          <p:nvPr/>
        </p:nvSpPr>
        <p:spPr>
          <a:xfrm>
            <a:off x="256032" y="1975104"/>
            <a:ext cx="91440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188720" y="1975104"/>
            <a:ext cx="685800" cy="155448"/>
          </a:xfrm>
          <a:prstGeom prst="rect">
            <a:avLst/>
          </a:prstGeom>
          <a:noFill/>
        </p:spPr>
        <p:txBody>
          <a:bodyPr wrap="none">
            <a:spAutoFit/>
          </a:bodyPr>
          <a:lstStyle/>
          <a:p>
            <a:pPr algn="r"/>
            <a:r>
              <a:rPr lang="en-US" sz="1000" dirty="0">
                <a:solidFill>
                  <a:srgbClr val="CCCCCC"/>
                </a:solidFill>
                <a:latin typeface="Calibri"/>
              </a:rPr>
              <a:t>167,972</a:t>
            </a:r>
          </a:p>
        </p:txBody>
      </p:sp>
      <p:sp>
        <p:nvSpPr>
          <p:cNvPr id="135" name="TextBox 134"/>
          <p:cNvSpPr txBox="1"/>
          <p:nvPr/>
        </p:nvSpPr>
        <p:spPr>
          <a:xfrm>
            <a:off x="1901952" y="1975104"/>
            <a:ext cx="594360" cy="155448"/>
          </a:xfrm>
          <a:prstGeom prst="rect">
            <a:avLst/>
          </a:prstGeom>
          <a:noFill/>
        </p:spPr>
        <p:txBody>
          <a:bodyPr wrap="none">
            <a:spAutoFit/>
          </a:bodyPr>
          <a:lstStyle/>
          <a:p>
            <a:pPr algn="r"/>
            <a:r>
              <a:rPr lang="en-US" sz="1000" dirty="0">
                <a:solidFill>
                  <a:srgbClr val="CCCCCC"/>
                </a:solidFill>
                <a:latin typeface="Calibri"/>
              </a:rPr>
              <a:t>19.25%</a:t>
            </a:r>
          </a:p>
        </p:txBody>
      </p:sp>
      <p:sp>
        <p:nvSpPr>
          <p:cNvPr id="136" name="TextBox 135"/>
          <p:cNvSpPr txBox="1"/>
          <p:nvPr/>
        </p:nvSpPr>
        <p:spPr>
          <a:xfrm>
            <a:off x="2523744" y="1975104"/>
            <a:ext cx="685800" cy="155448"/>
          </a:xfrm>
          <a:prstGeom prst="rect">
            <a:avLst/>
          </a:prstGeom>
          <a:noFill/>
        </p:spPr>
        <p:txBody>
          <a:bodyPr wrap="none">
            <a:spAutoFit/>
          </a:bodyPr>
          <a:lstStyle/>
          <a:p>
            <a:pPr algn="r"/>
            <a:r>
              <a:rPr lang="en-US" sz="1000" dirty="0">
                <a:solidFill>
                  <a:srgbClr val="CCCCCC"/>
                </a:solidFill>
                <a:latin typeface="Calibri"/>
              </a:rPr>
              <a:t>211,972</a:t>
            </a:r>
          </a:p>
        </p:txBody>
      </p:sp>
      <p:sp>
        <p:nvSpPr>
          <p:cNvPr id="137" name="TextBox 136"/>
          <p:cNvSpPr txBox="1"/>
          <p:nvPr/>
        </p:nvSpPr>
        <p:spPr>
          <a:xfrm>
            <a:off x="3236976" y="1975104"/>
            <a:ext cx="594360" cy="155448"/>
          </a:xfrm>
          <a:prstGeom prst="rect">
            <a:avLst/>
          </a:prstGeom>
          <a:noFill/>
        </p:spPr>
        <p:txBody>
          <a:bodyPr wrap="none">
            <a:spAutoFit/>
          </a:bodyPr>
          <a:lstStyle/>
          <a:p>
            <a:pPr algn="r"/>
            <a:r>
              <a:rPr lang="en-US" sz="1000" dirty="0">
                <a:solidFill>
                  <a:srgbClr val="CCCCCC"/>
                </a:solidFill>
                <a:latin typeface="Calibri"/>
              </a:rPr>
              <a:t>25.00%</a:t>
            </a:r>
          </a:p>
        </p:txBody>
      </p:sp>
      <p:sp>
        <p:nvSpPr>
          <p:cNvPr id="138" name="TextBox 137"/>
          <p:cNvSpPr txBox="1"/>
          <p:nvPr/>
        </p:nvSpPr>
        <p:spPr>
          <a:xfrm>
            <a:off x="3858768" y="1975104"/>
            <a:ext cx="822960" cy="155448"/>
          </a:xfrm>
          <a:prstGeom prst="rect">
            <a:avLst/>
          </a:prstGeom>
          <a:noFill/>
        </p:spPr>
        <p:txBody>
          <a:bodyPr wrap="none">
            <a:spAutoFit/>
          </a:bodyPr>
          <a:lstStyle/>
          <a:p>
            <a:pPr algn="r"/>
            <a:r>
              <a:rPr lang="en-US" sz="1000" dirty="0">
                <a:solidFill>
                  <a:srgbClr val="CCCCCC"/>
                </a:solidFill>
                <a:latin typeface="Calibri"/>
              </a:rPr>
              <a:t>+44,000</a:t>
            </a:r>
          </a:p>
        </p:txBody>
      </p:sp>
      <p:sp>
        <p:nvSpPr>
          <p:cNvPr id="139" name="TextBox 138"/>
          <p:cNvSpPr txBox="1"/>
          <p:nvPr/>
        </p:nvSpPr>
        <p:spPr>
          <a:xfrm>
            <a:off x="256032" y="2176272"/>
            <a:ext cx="914400" cy="155448"/>
          </a:xfrm>
          <a:prstGeom prst="rect">
            <a:avLst/>
          </a:prstGeom>
          <a:noFill/>
        </p:spPr>
        <p:txBody>
          <a:bodyPr wrap="none">
            <a:spAutoFit/>
          </a:bodyPr>
          <a:lstStyle/>
          <a:p>
            <a:r>
              <a:rPr lang="en-US" sz="1000" b="1" dirty="0">
                <a:solidFill>
                  <a:srgbClr val="FFFFFF"/>
                </a:solidFill>
                <a:latin typeface="Calibri"/>
              </a:rPr>
              <a:t>TOTAL</a:t>
            </a:r>
          </a:p>
        </p:txBody>
      </p:sp>
      <p:sp>
        <p:nvSpPr>
          <p:cNvPr id="140" name="TextBox 139"/>
          <p:cNvSpPr txBox="1"/>
          <p:nvPr/>
        </p:nvSpPr>
        <p:spPr>
          <a:xfrm>
            <a:off x="1188720" y="2176272"/>
            <a:ext cx="685800" cy="155448"/>
          </a:xfrm>
          <a:prstGeom prst="rect">
            <a:avLst/>
          </a:prstGeom>
          <a:noFill/>
        </p:spPr>
        <p:txBody>
          <a:bodyPr wrap="none">
            <a:spAutoFit/>
          </a:bodyPr>
          <a:lstStyle/>
          <a:p>
            <a:pPr algn="r"/>
            <a:r>
              <a:rPr lang="en-US" sz="1000" b="1" dirty="0">
                <a:solidFill>
                  <a:srgbClr val="FFFFFF"/>
                </a:solidFill>
                <a:latin typeface="Calibri"/>
              </a:rPr>
              <a:t>872,525</a:t>
            </a:r>
          </a:p>
        </p:txBody>
      </p:sp>
      <p:sp>
        <p:nvSpPr>
          <p:cNvPr id="141" name="TextBox 140"/>
          <p:cNvSpPr txBox="1"/>
          <p:nvPr/>
        </p:nvSpPr>
        <p:spPr>
          <a:xfrm>
            <a:off x="1901952" y="2176272"/>
            <a:ext cx="594360" cy="155448"/>
          </a:xfrm>
          <a:prstGeom prst="rect">
            <a:avLst/>
          </a:prstGeom>
          <a:noFill/>
        </p:spPr>
        <p:txBody>
          <a:bodyPr wrap="none">
            <a:spAutoFit/>
          </a:bodyPr>
          <a:lstStyle/>
          <a:p>
            <a:pPr algn="r"/>
            <a:r>
              <a:rPr lang="en-US" sz="1000" b="1" dirty="0">
                <a:solidFill>
                  <a:srgbClr val="FFFFFF"/>
                </a:solidFill>
                <a:latin typeface="Calibri"/>
              </a:rPr>
              <a:t>100.0%</a:t>
            </a:r>
          </a:p>
        </p:txBody>
      </p:sp>
      <p:sp>
        <p:nvSpPr>
          <p:cNvPr id="142" name="TextBox 141"/>
          <p:cNvSpPr txBox="1"/>
          <p:nvPr/>
        </p:nvSpPr>
        <p:spPr>
          <a:xfrm>
            <a:off x="2523744" y="2176272"/>
            <a:ext cx="685800" cy="155448"/>
          </a:xfrm>
          <a:prstGeom prst="rect">
            <a:avLst/>
          </a:prstGeom>
          <a:noFill/>
        </p:spPr>
        <p:txBody>
          <a:bodyPr wrap="none">
            <a:spAutoFit/>
          </a:bodyPr>
          <a:lstStyle/>
          <a:p>
            <a:pPr algn="r"/>
            <a:r>
              <a:rPr lang="en-US" sz="1000" b="1" dirty="0">
                <a:solidFill>
                  <a:srgbClr val="FFFFFF"/>
                </a:solidFill>
                <a:latin typeface="Calibri"/>
              </a:rPr>
              <a:t>847,944</a:t>
            </a:r>
          </a:p>
        </p:txBody>
      </p:sp>
      <p:sp>
        <p:nvSpPr>
          <p:cNvPr id="143" name="TextBox 142"/>
          <p:cNvSpPr txBox="1"/>
          <p:nvPr/>
        </p:nvSpPr>
        <p:spPr>
          <a:xfrm>
            <a:off x="3236976" y="2176272"/>
            <a:ext cx="594360" cy="155448"/>
          </a:xfrm>
          <a:prstGeom prst="rect">
            <a:avLst/>
          </a:prstGeom>
          <a:noFill/>
        </p:spPr>
        <p:txBody>
          <a:bodyPr wrap="none">
            <a:spAutoFit/>
          </a:bodyPr>
          <a:lstStyle/>
          <a:p>
            <a:pPr algn="r"/>
            <a:r>
              <a:rPr lang="en-US" sz="1000" b="1" dirty="0">
                <a:solidFill>
                  <a:srgbClr val="FFFFFF"/>
                </a:solidFill>
                <a:latin typeface="Calibri"/>
              </a:rPr>
              <a:t>100.0%</a:t>
            </a:r>
          </a:p>
        </p:txBody>
      </p:sp>
      <p:sp>
        <p:nvSpPr>
          <p:cNvPr id="144" name="TextBox 143"/>
          <p:cNvSpPr txBox="1"/>
          <p:nvPr/>
        </p:nvSpPr>
        <p:spPr>
          <a:xfrm>
            <a:off x="3858768" y="2176272"/>
            <a:ext cx="822960" cy="155448"/>
          </a:xfrm>
          <a:prstGeom prst="rect">
            <a:avLst/>
          </a:prstGeom>
          <a:noFill/>
        </p:spPr>
        <p:txBody>
          <a:bodyPr wrap="none">
            <a:spAutoFit/>
          </a:bodyPr>
          <a:lstStyle/>
          <a:p>
            <a:pPr algn="r"/>
            <a:r>
              <a:rPr lang="en-US" sz="1000" b="1" dirty="0">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CCCCCC"/>
                </a:solidFill>
                <a:latin typeface="Calibri"/>
              </a:rPr>
              <a:t>Not a receivable. Netted 6/30/2025 (#25925-26):</a:t>
            </a:r>
          </a:p>
          <a:p>
            <a:r>
              <a:rPr lang="en-US" sz="1000" i="1">
                <a:solidFill>
                  <a:srgbClr val="CCCCCC"/>
                </a:solidFill>
                <a:latin typeface="Calibri"/>
              </a:rPr>
              <a:t>$294,499 loan payable + $518,201 no invoices</a:t>
            </a:r>
          </a:p>
          <a:p>
            <a:r>
              <a:rPr lang="en-US" sz="1000" i="1">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090672"/>
            <a:ext cx="4160520" cy="411480"/>
          </a:xfrm>
          <a:prstGeom prst="rect">
            <a:avLst/>
          </a:prstGeom>
          <a:noFill/>
        </p:spPr>
        <p:txBody>
          <a:bodyPr wrap="square">
            <a:spAutoFit/>
          </a:bodyPr>
          <a:lstStyle/>
          <a:p>
            <a:pPr algn="l"/>
            <a:r>
              <a:rPr sz="1000" b="1" i="1">
                <a:solidFill>
                  <a:srgbClr val="FFCC44"/>
                </a:solidFill>
                <a:latin typeface="Calibri"/>
              </a:rPr>
              <a:t>Together: the appearance of self-dealing. Found by MTB Capital; these issues have held up Exos's independent Eqvista fairness opinion.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Of every $1 paid to Microcosm/Wertz at close, 46¢ comes from holders outside that group (they own 46% of the non-Exos pool).</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000" b="1" i="0">
                <a:solidFill>
                  <a:srgbClr val="FFCC44"/>
                </a:solidFill>
                <a:latin typeface="Calibri"/>
              </a:rPr>
              <a:t>Microcosm can resolve this before the vote by providing invoices and agreeing to the corrections. Motion 5 is decided by Quinn, Rufer and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CCCCCC"/>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888888"/>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CCCCCC"/>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CCCCCC"/>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FFCC44"/>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CCCCCC"/>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FFCC44"/>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CCCCCC"/>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CCCCCC"/>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FFCC44"/>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3931920" cy="182880"/>
          </a:xfrm>
          <a:prstGeom prst="rect">
            <a:avLst/>
          </a:prstGeom>
          <a:noFill/>
        </p:spPr>
        <p:txBody>
          <a:bodyPr wrap="none">
            <a:spAutoFit/>
          </a:bodyPr>
          <a:lstStyle/>
          <a:p>
            <a:pPr algn="l"/>
            <a:r>
              <a:rPr sz="1000" b="1" i="0">
                <a:solidFill>
                  <a:srgbClr val="CC8800"/>
                </a:solidFill>
                <a:latin typeface="Calibri"/>
              </a:rPr>
              <a:t>IF THE APRIL 30 ENTRIES ARE NOT CORRECTED</a:t>
            </a:r>
          </a:p>
        </p:txBody>
      </p:sp>
      <p:sp>
        <p:nvSpPr>
          <p:cNvPr id="45" name="TextBox 44"/>
          <p:cNvSpPr txBox="1"/>
          <p:nvPr/>
        </p:nvSpPr>
        <p:spPr>
          <a:xfrm>
            <a:off x="256032" y="2834640"/>
            <a:ext cx="3840480" cy="201168"/>
          </a:xfrm>
          <a:prstGeom prst="rect">
            <a:avLst/>
          </a:prstGeom>
          <a:noFill/>
        </p:spPr>
        <p:txBody>
          <a:bodyPr wrap="none">
            <a:spAutoFit/>
          </a:bodyPr>
          <a:lstStyle/>
          <a:p>
            <a:pPr algn="l"/>
            <a:r>
              <a:rPr sz="1000" b="0" i="0">
                <a:solidFill>
                  <a:srgbClr val="CCCCCC"/>
                </a:solidFill>
                <a:latin typeface="Calibri"/>
              </a:rPr>
              <a:t>Step 1: facility credit + interest ($448K)</a:t>
            </a:r>
          </a:p>
        </p:txBody>
      </p:sp>
      <p:sp>
        <p:nvSpPr>
          <p:cNvPr id="46" name="TextBox 45"/>
          <p:cNvSpPr txBox="1"/>
          <p:nvPr/>
        </p:nvSpPr>
        <p:spPr>
          <a:xfrm>
            <a:off x="4206240" y="2834640"/>
            <a:ext cx="1371600" cy="201168"/>
          </a:xfrm>
          <a:prstGeom prst="rect">
            <a:avLst/>
          </a:prstGeom>
          <a:noFill/>
        </p:spPr>
        <p:txBody>
          <a:bodyPr wrap="none">
            <a:spAutoFit/>
          </a:bodyPr>
          <a:lstStyle/>
          <a:p>
            <a:pPr algn="r"/>
            <a:r>
              <a:rPr sz="1000" b="1" i="0" dirty="0">
                <a:solidFill>
                  <a:srgbClr val="DD4444"/>
                </a:solidFill>
                <a:latin typeface="Calibri"/>
              </a:rPr>
              <a:t>−$5.5K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888888"/>
                </a:solidFill>
                <a:latin typeface="Calibri"/>
              </a:rPr>
              <a:t/>
            </a:r>
          </a:p>
        </p:txBody>
      </p:sp>
      <p:sp>
        <p:nvSpPr>
          <p:cNvPr id="48" name="TextBox 47"/>
          <p:cNvSpPr txBox="1"/>
          <p:nvPr/>
        </p:nvSpPr>
        <p:spPr>
          <a:xfrm>
            <a:off x="5669280" y="2834640"/>
            <a:ext cx="1463040" cy="201168"/>
          </a:xfrm>
          <a:prstGeom prst="rect">
            <a:avLst/>
          </a:prstGeom>
          <a:noFill/>
        </p:spPr>
        <p:txBody>
          <a:bodyPr wrap="none">
            <a:spAutoFit/>
          </a:bodyPr>
          <a:lstStyle/>
          <a:p>
            <a:pPr algn="r"/>
            <a:r>
              <a:rPr sz="1000" b="1" i="0" dirty="0">
                <a:solidFill>
                  <a:srgbClr val="DD4444"/>
                </a:solidFill>
                <a:latin typeface="Calibri"/>
              </a:rPr>
              <a:t>−$45.8K</a:t>
            </a:r>
          </a:p>
        </p:txBody>
      </p:sp>
      <p:sp>
        <p:nvSpPr>
          <p:cNvPr id="49" name="TextBox 48"/>
          <p:cNvSpPr txBox="1"/>
          <p:nvPr/>
        </p:nvSpPr>
        <p:spPr>
          <a:xfrm>
            <a:off x="256032" y="3072384"/>
            <a:ext cx="3840480" cy="201168"/>
          </a:xfrm>
          <a:prstGeom prst="rect">
            <a:avLst/>
          </a:prstGeom>
          <a:noFill/>
        </p:spPr>
        <p:txBody>
          <a:bodyPr wrap="none">
            <a:spAutoFit/>
          </a:bodyPr>
          <a:lstStyle/>
          <a:p>
            <a:pPr algn="l"/>
            <a:r>
              <a:rPr sz="1000" b="0" i="0">
                <a:solidFill>
                  <a:srgbClr val="CCCCCC"/>
                </a:solidFill>
                <a:latin typeface="Calibri"/>
              </a:rPr>
              <a:t>Steps 1+2: + unsupported offsets ($967K)</a:t>
            </a:r>
          </a:p>
        </p:txBody>
      </p:sp>
      <p:sp>
        <p:nvSpPr>
          <p:cNvPr id="50" name="TextBox 49"/>
          <p:cNvSpPr txBox="1"/>
          <p:nvPr/>
        </p:nvSpPr>
        <p:spPr>
          <a:xfrm>
            <a:off x="4206240" y="3072384"/>
            <a:ext cx="1371600" cy="201168"/>
          </a:xfrm>
          <a:prstGeom prst="rect">
            <a:avLst/>
          </a:prstGeom>
          <a:noFill/>
        </p:spPr>
        <p:txBody>
          <a:bodyPr wrap="none">
            <a:spAutoFit/>
          </a:bodyPr>
          <a:lstStyle/>
          <a:p>
            <a:pPr algn="r"/>
            <a:r>
              <a:rPr sz="1000" b="1" i="0" dirty="0">
                <a:solidFill>
                  <a:srgbClr val="DD4444"/>
                </a:solidFill>
                <a:latin typeface="Calibri"/>
              </a:rPr>
              <a:t>−$11.8K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888888"/>
                </a:solidFill>
                <a:latin typeface="Calibri"/>
              </a:rPr>
              <a:t/>
            </a:r>
          </a:p>
        </p:txBody>
      </p:sp>
      <p:sp>
        <p:nvSpPr>
          <p:cNvPr id="52" name="TextBox 51"/>
          <p:cNvSpPr txBox="1"/>
          <p:nvPr/>
        </p:nvSpPr>
        <p:spPr>
          <a:xfrm>
            <a:off x="5669280" y="3072384"/>
            <a:ext cx="1463040" cy="201168"/>
          </a:xfrm>
          <a:prstGeom prst="rect">
            <a:avLst/>
          </a:prstGeom>
          <a:noFill/>
        </p:spPr>
        <p:txBody>
          <a:bodyPr wrap="none">
            <a:spAutoFit/>
          </a:bodyPr>
          <a:lstStyle/>
          <a:p>
            <a:pPr algn="r"/>
            <a:r>
              <a:rPr sz="1000" b="1" i="0" dirty="0">
                <a:solidFill>
                  <a:srgbClr val="DD4444"/>
                </a:solidFill>
                <a:latin typeface="Calibri"/>
              </a:rPr>
              <a:t>−$98.7K</a:t>
            </a:r>
            <a:r>
              <a:rPr lang="en-US" sz="1000" b="1" i="0" dirty="0">
                <a:solidFill>
                  <a:srgbClr val="DD4444"/>
                </a:solidFill>
                <a:latin typeface="Calibri"/>
              </a:rPr>
              <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Today: book equity −$1.44M, so no cash to holders without a sale</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Future: SSLC alone must double revenue to $5.1M+, with no new capital</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are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291840"/>
            <a:ext cx="3840480" cy="201168"/>
          </a:xfrm>
          <a:prstGeom prst="rect">
            <a:avLst/>
          </a:prstGeom>
          <a:noFill/>
        </p:spPr>
        <p:txBody>
          <a:bodyPr wrap="none">
            <a:spAutoFit/>
          </a:bodyPr>
          <a:lstStyle/>
          <a:p>
            <a:r>
              <a:rPr lang="en-US" sz="1000">
                <a:solidFill>
                  <a:srgbClr val="CCCCCC"/>
                </a:solidFill>
                <a:latin typeface="Calibri"/>
              </a:rPr>
              <a:t>Steps 1–3: + full $812K loan ($1.26M)</a:t>
            </a:r>
          </a:p>
        </p:txBody>
      </p:sp>
      <p:sp>
        <p:nvSpPr>
          <p:cNvPr id="70" name="TextBox 69"/>
          <p:cNvSpPr txBox="1"/>
          <p:nvPr/>
        </p:nvSpPr>
        <p:spPr>
          <a:xfrm>
            <a:off x="4206240" y="3291840"/>
            <a:ext cx="1371600" cy="201168"/>
          </a:xfrm>
          <a:prstGeom prst="rect">
            <a:avLst/>
          </a:prstGeom>
          <a:noFill/>
        </p:spPr>
        <p:txBody>
          <a:bodyPr wrap="none">
            <a:spAutoFit/>
          </a:bodyPr>
          <a:lstStyle/>
          <a:p>
            <a:pPr algn="r"/>
            <a:r>
              <a:rPr lang="en-US" sz="1000" b="1">
                <a:solidFill>
                  <a:srgbClr val="DD4444"/>
                </a:solidFill>
                <a:latin typeface="Calibri"/>
              </a:rPr>
              <a:t>−$15.4K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CCCCCC"/>
                </a:solidFill>
                <a:latin typeface="Calibri"/>
              </a:rPr>
              <a:t/>
            </a:r>
          </a:p>
        </p:txBody>
      </p:sp>
      <p:sp>
        <p:nvSpPr>
          <p:cNvPr id="72" name="TextBox 71"/>
          <p:cNvSpPr txBox="1"/>
          <p:nvPr/>
        </p:nvSpPr>
        <p:spPr>
          <a:xfrm>
            <a:off x="5669280" y="3291840"/>
            <a:ext cx="1463040" cy="201168"/>
          </a:xfrm>
          <a:prstGeom prst="rect">
            <a:avLst/>
          </a:prstGeom>
          <a:noFill/>
        </p:spPr>
        <p:txBody>
          <a:bodyPr wrap="none">
            <a:spAutoFit/>
          </a:bodyPr>
          <a:lstStyle/>
          <a:p>
            <a:pPr algn="r"/>
            <a:r>
              <a:rPr lang="en-US" sz="1000" b="1" dirty="0">
                <a:solidFill>
                  <a:srgbClr val="DD4444"/>
                </a:solidFill>
                <a:latin typeface="Calibri"/>
              </a:rPr>
              <a:t>−$128.7K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FFFFFF"/>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CCCCCC"/>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CCCCCC"/>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CCCCCC"/>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FFCC44"/>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CCCCCC"/>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FFCC44"/>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CCCCCC"/>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FFCC44"/>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CCCCCC"/>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FFCC44"/>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888888"/>
                </a:solidFill>
                <a:latin typeface="Calibri"/>
              </a:rPr>
              <a:t>5-yr ≈ $502K (16× paid-in). Ledger matches register.</a:t>
            </a:r>
          </a:p>
        </p:txBody>
      </p:sp>
      <p:sp>
        <p:nvSpPr>
          <p:cNvPr id="86" name="TextBox 85"/>
          <p:cNvSpPr txBox="1"/>
          <p:nvPr/>
        </p:nvSpPr>
        <p:spPr>
          <a:xfrm>
            <a:off x="4206240" y="2624328"/>
            <a:ext cx="1371600" cy="182880"/>
          </a:xfrm>
          <a:prstGeom prst="rect">
            <a:avLst/>
          </a:prstGeom>
          <a:noFill/>
        </p:spPr>
        <p:txBody>
          <a:bodyPr wrap="none" anchor="t">
            <a:spAutoFit/>
          </a:bodyPr>
          <a:lstStyle/>
          <a:p>
            <a:pPr algn="r"/>
            <a:r>
              <a:rPr lang="en-US" sz="1000" dirty="0" b="1">
                <a:solidFill>
                  <a:srgbClr val="CCCCCC"/>
                </a:solidFill>
                <a:latin typeface="Calibri"/>
              </a:rPr>
              <a:t>Lost per 1% of SSLC</a:t>
            </a:r>
          </a:p>
        </p:txBody>
      </p:sp>
      <p:sp>
        <p:nvSpPr>
          <p:cNvPr id="87" name="TextBox 86"/>
          <p:cNvSpPr txBox="1"/>
          <p:nvPr/>
        </p:nvSpPr>
        <p:spPr>
          <a:xfrm>
            <a:off x="5669280" y="2624328"/>
            <a:ext cx="1463040" cy="182880"/>
          </a:xfrm>
          <a:prstGeom prst="rect">
            <a:avLst/>
          </a:prstGeom>
          <a:noFill/>
        </p:spPr>
        <p:txBody>
          <a:bodyPr wrap="none" anchor="t">
            <a:spAutoFit/>
          </a:bodyPr>
          <a:lstStyle/>
          <a:p>
            <a:pPr algn="r"/>
            <a:r>
              <a:rPr lang="en-US" sz="1000" dirty="0" b="1">
                <a:solidFill>
                  <a:srgbClr val="CCCCCC"/>
                </a:solidFill>
                <a:latin typeface="Calibri"/>
              </a:rPr>
              <a:t>Conger (73K sh.)</a:t>
            </a:r>
          </a:p>
        </p:txBody>
      </p:sp>
      <p:sp>
        <p:nvSpPr>
          <p:cNvPr id="88" name="TextBox 87"/>
          <p:cNvSpPr txBox="1"/>
          <p:nvPr/>
        </p:nvSpPr>
        <p:spPr>
          <a:xfrm>
            <a:off x="7269480" y="2624328"/>
            <a:ext cx="1600200" cy="182880"/>
          </a:xfrm>
          <a:prstGeom prst="rect">
            <a:avLst/>
          </a:prstGeom>
          <a:noFill/>
        </p:spPr>
        <p:txBody>
          <a:bodyPr wrap="none" anchor="t">
            <a:spAutoFit/>
          </a:bodyPr>
          <a:lstStyle/>
          <a:p>
            <a:pPr algn="r"/>
            <a:r>
              <a:rPr lang="en-US" sz="1000" dirty="0" b="1">
                <a:solidFill>
                  <a:srgbClr val="CCCCCC"/>
                </a:solidFill>
                <a:latin typeface="Calibri"/>
              </a:rPr>
              <a:t>Rufer (91K sh.)</a:t>
            </a:r>
          </a:p>
        </p:txBody>
      </p:sp>
      <p:sp>
        <p:nvSpPr>
          <p:cNvPr id="89" name="TextBox 88"/>
          <p:cNvSpPr txBox="1"/>
          <p:nvPr/>
        </p:nvSpPr>
        <p:spPr>
          <a:xfrm>
            <a:off x="7269480" y="2834640"/>
            <a:ext cx="1600200" cy="201168"/>
          </a:xfrm>
          <a:prstGeom prst="rect">
            <a:avLst/>
          </a:prstGeom>
          <a:noFill/>
        </p:spPr>
        <p:txBody>
          <a:bodyPr wrap="none" anchor="t">
            <a:spAutoFit/>
          </a:bodyPr>
          <a:lstStyle/>
          <a:p>
            <a:pPr algn="r"/>
            <a:r>
              <a:rPr lang="en-US" sz="1000" dirty="0">
                <a:solidFill>
                  <a:srgbClr val="F26A21"/>
                </a:solidFill>
                <a:latin typeface="Calibri"/>
              </a:rPr>
              <a:t>−$57.1K</a:t>
            </a:r>
          </a:p>
        </p:txBody>
      </p:sp>
      <p:sp>
        <p:nvSpPr>
          <p:cNvPr id="90" name="TextBox 89"/>
          <p:cNvSpPr txBox="1"/>
          <p:nvPr/>
        </p:nvSpPr>
        <p:spPr>
          <a:xfrm>
            <a:off x="7269480" y="3072384"/>
            <a:ext cx="1600200" cy="201168"/>
          </a:xfrm>
          <a:prstGeom prst="rect">
            <a:avLst/>
          </a:prstGeom>
          <a:noFill/>
        </p:spPr>
        <p:txBody>
          <a:bodyPr wrap="none" anchor="t">
            <a:spAutoFit/>
          </a:bodyPr>
          <a:lstStyle/>
          <a:p>
            <a:pPr algn="r"/>
            <a:r>
              <a:rPr lang="en-US" sz="1000" dirty="0">
                <a:solidFill>
                  <a:srgbClr val="F26A21"/>
                </a:solidFill>
                <a:latin typeface="Calibri"/>
              </a:rPr>
              <a:t>−$123.0K</a:t>
            </a:r>
          </a:p>
        </p:txBody>
      </p:sp>
      <p:sp>
        <p:nvSpPr>
          <p:cNvPr id="91" name="TextBox 90"/>
          <p:cNvSpPr txBox="1"/>
          <p:nvPr/>
        </p:nvSpPr>
        <p:spPr>
          <a:xfrm>
            <a:off x="7269480" y="3291840"/>
            <a:ext cx="1600200" cy="201168"/>
          </a:xfrm>
          <a:prstGeom prst="rect">
            <a:avLst/>
          </a:prstGeom>
          <a:noFill/>
        </p:spPr>
        <p:txBody>
          <a:bodyPr wrap="none" anchor="t">
            <a:spAutoFit/>
          </a:bodyPr>
          <a:lstStyle/>
          <a:p>
            <a:pPr algn="r"/>
            <a:r>
              <a:rPr lang="en-US" sz="1000" dirty="0">
                <a:solidFill>
                  <a:srgbClr val="F26A21"/>
                </a:solidFill>
                <a:latin typeface="Calibri"/>
              </a:rPr>
              <a:t>−$160.5K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FFFFFF"/>
                </a:solidFill>
              </a:rPr>
              <a:t>$790K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F26A21"/>
                </a:solidFill>
              </a:rPr>
              <a:t>① Cash at close — target Jan 15, 2027</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F26A21"/>
                </a:solidFill>
              </a:rPr>
              <a:t>$3.36M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CCCCCC"/>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888888"/>
                </a:solidFill>
              </a:rPr>
              <a:t>Issued at financing close</a:t>
            </a:r>
            <a:endParaRPr lang="en-US" sz="1100" dirty="0"/>
          </a:p>
          <a:p>
            <a:pPr marL="0" indent="0">
              <a:buNone/>
            </a:pPr>
            <a:r>
              <a:rPr lang="en-US" sz="1100" dirty="0">
                <a:solidFill>
                  <a:srgbClr val="888888"/>
                </a:solidFill>
              </a:rPr>
              <a:t>Restricted at issuance (Rule 504)</a:t>
            </a:r>
            <a:endParaRPr lang="en-US" sz="1100" dirty="0"/>
          </a:p>
          <a:p>
            <a:pPr marL="0" indent="0">
              <a:buNone/>
            </a:pPr>
            <a:r>
              <a:rPr lang="en-US" sz="1100" dirty="0">
                <a:solidFill>
                  <a:srgbClr val="888888"/>
                </a:solidFill>
              </a:rPr>
              <a:t>Part of RTO public float</a:t>
            </a:r>
            <a:endParaRPr lang="en-US" sz="1100" dirty="0"/>
          </a:p>
          <a:p>
            <a:pPr marL="0" indent="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CCCCCC"/>
                </a:solidFill>
              </a:rPr>
              <a:t>5% of IM tank revenue/yr</a:t>
            </a:r>
            <a:endParaRPr lang="en-US" sz="900" dirty="0"/>
          </a:p>
          <a:p>
            <a:pPr marL="0" indent="0" algn="l">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CCCCCC"/>
                </a:solidFill>
              </a:rPr>
              <a:t>Revenue SSLC achieves</a:t>
            </a:r>
            <a:endParaRPr lang="en-US" sz="900" dirty="0"/>
          </a:p>
          <a:p>
            <a:pPr marL="0" indent="0" algn="l">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F26A21"/>
                </a:solidFill>
              </a:rPr>
              <a:t>$3M/yr → $150K/yr → $750K</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F26A21"/>
                </a:solidFill>
              </a:rPr>
              <a:t>$5M/yr → $250K/yr → $1.25M</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F26A21"/>
                </a:solidFill>
              </a:rPr>
              <a:t>$6M+/yr → $300K/yr cap → $1.5M</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F26A21"/>
                </a:solidFill>
              </a:rPr>
              <a:t>Annual</a:t>
            </a:r>
            <a:endParaRPr lang="en-US" sz="900" dirty="0"/>
          </a:p>
          <a:p>
            <a:pPr marL="0" indent="0" algn="ctr">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CCCCCC"/>
                </a:solidFill>
              </a:rPr>
              <a:t>M1  FY27 revenue ≥$5.1M →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CCCCCC"/>
                </a:solidFill>
              </a:rPr>
              <a:t>M2  Nebula OTV tank set accepted →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CCCCCC"/>
                </a:solidFill>
              </a:rPr>
              <a:t>M3  Revenue ≥$10M year →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CCCCCC"/>
                </a:solidFill>
              </a:rPr>
              <a:t>M4  Revenue ≥$20M year →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CCCCCC"/>
                </a:solidFill>
              </a:rPr>
              <a:t>M5  50% build-cost cut → $200K</a:t>
            </a:r>
            <a:endParaRPr lang="en-US" sz="900" dirty="0"/>
          </a:p>
          <a:p>
            <a:pPr marL="0" indent="0" algn="l">
              <a:buNone/>
            </a:pPr>
            <a:r>
              <a:rPr lang="en-US" sz="1000" dirty="0">
                <a:solidFill>
                  <a:srgbClr val="CCCCCC"/>
                </a:solidFill>
              </a:rPr>
              <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CCCCCC"/>
                </a:solidFill>
              </a:rPr>
              <a:t>50% cost reduction proven</a:t>
            </a:r>
            <a:endParaRPr lang="en-US" sz="900" dirty="0"/>
          </a:p>
          <a:p>
            <a:pPr marL="0" indent="0" algn="l">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CCCCCC"/>
                </a:solidFill>
              </a:rPr>
              <a:t>Exos stock earn-out at RTO listing</a:t>
            </a:r>
            <a:endParaRPr lang="en-US" sz="900" dirty="0"/>
          </a:p>
          <a:p>
            <a:pPr marL="0" indent="0" algn="l">
              <a:buNone/>
            </a:pPr>
            <a:r>
              <a:rPr lang="en-US" sz="1000" dirty="0">
                <a:solidFill>
                  <a:srgbClr val="CCCCCC"/>
                </a:solidFill>
              </a:rPr>
              <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FFFFFF"/>
                </a:solidFill>
              </a:rPr>
              <a:t>$0</a:t>
            </a:r>
            <a:endParaRPr lang="en-US" sz="1100" dirty="0"/>
          </a:p>
          <a:p>
            <a:pPr marL="0" indent="0" algn="ctr">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FFFFFF"/>
                </a:solidFill>
              </a:rPr>
              <a:t>$625K</a:t>
            </a:r>
            <a:endParaRPr lang="en-US" sz="1100" dirty="0"/>
          </a:p>
          <a:p>
            <a:pPr marL="0" indent="0" algn="ctr">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FFFFFF"/>
                </a:solidFill>
              </a:rPr>
              <a:t>$1,500K</a:t>
            </a:r>
            <a:endParaRPr lang="en-US" sz="1100" dirty="0"/>
          </a:p>
          <a:p>
            <a:pPr marL="0" indent="0" algn="ctr">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FFFFFF"/>
                </a:solidFill>
              </a:rPr>
              <a:t>Post-RTO</a:t>
            </a:r>
            <a:endParaRPr lang="en-US" sz="1100" dirty="0"/>
          </a:p>
          <a:p>
            <a:pPr marL="0" indent="0" algn="ctr">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CCCCCC"/>
                </a:solidFill>
              </a:rPr>
              <a:t>TOTAL EARN-OUTS (③ −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15" name="TextBox 114"/>
          <p:cNvSpPr txBox="1"/>
          <p:nvPr/>
        </p:nvSpPr>
        <p:spPr>
          <a:xfrm>
            <a:off x="320040" y="4315968"/>
            <a:ext cx="8503920" cy="411480"/>
          </a:xfrm>
          <a:prstGeom prst="rect">
            <a:avLst/>
          </a:prstGeom>
          <a:noFill/>
        </p:spPr>
        <p:txBody>
          <a:bodyPr wrap="sq" anchor="t">
            <a:spAutoFit/>
          </a:bodyPr>
          <a:lstStyle/>
          <a:p>
            <a:r>
              <a:rPr lang="en-US" sz="1000" dirty="0">
                <a:solidFill>
                  <a:srgbClr val="CCCCCC"/>
                </a:solidFill>
                <a:latin typeface="Calibri"/>
              </a:rPr>
              <a:t>How it pays SSLC holders: (1) milestone cash M1–M5 at each trigger; (2) 5% of IM tank revenue every year FY27–FY31 (a $5M year pays $250K; cap $300K/yr); (3) Exos stock at the RTO listing. All on top of cash at close.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F26A21"/>
                </a:solidFill>
              </a:rPr>
              <a:t>$11.0M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F26A21"/>
                </a:solidFill>
              </a:rPr>
              <a:t>$14.8M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F26A21"/>
                </a:solidFill>
              </a:rPr>
              <a:t>$18.4M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CCCCCC"/>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CCCCCC"/>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CCCCCC"/>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CCCCCC"/>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CCCCCC"/>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888888"/>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CCCCCC"/>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CCCCCC"/>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F26A21"/>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F26A21"/>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3" name="Rectangle 12"/>
          <p:cNvSpPr/>
          <p:nvPr/>
        </p:nvSpPr>
        <p:spPr>
          <a:xfrm>
            <a:off x="6217920" y="1005840"/>
            <a:ext cx="2788920" cy="2743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F26A21"/>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CCCCCC"/>
                </a:solidFill>
                <a:latin typeface="Calibri"/>
              </a:rPr>
              <a:t>CA: New lease near the current SSLC site, 25,000–35,000 sq ft with high ceilings, to shift manufacturing and support expansion.</a:t>
            </a:r>
          </a:p>
          <a:p>
            <a:r>
              <a:rPr lang="en-US" sz="1000" dirty="0">
                <a:solidFill>
                  <a:srgbClr val="CCCCCC"/>
                </a:solidFill>
                <a:latin typeface="Calibri"/>
              </a:rPr>
              <a:t/>
            </a:r>
          </a:p>
          <a:p>
            <a:r>
              <a:rPr lang="en-US" sz="1000" dirty="0">
                <a:solidFill>
                  <a:srgbClr val="CCCCCC"/>
                </a:solidFill>
                <a:latin typeface="Calibri"/>
              </a:rPr>
              <a:t>TX: Expansion in Texas to support Exos rocket builds, funded under the same PIPE financing.</a:t>
            </a:r>
          </a:p>
          <a:p>
            <a:r>
              <a:rPr lang="en-US" sz="1000" dirty="0">
                <a:solidFill>
                  <a:srgbClr val="CCCCCC"/>
                </a:solidFill>
                <a:latin typeface="Calibri"/>
              </a:rPr>
              <a:t/>
            </a:r>
          </a:p>
          <a:p>
            <a:r>
              <a:rPr lang="en-US" sz="1000" dirty="0">
                <a:solidFill>
                  <a:srgbClr val="F26A21"/>
                </a:solidFill>
                <a:latin typeface="Calibri"/>
              </a:rPr>
              <a:t>$1.0M EAI (Exos stock) to key SSLC personnel</a:t>
            </a:r>
          </a:p>
          <a:p>
            <a:r>
              <a:rPr lang="en-US" sz="1000" dirty="0">
                <a:solidFill>
                  <a:srgbClr val="CCCCCC"/>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FFFFFF"/>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F26A21"/>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888888"/>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F26A21"/>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CCCCCC"/>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49524"/>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3049524"/>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983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FFFFFF"/>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F26A21"/>
                </a:solidFill>
                <a:latin typeface="Calibri"/>
              </a:rPr>
              <a:t>~$3.95M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6× at close / 18×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1024128"/>
          </a:xfrm>
          <a:prstGeom prst="rect">
            <a:avLst/>
          </a:prstGeom>
          <a:noFill/>
        </p:spPr>
        <p:txBody>
          <a:bodyPr wrap="square">
            <a:spAutoFit/>
          </a:bodyPr>
          <a:lstStyle/>
          <a:p>
            <a:r>
              <a:rPr lang="en-US" sz="950" dirty="0">
                <a:solidFill>
                  <a:srgbClr val="CCCCCC"/>
                </a:solidFill>
                <a:latin typeface="Calibri"/>
              </a:rPr>
              <a:t>Step 1 (+$448K — facility credit + capitalized interest):</a:t>
            </a:r>
          </a:p>
          <a:p>
            <a:r>
              <a:rPr lang="en-US" sz="950" dirty="0">
                <a:solidFill>
                  <a:srgbClr val="CCCCCC"/>
                </a:solidFill>
                <a:latin typeface="Calibri"/>
              </a:rPr>
              <a:t>  Net cash at close ≈ $1.84M  ·  per 1% ≈ $22.4K</a:t>
            </a:r>
          </a:p>
          <a:p>
            <a:r>
              <a:rPr lang="en-US" sz="1000" dirty="0" b="1">
                <a:solidFill>
                  <a:srgbClr val="FF4444"/>
                </a:solidFill>
                <a:latin typeface="Calibri"/>
              </a:rPr>
              <a:t>ALL STEPS APPLIED  (Steps 1+2+3, +$1,261,001):</a:t>
            </a:r>
          </a:p>
          <a:p>
            <a:r>
              <a:rPr lang="en-US" sz="1100" dirty="0" b="1">
                <a:solidFill>
                  <a:srgbClr val="FF4444"/>
                </a:solidFill>
                <a:latin typeface="Calibri"/>
              </a:rPr>
              <a:t>  Net cash at close ≈ $2.65M  ·  per 1% of SSLC ≈ $32.3K</a:t>
            </a:r>
          </a:p>
          <a:p>
            <a:r>
              <a:rPr lang="en-US" sz="950" dirty="0" i="1">
                <a:solidFill>
                  <a:srgbClr val="FF8888"/>
                </a:solidFill>
                <a:latin typeface="Calibri"/>
              </a:rPr>
              <a:t>  ($1.39M as booked → +$1,261K corrections → ≈ $2.65M)</a:t>
            </a:r>
          </a:p>
        </p:txBody>
      </p:sp>
      <p:sp>
        <p:nvSpPr>
          <p:cNvPr id="77" name="Rectangle 76"/>
          <p:cNvSpPr/>
          <p:nvPr/>
        </p:nvSpPr>
        <p:spPr>
          <a:xfrm>
            <a:off x="274320" y="2355494"/>
            <a:ext cx="4151376" cy="16916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CCCCCC"/>
                </a:solidFill>
                <a:latin typeface="Calibri"/>
              </a:rPr>
              <a:t>− 5% outside services fee on cash proceeds</a:t>
            </a:r>
          </a:p>
        </p:txBody>
      </p:sp>
      <p:sp>
        <p:nvSpPr>
          <p:cNvPr id="79" name="TextBox 78"/>
          <p:cNvSpPr txBox="1"/>
          <p:nvPr/>
        </p:nvSpPr>
        <p:spPr>
          <a:xfrm>
            <a:off x="3474719" y="2340864"/>
            <a:ext cx="914400" cy="169164"/>
          </a:xfrm>
          <a:prstGeom prst="rect">
            <a:avLst/>
          </a:prstGeom>
          <a:noFill/>
        </p:spPr>
        <p:txBody>
          <a:bodyPr wrap="none" anchor="t">
            <a:spAutoFit/>
          </a:bodyPr>
          <a:lstStyle/>
          <a:p>
            <a:pPr algn="r"/>
            <a:r>
              <a:rPr lang="en-US" sz="1000" dirty="0">
                <a:solidFill>
                  <a:srgbClr val="FF7755"/>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CCCCCC"/>
                </a:solidFill>
                <a:latin typeface="Calibri"/>
              </a:rPr>
              <a:t>The Board approves the Exos offer (Option B terms), confirms Exos's 90-day §3 exclusivity</a:t>
            </a:r>
          </a:p>
          <a:p>
            <a:r>
              <a:rPr lang="en-US" sz="1000" dirty="0">
                <a:solidFill>
                  <a:srgbClr val="CCCCCC"/>
                </a:solidFill>
                <a:latin typeface="Calibri"/>
              </a:rPr>
              <a:t>under the May 2025 Asset Acquisition Agreement (extendable 60 days if significant progress is</a:t>
            </a:r>
          </a:p>
          <a:p>
            <a:r>
              <a:rPr lang="en-US" sz="1000" dirty="0">
                <a:solidFill>
                  <a:srgbClr val="CCCCCC"/>
                </a:solidFill>
                <a:latin typeface="Calibri"/>
              </a:rPr>
              <a:t>being made toward a definitive agreement, not unreasonably withheld).</a:t>
            </a:r>
          </a:p>
          <a:p>
            <a:r>
              <a:rPr lang="en-US" sz="1000" dirty="0">
                <a:solidFill>
                  <a:srgbClr val="CCCCCC"/>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CCCCCC"/>
                </a:solidFill>
                <a:latin typeface="Calibri"/>
              </a:rPr>
              <a:t>Authorize Exos to use the QB data to evaluate compatible ERP/MRP and inventory systems.</a:t>
            </a:r>
          </a:p>
          <a:p>
            <a:r>
              <a:rPr sz="1000" b="0" i="0" dirty="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2200" b="1" i="0">
                <a:solidFill>
                  <a:srgbClr val="F26A21"/>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000" b="1" i="0" dirty="0">
                <a:solidFill>
                  <a:srgbClr val="F26A21"/>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44BB44"/>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FF6666"/>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CCCCCC"/>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F26A21"/>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FFFFFF"/>
                </a:solidFill>
              </a:rPr>
              <a:t>Board Vote: Offer + §3 Exclusivity (90 days + 60-day ext.)</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FFFFFF"/>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2A1000"/>
          </a:solidFill>
          <a:ln w="12700">
            <a:solidFill>
              <a:srgbClr val="F26A21"/>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F26A21"/>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