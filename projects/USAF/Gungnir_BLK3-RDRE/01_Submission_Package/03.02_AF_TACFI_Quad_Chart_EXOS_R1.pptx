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lack" panose="00000A00000000000000" pitchFamily="2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KLJ+euv7fVTuYGIx+fWGj3B9D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788DB1-F080-432F-AB39-447908E5B861}">
  <a:tblStyle styleId="{F5788DB1-F080-432F-AB39-447908E5B86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dfb287fc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7dfb287fc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8cca5fe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2f8cca5fe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c70bc678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dc70bc678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8cca5fe8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2f8cca5fe8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">
  <p:cSld name="2_Page 1_1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4"/>
          <p:cNvPicPr preferRelativeResize="0"/>
          <p:nvPr/>
        </p:nvPicPr>
        <p:blipFill rotWithShape="1">
          <a:blip r:embed="rId3">
            <a:alphaModFix/>
          </a:blip>
          <a:srcRect l="16065" b="13955"/>
          <a:stretch/>
        </p:blipFill>
        <p:spPr>
          <a:xfrm>
            <a:off x="0" y="2398575"/>
            <a:ext cx="2687775" cy="27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eneral Title Slide 1">
  <p:cSld name="1_General Title Slide 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 descr="A picture containing outdoor, water, sky, sta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422910" y="2424284"/>
            <a:ext cx="82983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 Black"/>
              <a:buNone/>
              <a:defRPr sz="45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422910" y="3735163"/>
            <a:ext cx="82983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BB69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B69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5"/>
          <p:cNvPicPr preferRelativeResize="0"/>
          <p:nvPr/>
        </p:nvPicPr>
        <p:blipFill rotWithShape="1">
          <a:blip r:embed="rId3">
            <a:alphaModFix amt="11000"/>
          </a:blip>
          <a:srcRect l="39319" t="19530" r="33011" b="26127"/>
          <a:stretch/>
        </p:blipFill>
        <p:spPr>
          <a:xfrm>
            <a:off x="0" y="0"/>
            <a:ext cx="46555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me Slide">
  <p:cSld name="2_Page 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6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3">
            <a:alphaModFix amt="50000"/>
          </a:blip>
          <a:srcRect l="33408" b="5392"/>
          <a:stretch/>
        </p:blipFill>
        <p:spPr>
          <a:xfrm>
            <a:off x="-1" y="2710069"/>
            <a:ext cx="3605700" cy="243498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/>
          <p:nvPr/>
        </p:nvSpPr>
        <p:spPr>
          <a:xfrm>
            <a:off x="143025" y="719225"/>
            <a:ext cx="883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ark Slide">
  <p:cSld name="2_Page 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7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7"/>
          <p:cNvPicPr preferRelativeResize="0"/>
          <p:nvPr/>
        </p:nvPicPr>
        <p:blipFill rotWithShape="1">
          <a:blip r:embed="rId3">
            <a:alphaModFix/>
          </a:blip>
          <a:srcRect l="7424" b="9860"/>
          <a:stretch/>
        </p:blipFill>
        <p:spPr>
          <a:xfrm>
            <a:off x="0" y="2370600"/>
            <a:ext cx="2849101" cy="277429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/>
        </p:nvSpPr>
        <p:spPr>
          <a:xfrm>
            <a:off x="143025" y="719225"/>
            <a:ext cx="883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ic AFWERX Slide">
  <p:cSld name="2_Page 1_1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8"/>
          <p:cNvPicPr preferRelativeResize="0"/>
          <p:nvPr/>
        </p:nvPicPr>
        <p:blipFill rotWithShape="1">
          <a:blip r:embed="rId3">
            <a:alphaModFix amt="11000"/>
          </a:blip>
          <a:srcRect l="39319" t="19530" r="33011" b="26127"/>
          <a:stretch/>
        </p:blipFill>
        <p:spPr>
          <a:xfrm>
            <a:off x="0" y="2257800"/>
            <a:ext cx="2611925" cy="288569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BIR STTR Slide">
  <p:cSld name="2_Page 1_1_1_1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49" name="Google Shape;49;p9"/>
          <p:cNvPicPr preferRelativeResize="0"/>
          <p:nvPr/>
        </p:nvPicPr>
        <p:blipFill rotWithShape="1">
          <a:blip r:embed="rId3">
            <a:alphaModFix/>
          </a:blip>
          <a:srcRect l="5383" b="7994"/>
          <a:stretch/>
        </p:blipFill>
        <p:spPr>
          <a:xfrm>
            <a:off x="0" y="2316525"/>
            <a:ext cx="2419026" cy="282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ic Slide">
  <p:cSld name="2_Page 1_1_1_1_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in Slide">
  <p:cSld name="2_Page 1_1_1_1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in Slide (white #)">
  <p:cSld name="2_Page 1_1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6636cd4c0_0_118"/>
          <p:cNvSpPr txBox="1">
            <a:spLocks noGrp="1"/>
          </p:cNvSpPr>
          <p:nvPr>
            <p:ph type="title"/>
          </p:nvPr>
        </p:nvSpPr>
        <p:spPr>
          <a:xfrm>
            <a:off x="687704" y="610934"/>
            <a:ext cx="6360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rgbClr val="0E121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g336636cd4c0_0_118"/>
          <p:cNvSpPr txBox="1">
            <a:spLocks noGrp="1"/>
          </p:cNvSpPr>
          <p:nvPr>
            <p:ph type="body" idx="1"/>
          </p:nvPr>
        </p:nvSpPr>
        <p:spPr>
          <a:xfrm>
            <a:off x="687704" y="1053849"/>
            <a:ext cx="46458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E12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36636cd4c0_0_1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g336636cd4c0_0_1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g336636cd4c0_0_118"/>
          <p:cNvSpPr txBox="1">
            <a:spLocks noGrp="1"/>
          </p:cNvSpPr>
          <p:nvPr>
            <p:ph type="sldNum" idx="12"/>
          </p:nvPr>
        </p:nvSpPr>
        <p:spPr>
          <a:xfrm>
            <a:off x="8628126" y="4808639"/>
            <a:ext cx="190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54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54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4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54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4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4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 1 1 1">
  <p:cSld name="Ventures Slide (g3e1eb882dea_21_0)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3803c3d0e_0_21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g3e3803c3d0e_0_21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g3e3803c3d0e_0_21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 1 1">
  <p:cSld name="Ventures Slide (g3e1eb882dea_35_0)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3803c3d0e_0_25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g3e3803c3d0e_0_25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g3e3803c3d0e_0_25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 1">
  <p:cSld name="Ventures Slide (g3e1eb882dea_50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3803c3d0e_0_29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g3e3803c3d0e_0_29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g3e3803c3d0e_0_29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 2">
  <p:cSld name="Ventures Slide (g3e1eb882dea_78_0)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3803c3d0e_0_33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g3e3803c3d0e_0_33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g3e3803c3d0e_0_33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dfb287fce_1_0"/>
          <p:cNvSpPr txBox="1">
            <a:spLocks noGrp="1"/>
          </p:cNvSpPr>
          <p:nvPr>
            <p:ph type="title"/>
          </p:nvPr>
        </p:nvSpPr>
        <p:spPr>
          <a:xfrm>
            <a:off x="64050" y="63025"/>
            <a:ext cx="5133600" cy="123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 dirty="0">
                <a:solidFill>
                  <a:srgbClr val="0000FF"/>
                </a:solidFill>
              </a:rPr>
              <a:t>Exos Aerospace Systems &amp; Technologies, Inc.</a:t>
            </a:r>
            <a:endParaRPr sz="1800" dirty="0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 dirty="0">
                <a:solidFill>
                  <a:srgbClr val="0000FF"/>
                </a:solidFill>
              </a:rPr>
              <a:t>RDRE/BLK3 Integrated Flight Demonstration</a:t>
            </a:r>
            <a:endParaRPr sz="1800" dirty="0">
              <a:solidFill>
                <a:srgbClr val="0000FF"/>
              </a:solidFill>
            </a:endParaRPr>
          </a:p>
        </p:txBody>
      </p:sp>
      <p:sp>
        <p:nvSpPr>
          <p:cNvPr id="93" name="Google Shape;93;g37dfb287fce_1_0"/>
          <p:cNvSpPr txBox="1">
            <a:spLocks noGrp="1"/>
          </p:cNvSpPr>
          <p:nvPr>
            <p:ph type="title"/>
          </p:nvPr>
        </p:nvSpPr>
        <p:spPr>
          <a:xfrm>
            <a:off x="3701730" y="63000"/>
            <a:ext cx="539637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 b="0" dirty="0"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PY26.2 AF TACFI | SBIR (FA9300-25-C-6022)</a:t>
            </a:r>
            <a:endParaRPr sz="1800" b="0" dirty="0"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g37dfb287fce_1_0"/>
          <p:cNvSpPr txBox="1"/>
          <p:nvPr/>
        </p:nvSpPr>
        <p:spPr>
          <a:xfrm>
            <a:off x="4227100" y="578181"/>
            <a:ext cx="4867200" cy="2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r>
              <a:rPr sz="1900" dirty="0"/>
              <a:t>Integrate a flight</a:t>
            </a:r>
            <a:r>
              <a:rPr lang="en-US" sz="1900" dirty="0"/>
              <a:t> </a:t>
            </a:r>
            <a:r>
              <a:rPr sz="1900" dirty="0"/>
              <a:t>weight ~5,800 </a:t>
            </a:r>
            <a:r>
              <a:rPr sz="1900" dirty="0" err="1"/>
              <a:t>lbf</a:t>
            </a:r>
            <a:r>
              <a:rPr sz="1900" dirty="0"/>
              <a:t> Rotating Detonation Rocket Engine (RDRE) onto the BLK3 reusable suborbital vehicle. </a:t>
            </a:r>
          </a:p>
          <a:p>
            <a:r>
              <a:rPr sz="1900" dirty="0"/>
              <a:t>Fly </a:t>
            </a:r>
            <a:r>
              <a:rPr lang="en-US" sz="1900" dirty="0"/>
              <a:t>1 hover and 2 flights to 85km+</a:t>
            </a:r>
            <a:r>
              <a:rPr sz="1900" dirty="0"/>
              <a:t> over 24 months to characterize RDRE performance across the full altitude envelope (spaceport level to near-vacuum).</a:t>
            </a:r>
          </a:p>
          <a:p>
            <a:r>
              <a:rPr sz="1900" dirty="0"/>
              <a:t>Innovation</a:t>
            </a:r>
          </a:p>
          <a:p>
            <a:r>
              <a:rPr sz="1900" dirty="0"/>
              <a:t>First altitude-swept FLIGHT characterization of an RDRE on a reusable VTVL platform.</a:t>
            </a:r>
          </a:p>
          <a:p>
            <a:r>
              <a:rPr sz="1900" dirty="0"/>
              <a:t>Recoverable, iterative test cadence (2-day turnaround) — ground test cannot replicate altitude-dependent detonation dynamics</a:t>
            </a:r>
            <a:r>
              <a:rPr lang="en-US" sz="1900" dirty="0"/>
              <a:t> prove space relight of RDRE</a:t>
            </a:r>
            <a:endParaRPr sz="1900" dirty="0"/>
          </a:p>
          <a:p>
            <a:r>
              <a:rPr sz="1900" dirty="0"/>
              <a:t>Operational Impact</a:t>
            </a:r>
          </a:p>
          <a:p>
            <a:r>
              <a:rPr sz="1900" dirty="0"/>
              <a:t>ROI: flight-qualified detonation-propulsion data that de-risks RDRE for USAF boost propulsion &amp; responsive launch, Orbital transfer proven by space relight attempts</a:t>
            </a:r>
          </a:p>
          <a:p>
            <a:r>
              <a:rPr sz="1900" dirty="0"/>
              <a:t>Deliverable: 1 Hover +2 RDRE flight tests + flight-qualified performance dataset and final report.</a:t>
            </a:r>
          </a:p>
          <a:p>
            <a:endParaRPr dirty="0"/>
          </a:p>
          <a:p>
            <a:r>
              <a:rPr dirty="0"/>
              <a:t>End User: AFRL/RQRI          Customer: AFRL/RQRI (Dr. M. </a:t>
            </a:r>
            <a:r>
              <a:rPr dirty="0" err="1"/>
              <a:t>Harvazinski</a:t>
            </a:r>
            <a:r>
              <a:rPr dirty="0"/>
              <a:t>)</a:t>
            </a:r>
          </a:p>
          <a:p>
            <a:endParaRPr dirty="0"/>
          </a:p>
        </p:txBody>
      </p:sp>
      <p:cxnSp>
        <p:nvCxnSpPr>
          <p:cNvPr id="95" name="Google Shape;95;g37dfb287fce_1_0"/>
          <p:cNvCxnSpPr/>
          <p:nvPr/>
        </p:nvCxnSpPr>
        <p:spPr>
          <a:xfrm>
            <a:off x="4230950" y="831500"/>
            <a:ext cx="1200" cy="424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g37dfb287fce_1_0"/>
          <p:cNvCxnSpPr/>
          <p:nvPr/>
        </p:nvCxnSpPr>
        <p:spPr>
          <a:xfrm>
            <a:off x="-112025" y="2571750"/>
            <a:ext cx="9149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g37dfb287fce_1_0"/>
          <p:cNvSpPr/>
          <p:nvPr/>
        </p:nvSpPr>
        <p:spPr>
          <a:xfrm>
            <a:off x="64049" y="2224088"/>
            <a:ext cx="4134900" cy="291000"/>
          </a:xfrm>
          <a:prstGeom prst="rect">
            <a:avLst/>
          </a:prstGeom>
          <a:solidFill>
            <a:srgbClr val="B3D9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"/>
                  </a:ext>
                </a:extLst>
              </a:rPr>
              <a:t>De-risking detonation propulsion through reusable flight test.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g37dfb287fce_1_0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03" name="Google Shape;103;g37dfb287fce_1_0"/>
          <p:cNvSpPr txBox="1"/>
          <p:nvPr/>
        </p:nvSpPr>
        <p:spPr>
          <a:xfrm>
            <a:off x="493050" y="2571738"/>
            <a:ext cx="314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"/>
                  </a:ext>
                </a:extLst>
              </a:rPr>
              <a:t>Integrated Cost and Schedule ($M)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4" name="Google Shape;104;g37dfb287fce_1_0"/>
          <p:cNvGraphicFramePr/>
          <p:nvPr>
            <p:extLst>
              <p:ext uri="{D42A27DB-BD31-4B8C-83A1-F6EECF244321}">
                <p14:modId xmlns:p14="http://schemas.microsoft.com/office/powerpoint/2010/main" val="2666688385"/>
              </p:ext>
            </p:extLst>
          </p:nvPr>
        </p:nvGraphicFramePr>
        <p:xfrm>
          <a:off x="56393" y="2919148"/>
          <a:ext cx="4060700" cy="1955965"/>
        </p:xfrm>
        <a:graphic>
          <a:graphicData uri="http://schemas.openxmlformats.org/drawingml/2006/table">
            <a:tbl>
              <a:tblPr firstRow="1" bandRow="1">
                <a:noFill/>
                <a:tableStyleId>{F5788DB1-F080-432F-AB39-447908E5B861}</a:tableStyleId>
              </a:tblPr>
              <a:tblGrid>
                <a:gridCol w="149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18275" marB="1827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</a:rPr>
                        <a:t>Base Yr Execution</a:t>
                      </a:r>
                      <a:endParaRPr sz="1400" u="none" strike="noStrike" cap="none"/>
                    </a:p>
                  </a:txBody>
                  <a:tcPr marL="91450" marR="91450" marT="18275" marB="1827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</a:rPr>
                        <a:t>Yr Two Execution</a:t>
                      </a:r>
                      <a:endParaRPr sz="1400" u="none" strike="noStrike" cap="none"/>
                    </a:p>
                  </a:txBody>
                  <a:tcPr marL="91450" marR="91450" marT="18275" marB="1827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Exp: </a:t>
                      </a:r>
                      <a:r>
                        <a:rPr lang="en" sz="800" b="1" u="none" strike="noStrike" cap="none"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"/>
                            </a:ext>
                          </a:extLst>
                        </a:rPr>
                        <a:t>Development</a:t>
                      </a:r>
                      <a:endParaRPr sz="1400" b="1" u="none" strike="noStrike" cap="none"/>
                    </a:p>
                  </a:txBody>
                  <a:tcPr marL="45700" marR="4570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Exp: </a:t>
                      </a:r>
                      <a:r>
                        <a:rPr lang="en" sz="800" b="1" u="none" strike="noStrike" cap="none"/>
                        <a:t>Prototype</a:t>
                      </a:r>
                      <a:endParaRPr sz="800" b="1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/>
                        <a:t>Delivered</a:t>
                      </a:r>
                      <a:endParaRPr sz="800" b="1" u="none" strike="noStrike" cap="none"/>
                    </a:p>
                  </a:txBody>
                  <a:tcPr marL="45700" marR="457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/>
                        <a:t>Exp: Test Flights </a:t>
                      </a:r>
                      <a:endParaRPr sz="800" b="1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500" b="1" u="none" strike="noStrike" cap="none"/>
                    </a:p>
                  </a:txBody>
                  <a:tcPr marL="45700" marR="45700" marT="457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</a:rPr>
                        <a:t>SBIR or STTR </a:t>
                      </a:r>
                      <a:endParaRPr sz="1400" u="none" strike="noStrike" cap="none"/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$2M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highlight>
                          <a:schemeClr val="dk1"/>
                        </a:highlight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"/>
                            </a:ext>
                          </a:extLst>
                        </a:rPr>
                        <a:t>Gov Funding Org</a:t>
                      </a:r>
                      <a:endParaRPr sz="1400" u="none" strike="noStrike" cap="none"/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$2M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highlight>
                          <a:schemeClr val="dk1"/>
                        </a:highlight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</a:rPr>
                        <a:t>Private  (# of VCs)</a:t>
                      </a:r>
                      <a:endParaRPr sz="1400" u="none" strike="noStrike" cap="none"/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highlight>
                          <a:schemeClr val="dk1"/>
                        </a:highlight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</a:rPr>
                        <a:t>Total</a:t>
                      </a:r>
                      <a:endParaRPr sz="1400" u="none" strike="noStrike" cap="none"/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$4M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highlight>
                          <a:schemeClr val="dk1"/>
                        </a:highlight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5" name="Google Shape;105;g37dfb287fce_1_0"/>
          <p:cNvSpPr txBox="1"/>
          <p:nvPr/>
        </p:nvSpPr>
        <p:spPr>
          <a:xfrm>
            <a:off x="4269434" y="3363916"/>
            <a:ext cx="46914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sz="1050" dirty="0"/>
              <a:t>Success &amp; Transition: Phase II (FA9300-25-C-6022, AFRL/RQRI) matures the HVRR-RDRE — a Hybrid Vehicle Rocket Reusable testbed integrating an RDRE for hover/flight demonstration on BLK3 — advancing RDRE from ground test toward recoverable flight. Transition: if successful, sole-source Phase III under 15 U.S.C. 638(r) transitions flight-qualified RDRE propulsion to USAF boost/responsive-launch</a:t>
            </a:r>
            <a:r>
              <a:rPr lang="en-US" sz="1050" dirty="0"/>
              <a:t> and Orbital transfer with RDRE proven</a:t>
            </a:r>
            <a:r>
              <a:rPr sz="1050" dirty="0"/>
              <a:t>; Exos scales to a recurring reusable flight-test cadence. Aligns with the signed Collaboration Agreement.</a:t>
            </a:r>
          </a:p>
        </p:txBody>
      </p:sp>
      <p:sp>
        <p:nvSpPr>
          <p:cNvPr id="106" name="Google Shape;106;g37dfb287fce_1_0"/>
          <p:cNvSpPr txBox="1"/>
          <p:nvPr/>
        </p:nvSpPr>
        <p:spPr>
          <a:xfrm>
            <a:off x="2263775" y="3496313"/>
            <a:ext cx="501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7dfb287fce_1_0"/>
          <p:cNvSpPr/>
          <p:nvPr/>
        </p:nvSpPr>
        <p:spPr>
          <a:xfrm flipH="1">
            <a:off x="2062050" y="3670750"/>
            <a:ext cx="138900" cy="837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7dfb287fce_1_0"/>
          <p:cNvSpPr txBox="1"/>
          <p:nvPr/>
        </p:nvSpPr>
        <p:spPr>
          <a:xfrm>
            <a:off x="1791200" y="3672438"/>
            <a:ext cx="85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Taxi Test(s)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7dfb287fce_1_0"/>
          <p:cNvSpPr/>
          <p:nvPr/>
        </p:nvSpPr>
        <p:spPr>
          <a:xfrm flipH="1">
            <a:off x="2767075" y="3662325"/>
            <a:ext cx="138900" cy="837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7dfb287fce_1_0"/>
          <p:cNvSpPr txBox="1"/>
          <p:nvPr/>
        </p:nvSpPr>
        <p:spPr>
          <a:xfrm>
            <a:off x="2486925" y="3672450"/>
            <a:ext cx="91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Flight Test(s)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7dfb287fce_1_0"/>
          <p:cNvSpPr txBox="1"/>
          <p:nvPr/>
        </p:nvSpPr>
        <p:spPr>
          <a:xfrm>
            <a:off x="1871077" y="3237888"/>
            <a:ext cx="392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PDR-1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7dfb287fce_1_0"/>
          <p:cNvSpPr txBox="1"/>
          <p:nvPr/>
        </p:nvSpPr>
        <p:spPr>
          <a:xfrm>
            <a:off x="2392500" y="3237889"/>
            <a:ext cx="37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CDR-1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7dfb287fce_1_0"/>
          <p:cNvSpPr txBox="1"/>
          <p:nvPr/>
        </p:nvSpPr>
        <p:spPr>
          <a:xfrm>
            <a:off x="2898613" y="3145488"/>
            <a:ext cx="501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CDR-2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7dfb287fce_1_0"/>
          <p:cNvSpPr txBox="1"/>
          <p:nvPr/>
        </p:nvSpPr>
        <p:spPr>
          <a:xfrm>
            <a:off x="4230951" y="2710275"/>
            <a:ext cx="5050424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" sz="14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Technology Area</a:t>
            </a:r>
            <a:r>
              <a:rPr lang="en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dirty="0">
                <a:solidFill>
                  <a:schemeClr val="dk1"/>
                </a:solidFill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3"/>
                  </a:ext>
                </a:extLst>
              </a:rPr>
              <a:t>Scaled Hypersonics (SHY)  </a:t>
            </a:r>
            <a:r>
              <a:rPr lang="en" b="1" u="sng" dirty="0">
                <a:solidFill>
                  <a:schemeClr val="dk1"/>
                </a:solidFill>
                <a:highlight>
                  <a:schemeClr val="lt1"/>
                </a:highlight>
              </a:rPr>
              <a:t>Focus Area</a:t>
            </a:r>
            <a:r>
              <a:rPr lang="en" sz="14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Autonomous Mass: Weapons Technology</a:t>
            </a:r>
          </a:p>
          <a:p>
            <a:pPr lvl="0">
              <a:buClr>
                <a:schemeClr val="dk1"/>
              </a:buClr>
              <a:buSzPts val="1100"/>
            </a:pPr>
            <a:endParaRPr sz="1400" b="1" i="0" u="sng" strike="noStrike" cap="none" dirty="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7dfb287fce_1_0"/>
          <p:cNvSpPr/>
          <p:nvPr/>
        </p:nvSpPr>
        <p:spPr>
          <a:xfrm>
            <a:off x="2409700" y="3413363"/>
            <a:ext cx="138900" cy="83700"/>
          </a:xfrm>
          <a:prstGeom prst="flowChartExtract">
            <a:avLst/>
          </a:prstGeom>
          <a:solidFill>
            <a:schemeClr val="dk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7dfb287fce_1_0"/>
          <p:cNvSpPr/>
          <p:nvPr/>
        </p:nvSpPr>
        <p:spPr>
          <a:xfrm>
            <a:off x="1928975" y="3145488"/>
            <a:ext cx="138900" cy="83700"/>
          </a:xfrm>
          <a:prstGeom prst="flowChartExtract">
            <a:avLst/>
          </a:prstGeom>
          <a:solidFill>
            <a:schemeClr val="dk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7dfb287fce_1_0"/>
          <p:cNvSpPr/>
          <p:nvPr/>
        </p:nvSpPr>
        <p:spPr>
          <a:xfrm>
            <a:off x="2413800" y="3154288"/>
            <a:ext cx="138900" cy="83700"/>
          </a:xfrm>
          <a:prstGeom prst="flowChartExtract">
            <a:avLst/>
          </a:prstGeom>
          <a:solidFill>
            <a:schemeClr val="dk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7dfb287fce_1_0"/>
          <p:cNvSpPr/>
          <p:nvPr/>
        </p:nvSpPr>
        <p:spPr>
          <a:xfrm>
            <a:off x="3079975" y="3159063"/>
            <a:ext cx="138900" cy="83700"/>
          </a:xfrm>
          <a:prstGeom prst="flowChartExtract">
            <a:avLst/>
          </a:prstGeom>
          <a:solidFill>
            <a:schemeClr val="dk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The image shows a large, metallic rocket engine displayed on a table in a factory setting.&#10;&#10;AI-generated content may be incorrect.">
            <a:extLst>
              <a:ext uri="{FF2B5EF4-FFF2-40B4-BE49-F238E27FC236}">
                <a16:creationId xmlns:a16="http://schemas.microsoft.com/office/drawing/2014/main" id="{CFBB7724-0110-6D21-129E-F27CC39EF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64" y="1244274"/>
            <a:ext cx="2002611" cy="736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3"/>
          <p:cNvPicPr preferRelativeResize="0"/>
          <p:nvPr/>
        </p:nvPicPr>
        <p:blipFill rotWithShape="1">
          <a:blip r:embed="rId4">
            <a:alphaModFix/>
          </a:blip>
          <a:srcRect t="554" b="554"/>
          <a:stretch/>
        </p:blipFill>
        <p:spPr>
          <a:xfrm>
            <a:off x="6232836" y="4892173"/>
            <a:ext cx="1522200" cy="18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170" name="Google Shape;170;p13"/>
          <p:cNvGrpSpPr/>
          <p:nvPr/>
        </p:nvGrpSpPr>
        <p:grpSpPr>
          <a:xfrm>
            <a:off x="428625" y="308725"/>
            <a:ext cx="8286900" cy="561975"/>
            <a:chOff x="428625" y="428625"/>
            <a:chExt cx="8286900" cy="561975"/>
          </a:xfrm>
        </p:grpSpPr>
        <p:sp>
          <p:nvSpPr>
            <p:cNvPr id="171" name="Google Shape;171;p13"/>
            <p:cNvSpPr/>
            <p:nvPr/>
          </p:nvSpPr>
          <p:spPr>
            <a:xfrm>
              <a:off x="428625" y="952500"/>
              <a:ext cx="8286900" cy="381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3"/>
            <p:cNvSpPr txBox="1"/>
            <p:nvPr/>
          </p:nvSpPr>
          <p:spPr>
            <a:xfrm>
              <a:off x="428625" y="428625"/>
              <a:ext cx="8286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0"/>
                <a:buFont typeface="Arial"/>
                <a:buNone/>
              </a:pPr>
              <a:r>
                <a:rPr lang="en" sz="2170" b="1" i="0" u="none" strike="noStrike" cap="none">
                  <a:solidFill>
                    <a:srgbClr val="0F12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Summary of Phase II Technology Solution (Abstract)</a:t>
              </a:r>
              <a:endParaRPr sz="2170" b="1" i="0" u="none" strike="noStrike" cap="none">
                <a:solidFill>
                  <a:srgbClr val="0F12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3" name="Google Shape;173;p13"/>
          <p:cNvSpPr txBox="1"/>
          <p:nvPr/>
        </p:nvSpPr>
        <p:spPr>
          <a:xfrm>
            <a:off x="623175" y="1149730"/>
            <a:ext cx="78978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rPr dirty="0"/>
              <a:t>Exos's Phase II (FA9300-25-C-6022, "Design, Fabrication, and Hover Test of Exos HVRR-RDRE," AFRL/RQRI) matures a Hybrid Vehicle Rocket Reusable (HVRR) testbed and integrates a Rotating Detonation Rocket Engine (RDRE) for hover/flight demonstration on </a:t>
            </a:r>
            <a:r>
              <a:rPr lang="en-US" dirty="0"/>
              <a:t>a new</a:t>
            </a:r>
            <a:r>
              <a:rPr dirty="0"/>
              <a:t> BLK3 reusable suborbital platform. Development to date: BLK3 is one of only three FAA-licensed reusable suborbital VTVL vehicles in the U.S. (FAA launch license March 2026); Exos operates a 10K-lbf-capable test stand and owns its propellant-transfer/test set; the program is advancing RDRE from ground test toward recoverable flight characterization with a 2-day vehicle turnaround.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8cca5fe82_0_0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80" name="Google Shape;180;g2f8cca5fe82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g2f8cca5fe82_0_0"/>
          <p:cNvGrpSpPr/>
          <p:nvPr/>
        </p:nvGrpSpPr>
        <p:grpSpPr>
          <a:xfrm>
            <a:off x="428625" y="304800"/>
            <a:ext cx="8286900" cy="571500"/>
            <a:chOff x="428625" y="304800"/>
            <a:chExt cx="8286900" cy="571500"/>
          </a:xfrm>
        </p:grpSpPr>
        <p:sp>
          <p:nvSpPr>
            <p:cNvPr id="183" name="Google Shape;183;g2f8cca5fe82_0_0"/>
            <p:cNvSpPr/>
            <p:nvPr/>
          </p:nvSpPr>
          <p:spPr>
            <a:xfrm>
              <a:off x="428625" y="838200"/>
              <a:ext cx="8286900" cy="381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2f8cca5fe82_0_0"/>
            <p:cNvSpPr txBox="1"/>
            <p:nvPr/>
          </p:nvSpPr>
          <p:spPr>
            <a:xfrm>
              <a:off x="428625" y="304800"/>
              <a:ext cx="8286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" sz="2400" b="1" i="0" u="none" strike="noStrike" cap="none">
                  <a:solidFill>
                    <a:srgbClr val="0F12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Summary of Proposed TACFI Technology Solution</a:t>
              </a:r>
              <a:endParaRPr sz="2400" b="1" i="0" u="none" strike="noStrike" cap="none">
                <a:solidFill>
                  <a:srgbClr val="0F12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5" name="Google Shape;185;g2f8cca5fe82_0_0"/>
          <p:cNvGrpSpPr/>
          <p:nvPr/>
        </p:nvGrpSpPr>
        <p:grpSpPr>
          <a:xfrm>
            <a:off x="428625" y="1524000"/>
            <a:ext cx="8286900" cy="2857500"/>
            <a:chOff x="428625" y="1524000"/>
            <a:chExt cx="8286900" cy="2857500"/>
          </a:xfrm>
        </p:grpSpPr>
        <p:sp>
          <p:nvSpPr>
            <p:cNvPr id="186" name="Google Shape;186;g2f8cca5fe82_0_0"/>
            <p:cNvSpPr/>
            <p:nvPr/>
          </p:nvSpPr>
          <p:spPr>
            <a:xfrm>
              <a:off x="428625" y="1524000"/>
              <a:ext cx="82869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2f8cca5fe82_0_0"/>
            <p:cNvSpPr txBox="1"/>
            <p:nvPr/>
          </p:nvSpPr>
          <p:spPr>
            <a:xfrm>
              <a:off x="428625" y="1524000"/>
              <a:ext cx="8286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dirty="0"/>
                <a:t>Integrate a </a:t>
              </a:r>
              <a:r>
                <a:rPr dirty="0" err="1"/>
                <a:t>flightweight</a:t>
              </a:r>
              <a:r>
                <a:rPr dirty="0"/>
                <a:t> ~5,800 </a:t>
              </a:r>
              <a:r>
                <a:rPr dirty="0" err="1"/>
                <a:t>lbf</a:t>
              </a:r>
              <a:r>
                <a:rPr dirty="0"/>
                <a:t> RDRE (</a:t>
              </a:r>
              <a:r>
                <a:rPr lang="en-US" dirty="0"/>
                <a:t>NASA printed design or </a:t>
              </a:r>
              <a:r>
                <a:rPr dirty="0"/>
                <a:t>GTL machined architecture) onto BLK3 and conduct a minimum of </a:t>
              </a:r>
              <a:r>
                <a:rPr lang="en-US" dirty="0"/>
                <a:t>one hover and two </a:t>
              </a:r>
              <a:r>
                <a:rPr dirty="0"/>
                <a:t>recoverable flights over an </a:t>
              </a:r>
              <a:r>
                <a:rPr lang="en-US" dirty="0"/>
                <a:t>24</a:t>
              </a:r>
              <a:r>
                <a:rPr dirty="0"/>
                <a:t>-month period to characterize RDRE performance across the full suborbital altitude envelope (s</a:t>
              </a:r>
              <a:r>
                <a:rPr lang="en-US" dirty="0"/>
                <a:t>paceport</a:t>
              </a:r>
              <a:r>
                <a:rPr dirty="0"/>
                <a:t> level to near-vacuum). Trials / acceptance criteria: measure detonation-wave stability vs. ambient backpressure (0.001-1 ATM), combustor wall heat flux and thermal gradient, thrust oscillation amplitude/frequency vs. altitude, and composite-airframe vibro-acoustic response; success = an altitude-swept RDRE flight dataset with engine recovery and reuse between flights. Key risks/mitigations: RDRE stability at altitude (incremental envelope expansion + GTL combustion models); thermal/heat-flux (instrumented checkouts, hot-fire qualification); recovery/refurbishment (proven BLK3 VTVL recovery)</a:t>
              </a:r>
              <a:r>
                <a:rPr lang="en-US" dirty="0"/>
                <a:t> and in space RDRE relight capability testing enabling RDRE for Orbital Transfer Vehicle applications</a:t>
              </a:r>
              <a:r>
                <a:rPr dirty="0"/>
                <a:t>.</a:t>
              </a:r>
            </a:p>
          </p:txBody>
        </p:sp>
      </p:grpSp>
      <p:grpSp>
        <p:nvGrpSpPr>
          <p:cNvPr id="188" name="Google Shape;188;g2f8cca5fe82_0_0"/>
          <p:cNvGrpSpPr/>
          <p:nvPr/>
        </p:nvGrpSpPr>
        <p:grpSpPr>
          <a:xfrm>
            <a:off x="6067425" y="4800600"/>
            <a:ext cx="3076500" cy="342900"/>
            <a:chOff x="6067425" y="4800600"/>
            <a:chExt cx="3076500" cy="342900"/>
          </a:xfrm>
        </p:grpSpPr>
        <p:sp>
          <p:nvSpPr>
            <p:cNvPr id="189" name="Google Shape;189;g2f8cca5fe82_0_0"/>
            <p:cNvSpPr/>
            <p:nvPr/>
          </p:nvSpPr>
          <p:spPr>
            <a:xfrm>
              <a:off x="6067425" y="4800600"/>
              <a:ext cx="3076500" cy="342900"/>
            </a:xfrm>
            <a:prstGeom prst="rect">
              <a:avLst/>
            </a:prstGeom>
            <a:solidFill>
              <a:srgbClr val="0F121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0" name="Google Shape;190;g2f8cca5fe82_0_0"/>
            <p:cNvPicPr preferRelativeResize="0"/>
            <p:nvPr/>
          </p:nvPicPr>
          <p:blipFill rotWithShape="1">
            <a:blip r:embed="rId4">
              <a:alphaModFix/>
            </a:blip>
            <a:srcRect l="328" r="328"/>
            <a:stretch/>
          </p:blipFill>
          <p:spPr>
            <a:xfrm>
              <a:off x="6229350" y="4886325"/>
              <a:ext cx="15240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g2f8cca5fe82_0_0"/>
            <p:cNvSpPr txBox="1"/>
            <p:nvPr/>
          </p:nvSpPr>
          <p:spPr>
            <a:xfrm>
              <a:off x="8477250" y="4800600"/>
              <a:ext cx="381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dc70bc6784_1_0"/>
          <p:cNvPicPr preferRelativeResize="0"/>
          <p:nvPr/>
        </p:nvPicPr>
        <p:blipFill rotWithShape="1">
          <a:blip r:embed="rId4">
            <a:alphaModFix/>
          </a:blip>
          <a:srcRect l="16065" b="13955"/>
          <a:stretch/>
        </p:blipFill>
        <p:spPr>
          <a:xfrm>
            <a:off x="0" y="2398575"/>
            <a:ext cx="2687775" cy="275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dc70bc6784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dc70bc6784_1_0"/>
          <p:cNvSpPr txBox="1">
            <a:spLocks noGrp="1"/>
          </p:cNvSpPr>
          <p:nvPr>
            <p:ph type="sldNum" idx="12"/>
          </p:nvPr>
        </p:nvSpPr>
        <p:spPr>
          <a:xfrm>
            <a:off x="5941349" y="3618894"/>
            <a:ext cx="6846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201" name="Google Shape;201;g3dc70bc6784_1_0"/>
          <p:cNvGrpSpPr/>
          <p:nvPr/>
        </p:nvGrpSpPr>
        <p:grpSpPr>
          <a:xfrm>
            <a:off x="428625" y="237000"/>
            <a:ext cx="8286900" cy="639300"/>
            <a:chOff x="428625" y="237000"/>
            <a:chExt cx="8286900" cy="639300"/>
          </a:xfrm>
        </p:grpSpPr>
        <p:sp>
          <p:nvSpPr>
            <p:cNvPr id="202" name="Google Shape;202;g3dc70bc6784_1_0"/>
            <p:cNvSpPr/>
            <p:nvPr/>
          </p:nvSpPr>
          <p:spPr>
            <a:xfrm>
              <a:off x="428625" y="304800"/>
              <a:ext cx="82869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dc70bc6784_1_0"/>
            <p:cNvSpPr txBox="1"/>
            <p:nvPr/>
          </p:nvSpPr>
          <p:spPr>
            <a:xfrm>
              <a:off x="428625" y="237000"/>
              <a:ext cx="8286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" sz="2400" b="1" i="0" u="none" strike="noStrike" cap="none" dirty="0">
                  <a:solidFill>
                    <a:srgbClr val="0F12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Transition Strategy</a:t>
              </a:r>
              <a:endParaRPr sz="2400" b="1" i="0" u="none" strike="noStrike" cap="none" dirty="0">
                <a:solidFill>
                  <a:srgbClr val="0F12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4" name="Google Shape;204;g3dc70bc6784_1_0"/>
            <p:cNvSpPr/>
            <p:nvPr/>
          </p:nvSpPr>
          <p:spPr>
            <a:xfrm>
              <a:off x="428625" y="838200"/>
              <a:ext cx="8286900" cy="381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g3dc70bc6784_1_0"/>
          <p:cNvSpPr txBox="1"/>
          <p:nvPr/>
        </p:nvSpPr>
        <p:spPr>
          <a:xfrm>
            <a:off x="60600" y="1456775"/>
            <a:ext cx="8842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dirty="0"/>
              <a:t>Post-TACFI, Exos transitions via sole-source Phase III under 15 U.S.C. 638(r) citing FA9300-25-C-6022 — no further competition required — delivering flight-qualified RDRE propulsion to USAF/USSF boost-propulsion and responsive-launch programs of record. Exos's reusable, low-cost, 2-day-turnaround flight-test cadence enables iterative qualification and recurring revenue (e.g., NASA Flight Opportunities on-ramp). Aligns with the signed Collaboration Agreement (Program-of-Record Transition Strategy): AFRL/RQRI End-User/Customer; AFTC/PZRB executing. If proving successful, next step is Phase III RDRE qualification flights and integration onto operational boost applications</a:t>
            </a:r>
            <a:r>
              <a:rPr lang="en-US" dirty="0"/>
              <a:t>, OTV’s and evolution to a Black Brant replacement with a reusable rocket capable of low </a:t>
            </a:r>
            <a:r>
              <a:rPr lang="en-US" dirty="0" err="1"/>
              <a:t>ost</a:t>
            </a:r>
            <a:r>
              <a:rPr lang="en-US" dirty="0"/>
              <a:t> point to point operations. </a:t>
            </a:r>
            <a:endParaRPr dirty="0"/>
          </a:p>
        </p:txBody>
      </p:sp>
      <p:grpSp>
        <p:nvGrpSpPr>
          <p:cNvPr id="206" name="Google Shape;206;g3dc70bc6784_1_0"/>
          <p:cNvGrpSpPr/>
          <p:nvPr/>
        </p:nvGrpSpPr>
        <p:grpSpPr>
          <a:xfrm>
            <a:off x="6067425" y="4800600"/>
            <a:ext cx="3076500" cy="342900"/>
            <a:chOff x="6067425" y="4800600"/>
            <a:chExt cx="3076500" cy="342900"/>
          </a:xfrm>
        </p:grpSpPr>
        <p:sp>
          <p:nvSpPr>
            <p:cNvPr id="207" name="Google Shape;207;g3dc70bc6784_1_0"/>
            <p:cNvSpPr/>
            <p:nvPr/>
          </p:nvSpPr>
          <p:spPr>
            <a:xfrm>
              <a:off x="6067425" y="4800600"/>
              <a:ext cx="3076500" cy="342900"/>
            </a:xfrm>
            <a:prstGeom prst="rect">
              <a:avLst/>
            </a:prstGeom>
            <a:solidFill>
              <a:srgbClr val="0F121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8" name="Google Shape;208;g3dc70bc6784_1_0"/>
            <p:cNvPicPr preferRelativeResize="0"/>
            <p:nvPr/>
          </p:nvPicPr>
          <p:blipFill rotWithShape="1">
            <a:blip r:embed="rId5">
              <a:alphaModFix/>
            </a:blip>
            <a:srcRect l="328" r="328"/>
            <a:stretch/>
          </p:blipFill>
          <p:spPr>
            <a:xfrm>
              <a:off x="6229350" y="4886325"/>
              <a:ext cx="15240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g3dc70bc6784_1_0"/>
            <p:cNvSpPr txBox="1"/>
            <p:nvPr/>
          </p:nvSpPr>
          <p:spPr>
            <a:xfrm>
              <a:off x="8477250" y="4800600"/>
              <a:ext cx="381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endParaRPr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f8cca5fe82_0_12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g2f8cca5fe82_0_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f8cca5fe82_0_12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221" name="Google Shape;221;g2f8cca5fe82_0_12"/>
          <p:cNvGrpSpPr/>
          <p:nvPr/>
        </p:nvGrpSpPr>
        <p:grpSpPr>
          <a:xfrm>
            <a:off x="428625" y="304800"/>
            <a:ext cx="8286900" cy="571500"/>
            <a:chOff x="428625" y="304800"/>
            <a:chExt cx="8286900" cy="571500"/>
          </a:xfrm>
        </p:grpSpPr>
        <p:sp>
          <p:nvSpPr>
            <p:cNvPr id="222" name="Google Shape;222;g2f8cca5fe82_0_12"/>
            <p:cNvSpPr/>
            <p:nvPr/>
          </p:nvSpPr>
          <p:spPr>
            <a:xfrm>
              <a:off x="428625" y="838200"/>
              <a:ext cx="8286900" cy="381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2f8cca5fe82_0_12"/>
            <p:cNvSpPr txBox="1"/>
            <p:nvPr/>
          </p:nvSpPr>
          <p:spPr>
            <a:xfrm>
              <a:off x="428625" y="304800"/>
              <a:ext cx="8286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" sz="2400" b="1" i="0" u="none" strike="noStrike" cap="none">
                  <a:solidFill>
                    <a:srgbClr val="0F12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4. Benefit to the Warfighter</a:t>
              </a:r>
              <a:endParaRPr sz="2400" b="1" i="0" u="none" strike="noStrike" cap="none">
                <a:solidFill>
                  <a:srgbClr val="0F12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25" name="Google Shape;225;g2f8cca5fe82_0_12"/>
          <p:cNvGrpSpPr/>
          <p:nvPr/>
        </p:nvGrpSpPr>
        <p:grpSpPr>
          <a:xfrm>
            <a:off x="8477250" y="4800600"/>
            <a:ext cx="381000" cy="342900"/>
            <a:chOff x="8477250" y="4800600"/>
            <a:chExt cx="381000" cy="342900"/>
          </a:xfrm>
        </p:grpSpPr>
        <p:sp>
          <p:nvSpPr>
            <p:cNvPr id="226" name="Google Shape;226;g2f8cca5fe82_0_12"/>
            <p:cNvSpPr/>
            <p:nvPr/>
          </p:nvSpPr>
          <p:spPr>
            <a:xfrm>
              <a:off x="8477250" y="4800600"/>
              <a:ext cx="3810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2f8cca5fe82_0_12"/>
            <p:cNvSpPr txBox="1"/>
            <p:nvPr/>
          </p:nvSpPr>
          <p:spPr>
            <a:xfrm>
              <a:off x="8477250" y="4800600"/>
              <a:ext cx="381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</a:t>
              </a:r>
              <a:endParaRPr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8" name="Google Shape;228;g2f8cca5fe82_0_12"/>
          <p:cNvSpPr txBox="1"/>
          <p:nvPr/>
        </p:nvSpPr>
        <p:spPr>
          <a:xfrm>
            <a:off x="505375" y="1595125"/>
            <a:ext cx="78105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t>DAF Gap/Need: low-cost, responsive, reusable launch and flight-qualified advanced propulsion effective from dispersed, contested, austere locations. Benefit: this TACFI de-risks RDRE — compact, high-performance detonation propulsion — through recoverable flight test, compressing the develop-test-fly cycle and accelerating fielding. Outcome: responsive reusable launch and point-to-point delivery of MASS that strengthens Speed and Reach of Disruption and Lethality and supports generating/projecting combat power from resilient, globally distributed positions (Mission Areas MA1/MA2/MA3).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WERX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EB8AA7EB49BA43B8EFB3A5448A2323" ma:contentTypeVersion="10" ma:contentTypeDescription="Create a new document." ma:contentTypeScope="" ma:versionID="0aae9a012038bf51f4b4a9eedd0c34be">
  <xsd:schema xmlns:xsd="http://www.w3.org/2001/XMLSchema" xmlns:xs="http://www.w3.org/2001/XMLSchema" xmlns:p="http://schemas.microsoft.com/office/2006/metadata/properties" xmlns:ns2="72dd9093-9e75-4ffd-a570-9dda36a15cec" xmlns:ns3="5febdd18-e6cd-4108-ba5c-4e60dde6863a" targetNamespace="http://schemas.microsoft.com/office/2006/metadata/properties" ma:root="true" ma:fieldsID="8ded5163af50c90fbae6e32791ffd0f4" ns2:_="" ns3:_="">
    <xsd:import namespace="72dd9093-9e75-4ffd-a570-9dda36a15cec"/>
    <xsd:import namespace="5febdd18-e6cd-4108-ba5c-4e60dde686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dd9093-9e75-4ffd-a570-9dda36a15c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bdd18-e6cd-4108-ba5c-4e60dde6863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65BF3F-141C-46CD-8F7C-B033C61F99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47DAD0-BF8F-4CA9-A4C0-1453BD40DC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dd9093-9e75-4ffd-a570-9dda36a15cec"/>
    <ds:schemaRef ds:uri="5febdd18-e6cd-4108-ba5c-4e60dde686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B50B15-7448-4CAA-A34A-C0872953E314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37adc8ff-f4a3-4a14-9c0d-84b4985de0d2}" enabled="1" method="Privileged" siteId="{8331b18d-2d87-48ef-a35f-ac8818ebf9b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873</Words>
  <Application>Microsoft Office PowerPoint</Application>
  <PresentationFormat>On-screen Show (16:9)</PresentationFormat>
  <Paragraphs>53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Century Gothic</vt:lpstr>
      <vt:lpstr>Arial</vt:lpstr>
      <vt:lpstr>Montserrat Black</vt:lpstr>
      <vt:lpstr>Calibri</vt:lpstr>
      <vt:lpstr>Montserrat</vt:lpstr>
      <vt:lpstr>Times New Roman</vt:lpstr>
      <vt:lpstr>AFWERX</vt:lpstr>
      <vt:lpstr>Exos Aerospace Systems &amp; Technologies, Inc. RDRE/BLK3 Integrated Flight Demonstration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John Quinn</dc:creator>
  <cp:lastModifiedBy>John Quinn</cp:lastModifiedBy>
  <cp:revision>5</cp:revision>
  <dcterms:modified xsi:type="dcterms:W3CDTF">2026-06-24T04:38:40Z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0x01010027EB8AA7EB49BA43B8EFB3A5448A2323</vt:lpwstr>
  </property>
</Properties>
</file>