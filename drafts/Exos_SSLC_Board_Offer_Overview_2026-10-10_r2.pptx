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66" r:id="rId17"/>
    <p:sldId id="259" r:id="rId5"/>
    <p:sldId id="260" r:id="rId6"/>
    <p:sldId id="261" r:id="rId7"/>
    <p:sldId id="262" r:id="rId8"/>
    <p:sldId id="263" r:id="rId9"/>
    <p:sldId id="264" r:id="rId10"/>
    <p:sldId id="267" r:id="rId18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5.xml"/><Relationship Id="rId6" Type="http://schemas.openxmlformats.org/officeDocument/2006/relationships/slide" Target="slides/slide6.xml"/><Relationship Id="rId7" Type="http://schemas.openxmlformats.org/officeDocument/2006/relationships/slide" Target="slides/slide7.xml"/><Relationship Id="rId8" Type="http://schemas.openxmlformats.org/officeDocument/2006/relationships/slide" Target="slides/slide8.xml"/><Relationship Id="rId9" Type="http://schemas.openxmlformats.org/officeDocument/2006/relationships/slide" Target="slides/slide9.xml"/><Relationship Id="rId10" Type="http://schemas.openxmlformats.org/officeDocument/2006/relationships/slide" Target="slides/slide10.xml"/><Relationship Id="rId11" Type="http://schemas.openxmlformats.org/officeDocument/2006/relationships/slide" Target="slides/slide12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slide" Target="slides/slide4.xml"/><Relationship Id="rId18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a draft offer overview for the SSLC board. All figures are from the Option B Offer Summary (2026-10-07). The offer is subject to negotiation and board acceptance. Not a final or binding offer.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Four actions requested of the SSLC board:</a:t>
            </a:r>
            <a:br/>
            <a:r>
              <a:t>  Motion 1: Confirm §3 exclusivity. 90-day period begins on approval.</a:t>
            </a:r>
            <a:br/>
            <a:r>
              <a:t>  Motion 2: Grant full read-only QB Online access (Oct 15 deadline). §1602 + AAA §4. NDA.</a:t>
            </a:r>
            <a:br/>
            <a:r>
              <a:t>  Motion 3: Direct A La Carte Solutions + outside CPAs to reconcile and correct AR Unbilled ($942K) and Deposits ($120K) within 5 days.</a:t>
            </a:r>
            <a:br/>
            <a:r>
              <a:t>  Motion 4: Consent to ERP/MRP &amp; inventory evaluation using QB data. NDA.</a:t>
            </a:r>
            <a:br/>
            <a:r>
              <a:t>Governance: John Quinn abstains as interested director.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Source: SSLC QuickBooks Balance Sheet 10/11/2026 (data-room/SSLC/qb-2026-10-11/SSLC_Balance_Sheet.xlsx).</a:t>
            </a:r>
            <a:br/>
            <a:r>
              <a:t>Cash $590,344 — almost entirely from one IM payment $421,421 on 10/7 for invoices 109-86/87/88 booked 9/25–9/30.</a:t>
            </a:r>
            <a:br/>
            <a:r>
              <a:t>$713K last quarter from offer summary (unchanged).</a:t>
            </a:r>
            <a:br/>
            <a:r>
              <a:t>$5.1M M1 milestone requires ~2× quarterly pace starting Oct 1st.</a:t>
            </a:r>
            <a:br/>
            <a:r>
              <a:t>$1.03M loans &amp; notes (unchanged by lender); equity −$1,443,882.</a:t>
            </a:r>
            <a:br/>
            <a:r>
              <a:t>Physical-space and single-winder constraints are SSLC's own reported challenges.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All three scenarios (Low/Base/High) have identical at-close values: ① $3.86M, ② $4.86M with stock. The $3.86M breaks down as: $2.51M cash + $60K transaction costs + $790K stake credit (non-cash) + $500K WC bridge. The $1.0M EAI units are issued at financing close, not at board acceptance, and count toward the Rule 504 $10M rolling cap.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Tank earn-out: single 5% rate applied to the revenue SSLC achieves each year FY27–FY31, capped at $300K/yr. Low $3.0M/yr → $150K/yr → $750K total; Base $5.0M/yr → $250K/yr → $1.25M; High $6.0M+/yr → $300K/yr (cap) → $1.5M. M1 (all scenarios): FY27 rev ≥$5.1M → $200K, pays FY28 Q1. M2 (Base/High): Nebula OTV flight tank set delivered and accepted by Intuitive Machines → $200K, pays at acceptance. M3 (Base/High): rev ≥$10M → $250K. M4 (High): rev ≥$20M → $250K. M5 (High): 50% reduction in tank build cost via dome automation and build-process automation proven → $200K. Stock earn-out: 0.0%/0.25%/0.50% additional EAI units issued at RTO listing, with the same post-listing lockup as Exos principals. $0/$625K/$1,500K at 409A listing value. Total earn-outs: Low $950K / Base $2,525K / High $4,100K (each = ③ minus ②).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③ 5-yr total is ② ($4.86M) + earn-outs. Low = $5.81M / Base = $7.385M (shown as $7.4M) / High = $8.96M (shown as $9.0M). These are rounded for board presentation. ④ TOTAL IF STOCK HELD TO 2031: Low $11.5M / Base $15.3M / High $18.9M — this replaces and is not additive to ③. It assumes RTO completion, ~30% dilution, and management-projected valuations. Forward-looking statements subject to SEC Rule 10b-5. The chart shows the year-by-year compensation build from close through FY31.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$1.0M EAI units are issued at financing close (not at board acceptance). At the 409A valuation of ~$169.7M, this represents ~0.59% fully diluted. Earn-out stock (0.0%/0.25%/0.50% additional) issued post-RTO brings total equity to ~0.59%–1.09%. The Japan round EAI units are Reg S and must remain separate from the Rule 504 domestic offering. See model EAI Lockup &amp; Liquidity sheet for full detail.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language is verbatim from the offer email (Exos_SSLC_Offer_Briefing_Email_DRAFT_2026-10-09.docx) and the Key Terms section of the offer summary PDF. The exact terms — option pool size, vesting schedule — will be negotiated in the Definitive Agreement. IM program continuity: Exos-SSLC continues the Intuitive Machines contract with no delivery interruption.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slide summarizes every dollar and commitment Exos is making to close this transaction. Funding is committed at financing close — we are not representing that financing is already secured, but we are committed to delivering it. The Feb 15th target drives our 90-day exclusivity window. Capital for physical space and a second winder is committed at financing close; the amount will be agreed in the Definitive Agreement. The one action today is confirming §3 exclusivity, which starts the clock.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Four actions needed today: (1) confirm §3 exclusivity — starts 90-day window; (2) grant full read-only QB access (Oct 15 deadline); (3) direct accounting firm to correct AR Unbilled + Deposits within 5 days; (4) consent to ERP/MRP evaluation. All confidential under the 7/27/2021 NDA. Financing close target: Feb 15th.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SSLC QB Balance Sheet 10/11/2026 (data-room/SSLC/qb-2026-10-11/SSLC_Balance_Sheet.xlsx).</a:t>
            </a:r>
            <a:br/>
            <a:r>
              <a:t>Cash $590,344; AR Unbilled (billed-ahead) −$942,177; deposits $120,000.</a:t>
            </a:r>
            <a:br/>
            <a:r>
              <a:t>Loans &amp; notes $1,027,783 unchanged by lender.</a:t>
            </a:r>
            <a:br/>
            <a:r>
              <a:t>Total liabilities $1,296,521.</a:t>
            </a:r>
            <a:br/>
            <a:r>
              <a:t>Paid-in capital $1,014,465 (unchanged).</a:t>
            </a:r>
            <a:br/>
            <a:r>
              <a:t>Retained earnings −$2,571,013; FY27 YTD net income +$112,666.</a:t>
            </a:r>
            <a:br/>
            <a:r>
              <a:t>Total equity −$1,443,882 (10/11/2026).</a:t>
            </a:r>
            <a:br/>
            <a:r>
              <a:t>Exos loan $31,200 principal; ~$38,158 with 11% interest at 10/2. Board DENIED license; loan STANDS.</a:t>
            </a:r>
            <a:br/>
            <a:r>
              <a:t>Billed-ahead $942,177: Exos assessment is overstated; 40% start-billings not cleared at shipment; est. ~$100–200K genuinely in progress.</a:t>
            </a:r>
            <a:br/>
            <a:r>
              <a:t>Facility ~$805K since Jan 2024: rent $725K + other; doubled to ~$23.6K/mo Jul 2024. Paid via Microcosm invoices through Dec 2025, then directly to landlords. Never charged back to Microcosm on SSLC's books; Microcosm receivable = $3,529; loan to Microcosm = $0.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Four motions for the SSLC Board:</a:t>
            </a:r>
            <a:br/>
            <a:br/>
            <a:r>
              <a:t>Motion 1: §3 exclusivity — 90-day period begins on board approval (May 2025 AAA).</a:t>
            </a:r>
            <a:br/>
            <a:br/>
            <a:r>
              <a:t>Motion 2: Full read-only QB Online access for John Quinn + one Exos finance reviewer. Cal. Corp. Code §1602 + AAA §4. NDA-confidential. Oct 15, 2026 deadline.</a:t>
            </a:r>
            <a:br/>
            <a:br/>
            <a:r>
              <a:t>Motion 3: Direct A La Carte Solutions (bookkeeper) + Singer Lewak / Welch &amp; Co. to reconcile and correct Acct 1110 AR Unbilled ($942,177) and Acct 2380 Deposits ($120,000) within 5 days. Must clear completed/shipped tank billings, post missing Jul–Sep 2026 revenue-recognition entries, tank-by-tank reconciliation (IM-109/122/134, EXOS-133), corrected balance sheet delivered to all directors.</a:t>
            </a:r>
            <a:br/>
            <a:br/>
            <a:r>
              <a:t>Motion 4 (separate): Consent to Exos using QB data to evaluate ERP/MRP and inventory systems for combined operation. Evaluation only; NDA-confidential.</a:t>
            </a:r>
            <a:br/>
            <a:br/>
            <a:r>
              <a:t>Governance: John Quinn abstains as interested director (Exos is offeror; Quinn holds Exos loan to SSLC).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exomac/.openclaw/workspace/drafts/_exos_hero_bg.png">    </p:cNvPr>
          <p:cNvPicPr>
            <a:picLocks noChangeAspect="1"/>
          </p:cNvPicPr>
          <p:nvPr/>
        </p:nvPicPr>
        <p:blipFill>
          <a:blip r:embed="rId1">
            <a:alphaModFix amt="70000"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F26A21"/>
          </a:solidFill>
          <a:ln/>
        </p:spPr>
      </p:sp>
      <p:sp>
        <p:nvSpPr>
          <p:cNvPr id="4" name="Text 1"/>
          <p:cNvSpPr txBox="1"/>
          <p:nvPr/>
        </p:nvSpPr>
        <p:spPr>
          <a:xfrm>
            <a:off x="548640" y="502920"/>
            <a:ext cx="8046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EXOS OFFER TO</a:t>
            </a:r>
            <a:endParaRPr lang="en-US" sz="3800" dirty="0"/>
          </a:p>
          <a:p>
            <a:pPr algn="ctr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SCORPIUS SPACE LAUNCH COMPANY</a:t>
            </a:r>
            <a:endParaRPr lang="en-US" sz="38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2240280"/>
            <a:ext cx="80467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26A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Overview</a:t>
            </a:r>
            <a:endParaRPr lang="en-US" sz="2200" dirty="0"/>
          </a:p>
        </p:txBody>
      </p:sp>
      <p:sp>
        <p:nvSpPr>
          <p:cNvPr id="6" name="Shape 3"/>
          <p:cNvSpPr/>
          <p:nvPr/>
        </p:nvSpPr>
        <p:spPr>
          <a:xfrm>
            <a:off x="3200400" y="2834640"/>
            <a:ext cx="2743200" cy="36576"/>
          </a:xfrm>
          <a:prstGeom prst="rect">
            <a:avLst/>
          </a:prstGeom>
          <a:solidFill>
            <a:srgbClr val="F26A21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548640" y="2971800"/>
            <a:ext cx="80467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CCCCC"/>
                </a:solidFill>
              </a:rPr>
              <a:t>John M. Quinn  |  Cofounder &amp; CEO, Exos Aerospace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548640" y="3310128"/>
            <a:ext cx="8046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888888"/>
                </a:solidFill>
              </a:rPr>
              <a:t>October 10, 2026</a:t>
            </a:r>
            <a:endParaRPr lang="en-US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548640" y="3703320"/>
            <a:ext cx="80467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F26A21"/>
                </a:solidFill>
              </a:rPr>
              <a:t>CONFIDENTIAL — DRAFT — NEGOTIATING TERMS</a:t>
            </a:r>
            <a:endParaRPr lang="en-US" sz="1000" dirty="0"/>
          </a:p>
        </p:txBody>
      </p:sp>
      <p:pic>
        <p:nvPicPr>
          <p:cNvPr id="10" name="Image 1" descr="/Users/exomac/.openclaw/workspace/drafts/_exos_white_officia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49040" y="4206240"/>
            <a:ext cx="1645920" cy="347472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26A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Decision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8229600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Board is asked to vote on four motions today.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2633472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CCCCCC"/>
                </a:solidFill>
              </a:rPr>
              <a:t>That's why Exos has stayed committed to funding this acquisition: fair value for SSLC holders, stability for SSLC's team, and real growth for investors. Together we're stronger than apart.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457200" y="2944368"/>
            <a:ext cx="8229600" cy="1417320"/>
          </a:xfrm>
          <a:prstGeom prst="rect">
            <a:avLst/>
          </a:prstGeom>
          <a:solidFill>
            <a:srgbClr val="1E1E1E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 txBox="1"/>
          <p:nvPr/>
        </p:nvSpPr>
        <p:spPr>
          <a:xfrm>
            <a:off x="640080" y="2999232"/>
            <a:ext cx="7863840" cy="12984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26A21"/>
                </a:solidFill>
              </a:rPr>
              <a:t>Motion 1: 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</a:rPr>
              <a:t>§3 exclusivity — 90-day window begins on board approval (May 2025 AAA)
</a:t>
            </a:r>
            <a:pPr indent="0" marL="0">
              <a:buNone/>
            </a:pPr>
            <a:r>
              <a:rPr lang="en-US" sz="1200" b="1" dirty="0">
                <a:solidFill>
                  <a:srgbClr val="F26A21"/>
                </a:solidFill>
              </a:rPr>
              <a:t>Motion 2: 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</a:rPr>
              <a:t>Full read-only QB Online access for diligence (Cal. Corp. Code §1602 + AAA §4; under 7/27/2021 NDA)
</a:t>
            </a:r>
            <a:pPr indent="0" marL="0">
              <a:buNone/>
            </a:pPr>
            <a:r>
              <a:rPr lang="en-US" sz="1200" b="1" dirty="0">
                <a:solidFill>
                  <a:srgbClr val="F26A21"/>
                </a:solidFill>
              </a:rPr>
              <a:t>Motion 3: </a:t>
            </a:r>
            <a:r>
              <a:rPr lang="en-US" sz="1200" dirty="0" b="0">
                <a:solidFill>
                  <a:srgbClr val="CCCCCC"/>
                </a:solidFill>
              </a:rPr>
              <a:t>Correct AR Unbilled &amp; Deposits accounting within 5 days (A La Carte + outside CPAs)
</a:t>
            </a:r>
            <a:r>
              <a:rPr lang="en-US" sz="1200" b="1" dirty="0">
                <a:solidFill>
                  <a:srgbClr val="F26A21"/>
                </a:solidFill>
              </a:rPr>
              <a:t>Motion 4: 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</a:rPr>
              <a:t>Consent to ERP/MRP &amp; inventory evaluation using QB data (confidential under NDA)</a:t>
            </a:r>
            <a:endParaRPr lang="en-US" sz="1400" dirty="0"/>
          </a:p>
        </p:txBody>
      </p:sp>
      <p:pic>
        <p:nvPicPr>
          <p:cNvPr id="7" name="Image 0" descr="/Users/exomac/.openclaw/workspace/drafts/_exos_white_offici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28600" y="4754880"/>
            <a:ext cx="1188720" cy="256032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554480" y="4800600"/>
            <a:ext cx="60350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888888"/>
                </a:solidFill>
              </a:rPr>
              <a:t>DRAFT — NEGOTIATING TERMS</a:t>
            </a:r>
            <a:endParaRPr lang="en-US" sz="700" dirty="0"/>
          </a:p>
        </p:txBody>
      </p:sp>
      <p:sp>
        <p:nvSpPr>
          <p:cNvPr id="9" name="Text 6"/>
          <p:cNvSpPr txBox="1"/>
          <p:nvPr/>
        </p:nvSpPr>
        <p:spPr>
          <a:xfrm>
            <a:off x="7772400" y="4800600"/>
            <a:ext cx="1143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00" i="1" dirty="0">
                <a:solidFill>
                  <a:srgbClr val="888888"/>
                </a:solidFill>
              </a:rPr>
              <a:t>CONFIDENTIAL</a:t>
            </a:r>
            <a:endParaRPr lang="en-US" sz="7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Where SSLC Stands Today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457200" y="804672"/>
            <a:ext cx="1371600" cy="36576"/>
          </a:xfrm>
          <a:prstGeom prst="rect">
            <a:avLst/>
          </a:prstGeom>
          <a:solidFill>
            <a:srgbClr val="F26A21"/>
          </a:solidFill>
          <a:ln/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365760" y="1097280"/>
            <a:ext cx="2560320" cy="2011680"/>
          </a:xfrm>
          <a:prstGeom prst="rect">
            <a:avLst/>
          </a:prstGeom>
          <a:solidFill>
            <a:srgbClr val="1E1E1E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457200" y="1234440"/>
            <a:ext cx="237744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$590K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2103120"/>
            <a:ext cx="23774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CCCCCC"/>
                </a:solidFill>
              </a:rPr>
              <a:t>Cash at 10/11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2514600"/>
            <a:ext cx="23774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88888"/>
                </a:solidFill>
              </a:rPr>
              <a:t>One IM payment 10/7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200400" y="1097280"/>
            <a:ext cx="2560320" cy="2011680"/>
          </a:xfrm>
          <a:prstGeom prst="rect">
            <a:avLst/>
          </a:prstGeom>
          <a:solidFill>
            <a:srgbClr val="1E1E1E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 txBox="1"/>
          <p:nvPr/>
        </p:nvSpPr>
        <p:spPr>
          <a:xfrm>
            <a:off x="3291840" y="1234440"/>
            <a:ext cx="237744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$713K</a:t>
            </a:r>
            <a:endParaRPr lang="en-US" sz="3400" dirty="0"/>
          </a:p>
        </p:txBody>
      </p:sp>
      <p:sp>
        <p:nvSpPr>
          <p:cNvPr id="10" name="Text 8"/>
          <p:cNvSpPr txBox="1"/>
          <p:nvPr/>
        </p:nvSpPr>
        <p:spPr>
          <a:xfrm>
            <a:off x="3291840" y="2103120"/>
            <a:ext cx="23774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CCCCCC"/>
                </a:solidFill>
              </a:rPr>
              <a:t>Last quarter revenue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3291840" y="2514600"/>
            <a:ext cx="23774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88888"/>
                </a:solidFill>
              </a:rPr>
              <a:t>Most recent reported quarter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035040" y="1097280"/>
            <a:ext cx="2560320" cy="2011680"/>
          </a:xfrm>
          <a:prstGeom prst="rect">
            <a:avLst/>
          </a:prstGeom>
          <a:solidFill>
            <a:srgbClr val="1E1E1E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13" name="Text 11"/>
          <p:cNvSpPr txBox="1"/>
          <p:nvPr/>
        </p:nvSpPr>
        <p:spPr>
          <a:xfrm>
            <a:off x="6126480" y="1234440"/>
            <a:ext cx="237744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26A21"/>
                </a:solidFill>
              </a:rPr>
              <a:t>~$1.46M/qtr</a:t>
            </a:r>
            <a:endParaRPr lang="en-US" sz="2600" dirty="0"/>
          </a:p>
        </p:txBody>
      </p:sp>
      <p:sp>
        <p:nvSpPr>
          <p:cNvPr id="14" name="Text 12"/>
          <p:cNvSpPr txBox="1"/>
          <p:nvPr/>
        </p:nvSpPr>
        <p:spPr>
          <a:xfrm>
            <a:off x="6126480" y="2103120"/>
            <a:ext cx="23774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CCCCCC"/>
                </a:solidFill>
              </a:rPr>
              <a:t>Required to hit $5.1M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6126480" y="2514600"/>
            <a:ext cx="23774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88888"/>
                </a:solidFill>
              </a:rPr>
              <a:t>M1 milestone threshold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337560"/>
            <a:ext cx="8229600" cy="1051560"/>
          </a:xfrm>
          <a:prstGeom prst="rect">
            <a:avLst/>
          </a:prstGeom>
          <a:solidFill>
            <a:srgbClr val="1A1200"/>
          </a:solidFill>
          <a:ln w="12700">
            <a:solidFill>
              <a:srgbClr val="F26A21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 txBox="1"/>
          <p:nvPr/>
        </p:nvSpPr>
        <p:spPr>
          <a:xfrm>
            <a:off x="640080" y="3429000"/>
            <a:ext cx="786384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CCCCCC"/>
                </a:solidFill>
              </a:rPr>
              <a:t>$590K cash at 10/11 came largely from one Intuitive Machines payment on 10/7 for start-billed tanks; a $5.1M year still requires ~2× last quarter's pace starting now. With $1.03M of debt, equity of −$1.44M, and physical-space and single-winder constraints, Exos's offer removes the funding risk and gives SSLC holders direct upside.</a:t>
            </a:r>
            <a:endParaRPr lang="en-US" sz="1300" dirty="0"/>
          </a:p>
        </p:txBody>
      </p:sp>
      <p:pic>
        <p:nvPicPr>
          <p:cNvPr id="18" name="Image 0" descr="/Users/exomac/.openclaw/workspace/drafts/_exos_white_offici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28600" y="4754880"/>
            <a:ext cx="1188720" cy="256032"/>
          </a:xfrm>
          <a:prstGeom prst="rect">
            <a:avLst/>
          </a:prstGeom>
        </p:spPr>
      </p:pic>
      <p:sp>
        <p:nvSpPr>
          <p:cNvPr id="19" name="Text 16"/>
          <p:cNvSpPr txBox="1"/>
          <p:nvPr/>
        </p:nvSpPr>
        <p:spPr>
          <a:xfrm>
            <a:off x="1554480" y="4800600"/>
            <a:ext cx="60350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888888"/>
                </a:solidFill>
              </a:rPr>
              <a:t>DRAFT — NEGOTIATING TERMS</a:t>
            </a:r>
            <a:endParaRPr lang="en-US" sz="700" dirty="0"/>
          </a:p>
        </p:txBody>
      </p:sp>
      <p:sp>
        <p:nvSpPr>
          <p:cNvPr id="20" name="Text 17"/>
          <p:cNvSpPr txBox="1"/>
          <p:nvPr/>
        </p:nvSpPr>
        <p:spPr>
          <a:xfrm>
            <a:off x="7772400" y="4800600"/>
            <a:ext cx="1143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00" i="1" dirty="0">
                <a:solidFill>
                  <a:srgbClr val="888888"/>
                </a:solidFill>
              </a:rPr>
              <a:t>CONFIDENTIAL</a:t>
            </a:r>
            <a:endParaRPr lang="en-US" sz="7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1111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0292"/>
          </a:xfrm>
          <a:prstGeom prst="rect">
            <a:avLst/>
          </a:prstGeom>
          <a:solidFill>
            <a:srgbClr val="F26A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28600" y="64008"/>
            <a:ext cx="8686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Cambria"/>
              </a:rPr>
              <a:t>SSLC Capital &amp; Debt: What's on the Books</a:t>
            </a:r>
          </a:p>
        </p:txBody>
      </p:sp>
      <p:sp>
        <p:nvSpPr>
          <p:cNvPr id="4" name="Rectangle 3"/>
          <p:cNvSpPr/>
          <p:nvPr/>
        </p:nvSpPr>
        <p:spPr>
          <a:xfrm>
            <a:off x="109728" y="594360"/>
            <a:ext cx="4160520" cy="2999232"/>
          </a:xfrm>
          <a:prstGeom prst="rect">
            <a:avLst/>
          </a:prstGeom>
          <a:solidFill>
            <a:srgbClr val="2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407408" y="594360"/>
            <a:ext cx="4617720" cy="2999232"/>
          </a:xfrm>
          <a:prstGeom prst="rect">
            <a:avLst/>
          </a:prstGeom>
          <a:solidFill>
            <a:srgbClr val="2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9728" y="594360"/>
            <a:ext cx="4160520" cy="246888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407408" y="594360"/>
            <a:ext cx="4617720" cy="246888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09728" y="594360"/>
            <a:ext cx="36576" cy="246888"/>
          </a:xfrm>
          <a:prstGeom prst="rect">
            <a:avLst/>
          </a:prstGeom>
          <a:solidFill>
            <a:srgbClr val="F26A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407408" y="594360"/>
            <a:ext cx="36576" cy="246888"/>
          </a:xfrm>
          <a:prstGeom prst="rect">
            <a:avLst/>
          </a:prstGeom>
          <a:solidFill>
            <a:srgbClr val="F26A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01168" y="640080"/>
            <a:ext cx="4023359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F26A21"/>
                </a:solidFill>
                <a:latin typeface="Calibri"/>
              </a:rPr>
              <a:t>WHAT INVESTORS PAID IN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98848" y="640080"/>
            <a:ext cx="4480559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F26A21"/>
                </a:solidFill>
                <a:latin typeface="Calibri"/>
              </a:rPr>
              <a:t>WHAT SSLC OWES  (10/11/2026)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19456" y="914400"/>
            <a:ext cx="2514600" cy="2057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CCCCCC"/>
                </a:solidFill>
                <a:latin typeface="Calibri"/>
              </a:rPr>
              <a:t>Common stock (Acct 3010)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42616" y="914400"/>
            <a:ext cx="1481328" cy="2057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CCCCCC"/>
                </a:solidFill>
                <a:latin typeface="Calibri"/>
              </a:rPr>
              <a:t>$1,010,423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19456" y="1138428"/>
            <a:ext cx="2514600" cy="2057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CCCCCC"/>
                </a:solidFill>
                <a:latin typeface="Calibri"/>
              </a:rPr>
              <a:t>APIC (Acct 3020)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642616" y="1138428"/>
            <a:ext cx="1481328" cy="2057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CCCCCC"/>
                </a:solidFill>
                <a:latin typeface="Calibri"/>
              </a:rPr>
              <a:t>$4,042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19456" y="1435608"/>
            <a:ext cx="3931920" cy="13716"/>
          </a:xfrm>
          <a:prstGeom prst="rect">
            <a:avLst/>
          </a:prstGeom>
          <a:solidFill>
            <a:srgbClr val="8888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19456" y="1586484"/>
            <a:ext cx="2514600" cy="2057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CCCCCC"/>
                </a:solidFill>
                <a:latin typeface="Calibri"/>
              </a:rPr>
              <a:t>Total paid-in capital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642616" y="1586484"/>
            <a:ext cx="1481328" cy="2057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1" i="0">
                <a:solidFill>
                  <a:srgbClr val="FFFFFF"/>
                </a:solidFill>
                <a:latin typeface="Calibri"/>
              </a:rPr>
              <a:t>$1,014,465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456" y="1810512"/>
            <a:ext cx="2514600" cy="2057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CCCCCC"/>
                </a:solidFill>
                <a:latin typeface="Calibri"/>
              </a:rPr>
              <a:t>Exos: 18.06% → $789,572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642616" y="1810512"/>
            <a:ext cx="1481328" cy="2057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1" i="0">
                <a:solidFill>
                  <a:srgbClr val="F26A21"/>
                </a:solidFill>
                <a:latin typeface="Calibri"/>
              </a:rPr>
              <a:t>~78% of above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19456" y="2107692"/>
            <a:ext cx="3931920" cy="13716"/>
          </a:xfrm>
          <a:prstGeom prst="rect">
            <a:avLst/>
          </a:prstGeom>
          <a:solidFill>
            <a:srgbClr val="8888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19456" y="2258568"/>
            <a:ext cx="2514600" cy="2057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CCCCCC"/>
                </a:solidFill>
                <a:latin typeface="Calibri"/>
              </a:rPr>
              <a:t>Accum. deficit (thru FY26)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642616" y="2258568"/>
            <a:ext cx="1481328" cy="2057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1" i="0">
                <a:solidFill>
                  <a:srgbClr val="FF6666"/>
                </a:solidFill>
                <a:latin typeface="Calibri"/>
              </a:rPr>
              <a:t>−$2,571,013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19456" y="2482596"/>
            <a:ext cx="2514600" cy="2057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CCCCCC"/>
                </a:solidFill>
                <a:latin typeface="Calibri"/>
              </a:rPr>
              <a:t>FY27 YTD net income (10/11)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642616" y="2482596"/>
            <a:ext cx="1481328" cy="2057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1" i="0">
                <a:solidFill>
                  <a:srgbClr val="44BB44"/>
                </a:solidFill>
                <a:latin typeface="Calibri"/>
              </a:rPr>
              <a:t>+$112,666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17136" y="914400"/>
            <a:ext cx="2926080" cy="2057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CCCCCC"/>
                </a:solidFill>
                <a:latin typeface="Calibri"/>
              </a:rPr>
              <a:t>Loans &amp; notes (total)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351775" y="914400"/>
            <a:ext cx="1527047" cy="2057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 i="0">
                <a:solidFill>
                  <a:srgbClr val="FFFFFF"/>
                </a:solidFill>
                <a:latin typeface="Calibri"/>
              </a:rPr>
              <a:t>$1,027,783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517136" y="1211580"/>
            <a:ext cx="4389120" cy="13716"/>
          </a:xfrm>
          <a:prstGeom prst="rect">
            <a:avLst/>
          </a:prstGeom>
          <a:solidFill>
            <a:srgbClr val="8888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517136" y="1362456"/>
            <a:ext cx="2926080" cy="2057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CCCCCC"/>
                </a:solidFill>
                <a:latin typeface="Calibri"/>
              </a:rPr>
              <a:t>Due to Microcosm (Acct 2385)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351775" y="1362456"/>
            <a:ext cx="1527047" cy="2057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1" i="0">
                <a:solidFill>
                  <a:srgbClr val="FF6666"/>
                </a:solidFill>
                <a:latin typeface="Calibri"/>
              </a:rPr>
              <a:t>$451,429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17136" y="1586484"/>
            <a:ext cx="2926080" cy="2057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CCCCCC"/>
                </a:solidFill>
                <a:latin typeface="Calibri"/>
              </a:rPr>
              <a:t>Notes Payable – Bookstore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351775" y="1586484"/>
            <a:ext cx="1527047" cy="2057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1" i="0">
                <a:solidFill>
                  <a:srgbClr val="FF6666"/>
                </a:solidFill>
                <a:latin typeface="Calibri"/>
              </a:rPr>
              <a:t>$320,582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517136" y="1810512"/>
            <a:ext cx="2926080" cy="2057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CCCCCC"/>
                </a:solidFill>
                <a:latin typeface="Calibri"/>
              </a:rPr>
              <a:t>SBA EIDL (Acct 2712)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51775" y="1810512"/>
            <a:ext cx="1527047" cy="2057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1" i="0">
                <a:solidFill>
                  <a:srgbClr val="FF6666"/>
                </a:solidFill>
                <a:latin typeface="Calibri"/>
              </a:rPr>
              <a:t>$132,072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517136" y="2034540"/>
            <a:ext cx="2926080" cy="2057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CCCCCC"/>
                </a:solidFill>
                <a:latin typeface="Calibri"/>
              </a:rPr>
              <a:t>Wertz loan (Acct 2714)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351775" y="2034540"/>
            <a:ext cx="1527047" cy="2057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1" i="0">
                <a:solidFill>
                  <a:srgbClr val="FF6666"/>
                </a:solidFill>
                <a:latin typeface="Calibri"/>
              </a:rPr>
              <a:t>$92,500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17136" y="2258568"/>
            <a:ext cx="2926080" cy="2057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CCCCCC"/>
                </a:solidFill>
                <a:latin typeface="Calibri"/>
              </a:rPr>
              <a:t>Exos loan (11%; stands)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351775" y="2258568"/>
            <a:ext cx="1527047" cy="2057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1" i="0">
                <a:solidFill>
                  <a:srgbClr val="F26A21"/>
                </a:solidFill>
                <a:latin typeface="Calibri"/>
              </a:rPr>
              <a:t>$31,200 (~$38K+int)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517136" y="2555748"/>
            <a:ext cx="4389120" cy="13716"/>
          </a:xfrm>
          <a:prstGeom prst="rect">
            <a:avLst/>
          </a:prstGeom>
          <a:solidFill>
            <a:srgbClr val="8888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517136" y="2482596"/>
            <a:ext cx="2926080" cy="2057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CCCCCC"/>
                </a:solidFill>
                <a:latin typeface="Calibri"/>
              </a:rPr>
              <a:t>Total liabilities (10/11)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351775" y="2482596"/>
            <a:ext cx="1527047" cy="2057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1" i="0">
                <a:solidFill>
                  <a:srgbClr val="FF6666"/>
                </a:solidFill>
                <a:latin typeface="Calibri"/>
              </a:rPr>
              <a:t>$1,296,521</a:t>
            </a:r>
          </a:p>
        </p:txBody>
      </p:sp>
      <p:sp>
        <p:nvSpPr>
          <p:cNvPr id="42" name="Rectangle 41"/>
          <p:cNvSpPr/>
          <p:nvPr/>
        </p:nvSpPr>
        <p:spPr>
          <a:xfrm>
            <a:off x="109728" y="3643884"/>
            <a:ext cx="8924544" cy="749808"/>
          </a:xfrm>
          <a:prstGeom prst="rect">
            <a:avLst/>
          </a:prstGeom>
          <a:solidFill>
            <a:srgbClr val="1E14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109728" y="3643884"/>
            <a:ext cx="50292" cy="749808"/>
          </a:xfrm>
          <a:prstGeom prst="rect">
            <a:avLst/>
          </a:prstGeom>
          <a:solidFill>
            <a:srgbClr val="F26A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219456" y="3680459"/>
            <a:ext cx="8686800" cy="1737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F26A21"/>
                </a:solidFill>
                <a:latin typeface="Calibri"/>
              </a:rPr>
              <a:t>OPEN ITEMS  (Exos assessment pending reconciliation via Motion 2)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19456" y="3890772"/>
            <a:ext cx="8686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CCCCCC"/>
                </a:solidFill>
                <a:latin typeface="Calibri"/>
              </a:rPr>
              <a:t>"Billed-ahead" balance: $942,177 booked as of 10/11. Exos's assessment: overstated — SSLC bills IM ~40% at tank start; those start-billings appear not cleared at shipment. Est. ~$100–200K genuinely in progress. Reconciliation requested via Motion 2.  |  Facility costs since Jan 2024: ~$805K (rent $725K + other; doubled to ~$23.6K/mo Jul 2024). Never charged back to Microcosm on SSLC's books.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228600" y="4416552"/>
            <a:ext cx="8229600" cy="1554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1">
                <a:solidFill>
                  <a:srgbClr val="888888"/>
                </a:solidFill>
                <a:latin typeface="Calibri"/>
              </a:rPr>
              <a:t>per SSLC QuickBooks 10/11/2026; Exos billed-ahead assessment pending reconciliation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554480" y="4809744"/>
            <a:ext cx="60350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 i="1">
                <a:solidFill>
                  <a:srgbClr val="888888"/>
                </a:solidFill>
                <a:latin typeface="Calibri"/>
              </a:rPr>
              <a:t>DRAFT — NEGOTIATING TERMS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772400" y="4809744"/>
            <a:ext cx="1143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00" b="0" i="1">
                <a:solidFill>
                  <a:srgbClr val="888888"/>
                </a:solidFill>
                <a:latin typeface="Calibri"/>
              </a:rPr>
              <a:t>CONFIDENTIAL</a:t>
            </a:r>
          </a:p>
        </p:txBody>
      </p:sp>
      <p:sp>
        <p:nvSpPr>
          <p:cNvPr id="49" name="Rectangle 48"/>
          <p:cNvSpPr/>
          <p:nvPr/>
        </p:nvSpPr>
        <p:spPr>
          <a:xfrm>
            <a:off x="329184" y="2679191"/>
            <a:ext cx="2459736" cy="13716"/>
          </a:xfrm>
          <a:prstGeom prst="rect">
            <a:avLst/>
          </a:prstGeom>
          <a:solidFill>
            <a:srgbClr val="8888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219456" y="2697479"/>
            <a:ext cx="2514600" cy="2057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 b="0">
                <a:solidFill>
                  <a:srgbClr val="CCCCCC"/>
                </a:solidFill>
                <a:latin typeface="Calibri"/>
              </a:rPr>
              <a:t>Total equity (10/11/2026)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2752344" y="2697479"/>
            <a:ext cx="1481328" cy="2057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1">
                <a:solidFill>
                  <a:srgbClr val="FF6666"/>
                </a:solidFill>
                <a:latin typeface="Calibri"/>
              </a:rPr>
              <a:t>−$1,443,882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SSLC Holders Receive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457200" y="804672"/>
            <a:ext cx="1371600" cy="36576"/>
          </a:xfrm>
          <a:prstGeom prst="rect">
            <a:avLst/>
          </a:prstGeom>
          <a:solidFill>
            <a:srgbClr val="F26A21"/>
          </a:solidFill>
          <a:ln/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914400" y="1005840"/>
            <a:ext cx="5669280" cy="393192"/>
          </a:xfrm>
          <a:prstGeom prst="rect">
            <a:avLst/>
          </a:prstGeom>
          <a:solidFill>
            <a:srgbClr val="2A2A2A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1005840" y="1042416"/>
            <a:ext cx="36576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</a:rPr>
              <a:t>Cash at close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5486400" y="1042416"/>
            <a:ext cx="10058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$2.51M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914400" y="1426464"/>
            <a:ext cx="5669280" cy="393192"/>
          </a:xfrm>
          <a:prstGeom prst="rect">
            <a:avLst/>
          </a:prstGeom>
          <a:solidFill>
            <a:srgbClr val="222222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 txBox="1"/>
          <p:nvPr/>
        </p:nvSpPr>
        <p:spPr>
          <a:xfrm>
            <a:off x="1005840" y="1463040"/>
            <a:ext cx="36576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</a:rPr>
              <a:t>SSLC transaction costs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5486400" y="1463040"/>
            <a:ext cx="10058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$60K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914400" y="1847088"/>
            <a:ext cx="5669280" cy="393192"/>
          </a:xfrm>
          <a:prstGeom prst="rect">
            <a:avLst/>
          </a:prstGeom>
          <a:solidFill>
            <a:srgbClr val="222222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 txBox="1"/>
          <p:nvPr/>
        </p:nvSpPr>
        <p:spPr>
          <a:xfrm>
            <a:off x="1005840" y="1883664"/>
            <a:ext cx="36576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</a:rPr>
              <a:t>Exos stake credit (non-cash)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5486400" y="1883664"/>
            <a:ext cx="10058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$790K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914400" y="2267712"/>
            <a:ext cx="5669280" cy="393192"/>
          </a:xfrm>
          <a:prstGeom prst="rect">
            <a:avLst/>
          </a:prstGeom>
          <a:solidFill>
            <a:srgbClr val="222222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16" name="Shape 14"/>
          <p:cNvSpPr/>
          <p:nvPr/>
        </p:nvSpPr>
        <p:spPr>
          <a:xfrm>
            <a:off x="914400" y="2688336"/>
            <a:ext cx="5669280" cy="393192"/>
          </a:xfrm>
          <a:prstGeom prst="rect">
            <a:avLst/>
          </a:prstGeom>
          <a:solidFill>
            <a:srgbClr val="222222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 txBox="1"/>
          <p:nvPr/>
        </p:nvSpPr>
        <p:spPr>
          <a:xfrm>
            <a:off x="1005840" y="2724912"/>
            <a:ext cx="36576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</a:rPr>
              <a:t>Working-capital bridge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5486400" y="2724912"/>
            <a:ext cx="10058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$500K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731520" y="3145536"/>
            <a:ext cx="6035040" cy="475488"/>
          </a:xfrm>
          <a:prstGeom prst="rect">
            <a:avLst/>
          </a:prstGeom>
          <a:solidFill>
            <a:srgbClr val="2A1800"/>
          </a:solidFill>
          <a:ln w="12700">
            <a:solidFill>
              <a:srgbClr val="F26A21"/>
            </a:solidFill>
            <a:prstDash val="solid"/>
          </a:ln>
        </p:spPr>
        <p:txBody>
          <a:bodyPr/>
          <a:p/>
        </p:txBody>
      </p:sp>
      <p:sp>
        <p:nvSpPr>
          <p:cNvPr id="20" name="Text 18"/>
          <p:cNvSpPr txBox="1"/>
          <p:nvPr/>
        </p:nvSpPr>
        <p:spPr>
          <a:xfrm>
            <a:off x="868680" y="3200400"/>
            <a:ext cx="3840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26A21"/>
                </a:solidFill>
              </a:rPr>
              <a:t>① Cash at close — target by Feb 15th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5394960" y="3200400"/>
            <a:ext cx="1188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F26A21"/>
                </a:solidFill>
              </a:rPr>
              <a:t>$3.86M</a:t>
            </a:r>
            <a:endParaRPr lang="en-US" sz="1800" dirty="0"/>
          </a:p>
        </p:txBody>
      </p:sp>
      <p:sp>
        <p:nvSpPr>
          <p:cNvPr id="22" name="Shape 20"/>
          <p:cNvSpPr/>
          <p:nvPr/>
        </p:nvSpPr>
        <p:spPr>
          <a:xfrm>
            <a:off x="914400" y="3675888"/>
            <a:ext cx="5669280" cy="402336"/>
          </a:xfrm>
          <a:prstGeom prst="rect">
            <a:avLst/>
          </a:prstGeom>
          <a:solidFill>
            <a:srgbClr val="202020"/>
          </a:solidFill>
          <a:ln w="12700">
            <a:solidFill>
              <a:srgbClr val="444444"/>
            </a:solidFill>
            <a:prstDash val="solid"/>
          </a:ln>
        </p:spPr>
        <p:txBody>
          <a:bodyPr/>
          <a:p/>
        </p:txBody>
      </p:sp>
      <p:sp>
        <p:nvSpPr>
          <p:cNvPr id="23" name="Text 21"/>
          <p:cNvSpPr txBox="1"/>
          <p:nvPr/>
        </p:nvSpPr>
        <p:spPr>
          <a:xfrm>
            <a:off x="1005840" y="3712464"/>
            <a:ext cx="38404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</a:rPr>
              <a:t>+ Exos equity — EAI units at 409A (Rule 504, ~0.59%)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5486400" y="3712464"/>
            <a:ext cx="10058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$1.0M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731520" y="4151376"/>
            <a:ext cx="6035040" cy="530352"/>
          </a:xfrm>
          <a:prstGeom prst="rect">
            <a:avLst/>
          </a:prstGeom>
          <a:solidFill>
            <a:srgbClr val="0A2800"/>
          </a:solidFill>
          <a:ln w="12700">
            <a:solidFill>
              <a:srgbClr val="2ECC71"/>
            </a:solidFill>
            <a:prstDash val="solid"/>
          </a:ln>
        </p:spPr>
        <p:txBody>
          <a:bodyPr/>
          <a:p/>
        </p:txBody>
      </p:sp>
      <p:sp>
        <p:nvSpPr>
          <p:cNvPr id="26" name="Text 24"/>
          <p:cNvSpPr txBox="1"/>
          <p:nvPr/>
        </p:nvSpPr>
        <p:spPr>
          <a:xfrm>
            <a:off x="868680" y="4233672"/>
            <a:ext cx="4389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CC71"/>
                </a:solidFill>
              </a:rPr>
              <a:t>② Total at financing close (SSLC asset acquisition)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5303520" y="4233672"/>
            <a:ext cx="1280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2ECC71"/>
                </a:solidFill>
              </a:rPr>
              <a:t>$4.86M</a:t>
            </a:r>
            <a:endParaRPr lang="en-US" sz="2000" dirty="0"/>
          </a:p>
        </p:txBody>
      </p:sp>
      <p:sp>
        <p:nvSpPr>
          <p:cNvPr id="28" name="Text 26"/>
          <p:cNvSpPr txBox="1"/>
          <p:nvPr/>
        </p:nvSpPr>
        <p:spPr>
          <a:xfrm>
            <a:off x="6903720" y="1051560"/>
            <a:ext cx="201168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888888"/>
                </a:solidFill>
              </a:rPr>
              <a:t>Issued at financing close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888888"/>
                </a:solidFill>
              </a:rPr>
              <a:t>Restricted at issuance (Rule 504)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888888"/>
                </a:solidFill>
              </a:rPr>
              <a:t>Part of RTO public float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888888"/>
                </a:solidFill>
              </a:rPr>
              <a:t>Freely tradeable at listing</a:t>
            </a:r>
            <a:endParaRPr lang="en-US" sz="1100" dirty="0"/>
          </a:p>
        </p:txBody>
      </p:sp>
      <p:pic>
        <p:nvPicPr>
          <p:cNvPr id="29" name="Image 0" descr="/Users/exomac/.openclaw/workspace/drafts/_exos_white_offici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28600" y="4754880"/>
            <a:ext cx="1188720" cy="256032"/>
          </a:xfrm>
          <a:prstGeom prst="rect">
            <a:avLst/>
          </a:prstGeom>
        </p:spPr>
      </p:pic>
      <p:sp>
        <p:nvSpPr>
          <p:cNvPr id="30" name="Text 27"/>
          <p:cNvSpPr txBox="1"/>
          <p:nvPr/>
        </p:nvSpPr>
        <p:spPr>
          <a:xfrm>
            <a:off x="1554480" y="4800600"/>
            <a:ext cx="60350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888888"/>
                </a:solidFill>
              </a:rPr>
              <a:t>DRAFT — NEGOTIATING TERMS</a:t>
            </a:r>
            <a:endParaRPr lang="en-US" sz="700" dirty="0"/>
          </a:p>
        </p:txBody>
      </p:sp>
      <p:sp>
        <p:nvSpPr>
          <p:cNvPr id="31" name="Text 28"/>
          <p:cNvSpPr txBox="1"/>
          <p:nvPr/>
        </p:nvSpPr>
        <p:spPr>
          <a:xfrm>
            <a:off x="7772400" y="4800600"/>
            <a:ext cx="1143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00" i="1" dirty="0">
                <a:solidFill>
                  <a:srgbClr val="888888"/>
                </a:solidFill>
              </a:rPr>
              <a:t>CONFIDENTIAL</a:t>
            </a:r>
            <a:endParaRPr lang="en-US" sz="7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20040" y="128016"/>
            <a:ext cx="850392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Value Grows: Earn-Outs &amp; Milestones</a:t>
            </a:r>
            <a:endParaRPr lang="en-US" sz="2000" dirty="0"/>
          </a:p>
        </p:txBody>
      </p:sp>
      <p:sp>
        <p:nvSpPr>
          <p:cNvPr id="3" name="Shape 1"/>
          <p:cNvSpPr/>
          <p:nvPr/>
        </p:nvSpPr>
        <p:spPr>
          <a:xfrm>
            <a:off x="320040" y="566928"/>
            <a:ext cx="1371600" cy="36576"/>
          </a:xfrm>
          <a:prstGeom prst="rect">
            <a:avLst/>
          </a:prstGeom>
          <a:solidFill>
            <a:srgbClr val="F26A21"/>
          </a:solidFill>
          <a:ln/>
        </p:spPr>
      </p:sp>
      <p:sp>
        <p:nvSpPr>
          <p:cNvPr id="4" name="Shape 2"/>
          <p:cNvSpPr/>
          <p:nvPr/>
        </p:nvSpPr>
        <p:spPr>
          <a:xfrm>
            <a:off x="274320" y="640080"/>
            <a:ext cx="2011680" cy="365760"/>
          </a:xfrm>
          <a:prstGeom prst="rect">
            <a:avLst/>
          </a:prstGeom>
          <a:solidFill>
            <a:srgbClr val="2A1000"/>
          </a:solidFill>
          <a:ln w="12700">
            <a:solidFill>
              <a:srgbClr val="F26A2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320040" y="676656"/>
            <a:ext cx="1938528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F26A21"/>
                </a:solidFill>
              </a:rPr>
              <a:t>Earn-Out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2331720" y="640080"/>
            <a:ext cx="1874520" cy="365760"/>
          </a:xfrm>
          <a:prstGeom prst="rect">
            <a:avLst/>
          </a:prstGeom>
          <a:solidFill>
            <a:srgbClr val="2A1000"/>
          </a:solidFill>
          <a:ln w="12700">
            <a:solidFill>
              <a:srgbClr val="F26A21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2377440" y="676656"/>
            <a:ext cx="1801368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F26A21"/>
                </a:solidFill>
              </a:rPr>
              <a:t>Target SSLC Must Hit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251960" y="640080"/>
            <a:ext cx="1051560" cy="365760"/>
          </a:xfrm>
          <a:prstGeom prst="rect">
            <a:avLst/>
          </a:prstGeom>
          <a:solidFill>
            <a:srgbClr val="2A1000"/>
          </a:solidFill>
          <a:ln w="12700">
            <a:solidFill>
              <a:srgbClr val="F26A21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297680" y="676656"/>
            <a:ext cx="978408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26A21"/>
                </a:solidFill>
              </a:rPr>
              <a:t>Low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5349240" y="640080"/>
            <a:ext cx="1051560" cy="365760"/>
          </a:xfrm>
          <a:prstGeom prst="rect">
            <a:avLst/>
          </a:prstGeom>
          <a:solidFill>
            <a:srgbClr val="2A1000"/>
          </a:solidFill>
          <a:ln w="12700">
            <a:solidFill>
              <a:srgbClr val="F26A2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394960" y="676656"/>
            <a:ext cx="978408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26A21"/>
                </a:solidFill>
              </a:rPr>
              <a:t>Base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446520" y="640080"/>
            <a:ext cx="1051560" cy="365760"/>
          </a:xfrm>
          <a:prstGeom prst="rect">
            <a:avLst/>
          </a:prstGeom>
          <a:solidFill>
            <a:srgbClr val="2A1000"/>
          </a:solidFill>
          <a:ln w="12700">
            <a:solidFill>
              <a:srgbClr val="F26A2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492240" y="676656"/>
            <a:ext cx="978408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26A21"/>
                </a:solidFill>
              </a:rPr>
              <a:t>High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543800" y="640080"/>
            <a:ext cx="1005840" cy="365760"/>
          </a:xfrm>
          <a:prstGeom prst="rect">
            <a:avLst/>
          </a:prstGeom>
          <a:solidFill>
            <a:srgbClr val="2A1000"/>
          </a:solidFill>
          <a:ln w="12700">
            <a:solidFill>
              <a:srgbClr val="F26A21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7589520" y="676656"/>
            <a:ext cx="932688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26A21"/>
                </a:solidFill>
              </a:rPr>
              <a:t>Pays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274320" y="1005840"/>
            <a:ext cx="2011680" cy="548640"/>
          </a:xfrm>
          <a:prstGeom prst="rect">
            <a:avLst/>
          </a:prstGeom>
          <a:solidFill>
            <a:srgbClr val="1C1C1C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329184" y="1024128"/>
            <a:ext cx="192024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CCCCCC"/>
                </a:solidFill>
              </a:rPr>
              <a:t>5% of IM tank revenue/yr</a:t>
            </a:r>
            <a:endParaRPr lang="en-US" sz="900" dirty="0"/>
          </a:p>
          <a:p>
            <a:pPr algn="l" indent="0" marL="0">
              <a:buNone/>
            </a:pPr>
            <a:r>
              <a:rPr lang="en-US" sz="900" dirty="0">
                <a:solidFill>
                  <a:srgbClr val="CCCCCC"/>
                </a:solidFill>
              </a:rPr>
              <a:t>cap $300K/yr, FY27–FY31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2331720" y="1005840"/>
            <a:ext cx="1874520" cy="548640"/>
          </a:xfrm>
          <a:prstGeom prst="rect">
            <a:avLst/>
          </a:prstGeom>
          <a:solidFill>
            <a:srgbClr val="1C1C1C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2386584" y="1024128"/>
            <a:ext cx="178308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CCCCCC"/>
                </a:solidFill>
              </a:rPr>
              <a:t>Revenue SSLC achieves</a:t>
            </a:r>
            <a:endParaRPr lang="en-US" sz="900" dirty="0"/>
          </a:p>
          <a:p>
            <a:pPr algn="l" indent="0" marL="0">
              <a:buNone/>
            </a:pPr>
            <a:r>
              <a:rPr lang="en-US" sz="900" dirty="0">
                <a:solidFill>
                  <a:srgbClr val="CCCCCC"/>
                </a:solidFill>
              </a:rPr>
              <a:t>each year FY27–FY31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4251960" y="1005840"/>
            <a:ext cx="1051560" cy="548640"/>
          </a:xfrm>
          <a:prstGeom prst="rect">
            <a:avLst/>
          </a:prstGeom>
          <a:solidFill>
            <a:srgbClr val="1C1C1C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4306824" y="1024128"/>
            <a:ext cx="96012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26A21"/>
                </a:solidFill>
              </a:rPr>
              <a:t>$3.0M/yr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F26A21"/>
                </a:solidFill>
              </a:rPr>
              <a:t>→$150K/yr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F26A21"/>
                </a:solidFill>
              </a:rPr>
              <a:t>→$750K total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5349240" y="1005840"/>
            <a:ext cx="1051560" cy="548640"/>
          </a:xfrm>
          <a:prstGeom prst="rect">
            <a:avLst/>
          </a:prstGeom>
          <a:solidFill>
            <a:srgbClr val="1C1C1C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5404104" y="1024128"/>
            <a:ext cx="96012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26A21"/>
                </a:solidFill>
              </a:rPr>
              <a:t>$5.0M/yr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F26A21"/>
                </a:solidFill>
              </a:rPr>
              <a:t>→$250K/yr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F26A21"/>
                </a:solidFill>
              </a:rPr>
              <a:t>→$1.25M total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6446520" y="1005840"/>
            <a:ext cx="1051560" cy="548640"/>
          </a:xfrm>
          <a:prstGeom prst="rect">
            <a:avLst/>
          </a:prstGeom>
          <a:solidFill>
            <a:srgbClr val="1C1C1C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501384" y="1024128"/>
            <a:ext cx="96012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26A21"/>
                </a:solidFill>
              </a:rPr>
              <a:t>$6.0M+/yr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F26A21"/>
                </a:solidFill>
              </a:rPr>
              <a:t>→$300K/yr (cap)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F26A21"/>
                </a:solidFill>
              </a:rPr>
              <a:t>→$1.5M total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7543800" y="1005840"/>
            <a:ext cx="1005840" cy="548640"/>
          </a:xfrm>
          <a:prstGeom prst="rect">
            <a:avLst/>
          </a:prstGeom>
          <a:solidFill>
            <a:srgbClr val="1C1C1C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7598664" y="1024128"/>
            <a:ext cx="91440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26A21"/>
                </a:solidFill>
              </a:rPr>
              <a:t>Annual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F26A21"/>
                </a:solidFill>
              </a:rPr>
              <a:t>FY27–FY31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274320" y="1554480"/>
            <a:ext cx="2011680" cy="365760"/>
          </a:xfrm>
          <a:prstGeom prst="rect">
            <a:avLst/>
          </a:prstGeom>
          <a:solidFill>
            <a:srgbClr val="1A2035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329184" y="1572768"/>
            <a:ext cx="19202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CCCCCC"/>
                </a:solidFill>
              </a:rPr>
              <a:t>M1  SSLC FY27 rev ≥$5.1M  →$200K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2331720" y="1554480"/>
            <a:ext cx="1874520" cy="365760"/>
          </a:xfrm>
          <a:prstGeom prst="rect">
            <a:avLst/>
          </a:prstGeom>
          <a:solidFill>
            <a:srgbClr val="1A2035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2386584" y="1572768"/>
            <a:ext cx="17830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CCCCCC"/>
                </a:solidFill>
              </a:rPr>
              <a:t>Annual rev ≥$5.1M in FY27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4251960" y="1554480"/>
            <a:ext cx="1051560" cy="365760"/>
          </a:xfrm>
          <a:prstGeom prst="rect">
            <a:avLst/>
          </a:prstGeom>
          <a:solidFill>
            <a:srgbClr val="1A2035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4306824" y="1572768"/>
            <a:ext cx="9601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ECC71"/>
                </a:solidFill>
              </a:rPr>
              <a:t>✓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5349240" y="1554480"/>
            <a:ext cx="1051560" cy="365760"/>
          </a:xfrm>
          <a:prstGeom prst="rect">
            <a:avLst/>
          </a:prstGeom>
          <a:solidFill>
            <a:srgbClr val="1A2035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5404104" y="1572768"/>
            <a:ext cx="9601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ECC71"/>
                </a:solidFill>
              </a:rPr>
              <a:t>✓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6446520" y="1554480"/>
            <a:ext cx="1051560" cy="365760"/>
          </a:xfrm>
          <a:prstGeom prst="rect">
            <a:avLst/>
          </a:prstGeom>
          <a:solidFill>
            <a:srgbClr val="1A2035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6501384" y="1572768"/>
            <a:ext cx="9601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ECC71"/>
                </a:solidFill>
              </a:rPr>
              <a:t>✓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7543800" y="1554480"/>
            <a:ext cx="1005840" cy="365760"/>
          </a:xfrm>
          <a:prstGeom prst="rect">
            <a:avLst/>
          </a:prstGeom>
          <a:solidFill>
            <a:srgbClr val="1A2035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7598664" y="1572768"/>
            <a:ext cx="9144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FY28 Q1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274320" y="1920240"/>
            <a:ext cx="2011680" cy="365760"/>
          </a:xfrm>
          <a:prstGeom prst="rect">
            <a:avLst/>
          </a:prstGeom>
          <a:solidFill>
            <a:srgbClr val="1C1C1C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329184" y="1938528"/>
            <a:ext cx="19202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CCCCCC"/>
                </a:solidFill>
              </a:rPr>
              <a:t>M2  Nebula OTV flight tank set delivered &amp; accepted by IM  →$200K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2331720" y="1920240"/>
            <a:ext cx="1874520" cy="365760"/>
          </a:xfrm>
          <a:prstGeom prst="rect">
            <a:avLst/>
          </a:prstGeom>
          <a:solidFill>
            <a:srgbClr val="1C1C1C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2386584" y="1938528"/>
            <a:ext cx="17830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CCCCCC"/>
                </a:solidFill>
              </a:rPr>
              <a:t>Tank set delivered and accepted by Intuitive Machines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4251960" y="1920240"/>
            <a:ext cx="1051560" cy="365760"/>
          </a:xfrm>
          <a:prstGeom prst="rect">
            <a:avLst/>
          </a:prstGeom>
          <a:solidFill>
            <a:srgbClr val="1C1C1C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4306824" y="1938528"/>
            <a:ext cx="9601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55555"/>
                </a:solidFill>
              </a:rPr>
              <a:t>—</a:t>
            </a:r>
            <a:endParaRPr lang="en-US" sz="1100" dirty="0"/>
          </a:p>
        </p:txBody>
      </p:sp>
      <p:sp>
        <p:nvSpPr>
          <p:cNvPr id="46" name="Shape 44"/>
          <p:cNvSpPr/>
          <p:nvPr/>
        </p:nvSpPr>
        <p:spPr>
          <a:xfrm>
            <a:off x="5349240" y="1920240"/>
            <a:ext cx="1051560" cy="365760"/>
          </a:xfrm>
          <a:prstGeom prst="rect">
            <a:avLst/>
          </a:prstGeom>
          <a:solidFill>
            <a:srgbClr val="1C1C1C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5404104" y="1938528"/>
            <a:ext cx="9601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ECC71"/>
                </a:solidFill>
              </a:rPr>
              <a:t>✓</a:t>
            </a:r>
            <a:endParaRPr lang="en-US" sz="1100" dirty="0"/>
          </a:p>
        </p:txBody>
      </p:sp>
      <p:sp>
        <p:nvSpPr>
          <p:cNvPr id="48" name="Shape 46"/>
          <p:cNvSpPr/>
          <p:nvPr/>
        </p:nvSpPr>
        <p:spPr>
          <a:xfrm>
            <a:off x="6446520" y="1920240"/>
            <a:ext cx="1051560" cy="365760"/>
          </a:xfrm>
          <a:prstGeom prst="rect">
            <a:avLst/>
          </a:prstGeom>
          <a:solidFill>
            <a:srgbClr val="1C1C1C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49" name="Text 47"/>
          <p:cNvSpPr txBox="1"/>
          <p:nvPr/>
        </p:nvSpPr>
        <p:spPr>
          <a:xfrm>
            <a:off x="6501384" y="1938528"/>
            <a:ext cx="9601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ECC71"/>
                </a:solidFill>
              </a:rPr>
              <a:t>✓</a:t>
            </a:r>
            <a:endParaRPr lang="en-US" sz="1100" dirty="0"/>
          </a:p>
        </p:txBody>
      </p:sp>
      <p:sp>
        <p:nvSpPr>
          <p:cNvPr id="50" name="Shape 48"/>
          <p:cNvSpPr/>
          <p:nvPr/>
        </p:nvSpPr>
        <p:spPr>
          <a:xfrm>
            <a:off x="7543800" y="1920240"/>
            <a:ext cx="1005840" cy="365760"/>
          </a:xfrm>
          <a:prstGeom prst="rect">
            <a:avLst/>
          </a:prstGeom>
          <a:solidFill>
            <a:srgbClr val="1C1C1C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51" name="Text 49"/>
          <p:cNvSpPr txBox="1"/>
          <p:nvPr/>
        </p:nvSpPr>
        <p:spPr>
          <a:xfrm>
            <a:off x="7598664" y="1938528"/>
            <a:ext cx="9144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At acceptance</a:t>
            </a:r>
            <a:endParaRPr lang="en-US" sz="1100" dirty="0"/>
          </a:p>
        </p:txBody>
      </p:sp>
      <p:sp>
        <p:nvSpPr>
          <p:cNvPr id="52" name="Shape 50"/>
          <p:cNvSpPr/>
          <p:nvPr/>
        </p:nvSpPr>
        <p:spPr>
          <a:xfrm>
            <a:off x="274320" y="2286000"/>
            <a:ext cx="2011680" cy="365760"/>
          </a:xfrm>
          <a:prstGeom prst="rect">
            <a:avLst/>
          </a:prstGeom>
          <a:solidFill>
            <a:srgbClr val="1A2035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53" name="Text 51"/>
          <p:cNvSpPr txBox="1"/>
          <p:nvPr/>
        </p:nvSpPr>
        <p:spPr>
          <a:xfrm>
            <a:off x="329184" y="2304288"/>
            <a:ext cx="19202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CCCCCC"/>
                </a:solidFill>
              </a:rPr>
              <a:t>M3  SSLC annual rev ≥$10M  →$250K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2331720" y="2286000"/>
            <a:ext cx="1874520" cy="365760"/>
          </a:xfrm>
          <a:prstGeom prst="rect">
            <a:avLst/>
          </a:prstGeom>
          <a:solidFill>
            <a:srgbClr val="1A2035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55" name="Text 53"/>
          <p:cNvSpPr txBox="1"/>
          <p:nvPr/>
        </p:nvSpPr>
        <p:spPr>
          <a:xfrm>
            <a:off x="2386584" y="2304288"/>
            <a:ext cx="17830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CCCCCC"/>
                </a:solidFill>
              </a:rPr>
              <a:t>Annual rev ≥$10M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4251960" y="2286000"/>
            <a:ext cx="1051560" cy="365760"/>
          </a:xfrm>
          <a:prstGeom prst="rect">
            <a:avLst/>
          </a:prstGeom>
          <a:solidFill>
            <a:srgbClr val="1A2035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57" name="Text 55"/>
          <p:cNvSpPr txBox="1"/>
          <p:nvPr/>
        </p:nvSpPr>
        <p:spPr>
          <a:xfrm>
            <a:off x="4306824" y="2304288"/>
            <a:ext cx="9601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55555"/>
                </a:solidFill>
              </a:rPr>
              <a:t>—</a:t>
            </a:r>
            <a:endParaRPr lang="en-US" sz="1100" dirty="0"/>
          </a:p>
        </p:txBody>
      </p:sp>
      <p:sp>
        <p:nvSpPr>
          <p:cNvPr id="58" name="Shape 56"/>
          <p:cNvSpPr/>
          <p:nvPr/>
        </p:nvSpPr>
        <p:spPr>
          <a:xfrm>
            <a:off x="5349240" y="2286000"/>
            <a:ext cx="1051560" cy="365760"/>
          </a:xfrm>
          <a:prstGeom prst="rect">
            <a:avLst/>
          </a:prstGeom>
          <a:solidFill>
            <a:srgbClr val="1A2035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59" name="Text 57"/>
          <p:cNvSpPr txBox="1"/>
          <p:nvPr/>
        </p:nvSpPr>
        <p:spPr>
          <a:xfrm>
            <a:off x="5404104" y="2304288"/>
            <a:ext cx="9601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ECC71"/>
                </a:solidFill>
              </a:rPr>
              <a:t>✓</a:t>
            </a:r>
            <a:endParaRPr lang="en-US" sz="1100" dirty="0"/>
          </a:p>
        </p:txBody>
      </p:sp>
      <p:sp>
        <p:nvSpPr>
          <p:cNvPr id="60" name="Shape 58"/>
          <p:cNvSpPr/>
          <p:nvPr/>
        </p:nvSpPr>
        <p:spPr>
          <a:xfrm>
            <a:off x="6446520" y="2286000"/>
            <a:ext cx="1051560" cy="365760"/>
          </a:xfrm>
          <a:prstGeom prst="rect">
            <a:avLst/>
          </a:prstGeom>
          <a:solidFill>
            <a:srgbClr val="1A2035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61" name="Text 59"/>
          <p:cNvSpPr txBox="1"/>
          <p:nvPr/>
        </p:nvSpPr>
        <p:spPr>
          <a:xfrm>
            <a:off x="6501384" y="2304288"/>
            <a:ext cx="9601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ECC71"/>
                </a:solidFill>
              </a:rPr>
              <a:t>✓</a:t>
            </a:r>
            <a:endParaRPr lang="en-US" sz="1100" dirty="0"/>
          </a:p>
        </p:txBody>
      </p:sp>
      <p:sp>
        <p:nvSpPr>
          <p:cNvPr id="62" name="Shape 60"/>
          <p:cNvSpPr/>
          <p:nvPr/>
        </p:nvSpPr>
        <p:spPr>
          <a:xfrm>
            <a:off x="7543800" y="2286000"/>
            <a:ext cx="1005840" cy="365760"/>
          </a:xfrm>
          <a:prstGeom prst="rect">
            <a:avLst/>
          </a:prstGeom>
          <a:solidFill>
            <a:srgbClr val="1A2035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63" name="Text 61"/>
          <p:cNvSpPr txBox="1"/>
          <p:nvPr/>
        </p:nvSpPr>
        <p:spPr>
          <a:xfrm>
            <a:off x="7598664" y="2304288"/>
            <a:ext cx="9144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Est. FY29</a:t>
            </a:r>
            <a:endParaRPr lang="en-US" sz="1100" dirty="0"/>
          </a:p>
        </p:txBody>
      </p:sp>
      <p:sp>
        <p:nvSpPr>
          <p:cNvPr id="64" name="Shape 62"/>
          <p:cNvSpPr/>
          <p:nvPr/>
        </p:nvSpPr>
        <p:spPr>
          <a:xfrm>
            <a:off x="274320" y="2651760"/>
            <a:ext cx="2011680" cy="365760"/>
          </a:xfrm>
          <a:prstGeom prst="rect">
            <a:avLst/>
          </a:prstGeom>
          <a:solidFill>
            <a:srgbClr val="1C1C1C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65" name="Text 63"/>
          <p:cNvSpPr txBox="1"/>
          <p:nvPr/>
        </p:nvSpPr>
        <p:spPr>
          <a:xfrm>
            <a:off x="329184" y="2670048"/>
            <a:ext cx="19202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CCCCCC"/>
                </a:solidFill>
              </a:rPr>
              <a:t>M4  SSLC annual rev ≥$20M  →$250K</a:t>
            </a:r>
            <a:endParaRPr lang="en-US" sz="900" dirty="0"/>
          </a:p>
        </p:txBody>
      </p:sp>
      <p:sp>
        <p:nvSpPr>
          <p:cNvPr id="66" name="Shape 64"/>
          <p:cNvSpPr/>
          <p:nvPr/>
        </p:nvSpPr>
        <p:spPr>
          <a:xfrm>
            <a:off x="2331720" y="2651760"/>
            <a:ext cx="1874520" cy="365760"/>
          </a:xfrm>
          <a:prstGeom prst="rect">
            <a:avLst/>
          </a:prstGeom>
          <a:solidFill>
            <a:srgbClr val="1C1C1C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67" name="Text 65"/>
          <p:cNvSpPr txBox="1"/>
          <p:nvPr/>
        </p:nvSpPr>
        <p:spPr>
          <a:xfrm>
            <a:off x="2386584" y="2670048"/>
            <a:ext cx="17830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CCCCCC"/>
                </a:solidFill>
              </a:rPr>
              <a:t>Annual rev ≥$20M</a:t>
            </a:r>
            <a:endParaRPr lang="en-US" sz="900" dirty="0"/>
          </a:p>
        </p:txBody>
      </p:sp>
      <p:sp>
        <p:nvSpPr>
          <p:cNvPr id="68" name="Shape 66"/>
          <p:cNvSpPr/>
          <p:nvPr/>
        </p:nvSpPr>
        <p:spPr>
          <a:xfrm>
            <a:off x="4251960" y="2651760"/>
            <a:ext cx="1051560" cy="365760"/>
          </a:xfrm>
          <a:prstGeom prst="rect">
            <a:avLst/>
          </a:prstGeom>
          <a:solidFill>
            <a:srgbClr val="1C1C1C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69" name="Text 67"/>
          <p:cNvSpPr txBox="1"/>
          <p:nvPr/>
        </p:nvSpPr>
        <p:spPr>
          <a:xfrm>
            <a:off x="4306824" y="2670048"/>
            <a:ext cx="9601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55555"/>
                </a:solidFill>
              </a:rPr>
              <a:t>—</a:t>
            </a:r>
            <a:endParaRPr lang="en-US" sz="1100" dirty="0"/>
          </a:p>
        </p:txBody>
      </p:sp>
      <p:sp>
        <p:nvSpPr>
          <p:cNvPr id="70" name="Shape 68"/>
          <p:cNvSpPr/>
          <p:nvPr/>
        </p:nvSpPr>
        <p:spPr>
          <a:xfrm>
            <a:off x="5349240" y="2651760"/>
            <a:ext cx="1051560" cy="365760"/>
          </a:xfrm>
          <a:prstGeom prst="rect">
            <a:avLst/>
          </a:prstGeom>
          <a:solidFill>
            <a:srgbClr val="1C1C1C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71" name="Text 69"/>
          <p:cNvSpPr txBox="1"/>
          <p:nvPr/>
        </p:nvSpPr>
        <p:spPr>
          <a:xfrm>
            <a:off x="5404104" y="2670048"/>
            <a:ext cx="9601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55555"/>
                </a:solidFill>
              </a:rPr>
              <a:t>—</a:t>
            </a:r>
            <a:endParaRPr lang="en-US" sz="1100" dirty="0"/>
          </a:p>
        </p:txBody>
      </p:sp>
      <p:sp>
        <p:nvSpPr>
          <p:cNvPr id="72" name="Shape 70"/>
          <p:cNvSpPr/>
          <p:nvPr/>
        </p:nvSpPr>
        <p:spPr>
          <a:xfrm>
            <a:off x="6446520" y="2651760"/>
            <a:ext cx="1051560" cy="365760"/>
          </a:xfrm>
          <a:prstGeom prst="rect">
            <a:avLst/>
          </a:prstGeom>
          <a:solidFill>
            <a:srgbClr val="1C1C1C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73" name="Text 71"/>
          <p:cNvSpPr txBox="1"/>
          <p:nvPr/>
        </p:nvSpPr>
        <p:spPr>
          <a:xfrm>
            <a:off x="6501384" y="2670048"/>
            <a:ext cx="9601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ECC71"/>
                </a:solidFill>
              </a:rPr>
              <a:t>✓</a:t>
            </a:r>
            <a:endParaRPr lang="en-US" sz="1100" dirty="0"/>
          </a:p>
        </p:txBody>
      </p:sp>
      <p:sp>
        <p:nvSpPr>
          <p:cNvPr id="74" name="Shape 72"/>
          <p:cNvSpPr/>
          <p:nvPr/>
        </p:nvSpPr>
        <p:spPr>
          <a:xfrm>
            <a:off x="7543800" y="2651760"/>
            <a:ext cx="1005840" cy="365760"/>
          </a:xfrm>
          <a:prstGeom prst="rect">
            <a:avLst/>
          </a:prstGeom>
          <a:solidFill>
            <a:srgbClr val="1C1C1C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75" name="Text 73"/>
          <p:cNvSpPr txBox="1"/>
          <p:nvPr/>
        </p:nvSpPr>
        <p:spPr>
          <a:xfrm>
            <a:off x="7598664" y="2670048"/>
            <a:ext cx="9144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Est. FY31</a:t>
            </a:r>
            <a:endParaRPr lang="en-US" sz="1100" dirty="0"/>
          </a:p>
        </p:txBody>
      </p:sp>
      <p:sp>
        <p:nvSpPr>
          <p:cNvPr id="76" name="Shape 74"/>
          <p:cNvSpPr/>
          <p:nvPr/>
        </p:nvSpPr>
        <p:spPr>
          <a:xfrm>
            <a:off x="274320" y="3017520"/>
            <a:ext cx="2011680" cy="457200"/>
          </a:xfrm>
          <a:prstGeom prst="rect">
            <a:avLst/>
          </a:prstGeom>
          <a:solidFill>
            <a:srgbClr val="1A2035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77" name="Text 75"/>
          <p:cNvSpPr txBox="1"/>
          <p:nvPr/>
        </p:nvSpPr>
        <p:spPr>
          <a:xfrm>
            <a:off x="329184" y="3035808"/>
            <a:ext cx="192024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CCCCCC"/>
                </a:solidFill>
              </a:rPr>
              <a:t>M5  50% reduction in tank build cost</a:t>
            </a:r>
            <a:endParaRPr lang="en-US" sz="900" dirty="0"/>
          </a:p>
          <a:p>
            <a:pPr algn="l" indent="0" marL="0">
              <a:buNone/>
            </a:pPr>
            <a:r>
              <a:rPr lang="en-US" sz="900" dirty="0">
                <a:solidFill>
                  <a:srgbClr val="CCCCCC"/>
                </a:solidFill>
              </a:rPr>
              <a:t>(dome &amp; build-process automation proven)  →$200K (High)</a:t>
            </a:r>
            <a:endParaRPr lang="en-US" sz="900" dirty="0"/>
          </a:p>
        </p:txBody>
      </p:sp>
      <p:sp>
        <p:nvSpPr>
          <p:cNvPr id="78" name="Shape 76"/>
          <p:cNvSpPr/>
          <p:nvPr/>
        </p:nvSpPr>
        <p:spPr>
          <a:xfrm>
            <a:off x="2331720" y="3017520"/>
            <a:ext cx="1874520" cy="457200"/>
          </a:xfrm>
          <a:prstGeom prst="rect">
            <a:avLst/>
          </a:prstGeom>
          <a:solidFill>
            <a:srgbClr val="1A2035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79" name="Text 77"/>
          <p:cNvSpPr txBox="1"/>
          <p:nvPr/>
        </p:nvSpPr>
        <p:spPr>
          <a:xfrm>
            <a:off x="2386584" y="3035808"/>
            <a:ext cx="178308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CCCCCC"/>
                </a:solidFill>
              </a:rPr>
              <a:t>50% cost reduction proven</a:t>
            </a:r>
            <a:endParaRPr lang="en-US" sz="900" dirty="0"/>
          </a:p>
          <a:p>
            <a:pPr algn="l" indent="0" marL="0">
              <a:buNone/>
            </a:pPr>
            <a:r>
              <a:rPr lang="en-US" sz="900" dirty="0">
                <a:solidFill>
                  <a:srgbClr val="CCCCCC"/>
                </a:solidFill>
              </a:rPr>
              <a:t>(dome &amp; process automation)</a:t>
            </a:r>
            <a:endParaRPr lang="en-US" sz="900" dirty="0"/>
          </a:p>
        </p:txBody>
      </p:sp>
      <p:sp>
        <p:nvSpPr>
          <p:cNvPr id="80" name="Shape 78"/>
          <p:cNvSpPr/>
          <p:nvPr/>
        </p:nvSpPr>
        <p:spPr>
          <a:xfrm>
            <a:off x="4251960" y="3017520"/>
            <a:ext cx="1051560" cy="457200"/>
          </a:xfrm>
          <a:prstGeom prst="rect">
            <a:avLst/>
          </a:prstGeom>
          <a:solidFill>
            <a:srgbClr val="1A2035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81" name="Text 79"/>
          <p:cNvSpPr txBox="1"/>
          <p:nvPr/>
        </p:nvSpPr>
        <p:spPr>
          <a:xfrm>
            <a:off x="4306824" y="3035808"/>
            <a:ext cx="96012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55555"/>
                </a:solidFill>
              </a:rPr>
              <a:t>—</a:t>
            </a:r>
            <a:endParaRPr lang="en-US" sz="1100" dirty="0"/>
          </a:p>
        </p:txBody>
      </p:sp>
      <p:sp>
        <p:nvSpPr>
          <p:cNvPr id="82" name="Shape 80"/>
          <p:cNvSpPr/>
          <p:nvPr/>
        </p:nvSpPr>
        <p:spPr>
          <a:xfrm>
            <a:off x="5349240" y="3017520"/>
            <a:ext cx="1051560" cy="457200"/>
          </a:xfrm>
          <a:prstGeom prst="rect">
            <a:avLst/>
          </a:prstGeom>
          <a:solidFill>
            <a:srgbClr val="1A2035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83" name="Text 81"/>
          <p:cNvSpPr txBox="1"/>
          <p:nvPr/>
        </p:nvSpPr>
        <p:spPr>
          <a:xfrm>
            <a:off x="5404104" y="3035808"/>
            <a:ext cx="96012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55555"/>
                </a:solidFill>
              </a:rPr>
              <a:t>—</a:t>
            </a:r>
            <a:endParaRPr lang="en-US" sz="1100" dirty="0"/>
          </a:p>
        </p:txBody>
      </p:sp>
      <p:sp>
        <p:nvSpPr>
          <p:cNvPr id="84" name="Shape 82"/>
          <p:cNvSpPr/>
          <p:nvPr/>
        </p:nvSpPr>
        <p:spPr>
          <a:xfrm>
            <a:off x="6446520" y="3017520"/>
            <a:ext cx="1051560" cy="457200"/>
          </a:xfrm>
          <a:prstGeom prst="rect">
            <a:avLst/>
          </a:prstGeom>
          <a:solidFill>
            <a:srgbClr val="1A2035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85" name="Text 83"/>
          <p:cNvSpPr txBox="1"/>
          <p:nvPr/>
        </p:nvSpPr>
        <p:spPr>
          <a:xfrm>
            <a:off x="6501384" y="3035808"/>
            <a:ext cx="96012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ECC71"/>
                </a:solidFill>
              </a:rPr>
              <a:t>✓</a:t>
            </a:r>
            <a:endParaRPr lang="en-US" sz="1100" dirty="0"/>
          </a:p>
        </p:txBody>
      </p:sp>
      <p:sp>
        <p:nvSpPr>
          <p:cNvPr id="86" name="Shape 84"/>
          <p:cNvSpPr/>
          <p:nvPr/>
        </p:nvSpPr>
        <p:spPr>
          <a:xfrm>
            <a:off x="7543800" y="3017520"/>
            <a:ext cx="1005840" cy="457200"/>
          </a:xfrm>
          <a:prstGeom prst="rect">
            <a:avLst/>
          </a:prstGeom>
          <a:solidFill>
            <a:srgbClr val="1A2035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87" name="Text 85"/>
          <p:cNvSpPr txBox="1"/>
          <p:nvPr/>
        </p:nvSpPr>
        <p:spPr>
          <a:xfrm>
            <a:off x="7598664" y="3035808"/>
            <a:ext cx="91440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Est. FY27–28</a:t>
            </a:r>
            <a:endParaRPr lang="en-US" sz="1100" dirty="0"/>
          </a:p>
        </p:txBody>
      </p:sp>
      <p:sp>
        <p:nvSpPr>
          <p:cNvPr id="88" name="Shape 86"/>
          <p:cNvSpPr/>
          <p:nvPr/>
        </p:nvSpPr>
        <p:spPr>
          <a:xfrm>
            <a:off x="274320" y="3474720"/>
            <a:ext cx="2011680" cy="457200"/>
          </a:xfrm>
          <a:prstGeom prst="rect">
            <a:avLst/>
          </a:prstGeom>
          <a:solidFill>
            <a:srgbClr val="1C1C1C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89" name="Text 87"/>
          <p:cNvSpPr txBox="1"/>
          <p:nvPr/>
        </p:nvSpPr>
        <p:spPr>
          <a:xfrm>
            <a:off x="329184" y="3493008"/>
            <a:ext cx="192024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CCCCCC"/>
                </a:solidFill>
              </a:rPr>
              <a:t>Exos stock earn-out at RTO listing</a:t>
            </a:r>
            <a:endParaRPr lang="en-US" sz="900" dirty="0"/>
          </a:p>
          <a:p>
            <a:pPr algn="l" indent="0" marL="0">
              <a:buNone/>
            </a:pPr>
            <a:r>
              <a:rPr lang="en-US" sz="900" dirty="0">
                <a:solidFill>
                  <a:srgbClr val="CCCCCC"/>
                </a:solidFill>
              </a:rPr>
              <a:t>(adds to ~0.59% EAI up-front)</a:t>
            </a:r>
            <a:endParaRPr lang="en-US" sz="900" dirty="0"/>
          </a:p>
        </p:txBody>
      </p:sp>
      <p:sp>
        <p:nvSpPr>
          <p:cNvPr id="90" name="Shape 88"/>
          <p:cNvSpPr/>
          <p:nvPr/>
        </p:nvSpPr>
        <p:spPr>
          <a:xfrm>
            <a:off x="2331720" y="3474720"/>
            <a:ext cx="1874520" cy="457200"/>
          </a:xfrm>
          <a:prstGeom prst="rect">
            <a:avLst/>
          </a:prstGeom>
          <a:solidFill>
            <a:srgbClr val="1C1C1C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91" name="Text 89"/>
          <p:cNvSpPr txBox="1"/>
          <p:nvPr/>
        </p:nvSpPr>
        <p:spPr>
          <a:xfrm>
            <a:off x="2386584" y="3493008"/>
            <a:ext cx="178308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CCCCCC"/>
                </a:solidFill>
              </a:rPr>
              <a:t>Issued at RTO listing</a:t>
            </a:r>
            <a:endParaRPr lang="en-US" sz="900" dirty="0"/>
          </a:p>
        </p:txBody>
      </p:sp>
      <p:sp>
        <p:nvSpPr>
          <p:cNvPr id="92" name="Shape 90"/>
          <p:cNvSpPr/>
          <p:nvPr/>
        </p:nvSpPr>
        <p:spPr>
          <a:xfrm>
            <a:off x="4251960" y="3474720"/>
            <a:ext cx="1051560" cy="457200"/>
          </a:xfrm>
          <a:prstGeom prst="rect">
            <a:avLst/>
          </a:prstGeom>
          <a:solidFill>
            <a:srgbClr val="1C1C1C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93" name="Text 91"/>
          <p:cNvSpPr txBox="1"/>
          <p:nvPr/>
        </p:nvSpPr>
        <p:spPr>
          <a:xfrm>
            <a:off x="4306824" y="3493008"/>
            <a:ext cx="96012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$0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(0.0%)</a:t>
            </a:r>
            <a:endParaRPr lang="en-US" sz="1100" dirty="0"/>
          </a:p>
        </p:txBody>
      </p:sp>
      <p:sp>
        <p:nvSpPr>
          <p:cNvPr id="94" name="Shape 92"/>
          <p:cNvSpPr/>
          <p:nvPr/>
        </p:nvSpPr>
        <p:spPr>
          <a:xfrm>
            <a:off x="5349240" y="3474720"/>
            <a:ext cx="1051560" cy="457200"/>
          </a:xfrm>
          <a:prstGeom prst="rect">
            <a:avLst/>
          </a:prstGeom>
          <a:solidFill>
            <a:srgbClr val="1C1C1C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95" name="Text 93"/>
          <p:cNvSpPr txBox="1"/>
          <p:nvPr/>
        </p:nvSpPr>
        <p:spPr>
          <a:xfrm>
            <a:off x="5404104" y="3493008"/>
            <a:ext cx="96012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$625K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(0.25%)</a:t>
            </a:r>
            <a:endParaRPr lang="en-US" sz="1100" dirty="0"/>
          </a:p>
        </p:txBody>
      </p:sp>
      <p:sp>
        <p:nvSpPr>
          <p:cNvPr id="96" name="Shape 94"/>
          <p:cNvSpPr/>
          <p:nvPr/>
        </p:nvSpPr>
        <p:spPr>
          <a:xfrm>
            <a:off x="6446520" y="3474720"/>
            <a:ext cx="1051560" cy="457200"/>
          </a:xfrm>
          <a:prstGeom prst="rect">
            <a:avLst/>
          </a:prstGeom>
          <a:solidFill>
            <a:srgbClr val="1C1C1C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97" name="Text 95"/>
          <p:cNvSpPr txBox="1"/>
          <p:nvPr/>
        </p:nvSpPr>
        <p:spPr>
          <a:xfrm>
            <a:off x="6501384" y="3493008"/>
            <a:ext cx="96012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$1,500K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(0.50%)</a:t>
            </a:r>
            <a:endParaRPr lang="en-US" sz="1100" dirty="0"/>
          </a:p>
        </p:txBody>
      </p:sp>
      <p:sp>
        <p:nvSpPr>
          <p:cNvPr id="98" name="Shape 96"/>
          <p:cNvSpPr/>
          <p:nvPr/>
        </p:nvSpPr>
        <p:spPr>
          <a:xfrm>
            <a:off x="7543800" y="3474720"/>
            <a:ext cx="1005840" cy="457200"/>
          </a:xfrm>
          <a:prstGeom prst="rect">
            <a:avLst/>
          </a:prstGeom>
          <a:solidFill>
            <a:srgbClr val="1C1C1C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99" name="Text 97"/>
          <p:cNvSpPr txBox="1"/>
          <p:nvPr/>
        </p:nvSpPr>
        <p:spPr>
          <a:xfrm>
            <a:off x="7598664" y="3493008"/>
            <a:ext cx="91440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Post-RTO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~FY29</a:t>
            </a:r>
            <a:endParaRPr lang="en-US" sz="1100" dirty="0"/>
          </a:p>
        </p:txBody>
      </p:sp>
      <p:sp>
        <p:nvSpPr>
          <p:cNvPr id="100" name="Shape 98"/>
          <p:cNvSpPr/>
          <p:nvPr/>
        </p:nvSpPr>
        <p:spPr>
          <a:xfrm>
            <a:off x="274320" y="3931920"/>
            <a:ext cx="2011680" cy="384048"/>
          </a:xfrm>
          <a:prstGeom prst="rect">
            <a:avLst/>
          </a:prstGeom>
          <a:solidFill>
            <a:srgbClr val="0A2800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101" name="Text 99"/>
          <p:cNvSpPr txBox="1"/>
          <p:nvPr/>
        </p:nvSpPr>
        <p:spPr>
          <a:xfrm>
            <a:off x="329184" y="3950208"/>
            <a:ext cx="19202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CCCCCC"/>
                </a:solidFill>
              </a:rPr>
              <a:t>TOTAL EARN-OUTS  (③ minus ②)</a:t>
            </a:r>
            <a:endParaRPr lang="en-US" sz="900" dirty="0"/>
          </a:p>
        </p:txBody>
      </p:sp>
      <p:sp>
        <p:nvSpPr>
          <p:cNvPr id="102" name="Shape 100"/>
          <p:cNvSpPr/>
          <p:nvPr/>
        </p:nvSpPr>
        <p:spPr>
          <a:xfrm>
            <a:off x="2331720" y="3931920"/>
            <a:ext cx="1874520" cy="384048"/>
          </a:xfrm>
          <a:prstGeom prst="rect">
            <a:avLst/>
          </a:prstGeom>
          <a:solidFill>
            <a:srgbClr val="0A2800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103" name="Text 101"/>
          <p:cNvSpPr txBox="1"/>
          <p:nvPr/>
        </p:nvSpPr>
        <p:spPr>
          <a:xfrm>
            <a:off x="2386584" y="3950208"/>
            <a:ext cx="17830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endParaRPr lang="en-US" sz="900" dirty="0"/>
          </a:p>
        </p:txBody>
      </p:sp>
      <p:sp>
        <p:nvSpPr>
          <p:cNvPr id="104" name="Shape 102"/>
          <p:cNvSpPr/>
          <p:nvPr/>
        </p:nvSpPr>
        <p:spPr>
          <a:xfrm>
            <a:off x="4251960" y="3931920"/>
            <a:ext cx="1051560" cy="384048"/>
          </a:xfrm>
          <a:prstGeom prst="rect">
            <a:avLst/>
          </a:prstGeom>
          <a:solidFill>
            <a:srgbClr val="0A2800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105" name="Text 103"/>
          <p:cNvSpPr txBox="1"/>
          <p:nvPr/>
        </p:nvSpPr>
        <p:spPr>
          <a:xfrm>
            <a:off x="4306824" y="3950208"/>
            <a:ext cx="9601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ECC71"/>
                </a:solidFill>
              </a:rPr>
              <a:t>$950K</a:t>
            </a:r>
            <a:endParaRPr lang="en-US" sz="1100" dirty="0"/>
          </a:p>
        </p:txBody>
      </p:sp>
      <p:sp>
        <p:nvSpPr>
          <p:cNvPr id="106" name="Shape 104"/>
          <p:cNvSpPr/>
          <p:nvPr/>
        </p:nvSpPr>
        <p:spPr>
          <a:xfrm>
            <a:off x="5349240" y="3931920"/>
            <a:ext cx="1051560" cy="384048"/>
          </a:xfrm>
          <a:prstGeom prst="rect">
            <a:avLst/>
          </a:prstGeom>
          <a:solidFill>
            <a:srgbClr val="0A2800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107" name="Text 105"/>
          <p:cNvSpPr txBox="1"/>
          <p:nvPr/>
        </p:nvSpPr>
        <p:spPr>
          <a:xfrm>
            <a:off x="5404104" y="3950208"/>
            <a:ext cx="9601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ECC71"/>
                </a:solidFill>
              </a:rPr>
              <a:t>$2,525K</a:t>
            </a:r>
            <a:endParaRPr lang="en-US" sz="1100" dirty="0"/>
          </a:p>
        </p:txBody>
      </p:sp>
      <p:sp>
        <p:nvSpPr>
          <p:cNvPr id="108" name="Shape 106"/>
          <p:cNvSpPr/>
          <p:nvPr/>
        </p:nvSpPr>
        <p:spPr>
          <a:xfrm>
            <a:off x="6446520" y="3931920"/>
            <a:ext cx="1051560" cy="384048"/>
          </a:xfrm>
          <a:prstGeom prst="rect">
            <a:avLst/>
          </a:prstGeom>
          <a:solidFill>
            <a:srgbClr val="0A2800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109" name="Text 107"/>
          <p:cNvSpPr txBox="1"/>
          <p:nvPr/>
        </p:nvSpPr>
        <p:spPr>
          <a:xfrm>
            <a:off x="6501384" y="3950208"/>
            <a:ext cx="9601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ECC71"/>
                </a:solidFill>
              </a:rPr>
              <a:t>$4,100K</a:t>
            </a:r>
            <a:endParaRPr lang="en-US" sz="1100" dirty="0"/>
          </a:p>
        </p:txBody>
      </p:sp>
      <p:sp>
        <p:nvSpPr>
          <p:cNvPr id="110" name="Shape 108"/>
          <p:cNvSpPr/>
          <p:nvPr/>
        </p:nvSpPr>
        <p:spPr>
          <a:xfrm>
            <a:off x="7543800" y="3931920"/>
            <a:ext cx="1005840" cy="384048"/>
          </a:xfrm>
          <a:prstGeom prst="rect">
            <a:avLst/>
          </a:prstGeom>
          <a:solidFill>
            <a:srgbClr val="0A2800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111" name="Text 109"/>
          <p:cNvSpPr txBox="1"/>
          <p:nvPr/>
        </p:nvSpPr>
        <p:spPr>
          <a:xfrm>
            <a:off x="7598664" y="3950208"/>
            <a:ext cx="9144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ECC71"/>
                </a:solidFill>
              </a:rPr>
              <a:t>5-yr total</a:t>
            </a:r>
            <a:endParaRPr lang="en-US" sz="1100" dirty="0"/>
          </a:p>
        </p:txBody>
      </p:sp>
      <p:pic>
        <p:nvPicPr>
          <p:cNvPr id="112" name="Image 0" descr="/Users/exomac/.openclaw/workspace/drafts/_exos_white_offici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28600" y="4754880"/>
            <a:ext cx="1188720" cy="256032"/>
          </a:xfrm>
          <a:prstGeom prst="rect">
            <a:avLst/>
          </a:prstGeom>
        </p:spPr>
      </p:pic>
      <p:sp>
        <p:nvSpPr>
          <p:cNvPr id="113" name="Text 110"/>
          <p:cNvSpPr txBox="1"/>
          <p:nvPr/>
        </p:nvSpPr>
        <p:spPr>
          <a:xfrm>
            <a:off x="1554480" y="4800600"/>
            <a:ext cx="60350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888888"/>
                </a:solidFill>
              </a:rPr>
              <a:t>DRAFT — NEGOTIATING TERMS</a:t>
            </a:r>
            <a:endParaRPr lang="en-US" sz="700" dirty="0"/>
          </a:p>
        </p:txBody>
      </p:sp>
      <p:sp>
        <p:nvSpPr>
          <p:cNvPr id="114" name="Text 111"/>
          <p:cNvSpPr txBox="1"/>
          <p:nvPr/>
        </p:nvSpPr>
        <p:spPr>
          <a:xfrm>
            <a:off x="7772400" y="4800600"/>
            <a:ext cx="1143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00" i="1" dirty="0">
                <a:solidFill>
                  <a:srgbClr val="888888"/>
                </a:solidFill>
              </a:rPr>
              <a:t>CONFIDENTIAL</a:t>
            </a:r>
            <a:endParaRPr lang="en-US" sz="7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Total Offer Value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457200" y="749808"/>
            <a:ext cx="1371600" cy="36576"/>
          </a:xfrm>
          <a:prstGeom prst="rect">
            <a:avLst/>
          </a:prstGeom>
          <a:solidFill>
            <a:srgbClr val="F26A21"/>
          </a:solidFill>
          <a:ln/>
        </p:spPr>
        <p:txBody>
          <a:bodyPr/>
          <a:p/>
        </p:txBody>
      </p:sp>
      <p:sp>
        <p:nvSpPr>
          <p:cNvPr id="4" name="Text 2"/>
          <p:cNvSpPr txBox="1"/>
          <p:nvPr/>
        </p:nvSpPr>
        <p:spPr>
          <a:xfrm>
            <a:off x="457200" y="914400"/>
            <a:ext cx="4389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CC71"/>
                </a:solidFill>
              </a:rPr>
              <a:t>③  5-Year Total (earn-outs realized)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57200" y="1261872"/>
            <a:ext cx="1325880" cy="1234440"/>
          </a:xfrm>
          <a:prstGeom prst="rect">
            <a:avLst/>
          </a:prstGeom>
          <a:solidFill>
            <a:srgbClr val="0A2800"/>
          </a:solidFill>
          <a:ln w="12700">
            <a:solidFill>
              <a:srgbClr val="2ECC71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 txBox="1"/>
          <p:nvPr/>
        </p:nvSpPr>
        <p:spPr>
          <a:xfrm>
            <a:off x="457200" y="1298448"/>
            <a:ext cx="13258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ECC71"/>
                </a:solidFill>
              </a:rPr>
              <a:t>Low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1581912"/>
            <a:ext cx="13258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2ECC71"/>
                </a:solidFill>
              </a:rPr>
              <a:t>$5.8M</a:t>
            </a:r>
            <a:endParaRPr lang="en-US" sz="2600" dirty="0"/>
          </a:p>
        </p:txBody>
      </p:sp>
      <p:sp>
        <p:nvSpPr>
          <p:cNvPr id="8" name="Shape 6"/>
          <p:cNvSpPr/>
          <p:nvPr/>
        </p:nvSpPr>
        <p:spPr>
          <a:xfrm>
            <a:off x="548640" y="2176272"/>
            <a:ext cx="1143000" cy="256032"/>
          </a:xfrm>
          <a:prstGeom prst="rect">
            <a:avLst/>
          </a:prstGeom>
          <a:solidFill>
            <a:srgbClr val="143000"/>
          </a:solidFill>
          <a:ln/>
        </p:spPr>
        <p:txBody>
          <a:bodyPr/>
          <a:p/>
        </p:txBody>
      </p:sp>
      <p:sp>
        <p:nvSpPr>
          <p:cNvPr id="9" name="Text 7"/>
          <p:cNvSpPr txBox="1"/>
          <p:nvPr/>
        </p:nvSpPr>
        <p:spPr>
          <a:xfrm>
            <a:off x="457200" y="2194560"/>
            <a:ext cx="132588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88888"/>
                </a:solidFill>
              </a:rPr>
              <a:t>5-yr realized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1874520" y="1261872"/>
            <a:ext cx="1325880" cy="1234440"/>
          </a:xfrm>
          <a:prstGeom prst="rect">
            <a:avLst/>
          </a:prstGeom>
          <a:solidFill>
            <a:srgbClr val="0A2800"/>
          </a:solidFill>
          <a:ln w="12700">
            <a:solidFill>
              <a:srgbClr val="2ECC71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 txBox="1"/>
          <p:nvPr/>
        </p:nvSpPr>
        <p:spPr>
          <a:xfrm>
            <a:off x="1874520" y="1298448"/>
            <a:ext cx="13258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ECC71"/>
                </a:solidFill>
              </a:rPr>
              <a:t>Base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1874520" y="1581912"/>
            <a:ext cx="13258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2ECC71"/>
                </a:solidFill>
              </a:rPr>
              <a:t>$7.4M</a:t>
            </a:r>
            <a:endParaRPr lang="en-US" sz="2600" dirty="0"/>
          </a:p>
        </p:txBody>
      </p:sp>
      <p:sp>
        <p:nvSpPr>
          <p:cNvPr id="13" name="Shape 11"/>
          <p:cNvSpPr/>
          <p:nvPr/>
        </p:nvSpPr>
        <p:spPr>
          <a:xfrm>
            <a:off x="1965960" y="2176272"/>
            <a:ext cx="1143000" cy="256032"/>
          </a:xfrm>
          <a:prstGeom prst="rect">
            <a:avLst/>
          </a:prstGeom>
          <a:solidFill>
            <a:srgbClr val="143000"/>
          </a:solidFill>
          <a:ln/>
        </p:spPr>
        <p:txBody>
          <a:bodyPr/>
          <a:p/>
        </p:txBody>
      </p:sp>
      <p:sp>
        <p:nvSpPr>
          <p:cNvPr id="14" name="Text 12"/>
          <p:cNvSpPr txBox="1"/>
          <p:nvPr/>
        </p:nvSpPr>
        <p:spPr>
          <a:xfrm>
            <a:off x="1874520" y="2194560"/>
            <a:ext cx="132588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88888"/>
                </a:solidFill>
              </a:rPr>
              <a:t>5-yr realized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3291840" y="1261872"/>
            <a:ext cx="1325880" cy="1234440"/>
          </a:xfrm>
          <a:prstGeom prst="rect">
            <a:avLst/>
          </a:prstGeom>
          <a:solidFill>
            <a:srgbClr val="0A2800"/>
          </a:solidFill>
          <a:ln w="12700">
            <a:solidFill>
              <a:srgbClr val="2ECC71"/>
            </a:solidFill>
            <a:prstDash val="solid"/>
          </a:ln>
        </p:spPr>
        <p:txBody>
          <a:bodyPr/>
          <a:p/>
        </p:txBody>
      </p:sp>
      <p:sp>
        <p:nvSpPr>
          <p:cNvPr id="16" name="Text 14"/>
          <p:cNvSpPr txBox="1"/>
          <p:nvPr/>
        </p:nvSpPr>
        <p:spPr>
          <a:xfrm>
            <a:off x="3291840" y="1298448"/>
            <a:ext cx="13258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ECC71"/>
                </a:solidFill>
              </a:rPr>
              <a:t>High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3291840" y="1581912"/>
            <a:ext cx="13258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2ECC71"/>
                </a:solidFill>
              </a:rPr>
              <a:t>$9.0M</a:t>
            </a:r>
            <a:endParaRPr lang="en-US" sz="2600" dirty="0"/>
          </a:p>
        </p:txBody>
      </p:sp>
      <p:sp>
        <p:nvSpPr>
          <p:cNvPr id="18" name="Shape 16"/>
          <p:cNvSpPr/>
          <p:nvPr/>
        </p:nvSpPr>
        <p:spPr>
          <a:xfrm>
            <a:off x="3383280" y="2176272"/>
            <a:ext cx="1143000" cy="256032"/>
          </a:xfrm>
          <a:prstGeom prst="rect">
            <a:avLst/>
          </a:prstGeom>
          <a:solidFill>
            <a:srgbClr val="143000"/>
          </a:solidFill>
          <a:ln/>
        </p:spPr>
        <p:txBody>
          <a:bodyPr/>
          <a:p/>
        </p:txBody>
      </p:sp>
      <p:sp>
        <p:nvSpPr>
          <p:cNvPr id="19" name="Text 17"/>
          <p:cNvSpPr txBox="1"/>
          <p:nvPr/>
        </p:nvSpPr>
        <p:spPr>
          <a:xfrm>
            <a:off x="3291840" y="2194560"/>
            <a:ext cx="132588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88888"/>
                </a:solidFill>
              </a:rPr>
              <a:t>5-yr realized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4709160" y="914400"/>
            <a:ext cx="0" cy="3291840"/>
          </a:xfrm>
          <a:prstGeom prst="line">
            <a:avLst/>
          </a:prstGeom>
          <a:noFill/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21" name="Text 19"/>
          <p:cNvSpPr txBox="1"/>
          <p:nvPr/>
        </p:nvSpPr>
        <p:spPr>
          <a:xfrm>
            <a:off x="4892040" y="914400"/>
            <a:ext cx="4023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26A21"/>
                </a:solidFill>
              </a:rPr>
              <a:t>④  If Exos Stock Held to 2031  (projection)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4892040" y="1261872"/>
            <a:ext cx="1316736" cy="1234440"/>
          </a:xfrm>
          <a:prstGeom prst="rect">
            <a:avLst/>
          </a:prstGeom>
          <a:solidFill>
            <a:srgbClr val="1A0A00"/>
          </a:solidFill>
          <a:ln w="12700">
            <a:solidFill>
              <a:srgbClr val="F26A21"/>
            </a:solidFill>
            <a:prstDash val="solid"/>
          </a:ln>
        </p:spPr>
        <p:txBody>
          <a:bodyPr/>
          <a:p/>
        </p:txBody>
      </p:sp>
      <p:sp>
        <p:nvSpPr>
          <p:cNvPr id="23" name="Text 21"/>
          <p:cNvSpPr txBox="1"/>
          <p:nvPr/>
        </p:nvSpPr>
        <p:spPr>
          <a:xfrm>
            <a:off x="4892040" y="1298448"/>
            <a:ext cx="131673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26A21"/>
                </a:solidFill>
              </a:rPr>
              <a:t>Low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4892040" y="1581912"/>
            <a:ext cx="1316736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26A21"/>
                </a:solidFill>
              </a:rPr>
              <a:t>$11.5M</a:t>
            </a:r>
            <a:endParaRPr lang="en-US" sz="2200" dirty="0"/>
          </a:p>
        </p:txBody>
      </p:sp>
      <p:sp>
        <p:nvSpPr>
          <p:cNvPr id="25" name="Shape 23"/>
          <p:cNvSpPr/>
          <p:nvPr/>
        </p:nvSpPr>
        <p:spPr>
          <a:xfrm>
            <a:off x="4956048" y="2176272"/>
            <a:ext cx="1188720" cy="256032"/>
          </a:xfrm>
          <a:prstGeom prst="rect">
            <a:avLst/>
          </a:prstGeom>
          <a:solidFill>
            <a:srgbClr val="2A1000"/>
          </a:solidFill>
          <a:ln/>
        </p:spPr>
        <p:txBody>
          <a:bodyPr/>
          <a:p/>
        </p:txBody>
      </p:sp>
      <p:sp>
        <p:nvSpPr>
          <p:cNvPr id="26" name="Text 24"/>
          <p:cNvSpPr txBox="1"/>
          <p:nvPr/>
        </p:nvSpPr>
        <p:spPr>
          <a:xfrm>
            <a:off x="4892040" y="2194560"/>
            <a:ext cx="131673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88888"/>
                </a:solidFill>
              </a:rPr>
              <a:t>if held to 2031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6281928" y="1261872"/>
            <a:ext cx="1316736" cy="1234440"/>
          </a:xfrm>
          <a:prstGeom prst="rect">
            <a:avLst/>
          </a:prstGeom>
          <a:solidFill>
            <a:srgbClr val="1A0A00"/>
          </a:solidFill>
          <a:ln w="12700">
            <a:solidFill>
              <a:srgbClr val="F26A21"/>
            </a:solidFill>
            <a:prstDash val="solid"/>
          </a:ln>
        </p:spPr>
        <p:txBody>
          <a:bodyPr/>
          <a:p/>
        </p:txBody>
      </p:sp>
      <p:sp>
        <p:nvSpPr>
          <p:cNvPr id="28" name="Text 26"/>
          <p:cNvSpPr txBox="1"/>
          <p:nvPr/>
        </p:nvSpPr>
        <p:spPr>
          <a:xfrm>
            <a:off x="6281928" y="1298448"/>
            <a:ext cx="131673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26A21"/>
                </a:solidFill>
              </a:rPr>
              <a:t>Base</a:t>
            </a:r>
            <a:endParaRPr lang="en-US" sz="1200" dirty="0"/>
          </a:p>
        </p:txBody>
      </p:sp>
      <p:sp>
        <p:nvSpPr>
          <p:cNvPr id="29" name="Text 27"/>
          <p:cNvSpPr txBox="1"/>
          <p:nvPr/>
        </p:nvSpPr>
        <p:spPr>
          <a:xfrm>
            <a:off x="6281928" y="1581912"/>
            <a:ext cx="1316736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26A21"/>
                </a:solidFill>
              </a:rPr>
              <a:t>$15.3M</a:t>
            </a:r>
            <a:endParaRPr lang="en-US" sz="2200" dirty="0"/>
          </a:p>
        </p:txBody>
      </p:sp>
      <p:sp>
        <p:nvSpPr>
          <p:cNvPr id="30" name="Shape 28"/>
          <p:cNvSpPr/>
          <p:nvPr/>
        </p:nvSpPr>
        <p:spPr>
          <a:xfrm>
            <a:off x="6345936" y="2176272"/>
            <a:ext cx="1188720" cy="256032"/>
          </a:xfrm>
          <a:prstGeom prst="rect">
            <a:avLst/>
          </a:prstGeom>
          <a:solidFill>
            <a:srgbClr val="2A1000"/>
          </a:solidFill>
          <a:ln/>
        </p:spPr>
        <p:txBody>
          <a:bodyPr/>
          <a:p/>
        </p:txBody>
      </p:sp>
      <p:sp>
        <p:nvSpPr>
          <p:cNvPr id="31" name="Text 29"/>
          <p:cNvSpPr txBox="1"/>
          <p:nvPr/>
        </p:nvSpPr>
        <p:spPr>
          <a:xfrm>
            <a:off x="6281928" y="2194560"/>
            <a:ext cx="131673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88888"/>
                </a:solidFill>
              </a:rPr>
              <a:t>if held to 2031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7671816" y="1261872"/>
            <a:ext cx="1316736" cy="1234440"/>
          </a:xfrm>
          <a:prstGeom prst="rect">
            <a:avLst/>
          </a:prstGeom>
          <a:solidFill>
            <a:srgbClr val="1A0A00"/>
          </a:solidFill>
          <a:ln w="12700">
            <a:solidFill>
              <a:srgbClr val="F26A21"/>
            </a:solidFill>
            <a:prstDash val="solid"/>
          </a:ln>
        </p:spPr>
        <p:txBody>
          <a:bodyPr/>
          <a:p/>
        </p:txBody>
      </p:sp>
      <p:sp>
        <p:nvSpPr>
          <p:cNvPr id="33" name="Text 31"/>
          <p:cNvSpPr txBox="1"/>
          <p:nvPr/>
        </p:nvSpPr>
        <p:spPr>
          <a:xfrm>
            <a:off x="7671816" y="1298448"/>
            <a:ext cx="131673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26A21"/>
                </a:solidFill>
              </a:rPr>
              <a:t>High</a:t>
            </a:r>
            <a:endParaRPr lang="en-US" sz="1200" dirty="0"/>
          </a:p>
        </p:txBody>
      </p:sp>
      <p:sp>
        <p:nvSpPr>
          <p:cNvPr id="34" name="Text 32"/>
          <p:cNvSpPr txBox="1"/>
          <p:nvPr/>
        </p:nvSpPr>
        <p:spPr>
          <a:xfrm>
            <a:off x="7671816" y="1581912"/>
            <a:ext cx="1316736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26A21"/>
                </a:solidFill>
              </a:rPr>
              <a:t>$18.9M</a:t>
            </a:r>
            <a:endParaRPr lang="en-US" sz="2200" dirty="0"/>
          </a:p>
        </p:txBody>
      </p:sp>
      <p:sp>
        <p:nvSpPr>
          <p:cNvPr id="35" name="Shape 33"/>
          <p:cNvSpPr/>
          <p:nvPr/>
        </p:nvSpPr>
        <p:spPr>
          <a:xfrm>
            <a:off x="7735824" y="2176272"/>
            <a:ext cx="1188720" cy="256032"/>
          </a:xfrm>
          <a:prstGeom prst="rect">
            <a:avLst/>
          </a:prstGeom>
          <a:solidFill>
            <a:srgbClr val="2A1000"/>
          </a:solidFill>
          <a:ln/>
        </p:spPr>
        <p:txBody>
          <a:bodyPr/>
          <a:p/>
        </p:txBody>
      </p:sp>
      <p:sp>
        <p:nvSpPr>
          <p:cNvPr id="36" name="Text 34"/>
          <p:cNvSpPr txBox="1"/>
          <p:nvPr/>
        </p:nvSpPr>
        <p:spPr>
          <a:xfrm>
            <a:off x="7671816" y="2194560"/>
            <a:ext cx="131673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88888"/>
                </a:solidFill>
              </a:rPr>
              <a:t>if held to 2031</a:t>
            </a:r>
            <a:endParaRPr lang="en-US" sz="900" dirty="0"/>
          </a:p>
        </p:txBody>
      </p:sp>
      <p:pic>
        <p:nvPicPr>
          <p:cNvPr id="37" name="Image 0" descr="/Users/exomac/.openclaw/workspace/drafts/SSLC_OptionB_Total_Compensation_5yr_2026-10-07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20040" y="2606040"/>
            <a:ext cx="8503920" cy="2194560"/>
          </a:xfrm>
          <a:prstGeom prst="rect">
            <a:avLst/>
          </a:prstGeom>
        </p:spPr>
      </p:pic>
      <p:sp>
        <p:nvSpPr>
          <p:cNvPr id="38" name="Shape 35"/>
          <p:cNvSpPr/>
          <p:nvPr/>
        </p:nvSpPr>
        <p:spPr>
          <a:xfrm>
            <a:off x="320040" y="2542032"/>
            <a:ext cx="8503920" cy="146304"/>
          </a:xfrm>
          <a:prstGeom prst="rect">
            <a:avLst/>
          </a:prstGeom>
          <a:solidFill>
            <a:srgbClr val="222200"/>
          </a:solidFill>
          <a:ln/>
        </p:spPr>
        <p:txBody>
          <a:bodyPr/>
          <a:p/>
        </p:txBody>
      </p:sp>
      <p:sp>
        <p:nvSpPr>
          <p:cNvPr id="39" name="Text 36"/>
          <p:cNvSpPr txBox="1"/>
          <p:nvPr/>
        </p:nvSpPr>
        <p:spPr>
          <a:xfrm>
            <a:off x="365760" y="2551176"/>
            <a:ext cx="8412480" cy="1188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888888"/>
                </a:solidFill>
              </a:rPr>
              <a:t>④ is a forward-looking projection, not a guarantee; an alternative to ③ — not added to it. RTO may not close.</a:t>
            </a:r>
            <a:endParaRPr lang="en-US" sz="800" dirty="0"/>
          </a:p>
        </p:txBody>
      </p:sp>
      <p:pic>
        <p:nvPicPr>
          <p:cNvPr id="40" name="Image 1" descr="/Users/exomac/.openclaw/workspace/drafts/_exos_white_officia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" y="4754880"/>
            <a:ext cx="1188720" cy="256032"/>
          </a:xfrm>
          <a:prstGeom prst="rect">
            <a:avLst/>
          </a:prstGeom>
        </p:spPr>
      </p:pic>
      <p:sp>
        <p:nvSpPr>
          <p:cNvPr id="41" name="Text 37"/>
          <p:cNvSpPr txBox="1"/>
          <p:nvPr/>
        </p:nvSpPr>
        <p:spPr>
          <a:xfrm>
            <a:off x="1554480" y="4800600"/>
            <a:ext cx="60350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888888"/>
                </a:solidFill>
              </a:rPr>
              <a:t>DRAFT — NEGOTIATING TERMS</a:t>
            </a:r>
            <a:endParaRPr lang="en-US" sz="700" dirty="0"/>
          </a:p>
        </p:txBody>
      </p:sp>
      <p:sp>
        <p:nvSpPr>
          <p:cNvPr id="42" name="Text 38"/>
          <p:cNvSpPr txBox="1"/>
          <p:nvPr/>
        </p:nvSpPr>
        <p:spPr>
          <a:xfrm>
            <a:off x="7772400" y="4800600"/>
            <a:ext cx="1143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00" i="1" dirty="0">
                <a:solidFill>
                  <a:srgbClr val="888888"/>
                </a:solidFill>
              </a:rPr>
              <a:t>CONFIDENTIAL</a:t>
            </a:r>
            <a:endParaRPr lang="en-US" sz="7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Exos Stock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457200" y="768096"/>
            <a:ext cx="1371600" cy="36576"/>
          </a:xfrm>
          <a:prstGeom prst="rect">
            <a:avLst/>
          </a:prstGeom>
          <a:solidFill>
            <a:srgbClr val="F26A21"/>
          </a:solidFill>
          <a:ln/>
        </p:spPr>
      </p:sp>
      <p:sp>
        <p:nvSpPr>
          <p:cNvPr id="4" name="Shape 2"/>
          <p:cNvSpPr/>
          <p:nvPr/>
        </p:nvSpPr>
        <p:spPr>
          <a:xfrm>
            <a:off x="365760" y="960120"/>
            <a:ext cx="4023360" cy="1170432"/>
          </a:xfrm>
          <a:prstGeom prst="rect">
            <a:avLst/>
          </a:prstGeom>
          <a:solidFill>
            <a:srgbClr val="1C1C1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02920" y="1033272"/>
            <a:ext cx="3749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26A21"/>
                </a:solidFill>
              </a:rPr>
              <a:t>Instrument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1307592"/>
            <a:ext cx="37490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</a:rPr>
              <a:t>$1.0M EAI units at the current 409A valuation (~$169.7M); ~0.59% fully diluted at issuance.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663440" y="960120"/>
            <a:ext cx="4023360" cy="1170432"/>
          </a:xfrm>
          <a:prstGeom prst="rect">
            <a:avLst/>
          </a:prstGeom>
          <a:solidFill>
            <a:srgbClr val="1C1C1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800600" y="1033272"/>
            <a:ext cx="3749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26A21"/>
                </a:solidFill>
              </a:rPr>
              <a:t>Offering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4800600" y="1307592"/>
            <a:ext cx="37490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</a:rPr>
              <a:t>Part of Exos's Rule 504 Regulation D offering. U.S. persons only. Counts toward the $10M rolling 12-month cap.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65760" y="2240280"/>
            <a:ext cx="4023360" cy="1170432"/>
          </a:xfrm>
          <a:prstGeom prst="rect">
            <a:avLst/>
          </a:prstGeom>
          <a:solidFill>
            <a:srgbClr val="1C1C1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02920" y="2313432"/>
            <a:ext cx="3749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26A21"/>
                </a:solidFill>
              </a:rPr>
              <a:t>Restricted at issuance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502920" y="2587752"/>
            <a:ext cx="37490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</a:rPr>
              <a:t>Units carry a restrictive legend at issuance (Rule 504 Reg D). Not freely tradeable prior to the RTO listing.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663440" y="2240280"/>
            <a:ext cx="4023360" cy="1170432"/>
          </a:xfrm>
          <a:prstGeom prst="rect">
            <a:avLst/>
          </a:prstGeom>
          <a:solidFill>
            <a:srgbClr val="1C1C1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800600" y="2313432"/>
            <a:ext cx="3749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26A21"/>
                </a:solidFill>
              </a:rPr>
              <a:t>Public float at RTO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4800600" y="2587752"/>
            <a:ext cx="37490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</a:rPr>
              <a:t>Structured to be part of the public float at going public. No principals' lockup applies to these units; locked-up shares would not count as float.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365760" y="3520440"/>
            <a:ext cx="4023360" cy="1170432"/>
          </a:xfrm>
          <a:prstGeom prst="rect">
            <a:avLst/>
          </a:prstGeom>
          <a:solidFill>
            <a:srgbClr val="1C1C1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02920" y="3593592"/>
            <a:ext cx="3749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26A21"/>
                </a:solidFill>
              </a:rPr>
              <a:t>Freely tradeable at listing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502920" y="3867912"/>
            <a:ext cx="37490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</a:rPr>
              <a:t>Becomes freely tradeable at the RTO listing (no lockup on the up-front units). Covered by the RTO resale registration.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4663440" y="3520440"/>
            <a:ext cx="4023360" cy="1170432"/>
          </a:xfrm>
          <a:prstGeom prst="rect">
            <a:avLst/>
          </a:prstGeom>
          <a:solidFill>
            <a:srgbClr val="1C1C1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4800600" y="3593592"/>
            <a:ext cx="3749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26A21"/>
                </a:solidFill>
              </a:rPr>
              <a:t>Timeline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4800600" y="3867912"/>
            <a:ext cx="37490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</a:rPr>
              <a:t>Units issued at financing close. Targeted RTO ~6 months post-financing. Not assured — RTO may not close.</a:t>
            </a:r>
            <a:endParaRPr lang="en-US" sz="1200" dirty="0"/>
          </a:p>
        </p:txBody>
      </p:sp>
      <p:pic>
        <p:nvPicPr>
          <p:cNvPr id="22" name="Image 0" descr="/Users/exomac/.openclaw/workspace/drafts/_exos_white_offici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28600" y="4754880"/>
            <a:ext cx="1188720" cy="256032"/>
          </a:xfrm>
          <a:prstGeom prst="rect">
            <a:avLst/>
          </a:prstGeom>
        </p:spPr>
      </p:pic>
      <p:sp>
        <p:nvSpPr>
          <p:cNvPr id="23" name="Text 20"/>
          <p:cNvSpPr txBox="1"/>
          <p:nvPr/>
        </p:nvSpPr>
        <p:spPr>
          <a:xfrm>
            <a:off x="1554480" y="4800600"/>
            <a:ext cx="60350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888888"/>
                </a:solidFill>
              </a:rPr>
              <a:t>DRAFT — NEGOTIATING TERMS</a:t>
            </a:r>
            <a:endParaRPr lang="en-US" sz="700" dirty="0"/>
          </a:p>
        </p:txBody>
      </p:sp>
      <p:sp>
        <p:nvSpPr>
          <p:cNvPr id="24" name="Text 21"/>
          <p:cNvSpPr txBox="1"/>
          <p:nvPr/>
        </p:nvSpPr>
        <p:spPr>
          <a:xfrm>
            <a:off x="7772400" y="4800600"/>
            <a:ext cx="1143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00" i="1" dirty="0">
                <a:solidFill>
                  <a:srgbClr val="888888"/>
                </a:solidFill>
              </a:rPr>
              <a:t>CONFIDENTIAL</a:t>
            </a:r>
            <a:endParaRPr lang="en-US" sz="7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SSLC Employees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457200" y="768096"/>
            <a:ext cx="1371600" cy="36576"/>
          </a:xfrm>
          <a:prstGeom prst="rect">
            <a:avLst/>
          </a:prstGeom>
          <a:solidFill>
            <a:srgbClr val="F26A21"/>
          </a:solidFill>
          <a:ln/>
        </p:spPr>
      </p:sp>
      <p:sp>
        <p:nvSpPr>
          <p:cNvPr id="4" name="Shape 2"/>
          <p:cNvSpPr/>
          <p:nvPr/>
        </p:nvSpPr>
        <p:spPr>
          <a:xfrm>
            <a:off x="365760" y="1005840"/>
            <a:ext cx="4114800" cy="2743200"/>
          </a:xfrm>
          <a:prstGeom prst="rect">
            <a:avLst/>
          </a:prstGeom>
          <a:solidFill>
            <a:srgbClr val="1C1C1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02920" y="1078992"/>
            <a:ext cx="3840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26A21"/>
                </a:solidFill>
              </a:rPr>
              <a:t>Employment Offer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1481328"/>
            <a:ext cx="3840480" cy="2148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</a:rPr>
              <a:t>Exos shall offer employment to SSLC employees — including management, support, engineering, and other technical and manufacturing employees — on terms no less favorable than their current terms with SSLC, including compensation and benefits.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</a:rPr>
              <a:t>Subject to each employee satisfying Exos's standard hiring policies and Exos's completion of confirmatory due diligence.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663440" y="1005840"/>
            <a:ext cx="4114800" cy="2743200"/>
          </a:xfrm>
          <a:prstGeom prst="rect">
            <a:avLst/>
          </a:prstGeom>
          <a:solidFill>
            <a:srgbClr val="1C1C1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800600" y="1078992"/>
            <a:ext cx="3840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26A21"/>
                </a:solidFill>
              </a:rPr>
              <a:t>Key-Employee Option Pool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4800600" y="1481328"/>
            <a:ext cx="3840480" cy="2148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</a:rPr>
              <a:t>Exos has an option pool for key employees. The allocation, key-employee retention and new-hire structure will be mutually agreed post-acquisition.</a:t>
            </a:r>
            <a:endParaRPr lang="en-US" sz="1300" dirty="0"/>
          </a:p>
        </p:txBody>
      </p:sp>
      <p:pic>
        <p:nvPicPr>
          <p:cNvPr id="10" name="Image 0" descr="/Users/exomac/.openclaw/workspace/drafts/_exos_white_offici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28600" y="4754880"/>
            <a:ext cx="1188720" cy="256032"/>
          </a:xfrm>
          <a:prstGeom prst="rect">
            <a:avLst/>
          </a:prstGeom>
        </p:spPr>
      </p:pic>
      <p:sp>
        <p:nvSpPr>
          <p:cNvPr id="11" name="Text 8"/>
          <p:cNvSpPr txBox="1"/>
          <p:nvPr/>
        </p:nvSpPr>
        <p:spPr>
          <a:xfrm>
            <a:off x="1554480" y="4800600"/>
            <a:ext cx="60350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888888"/>
                </a:solidFill>
              </a:rPr>
              <a:t>DRAFT — NEGOTIATING TERMS</a:t>
            </a:r>
            <a:endParaRPr lang="en-US" sz="700" dirty="0"/>
          </a:p>
        </p:txBody>
      </p:sp>
      <p:sp>
        <p:nvSpPr>
          <p:cNvPr id="12" name="Text 9"/>
          <p:cNvSpPr txBox="1"/>
          <p:nvPr/>
        </p:nvSpPr>
        <p:spPr>
          <a:xfrm>
            <a:off x="7772400" y="4800600"/>
            <a:ext cx="1143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00" i="1" dirty="0">
                <a:solidFill>
                  <a:srgbClr val="888888"/>
                </a:solidFill>
              </a:rPr>
              <a:t>CONFIDENTIAL</a:t>
            </a:r>
            <a:endParaRPr lang="en-US" sz="7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Exos Funding Commitments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457200" y="768096"/>
            <a:ext cx="1371600" cy="36576"/>
          </a:xfrm>
          <a:prstGeom prst="rect">
            <a:avLst/>
          </a:prstGeom>
          <a:solidFill>
            <a:srgbClr val="F26A21"/>
          </a:solidFill>
          <a:ln/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411480" y="914400"/>
            <a:ext cx="8321040" cy="365760"/>
          </a:xfrm>
          <a:prstGeom prst="rect">
            <a:avLst/>
          </a:prstGeom>
          <a:solidFill>
            <a:srgbClr val="1C1C1C"/>
          </a:solidFill>
          <a:ln w="12700">
            <a:solidFill>
              <a:srgbClr val="2A2A2A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548640" y="950976"/>
            <a:ext cx="53035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$2.51M cash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5989320" y="950976"/>
            <a:ext cx="2606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88888"/>
                </a:solidFill>
              </a:rPr>
              <a:t>at financing close (target Feb 15th)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411480" y="1298448"/>
            <a:ext cx="8321040" cy="365760"/>
          </a:xfrm>
          <a:prstGeom prst="rect">
            <a:avLst/>
          </a:prstGeom>
          <a:solidFill>
            <a:srgbClr val="212121"/>
          </a:solidFill>
          <a:ln w="12700">
            <a:solidFill>
              <a:srgbClr val="2A2A2A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 txBox="1"/>
          <p:nvPr/>
        </p:nvSpPr>
        <p:spPr>
          <a:xfrm>
            <a:off x="548640" y="1335024"/>
            <a:ext cx="53035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SSLC transaction costs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5989320" y="1335024"/>
            <a:ext cx="2606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88888"/>
                </a:solidFill>
              </a:rPr>
              <a:t>at financing close (target Feb 15th)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11480" y="1682496"/>
            <a:ext cx="8321040" cy="365760"/>
          </a:xfrm>
          <a:prstGeom prst="rect">
            <a:avLst/>
          </a:prstGeom>
          <a:solidFill>
            <a:srgbClr val="1C1C1C"/>
          </a:solidFill>
          <a:ln w="12700">
            <a:solidFill>
              <a:srgbClr val="2A2A2A"/>
            </a:solidFill>
            <a:prstDash val="solid"/>
          </a:ln>
        </p:spPr>
        <p:txBody>
          <a:bodyPr/>
          <a:p/>
        </p:txBody>
      </p:sp>
      <p:sp>
        <p:nvSpPr>
          <p:cNvPr id="13" name="Shape 11"/>
          <p:cNvSpPr/>
          <p:nvPr/>
        </p:nvSpPr>
        <p:spPr>
          <a:xfrm>
            <a:off x="411480" y="2066544"/>
            <a:ext cx="8321040" cy="365760"/>
          </a:xfrm>
          <a:prstGeom prst="rect">
            <a:avLst/>
          </a:prstGeom>
          <a:solidFill>
            <a:srgbClr val="212121"/>
          </a:solidFill>
          <a:ln w="12700">
            <a:solidFill>
              <a:srgbClr val="2A2A2A"/>
            </a:solidFill>
            <a:prstDash val="solid"/>
          </a:ln>
        </p:spPr>
        <p:txBody>
          <a:bodyPr/>
          <a:p/>
        </p:txBody>
      </p:sp>
      <p:sp>
        <p:nvSpPr>
          <p:cNvPr id="14" name="Text 12"/>
          <p:cNvSpPr txBox="1"/>
          <p:nvPr/>
        </p:nvSpPr>
        <p:spPr>
          <a:xfrm>
            <a:off x="548640" y="2103120"/>
            <a:ext cx="53035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Working-capital bridge $500K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5989320" y="2103120"/>
            <a:ext cx="2606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88888"/>
                </a:solidFill>
              </a:rPr>
              <a:t>at financing close (target Feb 15th)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11480" y="2450592"/>
            <a:ext cx="8321040" cy="365760"/>
          </a:xfrm>
          <a:prstGeom prst="rect">
            <a:avLst/>
          </a:prstGeom>
          <a:solidFill>
            <a:srgbClr val="1C1C1C"/>
          </a:solidFill>
          <a:ln w="12700">
            <a:solidFill>
              <a:srgbClr val="2A2A2A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 txBox="1"/>
          <p:nvPr/>
        </p:nvSpPr>
        <p:spPr>
          <a:xfrm>
            <a:off x="548640" y="2487168"/>
            <a:ext cx="53035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$1.0M Exos stock (EAI units, Rule 504)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5989320" y="2487168"/>
            <a:ext cx="2606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88888"/>
                </a:solidFill>
              </a:rPr>
              <a:t>at financing close (target Feb 15th)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11480" y="2834640"/>
            <a:ext cx="8321040" cy="365760"/>
          </a:xfrm>
          <a:prstGeom prst="rect">
            <a:avLst/>
          </a:prstGeom>
          <a:solidFill>
            <a:srgbClr val="212121"/>
          </a:solidFill>
          <a:ln w="12700">
            <a:solidFill>
              <a:srgbClr val="2A2A2A"/>
            </a:solidFill>
            <a:prstDash val="solid"/>
          </a:ln>
        </p:spPr>
        <p:txBody>
          <a:bodyPr/>
          <a:p/>
        </p:txBody>
      </p:sp>
      <p:sp>
        <p:nvSpPr>
          <p:cNvPr id="20" name="Text 18"/>
          <p:cNvSpPr txBox="1"/>
          <p:nvPr/>
        </p:nvSpPr>
        <p:spPr>
          <a:xfrm>
            <a:off x="548640" y="2871216"/>
            <a:ext cx="53035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Capital in the new year — physical space and a second winder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5989320" y="2871216"/>
            <a:ext cx="2606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88888"/>
                </a:solidFill>
              </a:rPr>
              <a:t>(amount TBD; committed at financing close)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411480" y="3218688"/>
            <a:ext cx="8321040" cy="365760"/>
          </a:xfrm>
          <a:prstGeom prst="rect">
            <a:avLst/>
          </a:prstGeom>
          <a:solidFill>
            <a:srgbClr val="1C1C1C"/>
          </a:solidFill>
          <a:ln w="12700">
            <a:solidFill>
              <a:srgbClr val="2A2A2A"/>
            </a:solidFill>
            <a:prstDash val="solid"/>
          </a:ln>
        </p:spPr>
        <p:txBody>
          <a:bodyPr/>
          <a:p/>
        </p:txBody>
      </p:sp>
      <p:sp>
        <p:nvSpPr>
          <p:cNvPr id="23" name="Text 21"/>
          <p:cNvSpPr txBox="1"/>
          <p:nvPr/>
        </p:nvSpPr>
        <p:spPr>
          <a:xfrm>
            <a:off x="548640" y="3255264"/>
            <a:ext cx="53035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Employment offers + option pool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5989320" y="3255264"/>
            <a:ext cx="2606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88888"/>
                </a:solidFill>
              </a:rPr>
              <a:t>at financing close (target Feb 15th)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411480" y="3602736"/>
            <a:ext cx="8321040" cy="365760"/>
          </a:xfrm>
          <a:prstGeom prst="rect">
            <a:avLst/>
          </a:prstGeom>
          <a:solidFill>
            <a:srgbClr val="212121"/>
          </a:solidFill>
          <a:ln w="12700">
            <a:solidFill>
              <a:srgbClr val="2A2A2A"/>
            </a:solidFill>
            <a:prstDash val="solid"/>
          </a:ln>
        </p:spPr>
        <p:txBody>
          <a:bodyPr/>
          <a:p/>
        </p:txBody>
      </p:sp>
      <p:sp>
        <p:nvSpPr>
          <p:cNvPr id="26" name="Text 24"/>
          <p:cNvSpPr txBox="1"/>
          <p:nvPr/>
        </p:nvSpPr>
        <p:spPr>
          <a:xfrm>
            <a:off x="548640" y="3639312"/>
            <a:ext cx="53035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Earn-outs on milestones and tank revenue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5989320" y="3639312"/>
            <a:ext cx="2606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88888"/>
                </a:solidFill>
              </a:rPr>
              <a:t>FY27–FY31 as triggered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365760" y="4078224"/>
            <a:ext cx="8412480" cy="594360"/>
          </a:xfrm>
          <a:prstGeom prst="rect">
            <a:avLst/>
          </a:prstGeom>
          <a:solidFill>
            <a:srgbClr val="2A1000"/>
          </a:solidFill>
          <a:ln w="12700">
            <a:solidFill>
              <a:srgbClr val="F26A21"/>
            </a:solidFill>
            <a:prstDash val="solid"/>
          </a:ln>
        </p:spPr>
        <p:txBody>
          <a:bodyPr/>
          <a:p/>
        </p:txBody>
      </p:sp>
      <p:sp>
        <p:nvSpPr>
          <p:cNvPr id="29" name="Text 27"/>
          <p:cNvSpPr txBox="1"/>
          <p:nvPr/>
        </p:nvSpPr>
        <p:spPr>
          <a:xfrm>
            <a:off x="502920" y="4142232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26A21"/>
                </a:solidFill>
              </a:rPr>
              <a:t>One decision today: confirm §3 exclusivity  →  90 days  →  financing close target Feb 15th</a:t>
            </a:r>
            <a:endParaRPr lang="en-US" sz="1500" dirty="0"/>
          </a:p>
        </p:txBody>
      </p:sp>
      <p:pic>
        <p:nvPicPr>
          <p:cNvPr id="30" name="Image 0" descr="/Users/exomac/.openclaw/workspace/drafts/_exos_white_offici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28600" y="4754880"/>
            <a:ext cx="1188720" cy="256032"/>
          </a:xfrm>
          <a:prstGeom prst="rect">
            <a:avLst/>
          </a:prstGeom>
        </p:spPr>
      </p:pic>
      <p:sp>
        <p:nvSpPr>
          <p:cNvPr id="31" name="Text 28"/>
          <p:cNvSpPr txBox="1"/>
          <p:nvPr/>
        </p:nvSpPr>
        <p:spPr>
          <a:xfrm>
            <a:off x="1554480" y="4800600"/>
            <a:ext cx="60350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888888"/>
                </a:solidFill>
              </a:rPr>
              <a:t>DRAFT — NEGOTIATING TERMS</a:t>
            </a:r>
            <a:endParaRPr lang="en-US" sz="700" dirty="0"/>
          </a:p>
        </p:txBody>
      </p:sp>
      <p:sp>
        <p:nvSpPr>
          <p:cNvPr id="32" name="Text 29"/>
          <p:cNvSpPr txBox="1"/>
          <p:nvPr/>
        </p:nvSpPr>
        <p:spPr>
          <a:xfrm>
            <a:off x="7772400" y="4800600"/>
            <a:ext cx="1143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00" i="1" dirty="0">
                <a:solidFill>
                  <a:srgbClr val="888888"/>
                </a:solidFill>
              </a:rPr>
              <a:t>CONFIDENTIAL</a:t>
            </a:r>
            <a:endParaRPr lang="en-US" sz="7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1111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0292"/>
          </a:xfrm>
          <a:prstGeom prst="rect">
            <a:avLst/>
          </a:prstGeom>
          <a:solidFill>
            <a:srgbClr val="F26A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28600" y="64008"/>
            <a:ext cx="8686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Cambria"/>
              </a:rPr>
              <a:t>Board Motions</a:t>
            </a:r>
          </a:p>
        </p:txBody>
      </p:sp>
      <p:sp>
        <p:nvSpPr>
          <p:cNvPr id="4" name="Rectangle 3"/>
          <p:cNvSpPr/>
          <p:nvPr/>
        </p:nvSpPr>
        <p:spPr>
          <a:xfrm>
            <a:off x="228600" y="457200"/>
            <a:ext cx="1371600" cy="32004"/>
          </a:xfrm>
          <a:prstGeom prst="rect">
            <a:avLst/>
          </a:prstGeom>
          <a:solidFill>
            <a:srgbClr val="F26A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82880" y="512064"/>
            <a:ext cx="8778240" cy="896112"/>
          </a:xfrm>
          <a:prstGeom prst="rect">
            <a:avLst/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82880" y="512064"/>
            <a:ext cx="50292" cy="896112"/>
          </a:xfrm>
          <a:prstGeom prst="rect">
            <a:avLst/>
          </a:prstGeom>
          <a:solidFill>
            <a:srgbClr val="F26A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82880" y="512064"/>
            <a:ext cx="8778240" cy="233172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82880" y="512064"/>
            <a:ext cx="50292" cy="233172"/>
          </a:xfrm>
          <a:prstGeom prst="rect">
            <a:avLst/>
          </a:prstGeom>
          <a:solidFill>
            <a:srgbClr val="F26A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65176" y="539496"/>
            <a:ext cx="411480" cy="1965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26A21"/>
                </a:solidFill>
                <a:latin typeface="Cambri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548640"/>
            <a:ext cx="6629400" cy="1783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Calibri"/>
              </a:rPr>
              <a:t>Confirm §3 Exclusivity (May 2025 Asset Acquisition Agreement)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516367" y="530352"/>
            <a:ext cx="1371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44BB44"/>
                </a:solidFill>
                <a:latin typeface="Calibri"/>
              </a:rPr>
              <a:t>☐  Approve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516367" y="676656"/>
            <a:ext cx="1371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FF6666"/>
                </a:solidFill>
                <a:latin typeface="Calibri"/>
              </a:rPr>
              <a:t>☐  Decline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781812"/>
            <a:ext cx="6629400" cy="6080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750" b="0">
                <a:solidFill>
                  <a:srgbClr val="CCCCCC"/>
                </a:solidFill>
                <a:latin typeface="Calibri"/>
              </a:rPr>
              <a:t>Approve a 90-day exclusivity period beginning on the date of this approval.</a:t>
            </a:r>
          </a:p>
          <a:p>
            <a:r>
              <a:rPr sz="750" b="0">
                <a:solidFill>
                  <a:srgbClr val="CCCCCC"/>
                </a:solidFill>
                <a:latin typeface="Calibri"/>
              </a:rPr>
              <a:t>Extension not unreasonably withheld (per §3). Allows both parties to proceed to</a:t>
            </a:r>
          </a:p>
          <a:p>
            <a:r>
              <a:rPr sz="750" b="0">
                <a:solidFill>
                  <a:srgbClr val="CCCCCC"/>
                </a:solidFill>
                <a:latin typeface="Calibri"/>
              </a:rPr>
              <a:t>diligence, definitive agreement, and financing close (target: Feb 15th, 2027).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82880" y="1444752"/>
            <a:ext cx="8778240" cy="987552"/>
          </a:xfrm>
          <a:prstGeom prst="rect">
            <a:avLst/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82880" y="1444752"/>
            <a:ext cx="50292" cy="987552"/>
          </a:xfrm>
          <a:prstGeom prst="rect">
            <a:avLst/>
          </a:prstGeom>
          <a:solidFill>
            <a:srgbClr val="F26A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82880" y="1444752"/>
            <a:ext cx="8778240" cy="233172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82880" y="1444752"/>
            <a:ext cx="50292" cy="233172"/>
          </a:xfrm>
          <a:prstGeom prst="rect">
            <a:avLst/>
          </a:prstGeom>
          <a:solidFill>
            <a:srgbClr val="F26A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65176" y="1472184"/>
            <a:ext cx="411480" cy="1965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26A21"/>
                </a:solidFill>
                <a:latin typeface="Cambria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" y="1481328"/>
            <a:ext cx="6629400" cy="1783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Calibri"/>
              </a:rPr>
              <a:t>Grant Full Read-Only QuickBooks Online Access for Diligence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516367" y="1463040"/>
            <a:ext cx="1371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44BB44"/>
                </a:solidFill>
                <a:latin typeface="Calibri"/>
              </a:rPr>
              <a:t>☐  Approve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516367" y="1609344"/>
            <a:ext cx="1371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FF6666"/>
                </a:solidFill>
                <a:latin typeface="Calibri"/>
              </a:rPr>
              <a:t>☐  Decline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1520" y="1714500"/>
            <a:ext cx="6629400" cy="6995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750" b="0">
                <a:solidFill>
                  <a:srgbClr val="CCCCCC"/>
                </a:solidFill>
                <a:latin typeface="Calibri"/>
              </a:rPr>
              <a:t>Authorize an all-access or accountant user for John Quinn and one Exos finance reviewer.</a:t>
            </a:r>
          </a:p>
          <a:p>
            <a:r>
              <a:rPr sz="750" b="0">
                <a:solidFill>
                  <a:srgbClr val="CCCCCC"/>
                </a:solidFill>
                <a:latin typeface="Calibri"/>
              </a:rPr>
              <a:t>Purpose: reconcile the $942K "billed-ahead" balance and shared-facility costs before close.</a:t>
            </a:r>
          </a:p>
          <a:p>
            <a:r>
              <a:rPr sz="750" b="0">
                <a:solidFill>
                  <a:srgbClr val="CCCCCC"/>
                </a:solidFill>
                <a:latin typeface="Calibri"/>
              </a:rPr>
              <a:t>Basis: Cal. Corp. Code §1602 director inspection right + AAA §4 confirmatory diligence.</a:t>
            </a:r>
          </a:p>
          <a:p>
            <a:r>
              <a:rPr sz="750" b="1">
                <a:solidFill>
                  <a:srgbClr val="F26A21"/>
                </a:solidFill>
                <a:latin typeface="Calibri"/>
              </a:rPr>
              <a:t>Confidential under the 7/27/2021 NDA.  Access to be granted no later than October 15, 2026.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82880" y="2468880"/>
            <a:ext cx="8778240" cy="1170432"/>
          </a:xfrm>
          <a:prstGeom prst="rect">
            <a:avLst/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82880" y="2468880"/>
            <a:ext cx="50292" cy="1170432"/>
          </a:xfrm>
          <a:prstGeom prst="rect">
            <a:avLst/>
          </a:prstGeom>
          <a:solidFill>
            <a:srgbClr val="F26A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182880" y="2468880"/>
            <a:ext cx="8778240" cy="233172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82880" y="2468880"/>
            <a:ext cx="50292" cy="233172"/>
          </a:xfrm>
          <a:prstGeom prst="rect">
            <a:avLst/>
          </a:prstGeom>
          <a:solidFill>
            <a:srgbClr val="F26A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65176" y="2496312"/>
            <a:ext cx="411480" cy="1965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26A21"/>
                </a:solidFill>
                <a:latin typeface="Cambria"/>
              </a:rPr>
              <a:t>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31520" y="2505456"/>
            <a:ext cx="6629400" cy="1783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Calibri"/>
              </a:rPr>
              <a:t>Correct AR Unbilled / Customer-Deposit Accounting Within 5 Days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516367" y="2487168"/>
            <a:ext cx="1371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44BB44"/>
                </a:solidFill>
                <a:latin typeface="Calibri"/>
              </a:rPr>
              <a:t>☐  Approve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516367" y="2633472"/>
            <a:ext cx="1371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FF6666"/>
                </a:solidFill>
                <a:latin typeface="Calibri"/>
              </a:rPr>
              <a:t>☐  Decline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31520" y="2738628"/>
            <a:ext cx="6629400" cy="8823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750" b="0">
                <a:solidFill>
                  <a:srgbClr val="CCCCCC"/>
                </a:solidFill>
                <a:latin typeface="Calibri"/>
              </a:rPr>
              <a:t>Direct A La Carte Solutions (bookkeeper) + Singer Lewak / Welch &amp; Co. to reconcile and correct:</a:t>
            </a:r>
          </a:p>
          <a:p>
            <a:r>
              <a:rPr sz="750" b="0">
                <a:solidFill>
                  <a:srgbClr val="CCCCCC"/>
                </a:solidFill>
                <a:latin typeface="Calibri"/>
              </a:rPr>
              <a:t>• Acct 1110 AR Unbilled ($942,177) and Acct 2380 Deposits ($120,000) within 5 days of approval.</a:t>
            </a:r>
          </a:p>
          <a:p>
            <a:r>
              <a:rPr sz="750" b="0">
                <a:solidFill>
                  <a:srgbClr val="CCCCCC"/>
                </a:solidFill>
                <a:latin typeface="Calibri"/>
              </a:rPr>
              <a:t>• Clear start-billings on completed/shipped tanks; post missing Jul–Sep 2026 rev-rec entries.</a:t>
            </a:r>
          </a:p>
          <a:p>
            <a:r>
              <a:rPr sz="750" b="0">
                <a:solidFill>
                  <a:srgbClr val="CCCCCC"/>
                </a:solidFill>
                <a:latin typeface="Calibri"/>
              </a:rPr>
              <a:t>• Tank-by-tank reconciliation (IM-109/122/134, EXOS-133) + corrected balance sheet to all directors.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82880" y="3675887"/>
            <a:ext cx="8778240" cy="850392"/>
          </a:xfrm>
          <a:prstGeom prst="rect">
            <a:avLst/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182880" y="3675887"/>
            <a:ext cx="50292" cy="850392"/>
          </a:xfrm>
          <a:prstGeom prst="rect">
            <a:avLst/>
          </a:prstGeom>
          <a:solidFill>
            <a:srgbClr val="F26A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182880" y="3675887"/>
            <a:ext cx="8778240" cy="233172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182880" y="3675887"/>
            <a:ext cx="50292" cy="233172"/>
          </a:xfrm>
          <a:prstGeom prst="rect">
            <a:avLst/>
          </a:prstGeom>
          <a:solidFill>
            <a:srgbClr val="F26A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265176" y="3703320"/>
            <a:ext cx="411480" cy="1965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26A21"/>
                </a:solidFill>
                <a:latin typeface="Cambria"/>
              </a:rPr>
              <a:t>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31520" y="3712463"/>
            <a:ext cx="6629400" cy="1783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Calibri"/>
              </a:rPr>
              <a:t>Consent to ERP/MRP &amp; Inventory Evaluation (Separate Motion)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516367" y="3694175"/>
            <a:ext cx="1371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44BB44"/>
                </a:solidFill>
                <a:latin typeface="Calibri"/>
              </a:rPr>
              <a:t>☐  Approve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516367" y="3840479"/>
            <a:ext cx="1371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FF6666"/>
                </a:solidFill>
                <a:latin typeface="Calibri"/>
              </a:rPr>
              <a:t>☐  Decline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31520" y="3945635"/>
            <a:ext cx="6629400" cy="5623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750" b="0">
                <a:solidFill>
                  <a:srgbClr val="CCCCCC"/>
                </a:solidFill>
                <a:latin typeface="Calibri"/>
              </a:rPr>
              <a:t>Authorize Exos to use the same QB data to evaluate its in-house ERP/MRP and inventory</a:t>
            </a:r>
          </a:p>
          <a:p>
            <a:r>
              <a:rPr sz="750" b="0">
                <a:solidFill>
                  <a:srgbClr val="CCCCCC"/>
                </a:solidFill>
                <a:latin typeface="Calibri"/>
              </a:rPr>
              <a:t>systems for the combined operation.  Confidential under the NDA.</a:t>
            </a:r>
          </a:p>
          <a:p>
            <a:r>
              <a:rPr sz="750" b="0">
                <a:solidFill>
                  <a:srgbClr val="CCCCCC"/>
                </a:solidFill>
                <a:latin typeface="Calibri"/>
              </a:rPr>
              <a:t>Does not create any obligation to implement; evaluation only.</a:t>
            </a:r>
          </a:p>
        </p:txBody>
      </p:sp>
      <p:sp>
        <p:nvSpPr>
          <p:cNvPr id="41" name="Rectangle 40"/>
          <p:cNvSpPr/>
          <p:nvPr/>
        </p:nvSpPr>
        <p:spPr>
          <a:xfrm>
            <a:off x="182880" y="4553712"/>
            <a:ext cx="8778240" cy="182880"/>
          </a:xfrm>
          <a:prstGeom prst="rect">
            <a:avLst/>
          </a:prstGeom>
          <a:solidFill>
            <a:srgbClr val="1A0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292608" y="4571999"/>
            <a:ext cx="8549640" cy="1554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1">
                <a:solidFill>
                  <a:srgbClr val="F26A21"/>
                </a:solidFill>
                <a:latin typeface="Calibri"/>
              </a:rPr>
              <a:t>Governance: John Quinn abstains on all motions as an interested director; motions are decided by the disinterested directors.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554480" y="4892040"/>
            <a:ext cx="60350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 i="1">
                <a:solidFill>
                  <a:srgbClr val="888888"/>
                </a:solidFill>
                <a:latin typeface="Calibri"/>
              </a:rPr>
              <a:t>DRAFT — NEGOTIATING TERMS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772400" y="4892040"/>
            <a:ext cx="1143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00" b="0" i="1">
                <a:solidFill>
                  <a:srgbClr val="888888"/>
                </a:solidFill>
                <a:latin typeface="Calibri"/>
              </a:rPr>
              <a:t>CONFIDENTIAL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exomac/.openclaw/workspace/drafts/_exos_hero_bg.png">    </p:cNvPr>
          <p:cNvPicPr>
            <a:picLocks noChangeAspect="1"/>
          </p:cNvPicPr>
          <p:nvPr/>
        </p:nvPicPr>
        <p:blipFill>
          <a:blip r:embed="rId1">
            <a:alphaModFix amt="55000"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457200" y="274320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Path to Close</a:t>
            </a:r>
            <a:endParaRPr lang="en-US" sz="2200" dirty="0"/>
          </a:p>
        </p:txBody>
      </p:sp>
      <p:sp>
        <p:nvSpPr>
          <p:cNvPr id="4" name="Shape 1"/>
          <p:cNvSpPr/>
          <p:nvPr/>
        </p:nvSpPr>
        <p:spPr>
          <a:xfrm>
            <a:off x="457200" y="768096"/>
            <a:ext cx="1371600" cy="36576"/>
          </a:xfrm>
          <a:prstGeom prst="rect">
            <a:avLst/>
          </a:prstGeom>
          <a:solidFill>
            <a:srgbClr val="F26A21"/>
          </a:solidFill>
          <a:ln/>
        </p:spPr>
        <p:txBody>
          <a:bodyPr/>
          <a:p/>
        </p:txBody>
      </p:sp>
      <p:sp>
        <p:nvSpPr>
          <p:cNvPr id="5" name="Shape 2"/>
          <p:cNvSpPr/>
          <p:nvPr/>
        </p:nvSpPr>
        <p:spPr>
          <a:xfrm>
            <a:off x="1024128" y="1426464"/>
            <a:ext cx="0" cy="201168"/>
          </a:xfrm>
          <a:prstGeom prst="line">
            <a:avLst/>
          </a:prstGeom>
          <a:noFill/>
          <a:ln w="12700">
            <a:solidFill>
              <a:srgbClr val="F26A21"/>
            </a:solidFill>
            <a:prstDash val="solid"/>
          </a:ln>
        </p:spPr>
        <p:txBody>
          <a:bodyPr/>
          <a:p/>
        </p:txBody>
      </p:sp>
      <p:sp>
        <p:nvSpPr>
          <p:cNvPr id="6" name="Shape 3"/>
          <p:cNvSpPr/>
          <p:nvPr/>
        </p:nvSpPr>
        <p:spPr>
          <a:xfrm>
            <a:off x="548640" y="914400"/>
            <a:ext cx="512064" cy="512064"/>
          </a:xfrm>
          <a:prstGeom prst="ellipse">
            <a:avLst/>
          </a:prstGeom>
          <a:solidFill>
            <a:srgbClr val="F26A21"/>
          </a:solidFill>
          <a:ln w="12700">
            <a:solidFill>
              <a:srgbClr val="F26A21"/>
            </a:solidFill>
            <a:prstDash val="solid"/>
          </a:ln>
        </p:spPr>
        <p:txBody>
          <a:bodyPr/>
          <a:p/>
        </p:txBody>
      </p:sp>
      <p:sp>
        <p:nvSpPr>
          <p:cNvPr id="7" name="Text 4"/>
          <p:cNvSpPr txBox="1"/>
          <p:nvPr/>
        </p:nvSpPr>
        <p:spPr>
          <a:xfrm>
            <a:off x="548640" y="978408"/>
            <a:ext cx="51206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11111"/>
                </a:solidFill>
              </a:rPr>
              <a:t>1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1234440" y="932688"/>
            <a:ext cx="6858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Board Votes — Four Motions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1234440" y="1197864"/>
            <a:ext cx="68580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88888"/>
                </a:solidFill>
              </a:rPr>
              <a:t>Today — action requested at this meeting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1024128" y="2121408"/>
            <a:ext cx="0" cy="201168"/>
          </a:xfrm>
          <a:prstGeom prst="line">
            <a:avLst/>
          </a:prstGeom>
          <a:noFill/>
          <a:ln w="12700">
            <a:solidFill>
              <a:srgbClr val="F26A21"/>
            </a:solidFill>
            <a:prstDash val="solid"/>
          </a:ln>
        </p:spPr>
        <p:txBody>
          <a:bodyPr/>
          <a:p/>
        </p:txBody>
      </p:sp>
      <p:sp>
        <p:nvSpPr>
          <p:cNvPr id="11" name="Shape 8"/>
          <p:cNvSpPr/>
          <p:nvPr/>
        </p:nvSpPr>
        <p:spPr>
          <a:xfrm>
            <a:off x="548640" y="1609344"/>
            <a:ext cx="512064" cy="512064"/>
          </a:xfrm>
          <a:prstGeom prst="ellipse">
            <a:avLst/>
          </a:prstGeom>
          <a:solidFill>
            <a:srgbClr val="2A2A2A"/>
          </a:solidFill>
          <a:ln w="12700">
            <a:solidFill>
              <a:srgbClr val="F26A21"/>
            </a:solidFill>
            <a:prstDash val="solid"/>
          </a:ln>
        </p:spPr>
        <p:txBody>
          <a:bodyPr/>
          <a:p/>
        </p:txBody>
      </p:sp>
      <p:sp>
        <p:nvSpPr>
          <p:cNvPr id="12" name="Text 9"/>
          <p:cNvSpPr txBox="1"/>
          <p:nvPr/>
        </p:nvSpPr>
        <p:spPr>
          <a:xfrm>
            <a:off x="548640" y="1673352"/>
            <a:ext cx="51206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26A21"/>
                </a:solidFill>
              </a:rPr>
              <a:t>2</a:t>
            </a:r>
            <a:endParaRPr lang="en-US" sz="1500" dirty="0"/>
          </a:p>
        </p:txBody>
      </p:sp>
      <p:sp>
        <p:nvSpPr>
          <p:cNvPr id="13" name="Text 10"/>
          <p:cNvSpPr txBox="1"/>
          <p:nvPr/>
        </p:nvSpPr>
        <p:spPr>
          <a:xfrm>
            <a:off x="1234440" y="1627632"/>
            <a:ext cx="6858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90-Day Exclusivity Window</a:t>
            </a:r>
            <a:endParaRPr lang="en-US" sz="1400" dirty="0"/>
          </a:p>
        </p:txBody>
      </p:sp>
      <p:sp>
        <p:nvSpPr>
          <p:cNvPr id="14" name="Text 11"/>
          <p:cNvSpPr txBox="1"/>
          <p:nvPr/>
        </p:nvSpPr>
        <p:spPr>
          <a:xfrm>
            <a:off x="1234440" y="1892808"/>
            <a:ext cx="68580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88888"/>
                </a:solidFill>
              </a:rPr>
              <a:t>Negotiation and diligence period begins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1024128" y="2816352"/>
            <a:ext cx="0" cy="201168"/>
          </a:xfrm>
          <a:prstGeom prst="line">
            <a:avLst/>
          </a:prstGeom>
          <a:noFill/>
          <a:ln w="12700">
            <a:solidFill>
              <a:srgbClr val="F26A21"/>
            </a:solidFill>
            <a:prstDash val="solid"/>
          </a:ln>
        </p:spPr>
        <p:txBody>
          <a:bodyPr/>
          <a:p/>
        </p:txBody>
      </p:sp>
      <p:sp>
        <p:nvSpPr>
          <p:cNvPr id="16" name="Shape 13"/>
          <p:cNvSpPr/>
          <p:nvPr/>
        </p:nvSpPr>
        <p:spPr>
          <a:xfrm>
            <a:off x="548640" y="2304288"/>
            <a:ext cx="512064" cy="512064"/>
          </a:xfrm>
          <a:prstGeom prst="ellipse">
            <a:avLst/>
          </a:prstGeom>
          <a:solidFill>
            <a:srgbClr val="2A2A2A"/>
          </a:solidFill>
          <a:ln w="12700">
            <a:solidFill>
              <a:srgbClr val="F26A21"/>
            </a:solidFill>
            <a:prstDash val="solid"/>
          </a:ln>
        </p:spPr>
        <p:txBody>
          <a:bodyPr/>
          <a:p/>
        </p:txBody>
      </p:sp>
      <p:sp>
        <p:nvSpPr>
          <p:cNvPr id="17" name="Text 14"/>
          <p:cNvSpPr txBox="1"/>
          <p:nvPr/>
        </p:nvSpPr>
        <p:spPr>
          <a:xfrm>
            <a:off x="548640" y="2368296"/>
            <a:ext cx="51206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26A21"/>
                </a:solidFill>
              </a:rPr>
              <a:t>3</a:t>
            </a:r>
            <a:endParaRPr lang="en-US" sz="1500" dirty="0"/>
          </a:p>
        </p:txBody>
      </p:sp>
      <p:sp>
        <p:nvSpPr>
          <p:cNvPr id="18" name="Text 15"/>
          <p:cNvSpPr txBox="1"/>
          <p:nvPr/>
        </p:nvSpPr>
        <p:spPr>
          <a:xfrm>
            <a:off x="1234440" y="2322576"/>
            <a:ext cx="6858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Definitive Agreement</a:t>
            </a:r>
            <a:endParaRPr lang="en-US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1234440" y="2587752"/>
            <a:ext cx="68580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88888"/>
                </a:solidFill>
              </a:rPr>
              <a:t>Key terms, employee pool, earn-out detail finalized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1024128" y="3511296"/>
            <a:ext cx="0" cy="201168"/>
          </a:xfrm>
          <a:prstGeom prst="line">
            <a:avLst/>
          </a:prstGeom>
          <a:noFill/>
          <a:ln w="12700">
            <a:solidFill>
              <a:srgbClr val="F26A21"/>
            </a:solidFill>
            <a:prstDash val="solid"/>
          </a:ln>
        </p:spPr>
        <p:txBody>
          <a:bodyPr/>
          <a:p/>
        </p:txBody>
      </p:sp>
      <p:sp>
        <p:nvSpPr>
          <p:cNvPr id="21" name="Shape 18"/>
          <p:cNvSpPr/>
          <p:nvPr/>
        </p:nvSpPr>
        <p:spPr>
          <a:xfrm>
            <a:off x="548640" y="2999232"/>
            <a:ext cx="512064" cy="512064"/>
          </a:xfrm>
          <a:prstGeom prst="ellipse">
            <a:avLst/>
          </a:prstGeom>
          <a:solidFill>
            <a:srgbClr val="2A2A2A"/>
          </a:solidFill>
          <a:ln w="12700">
            <a:solidFill>
              <a:srgbClr val="F26A21"/>
            </a:solidFill>
            <a:prstDash val="solid"/>
          </a:ln>
        </p:spPr>
        <p:txBody>
          <a:bodyPr/>
          <a:p/>
        </p:txBody>
      </p:sp>
      <p:sp>
        <p:nvSpPr>
          <p:cNvPr id="22" name="Text 19"/>
          <p:cNvSpPr txBox="1"/>
          <p:nvPr/>
        </p:nvSpPr>
        <p:spPr>
          <a:xfrm>
            <a:off x="548640" y="3063240"/>
            <a:ext cx="51206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26A21"/>
                </a:solidFill>
              </a:rPr>
              <a:t>4</a:t>
            </a:r>
            <a:endParaRPr lang="en-US" sz="1500" dirty="0"/>
          </a:p>
        </p:txBody>
      </p:sp>
      <p:sp>
        <p:nvSpPr>
          <p:cNvPr id="23" name="Text 20"/>
          <p:cNvSpPr txBox="1"/>
          <p:nvPr/>
        </p:nvSpPr>
        <p:spPr>
          <a:xfrm>
            <a:off x="1234440" y="3017520"/>
            <a:ext cx="6858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Financing Close — target Feb 15th</a:t>
            </a:r>
            <a:endParaRPr lang="en-US" sz="1400" dirty="0"/>
          </a:p>
        </p:txBody>
      </p:sp>
      <p:sp>
        <p:nvSpPr>
          <p:cNvPr id="24" name="Text 21"/>
          <p:cNvSpPr txBox="1"/>
          <p:nvPr/>
        </p:nvSpPr>
        <p:spPr>
          <a:xfrm>
            <a:off x="1234440" y="3282696"/>
            <a:ext cx="68580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88888"/>
                </a:solidFill>
              </a:rPr>
              <a:t>Cash at close + EAI units issued; ① + stock = ②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548640" y="3694176"/>
            <a:ext cx="512064" cy="512064"/>
          </a:xfrm>
          <a:prstGeom prst="ellipse">
            <a:avLst/>
          </a:prstGeom>
          <a:solidFill>
            <a:srgbClr val="2A2A2A"/>
          </a:solidFill>
          <a:ln w="12700">
            <a:solidFill>
              <a:srgbClr val="F26A21"/>
            </a:solidFill>
            <a:prstDash val="solid"/>
          </a:ln>
        </p:spPr>
        <p:txBody>
          <a:bodyPr/>
          <a:p/>
        </p:txBody>
      </p:sp>
      <p:sp>
        <p:nvSpPr>
          <p:cNvPr id="26" name="Text 23"/>
          <p:cNvSpPr txBox="1"/>
          <p:nvPr/>
        </p:nvSpPr>
        <p:spPr>
          <a:xfrm>
            <a:off x="548640" y="3758184"/>
            <a:ext cx="51206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26A21"/>
                </a:solidFill>
              </a:rPr>
              <a:t>5</a:t>
            </a:r>
            <a:endParaRPr lang="en-US" sz="1500" dirty="0"/>
          </a:p>
        </p:txBody>
      </p:sp>
      <p:sp>
        <p:nvSpPr>
          <p:cNvPr id="27" name="Text 24"/>
          <p:cNvSpPr txBox="1"/>
          <p:nvPr/>
        </p:nvSpPr>
        <p:spPr>
          <a:xfrm>
            <a:off x="1234440" y="3712464"/>
            <a:ext cx="6858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Targeted RTO</a:t>
            </a:r>
            <a:endParaRPr lang="en-US" sz="1400" dirty="0"/>
          </a:p>
        </p:txBody>
      </p:sp>
      <p:sp>
        <p:nvSpPr>
          <p:cNvPr id="28" name="Text 25"/>
          <p:cNvSpPr txBox="1"/>
          <p:nvPr/>
        </p:nvSpPr>
        <p:spPr>
          <a:xfrm>
            <a:off x="1234440" y="3977640"/>
            <a:ext cx="68580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88888"/>
                </a:solidFill>
              </a:rPr>
              <a:t>~6 months post-financing; units tradeable at listing (not assured)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365760" y="4407408"/>
            <a:ext cx="8412480" cy="402336"/>
          </a:xfrm>
          <a:prstGeom prst="rect">
            <a:avLst/>
          </a:prstGeom>
          <a:solidFill>
            <a:srgbClr val="2A1000"/>
          </a:solidFill>
          <a:ln w="12700">
            <a:solidFill>
              <a:srgbClr val="F26A21"/>
            </a:solidFill>
            <a:prstDash val="solid"/>
          </a:ln>
        </p:spPr>
        <p:txBody>
          <a:bodyPr/>
          <a:p/>
        </p:txBody>
      </p:sp>
      <p:sp>
        <p:nvSpPr>
          <p:cNvPr id="30" name="Text 27"/>
          <p:cNvSpPr txBox="1"/>
          <p:nvPr/>
        </p:nvSpPr>
        <p:spPr>
          <a:xfrm>
            <a:off x="502920" y="4443984"/>
            <a:ext cx="82296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6A21"/>
                </a:solidFill>
              </a:rPr>
              <a:t>The Board is asked to vote on Motions 1–4. Questions and open items welcome.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xos Aerospace">
  <a:themeElements>
    <a:clrScheme name="Exos Aerospace">
      <a:dk1>
        <a:srgbClr val="111111"/>
      </a:dk1>
      <a:lt1>
        <a:srgbClr val="FFFFFF"/>
      </a:lt1>
      <a:dk2>
        <a:srgbClr val="1A1A1A"/>
      </a:dk2>
      <a:lt2>
        <a:srgbClr val="F5F5F5"/>
      </a:lt2>
      <a:accent1>
        <a:srgbClr val="F26A21"/>
      </a:accent1>
      <a:accent2>
        <a:srgbClr val="888888"/>
      </a:accent2>
      <a:accent3>
        <a:srgbClr val="2ECC71"/>
      </a:accent3>
      <a:accent4>
        <a:srgbClr val="C0392B"/>
      </a:accent4>
      <a:accent5>
        <a:srgbClr val="555555"/>
      </a:accent5>
      <a:accent6>
        <a:srgbClr val="333333"/>
      </a:accent6>
      <a:hlink>
        <a:srgbClr val="F26A21"/>
      </a:hlink>
      <a:folHlink>
        <a:srgbClr val="AAAAAA"/>
      </a:folHlink>
    </a:clrScheme>
    <a:fontScheme name="Exos Aerospa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2026-10-10T23:08:01Z</dcterms:created>
  <dcterms:modified xsi:type="dcterms:W3CDTF">2026-10-10T23:08:01Z</dcterms:modified>
</cp:coreProperties>
</file>