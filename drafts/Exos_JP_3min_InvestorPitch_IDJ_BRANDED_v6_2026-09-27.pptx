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_exos_white_of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02920"/>
            <a:ext cx="1589634" cy="548640"/>
          </a:xfrm>
          <a:prstGeom prst="rect">
            <a:avLst/>
          </a:prstGeom>
        </p:spPr>
      </p:pic>
      <p:pic>
        <p:nvPicPr>
          <p:cNvPr id="5" name="Picture 4" descr="_spaceavailabl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0" y="566928"/>
            <a:ext cx="2103120" cy="1799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23317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Exos Aerospace  </a:t>
            </a:r>
            <a:r>
              <a:rPr sz="4200" b="1">
                <a:solidFill>
                  <a:srgbClr val="F26A21"/>
                </a:solidFill>
                <a:latin typeface="Arial"/>
              </a:rPr>
              <a:t>—</a:t>
            </a:r>
            <a:r>
              <a:rPr sz="4200" b="1">
                <a:solidFill>
                  <a:srgbClr val="FFFFFF"/>
                </a:solidFill>
                <a:latin typeface="Arial"/>
              </a:rPr>
              <a:t>  Expanding to Japan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346704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26A21"/>
                </a:solidFill>
                <a:latin typeface="Arial"/>
              </a:rPr>
              <a:t>A Partnership &amp; Investment Opportunity — Exos Aerospace Japan (K.K.)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605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2D2D7"/>
                </a:solidFill>
                <a:latin typeface="Arial"/>
              </a:rPr>
              <a:t>With appreciation to Innovation Dojo — Black Belt Venture Studio   ·   8 October 2026</a:t>
            </a:r>
          </a:p>
          <a:p>
            <a:pPr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>
                <a:solidFill>
                  <a:srgbClr val="9A9AA1"/>
                </a:solidFill>
                <a:latin typeface="Arial"/>
              </a:rPr>
              <a:t>Toshi Kumazawa (Japan BD)   ·   John Quinn (Co-founder &amp; CEO)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8251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26A21"/>
                </a:solidFill>
                <a:latin typeface="Arial"/>
              </a:rPr>
              <a:t>v6 — John's inputs locked 27 Sep 2026; Toshi finalizes Japanese / keigo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white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84048"/>
            <a:ext cx="847805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0233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26A21"/>
                </a:solidFill>
                <a:latin typeface="Arial"/>
              </a:rPr>
              <a:t>PROVEN · PROFITABLE · REUSABLE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76656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Who we 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389888"/>
            <a:ext cx="1051560" cy="502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1874519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4" y="1874519"/>
            <a:ext cx="73152" cy="233172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148839"/>
            <a:ext cx="31272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26A21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44952"/>
            <a:ext cx="303580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of only 3 U.S. companies FAA-licensed for reusable launch operations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9A9AA1"/>
                </a:solidFill>
                <a:latin typeface="Arial"/>
              </a:rPr>
              <a:t>alongside SpaceX and Blue Origin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1416" y="1874519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71416" y="1874519"/>
            <a:ext cx="73152" cy="233172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4024" y="2148839"/>
            <a:ext cx="31272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26A21"/>
                </a:solidFill>
                <a:latin typeface="Arial"/>
              </a:rPr>
              <a:t>25+ yrs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82312" y="3044952"/>
            <a:ext cx="303580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hands-on reusable-vehicle heritage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9A9AA1"/>
                </a:solidFill>
                <a:latin typeface="Arial"/>
              </a:rPr>
              <a:t>predecessor: Armadillo Aerospace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39327" y="1874519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39327" y="1874519"/>
            <a:ext cx="73152" cy="233172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31936" y="2148839"/>
            <a:ext cx="31272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26A21"/>
                </a:solidFill>
                <a:latin typeface="Arial"/>
              </a:rPr>
              <a:t>$1.49M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50224" y="3044952"/>
            <a:ext cx="303580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2025 revenue — profitable: EBITDA $254K (17% margin)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9A9AA1"/>
                </a:solidFill>
                <a:latin typeface="Arial"/>
              </a:rPr>
              <a:t>FY2025, accrual basis, unaudited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45262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2D2D7"/>
                </a:solidFill>
                <a:latin typeface="Arial"/>
              </a:rPr>
              <a:t>A real operating company with flight heritage — not a concept.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white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84048"/>
            <a:ext cx="847805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0233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26A21"/>
                </a:solidFill>
                <a:latin typeface="Arial"/>
              </a:rPr>
              <a:t>WHAT SETS US APART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76656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Proven, differentiated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389888"/>
            <a:ext cx="1051560" cy="502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182880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139696"/>
            <a:ext cx="566928" cy="566928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396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26A21"/>
                </a:solidFill>
                <a:latin typeface="Arial"/>
              </a:rPr>
              <a:t>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88036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BLK3 reusable vehicle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D2D2D7"/>
                </a:solidFill>
                <a:latin typeface="Arial"/>
              </a:rPr>
              <a:t>Suborbital launch vehicle: out-of-autoclave carbon composite, low parts count — recovered and reflown.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1416" y="182880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82312" y="2139696"/>
            <a:ext cx="566928" cy="566928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82312" y="21396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26A21"/>
                </a:solidFill>
                <a:latin typeface="Arial"/>
              </a:rPr>
              <a:t>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4" y="288036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TRL-9 Type-5 cryo tanks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D2D2D7"/>
                </a:solidFill>
                <a:latin typeface="Arial"/>
              </a:rPr>
              <a:t>Linerless composite cryogenic tanks (affiliate Scorpius / SSLC) — lighter and more robust than metal.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39327" y="182880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50224" y="2139696"/>
            <a:ext cx="566928" cy="566928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50224" y="21396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26A21"/>
                </a:solidFill>
                <a:latin typeface="Arial"/>
              </a:rPr>
              <a:t>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1936" y="288036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Proven on the Moon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D2D2D7"/>
                </a:solidFill>
                <a:latin typeface="Arial"/>
              </a:rPr>
              <a:t>Scorpius Type-5 tanks flew as fuel &amp; LOX tanks aboard Intuitive Machines' Odysseus (2024) and Athena landers.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white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84048"/>
            <a:ext cx="847805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0233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26A21"/>
                </a:solidFill>
                <a:latin typeface="Arial"/>
              </a:rPr>
              <a:t>BUILT IN JAPAN, TOGETHER WITH JAPAN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76656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Our commitment to Japan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389888"/>
            <a:ext cx="1051560" cy="502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18470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121408"/>
            <a:ext cx="493776" cy="493776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121408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26A21"/>
                </a:solidFill>
                <a:latin typeface="Arial"/>
              </a:rPr>
              <a:t>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63624" y="2066543"/>
            <a:ext cx="4297680" cy="12070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Exos Aerospace Japan (K.K.)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D2D7"/>
                </a:solidFill>
                <a:latin typeface="Arial"/>
              </a:rPr>
              <a:t>A local company, office, and team — opening in 2026.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8470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74536" y="2121408"/>
            <a:ext cx="493776" cy="493776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4536" y="2121408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26A21"/>
                </a:solidFill>
                <a:latin typeface="Arial"/>
              </a:rPr>
              <a:t>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0336" y="2066543"/>
            <a:ext cx="4297680" cy="12070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HOSPO wet-lease flights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D2D7"/>
                </a:solidFill>
                <a:latin typeface="Arial"/>
              </a:rPr>
              <a:t>BLK3 reusable suborbital flight services at Hokkaido Spaceport, with Exos as licensed operator.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" y="36758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7824" y="3950208"/>
            <a:ext cx="493776" cy="493776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3950208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26A21"/>
                </a:solidFill>
                <a:latin typeface="Arial"/>
              </a:rPr>
              <a:t>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63624" y="3895344"/>
            <a:ext cx="4297680" cy="12070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Serve industry &amp; universities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D2D7"/>
                </a:solidFill>
                <a:latin typeface="Arial"/>
              </a:rPr>
              <a:t>BLK3 verification / flight-test platform, reusable engines, and SSLC Type-5 cryo tanks.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0216" y="36758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74536" y="3950208"/>
            <a:ext cx="493776" cy="493776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74536" y="3950208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26A21"/>
                </a:solidFill>
                <a:latin typeface="Arial"/>
              </a:rPr>
              <a:t>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0336" y="3895344"/>
            <a:ext cx="4297680" cy="12070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Consulting &amp; collaboration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D2D7"/>
                </a:solidFill>
                <a:latin typeface="Arial"/>
              </a:rPr>
              <a:t>Long-term partnership — building space capability in Japan, together with Japan.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white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84048"/>
            <a:ext cx="847805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0233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26A21"/>
                </a:solidFill>
                <a:latin typeface="Arial"/>
              </a:rPr>
              <a:t>SLIDE 5 · STRUCTURED ROUND · RETURNS · EXIT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76656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The investment opportunity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389888"/>
            <a:ext cx="1051560" cy="502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1783080"/>
            <a:ext cx="3246120" cy="27889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4" y="1783080"/>
            <a:ext cx="3246120" cy="82296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39112"/>
            <a:ext cx="2697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AA1"/>
                </a:solidFill>
                <a:latin typeface="Arial"/>
              </a:rPr>
              <a:t>JAPAN ROUND — REG S, VIA EAI LLC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386584"/>
            <a:ext cx="26974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26A21"/>
                </a:solidFill>
                <a:latin typeface="Arial"/>
              </a:rPr>
              <a:t>¥790M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154680"/>
            <a:ext cx="2697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26A21"/>
                </a:solidFill>
                <a:latin typeface="Arial"/>
              </a:rPr>
              <a:t>≈ US$5.0M target  (at ~¥157 / US$)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566160"/>
            <a:ext cx="26974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D2D2D7"/>
                </a:solidFill>
                <a:latin typeface="Arial"/>
              </a:rPr>
              <a:t>Purchase units in Exos Aerospace Investments, LLC (EAI), which holds Exos U.S. equity; proceeds fund the wholly-owned Japan K.K.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9A9AA1"/>
                </a:solidFill>
                <a:latin typeface="Arial"/>
              </a:rPr>
              <a:t>Offshore Regulation S offering — separate from the Exos U.S. domestic offering.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73736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AA1"/>
                </a:solidFill>
                <a:latin typeface="Arial"/>
              </a:rPr>
              <a:t>USE OF FUNDS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0" y="2084831"/>
            <a:ext cx="324612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60" y="2084831"/>
            <a:ext cx="2971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Stand up Japan operations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2084831"/>
            <a:ext cx="361188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2084831"/>
            <a:ext cx="3337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Secure a wet-lease BLK3 for HOSPO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0" y="2633472"/>
            <a:ext cx="324612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1960" y="2633472"/>
            <a:ext cx="2971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Open the Japan office (2026)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2633472"/>
            <a:ext cx="361188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0" y="2633472"/>
            <a:ext cx="3337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Build the local 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24612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AA1"/>
                </a:solidFill>
                <a:latin typeface="Arial"/>
              </a:rPr>
              <a:t>PATH TO RETURNS — GROW, THEN EXIT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0" y="3593591"/>
            <a:ext cx="2331720" cy="128016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0" y="3593591"/>
            <a:ext cx="2331720" cy="6400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3721608"/>
            <a:ext cx="2011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26A21"/>
                </a:solidFill>
                <a:latin typeface="Arial"/>
              </a:rPr>
              <a:t>ROUND (now)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069080"/>
            <a:ext cx="2011679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2D2D7"/>
                </a:solidFill>
                <a:latin typeface="Arial"/>
              </a:rPr>
              <a:t>Fund Japan stand-up + first wet-lease flights</a:t>
            </a:r>
          </a:p>
        </p:txBody>
      </p:sp>
      <p:sp>
        <p:nvSpPr>
          <p:cNvPr id="27" name="Chevron 26"/>
          <p:cNvSpPr/>
          <p:nvPr/>
        </p:nvSpPr>
        <p:spPr>
          <a:xfrm>
            <a:off x="6446520" y="4069080"/>
            <a:ext cx="201168" cy="274320"/>
          </a:xfrm>
          <a:prstGeom prst="chevron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611112" y="3593591"/>
            <a:ext cx="2331720" cy="128016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611112" y="3593591"/>
            <a:ext cx="2331720" cy="6400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93992" y="3721608"/>
            <a:ext cx="2011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26A21"/>
                </a:solidFill>
                <a:latin typeface="Arial"/>
              </a:rPr>
              <a:t>SCALE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93992" y="4069080"/>
            <a:ext cx="2011679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2D2D7"/>
                </a:solidFill>
                <a:latin typeface="Arial"/>
              </a:rPr>
              <a:t>Recurring revenue: wet-lease flights · Type-5 tank &amp; engine sales · verification &amp; consulting</a:t>
            </a:r>
          </a:p>
        </p:txBody>
      </p:sp>
      <p:sp>
        <p:nvSpPr>
          <p:cNvPr id="32" name="Chevron 31"/>
          <p:cNvSpPr/>
          <p:nvPr/>
        </p:nvSpPr>
        <p:spPr>
          <a:xfrm>
            <a:off x="8942832" y="4069080"/>
            <a:ext cx="201168" cy="274320"/>
          </a:xfrm>
          <a:prstGeom prst="chevron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07424" y="3593591"/>
            <a:ext cx="2331720" cy="128016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07424" y="3593591"/>
            <a:ext cx="2331720" cy="6400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90304" y="3721608"/>
            <a:ext cx="2011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26A21"/>
                </a:solidFill>
                <a:latin typeface="Arial"/>
              </a:rPr>
              <a:t>EXIT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90304" y="4069080"/>
            <a:ext cx="2011679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2D2D7"/>
                </a:solidFill>
                <a:latin typeface="Arial"/>
              </a:rPr>
              <a:t>Liquidity through an Exos U.S. event (public listing or acquisition), realized via EAI LLC. Horizon ~3+ yrs.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3504" y="5074920"/>
            <a:ext cx="10972800" cy="102412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3504" y="5074920"/>
            <a:ext cx="82296" cy="102412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5221224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26A21"/>
                </a:solidFill>
                <a:latin typeface="Arial"/>
              </a:rPr>
              <a:t>ALSO ON THE TABLE — non-dilutive layers  </a:t>
            </a:r>
            <a:r>
              <a:rPr sz="1150" b="0">
                <a:solidFill>
                  <a:srgbClr val="9A9AA1"/>
                </a:solidFill>
                <a:latin typeface="Arial"/>
              </a:rPr>
              <a:t>(alongside equity, per IDJ)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8680" y="5577840"/>
            <a:ext cx="329184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 w="12700">
            <a:solidFill>
              <a:srgbClr val="7A36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39" y="5577840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Payload pre-sales — reserve BLK3 flight capacity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5577840"/>
            <a:ext cx="329184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 w="12700">
            <a:solidFill>
              <a:srgbClr val="7A36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60" y="5577840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Crowdfunding — community &amp; fan participation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18120" y="5577840"/>
            <a:ext cx="356616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 w="12700">
            <a:solidFill>
              <a:srgbClr val="7A36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55280" y="557784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Staged equity rounds — realistic financing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" y="6144768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AA1"/>
                </a:solidFill>
                <a:latin typeface="Arial"/>
              </a:rPr>
              <a:t>Not an offer to sell or a solicitation of an offer to buy securities. Units of Exos Aerospace Investments, LLC are offered only to non-U.S. persons in offshore transactions under Regulation S, separate from any U.S. offering, and only through definitive offering documents. Not registered under the U.S. Securities Act; may not be offered or sold in the U.S. or to U.S. persons absent registration or an exemption.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white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84048"/>
            <a:ext cx="847805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0233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26A21"/>
                </a:solidFill>
                <a:latin typeface="Arial"/>
              </a:rPr>
              <a:t>REAL SIGNAL, ON THE 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76656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Traction &amp; the path forward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389888"/>
            <a:ext cx="1051560" cy="502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18470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4" y="1847088"/>
            <a:ext cx="73152" cy="157276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26A21"/>
                </a:solidFill>
                <a:latin typeface="Arial"/>
              </a:rPr>
              <a:t>DEMAND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322576"/>
            <a:ext cx="493776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LOI + inbound inquiry</a:t>
            </a:r>
          </a:p>
          <a:p>
            <a:pPr algn="l">
              <a:lnSpc>
                <a:spcPct val="106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D2D2D7"/>
                </a:solidFill>
                <a:latin typeface="Arial"/>
              </a:rPr>
              <a:t>Letter of intent for a fuel-tank order from a Japanese space-development company; an engine-specification inquiry as well.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8470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216" y="1847088"/>
            <a:ext cx="73152" cy="157276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4536" y="2048256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26A21"/>
                </a:solidFill>
                <a:latin typeface="Arial"/>
              </a:rPr>
              <a:t>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4536" y="2322576"/>
            <a:ext cx="493776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HOSPO discussions underway</a:t>
            </a:r>
          </a:p>
          <a:p>
            <a:pPr algn="l">
              <a:lnSpc>
                <a:spcPct val="106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D2D2D7"/>
                </a:solidFill>
                <a:latin typeface="Arial"/>
              </a:rPr>
              <a:t>Collaboration talks in progress with Hokkaido Spaceport (HOSPO / Space Cotan).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" y="36758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3504" y="3675888"/>
            <a:ext cx="73152" cy="157276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3877056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26A21"/>
                </a:solidFill>
                <a:latin typeface="Arial"/>
              </a:rPr>
              <a:t>IN-PERSON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4151376"/>
            <a:ext cx="493776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CEO in Japan — October 2026</a:t>
            </a:r>
          </a:p>
          <a:p>
            <a:pPr algn="l">
              <a:lnSpc>
                <a:spcPct val="106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D2D2D7"/>
                </a:solidFill>
                <a:latin typeface="Arial"/>
              </a:rPr>
              <a:t>John Quinn will meet HOSPO, the LOI client, other space-development companies, and prospective investors.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0216" y="36758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0216" y="3675888"/>
            <a:ext cx="73152" cy="157276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74536" y="3877056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26A21"/>
                </a:solidFill>
                <a:latin typeface="Arial"/>
              </a:rPr>
              <a:t>LOCALIZE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74536" y="4151376"/>
            <a:ext cx="493776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JP production partners</a:t>
            </a:r>
          </a:p>
          <a:p>
            <a:pPr algn="l">
              <a:lnSpc>
                <a:spcPct val="106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D2D2D7"/>
                </a:solidFill>
                <a:latin typeface="Arial"/>
              </a:rPr>
              <a:t>Seeking Japanese technical partners for licensed production of TRL-9 Type-5 tanks in Japan. BLK3-for-Japan production commences upon international approvals (incl. U.S. export), with potential reallocation of U.S. BLK3 assets to match the speed of those approvals.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_exos_white_of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02920"/>
            <a:ext cx="1589634" cy="548640"/>
          </a:xfrm>
          <a:prstGeom prst="rect">
            <a:avLst/>
          </a:prstGeom>
        </p:spPr>
      </p:pic>
      <p:pic>
        <p:nvPicPr>
          <p:cNvPr id="5" name="Picture 4" descr="_spaceavailabl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0" y="566928"/>
            <a:ext cx="2103120" cy="1799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23317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26A21"/>
                </a:solidFill>
                <a:latin typeface="Arial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38328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26A21"/>
                </a:solidFill>
                <a:latin typeface="Arial"/>
              </a:rPr>
              <a:t>▪  </a:t>
            </a:r>
            <a:r>
              <a:rPr sz="1700" b="0">
                <a:solidFill>
                  <a:srgbClr val="D2D2D7"/>
                </a:solidFill>
                <a:latin typeface="Arial"/>
              </a:rPr>
              <a:t>We are honored to explore this partnership with the Japanese space community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F26A21"/>
                </a:solidFill>
                <a:latin typeface="Arial"/>
              </a:rPr>
              <a:t>▪  </a:t>
            </a:r>
            <a:r>
              <a:rPr sz="1700" b="0">
                <a:solidFill>
                  <a:srgbClr val="D2D2D7"/>
                </a:solidFill>
                <a:latin typeface="Arial"/>
              </a:rPr>
              <a:t>Reusable space capability and lunar-proven tank technology — built in Japan, together with Japan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F26A21"/>
                </a:solidFill>
                <a:latin typeface="Arial"/>
              </a:rPr>
              <a:t>▪  </a:t>
            </a:r>
            <a:r>
              <a:rPr sz="1700" b="0">
                <a:solidFill>
                  <a:srgbClr val="D2D2D7"/>
                </a:solidFill>
                <a:latin typeface="Arial"/>
              </a:rPr>
              <a:t>We warmly invite investors and technical partners to build it with us — office opening 2026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F26A21"/>
                </a:solidFill>
                <a:latin typeface="Arial"/>
              </a:rPr>
              <a:t>▪  </a:t>
            </a:r>
            <a:r>
              <a:rPr sz="1700" b="0">
                <a:solidFill>
                  <a:srgbClr val="D2D2D7"/>
                </a:solidFill>
                <a:latin typeface="Arial"/>
              </a:rPr>
              <a:t>Contact: Toshi Kumazawa · toshihisa@exosaero.com  ·  John Quinn, Co-founder &amp; CEO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