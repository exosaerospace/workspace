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82880" y="45720"/>
            <a:ext cx="859536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Arial"/>
              </a:rPr>
              <a:t>Exos Aerospace Systems &amp; Technologies, Inc.  |  Project GUNGNIR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" y="429768"/>
            <a:ext cx="9509760" cy="4114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FFFFFF"/>
                </a:solidFill>
                <a:latin typeface="Arial"/>
              </a:rPr>
              <a:t>Refuel · Relight · Reuse: In-Space Refueling + Storable-Propellant RDRE Flight Demo for Fast Transfer Vehicles (FTV/OTV)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778240" y="73152"/>
            <a:ext cx="3246120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>
              <a:spcAft>
                <a:spcPts val="20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AF TACFI  |  SBIR Phase II FA9300-25-C-6022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778240" y="457200"/>
            <a:ext cx="324612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>
              <a:spcAft>
                <a:spcPts val="200"/>
              </a:spcAft>
            </a:pPr>
            <a:r>
              <a:rPr sz="850" b="0">
                <a:solidFill>
                  <a:srgbClr val="FFFFFF"/>
                </a:solidFill>
                <a:latin typeface="Arial"/>
              </a:rPr>
              <a:t>Focus: Space Mobility &amp; Logistics / in-space propulsion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669280" y="914400"/>
            <a:ext cx="0" cy="5559552"/>
          </a:xfrm>
          <a:prstGeom prst="line">
            <a:avLst/>
          </a:prstGeom>
          <a:ln w="15875">
            <a:solidFill>
              <a:srgbClr val="1B3A5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91440" y="3611880"/>
            <a:ext cx="12006072" cy="0"/>
          </a:xfrm>
          <a:prstGeom prst="line">
            <a:avLst/>
          </a:prstGeom>
          <a:ln w="15875">
            <a:solidFill>
              <a:srgbClr val="1B3A5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9" name="Picture 8" descr="blk3_hov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960120"/>
            <a:ext cx="3169920" cy="178308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82880" y="2743200"/>
            <a:ext cx="3200400" cy="201168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Aft>
                <a:spcPts val="200"/>
              </a:spcAft>
            </a:pPr>
            <a:r>
              <a:rPr sz="700" b="0">
                <a:solidFill>
                  <a:srgbClr val="404040"/>
                </a:solidFill>
                <a:latin typeface="Arial"/>
              </a:rPr>
              <a:t>BLK3 reusable VTVL vehicle — tethered hover test, Greenville TX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429000" y="960120"/>
            <a:ext cx="2194560" cy="2286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1">
                <a:solidFill>
                  <a:srgbClr val="1B3A5C"/>
                </a:solidFill>
                <a:latin typeface="Arial"/>
              </a:rPr>
              <a:t>Concept of Operations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429000" y="1234440"/>
            <a:ext cx="2148840" cy="347472"/>
          </a:xfrm>
          <a:prstGeom prst="rect">
            <a:avLst/>
          </a:prstGeom>
          <a:solidFill>
            <a:srgbClr val="E8EE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447288" y="1243584"/>
            <a:ext cx="2130552" cy="329184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spcAft>
                <a:spcPts val="200"/>
              </a:spcAft>
            </a:pPr>
            <a:r>
              <a:rPr sz="850" b="1">
                <a:solidFill>
                  <a:srgbClr val="1E1E1E"/>
                </a:solidFill>
                <a:latin typeface="Arial"/>
              </a:rPr>
              <a:t>1  Hover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429000" y="1636776"/>
            <a:ext cx="2148840" cy="347472"/>
          </a:xfrm>
          <a:prstGeom prst="rect">
            <a:avLst/>
          </a:prstGeom>
          <a:solidFill>
            <a:srgbClr val="E8EE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447288" y="1645920"/>
            <a:ext cx="2130552" cy="329184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spcAft>
                <a:spcPts val="200"/>
              </a:spcAft>
            </a:pPr>
            <a:r>
              <a:rPr sz="850" b="1">
                <a:solidFill>
                  <a:srgbClr val="1E1E1E"/>
                </a:solidFill>
                <a:latin typeface="Arial"/>
              </a:rPr>
              <a:t>2  Flight to 100 km+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429000" y="2039112"/>
            <a:ext cx="2148840" cy="347472"/>
          </a:xfrm>
          <a:prstGeom prst="rect">
            <a:avLst/>
          </a:prstGeom>
          <a:solidFill>
            <a:srgbClr val="C86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447288" y="2048256"/>
            <a:ext cx="2130552" cy="329184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spcAft>
                <a:spcPts val="200"/>
              </a:spcAft>
            </a:pPr>
            <a:r>
              <a:rPr sz="850" b="1">
                <a:solidFill>
                  <a:srgbClr val="FFFFFF"/>
                </a:solidFill>
                <a:latin typeface="Arial"/>
              </a:rPr>
              <a:t>3  In-space: RDRE fire + restart
    &amp; µg propellant transfer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429000" y="2441448"/>
            <a:ext cx="2148840" cy="347472"/>
          </a:xfrm>
          <a:prstGeom prst="rect">
            <a:avLst/>
          </a:prstGeom>
          <a:solidFill>
            <a:srgbClr val="E8EE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447288" y="2450592"/>
            <a:ext cx="2130552" cy="329184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spcAft>
                <a:spcPts val="200"/>
              </a:spcAft>
            </a:pPr>
            <a:r>
              <a:rPr sz="850" b="1">
                <a:solidFill>
                  <a:srgbClr val="1E1E1E"/>
                </a:solidFill>
                <a:latin typeface="Arial"/>
              </a:rPr>
              <a:t>4  Land · recover · refly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82880" y="2944368"/>
            <a:ext cx="5440680" cy="6400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Aft>
                <a:spcPts val="200"/>
              </a:spcAft>
            </a:pPr>
            <a:r>
              <a:rPr sz="950" b="1">
                <a:solidFill>
                  <a:srgbClr val="1B3A5C"/>
                </a:solidFill>
                <a:latin typeface="Arial"/>
              </a:rPr>
              <a:t>Space logistics needs FTVs that can be refueled and re-maneuvered on orbit. Exos flies the refueling and propulsion hardware in space, recovers it, and flies it again.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742432" y="914400"/>
            <a:ext cx="6336792" cy="2148840"/>
          </a:xfrm>
          <a:prstGeom prst="rect">
            <a:avLst/>
          </a:prstGeom>
          <a:noFill/>
        </p:spPr>
        <p:txBody>
          <a:bodyPr wrap="square" lIns="45720" rIns="45720" tIns="18288">
            <a:spAutoFit/>
          </a:bodyPr>
          <a:lstStyle/>
          <a:p>
            <a:pPr>
              <a:spcBef>
                <a:spcPts val="300"/>
              </a:spcBef>
              <a:spcAft>
                <a:spcPts val="100"/>
              </a:spcAft>
            </a:pPr>
            <a:r>
              <a:rPr sz="910" b="1">
                <a:solidFill>
                  <a:srgbClr val="1B3A5C"/>
                </a:solidFill>
                <a:latin typeface="Arial"/>
              </a:rPr>
              <a:t>Objective</a:t>
            </a:r>
          </a:p>
          <a:p>
            <a:pPr>
              <a:spcAft>
                <a:spcPts val="150"/>
              </a:spcAft>
            </a:pPr>
            <a:r>
              <a:rPr sz="860" b="0">
                <a:solidFill>
                  <a:srgbClr val="1E1E1E"/>
                </a:solidFill>
                <a:latin typeface="Arial"/>
              </a:rPr>
              <a:t>• Fly a </a:t>
            </a:r>
            <a:r>
              <a:rPr sz="860" b="1">
                <a:solidFill>
                  <a:srgbClr val="1E1E1E"/>
                </a:solidFill>
                <a:latin typeface="Arial"/>
              </a:rPr>
              <a:t>non-cryogenic (storable) RDRE</a:t>
            </a:r>
            <a:r>
              <a:rPr sz="860" b="0">
                <a:solidFill>
                  <a:srgbClr val="1E1E1E"/>
                </a:solidFill>
                <a:latin typeface="Arial"/>
              </a:rPr>
              <a:t> on the reusable BLK3 vehicle: hover → flights to 100 km+ → </a:t>
            </a:r>
            <a:r>
              <a:rPr sz="860" b="1">
                <a:solidFill>
                  <a:srgbClr val="1E1E1E"/>
                </a:solidFill>
                <a:latin typeface="Arial"/>
              </a:rPr>
              <a:t>in-space ignition, restart and pulsing</a:t>
            </a:r>
            <a:r>
              <a:rPr sz="860" b="0">
                <a:solidFill>
                  <a:srgbClr val="1E1E1E"/>
                </a:solidFill>
                <a:latin typeface="Arial"/>
              </a:rPr>
              <a:t>.</a:t>
            </a:r>
          </a:p>
          <a:p>
            <a:pPr>
              <a:spcAft>
                <a:spcPts val="150"/>
              </a:spcAft>
            </a:pPr>
            <a:r>
              <a:rPr sz="860" b="0">
                <a:solidFill>
                  <a:srgbClr val="1E1E1E"/>
                </a:solidFill>
                <a:latin typeface="Arial"/>
              </a:rPr>
              <a:t>• Same campaign: </a:t>
            </a:r>
            <a:r>
              <a:rPr sz="860" b="1">
                <a:solidFill>
                  <a:srgbClr val="1E1E1E"/>
                </a:solidFill>
                <a:latin typeface="Arial"/>
              </a:rPr>
              <a:t>tank-to-tank storable-propellant transfer in microgravity</a:t>
            </a:r>
            <a:r>
              <a:rPr sz="860" b="0">
                <a:solidFill>
                  <a:srgbClr val="1E1E1E"/>
                </a:solidFill>
                <a:latin typeface="Arial"/>
              </a:rPr>
              <a:t>, the refueling function FTVs and depots need.</a:t>
            </a:r>
          </a:p>
          <a:p>
            <a:pPr>
              <a:spcBef>
                <a:spcPts val="300"/>
              </a:spcBef>
              <a:spcAft>
                <a:spcPts val="100"/>
              </a:spcAft>
            </a:pPr>
            <a:r>
              <a:rPr sz="910" b="1">
                <a:solidFill>
                  <a:srgbClr val="1B3A5C"/>
                </a:solidFill>
                <a:latin typeface="Arial"/>
              </a:rPr>
              <a:t>Innovation</a:t>
            </a:r>
          </a:p>
          <a:p>
            <a:pPr>
              <a:spcAft>
                <a:spcPts val="150"/>
              </a:spcAft>
            </a:pPr>
            <a:r>
              <a:rPr sz="860" b="0">
                <a:solidFill>
                  <a:srgbClr val="1E1E1E"/>
                </a:solidFill>
                <a:latin typeface="Arial"/>
              </a:rPr>
              <a:t>• Recoverable </a:t>
            </a:r>
            <a:r>
              <a:rPr sz="860" b="1">
                <a:solidFill>
                  <a:srgbClr val="1E1E1E"/>
                </a:solidFill>
                <a:latin typeface="Arial"/>
              </a:rPr>
              <a:t>in-space</a:t>
            </a:r>
            <a:r>
              <a:rPr sz="860" b="0">
                <a:solidFill>
                  <a:srgbClr val="1E1E1E"/>
                </a:solidFill>
                <a:latin typeface="Arial"/>
              </a:rPr>
              <a:t> test of refueling + detonation propulsion: vacuum ignition/restart and µg feed/transfer can't be done on a ground stand.</a:t>
            </a:r>
          </a:p>
          <a:p>
            <a:pPr>
              <a:spcAft>
                <a:spcPts val="150"/>
              </a:spcAft>
            </a:pPr>
            <a:r>
              <a:rPr sz="860" b="0">
                <a:solidFill>
                  <a:srgbClr val="1E1E1E"/>
                </a:solidFill>
                <a:latin typeface="Arial"/>
              </a:rPr>
              <a:t>• </a:t>
            </a:r>
            <a:r>
              <a:rPr sz="860" b="1">
                <a:solidFill>
                  <a:srgbClr val="1E1E1E"/>
                </a:solidFill>
                <a:latin typeface="Arial"/>
              </a:rPr>
              <a:t>Beyond HVRR/Hermes</a:t>
            </a:r>
            <a:r>
              <a:rPr sz="860" b="0">
                <a:solidFill>
                  <a:srgbClr val="1E1E1E"/>
                </a:solidFill>
                <a:latin typeface="Arial"/>
              </a:rPr>
              <a:t> (atmospheric VTVL hops): GUNGNIR takes the RDRE to vacuum, coupled to µg refueling. Reusable = repeated in-space test points.</a:t>
            </a:r>
          </a:p>
          <a:p>
            <a:pPr>
              <a:spcBef>
                <a:spcPts val="300"/>
              </a:spcBef>
              <a:spcAft>
                <a:spcPts val="100"/>
              </a:spcAft>
            </a:pPr>
            <a:r>
              <a:rPr sz="910" b="1">
                <a:solidFill>
                  <a:srgbClr val="1B3A5C"/>
                </a:solidFill>
                <a:latin typeface="Arial"/>
              </a:rPr>
              <a:t>Operational Impact</a:t>
            </a:r>
          </a:p>
          <a:p>
            <a:pPr>
              <a:spcAft>
                <a:spcPts val="150"/>
              </a:spcAft>
            </a:pPr>
            <a:r>
              <a:rPr sz="860" b="0">
                <a:solidFill>
                  <a:srgbClr val="1E1E1E"/>
                </a:solidFill>
                <a:latin typeface="Arial"/>
              </a:rPr>
              <a:t>• Refuelable FTVs = </a:t>
            </a:r>
            <a:r>
              <a:rPr sz="860" b="1">
                <a:solidFill>
                  <a:srgbClr val="1E1E1E"/>
                </a:solidFill>
                <a:latin typeface="Arial"/>
              </a:rPr>
              <a:t>maneuver without regret</a:t>
            </a:r>
            <a:r>
              <a:rPr sz="860" b="0">
                <a:solidFill>
                  <a:srgbClr val="1E1E1E"/>
                </a:solidFill>
                <a:latin typeface="Arial"/>
              </a:rPr>
              <a:t> for USSF mobility &amp; logistics; refuel and service on orbit instead of reentry disposal; stations as </a:t>
            </a:r>
            <a:r>
              <a:rPr sz="860" b="1">
                <a:solidFill>
                  <a:srgbClr val="1E1E1E"/>
                </a:solidFill>
                <a:latin typeface="Arial"/>
              </a:rPr>
              <a:t>refueling depots</a:t>
            </a:r>
            <a:r>
              <a:rPr sz="860" b="0">
                <a:solidFill>
                  <a:srgbClr val="1E1E1E"/>
                </a:solidFill>
                <a:latin typeface="Arial"/>
              </a:rPr>
              <a:t>.</a:t>
            </a:r>
          </a:p>
          <a:p>
            <a:pPr>
              <a:spcBef>
                <a:spcPts val="300"/>
              </a:spcBef>
              <a:spcAft>
                <a:spcPts val="100"/>
              </a:spcAft>
            </a:pPr>
            <a:r>
              <a:rPr sz="910" b="1">
                <a:solidFill>
                  <a:srgbClr val="1B3A5C"/>
                </a:solidFill>
                <a:latin typeface="Arial"/>
              </a:rPr>
              <a:t>Deliverables</a:t>
            </a:r>
          </a:p>
          <a:p>
            <a:pPr>
              <a:spcAft>
                <a:spcPts val="150"/>
              </a:spcAft>
            </a:pPr>
            <a:r>
              <a:rPr sz="860" b="0">
                <a:solidFill>
                  <a:srgbClr val="1E1E1E"/>
                </a:solidFill>
                <a:latin typeface="Arial"/>
              </a:rPr>
              <a:t>• 1 hover + 2 flights to 100 km+ (in-space RDRE firings + µg transfer); flight dataset (thrust, Isp, restart, transfer) + final report.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742432" y="3072384"/>
            <a:ext cx="6336792" cy="2286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Aft>
                <a:spcPts val="200"/>
              </a:spcAft>
            </a:pPr>
            <a:r>
              <a:rPr sz="850" b="1">
                <a:solidFill>
                  <a:srgbClr val="1E1E1E"/>
                </a:solidFill>
                <a:latin typeface="Arial"/>
              </a:rPr>
              <a:t>End User:</a:t>
            </a:r>
            <a:r>
              <a:rPr sz="850" b="0">
                <a:solidFill>
                  <a:srgbClr val="1E1E1E"/>
                </a:solidFill>
                <a:latin typeface="Arial"/>
              </a:rPr>
              <a:t> AFRL/RJPE (Edwards)  ·  </a:t>
            </a:r>
            <a:r>
              <a:rPr sz="850" b="1">
                <a:solidFill>
                  <a:srgbClr val="1E1E1E"/>
                </a:solidFill>
                <a:latin typeface="Arial"/>
              </a:rPr>
              <a:t>Customer:</a:t>
            </a:r>
            <a:r>
              <a:rPr sz="850" b="0">
                <a:solidFill>
                  <a:srgbClr val="1E1E1E"/>
                </a:solidFill>
                <a:latin typeface="Arial"/>
              </a:rPr>
              <a:t> AFRL — Dr. M. Harvazinski; J. Burr (RDRE lead)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742432" y="3291840"/>
            <a:ext cx="6336792" cy="310896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Aft>
                <a:spcPts val="200"/>
              </a:spcAft>
            </a:pPr>
            <a:r>
              <a:rPr sz="720" b="0">
                <a:solidFill>
                  <a:srgbClr val="404040"/>
                </a:solidFill>
                <a:latin typeface="Arial"/>
              </a:rPr>
              <a:t>Engine: government-furnished / candidate storable RDRE (GTL-built), selected by program trade study. Tanks: Type V composite heritage (Scorpius, flew on IM Odysseus &amp; Athena).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82880" y="3657600"/>
            <a:ext cx="5394960" cy="2286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1">
                <a:solidFill>
                  <a:srgbClr val="1B3A5C"/>
                </a:solidFill>
                <a:latin typeface="Arial"/>
              </a:rPr>
              <a:t>Integrated Cost and Schedule ($M)</a:t>
            </a:r>
          </a:p>
        </p:txBody>
      </p:sp>
      <p:graphicFrame>
        <p:nvGraphicFramePr>
          <p:cNvPr id="25" name="Table 24"/>
          <p:cNvGraphicFramePr>
            <a:graphicFrameLocks noGrp="1"/>
          </p:cNvGraphicFramePr>
          <p:nvPr/>
        </p:nvGraphicFramePr>
        <p:xfrm>
          <a:off x="182880" y="3913632"/>
          <a:ext cx="5394960" cy="1737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63240"/>
                <a:gridCol w="777240"/>
                <a:gridCol w="777240"/>
                <a:gridCol w="777240"/>
              </a:tblGrid>
              <a:tr h="248194"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$M</a:t>
                      </a:r>
                    </a:p>
                  </a:txBody>
                  <a:tcPr marT="9144" marB="9144"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Year 1</a:t>
                      </a:r>
                    </a:p>
                  </a:txBody>
                  <a:tcPr marT="9144" marB="9144"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Year 2</a:t>
                      </a:r>
                    </a:p>
                  </a:txBody>
                  <a:tcPr marT="9144" marB="9144"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T="9144" marB="9144">
                    <a:solidFill>
                      <a:srgbClr val="1B3A5C"/>
                    </a:solidFill>
                  </a:tcPr>
                </a:tc>
              </a:tr>
              <a:tr h="248194"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1E1E1E"/>
                          </a:solidFill>
                          <a:latin typeface="Arial"/>
                        </a:rPr>
                        <a:t>Dev: integration, storable feed + transfer module</a:t>
                      </a:r>
                    </a:p>
                  </a:txBody>
                  <a:tcPr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1E1E1E"/>
                          </a:solidFill>
                          <a:latin typeface="Arial"/>
                        </a:rPr>
                        <a:t>1.4</a:t>
                      </a:r>
                    </a:p>
                  </a:txBody>
                  <a:tcPr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1E1E1E"/>
                          </a:solidFill>
                          <a:latin typeface="Arial"/>
                        </a:rPr>
                        <a:t>0.3</a:t>
                      </a:r>
                    </a:p>
                  </a:txBody>
                  <a:tcPr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1E1E1E"/>
                          </a:solidFill>
                          <a:latin typeface="Arial"/>
                        </a:rPr>
                        <a:t>1.7</a:t>
                      </a:r>
                    </a:p>
                  </a:txBody>
                  <a:tcPr marT="9144" marB="9144">
                    <a:solidFill>
                      <a:srgbClr val="FFFFFF"/>
                    </a:solidFill>
                  </a:tcPr>
                </a:tc>
              </a:tr>
              <a:tr h="248194"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1E1E1E"/>
                          </a:solidFill>
                          <a:latin typeface="Arial"/>
                        </a:rPr>
                        <a:t>Prototype: hover test</a:t>
                      </a:r>
                    </a:p>
                  </a:txBody>
                  <a:tcPr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1E1E1E"/>
                          </a:solidFill>
                          <a:latin typeface="Arial"/>
                        </a:rPr>
                        <a:t>0.6</a:t>
                      </a:r>
                    </a:p>
                  </a:txBody>
                  <a:tcPr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1E1E1E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1E1E1E"/>
                          </a:solidFill>
                          <a:latin typeface="Arial"/>
                        </a:rPr>
                        <a:t>0.6</a:t>
                      </a:r>
                    </a:p>
                  </a:txBody>
                  <a:tcPr marT="9144" marB="9144">
                    <a:solidFill>
                      <a:srgbClr val="FFFFFF"/>
                    </a:solidFill>
                  </a:tcPr>
                </a:tc>
              </a:tr>
              <a:tr h="248194"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1E1E1E"/>
                          </a:solidFill>
                          <a:latin typeface="Arial"/>
                        </a:rPr>
                        <a:t>Test flights: in-space fire/restart + µg transfer</a:t>
                      </a:r>
                    </a:p>
                  </a:txBody>
                  <a:tcPr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1E1E1E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1E1E1E"/>
                          </a:solidFill>
                          <a:latin typeface="Arial"/>
                        </a:rPr>
                        <a:t>1.7</a:t>
                      </a:r>
                    </a:p>
                  </a:txBody>
                  <a:tcPr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1E1E1E"/>
                          </a:solidFill>
                          <a:latin typeface="Arial"/>
                        </a:rPr>
                        <a:t>1.7</a:t>
                      </a:r>
                    </a:p>
                  </a:txBody>
                  <a:tcPr marT="9144" marB="9144">
                    <a:solidFill>
                      <a:srgbClr val="FFFFFF"/>
                    </a:solidFill>
                  </a:tcPr>
                </a:tc>
              </a:tr>
              <a:tr h="248194"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1E1E1E"/>
                          </a:solidFill>
                          <a:latin typeface="Arial"/>
                        </a:rPr>
                        <a:t>TACFI (SBIR/federal)</a:t>
                      </a:r>
                    </a:p>
                  </a:txBody>
                  <a:tcPr marT="9144" marB="9144">
                    <a:solidFill>
                      <a:srgbClr val="E8EE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1E1E1E"/>
                          </a:solidFill>
                          <a:latin typeface="Arial"/>
                        </a:rPr>
                        <a:t>1.0</a:t>
                      </a:r>
                    </a:p>
                  </a:txBody>
                  <a:tcPr marT="9144" marB="9144">
                    <a:solidFill>
                      <a:srgbClr val="E8EE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1E1E1E"/>
                          </a:solidFill>
                          <a:latin typeface="Arial"/>
                        </a:rPr>
                        <a:t>1.0</a:t>
                      </a:r>
                    </a:p>
                  </a:txBody>
                  <a:tcPr marT="9144" marB="9144">
                    <a:solidFill>
                      <a:srgbClr val="E8EE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1E1E1E"/>
                          </a:solidFill>
                          <a:latin typeface="Arial"/>
                        </a:rPr>
                        <a:t>2.0</a:t>
                      </a:r>
                    </a:p>
                  </a:txBody>
                  <a:tcPr marT="9144" marB="9144">
                    <a:solidFill>
                      <a:srgbClr val="E8EEF4"/>
                    </a:solidFill>
                  </a:tcPr>
                </a:tc>
              </a:tr>
              <a:tr h="248194"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1E1E1E"/>
                          </a:solidFill>
                          <a:latin typeface="Arial"/>
                        </a:rPr>
                        <a:t>Match: Texas Space Commission (SEARF)*</a:t>
                      </a:r>
                    </a:p>
                  </a:txBody>
                  <a:tcPr marT="9144" marB="9144">
                    <a:solidFill>
                      <a:srgbClr val="E8EE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1E1E1E"/>
                          </a:solidFill>
                          <a:latin typeface="Arial"/>
                        </a:rPr>
                        <a:t>1.0</a:t>
                      </a:r>
                    </a:p>
                  </a:txBody>
                  <a:tcPr marT="9144" marB="9144">
                    <a:solidFill>
                      <a:srgbClr val="E8EE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1E1E1E"/>
                          </a:solidFill>
                          <a:latin typeface="Arial"/>
                        </a:rPr>
                        <a:t>1.0</a:t>
                      </a:r>
                    </a:p>
                  </a:txBody>
                  <a:tcPr marT="9144" marB="9144">
                    <a:solidFill>
                      <a:srgbClr val="E8EE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1E1E1E"/>
                          </a:solidFill>
                          <a:latin typeface="Arial"/>
                        </a:rPr>
                        <a:t>2.0</a:t>
                      </a:r>
                    </a:p>
                  </a:txBody>
                  <a:tcPr marT="9144" marB="9144">
                    <a:solidFill>
                      <a:srgbClr val="E8EEF4"/>
                    </a:solidFill>
                  </a:tcPr>
                </a:tc>
              </a:tr>
              <a:tr h="248196"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solidFill>
                            <a:srgbClr val="1E1E1E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T="9144" marB="9144">
                    <a:solidFill>
                      <a:srgbClr val="E8EE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1E1E1E"/>
                          </a:solidFill>
                          <a:latin typeface="Arial"/>
                        </a:rPr>
                        <a:t>2.0</a:t>
                      </a:r>
                    </a:p>
                  </a:txBody>
                  <a:tcPr marT="9144" marB="9144">
                    <a:solidFill>
                      <a:srgbClr val="E8EE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1E1E1E"/>
                          </a:solidFill>
                          <a:latin typeface="Arial"/>
                        </a:rPr>
                        <a:t>2.0</a:t>
                      </a:r>
                    </a:p>
                  </a:txBody>
                  <a:tcPr marT="9144" marB="9144">
                    <a:solidFill>
                      <a:srgbClr val="E8EE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1E1E1E"/>
                          </a:solidFill>
                          <a:latin typeface="Arial"/>
                        </a:rPr>
                        <a:t>4.0</a:t>
                      </a:r>
                    </a:p>
                  </a:txBody>
                  <a:tcPr marT="9144" marB="9144">
                    <a:solidFill>
                      <a:srgbClr val="E8EEF4"/>
                    </a:solidFill>
                  </a:tcPr>
                </a:tc>
              </a:tr>
            </a:tbl>
          </a:graphicData>
        </a:graphic>
      </p:graphicFrame>
      <p:sp>
        <p:nvSpPr>
          <p:cNvPr id="26" name="TextBox 25"/>
          <p:cNvSpPr txBox="1"/>
          <p:nvPr/>
        </p:nvSpPr>
        <p:spPr>
          <a:xfrm>
            <a:off x="182880" y="5687568"/>
            <a:ext cx="539496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Aft>
                <a:spcPts val="200"/>
              </a:spcAft>
            </a:pPr>
            <a:r>
              <a:rPr sz="780" b="1">
                <a:solidFill>
                  <a:srgbClr val="1E1E1E"/>
                </a:solidFill>
                <a:latin typeface="Arial"/>
              </a:rPr>
              <a:t>Milestones:</a:t>
            </a:r>
            <a:r>
              <a:rPr sz="780" b="0">
                <a:solidFill>
                  <a:srgbClr val="1E1E1E"/>
                </a:solidFill>
                <a:latin typeface="Arial"/>
              </a:rPr>
              <a:t> M1 PDR (Q1) · M2 CDR (Q2) · M3 Hover (Q4) · M4 Flight 1: in-space RDRE fire (Q5) · M5 µg transfer demo (Q6) · M6 Flight 2: restart/pulse + final report (Q8)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82880" y="6172200"/>
            <a:ext cx="5394960" cy="292608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Aft>
                <a:spcPts val="200"/>
              </a:spcAft>
            </a:pPr>
            <a:r>
              <a:rPr sz="680" b="0">
                <a:solidFill>
                  <a:srgbClr val="404040"/>
                </a:solidFill>
                <a:latin typeface="Arial"/>
              </a:rPr>
              <a:t>*TSC board meets 11 Dec 2026; match subject to board approval and TACFI selection. Year splits are planning estimates.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742432" y="3657600"/>
            <a:ext cx="6309360" cy="2286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1">
                <a:solidFill>
                  <a:srgbClr val="1B3A5C"/>
                </a:solidFill>
                <a:latin typeface="Arial"/>
              </a:rPr>
              <a:t>Success &amp; Transition (DoD)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742432" y="3904487"/>
            <a:ext cx="630936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Aft>
                <a:spcPts val="200"/>
              </a:spcAft>
            </a:pPr>
            <a:r>
              <a:rPr sz="860" b="1">
                <a:solidFill>
                  <a:srgbClr val="1E1E1E"/>
                </a:solidFill>
                <a:latin typeface="Arial"/>
              </a:rPr>
              <a:t>Success:</a:t>
            </a:r>
            <a:r>
              <a:rPr sz="860" b="0">
                <a:solidFill>
                  <a:srgbClr val="1E1E1E"/>
                </a:solidFill>
                <a:latin typeface="Arial"/>
              </a:rPr>
              <a:t> storable-RDRE ignition and restart in space, plus a µg propellant transfer, both recovered and reflown, with the flight dataset delivered to AFRL. No NASA dollars required; the path is DoD-only.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760720" y="4370832"/>
            <a:ext cx="292608" cy="365760"/>
          </a:xfrm>
          <a:prstGeom prst="rect">
            <a:avLst/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760720" y="4370832"/>
            <a:ext cx="292608" cy="36576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spcAft>
                <a:spcPts val="2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099048" y="4352544"/>
            <a:ext cx="4480560" cy="420624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Aft>
                <a:spcPts val="200"/>
              </a:spcAft>
            </a:pPr>
            <a:r>
              <a:rPr sz="810" b="1">
                <a:solidFill>
                  <a:srgbClr val="1E1E1E"/>
                </a:solidFill>
                <a:latin typeface="Arial"/>
              </a:rPr>
              <a:t>Now: SSC SML In-Domain Orbital Logistics Challenge</a:t>
            </a:r>
            <a:r>
              <a:rPr sz="810" b="0">
                <a:solidFill>
                  <a:srgbClr val="1E1E1E"/>
                </a:solidFill>
                <a:latin typeface="Arial"/>
              </a:rPr>
              <a:t> — concept paper on propellant management, tank refuelability and FTV integration (Q4 CY26)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607040" y="4352544"/>
            <a:ext cx="1508760" cy="420624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>
              <a:spcAft>
                <a:spcPts val="200"/>
              </a:spcAft>
            </a:pPr>
            <a:r>
              <a:rPr sz="800" b="1">
                <a:solidFill>
                  <a:srgbClr val="1B3A5C"/>
                </a:solidFill>
                <a:latin typeface="Arial"/>
              </a:rPr>
              <a:t>share of $20M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760720" y="4800600"/>
            <a:ext cx="292608" cy="365760"/>
          </a:xfrm>
          <a:prstGeom prst="rect">
            <a:avLst/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760720" y="4800600"/>
            <a:ext cx="292608" cy="36576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spcAft>
                <a:spcPts val="2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099048" y="4782312"/>
            <a:ext cx="4480560" cy="420624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Aft>
                <a:spcPts val="200"/>
              </a:spcAft>
            </a:pPr>
            <a:r>
              <a:rPr sz="810" b="1">
                <a:solidFill>
                  <a:srgbClr val="1E1E1E"/>
                </a:solidFill>
                <a:latin typeface="Arial"/>
              </a:rPr>
              <a:t>TACFI on FA9300-25-C-6022</a:t>
            </a:r>
            <a:r>
              <a:rPr sz="810" b="0">
                <a:solidFill>
                  <a:srgbClr val="1E1E1E"/>
                </a:solidFill>
                <a:latin typeface="Arial"/>
              </a:rPr>
              <a:t> — resumes when guidance issues; sponsor AFRL/RQ Rocket Propulsion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607040" y="4782312"/>
            <a:ext cx="1508760" cy="420624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>
              <a:spcAft>
                <a:spcPts val="200"/>
              </a:spcAft>
            </a:pPr>
            <a:r>
              <a:rPr sz="800" b="1">
                <a:solidFill>
                  <a:srgbClr val="1B3A5C"/>
                </a:solidFill>
                <a:latin typeface="Arial"/>
              </a:rPr>
              <a:t>$2M + $2M TSC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760720" y="5230368"/>
            <a:ext cx="292608" cy="365760"/>
          </a:xfrm>
          <a:prstGeom prst="rect">
            <a:avLst/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760720" y="5230368"/>
            <a:ext cx="292608" cy="36576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spcAft>
                <a:spcPts val="2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099048" y="5212080"/>
            <a:ext cx="4480560" cy="420624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Aft>
                <a:spcPts val="200"/>
              </a:spcAft>
            </a:pPr>
            <a:r>
              <a:rPr sz="810" b="1">
                <a:solidFill>
                  <a:srgbClr val="1E1E1E"/>
                </a:solidFill>
                <a:latin typeface="Arial"/>
              </a:rPr>
              <a:t>Sole-source SBIR Phase III (15 USC 638(r))</a:t>
            </a:r>
            <a:r>
              <a:rPr sz="810" b="0">
                <a:solidFill>
                  <a:srgbClr val="1E1E1E"/>
                </a:solidFill>
                <a:latin typeface="Arial"/>
              </a:rPr>
              <a:t> — AFRL/RQ + RV, bridged by the SPRINT BAA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607040" y="5212080"/>
            <a:ext cx="1508760" cy="420624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>
              <a:spcAft>
                <a:spcPts val="200"/>
              </a:spcAft>
            </a:pPr>
            <a:r>
              <a:rPr sz="800" b="1">
                <a:solidFill>
                  <a:srgbClr val="1B3A5C"/>
                </a:solidFill>
                <a:latin typeface="Arial"/>
              </a:rPr>
              <a:t>$2–10M</a:t>
            </a:r>
          </a:p>
        </p:txBody>
      </p:sp>
      <p:sp>
        <p:nvSpPr>
          <p:cNvPr id="42" name="Rectangle 41"/>
          <p:cNvSpPr/>
          <p:nvPr/>
        </p:nvSpPr>
        <p:spPr>
          <a:xfrm>
            <a:off x="5760720" y="5660136"/>
            <a:ext cx="292608" cy="365760"/>
          </a:xfrm>
          <a:prstGeom prst="rect">
            <a:avLst/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5760720" y="5660136"/>
            <a:ext cx="292608" cy="36576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spcAft>
                <a:spcPts val="2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099048" y="5641848"/>
            <a:ext cx="4480560" cy="420624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Aft>
                <a:spcPts val="200"/>
              </a:spcAft>
            </a:pPr>
            <a:r>
              <a:rPr sz="810" b="1">
                <a:solidFill>
                  <a:srgbClr val="1E1E1E"/>
                </a:solidFill>
                <a:latin typeface="Arial"/>
              </a:rPr>
              <a:t>STRATFI Government-Only ($1 SBIR : $2 DoD)</a:t>
            </a:r>
            <a:r>
              <a:rPr sz="810" b="0">
                <a:solidFill>
                  <a:srgbClr val="1E1E1E"/>
                </a:solidFill>
                <a:latin typeface="Arial"/>
              </a:rPr>
              <a:t> — or Strategic Breakthrough (≥20% DoW); SML as match signatory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0607040" y="5641848"/>
            <a:ext cx="1508760" cy="420624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>
              <a:spcAft>
                <a:spcPts val="200"/>
              </a:spcAft>
            </a:pPr>
            <a:r>
              <a:rPr sz="800" b="1">
                <a:solidFill>
                  <a:srgbClr val="1B3A5C"/>
                </a:solidFill>
                <a:latin typeface="Arial"/>
              </a:rPr>
              <a:t>$9–45M</a:t>
            </a:r>
          </a:p>
        </p:txBody>
      </p:sp>
      <p:sp>
        <p:nvSpPr>
          <p:cNvPr id="46" name="Rectangle 45"/>
          <p:cNvSpPr/>
          <p:nvPr/>
        </p:nvSpPr>
        <p:spPr>
          <a:xfrm>
            <a:off x="5760720" y="6089903"/>
            <a:ext cx="292608" cy="365760"/>
          </a:xfrm>
          <a:prstGeom prst="rect">
            <a:avLst/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5760720" y="6089903"/>
            <a:ext cx="292608" cy="36576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spcAft>
                <a:spcPts val="2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099048" y="6071616"/>
            <a:ext cx="4480560" cy="420624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Aft>
                <a:spcPts val="200"/>
              </a:spcAft>
            </a:pPr>
            <a:r>
              <a:rPr sz="810" b="1">
                <a:solidFill>
                  <a:srgbClr val="1E1E1E"/>
                </a:solidFill>
                <a:latin typeface="Arial"/>
              </a:rPr>
              <a:t>SpEC OTA prototype → program of record</a:t>
            </a:r>
            <a:r>
              <a:rPr sz="810" b="0">
                <a:solidFill>
                  <a:srgbClr val="1E1E1E"/>
                </a:solidFill>
                <a:latin typeface="Arial"/>
              </a:rPr>
              <a:t> — SAML PE 1203955SF, RG-XX refuel suppliers, 'high-thrust reusable OTV' (2030–35)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0607040" y="6071616"/>
            <a:ext cx="1508760" cy="420624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>
              <a:spcAft>
                <a:spcPts val="200"/>
              </a:spcAft>
            </a:pPr>
            <a:r>
              <a:rPr sz="800" b="1">
                <a:solidFill>
                  <a:srgbClr val="1B3A5C"/>
                </a:solidFill>
                <a:latin typeface="Arial"/>
              </a:rPr>
              <a:t>$10–60M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82880" y="6510528"/>
            <a:ext cx="10881360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Aft>
                <a:spcPts val="200"/>
              </a:spcAft>
            </a:pPr>
            <a:r>
              <a:rPr sz="700" b="0">
                <a:solidFill>
                  <a:srgbClr val="404040"/>
                </a:solidFill>
                <a:latin typeface="Arial"/>
              </a:rPr>
              <a:t>Distribution: non-proprietary summary. TACFI is subject to selection; nothing is awarded. Exos provides the reusable flight-test platform, integration and propellant-transfer hardware; RDRE hardware is government-furnished or selected by trade study.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1247120" y="6510528"/>
            <a:ext cx="77724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>
              <a:spcAft>
                <a:spcPts val="200"/>
              </a:spcAft>
            </a:pPr>
            <a:r>
              <a:rPr sz="800" b="0">
                <a:solidFill>
                  <a:srgbClr val="404040"/>
                </a:solidFill>
                <a:latin typeface="Arial"/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82880" y="45720"/>
            <a:ext cx="859536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Arial"/>
              </a:rPr>
              <a:t>GUNGNIR — DoD Transition Path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" y="429768"/>
            <a:ext cx="9509760" cy="4114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FFFFFF"/>
                </a:solidFill>
                <a:latin typeface="Arial"/>
              </a:rPr>
              <a:t>DoD-only ladder, no NASA share required. Refueling/logistics leads; storable RDRE is the FTV propulsion enabler.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778240" y="73152"/>
            <a:ext cx="3246120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>
              <a:spcAft>
                <a:spcPts val="20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AF TACFI  |  SBIR Phase II FA9300-25-C-6022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1005840"/>
            <a:ext cx="5760720" cy="5394960"/>
          </a:xfrm>
          <a:prstGeom prst="rect">
            <a:avLst/>
          </a:prstGeom>
          <a:noFill/>
        </p:spPr>
        <p:txBody>
          <a:bodyPr wrap="square" lIns="45720" rIns="45720" tIns="18288">
            <a:spAutoFit/>
          </a:bodyPr>
          <a:lstStyle/>
          <a:p>
            <a:pPr>
              <a:spcBef>
                <a:spcPts val="300"/>
              </a:spcBef>
              <a:spcAft>
                <a:spcPts val="100"/>
              </a:spcAft>
            </a:pPr>
            <a:r>
              <a:rPr sz="1150" b="1">
                <a:solidFill>
                  <a:srgbClr val="1B3A5C"/>
                </a:solidFill>
                <a:latin typeface="Arial"/>
              </a:rPr>
              <a:t>Why refueling leads</a:t>
            </a:r>
          </a:p>
          <a:p>
            <a:pPr>
              <a:spcAft>
                <a:spcPts val="150"/>
              </a:spcAft>
            </a:pPr>
            <a:r>
              <a:rPr sz="1100" b="0">
                <a:solidFill>
                  <a:srgbClr val="1E1E1E"/>
                </a:solidFill>
                <a:latin typeface="Arial"/>
              </a:rPr>
              <a:t>• USSF Objective Force plan (Apr 2026): demonstrate refueling + augmented-maneuver tugs 2025–30; make refueling operational + </a:t>
            </a:r>
            <a:r>
              <a:rPr sz="1100" b="1">
                <a:solidFill>
                  <a:srgbClr val="1E1E1E"/>
                </a:solidFill>
                <a:latin typeface="Arial"/>
              </a:rPr>
              <a:t>high-thrust reusable OTVs</a:t>
            </a:r>
            <a:r>
              <a:rPr sz="1100" b="0">
                <a:solidFill>
                  <a:srgbClr val="1E1E1E"/>
                </a:solidFill>
                <a:latin typeface="Arial"/>
              </a:rPr>
              <a:t> 2030–35; on-orbit logistics architecture 2035–40.</a:t>
            </a:r>
          </a:p>
          <a:p>
            <a:pPr>
              <a:spcAft>
                <a:spcPts val="150"/>
              </a:spcAft>
            </a:pPr>
            <a:r>
              <a:rPr sz="1100" b="0">
                <a:solidFill>
                  <a:srgbClr val="1E1E1E"/>
                </a:solidFill>
                <a:latin typeface="Arial"/>
              </a:rPr>
              <a:t>• USSPACECOM Dynamic Space Operations / </a:t>
            </a:r>
            <a:r>
              <a:rPr sz="1100" b="1">
                <a:solidFill>
                  <a:srgbClr val="1E1E1E"/>
                </a:solidFill>
                <a:latin typeface="Arial"/>
              </a:rPr>
              <a:t>maneuver without regret</a:t>
            </a:r>
            <a:r>
              <a:rPr sz="1100" b="0">
                <a:solidFill>
                  <a:srgbClr val="1E1E1E"/>
                </a:solidFill>
                <a:latin typeface="Arial"/>
              </a:rPr>
              <a:t> needs on-orbit resupply. RG-XX is the first NSS program with a refueling requirement ($355M FY27; &gt;$2.7B over the FYDP).</a:t>
            </a:r>
          </a:p>
          <a:p>
            <a:pPr>
              <a:spcAft>
                <a:spcPts val="150"/>
              </a:spcAft>
            </a:pPr>
            <a:r>
              <a:rPr sz="1100" b="0">
                <a:solidFill>
                  <a:srgbClr val="1E1E1E"/>
                </a:solidFill>
                <a:latin typeface="Arial"/>
              </a:rPr>
              <a:t>• Commercial stations as </a:t>
            </a:r>
            <a:r>
              <a:rPr sz="1100" b="1">
                <a:solidFill>
                  <a:srgbClr val="1E1E1E"/>
                </a:solidFill>
                <a:latin typeface="Arial"/>
              </a:rPr>
              <a:t>refueling depots</a:t>
            </a:r>
            <a:r>
              <a:rPr sz="1100" b="0">
                <a:solidFill>
                  <a:srgbClr val="1E1E1E"/>
                </a:solidFill>
                <a:latin typeface="Arial"/>
              </a:rPr>
              <a:t>: a second revenue line that helps make LEO stations sustainable. SSC's 'orbital warehousing' topic is the closest DoD demand signal today.</a:t>
            </a:r>
          </a:p>
          <a:p>
            <a:pPr>
              <a:spcBef>
                <a:spcPts val="300"/>
              </a:spcBef>
              <a:spcAft>
                <a:spcPts val="100"/>
              </a:spcAft>
            </a:pPr>
            <a:r>
              <a:rPr sz="1150" b="1">
                <a:solidFill>
                  <a:srgbClr val="1B3A5C"/>
                </a:solidFill>
                <a:latin typeface="Arial"/>
              </a:rPr>
              <a:t>Sustainment / environment</a:t>
            </a:r>
          </a:p>
          <a:p>
            <a:pPr>
              <a:spcAft>
                <a:spcPts val="150"/>
              </a:spcAft>
            </a:pPr>
            <a:r>
              <a:rPr sz="1100" b="0">
                <a:solidFill>
                  <a:srgbClr val="1E1E1E"/>
                </a:solidFill>
                <a:latin typeface="Arial"/>
              </a:rPr>
              <a:t>• NOAA WB-57 sampling found spacecraft-reentry metals (Al, Cu, Li, </a:t>
            </a:r>
            <a:r>
              <a:rPr sz="1100" b="1">
                <a:solidFill>
                  <a:srgbClr val="1E1E1E"/>
                </a:solidFill>
                <a:latin typeface="Arial"/>
              </a:rPr>
              <a:t>niobium</a:t>
            </a:r>
            <a:r>
              <a:rPr sz="1100" b="0">
                <a:solidFill>
                  <a:srgbClr val="1E1E1E"/>
                </a:solidFill>
                <a:latin typeface="Arial"/>
              </a:rPr>
              <a:t>, hafnium) in ~10% of stratospheric aerosol particles (Murphy et al., PNAS 2023).</a:t>
            </a:r>
          </a:p>
          <a:p>
            <a:pPr>
              <a:spcAft>
                <a:spcPts val="150"/>
              </a:spcAft>
            </a:pPr>
            <a:r>
              <a:rPr sz="1100" b="0">
                <a:solidFill>
                  <a:srgbClr val="1E1E1E"/>
                </a:solidFill>
                <a:latin typeface="Arial"/>
              </a:rPr>
              <a:t>• Models project mega-constellation reentries could exceed 360 t/yr of alumina, with open questions on ozone and upper-atmosphere effects (GRL 2024; JGR 2025).</a:t>
            </a:r>
          </a:p>
          <a:p>
            <a:pPr>
              <a:spcAft>
                <a:spcPts val="150"/>
              </a:spcAft>
            </a:pPr>
            <a:r>
              <a:rPr sz="1100" b="0">
                <a:solidFill>
                  <a:srgbClr val="1E1E1E"/>
                </a:solidFill>
                <a:latin typeface="Arial"/>
              </a:rPr>
              <a:t>• Refuel, service and reuse on orbit lower the number of vehicles disposed of by reentry, which fits debris rules and the atmospheric concern alike.</a:t>
            </a:r>
          </a:p>
          <a:p>
            <a:pPr>
              <a:spcBef>
                <a:spcPts val="300"/>
              </a:spcBef>
              <a:spcAft>
                <a:spcPts val="100"/>
              </a:spcAft>
            </a:pPr>
            <a:r>
              <a:rPr sz="1150" b="1">
                <a:solidFill>
                  <a:srgbClr val="1B3A5C"/>
                </a:solidFill>
                <a:latin typeface="Arial"/>
              </a:rPr>
              <a:t>Exos role</a:t>
            </a:r>
          </a:p>
          <a:p>
            <a:pPr>
              <a:spcAft>
                <a:spcPts val="150"/>
              </a:spcAft>
            </a:pPr>
            <a:r>
              <a:rPr sz="1100" b="0">
                <a:solidFill>
                  <a:srgbClr val="1E1E1E"/>
                </a:solidFill>
                <a:latin typeface="Arial"/>
              </a:rPr>
              <a:t>• Reusable VTVL flight testbed to 100 km+ (in-space firing + µg transfer, recovered and reflown), integration, and Type V tank / zero-loss transfer systems.</a:t>
            </a:r>
          </a:p>
          <a:p>
            <a:pPr>
              <a:spcAft>
                <a:spcPts val="150"/>
              </a:spcAft>
            </a:pPr>
            <a:r>
              <a:rPr sz="1100" b="0">
                <a:solidFill>
                  <a:srgbClr val="1E1E1E"/>
                </a:solidFill>
                <a:latin typeface="Arial"/>
              </a:rPr>
              <a:t>• Engine: storable RDRE, government-furnished or candidate GTL build, selected by trade study. Interfaces designed to mate with SERB-approved refueling ports (RAFTI / PRM).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1005840"/>
            <a:ext cx="5760720" cy="5394960"/>
          </a:xfrm>
          <a:prstGeom prst="rect">
            <a:avLst/>
          </a:prstGeom>
          <a:noFill/>
        </p:spPr>
        <p:txBody>
          <a:bodyPr wrap="square" lIns="45720" rIns="45720" tIns="18288">
            <a:spAutoFit/>
          </a:bodyPr>
          <a:lstStyle/>
          <a:p>
            <a:pPr>
              <a:spcBef>
                <a:spcPts val="300"/>
              </a:spcBef>
              <a:spcAft>
                <a:spcPts val="100"/>
              </a:spcAft>
            </a:pPr>
            <a:r>
              <a:rPr sz="1150" b="1">
                <a:solidFill>
                  <a:srgbClr val="1B3A5C"/>
                </a:solidFill>
                <a:latin typeface="Arial"/>
              </a:rPr>
              <a:t>1 · Now: SSC SML In-Domain Orbital Logistics Challenge ($20M)</a:t>
            </a:r>
          </a:p>
          <a:p>
            <a:pPr>
              <a:spcAft>
                <a:spcPts val="150"/>
              </a:spcAft>
            </a:pPr>
            <a:r>
              <a:rPr sz="1100" b="0">
                <a:solidFill>
                  <a:srgbClr val="1E1E1E"/>
                </a:solidFill>
                <a:latin typeface="Arial"/>
              </a:rPr>
              <a:t>• SpaceWERX + SSC Servicing, Mobility &amp; Logistics. Topics: propellant management, tank refuelability, transfer metering, FTV/OTV. Also: SSC Front Door intake + SpEC (NSTXL) membership.</a:t>
            </a:r>
          </a:p>
          <a:p>
            <a:pPr>
              <a:spcBef>
                <a:spcPts val="300"/>
              </a:spcBef>
              <a:spcAft>
                <a:spcPts val="100"/>
              </a:spcAft>
            </a:pPr>
            <a:r>
              <a:rPr sz="1150" b="1">
                <a:solidFill>
                  <a:srgbClr val="1B3A5C"/>
                </a:solidFill>
                <a:latin typeface="Arial"/>
              </a:rPr>
              <a:t>2 · TACFI on FA9300-25-C-6022</a:t>
            </a:r>
          </a:p>
          <a:p>
            <a:pPr>
              <a:spcAft>
                <a:spcPts val="150"/>
              </a:spcAft>
            </a:pPr>
            <a:r>
              <a:rPr sz="1100" b="0">
                <a:solidFill>
                  <a:srgbClr val="1E1E1E"/>
                </a:solidFill>
                <a:latin typeface="Arial"/>
              </a:rPr>
              <a:t>• On hold pending AFWERX/SpaceWERX guidance. Submit within the next window. Sponsor: AFRL/RQ Rocket Propulsion (GS-15 branch/division lead). Match: TX Space Commission SEARF $2M (board 11 Dec 2026).</a:t>
            </a:r>
          </a:p>
          <a:p>
            <a:pPr>
              <a:spcBef>
                <a:spcPts val="300"/>
              </a:spcBef>
              <a:spcAft>
                <a:spcPts val="100"/>
              </a:spcAft>
            </a:pPr>
            <a:r>
              <a:rPr sz="1150" b="1">
                <a:solidFill>
                  <a:srgbClr val="1B3A5C"/>
                </a:solidFill>
                <a:latin typeface="Arial"/>
              </a:rPr>
              <a:t>3 · Sole-source SBIR Phase III</a:t>
            </a:r>
          </a:p>
          <a:p>
            <a:pPr>
              <a:spcAft>
                <a:spcPts val="150"/>
              </a:spcAft>
            </a:pPr>
            <a:r>
              <a:rPr sz="1100" b="0">
                <a:solidFill>
                  <a:srgbClr val="1E1E1E"/>
                </a:solidFill>
                <a:latin typeface="Arial"/>
              </a:rPr>
              <a:t>• 15 USC 638(r) off the Phase II; no competition required. Non-SBIR funds from AFRL/RQ (PE 0602203F / USSF PE 1206601SF, Rocket Propulsion Technology) and AFRL/RV for the in-space mission. SPRINT BAA white paper as the S&amp;T bridge.</a:t>
            </a:r>
          </a:p>
          <a:p>
            <a:pPr>
              <a:spcBef>
                <a:spcPts val="300"/>
              </a:spcBef>
              <a:spcAft>
                <a:spcPts val="100"/>
              </a:spcAft>
            </a:pPr>
            <a:r>
              <a:rPr sz="1150" b="1">
                <a:solidFill>
                  <a:srgbClr val="1B3A5C"/>
                </a:solidFill>
                <a:latin typeface="Arial"/>
              </a:rPr>
              <a:t>4 · STRATFI, DoD-only</a:t>
            </a:r>
          </a:p>
          <a:p>
            <a:pPr>
              <a:spcAft>
                <a:spcPts val="150"/>
              </a:spcAft>
            </a:pPr>
            <a:r>
              <a:rPr sz="1100" b="0">
                <a:solidFill>
                  <a:srgbClr val="1E1E1E"/>
                </a:solidFill>
                <a:latin typeface="Arial"/>
              </a:rPr>
              <a:t>• Government-Only Matching Option: $1 SBIR : $2 non-SBIR federal (e.g., $3M + $6M), no private or NASA share. Alternative: Strategic Breakthrough (up to $30M, ≥20% DoW program funds). Match signatory: SSC SML.</a:t>
            </a:r>
          </a:p>
          <a:p>
            <a:pPr>
              <a:spcBef>
                <a:spcPts val="300"/>
              </a:spcBef>
              <a:spcAft>
                <a:spcPts val="100"/>
              </a:spcAft>
            </a:pPr>
            <a:r>
              <a:rPr sz="1150" b="1">
                <a:solidFill>
                  <a:srgbClr val="1B3A5C"/>
                </a:solidFill>
                <a:latin typeface="Arial"/>
              </a:rPr>
              <a:t>5 · OTA prototype → program of record</a:t>
            </a:r>
          </a:p>
          <a:p>
            <a:pPr>
              <a:spcAft>
                <a:spcPts val="150"/>
              </a:spcAft>
            </a:pPr>
            <a:r>
              <a:rPr sz="1100" b="0">
                <a:solidFill>
                  <a:srgbClr val="1E1E1E"/>
                </a:solidFill>
                <a:latin typeface="Arial"/>
              </a:rPr>
              <a:t>• SpEC OTA prototype ($10–60M), then SAML PE 1203955SF, supplier to RG-XX refueling vendors, and the Objective Force high-thrust reusable OTV line (2030–35).</a:t>
            </a:r>
          </a:p>
          <a:p>
            <a:pPr>
              <a:spcBef>
                <a:spcPts val="300"/>
              </a:spcBef>
              <a:spcAft>
                <a:spcPts val="100"/>
              </a:spcAft>
            </a:pPr>
            <a:r>
              <a:rPr sz="1150" b="1">
                <a:solidFill>
                  <a:srgbClr val="1B3A5C"/>
                </a:solidFill>
                <a:latin typeface="Arial"/>
              </a:rPr>
              <a:t>Ask of the GS-15</a:t>
            </a:r>
          </a:p>
          <a:p>
            <a:pPr>
              <a:spcAft>
                <a:spcPts val="150"/>
              </a:spcAft>
            </a:pPr>
            <a:r>
              <a:rPr sz="1100" b="0">
                <a:solidFill>
                  <a:srgbClr val="1E1E1E"/>
                </a:solidFill>
                <a:latin typeface="Arial"/>
              </a:rPr>
              <a:t>• (1) Sponsor TACFI when guidance posts. (2) Name the Phase III funding office. (3) Introduce us to SSC SML for the Orbital Logistics Challenge and the STRATFI match.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" y="6510528"/>
            <a:ext cx="10881360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Aft>
                <a:spcPts val="200"/>
              </a:spcAft>
            </a:pPr>
            <a:r>
              <a:rPr sz="700" b="0">
                <a:solidFill>
                  <a:srgbClr val="404040"/>
                </a:solidFill>
                <a:latin typeface="Arial"/>
              </a:rPr>
              <a:t>Sources: USSF Objective Force (Breaking Defense, Apr 2026); SSC SML / SpaceWERX Orbital Logistics Challenge (SSC, May 2026); AFWERX PY26.1 STRATFI Matching Funds Guidance; Murphy et al., PNAS 2023. TACFI is subject to selection; nothing is awarded. Program names and $ ranges are planning estimates.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47120" y="6510528"/>
            <a:ext cx="77724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>
              <a:spcAft>
                <a:spcPts val="200"/>
              </a:spcAft>
            </a:pPr>
            <a:r>
              <a:rPr sz="800" b="0">
                <a:solidFill>
                  <a:srgbClr val="404040"/>
                </a:solidFill>
                <a:latin typeface="Arial"/>
              </a:rPr>
              <a:t>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