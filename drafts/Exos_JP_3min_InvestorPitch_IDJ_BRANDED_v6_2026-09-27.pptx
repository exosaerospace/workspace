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_exos_slid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Picture 3" descr="_exos_white_of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502920"/>
            <a:ext cx="1589634" cy="548640"/>
          </a:xfrm>
          <a:prstGeom prst="rect">
            <a:avLst/>
          </a:prstGeom>
        </p:spPr>
      </p:pic>
      <p:pic>
        <p:nvPicPr>
          <p:cNvPr id="5" name="Picture 4" descr="_spaceavailable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9760" y="566928"/>
            <a:ext cx="2103120" cy="17991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23317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00" b="1">
                <a:solidFill>
                  <a:srgbClr val="FFFFFF"/>
                </a:solidFill>
                <a:latin typeface="Arial"/>
              </a:rPr>
              <a:t>Exos Aerospace  </a:t>
            </a:r>
            <a:r>
              <a:rPr sz="4200" b="1">
                <a:solidFill>
                  <a:srgbClr val="F26A21"/>
                </a:solidFill>
                <a:latin typeface="Arial"/>
              </a:rPr>
              <a:t>—</a:t>
            </a:r>
            <a:r>
              <a:rPr sz="4200" b="1">
                <a:solidFill>
                  <a:srgbClr val="FFFFFF"/>
                </a:solidFill>
                <a:latin typeface="Arial"/>
              </a:rPr>
              <a:t>  Expanding to Japan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346704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26A21"/>
                </a:solidFill>
                <a:latin typeface="Arial"/>
              </a:rPr>
              <a:t>A Partnership &amp; Investment Opportunity — Exos Aerospace Japan (K.K.)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16052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D2D2D7"/>
                </a:solidFill>
                <a:latin typeface="Arial"/>
              </a:rPr>
              <a:t>With appreciation to Innovation Dojo — Black Belt Venture Studio   ·   8 October 2026</a:t>
            </a:r>
          </a:p>
          <a:p>
            <a:pPr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</a:pPr>
            <a:r>
              <a:rPr sz="1400" b="0">
                <a:solidFill>
                  <a:srgbClr val="9A9AA1"/>
                </a:solidFill>
                <a:latin typeface="Arial"/>
              </a:rPr>
              <a:t>Toshi Kumazawa (Japan BD)   ·   John Quinn (Co-founder &amp; CEO)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38251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F26A21"/>
                </a:solidFill>
                <a:latin typeface="Arial"/>
              </a:rPr>
              <a:t>v6 — John's inputs locked 27 Sep 2026; Toshi finalizes Japanese / keigo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_exos_white_offi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0" y="384048"/>
            <a:ext cx="847805" cy="2926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85216" y="40233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26A21"/>
                </a:solidFill>
                <a:latin typeface="Arial"/>
              </a:rPr>
              <a:t>PROVEN · PROFITABLE · REUSABLE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76656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Who we are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" y="1389888"/>
            <a:ext cx="1051560" cy="50292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03504" y="1874519"/>
            <a:ext cx="3584448" cy="2331720"/>
          </a:xfrm>
          <a:prstGeom prst="roundRect">
            <a:avLst>
              <a:gd name="adj" fmla="val 6000"/>
            </a:avLst>
          </a:prstGeom>
          <a:solidFill>
            <a:srgbClr val="17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3504" y="1874519"/>
            <a:ext cx="73152" cy="2331720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148839"/>
            <a:ext cx="312724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26A21"/>
                </a:solidFill>
                <a:latin typeface="Arial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044952"/>
            <a:ext cx="3035808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FFFFFF"/>
                </a:solidFill>
                <a:latin typeface="Arial"/>
              </a:rPr>
              <a:t>of only 3 U.S. companies FAA-licensed for reusable launch operations</a:t>
            </a:r>
          </a:p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</a:pPr>
            <a:r>
              <a:rPr sz="1250" b="0">
                <a:solidFill>
                  <a:srgbClr val="9A9AA1"/>
                </a:solidFill>
                <a:latin typeface="Arial"/>
              </a:rPr>
              <a:t>alongside SpaceX and Blue Origin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71416" y="1874519"/>
            <a:ext cx="3584448" cy="2331720"/>
          </a:xfrm>
          <a:prstGeom prst="roundRect">
            <a:avLst>
              <a:gd name="adj" fmla="val 6000"/>
            </a:avLst>
          </a:prstGeom>
          <a:solidFill>
            <a:srgbClr val="17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71416" y="1874519"/>
            <a:ext cx="73152" cy="2331720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64024" y="2148839"/>
            <a:ext cx="312724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26A21"/>
                </a:solidFill>
                <a:latin typeface="Arial"/>
              </a:rPr>
              <a:t>25+ yrs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82312" y="3044952"/>
            <a:ext cx="3035808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FFFFFF"/>
                </a:solidFill>
                <a:latin typeface="Arial"/>
              </a:rPr>
              <a:t>hands-on reusable-vehicle heritage</a:t>
            </a:r>
          </a:p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</a:pPr>
            <a:r>
              <a:rPr sz="1250" b="0">
                <a:solidFill>
                  <a:srgbClr val="9A9AA1"/>
                </a:solidFill>
                <a:latin typeface="Arial"/>
              </a:rPr>
              <a:t>predecessor: Armadillo Aerospace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39327" y="1874519"/>
            <a:ext cx="3584448" cy="2331720"/>
          </a:xfrm>
          <a:prstGeom prst="roundRect">
            <a:avLst>
              <a:gd name="adj" fmla="val 6000"/>
            </a:avLst>
          </a:prstGeom>
          <a:solidFill>
            <a:srgbClr val="17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39327" y="1874519"/>
            <a:ext cx="73152" cy="2331720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31936" y="2148839"/>
            <a:ext cx="312724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26A21"/>
                </a:solidFill>
                <a:latin typeface="Arial"/>
              </a:rPr>
              <a:t>$1.49M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50224" y="3044952"/>
            <a:ext cx="3035808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FFFFFF"/>
                </a:solidFill>
                <a:latin typeface="Arial"/>
              </a:rPr>
              <a:t>2025 revenue — profitable: EBITDA $254K (17% margin)</a:t>
            </a:r>
          </a:p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</a:pPr>
            <a:r>
              <a:rPr sz="1250" b="0">
                <a:solidFill>
                  <a:srgbClr val="9A9AA1"/>
                </a:solidFill>
                <a:latin typeface="Arial"/>
              </a:rPr>
              <a:t>FY2025, accrual basis, unaudited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" y="452628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D2D2D7"/>
                </a:solidFill>
                <a:latin typeface="Arial"/>
              </a:rPr>
              <a:t>A real operating company with flight heritage — not a concept.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_exos_white_offi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0" y="384048"/>
            <a:ext cx="847805" cy="2926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85216" y="40233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26A21"/>
                </a:solidFill>
                <a:latin typeface="Arial"/>
              </a:rPr>
              <a:t>WHAT SETS US APART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76656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Proven, differentiated technology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" y="1389888"/>
            <a:ext cx="1051560" cy="50292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03504" y="1828800"/>
            <a:ext cx="3584448" cy="3246120"/>
          </a:xfrm>
          <a:prstGeom prst="roundRect">
            <a:avLst>
              <a:gd name="adj" fmla="val 6000"/>
            </a:avLst>
          </a:prstGeom>
          <a:solidFill>
            <a:srgbClr val="17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14400" y="2139696"/>
            <a:ext cx="566928" cy="566928"/>
          </a:xfrm>
          <a:prstGeom prst="ellipse">
            <a:avLst/>
          </a:prstGeom>
          <a:noFill/>
          <a:ln w="25400">
            <a:solidFill>
              <a:srgbClr val="F26A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139696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26A21"/>
                </a:solidFill>
                <a:latin typeface="Arial"/>
              </a:rPr>
              <a:t>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880360"/>
            <a:ext cx="301752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FFFFFF"/>
                </a:solidFill>
                <a:latin typeface="Arial"/>
              </a:rPr>
              <a:t>BLK3 reusable vehicle</a:t>
            </a:r>
          </a:p>
          <a:p>
            <a:pPr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</a:pPr>
            <a:r>
              <a:rPr sz="1250" b="0">
                <a:solidFill>
                  <a:srgbClr val="D2D2D7"/>
                </a:solidFill>
                <a:latin typeface="Arial"/>
              </a:rPr>
              <a:t>Suborbital launch vehicle: out-of-autoclave carbon composite, low parts count — recovered and reflown.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71416" y="1828800"/>
            <a:ext cx="3584448" cy="3246120"/>
          </a:xfrm>
          <a:prstGeom prst="roundRect">
            <a:avLst>
              <a:gd name="adj" fmla="val 6000"/>
            </a:avLst>
          </a:prstGeom>
          <a:solidFill>
            <a:srgbClr val="17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782312" y="2139696"/>
            <a:ext cx="566928" cy="566928"/>
          </a:xfrm>
          <a:prstGeom prst="ellipse">
            <a:avLst/>
          </a:prstGeom>
          <a:noFill/>
          <a:ln w="25400">
            <a:solidFill>
              <a:srgbClr val="F26A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82312" y="2139696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26A21"/>
                </a:solidFill>
                <a:latin typeface="Arial"/>
              </a:rPr>
              <a:t>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64024" y="2880360"/>
            <a:ext cx="301752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FFFFFF"/>
                </a:solidFill>
                <a:latin typeface="Arial"/>
              </a:rPr>
              <a:t>TRL-9 Type-5 cryo tanks</a:t>
            </a:r>
          </a:p>
          <a:p>
            <a:pPr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</a:pPr>
            <a:r>
              <a:rPr sz="1250" b="0">
                <a:solidFill>
                  <a:srgbClr val="D2D2D7"/>
                </a:solidFill>
                <a:latin typeface="Arial"/>
              </a:rPr>
              <a:t>Linerless composite cryogenic tanks (affiliate Scorpius / SSLC) — lighter and more robust than metal.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39327" y="1828800"/>
            <a:ext cx="3584448" cy="3246120"/>
          </a:xfrm>
          <a:prstGeom prst="roundRect">
            <a:avLst>
              <a:gd name="adj" fmla="val 6000"/>
            </a:avLst>
          </a:prstGeom>
          <a:solidFill>
            <a:srgbClr val="17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650224" y="2139696"/>
            <a:ext cx="566928" cy="566928"/>
          </a:xfrm>
          <a:prstGeom prst="ellipse">
            <a:avLst/>
          </a:prstGeom>
          <a:noFill/>
          <a:ln w="25400">
            <a:solidFill>
              <a:srgbClr val="F26A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50224" y="2139696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26A21"/>
                </a:solidFill>
                <a:latin typeface="Arial"/>
              </a:rPr>
              <a:t>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31936" y="2880360"/>
            <a:ext cx="301752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FFFFFF"/>
                </a:solidFill>
                <a:latin typeface="Arial"/>
              </a:rPr>
              <a:t>Proven on the Moon</a:t>
            </a:r>
          </a:p>
          <a:p>
            <a:pPr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</a:pPr>
            <a:r>
              <a:rPr sz="1250" b="0">
                <a:solidFill>
                  <a:srgbClr val="D2D2D7"/>
                </a:solidFill>
                <a:latin typeface="Arial"/>
              </a:rPr>
              <a:t>Scorpius Type-5 tanks flew as fuel &amp; LOX tanks aboard Intuitive Machines' Odysseus (2024) and Athena landers.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_exos_white_offi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0" y="384048"/>
            <a:ext cx="847805" cy="2926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85216" y="40233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26A21"/>
                </a:solidFill>
                <a:latin typeface="Arial"/>
              </a:rPr>
              <a:t>BUILT IN JAPAN, TOGETHER WITH JAPAN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76656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Our commitment to Japan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" y="1389888"/>
            <a:ext cx="1051560" cy="50292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03504" y="1847088"/>
            <a:ext cx="5440680" cy="1572768"/>
          </a:xfrm>
          <a:prstGeom prst="roundRect">
            <a:avLst>
              <a:gd name="adj" fmla="val 6000"/>
            </a:avLst>
          </a:prstGeom>
          <a:solidFill>
            <a:srgbClr val="17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2121408"/>
            <a:ext cx="493776" cy="493776"/>
          </a:xfrm>
          <a:prstGeom prst="ellipse">
            <a:avLst/>
          </a:prstGeom>
          <a:noFill/>
          <a:ln w="25400">
            <a:solidFill>
              <a:srgbClr val="F26A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2121408"/>
            <a:ext cx="493776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26A21"/>
                </a:solidFill>
                <a:latin typeface="Arial"/>
              </a:rPr>
              <a:t>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63624" y="2066543"/>
            <a:ext cx="4297680" cy="12070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Exos Aerospace Japan (K.K.)</a:t>
            </a:r>
          </a:p>
          <a:p>
            <a:pPr algn="l">
              <a:lnSpc>
                <a:spcPct val="105000"/>
              </a:lnSpc>
              <a:spcBef>
                <a:spcPts val="500"/>
              </a:spcBef>
              <a:spcAft>
                <a:spcPts val="0"/>
              </a:spcAft>
            </a:pPr>
            <a:r>
              <a:rPr sz="1200" b="0">
                <a:solidFill>
                  <a:srgbClr val="D2D2D7"/>
                </a:solidFill>
                <a:latin typeface="Arial"/>
              </a:rPr>
              <a:t>A local company, office, and team — opening in 2026.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0216" y="1847088"/>
            <a:ext cx="5440680" cy="1572768"/>
          </a:xfrm>
          <a:prstGeom prst="roundRect">
            <a:avLst>
              <a:gd name="adj" fmla="val 6000"/>
            </a:avLst>
          </a:prstGeom>
          <a:solidFill>
            <a:srgbClr val="17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74536" y="2121408"/>
            <a:ext cx="493776" cy="493776"/>
          </a:xfrm>
          <a:prstGeom prst="ellipse">
            <a:avLst/>
          </a:prstGeom>
          <a:noFill/>
          <a:ln w="25400">
            <a:solidFill>
              <a:srgbClr val="F26A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74536" y="2121408"/>
            <a:ext cx="493776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26A21"/>
                </a:solidFill>
                <a:latin typeface="Arial"/>
              </a:rPr>
              <a:t>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60336" y="2066543"/>
            <a:ext cx="4297680" cy="12070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HOSPO wet-lease flights</a:t>
            </a:r>
          </a:p>
          <a:p>
            <a:pPr algn="l">
              <a:lnSpc>
                <a:spcPct val="105000"/>
              </a:lnSpc>
              <a:spcBef>
                <a:spcPts val="500"/>
              </a:spcBef>
              <a:spcAft>
                <a:spcPts val="0"/>
              </a:spcAft>
            </a:pPr>
            <a:r>
              <a:rPr sz="1200" b="0">
                <a:solidFill>
                  <a:srgbClr val="D2D2D7"/>
                </a:solidFill>
                <a:latin typeface="Arial"/>
              </a:rPr>
              <a:t>BLK3 reusable suborbital flight services at Hokkaido Spaceport, with Exos as licensed operator.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3504" y="3675888"/>
            <a:ext cx="5440680" cy="1572768"/>
          </a:xfrm>
          <a:prstGeom prst="roundRect">
            <a:avLst>
              <a:gd name="adj" fmla="val 6000"/>
            </a:avLst>
          </a:prstGeom>
          <a:solidFill>
            <a:srgbClr val="17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77824" y="3950208"/>
            <a:ext cx="493776" cy="493776"/>
          </a:xfrm>
          <a:prstGeom prst="ellipse">
            <a:avLst/>
          </a:prstGeom>
          <a:noFill/>
          <a:ln w="25400">
            <a:solidFill>
              <a:srgbClr val="F26A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7824" y="3950208"/>
            <a:ext cx="493776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26A21"/>
                </a:solidFill>
                <a:latin typeface="Arial"/>
              </a:rPr>
              <a:t>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63624" y="3895344"/>
            <a:ext cx="4297680" cy="12070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Serve industry &amp; universities</a:t>
            </a:r>
          </a:p>
          <a:p>
            <a:pPr algn="l">
              <a:lnSpc>
                <a:spcPct val="105000"/>
              </a:lnSpc>
              <a:spcBef>
                <a:spcPts val="500"/>
              </a:spcBef>
              <a:spcAft>
                <a:spcPts val="0"/>
              </a:spcAft>
            </a:pPr>
            <a:r>
              <a:rPr sz="1200" b="0">
                <a:solidFill>
                  <a:srgbClr val="D2D2D7"/>
                </a:solidFill>
                <a:latin typeface="Arial"/>
              </a:rPr>
              <a:t>BLK3 verification / flight-test platform, reusable engines, and SSLC Type-5 cryo tanks.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0216" y="3675888"/>
            <a:ext cx="5440680" cy="1572768"/>
          </a:xfrm>
          <a:prstGeom prst="roundRect">
            <a:avLst>
              <a:gd name="adj" fmla="val 6000"/>
            </a:avLst>
          </a:prstGeom>
          <a:solidFill>
            <a:srgbClr val="17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74536" y="3950208"/>
            <a:ext cx="493776" cy="493776"/>
          </a:xfrm>
          <a:prstGeom prst="ellipse">
            <a:avLst/>
          </a:prstGeom>
          <a:noFill/>
          <a:ln w="25400">
            <a:solidFill>
              <a:srgbClr val="F26A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74536" y="3950208"/>
            <a:ext cx="493776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26A21"/>
                </a:solidFill>
                <a:latin typeface="Arial"/>
              </a:rPr>
              <a:t>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60336" y="3895344"/>
            <a:ext cx="4297680" cy="12070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Consulting &amp; collaboration</a:t>
            </a:r>
          </a:p>
          <a:p>
            <a:pPr algn="l">
              <a:lnSpc>
                <a:spcPct val="105000"/>
              </a:lnSpc>
              <a:spcBef>
                <a:spcPts val="500"/>
              </a:spcBef>
              <a:spcAft>
                <a:spcPts val="0"/>
              </a:spcAft>
            </a:pPr>
            <a:r>
              <a:rPr sz="1200" b="0">
                <a:solidFill>
                  <a:srgbClr val="D2D2D7"/>
                </a:solidFill>
                <a:latin typeface="Arial"/>
              </a:rPr>
              <a:t>Long-term partnership — building space capability in Japan, together with Japan.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_exos_white_offi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0" y="384048"/>
            <a:ext cx="847805" cy="2926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85216" y="40233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26A21"/>
                </a:solidFill>
                <a:latin typeface="Arial"/>
              </a:rPr>
              <a:t>SLIDE 5 · STRUCTURED ROUND · RETURNS · EXIT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76656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The investment opportunity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" y="1389888"/>
            <a:ext cx="1051560" cy="50292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03504" y="1783080"/>
            <a:ext cx="3246120" cy="2788920"/>
          </a:xfrm>
          <a:prstGeom prst="roundRect">
            <a:avLst>
              <a:gd name="adj" fmla="val 6000"/>
            </a:avLst>
          </a:prstGeom>
          <a:solidFill>
            <a:srgbClr val="17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3504" y="1783080"/>
            <a:ext cx="3246120" cy="82296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2039112"/>
            <a:ext cx="26974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9A9AA1"/>
                </a:solidFill>
                <a:latin typeface="Arial"/>
              </a:rPr>
              <a:t>SEED ROUND — INTO THE K.K.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" y="2386584"/>
            <a:ext cx="269747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26A21"/>
                </a:solidFill>
                <a:latin typeface="Arial"/>
              </a:rPr>
              <a:t>¥790M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3154680"/>
            <a:ext cx="26974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26A21"/>
                </a:solidFill>
                <a:latin typeface="Arial"/>
              </a:rPr>
              <a:t>≈ US$5.0M target  (at ~¥157 / US$)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3566160"/>
            <a:ext cx="269747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D2D2D7"/>
                </a:solidFill>
                <a:latin typeface="Arial"/>
              </a:rPr>
              <a:t>Capital goes into the Japan entity — the U.S. parent keeps majority + control.</a:t>
            </a:r>
          </a:p>
          <a:p>
            <a:pPr algn="l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9A9AA1"/>
                </a:solidFill>
                <a:latin typeface="Arial"/>
              </a:rPr>
              <a:t>Clean for both Japan FDI (FEFTA) and U.S. (CFIUS).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1737360"/>
            <a:ext cx="7406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9A9AA1"/>
                </a:solidFill>
                <a:latin typeface="Arial"/>
              </a:rPr>
              <a:t>USE OF FUNDS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0" y="2084831"/>
            <a:ext cx="3246120" cy="457200"/>
          </a:xfrm>
          <a:prstGeom prst="roundRect">
            <a:avLst>
              <a:gd name="adj" fmla="val 6000"/>
            </a:avLst>
          </a:prstGeom>
          <a:solidFill>
            <a:srgbClr val="1F2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51960" y="2084831"/>
            <a:ext cx="2971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2D2D7"/>
                </a:solidFill>
                <a:latin typeface="Arial"/>
              </a:rPr>
              <a:t>Stand up Japan operations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18120" y="2084831"/>
            <a:ext cx="3611880" cy="457200"/>
          </a:xfrm>
          <a:prstGeom prst="roundRect">
            <a:avLst>
              <a:gd name="adj" fmla="val 6000"/>
            </a:avLst>
          </a:prstGeom>
          <a:solidFill>
            <a:srgbClr val="1F2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55280" y="2084831"/>
            <a:ext cx="3337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2D2D7"/>
                </a:solidFill>
                <a:latin typeface="Arial"/>
              </a:rPr>
              <a:t>Secure a wet-lease BLK3 for HOSPO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0" y="2633472"/>
            <a:ext cx="3246120" cy="457200"/>
          </a:xfrm>
          <a:prstGeom prst="roundRect">
            <a:avLst>
              <a:gd name="adj" fmla="val 6000"/>
            </a:avLst>
          </a:prstGeom>
          <a:solidFill>
            <a:srgbClr val="1F2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51960" y="2633472"/>
            <a:ext cx="2971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2D2D7"/>
                </a:solidFill>
                <a:latin typeface="Arial"/>
              </a:rPr>
              <a:t>Open the Japan office (2026)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18120" y="2633472"/>
            <a:ext cx="3611880" cy="457200"/>
          </a:xfrm>
          <a:prstGeom prst="roundRect">
            <a:avLst>
              <a:gd name="adj" fmla="val 6000"/>
            </a:avLst>
          </a:prstGeom>
          <a:solidFill>
            <a:srgbClr val="1F2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55280" y="2633472"/>
            <a:ext cx="3337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2D2D7"/>
                </a:solidFill>
                <a:latin typeface="Arial"/>
              </a:rPr>
              <a:t>Build the local team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0" y="3246120"/>
            <a:ext cx="7406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9A9AA1"/>
                </a:solidFill>
                <a:latin typeface="Arial"/>
              </a:rPr>
              <a:t>PATH TO RETURNS — GROW, THEN EXIT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14800" y="3593591"/>
            <a:ext cx="2331720" cy="1280160"/>
          </a:xfrm>
          <a:prstGeom prst="roundRect">
            <a:avLst>
              <a:gd name="adj" fmla="val 6000"/>
            </a:avLst>
          </a:prstGeom>
          <a:solidFill>
            <a:srgbClr val="1F2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0" y="3593591"/>
            <a:ext cx="2331720" cy="64008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97680" y="3721608"/>
            <a:ext cx="20116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26A21"/>
                </a:solidFill>
                <a:latin typeface="Arial"/>
              </a:rPr>
              <a:t>SEED (now)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7680" y="4069080"/>
            <a:ext cx="2011679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D2D2D7"/>
                </a:solidFill>
                <a:latin typeface="Arial"/>
              </a:rPr>
              <a:t>Fund Japan stand-up + first wet-lease flights</a:t>
            </a:r>
          </a:p>
        </p:txBody>
      </p:sp>
      <p:sp>
        <p:nvSpPr>
          <p:cNvPr id="27" name="Chevron 26"/>
          <p:cNvSpPr/>
          <p:nvPr/>
        </p:nvSpPr>
        <p:spPr>
          <a:xfrm>
            <a:off x="6446520" y="4069080"/>
            <a:ext cx="201168" cy="274320"/>
          </a:xfrm>
          <a:prstGeom prst="chevron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611112" y="3593591"/>
            <a:ext cx="2331720" cy="1280160"/>
          </a:xfrm>
          <a:prstGeom prst="roundRect">
            <a:avLst>
              <a:gd name="adj" fmla="val 6000"/>
            </a:avLst>
          </a:prstGeom>
          <a:solidFill>
            <a:srgbClr val="1F2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611112" y="3593591"/>
            <a:ext cx="2331720" cy="64008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93992" y="3721608"/>
            <a:ext cx="20116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26A21"/>
                </a:solidFill>
                <a:latin typeface="Arial"/>
              </a:rPr>
              <a:t>SCALE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93992" y="4069080"/>
            <a:ext cx="2011679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D2D2D7"/>
                </a:solidFill>
                <a:latin typeface="Arial"/>
              </a:rPr>
              <a:t>Recurring revenue: wet-lease flights · Type-5 tank &amp; engine sales · verification &amp; consulting</a:t>
            </a:r>
          </a:p>
        </p:txBody>
      </p:sp>
      <p:sp>
        <p:nvSpPr>
          <p:cNvPr id="32" name="Chevron 31"/>
          <p:cNvSpPr/>
          <p:nvPr/>
        </p:nvSpPr>
        <p:spPr>
          <a:xfrm>
            <a:off x="8942832" y="4069080"/>
            <a:ext cx="201168" cy="274320"/>
          </a:xfrm>
          <a:prstGeom prst="chevron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107424" y="3593591"/>
            <a:ext cx="2331720" cy="1280160"/>
          </a:xfrm>
          <a:prstGeom prst="roundRect">
            <a:avLst>
              <a:gd name="adj" fmla="val 6000"/>
            </a:avLst>
          </a:prstGeom>
          <a:solidFill>
            <a:srgbClr val="1F2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07424" y="3593591"/>
            <a:ext cx="2331720" cy="64008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290304" y="3721608"/>
            <a:ext cx="20116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26A21"/>
                </a:solidFill>
                <a:latin typeface="Arial"/>
              </a:rPr>
              <a:t>EXIT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90304" y="4069080"/>
            <a:ext cx="2011679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D2D2D7"/>
                </a:solidFill>
                <a:latin typeface="Arial"/>
              </a:rPr>
              <a:t>Roll into an Exos U.S. liquidity event: Series A close (raising now), public listing, or acquisition. Horizon ~3+ yrs.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03504" y="5074920"/>
            <a:ext cx="10972800" cy="1024128"/>
          </a:xfrm>
          <a:prstGeom prst="roundRect">
            <a:avLst>
              <a:gd name="adj" fmla="val 6000"/>
            </a:avLst>
          </a:prstGeom>
          <a:solidFill>
            <a:srgbClr val="17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03504" y="5074920"/>
            <a:ext cx="82296" cy="1024128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8680" y="5221224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26A21"/>
                </a:solidFill>
                <a:latin typeface="Arial"/>
              </a:rPr>
              <a:t>ALSO ON THE TABLE — non-dilutive layers  </a:t>
            </a:r>
            <a:r>
              <a:rPr sz="1150" b="0">
                <a:solidFill>
                  <a:srgbClr val="9A9AA1"/>
                </a:solidFill>
                <a:latin typeface="Arial"/>
              </a:rPr>
              <a:t>(alongside equity, per IDJ)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68680" y="5577840"/>
            <a:ext cx="3291840" cy="457200"/>
          </a:xfrm>
          <a:prstGeom prst="roundRect">
            <a:avLst>
              <a:gd name="adj" fmla="val 6000"/>
            </a:avLst>
          </a:prstGeom>
          <a:solidFill>
            <a:srgbClr val="1F2025"/>
          </a:solidFill>
          <a:ln w="12700">
            <a:solidFill>
              <a:srgbClr val="7A36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5839" y="5577840"/>
            <a:ext cx="30175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2D2D7"/>
                </a:solidFill>
                <a:latin typeface="Arial"/>
              </a:rPr>
              <a:t>Payload pre-sales — reserve BLK3 flight capacity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343400" y="5577840"/>
            <a:ext cx="3291840" cy="457200"/>
          </a:xfrm>
          <a:prstGeom prst="roundRect">
            <a:avLst>
              <a:gd name="adj" fmla="val 6000"/>
            </a:avLst>
          </a:prstGeom>
          <a:solidFill>
            <a:srgbClr val="1F2025"/>
          </a:solidFill>
          <a:ln w="12700">
            <a:solidFill>
              <a:srgbClr val="7A36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480560" y="5577840"/>
            <a:ext cx="30175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2D2D7"/>
                </a:solidFill>
                <a:latin typeface="Arial"/>
              </a:rPr>
              <a:t>Crowdfunding — community &amp; fan participation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818120" y="5577840"/>
            <a:ext cx="3566160" cy="457200"/>
          </a:xfrm>
          <a:prstGeom prst="roundRect">
            <a:avLst>
              <a:gd name="adj" fmla="val 6000"/>
            </a:avLst>
          </a:prstGeom>
          <a:solidFill>
            <a:srgbClr val="1F2025"/>
          </a:solidFill>
          <a:ln w="12700">
            <a:solidFill>
              <a:srgbClr val="7A36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955280" y="5577840"/>
            <a:ext cx="32918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2D2D7"/>
                </a:solidFill>
                <a:latin typeface="Arial"/>
              </a:rPr>
              <a:t>Staged equity rounds — realistic financing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_exos_white_offi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0" y="384048"/>
            <a:ext cx="847805" cy="2926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85216" y="40233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26A21"/>
                </a:solidFill>
                <a:latin typeface="Arial"/>
              </a:rPr>
              <a:t>REAL SIGNAL, ON THE GROUND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76656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Traction &amp; the path forward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" y="1389888"/>
            <a:ext cx="1051560" cy="50292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03504" y="1847088"/>
            <a:ext cx="5440680" cy="1572768"/>
          </a:xfrm>
          <a:prstGeom prst="roundRect">
            <a:avLst>
              <a:gd name="adj" fmla="val 6000"/>
            </a:avLst>
          </a:prstGeom>
          <a:solidFill>
            <a:srgbClr val="17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3504" y="1847088"/>
            <a:ext cx="73152" cy="1572768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2048256"/>
            <a:ext cx="4983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26A21"/>
                </a:solidFill>
                <a:latin typeface="Arial"/>
              </a:rPr>
              <a:t>DEMAND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" y="2322576"/>
            <a:ext cx="4937760" cy="10241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LOI + inbound inquiry</a:t>
            </a:r>
          </a:p>
          <a:p>
            <a:pPr algn="l">
              <a:lnSpc>
                <a:spcPct val="106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D2D2D7"/>
                </a:solidFill>
                <a:latin typeface="Arial"/>
              </a:rPr>
              <a:t>Letter of intent for a fuel-tank order from a Japanese space-development company; an engine-specification inquiry as well.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0216" y="1847088"/>
            <a:ext cx="5440680" cy="1572768"/>
          </a:xfrm>
          <a:prstGeom prst="roundRect">
            <a:avLst>
              <a:gd name="adj" fmla="val 6000"/>
            </a:avLst>
          </a:prstGeom>
          <a:solidFill>
            <a:srgbClr val="17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0216" y="1847088"/>
            <a:ext cx="73152" cy="1572768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74536" y="2048256"/>
            <a:ext cx="4983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26A21"/>
                </a:solidFill>
                <a:latin typeface="Arial"/>
              </a:rPr>
              <a:t>PARTNER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4536" y="2322576"/>
            <a:ext cx="4937760" cy="10241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HOSPO discussions underway</a:t>
            </a:r>
          </a:p>
          <a:p>
            <a:pPr algn="l">
              <a:lnSpc>
                <a:spcPct val="106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D2D2D7"/>
                </a:solidFill>
                <a:latin typeface="Arial"/>
              </a:rPr>
              <a:t>Collaboration talks in progress with Hokkaido Spaceport (HOSPO / Space Cotan).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3504" y="3675888"/>
            <a:ext cx="5440680" cy="1572768"/>
          </a:xfrm>
          <a:prstGeom prst="roundRect">
            <a:avLst>
              <a:gd name="adj" fmla="val 6000"/>
            </a:avLst>
          </a:prstGeom>
          <a:solidFill>
            <a:srgbClr val="17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03504" y="3675888"/>
            <a:ext cx="73152" cy="1572768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7824" y="3877056"/>
            <a:ext cx="4983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26A21"/>
                </a:solidFill>
                <a:latin typeface="Arial"/>
              </a:rPr>
              <a:t>IN-PERSON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" y="4151376"/>
            <a:ext cx="4937760" cy="10241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CEO in Japan — October 2026</a:t>
            </a:r>
          </a:p>
          <a:p>
            <a:pPr algn="l">
              <a:lnSpc>
                <a:spcPct val="106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D2D2D7"/>
                </a:solidFill>
                <a:latin typeface="Arial"/>
              </a:rPr>
              <a:t>John Quinn will meet HOSPO, the LOI client, other space-development companies, and prospective investors.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0216" y="3675888"/>
            <a:ext cx="5440680" cy="1572768"/>
          </a:xfrm>
          <a:prstGeom prst="roundRect">
            <a:avLst>
              <a:gd name="adj" fmla="val 6000"/>
            </a:avLst>
          </a:prstGeom>
          <a:solidFill>
            <a:srgbClr val="17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00216" y="3675888"/>
            <a:ext cx="73152" cy="1572768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74536" y="3877056"/>
            <a:ext cx="4983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26A21"/>
                </a:solidFill>
                <a:latin typeface="Arial"/>
              </a:rPr>
              <a:t>LOCALIZE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74536" y="4151376"/>
            <a:ext cx="4937760" cy="10241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JP production partners</a:t>
            </a:r>
          </a:p>
          <a:p>
            <a:pPr algn="l">
              <a:lnSpc>
                <a:spcPct val="106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D2D2D7"/>
                </a:solidFill>
                <a:latin typeface="Arial"/>
              </a:rPr>
              <a:t>Seeking Japanese technical partners for licensed production of TRL-9 Type-5 tanks in Japan. BLK3-for-Japan production commences upon international approvals (incl. U.S. export).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_exos_slid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Picture 3" descr="_exos_white_of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502920"/>
            <a:ext cx="1589634" cy="548640"/>
          </a:xfrm>
          <a:prstGeom prst="rect">
            <a:avLst/>
          </a:prstGeom>
        </p:spPr>
      </p:pic>
      <p:pic>
        <p:nvPicPr>
          <p:cNvPr id="5" name="Picture 4" descr="_spaceavailable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9760" y="566928"/>
            <a:ext cx="2103120" cy="17991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23317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F26A21"/>
                </a:solidFill>
                <a:latin typeface="Arial"/>
              </a:rPr>
              <a:t>Thank you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383280"/>
            <a:ext cx="109728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26A21"/>
                </a:solidFill>
                <a:latin typeface="Arial"/>
              </a:rPr>
              <a:t>▪  </a:t>
            </a:r>
            <a:r>
              <a:rPr sz="1700" b="0">
                <a:solidFill>
                  <a:srgbClr val="D2D2D7"/>
                </a:solidFill>
                <a:latin typeface="Arial"/>
              </a:rPr>
              <a:t>We are honored to explore this partnership with the Japanese space community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1700" b="1">
                <a:solidFill>
                  <a:srgbClr val="F26A21"/>
                </a:solidFill>
                <a:latin typeface="Arial"/>
              </a:rPr>
              <a:t>▪  </a:t>
            </a:r>
            <a:r>
              <a:rPr sz="1700" b="0">
                <a:solidFill>
                  <a:srgbClr val="D2D2D7"/>
                </a:solidFill>
                <a:latin typeface="Arial"/>
              </a:rPr>
              <a:t>Reusable space capability and lunar-proven tank technology — built in Japan, together with Japan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1700" b="1">
                <a:solidFill>
                  <a:srgbClr val="F26A21"/>
                </a:solidFill>
                <a:latin typeface="Arial"/>
              </a:rPr>
              <a:t>▪  </a:t>
            </a:r>
            <a:r>
              <a:rPr sz="1700" b="0">
                <a:solidFill>
                  <a:srgbClr val="D2D2D7"/>
                </a:solidFill>
                <a:latin typeface="Arial"/>
              </a:rPr>
              <a:t>We warmly invite investors and technical partners to build it with us — office opening 2026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1700" b="1">
                <a:solidFill>
                  <a:srgbClr val="F26A21"/>
                </a:solidFill>
                <a:latin typeface="Arial"/>
              </a:rPr>
              <a:t>▪  </a:t>
            </a:r>
            <a:r>
              <a:rPr sz="1700" b="0">
                <a:solidFill>
                  <a:srgbClr val="D2D2D7"/>
                </a:solidFill>
                <a:latin typeface="Arial"/>
              </a:rPr>
              <a:t>Contact: Toshi Kumazawa · toshihisa@exosaero.com  ·  John Quinn, Co-founder &amp; CEO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