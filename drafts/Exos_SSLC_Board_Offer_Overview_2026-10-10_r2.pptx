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sole action requested of the SSLC board at this meeting is confirmation of the §3 exclusivity provision in the existing May 2025 Asset Acquisition Agreement. Once exclusivity is confirmed, both parties have 90 days to negotiate and execute the definitive agreement and advance to financing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SSLC's own numbers, presented factually and respectfully. The $198K cash figure is from the email draft. The $713K last quarter is from the offer summary. The $5.1M milestone (M1) requires nearly double that quarterly pace starting immediately — this is the context for why the Exos offer provides meaningful value through financing close and earn-out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action needed today is board confirmation of §3 exclusivity in the May 2025 Asset Acquisition Agreement. Once confirmed, the 90-day exclusivity period begins and both teams can proceed to diligence and the definitive agreement. Financing close target: Feb 15th. The financing close triggers ② ($5.36M). The RTO is targeted ~6 months post-financing close but is not assured. All earn-out and milestone payments are independent and verifiable.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br/>
            <a:r>
              <a:t>  Equity: QB Balance Sheet 8/21/2026 (data-room/SSLC/2026-7_BS_8-21-26.pdf). Total paid-in $1,014,465; Exos paid $789,572 per AAA Oct 2023.</a:t>
            </a:r>
            <a:br/>
            <a:r>
              <a:t>  Accum. deficit −$2,571,012.99 per QB BS 8/21/2026.</a:t>
            </a:r>
            <a:br/>
            <a:r>
              <a:t>  Total equity −$1,403,075 per Board Package 10/6/2026.</a:t>
            </a:r>
            <a:br/>
            <a:r>
              <a:t>  Debt: Board Package 10/6/2026 + QB BS 8/21. Total loans &amp; notes $1,027,783 confirmed.</a:t>
            </a:r>
            <a:br/>
            <a:r>
              <a:t>  Facility costs: QB P&amp;L FY26 CONFIRMED $353,978; FY27 Jul–Aug21 $32,860 (partial).</a:t>
            </a:r>
            <a:br/>
            <a:r>
              <a:t>  2-yr ~$967K estimate uses FY26 monthly rate ~$29.5K/mo for the remainder; CAVEAT: FY25 not on disk.</a:t>
            </a:r>
            <a:br/>
            <a:r>
              <a:t>  Microcosm offset: 50% share is MANAGEMENT ASSUMPTION — no written cost-sharing agreement found.</a:t>
            </a:r>
            <a:br/>
            <a:r>
              <a:t>  Must verify: (1) SSLC paid 100% of costs, (2) written agreement, (3) Microcosm's share allocation.</a:t>
            </a:r>
            <a:br/>
            <a:r>
              <a:t>  At 50% share offset ~$483K &gt; Due-to-Microcosm $451K → net creditor ~$32K.</a:t>
            </a:r>
            <a:br/>
            <a:r>
              <a:t>  At 40%: net-owe ~$65K; at 60%: net creditor ~$129K.</a:t>
            </a:r>
            <a:br/>
            <a:r>
              <a:t>  $864K billed-ahead balance: from QB FY27 Q1 actual. Nature disputed; full QB access requested.</a:t>
            </a:r>
            <a:br/>
            <a:r>
              <a:t>  CAUTION: Do not represent offset as a verified legal claim without written agreement.</a:t>
            </a:r>
            <a:br/>
            <a:r>
              <a:t>Source file: drafts/SSLC_QB_Equity_Debt_Microcosm_Facility_2026-10-10.xlsx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confirm §3 exclusivity under the May 2025 Asset Acquisition Agreement.</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sp>
      <p:sp>
        <p:nvSpPr>
          <p:cNvPr id="6" name="Text 4"/>
          <p:cNvSpPr txBox="1"/>
          <p:nvPr/>
        </p:nvSpPr>
        <p:spPr>
          <a:xfrm>
            <a:off x="640080" y="2999232"/>
            <a:ext cx="7863840" cy="1298448"/>
          </a:xfrm>
          <a:prstGeom prst="rect">
            <a:avLst/>
          </a:prstGeom>
          <a:noFill/>
          <a:ln/>
        </p:spPr>
        <p:txBody>
          <a:bodyPr wrap="square" rtlCol="0" anchor="t"/>
          <a:lstStyle/>
          <a:p>
            <a:pPr indent="0" marL="0">
              <a:buNone/>
            </a:pPr>
            <a:r>
              <a:rPr lang="en-US" sz="1400" b="1" dirty="0">
                <a:solidFill>
                  <a:srgbClr val="F26A21"/>
                </a:solidFill>
              </a:rPr>
              <a:t>Exclusivity period: </a:t>
            </a:r>
            <a:pPr indent="0" marL="0">
              <a:buNone/>
            </a:pPr>
            <a:r>
              <a:rPr lang="en-US" sz="1400" dirty="0">
                <a:solidFill>
                  <a:srgbClr val="CCCCCC"/>
                </a:solidFill>
              </a:rPr>
              <a:t>90 days from board confirmation; extension not unreasonably withheld (§3)
</a:t>
            </a:r>
            <a:pPr indent="0" marL="0">
              <a:buNone/>
            </a:pPr>
            <a:r>
              <a:rPr lang="en-US" sz="1400" b="1" dirty="0">
                <a:solidFill>
                  <a:srgbClr val="F26A21"/>
                </a:solidFill>
              </a:rPr>
              <a:t>Holdback: </a:t>
            </a:r>
            <a:pPr indent="0" marL="0">
              <a:buNone/>
            </a:pPr>
            <a:r>
              <a:rPr lang="en-US" sz="1400" dirty="0">
                <a:solidFill>
                  <a:srgbClr val="CCCCCC"/>
                </a:solidFill>
              </a:rPr>
              <a:t>5% escrow, released at 12-month anniversary (§7)
</a:t>
            </a:r>
            <a:pPr indent="0" marL="0">
              <a:buNone/>
            </a:pPr>
            <a:r>
              <a:rPr lang="en-US" sz="1400" b="1" dirty="0">
                <a:solidFill>
                  <a:srgbClr val="F26A21"/>
                </a:solidFill>
              </a:rPr>
              <a:t>Agreement basis: </a:t>
            </a:r>
            <a:pPr indent="0" marL="0">
              <a:buNone/>
            </a:pPr>
            <a:r>
              <a:rPr lang="en-US" sz="1400" dirty="0">
                <a:solidFill>
                  <a:srgbClr val="CCCCCC"/>
                </a:solidFill>
              </a:rPr>
              <a:t>May 2025 Asset Acquisition Agreement — §3 exclusivity trigger</a:t>
            </a:r>
            <a:endParaRPr lang="en-US" sz="1400" dirty="0"/>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$198K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on hand</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Current working capital</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A $5.1M fiscal year requires approximately $1.46M per quarter — nearly double last quarter's pace of $713K — starting Oct 1st. Exos's offer removes the funding risk, solves the physical-space and single-winder constraints (with capital in the new year),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900" dirty="0">
                <a:solidFill>
                  <a:srgbClr val="CCCCCC"/>
                </a:solidFill>
              </a:rPr>
              <a:t>5% of IM tank revenue/yr</a:t>
            </a:r>
            <a:endParaRPr lang="en-US" sz="900" dirty="0"/>
          </a:p>
          <a:p>
            <a:pPr algn="l" indent="0" marL="0">
              <a:buNone/>
            </a:pPr>
            <a:r>
              <a:rPr lang="en-US" sz="9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900" dirty="0">
                <a:solidFill>
                  <a:srgbClr val="CCCCCC"/>
                </a:solidFill>
              </a:rPr>
              <a:t>Revenue SSLC achieves</a:t>
            </a:r>
            <a:endParaRPr lang="en-US" sz="900" dirty="0"/>
          </a:p>
          <a:p>
            <a:pPr algn="l" indent="0" marL="0">
              <a:buNone/>
            </a:pPr>
            <a:r>
              <a:rPr lang="en-US" sz="9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900" dirty="0">
                <a:solidFill>
                  <a:srgbClr val="F26A21"/>
                </a:solidFill>
              </a:rPr>
              <a:t>$3.0M/yr</a:t>
            </a:r>
            <a:endParaRPr lang="en-US" sz="900" dirty="0"/>
          </a:p>
          <a:p>
            <a:pPr algn="ctr" indent="0" marL="0">
              <a:buNone/>
            </a:pPr>
            <a:r>
              <a:rPr lang="en-US" sz="900" dirty="0">
                <a:solidFill>
                  <a:srgbClr val="F26A21"/>
                </a:solidFill>
              </a:rPr>
              <a:t>→$150K/yr</a:t>
            </a:r>
            <a:endParaRPr lang="en-US" sz="900" dirty="0"/>
          </a:p>
          <a:p>
            <a:pPr algn="ctr" indent="0" marL="0">
              <a:buNone/>
            </a:pPr>
            <a:r>
              <a:rPr lang="en-US" sz="9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900" dirty="0">
                <a:solidFill>
                  <a:srgbClr val="F26A21"/>
                </a:solidFill>
              </a:rPr>
              <a:t>$5.0M/yr</a:t>
            </a:r>
            <a:endParaRPr lang="en-US" sz="900" dirty="0"/>
          </a:p>
          <a:p>
            <a:pPr algn="ctr" indent="0" marL="0">
              <a:buNone/>
            </a:pPr>
            <a:r>
              <a:rPr lang="en-US" sz="900" dirty="0">
                <a:solidFill>
                  <a:srgbClr val="F26A21"/>
                </a:solidFill>
              </a:rPr>
              <a:t>→$250K/yr</a:t>
            </a:r>
            <a:endParaRPr lang="en-US" sz="900" dirty="0"/>
          </a:p>
          <a:p>
            <a:pPr algn="ctr" indent="0" marL="0">
              <a:buNone/>
            </a:pPr>
            <a:r>
              <a:rPr lang="en-US" sz="9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900" dirty="0">
                <a:solidFill>
                  <a:srgbClr val="F26A21"/>
                </a:solidFill>
              </a:rPr>
              <a:t>$6.0M+/yr</a:t>
            </a:r>
            <a:endParaRPr lang="en-US" sz="900" dirty="0"/>
          </a:p>
          <a:p>
            <a:pPr algn="ctr" indent="0" marL="0">
              <a:buNone/>
            </a:pPr>
            <a:r>
              <a:rPr lang="en-US" sz="900" dirty="0">
                <a:solidFill>
                  <a:srgbClr val="F26A21"/>
                </a:solidFill>
              </a:rPr>
              <a:t>→$300K/yr (cap)</a:t>
            </a:r>
            <a:endParaRPr lang="en-US" sz="900" dirty="0"/>
          </a:p>
          <a:p>
            <a:pPr algn="ctr" indent="0" marL="0">
              <a:buNone/>
            </a:pPr>
            <a:r>
              <a:rPr lang="en-US" sz="9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900" dirty="0">
                <a:solidFill>
                  <a:srgbClr val="F26A21"/>
                </a:solidFill>
              </a:rPr>
              <a:t>Annual</a:t>
            </a:r>
            <a:endParaRPr lang="en-US" sz="900" dirty="0"/>
          </a:p>
          <a:p>
            <a:pPr algn="ctr" indent="0" marL="0">
              <a:buNone/>
            </a:pPr>
            <a:r>
              <a:rPr lang="en-US" sz="9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9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9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9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9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9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9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9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9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900" dirty="0">
                <a:solidFill>
                  <a:srgbClr val="CCCCCC"/>
                </a:solidFill>
              </a:rPr>
              <a:t>M5  50% reduction in tank build cost</a:t>
            </a:r>
            <a:endParaRPr lang="en-US" sz="900" dirty="0"/>
          </a:p>
          <a:p>
            <a:pPr algn="l" indent="0" marL="0">
              <a:buNone/>
            </a:pPr>
            <a:r>
              <a:rPr lang="en-US" sz="9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900" dirty="0">
                <a:solidFill>
                  <a:srgbClr val="CCCCCC"/>
                </a:solidFill>
              </a:rPr>
              <a:t>50% cost reduction proven</a:t>
            </a:r>
            <a:endParaRPr lang="en-US" sz="900" dirty="0"/>
          </a:p>
          <a:p>
            <a:pPr algn="l" indent="0" marL="0">
              <a:buNone/>
            </a:pPr>
            <a:r>
              <a:rPr lang="en-US" sz="9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900" dirty="0">
                <a:solidFill>
                  <a:srgbClr val="CCCCCC"/>
                </a:solidFill>
              </a:rPr>
              <a:t>Exos stock earn-out at RTO listing</a:t>
            </a:r>
            <a:endParaRPr lang="en-US" sz="900" dirty="0"/>
          </a:p>
          <a:p>
            <a:pPr algn="l" indent="0" marL="0">
              <a:buNone/>
            </a:pPr>
            <a:r>
              <a:rPr lang="en-US" sz="9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9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9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pic>
        <p:nvPicPr>
          <p:cNvPr id="37" name="Image 0" descr="/Users/exomac/.openclaw/workspace/drafts/SSLC_OptionB_Total_Compensation_5yr_2026-10-07.png">    </p:cNvPr>
          <p:cNvPicPr>
            <a:picLocks noChangeAspect="1"/>
          </p:cNvPicPr>
          <p:nvPr/>
        </p:nvPicPr>
        <p:blipFill>
          <a:blip r:embed="rId1"/>
          <a:stretch>
            <a:fillRect/>
          </a:stretch>
        </p:blipFill>
        <p:spPr>
          <a:xfrm>
            <a:off x="320040" y="2606040"/>
            <a:ext cx="8503920" cy="2194560"/>
          </a:xfrm>
          <a:prstGeom prst="rect">
            <a:avLst/>
          </a:prstGeom>
        </p:spPr>
      </p:pic>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800" i="1" dirty="0">
                <a:solidFill>
                  <a:srgbClr val="888888"/>
                </a:solidFill>
              </a:rPr>
              <a:t>④ is a forward-looking projection, not a guarantee; an alternative to ③ — not added to it. RTO may not close.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500" b="1" dirty="0">
                <a:solidFill>
                  <a:srgbClr val="F26A21"/>
                </a:solidFill>
              </a:rPr>
              <a:t>One decision today: confirm §3 exclusivity  →  90 days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sp>
      <p:sp>
        <p:nvSpPr>
          <p:cNvPr id="5" name="Shape 2"/>
          <p:cNvSpPr/>
          <p:nvPr/>
        </p:nvSpPr>
        <p:spPr>
          <a:xfrm>
            <a:off x="1024128" y="1426464"/>
            <a:ext cx="0" cy="201168"/>
          </a:xfrm>
          <a:prstGeom prst="line">
            <a:avLst/>
          </a:prstGeom>
          <a:noFill/>
          <a:ln w="12700">
            <a:solidFill>
              <a:srgbClr val="F26A21"/>
            </a:solidFill>
            <a:prstDash val="solid"/>
          </a:ln>
        </p:spPr>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Confirms Exclusivity</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300" b="1" dirty="0">
                <a:solidFill>
                  <a:srgbClr val="F26A21"/>
                </a:solidFill>
              </a:rPr>
              <a:t>The Board is asked to confirm §3 exclusivity. Questions and open items welcome.</a:t>
            </a:r>
            <a:endParaRPr lang="en-US" sz="13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85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850" b="1" i="0">
                <a:solidFill>
                  <a:srgbClr val="F26A21"/>
                </a:solidFill>
                <a:latin typeface="Calibri"/>
              </a:rPr>
              <a:t>WHAT SSLC OWES  (10/2/2026)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8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9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8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9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8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9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800" b="0" i="0">
                <a:solidFill>
                  <a:srgbClr val="CCCCCC"/>
                </a:solidFill>
                <a:latin typeface="Calibri"/>
              </a:rPr>
              <a:t>Exos: 18.06% → $789,572</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9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8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9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800" b="0" i="0">
                <a:solidFill>
                  <a:srgbClr val="CCCCCC"/>
                </a:solidFill>
                <a:latin typeface="Calibri"/>
              </a:rPr>
              <a:t>Total equity (10/2/2026)</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900" b="1" i="0">
                <a:solidFill>
                  <a:srgbClr val="FF6666"/>
                </a:solidFill>
                <a:latin typeface="Calibri"/>
              </a:rPr>
              <a:t>−$1,403,075</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8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8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9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8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9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8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9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8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9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800" b="0" i="0">
                <a:solidFill>
                  <a:srgbClr val="CCCCCC"/>
                </a:solidFill>
                <a:latin typeface="Calibri"/>
              </a:rPr>
              <a:t>Exos loan (11%, Acct 2720)</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900" b="1" i="0">
                <a:solidFill>
                  <a:srgbClr val="F26A21"/>
                </a:solidFill>
                <a:latin typeface="Calibri"/>
              </a:rPr>
              <a:t>$31,200</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800" b="0" i="0">
                <a:solidFill>
                  <a:srgbClr val="CCCCCC"/>
                </a:solidFill>
                <a:latin typeface="Calibri"/>
              </a:rPr>
              <a:t>Total liabilities (10/2)</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900" b="1" i="0">
                <a:solidFill>
                  <a:srgbClr val="FF6666"/>
                </a:solidFill>
                <a:latin typeface="Calibri"/>
              </a:rPr>
              <a:t>$1,275,622</a:t>
            </a:r>
          </a:p>
        </p:txBody>
      </p:sp>
      <p:sp>
        <p:nvSpPr>
          <p:cNvPr id="42" name="Rectangle 41"/>
          <p:cNvSpPr/>
          <p:nvPr/>
        </p:nvSpPr>
        <p:spPr>
          <a:xfrm>
            <a:off x="109728" y="3643884"/>
            <a:ext cx="8924544" cy="749808"/>
          </a:xfrm>
          <a:prstGeom prst="rect">
            <a:avLst/>
          </a:prstGeom>
          <a:solidFill>
            <a:srgbClr val="1E1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9728" y="3643884"/>
            <a:ext cx="50292" cy="74980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9456" y="3680459"/>
            <a:ext cx="8686800" cy="173736"/>
          </a:xfrm>
          <a:prstGeom prst="rect">
            <a:avLst/>
          </a:prstGeom>
          <a:noFill/>
        </p:spPr>
        <p:txBody>
          <a:bodyPr wrap="square">
            <a:spAutoFit/>
          </a:bodyPr>
          <a:lstStyle/>
          <a:p>
            <a:pPr algn="l"/>
            <a:r>
              <a:rPr sz="800" b="1" i="0">
                <a:solidFill>
                  <a:srgbClr val="F26A21"/>
                </a:solidFill>
                <a:latin typeface="Calibri"/>
              </a:rPr>
              <a:t>UNBOOKED OFFSET  (illustrative — no written cost-sharing agreement on file)</a:t>
            </a:r>
          </a:p>
        </p:txBody>
      </p:sp>
      <p:sp>
        <p:nvSpPr>
          <p:cNvPr id="45" name="TextBox 44"/>
          <p:cNvSpPr txBox="1"/>
          <p:nvPr/>
        </p:nvSpPr>
        <p:spPr>
          <a:xfrm>
            <a:off x="219456" y="3890772"/>
            <a:ext cx="8686800" cy="457200"/>
          </a:xfrm>
          <a:prstGeom prst="rect">
            <a:avLst/>
          </a:prstGeom>
          <a:noFill/>
        </p:spPr>
        <p:txBody>
          <a:bodyPr wrap="square">
            <a:spAutoFit/>
          </a:bodyPr>
          <a:lstStyle/>
          <a:p>
            <a:pPr algn="l"/>
            <a:r>
              <a:rPr sz="750" b="0" i="0">
                <a:solidFill>
                  <a:srgbClr val="CCCCCC"/>
                </a:solidFill>
                <a:latin typeface="Calibri"/>
              </a:rPr>
              <a:t>SSLC has paid ~100% of shared Torrance facility costs: ~$354K in FY26 (rent $294K + utilities $31K + other), ~$967K est. Jan 2024–Oct 2026.  At a 50% Microcosm share (illustrative) → ~$483K offsets $451K due to Microcosm = SSLC net creditor ~$32K.  "$864K 'billed-ahead' balance disputed; under review (full QuickBooks access requested)."</a:t>
            </a:r>
          </a:p>
        </p:txBody>
      </p:sp>
      <p:sp>
        <p:nvSpPr>
          <p:cNvPr id="46" name="TextBox 45"/>
          <p:cNvSpPr txBox="1"/>
          <p:nvPr/>
        </p:nvSpPr>
        <p:spPr>
          <a:xfrm>
            <a:off x="228600" y="4416552"/>
            <a:ext cx="8229600" cy="155448"/>
          </a:xfrm>
          <a:prstGeom prst="rect">
            <a:avLst/>
          </a:prstGeom>
          <a:noFill/>
        </p:spPr>
        <p:txBody>
          <a:bodyPr wrap="square">
            <a:spAutoFit/>
          </a:bodyPr>
          <a:lstStyle/>
          <a:p>
            <a:pPr algn="l"/>
            <a:r>
              <a:rPr sz="700" b="0" i="1">
                <a:solidFill>
                  <a:srgbClr val="888888"/>
                </a:solidFill>
                <a:latin typeface="Calibri"/>
              </a:rPr>
              <a:t>per SSLC QuickBooks 8/21 and 10/2/2026; Microcosm offset illustrative</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7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700" b="0" i="1">
                <a:solidFill>
                  <a:srgbClr val="888888"/>
                </a:solidFill>
                <a:latin typeface="Calibri"/>
              </a:rPr>
              <a:t>CONFIDENTIAL</a:t>
            </a:r>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