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6" r:id="rId5"/>
    <p:sldId id="272" r:id="rId6"/>
    <p:sldId id="273" r:id="rId7"/>
    <p:sldId id="269" r:id="rId8"/>
    <p:sldId id="271" r:id="rId9"/>
    <p:sldId id="259" r:id="rId10"/>
    <p:sldId id="260" r:id="rId11"/>
    <p:sldId id="261" r:id="rId12"/>
    <p:sldId id="262" r:id="rId13"/>
    <p:sldId id="263" r:id="rId14"/>
    <p:sldId id="264" r:id="rId15"/>
    <p:sldId id="268" r:id="rId16"/>
    <p:sldId id="267" r:id="rId17"/>
    <p:sldId id="270" r:id="rId18"/>
    <p:sldId id="26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31" autoAdjust="0"/>
    <p:restoredTop sz="94610"/>
  </p:normalViewPr>
  <p:slideViewPr>
    <p:cSldViewPr snapToGrid="0" snapToObjects="1">
      <p:cViewPr>
        <p:scale>
          <a:sx n="122" d="100"/>
          <a:sy n="122" d="100"/>
        </p:scale>
        <p:origin x="45"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73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lstStyle/>
          <a:p>
            <a:endParaR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marL="0" indent="0" algn="ctr">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marL="0" indent="0" algn="ctr">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marL="0" indent="0" algn="ctr">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lstStyle/>
          <a:p>
            <a:endParaRPr/>
          </a:p>
        </p:txBody>
      </p:sp>
      <p:sp>
        <p:nvSpPr>
          <p:cNvPr id="7" name="Text 4"/>
          <p:cNvSpPr txBox="1"/>
          <p:nvPr/>
        </p:nvSpPr>
        <p:spPr>
          <a:xfrm>
            <a:off x="548640" y="2971800"/>
            <a:ext cx="8046720" cy="347472"/>
          </a:xfrm>
          <a:prstGeom prst="rect">
            <a:avLst/>
          </a:prstGeom>
          <a:noFill/>
          <a:ln/>
        </p:spPr>
        <p:txBody>
          <a:bodyPr wrap="square" rtlCol="0" anchor="ctr"/>
          <a:lstStyle/>
          <a:p>
            <a:pPr marL="0" indent="0" algn="ctr">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marL="0" indent="0" algn="ctr">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marL="0" indent="0" algn="ctr">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icPr>
            <a:picLocks noChangeAspect="1"/>
          </p:cNvPicPr>
          <p:nvPr/>
        </p:nvPicPr>
        <p:blipFill>
          <a:blip r:embed="rId4"/>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marL="0" indent="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marL="0" indent="0" algn="l">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marL="0" indent="0" algn="l">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lstStyle/>
          <a:p>
            <a:endParaRPr/>
          </a:p>
        </p:txBody>
      </p:sp>
      <p:sp>
        <p:nvSpPr>
          <p:cNvPr id="6" name="Text 4"/>
          <p:cNvSpPr txBox="1"/>
          <p:nvPr/>
        </p:nvSpPr>
        <p:spPr>
          <a:xfrm>
            <a:off x="640080" y="2944368"/>
            <a:ext cx="7863840" cy="1508760"/>
          </a:xfrm>
          <a:prstGeom prst="rect">
            <a:avLst/>
          </a:prstGeom>
          <a:noFill/>
          <a:ln/>
        </p:spPr>
        <p:txBody>
          <a:bodyPr wrap="square" rtlCol="0" anchor="t"/>
          <a:lstStyle/>
          <a:p>
            <a:pPr marL="0" indent="0">
              <a:buNone/>
            </a:pPr>
            <a:r>
              <a:rPr lang="en-US" sz="1200" b="1" dirty="0">
                <a:solidFill>
                  <a:srgbClr val="F26A21"/>
                </a:solidFill>
              </a:rPr>
              <a:t>Motion 1: </a:t>
            </a:r>
            <a:r>
              <a:rPr lang="en-US" sz="1200" dirty="0">
                <a:solidFill>
                  <a:srgbClr val="CCCCCC"/>
                </a:solidFill>
              </a:rPr>
              <a:t>Approve Exos offer (Option B) + §3 exclusivity (90-day; 60-day ext. if progress)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b="0" dirty="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b="1" dirty="0">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1000" i="1" dirty="0">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lstStyle/>
          <a:p>
            <a:endParaRPr/>
          </a:p>
        </p:txBody>
      </p:sp>
      <p:sp>
        <p:nvSpPr>
          <p:cNvPr id="5" name="Text 3"/>
          <p:cNvSpPr txBox="1"/>
          <p:nvPr/>
        </p:nvSpPr>
        <p:spPr>
          <a:xfrm>
            <a:off x="457200" y="1234440"/>
            <a:ext cx="2377440" cy="868680"/>
          </a:xfrm>
          <a:prstGeom prst="rect">
            <a:avLst/>
          </a:prstGeom>
          <a:noFill/>
          <a:ln/>
        </p:spPr>
        <p:txBody>
          <a:bodyPr wrap="square" rtlCol="0" anchor="ctr"/>
          <a:lstStyle/>
          <a:p>
            <a:pPr marL="0" indent="0" algn="ctr">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marL="0" indent="0" algn="ctr">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marL="0" indent="0" algn="ctr">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lstStyle/>
          <a:p>
            <a:endParaRPr/>
          </a:p>
        </p:txBody>
      </p:sp>
      <p:sp>
        <p:nvSpPr>
          <p:cNvPr id="9" name="Text 7"/>
          <p:cNvSpPr txBox="1"/>
          <p:nvPr/>
        </p:nvSpPr>
        <p:spPr>
          <a:xfrm>
            <a:off x="3291840" y="1234440"/>
            <a:ext cx="2377440" cy="868680"/>
          </a:xfrm>
          <a:prstGeom prst="rect">
            <a:avLst/>
          </a:prstGeom>
          <a:noFill/>
          <a:ln/>
        </p:spPr>
        <p:txBody>
          <a:bodyPr wrap="square" rtlCol="0" anchor="ctr"/>
          <a:lstStyle/>
          <a:p>
            <a:pPr marL="0" indent="0" algn="ctr">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marL="0" indent="0" algn="ctr">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marL="0" indent="0" algn="ctr">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lstStyle/>
          <a:p>
            <a:endParaRPr/>
          </a:p>
        </p:txBody>
      </p:sp>
      <p:sp>
        <p:nvSpPr>
          <p:cNvPr id="13" name="Text 11"/>
          <p:cNvSpPr txBox="1"/>
          <p:nvPr/>
        </p:nvSpPr>
        <p:spPr>
          <a:xfrm>
            <a:off x="6126480" y="1234440"/>
            <a:ext cx="2377440" cy="868680"/>
          </a:xfrm>
          <a:prstGeom prst="rect">
            <a:avLst/>
          </a:prstGeom>
          <a:noFill/>
          <a:ln/>
        </p:spPr>
        <p:txBody>
          <a:bodyPr wrap="square" rtlCol="0" anchor="ctr"/>
          <a:lstStyle/>
          <a:p>
            <a:pPr marL="0" indent="0" algn="ctr">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marL="0" indent="0" algn="ctr">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marL="0" indent="0" algn="ctr">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lstStyle/>
          <a:p>
            <a:endParaRPr/>
          </a:p>
        </p:txBody>
      </p:sp>
      <p:sp>
        <p:nvSpPr>
          <p:cNvPr id="17" name="Text 15"/>
          <p:cNvSpPr txBox="1"/>
          <p:nvPr/>
        </p:nvSpPr>
        <p:spPr>
          <a:xfrm>
            <a:off x="640080" y="3429000"/>
            <a:ext cx="7863840" cy="868680"/>
          </a:xfrm>
          <a:prstGeom prst="rect">
            <a:avLst/>
          </a:prstGeom>
          <a:noFill/>
          <a:ln/>
        </p:spPr>
        <p:txBody>
          <a:bodyPr wrap="square" rtlCol="0" anchor="ctr"/>
          <a:lstStyle/>
          <a:p>
            <a:pPr marL="0" indent="0" algn="l">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2539746"/>
            <a:ext cx="2926080" cy="205740"/>
          </a:xfrm>
          <a:prstGeom prst="rect">
            <a:avLst/>
          </a:prstGeom>
          <a:noFill/>
        </p:spPr>
        <p:txBody>
          <a:bodyPr wrap="square">
            <a:spAutoFit/>
          </a:bodyPr>
          <a:lstStyle/>
          <a:p>
            <a:pPr algn="l"/>
            <a:r>
              <a:rPr sz="1000" b="0" i="0" dirty="0">
                <a:solidFill>
                  <a:srgbClr val="CCCCCC"/>
                </a:solidFill>
                <a:latin typeface="Calibri"/>
              </a:rPr>
              <a:t>Total liabilities (10/11)</a:t>
            </a:r>
          </a:p>
        </p:txBody>
      </p:sp>
      <p:sp>
        <p:nvSpPr>
          <p:cNvPr id="41" name="TextBox 40"/>
          <p:cNvSpPr txBox="1"/>
          <p:nvPr/>
        </p:nvSpPr>
        <p:spPr>
          <a:xfrm>
            <a:off x="7379209" y="2526577"/>
            <a:ext cx="1527047" cy="205740"/>
          </a:xfrm>
          <a:prstGeom prst="rect">
            <a:avLst/>
          </a:prstGeom>
          <a:noFill/>
        </p:spPr>
        <p:txBody>
          <a:bodyPr wrap="square">
            <a:spAutoFit/>
          </a:bodyPr>
          <a:lstStyle/>
          <a:p>
            <a:pPr algn="r"/>
            <a:r>
              <a:rPr sz="1000" b="1" i="0" dirty="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1000" i="1" dirty="0">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b="1" dirty="0">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b="1" dirty="0">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b="1" dirty="0">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b="1" dirty="0">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b="1" dirty="0">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CCCCCC"/>
                </a:solidFill>
                <a:latin typeface="Calibri"/>
              </a:rPr>
              <a:t>Undocumented / unsubstantiated billings (Motion 3)</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b="1" dirty="0">
                <a:solidFill>
                  <a:srgbClr val="F26A21"/>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FFFFFF"/>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FFFFFF"/>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CCCCCC"/>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b="1" dirty="0">
                <a:solidFill>
                  <a:srgbClr val="F26A21"/>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CCCCCC"/>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CCCCCC"/>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b="1" dirty="0">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b="1" dirty="0">
                <a:solidFill>
                  <a:srgbClr val="DD4444"/>
                </a:solidFill>
                <a:latin typeface="Calibri"/>
              </a:rPr>
              <a:t>-$1,443,882</a:t>
            </a:r>
          </a:p>
        </p:txBody>
      </p:sp>
      <p:sp>
        <p:nvSpPr>
          <p:cNvPr id="56" name="TextBox 55"/>
          <p:cNvSpPr txBox="1"/>
          <p:nvPr/>
        </p:nvSpPr>
        <p:spPr>
          <a:xfrm>
            <a:off x="256032" y="2286000"/>
            <a:ext cx="3657600" cy="164592"/>
          </a:xfrm>
          <a:prstGeom prst="rect">
            <a:avLst/>
          </a:prstGeom>
          <a:noFill/>
        </p:spPr>
        <p:txBody>
          <a:bodyPr wrap="none" anchor="ctr">
            <a:spAutoFit/>
          </a:bodyPr>
          <a:lstStyle/>
          <a:p>
            <a:r>
              <a:rPr lang="en-US" sz="1000" dirty="0">
                <a:solidFill>
                  <a:srgbClr val="CCCCCC"/>
                </a:solidFill>
                <a:latin typeface="Calibri"/>
              </a:rPr>
              <a:t>Step 1 credits (+$448K):</a:t>
            </a:r>
          </a:p>
        </p:txBody>
      </p:sp>
      <p:sp>
        <p:nvSpPr>
          <p:cNvPr id="57" name="TextBox 56"/>
          <p:cNvSpPr txBox="1"/>
          <p:nvPr/>
        </p:nvSpPr>
        <p:spPr>
          <a:xfrm>
            <a:off x="3977639" y="2286000"/>
            <a:ext cx="5029200" cy="164592"/>
          </a:xfrm>
          <a:prstGeom prst="rect">
            <a:avLst/>
          </a:prstGeom>
          <a:noFill/>
        </p:spPr>
        <p:txBody>
          <a:bodyPr wrap="none" anchor="ctr">
            <a:spAutoFit/>
          </a:bodyPr>
          <a:lstStyle/>
          <a:p>
            <a:r>
              <a:rPr lang="en-US" sz="1000" b="1" dirty="0">
                <a:solidFill>
                  <a:srgbClr val="F26A21"/>
                </a:solidFill>
                <a:latin typeface="Calibri"/>
              </a:rPr>
              <a:t>-$1,443,882 + $448K ≈ -$996K</a:t>
            </a:r>
          </a:p>
        </p:txBody>
      </p:sp>
      <p:sp>
        <p:nvSpPr>
          <p:cNvPr id="58" name="TextBox 57"/>
          <p:cNvSpPr txBox="1"/>
          <p:nvPr/>
        </p:nvSpPr>
        <p:spPr>
          <a:xfrm>
            <a:off x="256032" y="2468880"/>
            <a:ext cx="3657600" cy="164592"/>
          </a:xfrm>
          <a:prstGeom prst="rect">
            <a:avLst/>
          </a:prstGeom>
          <a:noFill/>
        </p:spPr>
        <p:txBody>
          <a:bodyPr wrap="none" anchor="ctr">
            <a:spAutoFit/>
          </a:bodyPr>
          <a:lstStyle/>
          <a:p>
            <a:r>
              <a:rPr lang="en-US" sz="1000" dirty="0">
                <a:solidFill>
                  <a:srgbClr val="CCCCCC"/>
                </a:solidFill>
                <a:latin typeface="Calibri"/>
              </a:rPr>
              <a:t>Steps 1+2 (+$967K):</a:t>
            </a:r>
          </a:p>
        </p:txBody>
      </p:sp>
      <p:sp>
        <p:nvSpPr>
          <p:cNvPr id="59" name="TextBox 58"/>
          <p:cNvSpPr txBox="1"/>
          <p:nvPr/>
        </p:nvSpPr>
        <p:spPr>
          <a:xfrm>
            <a:off x="3977639" y="2468880"/>
            <a:ext cx="5029200" cy="164592"/>
          </a:xfrm>
          <a:prstGeom prst="rect">
            <a:avLst/>
          </a:prstGeom>
          <a:noFill/>
        </p:spPr>
        <p:txBody>
          <a:bodyPr wrap="none" anchor="ctr">
            <a:spAutoFit/>
          </a:bodyPr>
          <a:lstStyle/>
          <a:p>
            <a:r>
              <a:rPr lang="en-US" sz="1000" b="1" dirty="0">
                <a:solidFill>
                  <a:srgbClr val="F26A21"/>
                </a:solidFill>
                <a:latin typeface="Calibri"/>
              </a:rPr>
              <a:t>-$1,443,882 + $967K ≈ -$477K</a:t>
            </a:r>
          </a:p>
        </p:txBody>
      </p:sp>
      <p:sp>
        <p:nvSpPr>
          <p:cNvPr id="60" name="TextBox 59"/>
          <p:cNvSpPr txBox="1"/>
          <p:nvPr/>
        </p:nvSpPr>
        <p:spPr>
          <a:xfrm>
            <a:off x="256032" y="2651760"/>
            <a:ext cx="3657600" cy="164592"/>
          </a:xfrm>
          <a:prstGeom prst="rect">
            <a:avLst/>
          </a:prstGeom>
          <a:noFill/>
        </p:spPr>
        <p:txBody>
          <a:bodyPr wrap="none" anchor="ctr">
            <a:spAutoFit/>
          </a:bodyPr>
          <a:lstStyle/>
          <a:p>
            <a:r>
              <a:rPr lang="en-US" sz="1000" dirty="0">
                <a:solidFill>
                  <a:srgbClr val="CCCCCC"/>
                </a:solidFill>
                <a:latin typeface="Calibri"/>
              </a:rPr>
              <a:t>Steps 1+2+3 (+$1,261K):</a:t>
            </a:r>
          </a:p>
        </p:txBody>
      </p:sp>
      <p:sp>
        <p:nvSpPr>
          <p:cNvPr id="61" name="TextBox 60"/>
          <p:cNvSpPr txBox="1"/>
          <p:nvPr/>
        </p:nvSpPr>
        <p:spPr>
          <a:xfrm>
            <a:off x="3977639" y="2651760"/>
            <a:ext cx="5029200" cy="164592"/>
          </a:xfrm>
          <a:prstGeom prst="rect">
            <a:avLst/>
          </a:prstGeom>
          <a:noFill/>
        </p:spPr>
        <p:txBody>
          <a:bodyPr wrap="none" anchor="ctr">
            <a:spAutoFit/>
          </a:bodyPr>
          <a:lstStyle/>
          <a:p>
            <a:r>
              <a:rPr lang="en-US" sz="1000" b="1" dirty="0">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none" anchor="ctr">
            <a:spAutoFit/>
          </a:bodyPr>
          <a:lstStyle/>
          <a:p>
            <a:r>
              <a:rPr lang="en-US" sz="1000" i="1" dirty="0">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56032" y="3108960"/>
            <a:ext cx="8631936" cy="182880"/>
          </a:xfrm>
          <a:prstGeom prst="rect">
            <a:avLst/>
          </a:prstGeom>
          <a:noFill/>
        </p:spPr>
        <p:txBody>
          <a:bodyPr wrap="none" anchor="ctr">
            <a:spAutoFit/>
          </a:bodyPr>
          <a:lstStyle/>
          <a:p>
            <a:r>
              <a:rPr lang="en-US" sz="1100" dirty="0" b="1">
                <a:solidFill>
                  <a:srgbClr val="FFFFFF"/>
                </a:solidFill>
                <a:latin typeface="Calibri"/>
              </a:rPr>
              <a:t>WHAT THIS MEANS FOR SSLC SHAREHOLDERS OUTSIDE THE MICROCOSM/WERTZ GROUP.</a:t>
            </a:r>
          </a:p>
          <a:p>
            <a:r>
              <a:rPr lang="en-US" sz="1000" dirty="0">
                <a:solidFill>
                  <a:srgbClr val="CCCCCC"/>
                </a:solidFill>
                <a:latin typeface="Calibri"/>
              </a:rPr>
              <a:t>Cash at a Jan 15, 2027 close for each 1% of SSLC owned (8,725 shares).</a:t>
            </a:r>
          </a:p>
        </p:txBody>
      </p:sp>
      <p:sp>
        <p:nvSpPr>
          <p:cNvPr id="66" name="TextBox 65"/>
          <p:cNvSpPr txBox="1"/>
          <p:nvPr/>
        </p:nvSpPr>
        <p:spPr>
          <a:xfrm>
            <a:off x="256032" y="3328416"/>
            <a:ext cx="3749039" cy="164592"/>
          </a:xfrm>
          <a:prstGeom prst="rect">
            <a:avLst/>
          </a:prstGeom>
          <a:noFill/>
        </p:spPr>
        <p:txBody>
          <a:bodyPr wrap="none" anchor="ctr">
            <a:spAutoFit/>
          </a:bodyPr>
          <a:lstStyle/>
          <a:p>
            <a:r>
              <a:rPr lang="en-US" sz="1000" dirty="0">
                <a:solidFill>
                  <a:srgbClr val="888888"/>
                </a:solidFill>
                <a:latin typeface="Calibri"/>
              </a:rPr>
              <a:t>As booked (no corrections applied):</a:t>
            </a:r>
          </a:p>
        </p:txBody>
      </p:sp>
      <p:sp>
        <p:nvSpPr>
          <p:cNvPr id="67" name="TextBox 66"/>
          <p:cNvSpPr txBox="1"/>
          <p:nvPr/>
        </p:nvSpPr>
        <p:spPr>
          <a:xfrm>
            <a:off x="4114800" y="3328416"/>
            <a:ext cx="2194560" cy="164592"/>
          </a:xfrm>
          <a:prstGeom prst="rect">
            <a:avLst/>
          </a:prstGeom>
          <a:noFill/>
        </p:spPr>
        <p:txBody>
          <a:bodyPr wrap="none" anchor="ctr">
            <a:spAutoFit/>
          </a:bodyPr>
          <a:lstStyle/>
          <a:p>
            <a:r>
              <a:rPr lang="en-US" sz="1000" dirty="0">
                <a:solidFill>
                  <a:srgbClr val="888888"/>
                </a:solidFill>
                <a:latin typeface="Calibri"/>
              </a:rPr>
              <a:t>$1,388,000 / 82 =</a:t>
            </a:r>
          </a:p>
        </p:txBody>
      </p:sp>
      <p:sp>
        <p:nvSpPr>
          <p:cNvPr id="68" name="TextBox 67"/>
          <p:cNvSpPr txBox="1"/>
          <p:nvPr/>
        </p:nvSpPr>
        <p:spPr>
          <a:xfrm>
            <a:off x="6400800" y="3328416"/>
            <a:ext cx="2560320" cy="164592"/>
          </a:xfrm>
          <a:prstGeom prst="rect">
            <a:avLst/>
          </a:prstGeom>
          <a:noFill/>
        </p:spPr>
        <p:txBody>
          <a:bodyPr wrap="none" anchor="ctr">
            <a:spAutoFit/>
          </a:bodyPr>
          <a:lstStyle/>
          <a:p>
            <a:r>
              <a:rPr lang="en-US" sz="1000" b="1" dirty="0">
                <a:solidFill>
                  <a:srgbClr val="888888"/>
                </a:solidFill>
                <a:latin typeface="Calibri"/>
              </a:rPr>
              <a:t>$16.9K</a:t>
            </a:r>
          </a:p>
        </p:txBody>
      </p:sp>
      <p:sp>
        <p:nvSpPr>
          <p:cNvPr id="69" name="TextBox 68"/>
          <p:cNvSpPr txBox="1"/>
          <p:nvPr/>
        </p:nvSpPr>
        <p:spPr>
          <a:xfrm>
            <a:off x="256032" y="3515868"/>
            <a:ext cx="3749039" cy="164592"/>
          </a:xfrm>
          <a:prstGeom prst="rect">
            <a:avLst/>
          </a:prstGeom>
          <a:noFill/>
        </p:spPr>
        <p:txBody>
          <a:bodyPr wrap="none" anchor="ctr">
            <a:spAutoFit/>
          </a:bodyPr>
          <a:lstStyle/>
          <a:p>
            <a:r>
              <a:rPr lang="en-US" sz="1000" dirty="0">
                <a:solidFill>
                  <a:srgbClr val="F26A21"/>
                </a:solidFill>
                <a:latin typeface="Calibri"/>
              </a:rPr>
              <a:t>Step 1 applied (+$448K — facility credit + capitalized interest):</a:t>
            </a:r>
          </a:p>
        </p:txBody>
      </p:sp>
      <p:sp>
        <p:nvSpPr>
          <p:cNvPr id="70" name="TextBox 69"/>
          <p:cNvSpPr txBox="1"/>
          <p:nvPr/>
        </p:nvSpPr>
        <p:spPr>
          <a:xfrm>
            <a:off x="4114800" y="3515868"/>
            <a:ext cx="2194560" cy="164592"/>
          </a:xfrm>
          <a:prstGeom prst="rect">
            <a:avLst/>
          </a:prstGeom>
          <a:noFill/>
        </p:spPr>
        <p:txBody>
          <a:bodyPr wrap="none" anchor="ctr">
            <a:spAutoFit/>
          </a:bodyPr>
          <a:lstStyle/>
          <a:p>
            <a:r>
              <a:rPr lang="en-US" sz="1000" dirty="0">
                <a:solidFill>
                  <a:srgbClr val="888888"/>
                </a:solidFill>
                <a:latin typeface="Calibri"/>
              </a:rPr>
              <a:t>$1,836,000 / 82 =</a:t>
            </a:r>
          </a:p>
        </p:txBody>
      </p:sp>
      <p:sp>
        <p:nvSpPr>
          <p:cNvPr id="71" name="TextBox 70"/>
          <p:cNvSpPr txBox="1"/>
          <p:nvPr/>
        </p:nvSpPr>
        <p:spPr>
          <a:xfrm>
            <a:off x="6400800" y="3515868"/>
            <a:ext cx="2560320" cy="164592"/>
          </a:xfrm>
          <a:prstGeom prst="rect">
            <a:avLst/>
          </a:prstGeom>
          <a:noFill/>
        </p:spPr>
        <p:txBody>
          <a:bodyPr wrap="none" anchor="ctr">
            <a:spAutoFit/>
          </a:bodyPr>
          <a:lstStyle/>
          <a:p>
            <a:r>
              <a:rPr lang="en-US" sz="1000" b="1" dirty="0">
                <a:solidFill>
                  <a:srgbClr val="F26A21"/>
                </a:solidFill>
                <a:latin typeface="Calibri"/>
              </a:rPr>
              <a:t>$22.4K</a:t>
            </a:r>
          </a:p>
        </p:txBody>
      </p:sp>
      <p:sp>
        <p:nvSpPr>
          <p:cNvPr id="72" name="TextBox 71"/>
          <p:cNvSpPr txBox="1"/>
          <p:nvPr/>
        </p:nvSpPr>
        <p:spPr>
          <a:xfrm>
            <a:off x="256032" y="3703320"/>
            <a:ext cx="3749039" cy="164592"/>
          </a:xfrm>
          <a:prstGeom prst="rect">
            <a:avLst/>
          </a:prstGeom>
          <a:noFill/>
        </p:spPr>
        <p:txBody>
          <a:bodyPr wrap="none" anchor="ctr">
            <a:spAutoFit/>
          </a:bodyPr>
          <a:lstStyle/>
          <a:p>
            <a:r>
              <a:rPr lang="en-US" sz="1000" dirty="0">
                <a:solidFill>
                  <a:srgbClr val="F26A21"/>
                </a:solidFill>
                <a:latin typeface="Calibri"/>
              </a:rPr>
              <a:t>Steps 1+2 (+$967K — + unsupported offsets corrected):</a:t>
            </a:r>
          </a:p>
        </p:txBody>
      </p:sp>
      <p:sp>
        <p:nvSpPr>
          <p:cNvPr id="73" name="TextBox 72"/>
          <p:cNvSpPr txBox="1"/>
          <p:nvPr/>
        </p:nvSpPr>
        <p:spPr>
          <a:xfrm>
            <a:off x="4114800" y="3703320"/>
            <a:ext cx="2194560" cy="164592"/>
          </a:xfrm>
          <a:prstGeom prst="rect">
            <a:avLst/>
          </a:prstGeom>
          <a:noFill/>
        </p:spPr>
        <p:txBody>
          <a:bodyPr wrap="none" anchor="ctr">
            <a:spAutoFit/>
          </a:bodyPr>
          <a:lstStyle/>
          <a:p>
            <a:r>
              <a:rPr lang="en-US" sz="1000" dirty="0">
                <a:solidFill>
                  <a:srgbClr val="888888"/>
                </a:solidFill>
                <a:latin typeface="Calibri"/>
              </a:rPr>
              <a:t>$2,355,000 / 82 =</a:t>
            </a:r>
          </a:p>
        </p:txBody>
      </p:sp>
      <p:sp>
        <p:nvSpPr>
          <p:cNvPr id="74" name="TextBox 73"/>
          <p:cNvSpPr txBox="1"/>
          <p:nvPr/>
        </p:nvSpPr>
        <p:spPr>
          <a:xfrm>
            <a:off x="6400800" y="3703320"/>
            <a:ext cx="2560320" cy="164592"/>
          </a:xfrm>
          <a:prstGeom prst="rect">
            <a:avLst/>
          </a:prstGeom>
          <a:noFill/>
        </p:spPr>
        <p:txBody>
          <a:bodyPr wrap="none" anchor="ctr">
            <a:spAutoFit/>
          </a:bodyPr>
          <a:lstStyle/>
          <a:p>
            <a:r>
              <a:rPr lang="en-US" sz="1000" b="1" dirty="0">
                <a:solidFill>
                  <a:srgbClr val="F26A21"/>
                </a:solidFill>
                <a:latin typeface="Calibri"/>
              </a:rPr>
              <a:t>$28.7K</a:t>
            </a:r>
          </a:p>
        </p:txBody>
      </p:sp>
      <p:sp>
        <p:nvSpPr>
          <p:cNvPr id="75" name="TextBox 74"/>
          <p:cNvSpPr txBox="1"/>
          <p:nvPr/>
        </p:nvSpPr>
        <p:spPr>
          <a:xfrm>
            <a:off x="256032" y="3890772"/>
            <a:ext cx="3749039" cy="164592"/>
          </a:xfrm>
          <a:prstGeom prst="rect">
            <a:avLst/>
          </a:prstGeom>
          <a:noFill/>
        </p:spPr>
        <p:txBody>
          <a:bodyPr wrap="none" anchor="ctr">
            <a:spAutoFit/>
          </a:bodyPr>
          <a:lstStyle/>
          <a:p>
            <a:r>
              <a:rPr lang="en-US" sz="1000" dirty="0">
                <a:solidFill>
                  <a:srgbClr val="44BB44"/>
                </a:solidFill>
                <a:latin typeface="Calibri"/>
              </a:rPr>
              <a:t>Steps 1+2+3 (+$1,261K — all three corrections applied):</a:t>
            </a:r>
          </a:p>
        </p:txBody>
      </p:sp>
      <p:sp>
        <p:nvSpPr>
          <p:cNvPr id="76" name="TextBox 75"/>
          <p:cNvSpPr txBox="1"/>
          <p:nvPr/>
        </p:nvSpPr>
        <p:spPr>
          <a:xfrm>
            <a:off x="4114800" y="3890772"/>
            <a:ext cx="2194560" cy="164592"/>
          </a:xfrm>
          <a:prstGeom prst="rect">
            <a:avLst/>
          </a:prstGeom>
          <a:noFill/>
        </p:spPr>
        <p:txBody>
          <a:bodyPr wrap="none" anchor="ctr">
            <a:spAutoFit/>
          </a:bodyPr>
          <a:lstStyle/>
          <a:p>
            <a:r>
              <a:rPr lang="en-US" sz="1000" dirty="0">
                <a:solidFill>
                  <a:srgbClr val="888888"/>
                </a:solidFill>
                <a:latin typeface="Calibri"/>
              </a:rPr>
              <a:t>$2,649,000 / 82 =</a:t>
            </a:r>
          </a:p>
        </p:txBody>
      </p:sp>
      <p:sp>
        <p:nvSpPr>
          <p:cNvPr id="77" name="TextBox 76"/>
          <p:cNvSpPr txBox="1"/>
          <p:nvPr/>
        </p:nvSpPr>
        <p:spPr>
          <a:xfrm>
            <a:off x="6400800" y="3890772"/>
            <a:ext cx="2560320" cy="164592"/>
          </a:xfrm>
          <a:prstGeom prst="rect">
            <a:avLst/>
          </a:prstGeom>
          <a:noFill/>
        </p:spPr>
        <p:txBody>
          <a:bodyPr wrap="none" anchor="ctr">
            <a:spAutoFit/>
          </a:bodyPr>
          <a:lstStyle/>
          <a:p>
            <a:r>
              <a:rPr lang="en-US" sz="1000" b="1" dirty="0">
                <a:solidFill>
                  <a:srgbClr val="44BB44"/>
                </a:solidFill>
                <a:latin typeface="Calibri"/>
              </a:rPr>
              <a:t>$32.3K</a:t>
            </a:r>
          </a:p>
        </p:txBody>
      </p:sp>
      <p:sp>
        <p:nvSpPr>
          <p:cNvPr id="78" name="TextBox 36"/>
          <p:cNvSpPr txBox="1"/>
          <p:nvPr/>
        </p:nvSpPr>
        <p:spPr>
          <a:xfrm>
            <a:off x="91440" y="1700784"/>
            <a:ext cx="137160" cy="155448"/>
          </a:xfrm>
          <a:prstGeom prst="rect">
            <a:avLst/>
          </a:prstGeom>
          <a:noFill/>
        </p:spPr>
        <p:txBody>
          <a:bodyPr wrap="none" anchor="ctr">
            <a:spAutoFit/>
          </a:bodyPr>
          <a:lstStyle/>
          <a:p>
            <a:r>
              <a:rPr lang="en-US" sz="1000" b="1" dirty="0">
                <a:solidFill>
                  <a:srgbClr val="F26A21"/>
                </a:solidFill>
                <a:latin typeface="Calibri"/>
              </a:rPr>
              <a:t>S3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3152"/>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Rectangle 148"/>
          <p:cNvSpPr/>
          <p:nvPr/>
        </p:nvSpPr>
        <p:spPr>
          <a:xfrm>
            <a:off x="256032" y="1645920"/>
            <a:ext cx="4206240" cy="155448"/>
          </a:xfrm>
          <a:prstGeom prst="rect">
            <a:avLst/>
          </a:prstGeom>
          <a:solidFill>
            <a:srgbClr val="2D1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256032" y="1481328"/>
            <a:ext cx="4206240" cy="155448"/>
          </a:xfrm>
          <a:prstGeom prst="rect">
            <a:avLst/>
          </a:prstGeom>
          <a:solidFill>
            <a:srgbClr val="3D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i="1" dirty="0">
                <a:solidFill>
                  <a:srgbClr val="888888"/>
                </a:solidFill>
                <a:latin typeface="Calibri"/>
              </a:rPr>
              <a:t>Only two holdings differ (Exos and Conger) between the Aug 2024 share register and the 6/3/2026 QB stock ledger. Motion 2 corrects both.</a:t>
            </a:r>
          </a:p>
        </p:txBody>
      </p:sp>
      <p:sp>
        <p:nvSpPr>
          <p:cNvPr id="9" name="Rectangle 8"/>
          <p:cNvSpPr/>
          <p:nvPr/>
        </p:nvSpPr>
        <p:spPr>
          <a:xfrm>
            <a:off x="4832226" y="756666"/>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b="1" dirty="0">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none" anchor="ctr">
            <a:spAutoFit/>
          </a:bodyPr>
          <a:lstStyle/>
          <a:p>
            <a:r>
              <a:rPr lang="en-US" sz="1000" dirty="0">
                <a:solidFill>
                  <a:srgbClr val="DD4444"/>
                </a:solidFill>
                <a:latin typeface="Calibri"/>
              </a:rPr>
              <a:t>⚠  Conger: cert #3 (44,000 sh.) missing from ledger.
     Only cert #43 (29,000 sh.) shown. Motion 2 corrects both.</a:t>
            </a:r>
          </a:p>
        </p:txBody>
      </p:sp>
      <p:sp>
        <p:nvSpPr>
          <p:cNvPr id="63" name="TextBox 62"/>
          <p:cNvSpPr txBox="1"/>
          <p:nvPr/>
        </p:nvSpPr>
        <p:spPr>
          <a:xfrm>
            <a:off x="256032" y="2834640"/>
            <a:ext cx="4206240" cy="201168"/>
          </a:xfrm>
          <a:prstGeom prst="rect">
            <a:avLst/>
          </a:prstGeom>
          <a:noFill/>
        </p:spPr>
        <p:txBody>
          <a:bodyPr wrap="none" anchor="ctr">
            <a:spAutoFit/>
          </a:bodyPr>
          <a:lstStyle/>
          <a:p>
            <a:r>
              <a:rPr lang="en-US" sz="1100" b="1" dirty="0">
                <a:solidFill>
                  <a:srgbClr val="44BB44"/>
                </a:solidFill>
                <a:latin typeface="Calibri"/>
              </a:rPr>
              <a:t>Non-Microcosm/Wertz (489,525 sh.) = 56.1% of votes.</a:t>
            </a:r>
          </a:p>
        </p:txBody>
      </p:sp>
      <p:sp>
        <p:nvSpPr>
          <p:cNvPr id="64" name="TextBox 63"/>
          <p:cNvSpPr txBox="1"/>
          <p:nvPr/>
        </p:nvSpPr>
        <p:spPr>
          <a:xfrm>
            <a:off x="256032" y="3054096"/>
            <a:ext cx="4206240" cy="164592"/>
          </a:xfrm>
          <a:prstGeom prst="rect">
            <a:avLst/>
          </a:prstGeom>
          <a:noFill/>
        </p:spPr>
        <p:txBody>
          <a:bodyPr wrap="none" anchor="ctr">
            <a:spAutoFit/>
          </a:bodyPr>
          <a:lstStyle/>
          <a:p>
            <a:r>
              <a:rPr lang="en-US" sz="1000" dirty="0">
                <a:solidFill>
                  <a:srgbClr val="F26A21"/>
                </a:solidFill>
                <a:latin typeface="Calibri"/>
              </a:rPr>
              <a:t>Microcosm/Wertz group 43.9% — cannot unilaterally pass Motion 5.</a:t>
            </a:r>
          </a:p>
        </p:txBody>
      </p:sp>
      <p:sp>
        <p:nvSpPr>
          <p:cNvPr id="65" name="TextBox 64"/>
          <p:cNvSpPr txBox="1"/>
          <p:nvPr/>
        </p:nvSpPr>
        <p:spPr>
          <a:xfrm>
            <a:off x="4782312" y="770088"/>
            <a:ext cx="4114800" cy="182880"/>
          </a:xfrm>
          <a:prstGeom prst="rect">
            <a:avLst/>
          </a:prstGeom>
          <a:noFill/>
        </p:spPr>
        <p:txBody>
          <a:bodyPr wrap="none" anchor="ctr">
            <a:spAutoFit/>
          </a:bodyPr>
          <a:lstStyle/>
          <a:p>
            <a:r>
              <a:rPr lang="en-US" sz="1000" b="1" dirty="0">
                <a:solidFill>
                  <a:srgbClr val="CCCCCC"/>
                </a:solidFill>
                <a:latin typeface="Calibri"/>
              </a:rPr>
              <a:t>Exos $790K Invested — How Accumulated</a:t>
            </a:r>
          </a:p>
        </p:txBody>
      </p:sp>
      <p:sp>
        <p:nvSpPr>
          <p:cNvPr id="68" name="TextBox 67"/>
          <p:cNvSpPr txBox="1"/>
          <p:nvPr/>
        </p:nvSpPr>
        <p:spPr>
          <a:xfrm>
            <a:off x="4800600" y="1142882"/>
            <a:ext cx="2560320" cy="155448"/>
          </a:xfrm>
          <a:prstGeom prst="rect">
            <a:avLst/>
          </a:prstGeom>
          <a:noFill/>
        </p:spPr>
        <p:txBody>
          <a:bodyPr wrap="none" anchor="ctr">
            <a:spAutoFit/>
          </a:bodyPr>
          <a:lstStyle/>
          <a:p>
            <a:r>
              <a:rPr lang="en-US" sz="10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F26A21"/>
                </a:solidFill>
                <a:latin typeface="Calibri"/>
              </a:rPr>
              <a:t> $60,000</a:t>
            </a:r>
          </a:p>
        </p:txBody>
      </p:sp>
      <p:sp>
        <p:nvSpPr>
          <p:cNvPr id="70" name="TextBox 69"/>
          <p:cNvSpPr txBox="1"/>
          <p:nvPr/>
        </p:nvSpPr>
        <p:spPr>
          <a:xfrm>
            <a:off x="4800600" y="1303010"/>
            <a:ext cx="2560320" cy="155448"/>
          </a:xfrm>
          <a:prstGeom prst="rect">
            <a:avLst/>
          </a:prstGeom>
          <a:noFill/>
        </p:spPr>
        <p:txBody>
          <a:bodyPr wrap="none" anchor="ctr">
            <a:spAutoFit/>
          </a:bodyPr>
          <a:lstStyle/>
          <a:p>
            <a:r>
              <a:rPr lang="en-US" sz="10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F26A21"/>
                </a:solidFill>
                <a:latin typeface="Calibri"/>
              </a:rPr>
              <a:t>$250,000</a:t>
            </a:r>
          </a:p>
        </p:txBody>
      </p:sp>
      <p:sp>
        <p:nvSpPr>
          <p:cNvPr id="72" name="TextBox 71"/>
          <p:cNvSpPr txBox="1"/>
          <p:nvPr/>
        </p:nvSpPr>
        <p:spPr>
          <a:xfrm>
            <a:off x="4800600" y="1463040"/>
            <a:ext cx="2560320" cy="155448"/>
          </a:xfrm>
          <a:prstGeom prst="rect">
            <a:avLst/>
          </a:prstGeom>
          <a:noFill/>
        </p:spPr>
        <p:txBody>
          <a:bodyPr wrap="none" anchor="ctr">
            <a:spAutoFit/>
          </a:bodyPr>
          <a:lstStyle/>
          <a:p>
            <a:r>
              <a:rPr lang="en-US" sz="10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F26A21"/>
                </a:solidFill>
                <a:latin typeface="Calibri"/>
              </a:rPr>
              <a:t> $30,000</a:t>
            </a:r>
          </a:p>
        </p:txBody>
      </p:sp>
      <p:sp>
        <p:nvSpPr>
          <p:cNvPr id="74" name="TextBox 73"/>
          <p:cNvSpPr txBox="1"/>
          <p:nvPr/>
        </p:nvSpPr>
        <p:spPr>
          <a:xfrm>
            <a:off x="4800600" y="1664208"/>
            <a:ext cx="2560320" cy="155448"/>
          </a:xfrm>
          <a:prstGeom prst="rect">
            <a:avLst/>
          </a:prstGeom>
          <a:noFill/>
        </p:spPr>
        <p:txBody>
          <a:bodyPr wrap="none" anchor="ctr">
            <a:spAutoFit/>
          </a:bodyPr>
          <a:lstStyle/>
          <a:p>
            <a:r>
              <a:rPr lang="en-US" sz="1000" b="1" dirty="0">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b="1" dirty="0">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800677" y="1917895"/>
            <a:ext cx="4114800" cy="182880"/>
          </a:xfrm>
          <a:prstGeom prst="rect">
            <a:avLst/>
          </a:prstGeom>
          <a:noFill/>
        </p:spPr>
        <p:txBody>
          <a:bodyPr wrap="none" anchor="ctr">
            <a:spAutoFit/>
          </a:bodyPr>
          <a:lstStyle/>
          <a:p>
            <a:r>
              <a:rPr lang="en-US" sz="1000" b="1" dirty="0">
                <a:solidFill>
                  <a:srgbClr val="CCCCCC"/>
                </a:solidFill>
                <a:latin typeface="Calibri"/>
              </a:rPr>
              <a:t>PAID-IN CAPITAL (SSLC Books vs. Register)</a:t>
            </a:r>
          </a:p>
        </p:txBody>
      </p:sp>
      <p:sp>
        <p:nvSpPr>
          <p:cNvPr id="78" name="TextBox 77"/>
          <p:cNvSpPr txBox="1"/>
          <p:nvPr/>
        </p:nvSpPr>
        <p:spPr>
          <a:xfrm>
            <a:off x="4800677" y="2137116"/>
            <a:ext cx="2743200" cy="155448"/>
          </a:xfrm>
          <a:prstGeom prst="rect">
            <a:avLst/>
          </a:prstGeom>
          <a:noFill/>
        </p:spPr>
        <p:txBody>
          <a:bodyPr wrap="none" anchor="ctr">
            <a:spAutoFit/>
          </a:bodyPr>
          <a:lstStyle/>
          <a:p>
            <a:r>
              <a:rPr lang="en-US" sz="10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CCCCCC"/>
                </a:solidFill>
                <a:latin typeface="Calibri"/>
              </a:rPr>
              <a:t>$1,010,423</a:t>
            </a:r>
          </a:p>
        </p:txBody>
      </p:sp>
      <p:sp>
        <p:nvSpPr>
          <p:cNvPr id="80" name="TextBox 79"/>
          <p:cNvSpPr txBox="1"/>
          <p:nvPr/>
        </p:nvSpPr>
        <p:spPr>
          <a:xfrm>
            <a:off x="4800677" y="2325548"/>
            <a:ext cx="2743200" cy="155448"/>
          </a:xfrm>
          <a:prstGeom prst="rect">
            <a:avLst/>
          </a:prstGeom>
          <a:noFill/>
        </p:spPr>
        <p:txBody>
          <a:bodyPr wrap="none" anchor="ctr">
            <a:spAutoFit/>
          </a:bodyPr>
          <a:lstStyle/>
          <a:p>
            <a:r>
              <a:rPr lang="en-US" sz="10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CCCCCC"/>
                </a:solidFill>
                <a:latin typeface="Calibri"/>
              </a:rPr>
              <a:t>$4,042</a:t>
            </a:r>
          </a:p>
        </p:txBody>
      </p:sp>
      <p:sp>
        <p:nvSpPr>
          <p:cNvPr id="82" name="TextBox 81"/>
          <p:cNvSpPr txBox="1"/>
          <p:nvPr/>
        </p:nvSpPr>
        <p:spPr>
          <a:xfrm>
            <a:off x="4800677" y="2473442"/>
            <a:ext cx="2743200" cy="155448"/>
          </a:xfrm>
          <a:prstGeom prst="rect">
            <a:avLst/>
          </a:prstGeom>
          <a:noFill/>
        </p:spPr>
        <p:txBody>
          <a:bodyPr wrap="none" anchor="ctr">
            <a:spAutoFit/>
          </a:bodyPr>
          <a:lstStyle/>
          <a:p>
            <a:r>
              <a:rPr lang="en-US" sz="1000" b="1" dirty="0">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b="1" dirty="0">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CCCCCC"/>
                </a:solidFill>
                <a:latin typeface="Calibri"/>
              </a:rPr>
              <a:t>$224,465</a:t>
            </a:r>
          </a:p>
        </p:txBody>
      </p:sp>
      <p:sp>
        <p:nvSpPr>
          <p:cNvPr id="88" name="TextBox 87"/>
          <p:cNvSpPr txBox="1"/>
          <p:nvPr/>
        </p:nvSpPr>
        <p:spPr>
          <a:xfrm>
            <a:off x="4800677" y="2969798"/>
            <a:ext cx="2743200" cy="155448"/>
          </a:xfrm>
          <a:prstGeom prst="rect">
            <a:avLst/>
          </a:prstGeom>
          <a:noFill/>
        </p:spPr>
        <p:txBody>
          <a:bodyPr wrap="none" anchor="ctr">
            <a:spAutoFit/>
          </a:bodyPr>
          <a:lstStyle/>
          <a:p>
            <a:r>
              <a:rPr lang="en-US" sz="1000" b="1" dirty="0">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b="1" dirty="0">
                <a:solidFill>
                  <a:srgbClr val="FFCC44"/>
                </a:solidFill>
                <a:latin typeface="Calibri"/>
              </a:rPr>
              <a:t>$460,752</a:t>
            </a:r>
          </a:p>
        </p:txBody>
      </p:sp>
      <p:sp>
        <p:nvSpPr>
          <p:cNvPr id="90" name="TextBox 89"/>
          <p:cNvSpPr txBox="1"/>
          <p:nvPr/>
        </p:nvSpPr>
        <p:spPr>
          <a:xfrm>
            <a:off x="4828031" y="3184398"/>
            <a:ext cx="4114800" cy="164592"/>
          </a:xfrm>
          <a:prstGeom prst="rect">
            <a:avLst/>
          </a:prstGeom>
          <a:noFill/>
        </p:spPr>
        <p:txBody>
          <a:bodyPr wrap="none" anchor="ctr">
            <a:spAutoFit/>
          </a:bodyPr>
          <a:lstStyle/>
          <a:p>
            <a:r>
              <a:rPr lang="en-US" sz="1000" i="1" dirty="0">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b="1" dirty="0">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b="1" dirty="0">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1188720" cy="164592"/>
          </a:xfrm>
          <a:prstGeom prst="rect">
            <a:avLst/>
          </a:prstGeom>
          <a:noFill/>
        </p:spPr>
        <p:txBody>
          <a:bodyPr wrap="none">
            <a:spAutoFit/>
          </a:bodyPr>
          <a:lstStyle/>
          <a:p>
            <a:r>
              <a:rPr lang="en-US" sz="1000" b="1" dirty="0">
                <a:solidFill>
                  <a:srgbClr val="F26A21"/>
                </a:solidFill>
                <a:latin typeface="Calibri"/>
              </a:rPr>
              <a:t>Holder</a:t>
            </a:r>
          </a:p>
        </p:txBody>
      </p:sp>
      <p:sp>
        <p:nvSpPr>
          <p:cNvPr id="97" name="TextBox 96"/>
          <p:cNvSpPr txBox="1"/>
          <p:nvPr/>
        </p:nvSpPr>
        <p:spPr>
          <a:xfrm>
            <a:off x="1508760" y="969264"/>
            <a:ext cx="822960" cy="164592"/>
          </a:xfrm>
          <a:prstGeom prst="rect">
            <a:avLst/>
          </a:prstGeom>
          <a:noFill/>
        </p:spPr>
        <p:txBody>
          <a:bodyPr wrap="none">
            <a:spAutoFit/>
          </a:bodyPr>
          <a:lstStyle/>
          <a:p>
            <a:r>
              <a:rPr lang="en-US" sz="1000" b="1" dirty="0">
                <a:solidFill>
                  <a:srgbClr val="F26A21"/>
                </a:solidFill>
                <a:latin typeface="Calibri"/>
              </a:rPr>
              <a:t>Register</a:t>
            </a:r>
          </a:p>
        </p:txBody>
      </p:sp>
      <p:sp>
        <p:nvSpPr>
          <p:cNvPr id="98" name="TextBox 97"/>
          <p:cNvSpPr txBox="1"/>
          <p:nvPr/>
        </p:nvSpPr>
        <p:spPr>
          <a:xfrm>
            <a:off x="2377440" y="969264"/>
            <a:ext cx="594360" cy="164592"/>
          </a:xfrm>
          <a:prstGeom prst="rect">
            <a:avLst/>
          </a:prstGeom>
          <a:noFill/>
        </p:spPr>
        <p:txBody>
          <a:bodyPr wrap="none">
            <a:spAutoFit/>
          </a:bodyPr>
          <a:lstStyle/>
          <a:p>
            <a:r>
              <a:rPr lang="en-US" sz="1000" b="1" dirty="0">
                <a:solidFill>
                  <a:srgbClr val="F26A21"/>
                </a:solidFill>
                <a:latin typeface="Calibri"/>
              </a:rPr>
              <a:t>Reg %</a:t>
            </a:r>
          </a:p>
        </p:txBody>
      </p:sp>
      <p:sp>
        <p:nvSpPr>
          <p:cNvPr id="99" name="TextBox 98"/>
          <p:cNvSpPr txBox="1"/>
          <p:nvPr/>
        </p:nvSpPr>
        <p:spPr>
          <a:xfrm>
            <a:off x="3017520" y="969264"/>
            <a:ext cx="731520" cy="164592"/>
          </a:xfrm>
          <a:prstGeom prst="rect">
            <a:avLst/>
          </a:prstGeom>
          <a:noFill/>
        </p:spPr>
        <p:txBody>
          <a:bodyPr wrap="none">
            <a:spAutoFit/>
          </a:bodyPr>
          <a:lstStyle/>
          <a:p>
            <a:r>
              <a:rPr lang="en-US" sz="1000" b="1" dirty="0">
                <a:solidFill>
                  <a:srgbClr val="F26A21"/>
                </a:solidFill>
                <a:latin typeface="Calibri"/>
              </a:rPr>
              <a:t>Ledger</a:t>
            </a:r>
          </a:p>
        </p:txBody>
      </p:sp>
      <p:sp>
        <p:nvSpPr>
          <p:cNvPr id="100" name="TextBox 99"/>
          <p:cNvSpPr txBox="1"/>
          <p:nvPr/>
        </p:nvSpPr>
        <p:spPr>
          <a:xfrm>
            <a:off x="3794760" y="969264"/>
            <a:ext cx="502920" cy="164592"/>
          </a:xfrm>
          <a:prstGeom prst="rect">
            <a:avLst/>
          </a:prstGeom>
          <a:noFill/>
        </p:spPr>
        <p:txBody>
          <a:bodyPr wrap="none">
            <a:spAutoFit/>
          </a:bodyPr>
          <a:lstStyle/>
          <a:p>
            <a:r>
              <a:rPr lang="en-US" sz="1000" b="1" dirty="0">
                <a:solidFill>
                  <a:srgbClr val="F26A21"/>
                </a:solidFill>
                <a:latin typeface="Calibri"/>
              </a:rPr>
              <a:t>Led %</a:t>
            </a:r>
          </a:p>
        </p:txBody>
      </p:sp>
      <p:sp>
        <p:nvSpPr>
          <p:cNvPr id="101" name="TextBox 100"/>
          <p:cNvSpPr txBox="1"/>
          <p:nvPr/>
        </p:nvSpPr>
        <p:spPr>
          <a:xfrm>
            <a:off x="4343400" y="969264"/>
            <a:ext cx="594360" cy="164592"/>
          </a:xfrm>
          <a:prstGeom prst="rect">
            <a:avLst/>
          </a:prstGeom>
          <a:noFill/>
        </p:spPr>
        <p:txBody>
          <a:bodyPr wrap="none">
            <a:spAutoFit/>
          </a:bodyPr>
          <a:lstStyle/>
          <a:p>
            <a:r>
              <a:rPr lang="en-US" sz="1000" b="1" dirty="0">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56032" y="1152144"/>
            <a:ext cx="1188720" cy="155448"/>
          </a:xfrm>
          <a:prstGeom prst="rect">
            <a:avLst/>
          </a:prstGeom>
          <a:noFill/>
        </p:spPr>
        <p:txBody>
          <a:bodyPr wrap="none">
            <a:spAutoFit/>
          </a:bodyPr>
          <a:lstStyle/>
          <a:p>
            <a:r>
              <a:rPr lang="en-US" sz="1000" dirty="0">
                <a:solidFill>
                  <a:srgbClr val="CCCCCC"/>
                </a:solidFill>
                <a:latin typeface="Calibri"/>
              </a:rPr>
              <a:t>Microcosm</a:t>
            </a:r>
          </a:p>
        </p:txBody>
      </p:sp>
      <p:sp>
        <p:nvSpPr>
          <p:cNvPr id="104" name="TextBox 103"/>
          <p:cNvSpPr txBox="1"/>
          <p:nvPr/>
        </p:nvSpPr>
        <p:spPr>
          <a:xfrm>
            <a:off x="1508760" y="1152144"/>
            <a:ext cx="822960" cy="155448"/>
          </a:xfrm>
          <a:prstGeom prst="rect">
            <a:avLst/>
          </a:prstGeom>
          <a:noFill/>
        </p:spPr>
        <p:txBody>
          <a:bodyPr wrap="none">
            <a:spAutoFit/>
          </a:bodyPr>
          <a:lstStyle/>
          <a:p>
            <a:r>
              <a:rPr lang="en-US" sz="1000" dirty="0">
                <a:solidFill>
                  <a:srgbClr val="CCCCCC"/>
                </a:solidFill>
                <a:latin typeface="Calibri"/>
              </a:rPr>
              <a:t>280,000</a:t>
            </a:r>
          </a:p>
        </p:txBody>
      </p:sp>
      <p:sp>
        <p:nvSpPr>
          <p:cNvPr id="105" name="TextBox 104"/>
          <p:cNvSpPr txBox="1"/>
          <p:nvPr/>
        </p:nvSpPr>
        <p:spPr>
          <a:xfrm>
            <a:off x="2377440" y="1152144"/>
            <a:ext cx="594360" cy="155448"/>
          </a:xfrm>
          <a:prstGeom prst="rect">
            <a:avLst/>
          </a:prstGeom>
          <a:noFill/>
        </p:spPr>
        <p:txBody>
          <a:bodyPr wrap="none">
            <a:spAutoFit/>
          </a:bodyPr>
          <a:lstStyle/>
          <a:p>
            <a:r>
              <a:rPr lang="en-US" sz="1000" dirty="0">
                <a:solidFill>
                  <a:srgbClr val="CCCCCC"/>
                </a:solidFill>
                <a:latin typeface="Calibri"/>
              </a:rPr>
              <a:t>32.09%</a:t>
            </a:r>
          </a:p>
        </p:txBody>
      </p:sp>
      <p:sp>
        <p:nvSpPr>
          <p:cNvPr id="106" name="TextBox 105"/>
          <p:cNvSpPr txBox="1"/>
          <p:nvPr/>
        </p:nvSpPr>
        <p:spPr>
          <a:xfrm>
            <a:off x="3017520" y="1152144"/>
            <a:ext cx="731520" cy="155448"/>
          </a:xfrm>
          <a:prstGeom prst="rect">
            <a:avLst/>
          </a:prstGeom>
          <a:noFill/>
        </p:spPr>
        <p:txBody>
          <a:bodyPr wrap="none">
            <a:spAutoFit/>
          </a:bodyPr>
          <a:lstStyle/>
          <a:p>
            <a:r>
              <a:rPr lang="en-US" sz="1000" dirty="0">
                <a:solidFill>
                  <a:srgbClr val="CCCCCC"/>
                </a:solidFill>
                <a:latin typeface="Calibri"/>
              </a:rPr>
              <a:t>280,000</a:t>
            </a:r>
          </a:p>
        </p:txBody>
      </p:sp>
      <p:sp>
        <p:nvSpPr>
          <p:cNvPr id="107" name="TextBox 106"/>
          <p:cNvSpPr txBox="1"/>
          <p:nvPr/>
        </p:nvSpPr>
        <p:spPr>
          <a:xfrm>
            <a:off x="3794760" y="1152144"/>
            <a:ext cx="502920" cy="155448"/>
          </a:xfrm>
          <a:prstGeom prst="rect">
            <a:avLst/>
          </a:prstGeom>
          <a:noFill/>
        </p:spPr>
        <p:txBody>
          <a:bodyPr wrap="none">
            <a:spAutoFit/>
          </a:bodyPr>
          <a:lstStyle/>
          <a:p>
            <a:r>
              <a:rPr lang="en-US" sz="1000" dirty="0">
                <a:solidFill>
                  <a:srgbClr val="CCCCCC"/>
                </a:solidFill>
                <a:latin typeface="Calibri"/>
              </a:rPr>
              <a:t>33.02%</a:t>
            </a:r>
          </a:p>
        </p:txBody>
      </p:sp>
      <p:sp>
        <p:nvSpPr>
          <p:cNvPr id="108" name="TextBox 107"/>
          <p:cNvSpPr txBox="1"/>
          <p:nvPr/>
        </p:nvSpPr>
        <p:spPr>
          <a:xfrm>
            <a:off x="4343400" y="1152144"/>
            <a:ext cx="594360" cy="155448"/>
          </a:xfrm>
          <a:prstGeom prst="rect">
            <a:avLst/>
          </a:prstGeom>
          <a:noFill/>
        </p:spPr>
        <p:txBody>
          <a:bodyPr wrap="none">
            <a:spAutoFit/>
          </a:bodyPr>
          <a:lstStyle/>
          <a:p>
            <a:r>
              <a:rPr lang="en-US" sz="1000" dirty="0">
                <a:solidFill>
                  <a:srgbClr val="CCCCCC"/>
                </a:solidFill>
                <a:latin typeface="Calibri"/>
              </a:rPr>
              <a:t>   0</a:t>
            </a:r>
          </a:p>
        </p:txBody>
      </p:sp>
      <p:sp>
        <p:nvSpPr>
          <p:cNvPr id="109" name="TextBox 108"/>
          <p:cNvSpPr txBox="1"/>
          <p:nvPr/>
        </p:nvSpPr>
        <p:spPr>
          <a:xfrm>
            <a:off x="256032" y="1316736"/>
            <a:ext cx="1188720" cy="155448"/>
          </a:xfrm>
          <a:prstGeom prst="rect">
            <a:avLst/>
          </a:prstGeom>
          <a:noFill/>
        </p:spPr>
        <p:txBody>
          <a:bodyPr wrap="none">
            <a:spAutoFit/>
          </a:bodyPr>
          <a:lstStyle/>
          <a:p>
            <a:r>
              <a:rPr lang="en-US" sz="1000" dirty="0">
                <a:solidFill>
                  <a:srgbClr val="CCCCCC"/>
                </a:solidFill>
                <a:latin typeface="Calibri"/>
              </a:rPr>
              <a:t>Wertz family</a:t>
            </a:r>
          </a:p>
        </p:txBody>
      </p:sp>
      <p:sp>
        <p:nvSpPr>
          <p:cNvPr id="110" name="TextBox 109"/>
          <p:cNvSpPr txBox="1"/>
          <p:nvPr/>
        </p:nvSpPr>
        <p:spPr>
          <a:xfrm>
            <a:off x="1508760" y="1316736"/>
            <a:ext cx="822960" cy="155448"/>
          </a:xfrm>
          <a:prstGeom prst="rect">
            <a:avLst/>
          </a:prstGeom>
          <a:noFill/>
        </p:spPr>
        <p:txBody>
          <a:bodyPr wrap="none">
            <a:spAutoFit/>
          </a:bodyPr>
          <a:lstStyle/>
          <a:p>
            <a:r>
              <a:rPr lang="en-US" sz="1000" dirty="0">
                <a:solidFill>
                  <a:srgbClr val="CCCCCC"/>
                </a:solidFill>
                <a:latin typeface="Calibri"/>
              </a:rPr>
              <a:t>103,000</a:t>
            </a:r>
          </a:p>
        </p:txBody>
      </p:sp>
      <p:sp>
        <p:nvSpPr>
          <p:cNvPr id="111" name="TextBox 110"/>
          <p:cNvSpPr txBox="1"/>
          <p:nvPr/>
        </p:nvSpPr>
        <p:spPr>
          <a:xfrm>
            <a:off x="2377440" y="1316736"/>
            <a:ext cx="594360" cy="155448"/>
          </a:xfrm>
          <a:prstGeom prst="rect">
            <a:avLst/>
          </a:prstGeom>
          <a:noFill/>
        </p:spPr>
        <p:txBody>
          <a:bodyPr wrap="none">
            <a:spAutoFit/>
          </a:bodyPr>
          <a:lstStyle/>
          <a:p>
            <a:r>
              <a:rPr lang="en-US" sz="1000" dirty="0">
                <a:solidFill>
                  <a:srgbClr val="CCCCCC"/>
                </a:solidFill>
                <a:latin typeface="Calibri"/>
              </a:rPr>
              <a:t>11.80%</a:t>
            </a:r>
          </a:p>
        </p:txBody>
      </p:sp>
      <p:sp>
        <p:nvSpPr>
          <p:cNvPr id="112" name="TextBox 111"/>
          <p:cNvSpPr txBox="1"/>
          <p:nvPr/>
        </p:nvSpPr>
        <p:spPr>
          <a:xfrm>
            <a:off x="3017520" y="1316736"/>
            <a:ext cx="731520" cy="155448"/>
          </a:xfrm>
          <a:prstGeom prst="rect">
            <a:avLst/>
          </a:prstGeom>
          <a:noFill/>
        </p:spPr>
        <p:txBody>
          <a:bodyPr wrap="none">
            <a:spAutoFit/>
          </a:bodyPr>
          <a:lstStyle/>
          <a:p>
            <a:r>
              <a:rPr lang="en-US" sz="1000" dirty="0">
                <a:solidFill>
                  <a:srgbClr val="CCCCCC"/>
                </a:solidFill>
                <a:latin typeface="Calibri"/>
              </a:rPr>
              <a:t>~103,000</a:t>
            </a:r>
          </a:p>
        </p:txBody>
      </p:sp>
      <p:sp>
        <p:nvSpPr>
          <p:cNvPr id="113" name="TextBox 112"/>
          <p:cNvSpPr txBox="1"/>
          <p:nvPr/>
        </p:nvSpPr>
        <p:spPr>
          <a:xfrm>
            <a:off x="3794760" y="1316736"/>
            <a:ext cx="502920" cy="155448"/>
          </a:xfrm>
          <a:prstGeom prst="rect">
            <a:avLst/>
          </a:prstGeom>
          <a:noFill/>
        </p:spPr>
        <p:txBody>
          <a:bodyPr wrap="none">
            <a:spAutoFit/>
          </a:bodyPr>
          <a:lstStyle/>
          <a:p>
            <a:r>
              <a:rPr lang="en-US" sz="1000" dirty="0">
                <a:solidFill>
                  <a:srgbClr val="CCCCCC"/>
                </a:solidFill>
                <a:latin typeface="Calibri"/>
              </a:rPr>
              <a:t>~12.15%</a:t>
            </a:r>
          </a:p>
        </p:txBody>
      </p:sp>
      <p:sp>
        <p:nvSpPr>
          <p:cNvPr id="114" name="TextBox 113"/>
          <p:cNvSpPr txBox="1"/>
          <p:nvPr/>
        </p:nvSpPr>
        <p:spPr>
          <a:xfrm>
            <a:off x="4343400" y="1316736"/>
            <a:ext cx="594360" cy="155448"/>
          </a:xfrm>
          <a:prstGeom prst="rect">
            <a:avLst/>
          </a:prstGeom>
          <a:noFill/>
        </p:spPr>
        <p:txBody>
          <a:bodyPr wrap="none">
            <a:spAutoFit/>
          </a:bodyPr>
          <a:lstStyle/>
          <a:p>
            <a:r>
              <a:rPr lang="en-US" sz="1000" dirty="0">
                <a:solidFill>
                  <a:srgbClr val="CCCCCC"/>
                </a:solidFill>
                <a:latin typeface="Calibri"/>
              </a:rPr>
              <a:t>   —</a:t>
            </a:r>
          </a:p>
        </p:txBody>
      </p:sp>
      <p:sp>
        <p:nvSpPr>
          <p:cNvPr id="115" name="TextBox 114"/>
          <p:cNvSpPr txBox="1"/>
          <p:nvPr/>
        </p:nvSpPr>
        <p:spPr>
          <a:xfrm>
            <a:off x="256032" y="1481328"/>
            <a:ext cx="1188720" cy="155448"/>
          </a:xfrm>
          <a:prstGeom prst="rect">
            <a:avLst/>
          </a:prstGeom>
          <a:noFill/>
        </p:spPr>
        <p:txBody>
          <a:bodyPr wrap="none">
            <a:spAutoFit/>
          </a:bodyPr>
          <a:lstStyle/>
          <a:p>
            <a:r>
              <a:rPr lang="en-US" sz="1000" dirty="0">
                <a:solidFill>
                  <a:srgbClr val="DD4444"/>
                </a:solidFill>
                <a:latin typeface="Calibri"/>
              </a:rPr>
              <a:t>Exos</a:t>
            </a:r>
          </a:p>
        </p:txBody>
      </p:sp>
      <p:sp>
        <p:nvSpPr>
          <p:cNvPr id="116" name="TextBox 115"/>
          <p:cNvSpPr txBox="1"/>
          <p:nvPr/>
        </p:nvSpPr>
        <p:spPr>
          <a:xfrm>
            <a:off x="1508760" y="1481328"/>
            <a:ext cx="822960" cy="155448"/>
          </a:xfrm>
          <a:prstGeom prst="rect">
            <a:avLst/>
          </a:prstGeom>
          <a:noFill/>
        </p:spPr>
        <p:txBody>
          <a:bodyPr wrap="none">
            <a:spAutoFit/>
          </a:bodyPr>
          <a:lstStyle/>
          <a:p>
            <a:r>
              <a:rPr lang="en-US" sz="1000" dirty="0">
                <a:solidFill>
                  <a:srgbClr val="DD4444"/>
                </a:solidFill>
                <a:latin typeface="Calibri"/>
              </a:rPr>
              <a:t>157,553</a:t>
            </a:r>
          </a:p>
        </p:txBody>
      </p:sp>
      <p:sp>
        <p:nvSpPr>
          <p:cNvPr id="117" name="TextBox 116"/>
          <p:cNvSpPr txBox="1"/>
          <p:nvPr/>
        </p:nvSpPr>
        <p:spPr>
          <a:xfrm>
            <a:off x="2377440" y="1481328"/>
            <a:ext cx="594360" cy="155448"/>
          </a:xfrm>
          <a:prstGeom prst="rect">
            <a:avLst/>
          </a:prstGeom>
          <a:noFill/>
        </p:spPr>
        <p:txBody>
          <a:bodyPr wrap="none">
            <a:spAutoFit/>
          </a:bodyPr>
          <a:lstStyle/>
          <a:p>
            <a:r>
              <a:rPr lang="en-US" sz="1000" dirty="0">
                <a:solidFill>
                  <a:srgbClr val="DD4444"/>
                </a:solidFill>
                <a:latin typeface="Calibri"/>
              </a:rPr>
              <a:t>18.06%</a:t>
            </a:r>
          </a:p>
        </p:txBody>
      </p:sp>
      <p:sp>
        <p:nvSpPr>
          <p:cNvPr id="118" name="TextBox 117"/>
          <p:cNvSpPr txBox="1"/>
          <p:nvPr/>
        </p:nvSpPr>
        <p:spPr>
          <a:xfrm>
            <a:off x="3017520" y="1481328"/>
            <a:ext cx="731520" cy="155448"/>
          </a:xfrm>
          <a:prstGeom prst="rect">
            <a:avLst/>
          </a:prstGeom>
          <a:noFill/>
        </p:spPr>
        <p:txBody>
          <a:bodyPr wrap="none">
            <a:spAutoFit/>
          </a:bodyPr>
          <a:lstStyle/>
          <a:p>
            <a:r>
              <a:rPr lang="en-US" sz="1000" dirty="0">
                <a:solidFill>
                  <a:srgbClr val="DD4444"/>
                </a:solidFill>
                <a:latin typeface="Calibri"/>
              </a:rPr>
              <a:t>132,972</a:t>
            </a:r>
          </a:p>
        </p:txBody>
      </p:sp>
      <p:sp>
        <p:nvSpPr>
          <p:cNvPr id="119" name="TextBox 118"/>
          <p:cNvSpPr txBox="1"/>
          <p:nvPr/>
        </p:nvSpPr>
        <p:spPr>
          <a:xfrm>
            <a:off x="3794760" y="1481328"/>
            <a:ext cx="502920" cy="155448"/>
          </a:xfrm>
          <a:prstGeom prst="rect">
            <a:avLst/>
          </a:prstGeom>
          <a:noFill/>
        </p:spPr>
        <p:txBody>
          <a:bodyPr wrap="none">
            <a:spAutoFit/>
          </a:bodyPr>
          <a:lstStyle/>
          <a:p>
            <a:r>
              <a:rPr lang="en-US" sz="1000" dirty="0">
                <a:solidFill>
                  <a:srgbClr val="DD4444"/>
                </a:solidFill>
                <a:latin typeface="Calibri"/>
              </a:rPr>
              <a:t>15.68%</a:t>
            </a:r>
          </a:p>
        </p:txBody>
      </p:sp>
      <p:sp>
        <p:nvSpPr>
          <p:cNvPr id="120" name="TextBox 119"/>
          <p:cNvSpPr txBox="1"/>
          <p:nvPr/>
        </p:nvSpPr>
        <p:spPr>
          <a:xfrm>
            <a:off x="4343400" y="1481328"/>
            <a:ext cx="594360" cy="155448"/>
          </a:xfrm>
          <a:prstGeom prst="rect">
            <a:avLst/>
          </a:prstGeom>
          <a:noFill/>
        </p:spPr>
        <p:txBody>
          <a:bodyPr wrap="none">
            <a:spAutoFit/>
          </a:bodyPr>
          <a:lstStyle/>
          <a:p>
            <a:r>
              <a:rPr lang="en-US" sz="1000" dirty="0">
                <a:solidFill>
                  <a:srgbClr val="DD4444"/>
                </a:solidFill>
                <a:latin typeface="Calibri"/>
              </a:rPr>
              <a:t>-24,581</a:t>
            </a:r>
          </a:p>
        </p:txBody>
      </p:sp>
      <p:sp>
        <p:nvSpPr>
          <p:cNvPr id="121" name="TextBox 120"/>
          <p:cNvSpPr txBox="1"/>
          <p:nvPr/>
        </p:nvSpPr>
        <p:spPr>
          <a:xfrm>
            <a:off x="256032" y="1645920"/>
            <a:ext cx="1188720" cy="155448"/>
          </a:xfrm>
          <a:prstGeom prst="rect">
            <a:avLst/>
          </a:prstGeom>
          <a:noFill/>
        </p:spPr>
        <p:txBody>
          <a:bodyPr wrap="none">
            <a:spAutoFit/>
          </a:bodyPr>
          <a:lstStyle/>
          <a:p>
            <a:r>
              <a:rPr lang="en-US" sz="1000" dirty="0">
                <a:solidFill>
                  <a:srgbClr val="DD4444"/>
                </a:solidFill>
                <a:latin typeface="Calibri"/>
              </a:rPr>
              <a:t>Conger</a:t>
            </a:r>
          </a:p>
        </p:txBody>
      </p:sp>
      <p:sp>
        <p:nvSpPr>
          <p:cNvPr id="122" name="TextBox 121"/>
          <p:cNvSpPr txBox="1"/>
          <p:nvPr/>
        </p:nvSpPr>
        <p:spPr>
          <a:xfrm>
            <a:off x="1508760" y="1645920"/>
            <a:ext cx="822960" cy="155448"/>
          </a:xfrm>
          <a:prstGeom prst="rect">
            <a:avLst/>
          </a:prstGeom>
          <a:noFill/>
        </p:spPr>
        <p:txBody>
          <a:bodyPr wrap="none">
            <a:spAutoFit/>
          </a:bodyPr>
          <a:lstStyle/>
          <a:p>
            <a:r>
              <a:rPr lang="en-US" sz="1000" dirty="0">
                <a:solidFill>
                  <a:srgbClr val="DD4444"/>
                </a:solidFill>
                <a:latin typeface="Calibri"/>
              </a:rPr>
              <a:t>73,000</a:t>
            </a:r>
          </a:p>
        </p:txBody>
      </p:sp>
      <p:sp>
        <p:nvSpPr>
          <p:cNvPr id="123" name="TextBox 122"/>
          <p:cNvSpPr txBox="1"/>
          <p:nvPr/>
        </p:nvSpPr>
        <p:spPr>
          <a:xfrm>
            <a:off x="2377440" y="1645920"/>
            <a:ext cx="594360" cy="155448"/>
          </a:xfrm>
          <a:prstGeom prst="rect">
            <a:avLst/>
          </a:prstGeom>
          <a:noFill/>
        </p:spPr>
        <p:txBody>
          <a:bodyPr wrap="none">
            <a:spAutoFit/>
          </a:bodyPr>
          <a:lstStyle/>
          <a:p>
            <a:r>
              <a:rPr lang="en-US" sz="1000" dirty="0">
                <a:solidFill>
                  <a:srgbClr val="DD4444"/>
                </a:solidFill>
                <a:latin typeface="Calibri"/>
              </a:rPr>
              <a:t> 8.37%</a:t>
            </a:r>
          </a:p>
        </p:txBody>
      </p:sp>
      <p:sp>
        <p:nvSpPr>
          <p:cNvPr id="124" name="TextBox 123"/>
          <p:cNvSpPr txBox="1"/>
          <p:nvPr/>
        </p:nvSpPr>
        <p:spPr>
          <a:xfrm>
            <a:off x="3017520" y="1645920"/>
            <a:ext cx="731520" cy="155448"/>
          </a:xfrm>
          <a:prstGeom prst="rect">
            <a:avLst/>
          </a:prstGeom>
          <a:noFill/>
        </p:spPr>
        <p:txBody>
          <a:bodyPr wrap="none">
            <a:spAutoFit/>
          </a:bodyPr>
          <a:lstStyle/>
          <a:p>
            <a:r>
              <a:rPr lang="en-US" sz="1000" dirty="0">
                <a:solidFill>
                  <a:srgbClr val="DD4444"/>
                </a:solidFill>
                <a:latin typeface="Calibri"/>
              </a:rPr>
              <a:t>29,000</a:t>
            </a:r>
          </a:p>
        </p:txBody>
      </p:sp>
      <p:sp>
        <p:nvSpPr>
          <p:cNvPr id="125" name="TextBox 124"/>
          <p:cNvSpPr txBox="1"/>
          <p:nvPr/>
        </p:nvSpPr>
        <p:spPr>
          <a:xfrm>
            <a:off x="3794760" y="1645920"/>
            <a:ext cx="502920" cy="155448"/>
          </a:xfrm>
          <a:prstGeom prst="rect">
            <a:avLst/>
          </a:prstGeom>
          <a:noFill/>
        </p:spPr>
        <p:txBody>
          <a:bodyPr wrap="none">
            <a:spAutoFit/>
          </a:bodyPr>
          <a:lstStyle/>
          <a:p>
            <a:r>
              <a:rPr lang="en-US" sz="1000" dirty="0">
                <a:solidFill>
                  <a:srgbClr val="DD4444"/>
                </a:solidFill>
                <a:latin typeface="Calibri"/>
              </a:rPr>
              <a:t> 3.42%</a:t>
            </a:r>
          </a:p>
        </p:txBody>
      </p:sp>
      <p:sp>
        <p:nvSpPr>
          <p:cNvPr id="126" name="TextBox 125"/>
          <p:cNvSpPr txBox="1"/>
          <p:nvPr/>
        </p:nvSpPr>
        <p:spPr>
          <a:xfrm>
            <a:off x="4343400" y="1645920"/>
            <a:ext cx="594360" cy="155448"/>
          </a:xfrm>
          <a:prstGeom prst="rect">
            <a:avLst/>
          </a:prstGeom>
          <a:noFill/>
        </p:spPr>
        <p:txBody>
          <a:bodyPr wrap="none">
            <a:spAutoFit/>
          </a:bodyPr>
          <a:lstStyle/>
          <a:p>
            <a:r>
              <a:rPr lang="en-US" sz="1000" dirty="0">
                <a:solidFill>
                  <a:srgbClr val="DD4444"/>
                </a:solidFill>
                <a:latin typeface="Calibri"/>
              </a:rPr>
              <a:t>-44,000</a:t>
            </a:r>
          </a:p>
        </p:txBody>
      </p:sp>
      <p:sp>
        <p:nvSpPr>
          <p:cNvPr id="127" name="TextBox 126"/>
          <p:cNvSpPr txBox="1"/>
          <p:nvPr/>
        </p:nvSpPr>
        <p:spPr>
          <a:xfrm>
            <a:off x="256032" y="1810512"/>
            <a:ext cx="1188720" cy="155448"/>
          </a:xfrm>
          <a:prstGeom prst="rect">
            <a:avLst/>
          </a:prstGeom>
          <a:noFill/>
        </p:spPr>
        <p:txBody>
          <a:bodyPr wrap="none">
            <a:spAutoFit/>
          </a:bodyPr>
          <a:lstStyle/>
          <a:p>
            <a:r>
              <a:rPr lang="en-US" sz="1000" dirty="0">
                <a:solidFill>
                  <a:srgbClr val="CCCCCC"/>
                </a:solidFill>
                <a:latin typeface="Calibri"/>
              </a:rPr>
              <a:t>Rufer</a:t>
            </a:r>
          </a:p>
        </p:txBody>
      </p:sp>
      <p:sp>
        <p:nvSpPr>
          <p:cNvPr id="128" name="TextBox 127"/>
          <p:cNvSpPr txBox="1"/>
          <p:nvPr/>
        </p:nvSpPr>
        <p:spPr>
          <a:xfrm>
            <a:off x="1508760" y="1810512"/>
            <a:ext cx="822960" cy="155448"/>
          </a:xfrm>
          <a:prstGeom prst="rect">
            <a:avLst/>
          </a:prstGeom>
          <a:noFill/>
        </p:spPr>
        <p:txBody>
          <a:bodyPr wrap="none">
            <a:spAutoFit/>
          </a:bodyPr>
          <a:lstStyle/>
          <a:p>
            <a:r>
              <a:rPr lang="en-US" sz="1000" dirty="0">
                <a:solidFill>
                  <a:srgbClr val="CCCCCC"/>
                </a:solidFill>
                <a:latin typeface="Calibri"/>
              </a:rPr>
              <a:t>91,000</a:t>
            </a:r>
          </a:p>
        </p:txBody>
      </p:sp>
      <p:sp>
        <p:nvSpPr>
          <p:cNvPr id="129" name="TextBox 128"/>
          <p:cNvSpPr txBox="1"/>
          <p:nvPr/>
        </p:nvSpPr>
        <p:spPr>
          <a:xfrm>
            <a:off x="2377440" y="1810512"/>
            <a:ext cx="594360" cy="155448"/>
          </a:xfrm>
          <a:prstGeom prst="rect">
            <a:avLst/>
          </a:prstGeom>
          <a:noFill/>
        </p:spPr>
        <p:txBody>
          <a:bodyPr wrap="none">
            <a:spAutoFit/>
          </a:bodyPr>
          <a:lstStyle/>
          <a:p>
            <a:r>
              <a:rPr lang="en-US" sz="1000" dirty="0">
                <a:solidFill>
                  <a:srgbClr val="CCCCCC"/>
                </a:solidFill>
                <a:latin typeface="Calibri"/>
              </a:rPr>
              <a:t>10.43%</a:t>
            </a:r>
          </a:p>
        </p:txBody>
      </p:sp>
      <p:sp>
        <p:nvSpPr>
          <p:cNvPr id="130" name="TextBox 129"/>
          <p:cNvSpPr txBox="1"/>
          <p:nvPr/>
        </p:nvSpPr>
        <p:spPr>
          <a:xfrm>
            <a:off x="3017520" y="1810512"/>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1" name="TextBox 130"/>
          <p:cNvSpPr txBox="1"/>
          <p:nvPr/>
        </p:nvSpPr>
        <p:spPr>
          <a:xfrm>
            <a:off x="3794760" y="1810512"/>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2" name="TextBox 131"/>
          <p:cNvSpPr txBox="1"/>
          <p:nvPr/>
        </p:nvSpPr>
        <p:spPr>
          <a:xfrm>
            <a:off x="4343400" y="1810512"/>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3" name="TextBox 132"/>
          <p:cNvSpPr txBox="1"/>
          <p:nvPr/>
        </p:nvSpPr>
        <p:spPr>
          <a:xfrm>
            <a:off x="256032" y="1975104"/>
            <a:ext cx="1188720" cy="155448"/>
          </a:xfrm>
          <a:prstGeom prst="rect">
            <a:avLst/>
          </a:prstGeom>
          <a:noFill/>
        </p:spPr>
        <p:txBody>
          <a:bodyPr wrap="none">
            <a:spAutoFit/>
          </a:bodyPr>
          <a:lstStyle/>
          <a:p>
            <a:r>
              <a:rPr lang="en-US" sz="1000" dirty="0">
                <a:solidFill>
                  <a:srgbClr val="CCCCCC"/>
                </a:solidFill>
                <a:latin typeface="Calibri"/>
              </a:rPr>
              <a:t>Other</a:t>
            </a:r>
          </a:p>
        </p:txBody>
      </p:sp>
      <p:sp>
        <p:nvSpPr>
          <p:cNvPr id="134" name="TextBox 133"/>
          <p:cNvSpPr txBox="1"/>
          <p:nvPr/>
        </p:nvSpPr>
        <p:spPr>
          <a:xfrm>
            <a:off x="1508760" y="1975104"/>
            <a:ext cx="822960" cy="155448"/>
          </a:xfrm>
          <a:prstGeom prst="rect">
            <a:avLst/>
          </a:prstGeom>
          <a:noFill/>
        </p:spPr>
        <p:txBody>
          <a:bodyPr wrap="none">
            <a:spAutoFit/>
          </a:bodyPr>
          <a:lstStyle/>
          <a:p>
            <a:r>
              <a:rPr lang="en-US" sz="1000" dirty="0">
                <a:solidFill>
                  <a:srgbClr val="CCCCCC"/>
                </a:solidFill>
                <a:latin typeface="Calibri"/>
              </a:rPr>
              <a:t>167,972</a:t>
            </a:r>
          </a:p>
        </p:txBody>
      </p:sp>
      <p:sp>
        <p:nvSpPr>
          <p:cNvPr id="135" name="TextBox 134"/>
          <p:cNvSpPr txBox="1"/>
          <p:nvPr/>
        </p:nvSpPr>
        <p:spPr>
          <a:xfrm>
            <a:off x="2377440" y="1975104"/>
            <a:ext cx="594360" cy="155448"/>
          </a:xfrm>
          <a:prstGeom prst="rect">
            <a:avLst/>
          </a:prstGeom>
          <a:noFill/>
        </p:spPr>
        <p:txBody>
          <a:bodyPr wrap="none">
            <a:spAutoFit/>
          </a:bodyPr>
          <a:lstStyle/>
          <a:p>
            <a:r>
              <a:rPr lang="en-US" sz="1000" dirty="0">
                <a:solidFill>
                  <a:srgbClr val="CCCCCC"/>
                </a:solidFill>
                <a:latin typeface="Calibri"/>
              </a:rPr>
              <a:t>19.25%</a:t>
            </a:r>
          </a:p>
        </p:txBody>
      </p:sp>
      <p:sp>
        <p:nvSpPr>
          <p:cNvPr id="136" name="TextBox 135"/>
          <p:cNvSpPr txBox="1"/>
          <p:nvPr/>
        </p:nvSpPr>
        <p:spPr>
          <a:xfrm>
            <a:off x="3017520" y="1975104"/>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7" name="TextBox 136"/>
          <p:cNvSpPr txBox="1"/>
          <p:nvPr/>
        </p:nvSpPr>
        <p:spPr>
          <a:xfrm>
            <a:off x="3794760" y="1975104"/>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8" name="TextBox 137"/>
          <p:cNvSpPr txBox="1"/>
          <p:nvPr/>
        </p:nvSpPr>
        <p:spPr>
          <a:xfrm>
            <a:off x="4343400" y="1975104"/>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9" name="TextBox 138"/>
          <p:cNvSpPr txBox="1"/>
          <p:nvPr/>
        </p:nvSpPr>
        <p:spPr>
          <a:xfrm>
            <a:off x="256032" y="2176272"/>
            <a:ext cx="1188720" cy="155448"/>
          </a:xfrm>
          <a:prstGeom prst="rect">
            <a:avLst/>
          </a:prstGeom>
          <a:noFill/>
        </p:spPr>
        <p:txBody>
          <a:bodyPr wrap="none">
            <a:spAutoFit/>
          </a:bodyPr>
          <a:lstStyle/>
          <a:p>
            <a:r>
              <a:rPr lang="en-US" sz="1000" b="1" dirty="0">
                <a:solidFill>
                  <a:srgbClr val="FFFFFF"/>
                </a:solidFill>
                <a:latin typeface="Calibri"/>
              </a:rPr>
              <a:t>TOTAL</a:t>
            </a:r>
          </a:p>
        </p:txBody>
      </p:sp>
      <p:sp>
        <p:nvSpPr>
          <p:cNvPr id="140" name="TextBox 139"/>
          <p:cNvSpPr txBox="1"/>
          <p:nvPr/>
        </p:nvSpPr>
        <p:spPr>
          <a:xfrm>
            <a:off x="1508760" y="2176272"/>
            <a:ext cx="822960" cy="155448"/>
          </a:xfrm>
          <a:prstGeom prst="rect">
            <a:avLst/>
          </a:prstGeom>
          <a:noFill/>
        </p:spPr>
        <p:txBody>
          <a:bodyPr wrap="none">
            <a:spAutoFit/>
          </a:bodyPr>
          <a:lstStyle/>
          <a:p>
            <a:r>
              <a:rPr lang="en-US" sz="1000" b="1" dirty="0">
                <a:solidFill>
                  <a:srgbClr val="FFFFFF"/>
                </a:solidFill>
                <a:latin typeface="Calibri"/>
              </a:rPr>
              <a:t>872,525</a:t>
            </a:r>
          </a:p>
        </p:txBody>
      </p:sp>
      <p:sp>
        <p:nvSpPr>
          <p:cNvPr id="141" name="TextBox 140"/>
          <p:cNvSpPr txBox="1"/>
          <p:nvPr/>
        </p:nvSpPr>
        <p:spPr>
          <a:xfrm>
            <a:off x="2377440" y="2176272"/>
            <a:ext cx="594360" cy="155448"/>
          </a:xfrm>
          <a:prstGeom prst="rect">
            <a:avLst/>
          </a:prstGeom>
          <a:noFill/>
        </p:spPr>
        <p:txBody>
          <a:bodyPr wrap="none">
            <a:spAutoFit/>
          </a:bodyPr>
          <a:lstStyle/>
          <a:p>
            <a:r>
              <a:rPr lang="en-US" sz="1000" b="1" dirty="0">
                <a:solidFill>
                  <a:srgbClr val="FFFFFF"/>
                </a:solidFill>
                <a:latin typeface="Calibri"/>
              </a:rPr>
              <a:t>100.0%</a:t>
            </a:r>
          </a:p>
        </p:txBody>
      </p:sp>
      <p:sp>
        <p:nvSpPr>
          <p:cNvPr id="142" name="TextBox 141"/>
          <p:cNvSpPr txBox="1"/>
          <p:nvPr/>
        </p:nvSpPr>
        <p:spPr>
          <a:xfrm>
            <a:off x="3017520" y="2176272"/>
            <a:ext cx="731520" cy="155448"/>
          </a:xfrm>
          <a:prstGeom prst="rect">
            <a:avLst/>
          </a:prstGeom>
          <a:noFill/>
        </p:spPr>
        <p:txBody>
          <a:bodyPr wrap="none">
            <a:spAutoFit/>
          </a:bodyPr>
          <a:lstStyle/>
          <a:p>
            <a:r>
              <a:rPr lang="en-US" sz="1000" b="1" dirty="0">
                <a:solidFill>
                  <a:srgbClr val="FFFFFF"/>
                </a:solidFill>
                <a:latin typeface="Calibri"/>
              </a:rPr>
              <a:t>847,944</a:t>
            </a:r>
          </a:p>
        </p:txBody>
      </p:sp>
      <p:sp>
        <p:nvSpPr>
          <p:cNvPr id="143" name="TextBox 142"/>
          <p:cNvSpPr txBox="1"/>
          <p:nvPr/>
        </p:nvSpPr>
        <p:spPr>
          <a:xfrm>
            <a:off x="3794760" y="2176272"/>
            <a:ext cx="502920" cy="155448"/>
          </a:xfrm>
          <a:prstGeom prst="rect">
            <a:avLst/>
          </a:prstGeom>
          <a:noFill/>
        </p:spPr>
        <p:txBody>
          <a:bodyPr wrap="none">
            <a:spAutoFit/>
          </a:bodyPr>
          <a:lstStyle/>
          <a:p>
            <a:r>
              <a:rPr lang="en-US" sz="1000" b="1" dirty="0">
                <a:solidFill>
                  <a:srgbClr val="FFFFFF"/>
                </a:solidFill>
                <a:latin typeface="Calibri"/>
              </a:rPr>
              <a:t>97.2%</a:t>
            </a:r>
          </a:p>
        </p:txBody>
      </p:sp>
      <p:sp>
        <p:nvSpPr>
          <p:cNvPr id="144" name="TextBox 143"/>
          <p:cNvSpPr txBox="1"/>
          <p:nvPr/>
        </p:nvSpPr>
        <p:spPr>
          <a:xfrm>
            <a:off x="4343400" y="2176272"/>
            <a:ext cx="594360" cy="155448"/>
          </a:xfrm>
          <a:prstGeom prst="rect">
            <a:avLst/>
          </a:prstGeom>
          <a:noFill/>
        </p:spPr>
        <p:txBody>
          <a:bodyPr wrap="none">
            <a:spAutoFit/>
          </a:bodyPr>
          <a:lstStyle/>
          <a:p>
            <a:r>
              <a:rPr lang="en-US" sz="1000" b="1" dirty="0">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795520" y="941832"/>
            <a:ext cx="2560320" cy="155448"/>
          </a:xfrm>
          <a:prstGeom prst="rect">
            <a:avLst/>
          </a:prstGeom>
          <a:noFill/>
        </p:spPr>
        <p:txBody>
          <a:bodyPr wrap="none">
            <a:spAutoFit/>
          </a:bodyPr>
          <a:lstStyle/>
          <a:p>
            <a:r>
              <a:rPr lang="en-US" sz="10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 (MTB Capital Inc.)</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sz="1000" b="1">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sz="1000" i="1">
                <a:solidFill>
                  <a:srgbClr val="CCCCCC"/>
                </a:solidFill>
                <a:latin typeface="Calibri"/>
              </a:rPr>
              <a:t>Not a receivable. Netted 6/30/2025 (#25925-26):</a:t>
            </a:r>
          </a:p>
          <a:p>
            <a:r>
              <a:rPr lang="en-US" sz="1000" i="1">
                <a:solidFill>
                  <a:srgbClr val="CCCCCC"/>
                </a:solidFill>
                <a:latin typeface="Calibri"/>
              </a:rPr>
              <a:t>$294,499 loan payable + $518,201 no invoices</a:t>
            </a:r>
          </a:p>
          <a:p>
            <a:r>
              <a:rPr lang="en-US" sz="1000" i="1">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dirty="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Every $1 paid to Microcosm/Wertz at close, $0.46 comes from holders outside that group. Holders outside the Microcosm/Wertz group own 46% of that pool and bear 46% of every uncorrected entry.</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providing the invoices and agreeing to the corrections. Motion 5 is decided by the disinterested directors (Quinn, Rufer, Conger).</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sz="1000" b="1">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sz="1000" b="1">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Conger &amp; Rufer Example</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Net at close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$14.2K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$16.9K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$19.6K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Net 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$19.7K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$22.4K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$25.1K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Net at close (Steps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$26.0K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$28.7K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$31.4K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Net 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$29.6K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$32.3K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$35.0K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$1.94 at close  ·  $5.51 over 5 years</a:t>
            </a:r>
          </a:p>
        </p:txBody>
      </p:sp>
      <p:sp>
        <p:nvSpPr>
          <p:cNvPr id="30" name="TextBox 29"/>
          <p:cNvSpPr txBox="1"/>
          <p:nvPr/>
        </p:nvSpPr>
        <p:spPr>
          <a:xfrm>
            <a:off x="4736592" y="566928"/>
            <a:ext cx="192024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1965960" cy="201168"/>
          </a:xfrm>
          <a:prstGeom prst="rect">
            <a:avLst/>
          </a:prstGeom>
          <a:noFill/>
        </p:spPr>
        <p:txBody>
          <a:bodyPr wrap="none">
            <a:spAutoFit/>
          </a:bodyPr>
          <a:lstStyle/>
          <a:p>
            <a:pPr algn="l"/>
            <a:r>
              <a:rPr sz="1000" b="0" i="0">
                <a:solidFill>
                  <a:srgbClr val="CCCCCC"/>
                </a:solidFill>
                <a:latin typeface="Calibri"/>
              </a:rPr>
              <a:t>8.37% of SSLC · 10.21% of payout</a:t>
            </a:r>
          </a:p>
        </p:txBody>
      </p:sp>
      <p:sp>
        <p:nvSpPr>
          <p:cNvPr id="32" name="TextBox 31"/>
          <p:cNvSpPr txBox="1"/>
          <p:nvPr/>
        </p:nvSpPr>
        <p:spPr>
          <a:xfrm>
            <a:off x="4736592" y="932688"/>
            <a:ext cx="1920240" cy="182880"/>
          </a:xfrm>
          <a:prstGeom prst="rect">
            <a:avLst/>
          </a:prstGeom>
          <a:noFill/>
        </p:spPr>
        <p:txBody>
          <a:bodyPr wrap="none">
            <a:spAutoFit/>
          </a:bodyPr>
          <a:lstStyle/>
          <a:p>
            <a:pPr algn="l"/>
            <a:r>
              <a:rPr sz="1000" b="0" i="1">
                <a:solidFill>
                  <a:srgbClr val="888888"/>
                </a:solidFill>
                <a:latin typeface="Calibri"/>
              </a:rPr>
              <a:t>Certs #3 (44K) + #43 (29K)</a:t>
            </a:r>
          </a:p>
        </p:txBody>
      </p:sp>
      <p:sp>
        <p:nvSpPr>
          <p:cNvPr id="33" name="TextBox 32"/>
          <p:cNvSpPr txBox="1"/>
          <p:nvPr/>
        </p:nvSpPr>
        <p:spPr>
          <a:xfrm>
            <a:off x="4736592" y="1170432"/>
            <a:ext cx="1188720" cy="219456"/>
          </a:xfrm>
          <a:prstGeom prst="rect">
            <a:avLst/>
          </a:prstGeom>
          <a:noFill/>
        </p:spPr>
        <p:txBody>
          <a:bodyPr wrap="none">
            <a:spAutoFit/>
          </a:bodyPr>
          <a:lstStyle/>
          <a:p>
            <a:pPr algn="l"/>
            <a:r>
              <a:rPr sz="1000" b="0" i="0">
                <a:solidFill>
                  <a:srgbClr val="CCCCCC"/>
                </a:solidFill>
                <a:latin typeface="Calibri"/>
              </a:rPr>
              <a:t>Close, as booked</a:t>
            </a:r>
          </a:p>
        </p:txBody>
      </p:sp>
      <p:sp>
        <p:nvSpPr>
          <p:cNvPr id="34" name="TextBox 33"/>
          <p:cNvSpPr txBox="1"/>
          <p:nvPr/>
        </p:nvSpPr>
        <p:spPr>
          <a:xfrm>
            <a:off x="5897880" y="1170432"/>
            <a:ext cx="777240" cy="219456"/>
          </a:xfrm>
          <a:prstGeom prst="rect">
            <a:avLst/>
          </a:prstGeom>
          <a:noFill/>
        </p:spPr>
        <p:txBody>
          <a:bodyPr wrap="none">
            <a:spAutoFit/>
          </a:bodyPr>
          <a:lstStyle/>
          <a:p>
            <a:pPr algn="r"/>
            <a:r>
              <a:rPr sz="1000" b="1" i="0">
                <a:solidFill>
                  <a:srgbClr val="44BB44"/>
                </a:solidFill>
                <a:latin typeface="Calibri"/>
              </a:rPr>
              <a:t>~$141.7K</a:t>
            </a:r>
          </a:p>
        </p:txBody>
      </p:sp>
      <p:sp>
        <p:nvSpPr>
          <p:cNvPr id="35" name="TextBox 34"/>
          <p:cNvSpPr txBox="1"/>
          <p:nvPr/>
        </p:nvSpPr>
        <p:spPr>
          <a:xfrm>
            <a:off x="4736592" y="1399032"/>
            <a:ext cx="1188720" cy="219456"/>
          </a:xfrm>
          <a:prstGeom prst="rect">
            <a:avLst/>
          </a:prstGeom>
          <a:noFill/>
        </p:spPr>
        <p:txBody>
          <a:bodyPr wrap="none">
            <a:spAutoFit/>
          </a:bodyPr>
          <a:lstStyle/>
          <a:p>
            <a:pPr algn="l"/>
            <a:r>
              <a:rPr sz="1000" b="0" i="0">
                <a:solidFill>
                  <a:srgbClr val="CCCCCC"/>
                </a:solidFill>
                <a:latin typeface="Calibri"/>
              </a:rPr>
              <a:t>Close, Step 1</a:t>
            </a:r>
          </a:p>
        </p:txBody>
      </p:sp>
      <p:sp>
        <p:nvSpPr>
          <p:cNvPr id="36" name="TextBox 35"/>
          <p:cNvSpPr txBox="1"/>
          <p:nvPr/>
        </p:nvSpPr>
        <p:spPr>
          <a:xfrm>
            <a:off x="5897880" y="1399032"/>
            <a:ext cx="777240" cy="219456"/>
          </a:xfrm>
          <a:prstGeom prst="rect">
            <a:avLst/>
          </a:prstGeom>
          <a:noFill/>
        </p:spPr>
        <p:txBody>
          <a:bodyPr wrap="none">
            <a:spAutoFit/>
          </a:bodyPr>
          <a:lstStyle/>
          <a:p>
            <a:pPr algn="r"/>
            <a:r>
              <a:rPr sz="1000" b="1" i="0">
                <a:solidFill>
                  <a:srgbClr val="FFCC44"/>
                </a:solidFill>
                <a:latin typeface="Calibri"/>
              </a:rPr>
              <a:t>~$187.5K</a:t>
            </a:r>
          </a:p>
        </p:txBody>
      </p:sp>
      <p:sp>
        <p:nvSpPr>
          <p:cNvPr id="37" name="TextBox 36"/>
          <p:cNvSpPr txBox="1"/>
          <p:nvPr/>
        </p:nvSpPr>
        <p:spPr>
          <a:xfrm>
            <a:off x="4736592" y="1627632"/>
            <a:ext cx="1188720" cy="219456"/>
          </a:xfrm>
          <a:prstGeom prst="rect">
            <a:avLst/>
          </a:prstGeom>
          <a:noFill/>
        </p:spPr>
        <p:txBody>
          <a:bodyPr wrap="none">
            <a:spAutoFit/>
          </a:bodyPr>
          <a:lstStyle/>
          <a:p>
            <a:pPr algn="l"/>
            <a:r>
              <a:rPr sz="1000" b="0" i="0">
                <a:solidFill>
                  <a:srgbClr val="CCCCCC"/>
                </a:solidFill>
                <a:latin typeface="Calibri"/>
              </a:rPr>
              <a:t>Close, Step 1+2</a:t>
            </a:r>
          </a:p>
        </p:txBody>
      </p:sp>
      <p:sp>
        <p:nvSpPr>
          <p:cNvPr id="38" name="TextBox 37"/>
          <p:cNvSpPr txBox="1"/>
          <p:nvPr/>
        </p:nvSpPr>
        <p:spPr>
          <a:xfrm>
            <a:off x="5897880" y="1627632"/>
            <a:ext cx="777240" cy="219456"/>
          </a:xfrm>
          <a:prstGeom prst="rect">
            <a:avLst/>
          </a:prstGeom>
          <a:noFill/>
        </p:spPr>
        <p:txBody>
          <a:bodyPr wrap="none">
            <a:spAutoFit/>
          </a:bodyPr>
          <a:lstStyle/>
          <a:p>
            <a:pPr algn="r"/>
            <a:r>
              <a:rPr sz="1000" b="1" i="0">
                <a:solidFill>
                  <a:srgbClr val="FFCC44"/>
                </a:solidFill>
                <a:latin typeface="Calibri"/>
              </a:rPr>
              <a:t>~$240.5K</a:t>
            </a:r>
          </a:p>
        </p:txBody>
      </p:sp>
      <p:sp>
        <p:nvSpPr>
          <p:cNvPr id="39" name="TextBox 38"/>
          <p:cNvSpPr txBox="1"/>
          <p:nvPr/>
        </p:nvSpPr>
        <p:spPr>
          <a:xfrm>
            <a:off x="4736592" y="1856231"/>
            <a:ext cx="1188720" cy="219456"/>
          </a:xfrm>
          <a:prstGeom prst="rect">
            <a:avLst/>
          </a:prstGeom>
          <a:noFill/>
        </p:spPr>
        <p:txBody>
          <a:bodyPr wrap="none">
            <a:spAutoFit/>
          </a:bodyPr>
          <a:lstStyle/>
          <a:p>
            <a:pPr algn="l"/>
            <a:r>
              <a:rPr sz="1000" b="0" i="0">
                <a:solidFill>
                  <a:srgbClr val="CCCCCC"/>
                </a:solidFill>
                <a:latin typeface="Calibri"/>
              </a:rPr>
              <a:t>Close, Step 3</a:t>
            </a:r>
          </a:p>
        </p:txBody>
      </p:sp>
      <p:sp>
        <p:nvSpPr>
          <p:cNvPr id="40" name="TextBox 39"/>
          <p:cNvSpPr txBox="1"/>
          <p:nvPr/>
        </p:nvSpPr>
        <p:spPr>
          <a:xfrm>
            <a:off x="5897880" y="1856231"/>
            <a:ext cx="777240" cy="219456"/>
          </a:xfrm>
          <a:prstGeom prst="rect">
            <a:avLst/>
          </a:prstGeom>
          <a:noFill/>
        </p:spPr>
        <p:txBody>
          <a:bodyPr wrap="none">
            <a:spAutoFit/>
          </a:bodyPr>
          <a:lstStyle/>
          <a:p>
            <a:pPr algn="r"/>
            <a:r>
              <a:rPr sz="1000" b="1" i="0">
                <a:solidFill>
                  <a:srgbClr val="CCCCCC"/>
                </a:solidFill>
                <a:latin typeface="Calibri"/>
              </a:rPr>
              <a:t>~$270.5K</a:t>
            </a:r>
          </a:p>
        </p:txBody>
      </p:sp>
      <p:sp>
        <p:nvSpPr>
          <p:cNvPr id="41" name="TextBox 40"/>
          <p:cNvSpPr txBox="1"/>
          <p:nvPr/>
        </p:nvSpPr>
        <p:spPr>
          <a:xfrm>
            <a:off x="4736592" y="2103120"/>
            <a:ext cx="1965960" cy="411480"/>
          </a:xfrm>
          <a:prstGeom prst="rect">
            <a:avLst/>
          </a:prstGeom>
          <a:noFill/>
        </p:spPr>
        <p:txBody>
          <a:bodyPr wrap="square">
            <a:spAutoFit/>
          </a:bodyPr>
          <a:lstStyle/>
          <a:p>
            <a:pPr algn="l"/>
            <a:r>
              <a:rPr sz="1000" b="0" i="1">
                <a:solidFill>
                  <a:srgbClr val="FFCC44"/>
                </a:solidFill>
                <a:latin typeface="Calibri"/>
              </a:rPr>
              <a:t>5-yr ≈ $403K (8.2× paid-in). 6/3 ledger omits cert #3.</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4370832" y="2857500"/>
            <a:ext cx="1645920" cy="201168"/>
          </a:xfrm>
          <a:prstGeom prst="rect">
            <a:avLst/>
          </a:prstGeom>
          <a:noFill/>
        </p:spPr>
        <p:txBody>
          <a:bodyPr wrap="none">
            <a:spAutoFit/>
          </a:bodyPr>
          <a:lstStyle/>
          <a:p>
            <a:pPr algn="r"/>
            <a:r>
              <a:rPr sz="1000" b="1" i="0" dirty="0">
                <a:solidFill>
                  <a:srgbClr val="DD4444"/>
                </a:solidFill>
                <a:latin typeface="Calibri"/>
              </a:rPr>
              <a:t>Per 1%: −$5.5K</a:t>
            </a:r>
          </a:p>
        </p:txBody>
      </p:sp>
      <p:sp>
        <p:nvSpPr>
          <p:cNvPr id="47" name="TextBox 46"/>
          <p:cNvSpPr txBox="1"/>
          <p:nvPr/>
        </p:nvSpPr>
        <p:spPr>
          <a:xfrm>
            <a:off x="72054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5669280" y="2812176"/>
            <a:ext cx="1508760" cy="201168"/>
          </a:xfrm>
          <a:prstGeom prst="rect">
            <a:avLst/>
          </a:prstGeom>
          <a:noFill/>
        </p:spPr>
        <p:txBody>
          <a:bodyPr wrap="none">
            <a:spAutoFit/>
          </a:bodyPr>
          <a:lstStyle/>
          <a:p>
            <a:pPr algn="r"/>
            <a:r>
              <a:rPr sz="1000" b="1" i="0" dirty="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4434839" y="3080051"/>
            <a:ext cx="1645920" cy="201168"/>
          </a:xfrm>
          <a:prstGeom prst="rect">
            <a:avLst/>
          </a:prstGeom>
          <a:noFill/>
        </p:spPr>
        <p:txBody>
          <a:bodyPr wrap="none">
            <a:spAutoFit/>
          </a:bodyPr>
          <a:lstStyle/>
          <a:p>
            <a:pPr algn="r"/>
            <a:r>
              <a:rPr sz="1000" b="1" i="0" dirty="0">
                <a:solidFill>
                  <a:srgbClr val="DD4444"/>
                </a:solidFill>
                <a:latin typeface="Calibri"/>
              </a:rPr>
              <a:t>Per 1%: −$11.8K</a:t>
            </a:r>
          </a:p>
        </p:txBody>
      </p:sp>
      <p:sp>
        <p:nvSpPr>
          <p:cNvPr id="51" name="TextBox 50"/>
          <p:cNvSpPr txBox="1"/>
          <p:nvPr/>
        </p:nvSpPr>
        <p:spPr>
          <a:xfrm>
            <a:off x="72054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5669280" y="3064514"/>
            <a:ext cx="1508760" cy="246221"/>
          </a:xfrm>
          <a:prstGeom prst="rect">
            <a:avLst/>
          </a:prstGeom>
          <a:noFill/>
        </p:spPr>
        <p:txBody>
          <a:bodyPr wrap="none">
            <a:spAutoFit/>
          </a:bodyPr>
          <a:lstStyle/>
          <a:p>
            <a:pPr algn="r"/>
            <a:r>
              <a:rPr sz="1000" b="1" i="0" dirty="0">
                <a:solidFill>
                  <a:srgbClr val="DD4444"/>
                </a:solidFill>
                <a:latin typeface="Calibri"/>
              </a:rPr>
              <a:t>Conger: −$</a:t>
            </a:r>
            <a:r>
              <a:rPr lang="en-US" sz="1000" b="1" i="0" dirty="0">
                <a:solidFill>
                  <a:srgbClr val="DD4444"/>
                </a:solidFill>
                <a:latin typeface="Calibri"/>
              </a:rPr>
              <a:t>98.7K  (Microcosm owes SSLC)</a:t>
            </a:r>
            <a:endParaRPr sz="1000" b="1" i="0" dirty="0">
              <a:solidFill>
                <a:srgbClr val="DD4444"/>
              </a:solidFill>
              <a:latin typeface="Calibri"/>
            </a:endParaRP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 offered value creation</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REFUSAL TO SELL: today's value and the standalone path</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~$14–20K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Book value today: −$1.44M equity (negative; standalone requires new capital to convert)</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~$48K per 1% over 5 years</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sz="1000" b="1">
                <a:solidFill>
                  <a:srgbClr val="DD4444"/>
                </a:solidFill>
                <a:latin typeface="Calibri"/>
              </a:rPr>
              <a:t>Per 1%: −$15.4K</a:t>
            </a:r>
          </a:p>
        </p:txBody>
      </p:sp>
      <p:sp>
        <p:nvSpPr>
          <p:cNvPr id="71" name="TextBox 70"/>
          <p:cNvSpPr txBox="1"/>
          <p:nvPr/>
        </p:nvSpPr>
        <p:spPr>
          <a:xfrm>
            <a:off x="72054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5669280" y="3285609"/>
            <a:ext cx="1508760" cy="201168"/>
          </a:xfrm>
          <a:prstGeom prst="rect">
            <a:avLst/>
          </a:prstGeom>
          <a:noFill/>
        </p:spPr>
        <p:txBody>
          <a:bodyPr wrap="none">
            <a:spAutoFit/>
          </a:bodyPr>
          <a:lstStyle/>
          <a:p>
            <a:r>
              <a:rPr lang="en-US" sz="1000" b="1" dirty="0">
                <a:solidFill>
                  <a:srgbClr val="DD4444"/>
                </a:solidFill>
                <a:latin typeface="Calibri"/>
              </a:rPr>
              <a:t>Conger: −$128.7K</a:t>
            </a:r>
          </a:p>
        </p:txBody>
      </p:sp>
      <p:sp>
        <p:nvSpPr>
          <p:cNvPr id="73" name="TextBox 72"/>
          <p:cNvSpPr txBox="1"/>
          <p:nvPr/>
        </p:nvSpPr>
        <p:spPr>
          <a:xfrm>
            <a:off x="6812280" y="566928"/>
            <a:ext cx="2103120" cy="201168"/>
          </a:xfrm>
          <a:prstGeom prst="rect">
            <a:avLst/>
          </a:prstGeom>
          <a:noFill/>
        </p:spPr>
        <p:txBody>
          <a:bodyPr wrap="none" anchor="t">
            <a:spAutoFit/>
          </a:bodyPr>
          <a:lstStyle/>
          <a:p>
            <a:r>
              <a:rPr lang="en-US" sz="1100" dirty="0" b="1">
                <a:solidFill>
                  <a:srgbClr val="FFFFFF"/>
                </a:solidFill>
                <a:latin typeface="Calibri"/>
              </a:rPr>
              <a:t>Rufer — 91,000 shares</a:t>
            </a:r>
          </a:p>
        </p:txBody>
      </p:sp>
      <p:sp>
        <p:nvSpPr>
          <p:cNvPr id="74" name="TextBox 73"/>
          <p:cNvSpPr txBox="1"/>
          <p:nvPr/>
        </p:nvSpPr>
        <p:spPr>
          <a:xfrm>
            <a:off x="6812280" y="795528"/>
            <a:ext cx="2194560" cy="201168"/>
          </a:xfrm>
          <a:prstGeom prst="rect">
            <a:avLst/>
          </a:prstGeom>
          <a:noFill/>
        </p:spPr>
        <p:txBody>
          <a:bodyPr wrap="none" anchor="t">
            <a:spAutoFit/>
          </a:bodyPr>
          <a:lstStyle/>
          <a:p>
            <a:r>
              <a:rPr lang="en-US" sz="1000" dirty="0">
                <a:solidFill>
                  <a:srgbClr val="CCCCCC"/>
                </a:solidFill>
                <a:latin typeface="Calibri"/>
              </a:rPr>
              <a:t>10.43% of SSLC · 12.73% of payout</a:t>
            </a:r>
          </a:p>
        </p:txBody>
      </p:sp>
      <p:sp>
        <p:nvSpPr>
          <p:cNvPr id="75" name="TextBox 74"/>
          <p:cNvSpPr txBox="1"/>
          <p:nvPr/>
        </p:nvSpPr>
        <p:spPr>
          <a:xfrm>
            <a:off x="6812280" y="932688"/>
            <a:ext cx="2103120" cy="182880"/>
          </a:xfrm>
          <a:prstGeom prst="rect">
            <a:avLst/>
          </a:prstGeom>
          <a:noFill/>
        </p:spPr>
        <p:txBody>
          <a:bodyPr wrap="none" anchor="t">
            <a:spAutoFit/>
          </a:bodyPr>
          <a:lstStyle/>
          <a:p>
            <a:r>
              <a:rPr lang="en-US" sz="1000" dirty="0" i="1">
                <a:solidFill>
                  <a:srgbClr val="CCCCCC"/>
                </a:solidFill>
                <a:latin typeface="Calibri"/>
              </a:rPr>
              <a:t>~$31.4K paid-in (register)</a:t>
            </a:r>
          </a:p>
        </p:txBody>
      </p:sp>
      <p:sp>
        <p:nvSpPr>
          <p:cNvPr id="76" name="Rectangle 75"/>
          <p:cNvSpPr/>
          <p:nvPr/>
        </p:nvSpPr>
        <p:spPr>
          <a:xfrm>
            <a:off x="6812280" y="1143000"/>
            <a:ext cx="2103120" cy="7315"/>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12280" y="1170432"/>
            <a:ext cx="1234440" cy="219456"/>
          </a:xfrm>
          <a:prstGeom prst="rect">
            <a:avLst/>
          </a:prstGeom>
          <a:noFill/>
        </p:spPr>
        <p:txBody>
          <a:bodyPr wrap="none" anchor="t">
            <a:spAutoFit/>
          </a:bodyPr>
          <a:lstStyle/>
          <a:p>
            <a:r>
              <a:rPr lang="en-US" sz="1000" dirty="0">
                <a:solidFill>
                  <a:srgbClr val="CCCCCC"/>
                </a:solidFill>
                <a:latin typeface="Calibri"/>
              </a:rPr>
              <a:t>Close, as booked</a:t>
            </a:r>
          </a:p>
        </p:txBody>
      </p:sp>
      <p:sp>
        <p:nvSpPr>
          <p:cNvPr id="78" name="TextBox 77"/>
          <p:cNvSpPr txBox="1"/>
          <p:nvPr/>
        </p:nvSpPr>
        <p:spPr>
          <a:xfrm>
            <a:off x="8138160" y="1170432"/>
            <a:ext cx="822960" cy="219456"/>
          </a:xfrm>
          <a:prstGeom prst="rect">
            <a:avLst/>
          </a:prstGeom>
          <a:noFill/>
        </p:spPr>
        <p:txBody>
          <a:bodyPr wrap="none" anchor="t">
            <a:spAutoFit/>
          </a:bodyPr>
          <a:lstStyle/>
          <a:p>
            <a:pPr algn="r"/>
            <a:r>
              <a:rPr lang="en-US" sz="1100" dirty="0" b="1">
                <a:solidFill>
                  <a:srgbClr val="FFCC44"/>
                </a:solidFill>
                <a:latin typeface="Calibri"/>
              </a:rPr>
              <a:t>~$176.7K</a:t>
            </a:r>
          </a:p>
        </p:txBody>
      </p:sp>
      <p:sp>
        <p:nvSpPr>
          <p:cNvPr id="79" name="TextBox 78"/>
          <p:cNvSpPr txBox="1"/>
          <p:nvPr/>
        </p:nvSpPr>
        <p:spPr>
          <a:xfrm>
            <a:off x="6812280" y="1399032"/>
            <a:ext cx="1234440" cy="219456"/>
          </a:xfrm>
          <a:prstGeom prst="rect">
            <a:avLst/>
          </a:prstGeom>
          <a:noFill/>
        </p:spPr>
        <p:txBody>
          <a:bodyPr wrap="none" anchor="t">
            <a:spAutoFit/>
          </a:bodyPr>
          <a:lstStyle/>
          <a:p>
            <a:r>
              <a:rPr lang="en-US" sz="1000" dirty="0">
                <a:solidFill>
                  <a:srgbClr val="CCCCCC"/>
                </a:solidFill>
                <a:latin typeface="Calibri"/>
              </a:rPr>
              <a:t>Close, Step 1</a:t>
            </a:r>
          </a:p>
        </p:txBody>
      </p:sp>
      <p:sp>
        <p:nvSpPr>
          <p:cNvPr id="80" name="TextBox 79"/>
          <p:cNvSpPr txBox="1"/>
          <p:nvPr/>
        </p:nvSpPr>
        <p:spPr>
          <a:xfrm>
            <a:off x="8138160" y="1399032"/>
            <a:ext cx="822960" cy="219456"/>
          </a:xfrm>
          <a:prstGeom prst="rect">
            <a:avLst/>
          </a:prstGeom>
          <a:noFill/>
        </p:spPr>
        <p:txBody>
          <a:bodyPr wrap="none" anchor="t">
            <a:spAutoFit/>
          </a:bodyPr>
          <a:lstStyle/>
          <a:p>
            <a:pPr algn="r"/>
            <a:r>
              <a:rPr lang="en-US" sz="1100" dirty="0" b="1">
                <a:solidFill>
                  <a:srgbClr val="FFCC44"/>
                </a:solidFill>
                <a:latin typeface="Calibri"/>
              </a:rPr>
              <a:t>~$233.7K</a:t>
            </a:r>
          </a:p>
        </p:txBody>
      </p:sp>
      <p:sp>
        <p:nvSpPr>
          <p:cNvPr id="81" name="TextBox 80"/>
          <p:cNvSpPr txBox="1"/>
          <p:nvPr/>
        </p:nvSpPr>
        <p:spPr>
          <a:xfrm>
            <a:off x="6812280" y="1627632"/>
            <a:ext cx="1234440" cy="219456"/>
          </a:xfrm>
          <a:prstGeom prst="rect">
            <a:avLst/>
          </a:prstGeom>
          <a:noFill/>
        </p:spPr>
        <p:txBody>
          <a:bodyPr wrap="none" anchor="t">
            <a:spAutoFit/>
          </a:bodyPr>
          <a:lstStyle/>
          <a:p>
            <a:r>
              <a:rPr lang="en-US" sz="1000" dirty="0">
                <a:solidFill>
                  <a:srgbClr val="CCCCCC"/>
                </a:solidFill>
                <a:latin typeface="Calibri"/>
              </a:rPr>
              <a:t>Close, Step 1+2</a:t>
            </a:r>
          </a:p>
        </p:txBody>
      </p:sp>
      <p:sp>
        <p:nvSpPr>
          <p:cNvPr id="82" name="TextBox 81"/>
          <p:cNvSpPr txBox="1"/>
          <p:nvPr/>
        </p:nvSpPr>
        <p:spPr>
          <a:xfrm>
            <a:off x="8138160" y="1627632"/>
            <a:ext cx="822960" cy="219456"/>
          </a:xfrm>
          <a:prstGeom prst="rect">
            <a:avLst/>
          </a:prstGeom>
          <a:noFill/>
        </p:spPr>
        <p:txBody>
          <a:bodyPr wrap="none" anchor="t">
            <a:spAutoFit/>
          </a:bodyPr>
          <a:lstStyle/>
          <a:p>
            <a:pPr algn="r"/>
            <a:r>
              <a:rPr lang="en-US" sz="1100" dirty="0" b="1">
                <a:solidFill>
                  <a:srgbClr val="FFCC44"/>
                </a:solidFill>
                <a:latin typeface="Calibri"/>
              </a:rPr>
              <a:t>~$299.7K</a:t>
            </a:r>
          </a:p>
        </p:txBody>
      </p:sp>
      <p:sp>
        <p:nvSpPr>
          <p:cNvPr id="83" name="TextBox 82"/>
          <p:cNvSpPr txBox="1"/>
          <p:nvPr/>
        </p:nvSpPr>
        <p:spPr>
          <a:xfrm>
            <a:off x="6812280" y="1856231"/>
            <a:ext cx="1234440" cy="219456"/>
          </a:xfrm>
          <a:prstGeom prst="rect">
            <a:avLst/>
          </a:prstGeom>
          <a:noFill/>
        </p:spPr>
        <p:txBody>
          <a:bodyPr wrap="none" anchor="t">
            <a:spAutoFit/>
          </a:bodyPr>
          <a:lstStyle/>
          <a:p>
            <a:r>
              <a:rPr lang="en-US" sz="1000" dirty="0">
                <a:solidFill>
                  <a:srgbClr val="CCCCCC"/>
                </a:solidFill>
                <a:latin typeface="Calibri"/>
              </a:rPr>
              <a:t>Close, Step 3</a:t>
            </a:r>
          </a:p>
        </p:txBody>
      </p:sp>
      <p:sp>
        <p:nvSpPr>
          <p:cNvPr id="84" name="TextBox 83"/>
          <p:cNvSpPr txBox="1"/>
          <p:nvPr/>
        </p:nvSpPr>
        <p:spPr>
          <a:xfrm>
            <a:off x="8138160" y="1856231"/>
            <a:ext cx="822960" cy="219456"/>
          </a:xfrm>
          <a:prstGeom prst="rect">
            <a:avLst/>
          </a:prstGeom>
          <a:noFill/>
        </p:spPr>
        <p:txBody>
          <a:bodyPr wrap="none" anchor="t">
            <a:spAutoFit/>
          </a:bodyPr>
          <a:lstStyle/>
          <a:p>
            <a:pPr algn="r"/>
            <a:r>
              <a:rPr lang="en-US" sz="1100" dirty="0" b="1">
                <a:solidFill>
                  <a:srgbClr val="FFCC44"/>
                </a:solidFill>
                <a:latin typeface="Calibri"/>
              </a:rPr>
              <a:t>~$337.1K</a:t>
            </a:r>
          </a:p>
        </p:txBody>
      </p:sp>
      <p:sp>
        <p:nvSpPr>
          <p:cNvPr id="85" name="TextBox 84"/>
          <p:cNvSpPr txBox="1"/>
          <p:nvPr/>
        </p:nvSpPr>
        <p:spPr>
          <a:xfrm>
            <a:off x="6812280" y="2103120"/>
            <a:ext cx="2194560" cy="411480"/>
          </a:xfrm>
          <a:prstGeom prst="rect">
            <a:avLst/>
          </a:prstGeom>
          <a:noFill/>
        </p:spPr>
        <p:txBody>
          <a:bodyPr wrap="square" anchor="t">
            <a:spAutoFit/>
          </a:bodyPr>
          <a:lstStyle/>
          <a:p>
            <a:r>
              <a:rPr lang="en-US" sz="1000" dirty="0" i="1">
                <a:solidFill>
                  <a:srgbClr val="888888"/>
                </a:solidFill>
                <a:latin typeface="Calibri"/>
              </a:rPr>
              <a:t>5-yr ≈ $502K (16× paid-in). Ledger matches register.</a:t>
            </a:r>
          </a:p>
        </p:txBody>
      </p:sp>
      <p:sp>
        <p:nvSpPr>
          <p:cNvPr id="86" name="TextBox 85"/>
          <p:cNvSpPr txBox="1"/>
          <p:nvPr/>
        </p:nvSpPr>
        <p:spPr>
          <a:xfrm>
            <a:off x="4370832" y="2624328"/>
            <a:ext cx="1554480" cy="182880"/>
          </a:xfrm>
          <a:prstGeom prst="rect">
            <a:avLst/>
          </a:prstGeom>
          <a:noFill/>
        </p:spPr>
        <p:txBody>
          <a:bodyPr wrap="none" anchor="t">
            <a:spAutoFit/>
          </a:bodyPr>
          <a:lstStyle/>
          <a:p>
            <a:r>
              <a:rPr lang="en-US" sz="1000" dirty="0" b="1">
                <a:solidFill>
                  <a:srgbClr val="CCCCCC"/>
                </a:solidFill>
                <a:latin typeface="Calibri"/>
              </a:rPr>
              <a:t>Lost per 1% of SSLC</a:t>
            </a:r>
          </a:p>
        </p:txBody>
      </p:sp>
      <p:sp>
        <p:nvSpPr>
          <p:cNvPr id="87" name="TextBox 86"/>
          <p:cNvSpPr txBox="1"/>
          <p:nvPr/>
        </p:nvSpPr>
        <p:spPr>
          <a:xfrm>
            <a:off x="5669280" y="2624328"/>
            <a:ext cx="1508760" cy="182880"/>
          </a:xfrm>
          <a:prstGeom prst="rect">
            <a:avLst/>
          </a:prstGeom>
          <a:noFill/>
        </p:spPr>
        <p:txBody>
          <a:bodyPr wrap="none" anchor="t">
            <a:spAutoFit/>
          </a:bodyPr>
          <a:lstStyle/>
          <a:p>
            <a:r>
              <a:rPr lang="en-US" sz="1000" dirty="0" b="1">
                <a:solidFill>
                  <a:srgbClr val="CCCCCC"/>
                </a:solidFill>
                <a:latin typeface="Calibri"/>
              </a:rPr>
              <a:t>Conger lost (73K sh.)</a:t>
            </a:r>
          </a:p>
        </p:txBody>
      </p:sp>
      <p:sp>
        <p:nvSpPr>
          <p:cNvPr id="88" name="TextBox 87"/>
          <p:cNvSpPr txBox="1"/>
          <p:nvPr/>
        </p:nvSpPr>
        <p:spPr>
          <a:xfrm>
            <a:off x="7223760" y="2624328"/>
            <a:ext cx="1737360" cy="182880"/>
          </a:xfrm>
          <a:prstGeom prst="rect">
            <a:avLst/>
          </a:prstGeom>
          <a:noFill/>
        </p:spPr>
        <p:txBody>
          <a:bodyPr wrap="none" anchor="t">
            <a:spAutoFit/>
          </a:bodyPr>
          <a:lstStyle/>
          <a:p>
            <a:r>
              <a:rPr lang="en-US" sz="1000" dirty="0" b="1">
                <a:solidFill>
                  <a:srgbClr val="CCCCCC"/>
                </a:solidFill>
                <a:latin typeface="Calibri"/>
              </a:rPr>
              <a:t>Rufer lost (91K sh.)</a:t>
            </a:r>
          </a:p>
        </p:txBody>
      </p:sp>
      <p:sp>
        <p:nvSpPr>
          <p:cNvPr id="89" name="TextBox 88"/>
          <p:cNvSpPr txBox="1"/>
          <p:nvPr/>
        </p:nvSpPr>
        <p:spPr>
          <a:xfrm>
            <a:off x="7223760" y="2816352"/>
            <a:ext cx="1737360" cy="201168"/>
          </a:xfrm>
          <a:prstGeom prst="rect">
            <a:avLst/>
          </a:prstGeom>
          <a:noFill/>
        </p:spPr>
        <p:txBody>
          <a:bodyPr wrap="none" anchor="t">
            <a:spAutoFit/>
          </a:bodyPr>
          <a:lstStyle/>
          <a:p>
            <a:r>
              <a:rPr lang="en-US" sz="1000" dirty="0">
                <a:solidFill>
                  <a:srgbClr val="F26A21"/>
                </a:solidFill>
                <a:latin typeface="Calibri"/>
              </a:rPr>
              <a:t>Rufer: −$57.1K</a:t>
            </a:r>
          </a:p>
        </p:txBody>
      </p:sp>
      <p:sp>
        <p:nvSpPr>
          <p:cNvPr id="90" name="TextBox 89"/>
          <p:cNvSpPr txBox="1"/>
          <p:nvPr/>
        </p:nvSpPr>
        <p:spPr>
          <a:xfrm>
            <a:off x="7223760" y="3063240"/>
            <a:ext cx="1737360" cy="201168"/>
          </a:xfrm>
          <a:prstGeom prst="rect">
            <a:avLst/>
          </a:prstGeom>
          <a:noFill/>
        </p:spPr>
        <p:txBody>
          <a:bodyPr wrap="none" anchor="t">
            <a:spAutoFit/>
          </a:bodyPr>
          <a:lstStyle/>
          <a:p>
            <a:r>
              <a:rPr lang="en-US" sz="1000" dirty="0">
                <a:solidFill>
                  <a:srgbClr val="F26A21"/>
                </a:solidFill>
                <a:latin typeface="Calibri"/>
              </a:rPr>
              <a:t>Rufer: −$123.0K</a:t>
            </a:r>
          </a:p>
        </p:txBody>
      </p:sp>
      <p:sp>
        <p:nvSpPr>
          <p:cNvPr id="91" name="TextBox 90"/>
          <p:cNvSpPr txBox="1"/>
          <p:nvPr/>
        </p:nvSpPr>
        <p:spPr>
          <a:xfrm>
            <a:off x="7223760" y="3310128"/>
            <a:ext cx="1737360" cy="201168"/>
          </a:xfrm>
          <a:prstGeom prst="rect">
            <a:avLst/>
          </a:prstGeom>
          <a:noFill/>
        </p:spPr>
        <p:txBody>
          <a:bodyPr wrap="none" anchor="t">
            <a:spAutoFit/>
          </a:bodyPr>
          <a:lstStyle/>
          <a:p>
            <a:r>
              <a:rPr lang="en-US" sz="1000" dirty="0">
                <a:solidFill>
                  <a:srgbClr val="F26A21"/>
                </a:solidFill>
                <a:latin typeface="Calibri"/>
              </a:rPr>
              <a:t>Rufer: −$160.5K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lstStyle/>
          <a:p>
            <a:endParaRPr/>
          </a:p>
        </p:txBody>
      </p:sp>
      <p:sp>
        <p:nvSpPr>
          <p:cNvPr id="5" name="Text 3"/>
          <p:cNvSpPr txBox="1"/>
          <p:nvPr/>
        </p:nvSpPr>
        <p:spPr>
          <a:xfrm>
            <a:off x="1005840" y="1042416"/>
            <a:ext cx="3657600" cy="347472"/>
          </a:xfrm>
          <a:prstGeom prst="rect">
            <a:avLst/>
          </a:prstGeom>
          <a:noFill/>
          <a:ln/>
        </p:spPr>
        <p:txBody>
          <a:bodyPr wrap="square" rtlCol="0" anchor="ctr"/>
          <a:lstStyle/>
          <a:p>
            <a:pPr marL="0" indent="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marL="0" indent="0" algn="r">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lstStyle/>
          <a:p>
            <a:endParaRPr/>
          </a:p>
        </p:txBody>
      </p:sp>
      <p:sp>
        <p:nvSpPr>
          <p:cNvPr id="8" name="Text 6"/>
          <p:cNvSpPr txBox="1"/>
          <p:nvPr/>
        </p:nvSpPr>
        <p:spPr>
          <a:xfrm>
            <a:off x="1005840" y="1463040"/>
            <a:ext cx="3657600" cy="347472"/>
          </a:xfrm>
          <a:prstGeom prst="rect">
            <a:avLst/>
          </a:prstGeom>
          <a:noFill/>
          <a:ln/>
        </p:spPr>
        <p:txBody>
          <a:bodyPr wrap="square" rtlCol="0" anchor="ctr"/>
          <a:lstStyle/>
          <a:p>
            <a:pPr marL="0" indent="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marL="0" indent="0" algn="r">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lstStyle/>
          <a:p>
            <a:endParaRPr/>
          </a:p>
        </p:txBody>
      </p:sp>
      <p:sp>
        <p:nvSpPr>
          <p:cNvPr id="11" name="Text 9"/>
          <p:cNvSpPr txBox="1"/>
          <p:nvPr/>
        </p:nvSpPr>
        <p:spPr>
          <a:xfrm>
            <a:off x="1005840" y="1883664"/>
            <a:ext cx="3657600" cy="347472"/>
          </a:xfrm>
          <a:prstGeom prst="rect">
            <a:avLst/>
          </a:prstGeom>
          <a:noFill/>
          <a:ln/>
        </p:spPr>
        <p:txBody>
          <a:bodyPr wrap="square" rtlCol="0" anchor="ctr"/>
          <a:lstStyle/>
          <a:p>
            <a:pPr marL="0" indent="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marL="0" indent="0" algn="r">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lstStyle/>
          <a:p>
            <a:endParaRPr/>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lstStyle/>
          <a:p>
            <a:endParaRPr/>
          </a:p>
        </p:txBody>
      </p:sp>
      <p:sp>
        <p:nvSpPr>
          <p:cNvPr id="20" name="Text 18"/>
          <p:cNvSpPr txBox="1"/>
          <p:nvPr/>
        </p:nvSpPr>
        <p:spPr>
          <a:xfrm>
            <a:off x="868680" y="3200400"/>
            <a:ext cx="3840480" cy="365760"/>
          </a:xfrm>
          <a:prstGeom prst="rect">
            <a:avLst/>
          </a:prstGeom>
          <a:noFill/>
          <a:ln/>
        </p:spPr>
        <p:txBody>
          <a:bodyPr wrap="square" rtlCol="0" anchor="ctr"/>
          <a:lstStyle/>
          <a:p>
            <a:pPr marL="0" indent="0">
              <a:buNone/>
            </a:pPr>
            <a:r>
              <a:rPr lang="en-US" sz="1300" b="1" dirty="0">
                <a:solidFill>
                  <a:srgbClr val="F26A21"/>
                </a:solidFill>
              </a:rPr>
              <a:t>① Cash at close — target by Jan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marL="0" indent="0" algn="r">
              <a:buNone/>
            </a:pPr>
            <a:r>
              <a:rPr lang="en-US" sz="1800" b="1" dirty="0">
                <a:solidFill>
                  <a:srgbClr val="F26A21"/>
                </a:solidFill>
              </a:rPr>
              <a:t>$3.36M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lstStyle/>
          <a:p>
            <a:endParaRPr/>
          </a:p>
        </p:txBody>
      </p:sp>
      <p:sp>
        <p:nvSpPr>
          <p:cNvPr id="23" name="Text 21"/>
          <p:cNvSpPr txBox="1"/>
          <p:nvPr/>
        </p:nvSpPr>
        <p:spPr>
          <a:xfrm>
            <a:off x="1005839" y="3712464"/>
            <a:ext cx="4695483" cy="329184"/>
          </a:xfrm>
          <a:prstGeom prst="rect">
            <a:avLst/>
          </a:prstGeom>
          <a:noFill/>
          <a:ln/>
        </p:spPr>
        <p:txBody>
          <a:bodyPr wrap="square" rtlCol="0" anchor="ctr"/>
          <a:lstStyle/>
          <a:p>
            <a:pPr marL="0" indent="0">
              <a:buNone/>
            </a:pPr>
            <a:r>
              <a:rPr lang="en-US" sz="1300" dirty="0">
                <a:solidFill>
                  <a:srgbClr val="CCCCCC"/>
                </a:solidFill>
              </a:rPr>
              <a:t>+ EAI stock — key SSLC personnel (Rule 504, ~0.59%, not pro-rata)</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marL="0" indent="0" algn="r">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lstStyle/>
          <a:p>
            <a:endParaRPr/>
          </a:p>
        </p:txBody>
      </p:sp>
      <p:sp>
        <p:nvSpPr>
          <p:cNvPr id="26" name="Text 24"/>
          <p:cNvSpPr txBox="1"/>
          <p:nvPr/>
        </p:nvSpPr>
        <p:spPr>
          <a:xfrm>
            <a:off x="868680" y="4233672"/>
            <a:ext cx="4389120" cy="365760"/>
          </a:xfrm>
          <a:prstGeom prst="rect">
            <a:avLst/>
          </a:prstGeom>
          <a:noFill/>
          <a:ln/>
        </p:spPr>
        <p:txBody>
          <a:bodyPr wrap="square" rtlCol="0" anchor="ctr"/>
          <a:lstStyle/>
          <a:p>
            <a:pPr marL="0" indent="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marL="0" indent="0" algn="r">
              <a:buNone/>
            </a:pPr>
            <a:r>
              <a:rPr lang="en-US" sz="2000" b="1" dirty="0">
                <a:solidFill>
                  <a:srgbClr val="2ECC71"/>
                </a:solidFill>
              </a:rPr>
              <a:t>$4.36M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marL="0" indent="0">
              <a:buNone/>
            </a:pPr>
            <a:r>
              <a:rPr lang="en-US" sz="1100" dirty="0">
                <a:solidFill>
                  <a:srgbClr val="888888"/>
                </a:solidFill>
              </a:rPr>
              <a:t>Issued at financing close</a:t>
            </a:r>
            <a:endParaRPr lang="en-US" sz="1100" dirty="0"/>
          </a:p>
          <a:p>
            <a:pPr marL="0" indent="0">
              <a:buNone/>
            </a:pPr>
            <a:r>
              <a:rPr lang="en-US" sz="1100" dirty="0">
                <a:solidFill>
                  <a:srgbClr val="888888"/>
                </a:solidFill>
              </a:rPr>
              <a:t>Restricted at issuance (Rule 504)</a:t>
            </a:r>
            <a:endParaRPr lang="en-US" sz="1100" dirty="0"/>
          </a:p>
          <a:p>
            <a:pPr marL="0" indent="0">
              <a:buNone/>
            </a:pPr>
            <a:r>
              <a:rPr lang="en-US" sz="1100" dirty="0">
                <a:solidFill>
                  <a:srgbClr val="888888"/>
                </a:solidFill>
              </a:rPr>
              <a:t>Part of RTO public float</a:t>
            </a:r>
            <a:endParaRPr lang="en-US" sz="1100" dirty="0"/>
          </a:p>
          <a:p>
            <a:pPr marL="0" indent="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lstStyle/>
          <a:p>
            <a:endParaR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lstStyle/>
          <a:p>
            <a:endParaRPr/>
          </a:p>
        </p:txBody>
      </p:sp>
      <p:sp>
        <p:nvSpPr>
          <p:cNvPr id="5" name="Text 3"/>
          <p:cNvSpPr txBox="1"/>
          <p:nvPr/>
        </p:nvSpPr>
        <p:spPr>
          <a:xfrm>
            <a:off x="320040" y="676656"/>
            <a:ext cx="1938528" cy="310896"/>
          </a:xfrm>
          <a:prstGeom prst="rect">
            <a:avLst/>
          </a:prstGeom>
          <a:noFill/>
          <a:ln/>
        </p:spPr>
        <p:txBody>
          <a:bodyPr wrap="square" rtlCol="0" anchor="ctr"/>
          <a:lstStyle/>
          <a:p>
            <a:pPr marL="0" indent="0" algn="l">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lstStyle/>
          <a:p>
            <a:endParaRPr/>
          </a:p>
        </p:txBody>
      </p:sp>
      <p:sp>
        <p:nvSpPr>
          <p:cNvPr id="7" name="Text 5"/>
          <p:cNvSpPr txBox="1"/>
          <p:nvPr/>
        </p:nvSpPr>
        <p:spPr>
          <a:xfrm>
            <a:off x="2377440" y="676656"/>
            <a:ext cx="1801368" cy="310896"/>
          </a:xfrm>
          <a:prstGeom prst="rect">
            <a:avLst/>
          </a:prstGeom>
          <a:noFill/>
          <a:ln/>
        </p:spPr>
        <p:txBody>
          <a:bodyPr wrap="square" rtlCol="0" anchor="ctr"/>
          <a:lstStyle/>
          <a:p>
            <a:pPr marL="0" indent="0" algn="l">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lstStyle/>
          <a:p>
            <a:endParaRPr/>
          </a:p>
        </p:txBody>
      </p:sp>
      <p:sp>
        <p:nvSpPr>
          <p:cNvPr id="9" name="Text 7"/>
          <p:cNvSpPr txBox="1"/>
          <p:nvPr/>
        </p:nvSpPr>
        <p:spPr>
          <a:xfrm>
            <a:off x="4297680" y="676656"/>
            <a:ext cx="978408" cy="310896"/>
          </a:xfrm>
          <a:prstGeom prst="rect">
            <a:avLst/>
          </a:prstGeom>
          <a:noFill/>
          <a:ln/>
        </p:spPr>
        <p:txBody>
          <a:bodyPr wrap="square" rtlCol="0" anchor="ctr"/>
          <a:lstStyle/>
          <a:p>
            <a:pPr marL="0" indent="0" algn="ctr">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lstStyle/>
          <a:p>
            <a:endParaRPr/>
          </a:p>
        </p:txBody>
      </p:sp>
      <p:sp>
        <p:nvSpPr>
          <p:cNvPr id="11" name="Text 9"/>
          <p:cNvSpPr txBox="1"/>
          <p:nvPr/>
        </p:nvSpPr>
        <p:spPr>
          <a:xfrm>
            <a:off x="5394960" y="676656"/>
            <a:ext cx="978408" cy="310896"/>
          </a:xfrm>
          <a:prstGeom prst="rect">
            <a:avLst/>
          </a:prstGeom>
          <a:noFill/>
          <a:ln/>
        </p:spPr>
        <p:txBody>
          <a:bodyPr wrap="square" rtlCol="0" anchor="ctr"/>
          <a:lstStyle/>
          <a:p>
            <a:pPr marL="0" indent="0" algn="ctr">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lstStyle/>
          <a:p>
            <a:endParaRPr/>
          </a:p>
        </p:txBody>
      </p:sp>
      <p:sp>
        <p:nvSpPr>
          <p:cNvPr id="13" name="Text 11"/>
          <p:cNvSpPr txBox="1"/>
          <p:nvPr/>
        </p:nvSpPr>
        <p:spPr>
          <a:xfrm>
            <a:off x="6492240" y="676656"/>
            <a:ext cx="978408" cy="310896"/>
          </a:xfrm>
          <a:prstGeom prst="rect">
            <a:avLst/>
          </a:prstGeom>
          <a:noFill/>
          <a:ln/>
        </p:spPr>
        <p:txBody>
          <a:bodyPr wrap="square" rtlCol="0" anchor="ctr"/>
          <a:lstStyle/>
          <a:p>
            <a:pPr marL="0" indent="0" algn="ctr">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lstStyle/>
          <a:p>
            <a:endParaRPr/>
          </a:p>
        </p:txBody>
      </p:sp>
      <p:sp>
        <p:nvSpPr>
          <p:cNvPr id="15" name="Text 13"/>
          <p:cNvSpPr txBox="1"/>
          <p:nvPr/>
        </p:nvSpPr>
        <p:spPr>
          <a:xfrm>
            <a:off x="7589520" y="676656"/>
            <a:ext cx="932688" cy="310896"/>
          </a:xfrm>
          <a:prstGeom prst="rect">
            <a:avLst/>
          </a:prstGeom>
          <a:noFill/>
          <a:ln/>
        </p:spPr>
        <p:txBody>
          <a:bodyPr wrap="square" rtlCol="0" anchor="ctr"/>
          <a:lstStyle/>
          <a:p>
            <a:pPr marL="0" indent="0" algn="ctr">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329184" y="1024128"/>
            <a:ext cx="1920240" cy="512064"/>
          </a:xfrm>
          <a:prstGeom prst="rect">
            <a:avLst/>
          </a:prstGeom>
          <a:noFill/>
          <a:ln/>
        </p:spPr>
        <p:txBody>
          <a:bodyPr wrap="square" rtlCol="0" anchor="ctr"/>
          <a:lstStyle/>
          <a:p>
            <a:pPr marL="0" indent="0" algn="l">
              <a:buNone/>
            </a:pPr>
            <a:r>
              <a:rPr lang="en-US" sz="1000" dirty="0">
                <a:solidFill>
                  <a:srgbClr val="CCCCCC"/>
                </a:solidFill>
              </a:rPr>
              <a:t>5% of IM tank revenue/yr</a:t>
            </a:r>
            <a:endParaRPr lang="en-US" sz="900" dirty="0"/>
          </a:p>
          <a:p>
            <a:pPr marL="0" indent="0" algn="l">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lstStyle/>
          <a:p>
            <a:endParaRPr/>
          </a:p>
        </p:txBody>
      </p:sp>
      <p:sp>
        <p:nvSpPr>
          <p:cNvPr id="19" name="Text 17"/>
          <p:cNvSpPr txBox="1"/>
          <p:nvPr/>
        </p:nvSpPr>
        <p:spPr>
          <a:xfrm>
            <a:off x="2386584" y="1024128"/>
            <a:ext cx="1783080" cy="512064"/>
          </a:xfrm>
          <a:prstGeom prst="rect">
            <a:avLst/>
          </a:prstGeom>
          <a:noFill/>
          <a:ln/>
        </p:spPr>
        <p:txBody>
          <a:bodyPr wrap="square" rtlCol="0" anchor="ctr"/>
          <a:lstStyle/>
          <a:p>
            <a:pPr marL="0" indent="0" algn="l">
              <a:buNone/>
            </a:pPr>
            <a:r>
              <a:rPr lang="en-US" sz="1000" dirty="0">
                <a:solidFill>
                  <a:srgbClr val="CCCCCC"/>
                </a:solidFill>
              </a:rPr>
              <a:t>Revenue SSLC achieves</a:t>
            </a:r>
            <a:endParaRPr lang="en-US" sz="900" dirty="0"/>
          </a:p>
          <a:p>
            <a:pPr marL="0" indent="0" algn="l">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lstStyle/>
          <a:p>
            <a:endParaRPr/>
          </a:p>
        </p:txBody>
      </p:sp>
      <p:sp>
        <p:nvSpPr>
          <p:cNvPr id="21" name="Text 19"/>
          <p:cNvSpPr txBox="1"/>
          <p:nvPr/>
        </p:nvSpPr>
        <p:spPr>
          <a:xfrm>
            <a:off x="4306824" y="1024128"/>
            <a:ext cx="960120" cy="512064"/>
          </a:xfrm>
          <a:prstGeom prst="rect">
            <a:avLst/>
          </a:prstGeom>
          <a:noFill/>
          <a:ln/>
        </p:spPr>
        <p:txBody>
          <a:bodyPr wrap="square" rtlCol="0" anchor="ctr"/>
          <a:lstStyle/>
          <a:p>
            <a:pPr marL="0" indent="0" algn="ctr">
              <a:buNone/>
            </a:pPr>
            <a:r>
              <a:rPr lang="en-US" sz="1000" dirty="0">
                <a:solidFill>
                  <a:srgbClr val="F26A21"/>
                </a:solidFill>
              </a:rPr>
              <a:t>$3.0M/yr</a:t>
            </a:r>
            <a:endParaRPr lang="en-US" sz="900" dirty="0"/>
          </a:p>
          <a:p>
            <a:pPr marL="0" indent="0" algn="ctr">
              <a:buNone/>
            </a:pPr>
            <a:r>
              <a:rPr lang="en-US" sz="1000" dirty="0">
                <a:solidFill>
                  <a:srgbClr val="F26A21"/>
                </a:solidFill>
              </a:rPr>
              <a:t>→$150K/yr</a:t>
            </a:r>
            <a:endParaRPr lang="en-US" sz="900" dirty="0"/>
          </a:p>
          <a:p>
            <a:pPr marL="0" indent="0" algn="ctr">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04104" y="1024128"/>
            <a:ext cx="960120" cy="512064"/>
          </a:xfrm>
          <a:prstGeom prst="rect">
            <a:avLst/>
          </a:prstGeom>
          <a:noFill/>
          <a:ln/>
        </p:spPr>
        <p:txBody>
          <a:bodyPr wrap="square" rtlCol="0" anchor="ctr"/>
          <a:lstStyle/>
          <a:p>
            <a:pPr marL="0" indent="0" algn="ctr">
              <a:buNone/>
            </a:pPr>
            <a:r>
              <a:rPr lang="en-US" sz="1000" dirty="0">
                <a:solidFill>
                  <a:srgbClr val="F26A21"/>
                </a:solidFill>
              </a:rPr>
              <a:t>$5.0M/yr</a:t>
            </a:r>
            <a:endParaRPr lang="en-US" sz="900" dirty="0"/>
          </a:p>
          <a:p>
            <a:pPr marL="0" indent="0" algn="ctr">
              <a:buNone/>
            </a:pPr>
            <a:r>
              <a:rPr lang="en-US" sz="1000" dirty="0">
                <a:solidFill>
                  <a:srgbClr val="F26A21"/>
                </a:solidFill>
              </a:rPr>
              <a:t>→$250K/yr</a:t>
            </a:r>
            <a:endParaRPr lang="en-US" sz="900" dirty="0"/>
          </a:p>
          <a:p>
            <a:pPr marL="0" indent="0" algn="ctr">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lstStyle/>
          <a:p>
            <a:endParaRPr/>
          </a:p>
        </p:txBody>
      </p:sp>
      <p:sp>
        <p:nvSpPr>
          <p:cNvPr id="25" name="Text 23"/>
          <p:cNvSpPr txBox="1"/>
          <p:nvPr/>
        </p:nvSpPr>
        <p:spPr>
          <a:xfrm>
            <a:off x="6501384" y="1024128"/>
            <a:ext cx="960120" cy="512064"/>
          </a:xfrm>
          <a:prstGeom prst="rect">
            <a:avLst/>
          </a:prstGeom>
          <a:noFill/>
          <a:ln/>
        </p:spPr>
        <p:txBody>
          <a:bodyPr wrap="square" rtlCol="0" anchor="ctr"/>
          <a:lstStyle/>
          <a:p>
            <a:pPr marL="0" indent="0" algn="ctr">
              <a:buNone/>
            </a:pPr>
            <a:r>
              <a:rPr lang="en-US" sz="1000" dirty="0">
                <a:solidFill>
                  <a:srgbClr val="F26A21"/>
                </a:solidFill>
              </a:rPr>
              <a:t>$6.0M+/yr</a:t>
            </a:r>
            <a:endParaRPr lang="en-US" sz="900" dirty="0"/>
          </a:p>
          <a:p>
            <a:pPr marL="0" indent="0" algn="ctr">
              <a:buNone/>
            </a:pPr>
            <a:r>
              <a:rPr lang="en-US" sz="1000" dirty="0">
                <a:solidFill>
                  <a:srgbClr val="F26A21"/>
                </a:solidFill>
              </a:rPr>
              <a:t>→$300K/yr (cap)</a:t>
            </a:r>
            <a:endParaRPr lang="en-US" sz="900" dirty="0"/>
          </a:p>
          <a:p>
            <a:pPr marL="0" indent="0" algn="ctr">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lstStyle/>
          <a:p>
            <a:endParaRPr/>
          </a:p>
        </p:txBody>
      </p:sp>
      <p:sp>
        <p:nvSpPr>
          <p:cNvPr id="27" name="Text 25"/>
          <p:cNvSpPr txBox="1"/>
          <p:nvPr/>
        </p:nvSpPr>
        <p:spPr>
          <a:xfrm>
            <a:off x="7598664" y="1024128"/>
            <a:ext cx="914400" cy="512064"/>
          </a:xfrm>
          <a:prstGeom prst="rect">
            <a:avLst/>
          </a:prstGeom>
          <a:noFill/>
          <a:ln/>
        </p:spPr>
        <p:txBody>
          <a:bodyPr wrap="square" rtlCol="0" anchor="ctr"/>
          <a:lstStyle/>
          <a:p>
            <a:pPr marL="0" indent="0" algn="ctr">
              <a:buNone/>
            </a:pPr>
            <a:r>
              <a:rPr lang="en-US" sz="1000" dirty="0">
                <a:solidFill>
                  <a:srgbClr val="F26A21"/>
                </a:solidFill>
              </a:rPr>
              <a:t>Annual</a:t>
            </a:r>
            <a:endParaRPr lang="en-US" sz="900" dirty="0"/>
          </a:p>
          <a:p>
            <a:pPr marL="0" indent="0" algn="ctr">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lstStyle/>
          <a:p>
            <a:endParaRPr/>
          </a:p>
        </p:txBody>
      </p:sp>
      <p:sp>
        <p:nvSpPr>
          <p:cNvPr id="29" name="Text 27"/>
          <p:cNvSpPr txBox="1"/>
          <p:nvPr/>
        </p:nvSpPr>
        <p:spPr>
          <a:xfrm>
            <a:off x="329184" y="1572768"/>
            <a:ext cx="1920240" cy="329184"/>
          </a:xfrm>
          <a:prstGeom prst="rect">
            <a:avLst/>
          </a:prstGeom>
          <a:noFill/>
          <a:ln/>
        </p:spPr>
        <p:txBody>
          <a:bodyPr wrap="square" rtlCol="0" anchor="ctr"/>
          <a:lstStyle/>
          <a:p>
            <a:pPr marL="0" indent="0" algn="l">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lstStyle/>
          <a:p>
            <a:endParaRPr/>
          </a:p>
        </p:txBody>
      </p:sp>
      <p:sp>
        <p:nvSpPr>
          <p:cNvPr id="31" name="Text 29"/>
          <p:cNvSpPr txBox="1"/>
          <p:nvPr/>
        </p:nvSpPr>
        <p:spPr>
          <a:xfrm>
            <a:off x="2386584" y="1572768"/>
            <a:ext cx="1783080" cy="329184"/>
          </a:xfrm>
          <a:prstGeom prst="rect">
            <a:avLst/>
          </a:prstGeom>
          <a:noFill/>
          <a:ln/>
        </p:spPr>
        <p:txBody>
          <a:bodyPr wrap="square" rtlCol="0" anchor="ctr"/>
          <a:lstStyle/>
          <a:p>
            <a:pPr marL="0" indent="0" algn="l">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lstStyle/>
          <a:p>
            <a:endParaRPr/>
          </a:p>
        </p:txBody>
      </p:sp>
      <p:sp>
        <p:nvSpPr>
          <p:cNvPr id="33" name="Text 31"/>
          <p:cNvSpPr txBox="1"/>
          <p:nvPr/>
        </p:nvSpPr>
        <p:spPr>
          <a:xfrm>
            <a:off x="430682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lstStyle/>
          <a:p>
            <a:endParaRPr/>
          </a:p>
        </p:txBody>
      </p:sp>
      <p:sp>
        <p:nvSpPr>
          <p:cNvPr id="35" name="Text 33"/>
          <p:cNvSpPr txBox="1"/>
          <p:nvPr/>
        </p:nvSpPr>
        <p:spPr>
          <a:xfrm>
            <a:off x="540410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lstStyle/>
          <a:p>
            <a:endParaRPr/>
          </a:p>
        </p:txBody>
      </p:sp>
      <p:sp>
        <p:nvSpPr>
          <p:cNvPr id="37" name="Text 35"/>
          <p:cNvSpPr txBox="1"/>
          <p:nvPr/>
        </p:nvSpPr>
        <p:spPr>
          <a:xfrm>
            <a:off x="650138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lstStyle/>
          <a:p>
            <a:endParaRPr/>
          </a:p>
        </p:txBody>
      </p:sp>
      <p:sp>
        <p:nvSpPr>
          <p:cNvPr id="39" name="Text 37"/>
          <p:cNvSpPr txBox="1"/>
          <p:nvPr/>
        </p:nvSpPr>
        <p:spPr>
          <a:xfrm>
            <a:off x="7598664" y="1572768"/>
            <a:ext cx="914400" cy="329184"/>
          </a:xfrm>
          <a:prstGeom prst="rect">
            <a:avLst/>
          </a:prstGeom>
          <a:noFill/>
          <a:ln/>
        </p:spPr>
        <p:txBody>
          <a:bodyPr wrap="square" rtlCol="0" anchor="ctr"/>
          <a:lstStyle/>
          <a:p>
            <a:pPr marL="0" indent="0" algn="ctr">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lstStyle/>
          <a:p>
            <a:endParaRPr/>
          </a:p>
        </p:txBody>
      </p:sp>
      <p:sp>
        <p:nvSpPr>
          <p:cNvPr id="41" name="Text 39"/>
          <p:cNvSpPr txBox="1"/>
          <p:nvPr/>
        </p:nvSpPr>
        <p:spPr>
          <a:xfrm>
            <a:off x="329184" y="1938528"/>
            <a:ext cx="1920240" cy="329184"/>
          </a:xfrm>
          <a:prstGeom prst="rect">
            <a:avLst/>
          </a:prstGeom>
          <a:noFill/>
          <a:ln/>
        </p:spPr>
        <p:txBody>
          <a:bodyPr wrap="square" rtlCol="0" anchor="ctr"/>
          <a:lstStyle/>
          <a:p>
            <a:pPr marL="0" indent="0" algn="l">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lstStyle/>
          <a:p>
            <a:endParaRPr/>
          </a:p>
        </p:txBody>
      </p:sp>
      <p:sp>
        <p:nvSpPr>
          <p:cNvPr id="43" name="Text 41"/>
          <p:cNvSpPr txBox="1"/>
          <p:nvPr/>
        </p:nvSpPr>
        <p:spPr>
          <a:xfrm>
            <a:off x="2386584" y="1938528"/>
            <a:ext cx="1783080" cy="329184"/>
          </a:xfrm>
          <a:prstGeom prst="rect">
            <a:avLst/>
          </a:prstGeom>
          <a:noFill/>
          <a:ln/>
        </p:spPr>
        <p:txBody>
          <a:bodyPr wrap="square" rtlCol="0" anchor="ctr"/>
          <a:lstStyle/>
          <a:p>
            <a:pPr marL="0" indent="0" algn="l">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lstStyle/>
          <a:p>
            <a:endParaRPr/>
          </a:p>
        </p:txBody>
      </p:sp>
      <p:sp>
        <p:nvSpPr>
          <p:cNvPr id="45" name="Text 43"/>
          <p:cNvSpPr txBox="1"/>
          <p:nvPr/>
        </p:nvSpPr>
        <p:spPr>
          <a:xfrm>
            <a:off x="4306824" y="193852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lstStyle/>
          <a:p>
            <a:endParaRPr/>
          </a:p>
        </p:txBody>
      </p:sp>
      <p:sp>
        <p:nvSpPr>
          <p:cNvPr id="47" name="Text 45"/>
          <p:cNvSpPr txBox="1"/>
          <p:nvPr/>
        </p:nvSpPr>
        <p:spPr>
          <a:xfrm>
            <a:off x="540410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lstStyle/>
          <a:p>
            <a:endParaRPr/>
          </a:p>
        </p:txBody>
      </p:sp>
      <p:sp>
        <p:nvSpPr>
          <p:cNvPr id="49" name="Text 47"/>
          <p:cNvSpPr txBox="1"/>
          <p:nvPr/>
        </p:nvSpPr>
        <p:spPr>
          <a:xfrm>
            <a:off x="650138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lstStyle/>
          <a:p>
            <a:endParaRPr/>
          </a:p>
        </p:txBody>
      </p:sp>
      <p:sp>
        <p:nvSpPr>
          <p:cNvPr id="51" name="Text 49"/>
          <p:cNvSpPr txBox="1"/>
          <p:nvPr/>
        </p:nvSpPr>
        <p:spPr>
          <a:xfrm>
            <a:off x="7598664" y="1938528"/>
            <a:ext cx="914400" cy="329184"/>
          </a:xfrm>
          <a:prstGeom prst="rect">
            <a:avLst/>
          </a:prstGeom>
          <a:noFill/>
          <a:ln/>
        </p:spPr>
        <p:txBody>
          <a:bodyPr wrap="square" rtlCol="0" anchor="ctr"/>
          <a:lstStyle/>
          <a:p>
            <a:pPr marL="0" indent="0" algn="ctr">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lstStyle/>
          <a:p>
            <a:endParaRPr/>
          </a:p>
        </p:txBody>
      </p:sp>
      <p:sp>
        <p:nvSpPr>
          <p:cNvPr id="53" name="Text 51"/>
          <p:cNvSpPr txBox="1"/>
          <p:nvPr/>
        </p:nvSpPr>
        <p:spPr>
          <a:xfrm>
            <a:off x="329184" y="2304288"/>
            <a:ext cx="1920240" cy="329184"/>
          </a:xfrm>
          <a:prstGeom prst="rect">
            <a:avLst/>
          </a:prstGeom>
          <a:noFill/>
          <a:ln/>
        </p:spPr>
        <p:txBody>
          <a:bodyPr wrap="square" rtlCol="0" anchor="ctr"/>
          <a:lstStyle/>
          <a:p>
            <a:pPr marL="0" indent="0" algn="l">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lstStyle/>
          <a:p>
            <a:endParaRPr/>
          </a:p>
        </p:txBody>
      </p:sp>
      <p:sp>
        <p:nvSpPr>
          <p:cNvPr id="55" name="Text 53"/>
          <p:cNvSpPr txBox="1"/>
          <p:nvPr/>
        </p:nvSpPr>
        <p:spPr>
          <a:xfrm>
            <a:off x="2386584" y="2304288"/>
            <a:ext cx="1783080" cy="329184"/>
          </a:xfrm>
          <a:prstGeom prst="rect">
            <a:avLst/>
          </a:prstGeom>
          <a:noFill/>
          <a:ln/>
        </p:spPr>
        <p:txBody>
          <a:bodyPr wrap="square" rtlCol="0" anchor="ctr"/>
          <a:lstStyle/>
          <a:p>
            <a:pPr marL="0" indent="0" algn="l">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lstStyle/>
          <a:p>
            <a:endParaRPr/>
          </a:p>
        </p:txBody>
      </p:sp>
      <p:sp>
        <p:nvSpPr>
          <p:cNvPr id="57" name="Text 55"/>
          <p:cNvSpPr txBox="1"/>
          <p:nvPr/>
        </p:nvSpPr>
        <p:spPr>
          <a:xfrm>
            <a:off x="4306824" y="230428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lstStyle/>
          <a:p>
            <a:endParaRPr/>
          </a:p>
        </p:txBody>
      </p:sp>
      <p:sp>
        <p:nvSpPr>
          <p:cNvPr id="59" name="Text 57"/>
          <p:cNvSpPr txBox="1"/>
          <p:nvPr/>
        </p:nvSpPr>
        <p:spPr>
          <a:xfrm>
            <a:off x="540410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lstStyle/>
          <a:p>
            <a:endParaRPr/>
          </a:p>
        </p:txBody>
      </p:sp>
      <p:sp>
        <p:nvSpPr>
          <p:cNvPr id="61" name="Text 59"/>
          <p:cNvSpPr txBox="1"/>
          <p:nvPr/>
        </p:nvSpPr>
        <p:spPr>
          <a:xfrm>
            <a:off x="650138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lstStyle/>
          <a:p>
            <a:endParaRPr/>
          </a:p>
        </p:txBody>
      </p:sp>
      <p:sp>
        <p:nvSpPr>
          <p:cNvPr id="63" name="Text 61"/>
          <p:cNvSpPr txBox="1"/>
          <p:nvPr/>
        </p:nvSpPr>
        <p:spPr>
          <a:xfrm>
            <a:off x="7598664" y="2304288"/>
            <a:ext cx="914400" cy="329184"/>
          </a:xfrm>
          <a:prstGeom prst="rect">
            <a:avLst/>
          </a:prstGeom>
          <a:noFill/>
          <a:ln/>
        </p:spPr>
        <p:txBody>
          <a:bodyPr wrap="square" rtlCol="0" anchor="ctr"/>
          <a:lstStyle/>
          <a:p>
            <a:pPr marL="0" indent="0" algn="ctr">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lstStyle/>
          <a:p>
            <a:endParaRPr/>
          </a:p>
        </p:txBody>
      </p:sp>
      <p:sp>
        <p:nvSpPr>
          <p:cNvPr id="65" name="Text 63"/>
          <p:cNvSpPr txBox="1"/>
          <p:nvPr/>
        </p:nvSpPr>
        <p:spPr>
          <a:xfrm>
            <a:off x="329184" y="2670048"/>
            <a:ext cx="1920240" cy="329184"/>
          </a:xfrm>
          <a:prstGeom prst="rect">
            <a:avLst/>
          </a:prstGeom>
          <a:noFill/>
          <a:ln/>
        </p:spPr>
        <p:txBody>
          <a:bodyPr wrap="square" rtlCol="0" anchor="ctr"/>
          <a:lstStyle/>
          <a:p>
            <a:pPr marL="0" indent="0" algn="l">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lstStyle/>
          <a:p>
            <a:endParaRPr/>
          </a:p>
        </p:txBody>
      </p:sp>
      <p:sp>
        <p:nvSpPr>
          <p:cNvPr id="67" name="Text 65"/>
          <p:cNvSpPr txBox="1"/>
          <p:nvPr/>
        </p:nvSpPr>
        <p:spPr>
          <a:xfrm>
            <a:off x="2386584" y="2670048"/>
            <a:ext cx="1783080" cy="329184"/>
          </a:xfrm>
          <a:prstGeom prst="rect">
            <a:avLst/>
          </a:prstGeom>
          <a:noFill/>
          <a:ln/>
        </p:spPr>
        <p:txBody>
          <a:bodyPr wrap="square" rtlCol="0" anchor="ctr"/>
          <a:lstStyle/>
          <a:p>
            <a:pPr marL="0" indent="0" algn="l">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lstStyle/>
          <a:p>
            <a:endParaRPr/>
          </a:p>
        </p:txBody>
      </p:sp>
      <p:sp>
        <p:nvSpPr>
          <p:cNvPr id="69" name="Text 67"/>
          <p:cNvSpPr txBox="1"/>
          <p:nvPr/>
        </p:nvSpPr>
        <p:spPr>
          <a:xfrm>
            <a:off x="430682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lstStyle/>
          <a:p>
            <a:endParaRPr/>
          </a:p>
        </p:txBody>
      </p:sp>
      <p:sp>
        <p:nvSpPr>
          <p:cNvPr id="71" name="Text 69"/>
          <p:cNvSpPr txBox="1"/>
          <p:nvPr/>
        </p:nvSpPr>
        <p:spPr>
          <a:xfrm>
            <a:off x="540410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lstStyle/>
          <a:p>
            <a:endParaRPr/>
          </a:p>
        </p:txBody>
      </p:sp>
      <p:sp>
        <p:nvSpPr>
          <p:cNvPr id="73" name="Text 71"/>
          <p:cNvSpPr txBox="1"/>
          <p:nvPr/>
        </p:nvSpPr>
        <p:spPr>
          <a:xfrm>
            <a:off x="6501384" y="267004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lstStyle/>
          <a:p>
            <a:endParaRPr/>
          </a:p>
        </p:txBody>
      </p:sp>
      <p:sp>
        <p:nvSpPr>
          <p:cNvPr id="75" name="Text 73"/>
          <p:cNvSpPr txBox="1"/>
          <p:nvPr/>
        </p:nvSpPr>
        <p:spPr>
          <a:xfrm>
            <a:off x="7598664" y="2670048"/>
            <a:ext cx="914400" cy="329184"/>
          </a:xfrm>
          <a:prstGeom prst="rect">
            <a:avLst/>
          </a:prstGeom>
          <a:noFill/>
          <a:ln/>
        </p:spPr>
        <p:txBody>
          <a:bodyPr wrap="square" rtlCol="0" anchor="ctr"/>
          <a:lstStyle/>
          <a:p>
            <a:pPr marL="0" indent="0" algn="ctr">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lstStyle/>
          <a:p>
            <a:endParaRPr/>
          </a:p>
        </p:txBody>
      </p:sp>
      <p:sp>
        <p:nvSpPr>
          <p:cNvPr id="77" name="Text 75"/>
          <p:cNvSpPr txBox="1"/>
          <p:nvPr/>
        </p:nvSpPr>
        <p:spPr>
          <a:xfrm>
            <a:off x="329184" y="3035808"/>
            <a:ext cx="1920240" cy="420624"/>
          </a:xfrm>
          <a:prstGeom prst="rect">
            <a:avLst/>
          </a:prstGeom>
          <a:noFill/>
          <a:ln/>
        </p:spPr>
        <p:txBody>
          <a:bodyPr wrap="square" rtlCol="0" anchor="ctr"/>
          <a:lstStyle/>
          <a:p>
            <a:pPr marL="0" indent="0" algn="l">
              <a:buNone/>
            </a:pPr>
            <a:r>
              <a:rPr lang="en-US" sz="1000" dirty="0">
                <a:solidFill>
                  <a:srgbClr val="CCCCCC"/>
                </a:solidFill>
              </a:rPr>
              <a:t>M5  50% reduction in tank build cost</a:t>
            </a:r>
            <a:endParaRPr lang="en-US" sz="900" dirty="0"/>
          </a:p>
          <a:p>
            <a:pPr marL="0" indent="0" algn="l">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lstStyle/>
          <a:p>
            <a:endParaRPr/>
          </a:p>
        </p:txBody>
      </p:sp>
      <p:sp>
        <p:nvSpPr>
          <p:cNvPr id="79" name="Text 77"/>
          <p:cNvSpPr txBox="1"/>
          <p:nvPr/>
        </p:nvSpPr>
        <p:spPr>
          <a:xfrm>
            <a:off x="2386584" y="3035808"/>
            <a:ext cx="1783080" cy="420624"/>
          </a:xfrm>
          <a:prstGeom prst="rect">
            <a:avLst/>
          </a:prstGeom>
          <a:noFill/>
          <a:ln/>
        </p:spPr>
        <p:txBody>
          <a:bodyPr wrap="square" rtlCol="0" anchor="ctr"/>
          <a:lstStyle/>
          <a:p>
            <a:pPr marL="0" indent="0" algn="l">
              <a:buNone/>
            </a:pPr>
            <a:r>
              <a:rPr lang="en-US" sz="1000" dirty="0">
                <a:solidFill>
                  <a:srgbClr val="CCCCCC"/>
                </a:solidFill>
              </a:rPr>
              <a:t>50% cost reduction proven</a:t>
            </a:r>
            <a:endParaRPr lang="en-US" sz="900" dirty="0"/>
          </a:p>
          <a:p>
            <a:pPr marL="0" indent="0" algn="l">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lstStyle/>
          <a:p>
            <a:endParaRPr/>
          </a:p>
        </p:txBody>
      </p:sp>
      <p:sp>
        <p:nvSpPr>
          <p:cNvPr id="81" name="Text 79"/>
          <p:cNvSpPr txBox="1"/>
          <p:nvPr/>
        </p:nvSpPr>
        <p:spPr>
          <a:xfrm>
            <a:off x="430682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lstStyle/>
          <a:p>
            <a:endParaRPr/>
          </a:p>
        </p:txBody>
      </p:sp>
      <p:sp>
        <p:nvSpPr>
          <p:cNvPr id="83" name="Text 81"/>
          <p:cNvSpPr txBox="1"/>
          <p:nvPr/>
        </p:nvSpPr>
        <p:spPr>
          <a:xfrm>
            <a:off x="540410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lstStyle/>
          <a:p>
            <a:endParaRPr/>
          </a:p>
        </p:txBody>
      </p:sp>
      <p:sp>
        <p:nvSpPr>
          <p:cNvPr id="85" name="Text 83"/>
          <p:cNvSpPr txBox="1"/>
          <p:nvPr/>
        </p:nvSpPr>
        <p:spPr>
          <a:xfrm>
            <a:off x="6501384" y="3035808"/>
            <a:ext cx="960120" cy="42062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lstStyle/>
          <a:p>
            <a:endParaRPr/>
          </a:p>
        </p:txBody>
      </p:sp>
      <p:sp>
        <p:nvSpPr>
          <p:cNvPr id="87" name="Text 85"/>
          <p:cNvSpPr txBox="1"/>
          <p:nvPr/>
        </p:nvSpPr>
        <p:spPr>
          <a:xfrm>
            <a:off x="7598664" y="3035808"/>
            <a:ext cx="914400" cy="420624"/>
          </a:xfrm>
          <a:prstGeom prst="rect">
            <a:avLst/>
          </a:prstGeom>
          <a:noFill/>
          <a:ln/>
        </p:spPr>
        <p:txBody>
          <a:bodyPr wrap="square" rtlCol="0" anchor="ctr"/>
          <a:lstStyle/>
          <a:p>
            <a:pPr marL="0" indent="0" algn="ctr">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lstStyle/>
          <a:p>
            <a:endParaRPr/>
          </a:p>
        </p:txBody>
      </p:sp>
      <p:sp>
        <p:nvSpPr>
          <p:cNvPr id="89" name="Text 87"/>
          <p:cNvSpPr txBox="1"/>
          <p:nvPr/>
        </p:nvSpPr>
        <p:spPr>
          <a:xfrm>
            <a:off x="329184" y="3493008"/>
            <a:ext cx="1920240" cy="420624"/>
          </a:xfrm>
          <a:prstGeom prst="rect">
            <a:avLst/>
          </a:prstGeom>
          <a:noFill/>
          <a:ln/>
        </p:spPr>
        <p:txBody>
          <a:bodyPr wrap="square" rtlCol="0" anchor="ctr"/>
          <a:lstStyle/>
          <a:p>
            <a:pPr marL="0" indent="0" algn="l">
              <a:buNone/>
            </a:pPr>
            <a:r>
              <a:rPr lang="en-US" sz="1000" dirty="0">
                <a:solidFill>
                  <a:srgbClr val="CCCCCC"/>
                </a:solidFill>
              </a:rPr>
              <a:t>Exos stock earn-out at RTO listing</a:t>
            </a:r>
            <a:endParaRPr lang="en-US" sz="900" dirty="0"/>
          </a:p>
          <a:p>
            <a:pPr marL="0" indent="0" algn="l">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lstStyle/>
          <a:p>
            <a:endParaRPr/>
          </a:p>
        </p:txBody>
      </p:sp>
      <p:sp>
        <p:nvSpPr>
          <p:cNvPr id="91" name="Text 89"/>
          <p:cNvSpPr txBox="1"/>
          <p:nvPr/>
        </p:nvSpPr>
        <p:spPr>
          <a:xfrm>
            <a:off x="2386584" y="3493008"/>
            <a:ext cx="1783080" cy="420624"/>
          </a:xfrm>
          <a:prstGeom prst="rect">
            <a:avLst/>
          </a:prstGeom>
          <a:noFill/>
          <a:ln/>
        </p:spPr>
        <p:txBody>
          <a:bodyPr wrap="square" rtlCol="0" anchor="ctr"/>
          <a:lstStyle/>
          <a:p>
            <a:pPr marL="0" indent="0" algn="l">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lstStyle/>
          <a:p>
            <a:endParaRPr/>
          </a:p>
        </p:txBody>
      </p:sp>
      <p:sp>
        <p:nvSpPr>
          <p:cNvPr id="93" name="Text 91"/>
          <p:cNvSpPr txBox="1"/>
          <p:nvPr/>
        </p:nvSpPr>
        <p:spPr>
          <a:xfrm>
            <a:off x="4306824" y="3493008"/>
            <a:ext cx="960120" cy="420624"/>
          </a:xfrm>
          <a:prstGeom prst="rect">
            <a:avLst/>
          </a:prstGeom>
          <a:noFill/>
          <a:ln/>
        </p:spPr>
        <p:txBody>
          <a:bodyPr wrap="square" rtlCol="0" anchor="ctr"/>
          <a:lstStyle/>
          <a:p>
            <a:pPr marL="0" indent="0" algn="ctr">
              <a:buNone/>
            </a:pPr>
            <a:r>
              <a:rPr lang="en-US" sz="1100" dirty="0">
                <a:solidFill>
                  <a:srgbClr val="FFFFFF"/>
                </a:solidFill>
              </a:rPr>
              <a:t>$0</a:t>
            </a:r>
            <a:endParaRPr lang="en-US" sz="1100" dirty="0"/>
          </a:p>
          <a:p>
            <a:pPr marL="0" indent="0" algn="ctr">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lstStyle/>
          <a:p>
            <a:endParaRPr/>
          </a:p>
        </p:txBody>
      </p:sp>
      <p:sp>
        <p:nvSpPr>
          <p:cNvPr id="95" name="Text 93"/>
          <p:cNvSpPr txBox="1"/>
          <p:nvPr/>
        </p:nvSpPr>
        <p:spPr>
          <a:xfrm>
            <a:off x="5404104" y="3493008"/>
            <a:ext cx="960120" cy="420624"/>
          </a:xfrm>
          <a:prstGeom prst="rect">
            <a:avLst/>
          </a:prstGeom>
          <a:noFill/>
          <a:ln/>
        </p:spPr>
        <p:txBody>
          <a:bodyPr wrap="square" rtlCol="0" anchor="ctr"/>
          <a:lstStyle/>
          <a:p>
            <a:pPr marL="0" indent="0" algn="ctr">
              <a:buNone/>
            </a:pPr>
            <a:r>
              <a:rPr lang="en-US" sz="1100" dirty="0">
                <a:solidFill>
                  <a:srgbClr val="FFFFFF"/>
                </a:solidFill>
              </a:rPr>
              <a:t>$625K</a:t>
            </a:r>
            <a:endParaRPr lang="en-US" sz="1100" dirty="0"/>
          </a:p>
          <a:p>
            <a:pPr marL="0" indent="0" algn="ctr">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lstStyle/>
          <a:p>
            <a:endParaRPr/>
          </a:p>
        </p:txBody>
      </p:sp>
      <p:sp>
        <p:nvSpPr>
          <p:cNvPr id="97" name="Text 95"/>
          <p:cNvSpPr txBox="1"/>
          <p:nvPr/>
        </p:nvSpPr>
        <p:spPr>
          <a:xfrm>
            <a:off x="6501384" y="3493008"/>
            <a:ext cx="960120" cy="420624"/>
          </a:xfrm>
          <a:prstGeom prst="rect">
            <a:avLst/>
          </a:prstGeom>
          <a:noFill/>
          <a:ln/>
        </p:spPr>
        <p:txBody>
          <a:bodyPr wrap="square" rtlCol="0" anchor="ctr"/>
          <a:lstStyle/>
          <a:p>
            <a:pPr marL="0" indent="0" algn="ctr">
              <a:buNone/>
            </a:pPr>
            <a:r>
              <a:rPr lang="en-US" sz="1100" dirty="0">
                <a:solidFill>
                  <a:srgbClr val="FFFFFF"/>
                </a:solidFill>
              </a:rPr>
              <a:t>$1,500K</a:t>
            </a:r>
            <a:endParaRPr lang="en-US" sz="1100" dirty="0"/>
          </a:p>
          <a:p>
            <a:pPr marL="0" indent="0" algn="ctr">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lstStyle/>
          <a:p>
            <a:endParaRPr/>
          </a:p>
        </p:txBody>
      </p:sp>
      <p:sp>
        <p:nvSpPr>
          <p:cNvPr id="99" name="Text 97"/>
          <p:cNvSpPr txBox="1"/>
          <p:nvPr/>
        </p:nvSpPr>
        <p:spPr>
          <a:xfrm>
            <a:off x="7598664" y="3493008"/>
            <a:ext cx="914400" cy="420624"/>
          </a:xfrm>
          <a:prstGeom prst="rect">
            <a:avLst/>
          </a:prstGeom>
          <a:noFill/>
          <a:ln/>
        </p:spPr>
        <p:txBody>
          <a:bodyPr wrap="square" rtlCol="0" anchor="ctr"/>
          <a:lstStyle/>
          <a:p>
            <a:pPr marL="0" indent="0" algn="ctr">
              <a:buNone/>
            </a:pPr>
            <a:r>
              <a:rPr lang="en-US" sz="1100" dirty="0">
                <a:solidFill>
                  <a:srgbClr val="FFFFFF"/>
                </a:solidFill>
              </a:rPr>
              <a:t>Post-RTO</a:t>
            </a:r>
            <a:endParaRPr lang="en-US" sz="1100" dirty="0"/>
          </a:p>
          <a:p>
            <a:pPr marL="0" indent="0" algn="ctr">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lstStyle/>
          <a:p>
            <a:endParaRPr/>
          </a:p>
        </p:txBody>
      </p:sp>
      <p:sp>
        <p:nvSpPr>
          <p:cNvPr id="101" name="Text 99"/>
          <p:cNvSpPr txBox="1"/>
          <p:nvPr/>
        </p:nvSpPr>
        <p:spPr>
          <a:xfrm>
            <a:off x="329184" y="3950208"/>
            <a:ext cx="1920240" cy="347472"/>
          </a:xfrm>
          <a:prstGeom prst="rect">
            <a:avLst/>
          </a:prstGeom>
          <a:noFill/>
          <a:ln/>
        </p:spPr>
        <p:txBody>
          <a:bodyPr wrap="square" rtlCol="0" anchor="ctr"/>
          <a:lstStyle/>
          <a:p>
            <a:pPr marL="0" indent="0" algn="l">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lstStyle/>
          <a:p>
            <a:endParaRPr/>
          </a:p>
        </p:txBody>
      </p:sp>
      <p:sp>
        <p:nvSpPr>
          <p:cNvPr id="103" name="Text 101"/>
          <p:cNvSpPr txBox="1"/>
          <p:nvPr/>
        </p:nvSpPr>
        <p:spPr>
          <a:xfrm>
            <a:off x="2386584" y="3950208"/>
            <a:ext cx="1783080" cy="347472"/>
          </a:xfrm>
          <a:prstGeom prst="rect">
            <a:avLst/>
          </a:prstGeom>
          <a:noFill/>
          <a:ln/>
        </p:spPr>
        <p:txBody>
          <a:bodyPr wrap="square" rtlCol="0" anchor="ctr"/>
          <a:lstStyle/>
          <a:p>
            <a:pPr marL="0" indent="0" algn="l">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lstStyle/>
          <a:p>
            <a:endParaRPr/>
          </a:p>
        </p:txBody>
      </p:sp>
      <p:sp>
        <p:nvSpPr>
          <p:cNvPr id="105" name="Text 103"/>
          <p:cNvSpPr txBox="1"/>
          <p:nvPr/>
        </p:nvSpPr>
        <p:spPr>
          <a:xfrm>
            <a:off x="4306824" y="3950208"/>
            <a:ext cx="960120" cy="347472"/>
          </a:xfrm>
          <a:prstGeom prst="rect">
            <a:avLst/>
          </a:prstGeom>
          <a:noFill/>
          <a:ln/>
        </p:spPr>
        <p:txBody>
          <a:bodyPr wrap="square" rtlCol="0" anchor="ctr"/>
          <a:lstStyle/>
          <a:p>
            <a:pPr marL="0" indent="0" algn="ctr">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lstStyle/>
          <a:p>
            <a:endParaRPr/>
          </a:p>
        </p:txBody>
      </p:sp>
      <p:sp>
        <p:nvSpPr>
          <p:cNvPr id="107" name="Text 105"/>
          <p:cNvSpPr txBox="1"/>
          <p:nvPr/>
        </p:nvSpPr>
        <p:spPr>
          <a:xfrm>
            <a:off x="5404104" y="3950208"/>
            <a:ext cx="960120" cy="347472"/>
          </a:xfrm>
          <a:prstGeom prst="rect">
            <a:avLst/>
          </a:prstGeom>
          <a:noFill/>
          <a:ln/>
        </p:spPr>
        <p:txBody>
          <a:bodyPr wrap="square" rtlCol="0" anchor="ctr"/>
          <a:lstStyle/>
          <a:p>
            <a:pPr marL="0" indent="0" algn="ctr">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lstStyle/>
          <a:p>
            <a:endParaRPr/>
          </a:p>
        </p:txBody>
      </p:sp>
      <p:sp>
        <p:nvSpPr>
          <p:cNvPr id="109" name="Text 107"/>
          <p:cNvSpPr txBox="1"/>
          <p:nvPr/>
        </p:nvSpPr>
        <p:spPr>
          <a:xfrm>
            <a:off x="6501384" y="3950208"/>
            <a:ext cx="960120" cy="347472"/>
          </a:xfrm>
          <a:prstGeom prst="rect">
            <a:avLst/>
          </a:prstGeom>
          <a:noFill/>
          <a:ln/>
        </p:spPr>
        <p:txBody>
          <a:bodyPr wrap="square" rtlCol="0" anchor="ctr"/>
          <a:lstStyle/>
          <a:p>
            <a:pPr marL="0" indent="0" algn="ctr">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lstStyle/>
          <a:p>
            <a:endParaRPr/>
          </a:p>
        </p:txBody>
      </p:sp>
      <p:sp>
        <p:nvSpPr>
          <p:cNvPr id="111" name="Text 109"/>
          <p:cNvSpPr txBox="1"/>
          <p:nvPr/>
        </p:nvSpPr>
        <p:spPr>
          <a:xfrm>
            <a:off x="7598664" y="3950208"/>
            <a:ext cx="914400" cy="347472"/>
          </a:xfrm>
          <a:prstGeom prst="rect">
            <a:avLst/>
          </a:prstGeom>
          <a:noFill/>
          <a:ln/>
        </p:spPr>
        <p:txBody>
          <a:bodyPr wrap="square" rtlCol="0" anchor="ctr"/>
          <a:lstStyle/>
          <a:p>
            <a:pPr marL="0" indent="0" algn="ctr">
              <a:buNone/>
            </a:pPr>
            <a:r>
              <a:rPr lang="en-US" sz="1100" b="1" dirty="0">
                <a:solidFill>
                  <a:srgbClr val="2ECC71"/>
                </a:solidFill>
              </a:rPr>
              <a:t>5-yr total</a:t>
            </a:r>
            <a:endParaRPr lang="en-US" sz="1100" dirty="0"/>
          </a:p>
        </p:txBody>
      </p:sp>
      <p:pic>
        <p:nvPicPr>
          <p:cNvPr id="11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15" name="TextBox 114"/>
          <p:cNvSpPr txBox="1"/>
          <p:nvPr/>
        </p:nvSpPr>
        <p:spPr>
          <a:xfrm>
            <a:off x="320040" y="4343400"/>
            <a:ext cx="8503920" cy="411480"/>
          </a:xfrm>
          <a:prstGeom prst="rect">
            <a:avLst/>
          </a:prstGeom>
          <a:noFill/>
        </p:spPr>
        <p:txBody>
          <a:bodyPr wrap="sq" anchor="t">
            <a:spAutoFit/>
          </a:bodyPr>
          <a:lstStyle/>
          <a:p>
            <a:r>
              <a:rPr lang="en-US" sz="1000" dirty="0">
                <a:solidFill>
                  <a:srgbClr val="CCCCCC"/>
                </a:solidFill>
                <a:latin typeface="Calibri"/>
              </a:rPr>
              <a:t>How the earn-outs pay SSLC holders:  (1) Cash milestones (M1–M5) pay at trigger event, distributed pro-rata to non-Exos holders.  (2) Revenue sharing (5% of IM tank revenue/yr, FY27–FY31, capped $300K/yr) pays annually against verified SSLC revenue.  (3) Exos stock earn-out issues as EAI units at RTO listing — not before, and only if RTO closes.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lstStyle/>
          <a:p>
            <a:endParaRPr/>
          </a:p>
        </p:txBody>
      </p:sp>
      <p:sp>
        <p:nvSpPr>
          <p:cNvPr id="4" name="Text 2"/>
          <p:cNvSpPr txBox="1"/>
          <p:nvPr/>
        </p:nvSpPr>
        <p:spPr>
          <a:xfrm>
            <a:off x="457200" y="914400"/>
            <a:ext cx="4389120" cy="320040"/>
          </a:xfrm>
          <a:prstGeom prst="rect">
            <a:avLst/>
          </a:prstGeom>
          <a:noFill/>
          <a:ln/>
        </p:spPr>
        <p:txBody>
          <a:bodyPr wrap="square" rtlCol="0" anchor="ctr"/>
          <a:lstStyle/>
          <a:p>
            <a:pPr marL="0" indent="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lstStyle/>
          <a:p>
            <a:endParaRPr/>
          </a:p>
        </p:txBody>
      </p:sp>
      <p:sp>
        <p:nvSpPr>
          <p:cNvPr id="6" name="Text 4"/>
          <p:cNvSpPr txBox="1"/>
          <p:nvPr/>
        </p:nvSpPr>
        <p:spPr>
          <a:xfrm>
            <a:off x="457200" y="1298448"/>
            <a:ext cx="1325880" cy="292608"/>
          </a:xfrm>
          <a:prstGeom prst="rect">
            <a:avLst/>
          </a:prstGeom>
          <a:noFill/>
          <a:ln/>
        </p:spPr>
        <p:txBody>
          <a:bodyPr wrap="square" rtlCol="0" anchor="ctr"/>
          <a:lstStyle/>
          <a:p>
            <a:pPr marL="0" indent="0" algn="ctr">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marL="0" indent="0" algn="ctr">
              <a:buNone/>
            </a:pPr>
            <a:r>
              <a:rPr lang="en-US" sz="2600" b="1" dirty="0">
                <a:solidFill>
                  <a:srgbClr val="2ECC71"/>
                </a:solidFill>
              </a:rPr>
              <a:t>$5.3M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lstStyle/>
          <a:p>
            <a:endParaRPr/>
          </a:p>
        </p:txBody>
      </p:sp>
      <p:sp>
        <p:nvSpPr>
          <p:cNvPr id="9" name="Text 7"/>
          <p:cNvSpPr txBox="1"/>
          <p:nvPr/>
        </p:nvSpPr>
        <p:spPr>
          <a:xfrm>
            <a:off x="45720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lstStyle/>
          <a:p>
            <a:endParaRPr/>
          </a:p>
        </p:txBody>
      </p:sp>
      <p:sp>
        <p:nvSpPr>
          <p:cNvPr id="11" name="Text 9"/>
          <p:cNvSpPr txBox="1"/>
          <p:nvPr/>
        </p:nvSpPr>
        <p:spPr>
          <a:xfrm>
            <a:off x="1874520" y="1298448"/>
            <a:ext cx="1325880" cy="292608"/>
          </a:xfrm>
          <a:prstGeom prst="rect">
            <a:avLst/>
          </a:prstGeom>
          <a:noFill/>
          <a:ln/>
        </p:spPr>
        <p:txBody>
          <a:bodyPr wrap="square" rtlCol="0" anchor="ctr"/>
          <a:lstStyle/>
          <a:p>
            <a:pPr marL="0" indent="0" algn="ctr">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marL="0" indent="0" algn="ctr">
              <a:buNone/>
            </a:pPr>
            <a:r>
              <a:rPr lang="en-US" sz="2600" b="1" dirty="0">
                <a:solidFill>
                  <a:srgbClr val="2ECC71"/>
                </a:solidFill>
              </a:rPr>
              <a:t>$6.9M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lstStyle/>
          <a:p>
            <a:endParaRPr/>
          </a:p>
        </p:txBody>
      </p:sp>
      <p:sp>
        <p:nvSpPr>
          <p:cNvPr id="14" name="Text 12"/>
          <p:cNvSpPr txBox="1"/>
          <p:nvPr/>
        </p:nvSpPr>
        <p:spPr>
          <a:xfrm>
            <a:off x="187452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lstStyle/>
          <a:p>
            <a:endParaRPr/>
          </a:p>
        </p:txBody>
      </p:sp>
      <p:sp>
        <p:nvSpPr>
          <p:cNvPr id="16" name="Text 14"/>
          <p:cNvSpPr txBox="1"/>
          <p:nvPr/>
        </p:nvSpPr>
        <p:spPr>
          <a:xfrm>
            <a:off x="3291840" y="1298448"/>
            <a:ext cx="1325880" cy="292608"/>
          </a:xfrm>
          <a:prstGeom prst="rect">
            <a:avLst/>
          </a:prstGeom>
          <a:noFill/>
          <a:ln/>
        </p:spPr>
        <p:txBody>
          <a:bodyPr wrap="square" rtlCol="0" anchor="ctr"/>
          <a:lstStyle/>
          <a:p>
            <a:pPr marL="0" indent="0" algn="ctr">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marL="0" indent="0" algn="ctr">
              <a:buNone/>
            </a:pPr>
            <a:r>
              <a:rPr lang="en-US" sz="2600" b="1" dirty="0">
                <a:solidFill>
                  <a:srgbClr val="2ECC71"/>
                </a:solidFill>
              </a:rPr>
              <a:t>$8.5M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lstStyle/>
          <a:p>
            <a:endParaRPr/>
          </a:p>
        </p:txBody>
      </p:sp>
      <p:sp>
        <p:nvSpPr>
          <p:cNvPr id="19" name="Text 17"/>
          <p:cNvSpPr txBox="1"/>
          <p:nvPr/>
        </p:nvSpPr>
        <p:spPr>
          <a:xfrm>
            <a:off x="329184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lstStyle/>
          <a:p>
            <a:endParaRPr/>
          </a:p>
        </p:txBody>
      </p:sp>
      <p:sp>
        <p:nvSpPr>
          <p:cNvPr id="21" name="Text 19"/>
          <p:cNvSpPr txBox="1"/>
          <p:nvPr/>
        </p:nvSpPr>
        <p:spPr>
          <a:xfrm>
            <a:off x="4892040" y="914400"/>
            <a:ext cx="4023360" cy="320040"/>
          </a:xfrm>
          <a:prstGeom prst="rect">
            <a:avLst/>
          </a:prstGeom>
          <a:noFill/>
          <a:ln/>
        </p:spPr>
        <p:txBody>
          <a:bodyPr wrap="square" rtlCol="0" anchor="ctr"/>
          <a:lstStyle/>
          <a:p>
            <a:pPr marL="0" indent="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lstStyle/>
          <a:p>
            <a:endParaRPr/>
          </a:p>
        </p:txBody>
      </p:sp>
      <p:sp>
        <p:nvSpPr>
          <p:cNvPr id="23" name="Text 21"/>
          <p:cNvSpPr txBox="1"/>
          <p:nvPr/>
        </p:nvSpPr>
        <p:spPr>
          <a:xfrm>
            <a:off x="4892040" y="1298448"/>
            <a:ext cx="1316736" cy="292608"/>
          </a:xfrm>
          <a:prstGeom prst="rect">
            <a:avLst/>
          </a:prstGeom>
          <a:noFill/>
          <a:ln/>
        </p:spPr>
        <p:txBody>
          <a:bodyPr wrap="square" rtlCol="0" anchor="ctr"/>
          <a:lstStyle/>
          <a:p>
            <a:pPr marL="0" indent="0" algn="ctr">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marL="0" indent="0" algn="ctr">
              <a:buNone/>
            </a:pPr>
            <a:r>
              <a:rPr lang="en-US" sz="2200" b="1" dirty="0">
                <a:solidFill>
                  <a:srgbClr val="F26A21"/>
                </a:solidFill>
              </a:rPr>
              <a:t>$11.0M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lstStyle/>
          <a:p>
            <a:endParaRPr/>
          </a:p>
        </p:txBody>
      </p:sp>
      <p:sp>
        <p:nvSpPr>
          <p:cNvPr id="26" name="Text 24"/>
          <p:cNvSpPr txBox="1"/>
          <p:nvPr/>
        </p:nvSpPr>
        <p:spPr>
          <a:xfrm>
            <a:off x="4892040"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lstStyle/>
          <a:p>
            <a:endParaRPr/>
          </a:p>
        </p:txBody>
      </p:sp>
      <p:sp>
        <p:nvSpPr>
          <p:cNvPr id="28" name="Text 26"/>
          <p:cNvSpPr txBox="1"/>
          <p:nvPr/>
        </p:nvSpPr>
        <p:spPr>
          <a:xfrm>
            <a:off x="6281928" y="1298448"/>
            <a:ext cx="1316736" cy="292608"/>
          </a:xfrm>
          <a:prstGeom prst="rect">
            <a:avLst/>
          </a:prstGeom>
          <a:noFill/>
          <a:ln/>
        </p:spPr>
        <p:txBody>
          <a:bodyPr wrap="square" rtlCol="0" anchor="ctr"/>
          <a:lstStyle/>
          <a:p>
            <a:pPr marL="0" indent="0" algn="ctr">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marL="0" indent="0" algn="ctr">
              <a:buNone/>
            </a:pPr>
            <a:r>
              <a:rPr lang="en-US" sz="2200" b="1" dirty="0">
                <a:solidFill>
                  <a:srgbClr val="F26A21"/>
                </a:solidFill>
              </a:rPr>
              <a:t>$14.8M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lstStyle/>
          <a:p>
            <a:endParaRPr/>
          </a:p>
        </p:txBody>
      </p:sp>
      <p:sp>
        <p:nvSpPr>
          <p:cNvPr id="31" name="Text 29"/>
          <p:cNvSpPr txBox="1"/>
          <p:nvPr/>
        </p:nvSpPr>
        <p:spPr>
          <a:xfrm>
            <a:off x="6281928"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lstStyle/>
          <a:p>
            <a:endParaRPr/>
          </a:p>
        </p:txBody>
      </p:sp>
      <p:sp>
        <p:nvSpPr>
          <p:cNvPr id="33" name="Text 31"/>
          <p:cNvSpPr txBox="1"/>
          <p:nvPr/>
        </p:nvSpPr>
        <p:spPr>
          <a:xfrm>
            <a:off x="7671816" y="1298448"/>
            <a:ext cx="1316736" cy="292608"/>
          </a:xfrm>
          <a:prstGeom prst="rect">
            <a:avLst/>
          </a:prstGeom>
          <a:noFill/>
          <a:ln/>
        </p:spPr>
        <p:txBody>
          <a:bodyPr wrap="square" rtlCol="0" anchor="ctr"/>
          <a:lstStyle/>
          <a:p>
            <a:pPr marL="0" indent="0" algn="ctr">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marL="0" indent="0" algn="ctr">
              <a:buNone/>
            </a:pPr>
            <a:r>
              <a:rPr lang="en-US" sz="2200" b="1" dirty="0">
                <a:solidFill>
                  <a:srgbClr val="F26A21"/>
                </a:solidFill>
              </a:rPr>
              <a:t>$18.4M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lstStyle/>
          <a:p>
            <a:endParaRPr/>
          </a:p>
        </p:txBody>
      </p:sp>
      <p:sp>
        <p:nvSpPr>
          <p:cNvPr id="36" name="Text 34"/>
          <p:cNvSpPr txBox="1"/>
          <p:nvPr/>
        </p:nvSpPr>
        <p:spPr>
          <a:xfrm>
            <a:off x="7671816"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lstStyle/>
          <a:p>
            <a:endParaRPr/>
          </a:p>
        </p:txBody>
      </p:sp>
      <p:sp>
        <p:nvSpPr>
          <p:cNvPr id="39" name="Text 36"/>
          <p:cNvSpPr txBox="1"/>
          <p:nvPr/>
        </p:nvSpPr>
        <p:spPr>
          <a:xfrm>
            <a:off x="365760" y="2551176"/>
            <a:ext cx="8412480" cy="118872"/>
          </a:xfrm>
          <a:prstGeom prst="rect">
            <a:avLst/>
          </a:prstGeom>
          <a:noFill/>
          <a:ln/>
        </p:spPr>
        <p:txBody>
          <a:bodyPr wrap="square" rtlCol="0" anchor="ctr"/>
          <a:lstStyle/>
          <a:p>
            <a:pPr marL="0" indent="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endParaRP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$4.36M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~2.3×</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~0.85×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$5.3M – $8.5M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~2.8–4.4×</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~1.0–1.7×</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$18.4M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~9.6×</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~3.6×</a:t>
            </a:r>
          </a:p>
        </p:txBody>
      </p:sp>
      <p:sp>
        <p:nvSpPr>
          <p:cNvPr id="59" name="Rectangle 58"/>
          <p:cNvSpPr/>
          <p:nvPr/>
        </p:nvSpPr>
        <p:spPr>
          <a:xfrm>
            <a:off x="365760" y="4279392"/>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4297680"/>
            <a:ext cx="8412480" cy="457200"/>
          </a:xfrm>
          <a:prstGeom prst="rect">
            <a:avLst/>
          </a:prstGeom>
          <a:noFill/>
        </p:spPr>
        <p:txBody>
          <a:bodyPr wrap="square">
            <a:spAutoFit/>
          </a:bodyPr>
          <a:lstStyle/>
          <a:p>
            <a:r>
              <a:rPr lang="en-US" sz="1000" dirty="0" i="1">
                <a:solidFill>
                  <a:srgbClr val="44BB44"/>
                </a:solidFill>
                <a:latin typeface="Calibri"/>
              </a:rPr>
              <a:t>FY27 YTD credit: SSLC net income through 10/11/2026 = +$112,666 (per QuickBooks). Supports FY27 ≥$5.1M milestone trajectory.</a:t>
            </a:r>
          </a:p>
          <a:p>
            <a:pPr algn="l"/>
            <a:r>
              <a:rPr sz="1000" b="0" i="1">
                <a:solidFill>
                  <a:srgbClr val="CCCCCC"/>
                </a:solidFill>
                <a:latin typeface="Calibri"/>
              </a:rPr>
              <a:t>Declining this offer is a judgment that SSLC alone, without new capital, is more likely to create more than the $18.4M maximum this offer projects (if Exos stock is held to 2031). Not a guarantee; "projects" is the operative word.</a:t>
            </a:r>
          </a:p>
        </p:txBody>
      </p:sp>
      <p:sp>
        <p:nvSpPr>
          <p:cNvPr id="61" name="TextBox 60"/>
          <p:cNvSpPr txBox="1"/>
          <p:nvPr/>
        </p:nvSpPr>
        <p:spPr>
          <a:xfrm>
            <a:off x="365760" y="3858768"/>
            <a:ext cx="3474720" cy="201168"/>
          </a:xfrm>
          <a:prstGeom prst="rect">
            <a:avLst/>
          </a:prstGeom>
          <a:noFill/>
        </p:spPr>
        <p:txBody>
          <a:bodyPr wrap="none" anchor="t">
            <a:spAutoFit/>
          </a:bodyPr>
          <a:lstStyle/>
          <a:p>
            <a:r>
              <a:rPr lang="en-US" sz="1000" dirty="0">
                <a:solidFill>
                  <a:srgbClr val="CCCCCC"/>
                </a:solidFill>
                <a:latin typeface="Calibri"/>
              </a:rPr>
              <a:t>③ Implied SSLC 5-yr cumul. revenue</a:t>
            </a:r>
          </a:p>
        </p:txBody>
      </p:sp>
      <p:sp>
        <p:nvSpPr>
          <p:cNvPr id="62" name="TextBox 61"/>
          <p:cNvSpPr txBox="1"/>
          <p:nvPr/>
        </p:nvSpPr>
        <p:spPr>
          <a:xfrm>
            <a:off x="3931920" y="3858768"/>
            <a:ext cx="2194560" cy="201168"/>
          </a:xfrm>
          <a:prstGeom prst="rect">
            <a:avLst/>
          </a:prstGeom>
          <a:noFill/>
        </p:spPr>
        <p:txBody>
          <a:bodyPr wrap="none" anchor="t">
            <a:spAutoFit/>
          </a:bodyPr>
          <a:lstStyle/>
          <a:p>
            <a:r>
              <a:rPr lang="en-US" sz="1000" dirty="0">
                <a:solidFill>
                  <a:srgbClr val="CCCCCC"/>
                </a:solidFill>
                <a:latin typeface="Calibri"/>
              </a:rPr>
              <a:t>Low ≈$15M  |  Base ≈$25M+</a:t>
            </a:r>
          </a:p>
        </p:txBody>
      </p:sp>
      <p:sp>
        <p:nvSpPr>
          <p:cNvPr id="63" name="TextBox 62"/>
          <p:cNvSpPr txBox="1"/>
          <p:nvPr/>
        </p:nvSpPr>
        <p:spPr>
          <a:xfrm>
            <a:off x="6217920" y="3858768"/>
            <a:ext cx="2194560" cy="201168"/>
          </a:xfrm>
          <a:prstGeom prst="rect">
            <a:avLst/>
          </a:prstGeom>
          <a:noFill/>
        </p:spPr>
        <p:txBody>
          <a:bodyPr wrap="none" anchor="t">
            <a:spAutoFit/>
          </a:bodyPr>
          <a:lstStyle/>
          <a:p>
            <a:r>
              <a:rPr lang="en-US" sz="1000" dirty="0">
                <a:solidFill>
                  <a:srgbClr val="CCCCCC"/>
                </a:solidFill>
                <a:latin typeface="Calibri"/>
              </a:rPr>
              <a:t>High = est. (milestones)</a:t>
            </a:r>
          </a:p>
        </p:txBody>
      </p:sp>
      <p:sp>
        <p:nvSpPr>
          <p:cNvPr id="64" name="TextBox 63"/>
          <p:cNvSpPr txBox="1"/>
          <p:nvPr/>
        </p:nvSpPr>
        <p:spPr>
          <a:xfrm>
            <a:off x="365760" y="4078224"/>
            <a:ext cx="3474720" cy="201168"/>
          </a:xfrm>
          <a:prstGeom prst="rect">
            <a:avLst/>
          </a:prstGeom>
          <a:noFill/>
        </p:spPr>
        <p:txBody>
          <a:bodyPr wrap="none" anchor="t">
            <a:spAutoFit/>
          </a:bodyPr>
          <a:lstStyle/>
          <a:p>
            <a:r>
              <a:rPr lang="en-US" sz="1000" dirty="0" i="1">
                <a:solidFill>
                  <a:srgbClr val="CCCCCC"/>
                </a:solidFill>
                <a:latin typeface="Calibri"/>
              </a:rPr>
              <a:t>Industry rev. multiple norm</a:t>
            </a:r>
          </a:p>
        </p:txBody>
      </p:sp>
      <p:sp>
        <p:nvSpPr>
          <p:cNvPr id="65" name="TextBox 64"/>
          <p:cNvSpPr txBox="1"/>
          <p:nvPr/>
        </p:nvSpPr>
        <p:spPr>
          <a:xfrm>
            <a:off x="3931920" y="4078224"/>
            <a:ext cx="4480560" cy="201168"/>
          </a:xfrm>
          <a:prstGeom prst="rect">
            <a:avLst/>
          </a:prstGeom>
          <a:noFill/>
        </p:spPr>
        <p:txBody>
          <a:bodyPr wrap="none" anchor="t">
            <a:spAutoFit/>
          </a:bodyPr>
          <a:lstStyle/>
          <a:p>
            <a:r>
              <a:rPr lang="en-US" sz="1000" dirty="0" i="1">
                <a:solidFill>
                  <a:srgbClr val="888888"/>
                </a:solidFill>
                <a:latin typeface="Calibri"/>
              </a:rPr>
              <a:t>1.3×–3.3× revenue  (First Page Sage, Feb 2025 — SaaS/tech services comps)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33272"/>
            <a:ext cx="3749040" cy="292608"/>
          </a:xfrm>
          <a:prstGeom prst="rect">
            <a:avLst/>
          </a:prstGeom>
          <a:noFill/>
          <a:ln/>
        </p:spPr>
        <p:txBody>
          <a:bodyPr wrap="square" rtlCol="0" anchor="ctr"/>
          <a:lstStyle/>
          <a:p>
            <a:pPr marL="0" indent="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marL="0" indent="0">
              <a:buNone/>
            </a:pPr>
            <a:r>
              <a:rPr lang="en-US" sz="1200" dirty="0">
                <a:solidFill>
                  <a:srgbClr val="CCCCCC"/>
                </a:solidFill>
              </a:rPr>
              <a:t>$1.0M Exos Aerospace Investments, LLC (EAI) units to key SSLC personnel (409A, ~$169.7M, ~0.59% FD). Not distributed pro-rata to cap table.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4800600" y="1033272"/>
            <a:ext cx="3749040" cy="292608"/>
          </a:xfrm>
          <a:prstGeom prst="rect">
            <a:avLst/>
          </a:prstGeom>
          <a:noFill/>
          <a:ln/>
        </p:spPr>
        <p:txBody>
          <a:bodyPr wrap="square" rtlCol="0" anchor="ctr"/>
          <a:lstStyle/>
          <a:p>
            <a:pPr marL="0" indent="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marL="0" indent="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lstStyle/>
          <a:p>
            <a:endParaRPr/>
          </a:p>
        </p:txBody>
      </p:sp>
      <p:sp>
        <p:nvSpPr>
          <p:cNvPr id="11" name="Text 9"/>
          <p:cNvSpPr txBox="1"/>
          <p:nvPr/>
        </p:nvSpPr>
        <p:spPr>
          <a:xfrm>
            <a:off x="502920" y="2313432"/>
            <a:ext cx="3749040" cy="292608"/>
          </a:xfrm>
          <a:prstGeom prst="rect">
            <a:avLst/>
          </a:prstGeom>
          <a:noFill/>
          <a:ln/>
        </p:spPr>
        <p:txBody>
          <a:bodyPr wrap="square" rtlCol="0" anchor="ctr"/>
          <a:lstStyle/>
          <a:p>
            <a:pPr marL="0" indent="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marL="0" indent="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lstStyle/>
          <a:p>
            <a:endParaRPr/>
          </a:p>
        </p:txBody>
      </p:sp>
      <p:sp>
        <p:nvSpPr>
          <p:cNvPr id="14" name="Text 12"/>
          <p:cNvSpPr txBox="1"/>
          <p:nvPr/>
        </p:nvSpPr>
        <p:spPr>
          <a:xfrm>
            <a:off x="4800600" y="2313432"/>
            <a:ext cx="3749040" cy="292608"/>
          </a:xfrm>
          <a:prstGeom prst="rect">
            <a:avLst/>
          </a:prstGeom>
          <a:noFill/>
          <a:ln/>
        </p:spPr>
        <p:txBody>
          <a:bodyPr wrap="square" rtlCol="0" anchor="ctr"/>
          <a:lstStyle/>
          <a:p>
            <a:pPr marL="0" indent="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marL="0" indent="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lstStyle/>
          <a:p>
            <a:endParaRPr/>
          </a:p>
        </p:txBody>
      </p:sp>
      <p:sp>
        <p:nvSpPr>
          <p:cNvPr id="17" name="Text 15"/>
          <p:cNvSpPr txBox="1"/>
          <p:nvPr/>
        </p:nvSpPr>
        <p:spPr>
          <a:xfrm>
            <a:off x="502920" y="3593592"/>
            <a:ext cx="3749040" cy="292608"/>
          </a:xfrm>
          <a:prstGeom prst="rect">
            <a:avLst/>
          </a:prstGeom>
          <a:noFill/>
          <a:ln/>
        </p:spPr>
        <p:txBody>
          <a:bodyPr wrap="square" rtlCol="0" anchor="ctr"/>
          <a:lstStyle/>
          <a:p>
            <a:pPr marL="0" indent="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marL="0" indent="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lstStyle/>
          <a:p>
            <a:endParaRPr/>
          </a:p>
        </p:txBody>
      </p:sp>
      <p:sp>
        <p:nvSpPr>
          <p:cNvPr id="20" name="Text 18"/>
          <p:cNvSpPr txBox="1"/>
          <p:nvPr/>
        </p:nvSpPr>
        <p:spPr>
          <a:xfrm>
            <a:off x="4800600" y="3593592"/>
            <a:ext cx="3749040" cy="292608"/>
          </a:xfrm>
          <a:prstGeom prst="rect">
            <a:avLst/>
          </a:prstGeom>
          <a:noFill/>
          <a:ln/>
        </p:spPr>
        <p:txBody>
          <a:bodyPr wrap="square" rtlCol="0" anchor="ctr"/>
          <a:lstStyle/>
          <a:p>
            <a:pPr marL="0" indent="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marL="0" indent="0">
              <a:buNone/>
            </a:pPr>
            <a:r>
              <a:rPr lang="en-US" sz="1200" dirty="0">
                <a:solidFill>
                  <a:srgbClr val="CCCCCC"/>
                </a:solidFill>
              </a:rPr>
              <a:t>Units issued at financing close. Targeted RTO ~6 months post-financing. Not assured — RTO may not close. The EAI units issued to key SSLC personnel are part of Exos's California employee-retention initiative.</a:t>
            </a:r>
            <a:endParaRPr lang="en-US" sz="1200" dirty="0"/>
          </a:p>
        </p:txBody>
      </p:sp>
      <p:pic>
        <p:nvPicPr>
          <p:cNvPr id="2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1005840"/>
            <a:ext cx="2743200" cy="2743200"/>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78992"/>
            <a:ext cx="2560320" cy="365760"/>
          </a:xfrm>
          <a:prstGeom prst="rect">
            <a:avLst/>
          </a:prstGeom>
          <a:noFill/>
          <a:ln/>
        </p:spPr>
        <p:txBody>
          <a:bodyPr wrap="square" rtlCol="0" anchor="ctr"/>
          <a:lstStyle/>
          <a:p>
            <a:pPr marL="0" indent="0">
              <a:buNone/>
            </a:pPr>
            <a:r>
              <a:rPr lang="en-US" sz="1600" b="1" dirty="0">
                <a:solidFill>
                  <a:srgbClr val="F26A21"/>
                </a:solidFill>
              </a:rPr>
              <a:t>Employment Offer</a:t>
            </a:r>
            <a:endParaRPr lang="en-US" sz="1600" dirty="0"/>
          </a:p>
        </p:txBody>
      </p:sp>
      <p:sp>
        <p:nvSpPr>
          <p:cNvPr id="6" name="Text 4"/>
          <p:cNvSpPr txBox="1"/>
          <p:nvPr/>
        </p:nvSpPr>
        <p:spPr>
          <a:xfrm>
            <a:off x="502920" y="1481328"/>
            <a:ext cx="2560320" cy="2148840"/>
          </a:xfrm>
          <a:prstGeom prst="rect">
            <a:avLst/>
          </a:prstGeom>
          <a:noFill/>
          <a:ln/>
        </p:spPr>
        <p:txBody>
          <a:bodyPr wrap="square" rtlCol="0" anchor="t"/>
          <a:lstStyle/>
          <a:p>
            <a:pPr marL="0" indent="0">
              <a:buNone/>
            </a:pPr>
            <a:r>
              <a:rPr lang="en-US" sz="115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marL="0" indent="0">
              <a:buNone/>
            </a:pPr>
            <a:endParaRPr lang="en-US" sz="1300" dirty="0"/>
          </a:p>
          <a:p>
            <a:pPr marL="0" indent="0">
              <a:buNone/>
            </a:pPr>
            <a:r>
              <a:rPr lang="en-US" sz="115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3291840" y="1005840"/>
            <a:ext cx="2743200" cy="2743200"/>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3429000" y="1078992"/>
            <a:ext cx="2560320" cy="365760"/>
          </a:xfrm>
          <a:prstGeom prst="rect">
            <a:avLst/>
          </a:prstGeom>
          <a:noFill/>
          <a:ln/>
        </p:spPr>
        <p:txBody>
          <a:bodyPr wrap="square" rtlCol="0" anchor="ctr"/>
          <a:lstStyle/>
          <a:p>
            <a:pPr marL="0" indent="0">
              <a:buNone/>
            </a:pPr>
            <a:r>
              <a:rPr lang="en-US" sz="1600" b="1" dirty="0">
                <a:solidFill>
                  <a:srgbClr val="F26A21"/>
                </a:solidFill>
              </a:rPr>
              <a:t>Key-Employee Option Pool</a:t>
            </a:r>
            <a:endParaRPr lang="en-US" sz="1600" dirty="0"/>
          </a:p>
        </p:txBody>
      </p:sp>
      <p:sp>
        <p:nvSpPr>
          <p:cNvPr id="9" name="Text 7"/>
          <p:cNvSpPr txBox="1"/>
          <p:nvPr/>
        </p:nvSpPr>
        <p:spPr>
          <a:xfrm>
            <a:off x="3429000" y="1481328"/>
            <a:ext cx="2560320" cy="2148840"/>
          </a:xfrm>
          <a:prstGeom prst="rect">
            <a:avLst/>
          </a:prstGeom>
          <a:noFill/>
          <a:ln/>
        </p:spPr>
        <p:txBody>
          <a:bodyPr wrap="square" rtlCol="0" anchor="t"/>
          <a:lstStyle/>
          <a:p>
            <a:pPr marL="0" indent="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3" name="Rectangle 12"/>
          <p:cNvSpPr/>
          <p:nvPr/>
        </p:nvSpPr>
        <p:spPr>
          <a:xfrm>
            <a:off x="6217920" y="1005840"/>
            <a:ext cx="2788920" cy="2743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078992"/>
            <a:ext cx="2560320" cy="365760"/>
          </a:xfrm>
          <a:prstGeom prst="rect">
            <a:avLst/>
          </a:prstGeom>
          <a:noFill/>
        </p:spPr>
        <p:txBody>
          <a:bodyPr wrap="none" anchor="t">
            <a:spAutoFit/>
          </a:bodyPr>
          <a:lstStyle/>
          <a:p>
            <a:r>
              <a:rPr lang="en-US" sz="1150" dirty="0" b="1">
                <a:solidFill>
                  <a:srgbClr val="F26A21"/>
                </a:solidFill>
                <a:latin typeface="Calibri"/>
              </a:rPr>
              <a:t>Facilities &amp; Growth</a:t>
            </a:r>
          </a:p>
        </p:txBody>
      </p:sp>
      <p:sp>
        <p:nvSpPr>
          <p:cNvPr id="15" name="Rectangle 14"/>
          <p:cNvSpPr/>
          <p:nvPr/>
        </p:nvSpPr>
        <p:spPr>
          <a:xfrm>
            <a:off x="6355080" y="1463040"/>
            <a:ext cx="2468880" cy="10972"/>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2514600" cy="2103120"/>
          </a:xfrm>
          <a:prstGeom prst="rect">
            <a:avLst/>
          </a:prstGeom>
          <a:noFill/>
        </p:spPr>
        <p:txBody>
          <a:bodyPr wrap="sq" anchor="t">
            <a:spAutoFit/>
          </a:bodyPr>
          <a:lstStyle/>
          <a:p>
            <a:r>
              <a:rPr lang="en-US" sz="1000" dirty="0">
                <a:solidFill>
                  <a:srgbClr val="CCCCCC"/>
                </a:solidFill>
                <a:latin typeface="Calibri"/>
              </a:rPr>
              <a:t>CA: New lease near the current SSLC site, 25,000–35,000 sq ft with high ceilings, to shift manufacturing and support expansion.</a:t>
            </a:r>
          </a:p>
          <a:p>
            <a:r>
              <a:rPr lang="en-US" sz="1000" dirty="0">
                <a:solidFill>
                  <a:srgbClr val="CCCCCC"/>
                </a:solidFill>
                <a:latin typeface="Calibri"/>
              </a:rPr>
              <a:t/>
            </a:r>
          </a:p>
          <a:p>
            <a:r>
              <a:rPr lang="en-US" sz="1000" dirty="0">
                <a:solidFill>
                  <a:srgbClr val="CCCCCC"/>
                </a:solidFill>
                <a:latin typeface="Calibri"/>
              </a:rPr>
              <a:t>TX: Expansion in Texas to support Exos rocket builds, funded under the same PIPE financing.</a:t>
            </a:r>
          </a:p>
          <a:p>
            <a:r>
              <a:rPr lang="en-US" sz="1000" dirty="0">
                <a:solidFill>
                  <a:srgbClr val="CCCCCC"/>
                </a:solidFill>
                <a:latin typeface="Calibri"/>
              </a:rPr>
              <a:t/>
            </a:r>
          </a:p>
          <a:p>
            <a:r>
              <a:rPr lang="en-US" sz="1000" dirty="0">
                <a:solidFill>
                  <a:srgbClr val="F26A21"/>
                </a:solidFill>
                <a:latin typeface="Calibri"/>
              </a:rPr>
              <a:t>$1.0M EAI (Exos stock) to key SSLC personnel</a:t>
            </a:r>
          </a:p>
          <a:p>
            <a:r>
              <a:rPr lang="en-US" sz="1000" dirty="0">
                <a:solidFill>
                  <a:srgbClr val="CCCCCC"/>
                </a:solidFill>
                <a:latin typeface="Calibri"/>
              </a:rPr>
              <a:t>at financing close (not pro-rata to the cap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lstStyle/>
          <a:p>
            <a:endParaRPr/>
          </a:p>
        </p:txBody>
      </p:sp>
      <p:sp>
        <p:nvSpPr>
          <p:cNvPr id="5" name="Text 3"/>
          <p:cNvSpPr txBox="1"/>
          <p:nvPr/>
        </p:nvSpPr>
        <p:spPr>
          <a:xfrm>
            <a:off x="548640" y="950976"/>
            <a:ext cx="5303520" cy="292608"/>
          </a:xfrm>
          <a:prstGeom prst="rect">
            <a:avLst/>
          </a:prstGeom>
          <a:noFill/>
          <a:ln/>
        </p:spPr>
        <p:txBody>
          <a:bodyPr wrap="square" rtlCol="0" anchor="ctr"/>
          <a:lstStyle/>
          <a:p>
            <a:pPr marL="0" indent="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lstStyle/>
          <a:p>
            <a:endParaRPr/>
          </a:p>
        </p:txBody>
      </p:sp>
      <p:sp>
        <p:nvSpPr>
          <p:cNvPr id="8" name="Text 6"/>
          <p:cNvSpPr txBox="1"/>
          <p:nvPr/>
        </p:nvSpPr>
        <p:spPr>
          <a:xfrm>
            <a:off x="548640" y="1335024"/>
            <a:ext cx="5303520" cy="292608"/>
          </a:xfrm>
          <a:prstGeom prst="rect">
            <a:avLst/>
          </a:prstGeom>
          <a:noFill/>
          <a:ln/>
        </p:spPr>
        <p:txBody>
          <a:bodyPr wrap="square" rtlCol="0" anchor="ctr"/>
          <a:lstStyle/>
          <a:p>
            <a:pPr marL="0" indent="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lstStyle/>
          <a:p>
            <a:endParaRPr/>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548640" y="1719072"/>
            <a:ext cx="5303520" cy="292608"/>
          </a:xfrm>
          <a:prstGeom prst="rect">
            <a:avLst/>
          </a:prstGeom>
          <a:noFill/>
          <a:ln/>
        </p:spPr>
        <p:txBody>
          <a:bodyPr wrap="square" rtlCol="0" anchor="ctr"/>
          <a:lstStyle/>
          <a:p>
            <a:pPr marL="0" indent="0">
              <a:buNone/>
            </a:pPr>
            <a:r>
              <a:rPr lang="en-US" sz="1200" b="1" dirty="0">
                <a:solidFill>
                  <a:srgbClr val="FFFFFF"/>
                </a:solidFill>
              </a:rPr>
              <a:t>$1.0M EAI stock — key SSLC personnel (Rule 504)</a:t>
            </a:r>
            <a:endParaRPr lang="en-US" sz="1200" dirty="0"/>
          </a:p>
        </p:txBody>
      </p:sp>
      <p:sp>
        <p:nvSpPr>
          <p:cNvPr id="18" name="Text 16"/>
          <p:cNvSpPr txBox="1"/>
          <p:nvPr/>
        </p:nvSpPr>
        <p:spPr>
          <a:xfrm>
            <a:off x="5989320" y="1719072"/>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lstStyle/>
          <a:p>
            <a:endParaRPr/>
          </a:p>
        </p:txBody>
      </p:sp>
      <p:sp>
        <p:nvSpPr>
          <p:cNvPr id="20" name="Text 18"/>
          <p:cNvSpPr txBox="1"/>
          <p:nvPr/>
        </p:nvSpPr>
        <p:spPr>
          <a:xfrm>
            <a:off x="548640" y="2871216"/>
            <a:ext cx="5303520" cy="292608"/>
          </a:xfrm>
          <a:prstGeom prst="rect">
            <a:avLst/>
          </a:prstGeom>
          <a:noFill/>
          <a:ln/>
        </p:spPr>
        <p:txBody>
          <a:bodyPr wrap="square" rtlCol="0" anchor="ctr"/>
          <a:lstStyle/>
          <a:p>
            <a:pPr marL="0" indent="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marL="0" indent="0" algn="r">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8640" y="3255264"/>
            <a:ext cx="5303520" cy="292608"/>
          </a:xfrm>
          <a:prstGeom prst="rect">
            <a:avLst/>
          </a:prstGeom>
          <a:noFill/>
          <a:ln/>
        </p:spPr>
        <p:txBody>
          <a:bodyPr wrap="square" rtlCol="0" anchor="ctr"/>
          <a:lstStyle/>
          <a:p>
            <a:pPr marL="0" indent="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lstStyle/>
          <a:p>
            <a:endParaRPr/>
          </a:p>
        </p:txBody>
      </p:sp>
      <p:sp>
        <p:nvSpPr>
          <p:cNvPr id="26" name="Text 24"/>
          <p:cNvSpPr txBox="1"/>
          <p:nvPr/>
        </p:nvSpPr>
        <p:spPr>
          <a:xfrm>
            <a:off x="548640" y="3639312"/>
            <a:ext cx="5303520" cy="292608"/>
          </a:xfrm>
          <a:prstGeom prst="rect">
            <a:avLst/>
          </a:prstGeom>
          <a:noFill/>
          <a:ln/>
        </p:spPr>
        <p:txBody>
          <a:bodyPr wrap="square" rtlCol="0" anchor="ctr"/>
          <a:lstStyle/>
          <a:p>
            <a:pPr marL="0" indent="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marL="0" indent="0" algn="r">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lstStyle/>
          <a:p>
            <a:endParaRPr/>
          </a:p>
        </p:txBody>
      </p:sp>
      <p:sp>
        <p:nvSpPr>
          <p:cNvPr id="29" name="Text 27"/>
          <p:cNvSpPr txBox="1"/>
          <p:nvPr/>
        </p:nvSpPr>
        <p:spPr>
          <a:xfrm>
            <a:off x="502920" y="4142232"/>
            <a:ext cx="8229600" cy="457200"/>
          </a:xfrm>
          <a:prstGeom prst="rect">
            <a:avLst/>
          </a:prstGeom>
          <a:noFill/>
          <a:ln/>
        </p:spPr>
        <p:txBody>
          <a:bodyPr wrap="square" rtlCol="0" anchor="ctr"/>
          <a:lstStyle/>
          <a:p>
            <a:pPr marL="0" indent="0" algn="ctr">
              <a:buNone/>
            </a:pPr>
            <a:r>
              <a:rPr lang="en-US" sz="1200" b="1" dirty="0">
                <a:solidFill>
                  <a:srgbClr val="F26A21"/>
                </a:solidFill>
              </a:rPr>
              <a:t>Five motions today: approve offer + §3 exclusivity (90-day + 60-day extension)  →  financing close target Jan 15, 2027</a:t>
            </a:r>
            <a:endParaRPr lang="en-US" sz="1500" dirty="0"/>
          </a:p>
        </p:txBody>
      </p:sp>
      <p:pic>
        <p:nvPicPr>
          <p:cNvPr id="3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33" name="TextBox 32"/>
          <p:cNvSpPr txBox="1"/>
          <p:nvPr/>
        </p:nvSpPr>
        <p:spPr>
          <a:xfrm>
            <a:off x="548640" y="2103120"/>
            <a:ext cx="7772400" cy="292608"/>
          </a:xfrm>
          <a:prstGeom prst="rect">
            <a:avLst/>
          </a:prstGeom>
          <a:noFill/>
        </p:spPr>
        <p:txBody>
          <a:bodyPr wrap="sq" anchor="t">
            <a:spAutoFit/>
          </a:bodyPr>
          <a:lstStyle/>
          <a:p>
            <a:r>
              <a:rPr lang="en-US" sz="1000" dirty="0" i="1">
                <a:solidFill>
                  <a:srgbClr val="888888"/>
                </a:solidFill>
                <a:latin typeface="Calibri"/>
              </a:rPr>
              <a:t>Timing: financing close (target Jan 15, 2027) → ~1 month to complete asset acquisition close → ~2 months to execute move into CA facility.  Employment offers issued at financing close.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524658"/>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2552090"/>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552090"/>
            <a:ext cx="914400" cy="201168"/>
          </a:xfrm>
          <a:prstGeom prst="rect">
            <a:avLst/>
          </a:prstGeom>
          <a:noFill/>
        </p:spPr>
        <p:txBody>
          <a:bodyPr wrap="square">
            <a:spAutoFit/>
          </a:bodyPr>
          <a:lstStyle/>
          <a:p>
            <a:pPr algn="r"/>
            <a:r>
              <a:rPr sz="1100" b="1" i="0">
                <a:solidFill>
                  <a:srgbClr val="F26A21"/>
                </a:solidFill>
                <a:latin typeface="Calibri"/>
              </a:rPr>
              <a:t>~$1.39M</a:t>
            </a:r>
          </a:p>
        </p:txBody>
      </p:sp>
      <p:sp>
        <p:nvSpPr>
          <p:cNvPr id="30" name="TextBox 29"/>
          <p:cNvSpPr txBox="1"/>
          <p:nvPr/>
        </p:nvSpPr>
        <p:spPr>
          <a:xfrm>
            <a:off x="274320" y="2762402"/>
            <a:ext cx="3154679" cy="169164"/>
          </a:xfrm>
          <a:prstGeom prst="rect">
            <a:avLst/>
          </a:prstGeom>
          <a:noFill/>
        </p:spPr>
        <p:txBody>
          <a:bodyPr wrap="square">
            <a:spAutoFit/>
          </a:bodyPr>
          <a:lstStyle/>
          <a:p>
            <a:pPr algn="l"/>
            <a:r>
              <a:rPr sz="1000" b="0" i="0">
                <a:solidFill>
                  <a:srgbClr val="CCCCCC"/>
                </a:solidFill>
                <a:latin typeface="Calibri"/>
              </a:rPr>
              <a:t>+ Key personnel EAI (Rule 504; not pro-rata)</a:t>
            </a:r>
          </a:p>
        </p:txBody>
      </p:sp>
      <p:sp>
        <p:nvSpPr>
          <p:cNvPr id="31" name="TextBox 30"/>
          <p:cNvSpPr txBox="1"/>
          <p:nvPr/>
        </p:nvSpPr>
        <p:spPr>
          <a:xfrm>
            <a:off x="3474719" y="2762402"/>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922422"/>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922422"/>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3082442"/>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3082442"/>
            <a:ext cx="914400" cy="169164"/>
          </a:xfrm>
          <a:prstGeom prst="rect">
            <a:avLst/>
          </a:prstGeom>
          <a:noFill/>
        </p:spPr>
        <p:txBody>
          <a:bodyPr wrap="square">
            <a:spAutoFit/>
          </a:bodyPr>
          <a:lstStyle/>
          <a:p>
            <a:pPr algn="r"/>
            <a:r>
              <a:rPr sz="1000" b="0" i="0">
                <a:solidFill>
                  <a:srgbClr val="44BB44"/>
                </a:solidFill>
                <a:latin typeface="Calibri"/>
              </a:rPr>
              <a:t>+$2,430,000</a:t>
            </a:r>
          </a:p>
        </p:txBody>
      </p:sp>
      <p:sp>
        <p:nvSpPr>
          <p:cNvPr id="36" name="Rectangle 35"/>
          <p:cNvSpPr/>
          <p:nvPr/>
        </p:nvSpPr>
        <p:spPr>
          <a:xfrm>
            <a:off x="274320" y="3251606"/>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4320" y="3279038"/>
            <a:ext cx="3154679" cy="228600"/>
          </a:xfrm>
          <a:prstGeom prst="rect">
            <a:avLst/>
          </a:prstGeom>
          <a:noFill/>
        </p:spPr>
        <p:txBody>
          <a:bodyPr wrap="square">
            <a:spAutoFit/>
          </a:bodyPr>
          <a:lstStyle/>
          <a:p>
            <a:pPr algn="l"/>
            <a:r>
              <a:rPr sz="1000" b="1" i="0">
                <a:solidFill>
                  <a:srgbClr val="FFFFFF"/>
                </a:solidFill>
                <a:latin typeface="Calibri"/>
              </a:rPr>
              <a:t>~5-yr to holders (+ $1M EAI to key personnel)</a:t>
            </a:r>
          </a:p>
        </p:txBody>
      </p:sp>
      <p:sp>
        <p:nvSpPr>
          <p:cNvPr id="38" name="TextBox 37"/>
          <p:cNvSpPr txBox="1"/>
          <p:nvPr/>
        </p:nvSpPr>
        <p:spPr>
          <a:xfrm>
            <a:off x="3383279" y="3279038"/>
            <a:ext cx="1005840" cy="228600"/>
          </a:xfrm>
          <a:prstGeom prst="rect">
            <a:avLst/>
          </a:prstGeom>
          <a:noFill/>
        </p:spPr>
        <p:txBody>
          <a:bodyPr wrap="square">
            <a:spAutoFit/>
          </a:bodyPr>
          <a:lstStyle/>
          <a:p>
            <a:pPr algn="r"/>
            <a:r>
              <a:rPr sz="1300" b="1" i="0">
                <a:solidFill>
                  <a:srgbClr val="F26A21"/>
                </a:solidFill>
                <a:latin typeface="Calibri"/>
              </a:rPr>
              <a:t>~$3.95M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~$1.4M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(holders, excl. EAI)</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~$3.95M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6× at close / 18×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dirty="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$1.15M–$1.62M; 5-yr $2.8M–$6.0M.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3095244"/>
            <a:ext cx="4133087" cy="923544"/>
          </a:xfrm>
          <a:prstGeom prst="rect">
            <a:avLst/>
          </a:prstGeom>
          <a:noFill/>
        </p:spPr>
        <p:txBody>
          <a:bodyPr wrap="square">
            <a:spAutoFit/>
          </a:bodyPr>
          <a:lstStyle/>
          <a:p>
            <a:r>
              <a:rPr lang="en-US" sz="1000" dirty="0">
                <a:solidFill>
                  <a:srgbClr val="FFCC44"/>
                </a:solidFill>
                <a:latin typeface="Calibri"/>
              </a:rPr>
              <a:t>Step 1: Facility credit ~$351K (Microcosm 50% rent+util, Jul 2024-Aug 2026)</a:t>
            </a:r>
          </a:p>
          <a:p>
            <a:r>
              <a:rPr lang="en-US" sz="1000" dirty="0">
                <a:solidFill>
                  <a:srgbClr val="FFCC44"/>
                </a:solidFill>
                <a:latin typeface="Calibri"/>
              </a:rPr>
              <a:t>  + Bookstore capitalized interest $97K = $448K not credited to SSLC holders.</a:t>
            </a:r>
          </a:p>
          <a:p>
            <a:r>
              <a:rPr lang="en-US" sz="1000" b="1" dirty="0">
                <a:solidFill>
                  <a:srgbClr val="FF0000"/>
                </a:solidFill>
                <a:latin typeface="Calibri"/>
              </a:rPr>
              <a:t>Net cash at close: ~$1.39M (as booked)  →  ~$1.84M (Step 1 applied).</a:t>
            </a:r>
          </a:p>
          <a:p>
            <a:r>
              <a:rPr lang="en-US" sz="1000" dirty="0">
                <a:solidFill>
                  <a:srgbClr val="FFCC44"/>
                </a:solidFill>
                <a:latin typeface="Calibri"/>
              </a:rPr>
              <a:t>Adjusted: Due to Microcosm → ~$100K;  Bookstore note → $223K.</a:t>
            </a:r>
          </a:p>
          <a:p>
            <a:r>
              <a:rPr lang="en-US" sz="1000" dirty="0">
                <a:solidFill>
                  <a:srgbClr val="FFCC44"/>
                </a:solidFill>
                <a:latin typeface="Calibri"/>
              </a:rPr>
              <a:t>Paid-in: books $224K (non-Exos);  register basis $461K (Motion 2).</a:t>
            </a:r>
          </a:p>
          <a:p>
            <a:r>
              <a:rPr lang="en-US" sz="1000" dirty="0">
                <a:solidFill>
                  <a:srgbClr val="CCCCCC"/>
                </a:solidFill>
                <a:latin typeface="Calibri"/>
              </a:rPr>
              <a:t>Exos: $790,000 for 18.06% (157,553 shares).</a:t>
            </a:r>
          </a:p>
        </p:txBody>
      </p:sp>
      <p:sp>
        <p:nvSpPr>
          <p:cNvPr id="77" name="Rectangle 76"/>
          <p:cNvSpPr/>
          <p:nvPr/>
        </p:nvSpPr>
        <p:spPr>
          <a:xfrm>
            <a:off x="274320" y="2355494"/>
            <a:ext cx="4151376" cy="16916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74320" y="2340864"/>
            <a:ext cx="3154680" cy="169164"/>
          </a:xfrm>
          <a:prstGeom prst="rect">
            <a:avLst/>
          </a:prstGeom>
          <a:noFill/>
        </p:spPr>
        <p:txBody>
          <a:bodyPr wrap="none" anchor="t">
            <a:spAutoFit/>
          </a:bodyPr>
          <a:lstStyle/>
          <a:p>
            <a:r>
              <a:rPr lang="en-US" sz="1000" dirty="0">
                <a:solidFill>
                  <a:srgbClr val="CCCCCC"/>
                </a:solidFill>
                <a:latin typeface="Calibri"/>
              </a:rPr>
              <a:t>− 5% outside services fee on cash proceeds</a:t>
            </a:r>
          </a:p>
        </p:txBody>
      </p:sp>
      <p:sp>
        <p:nvSpPr>
          <p:cNvPr id="79" name="TextBox 78"/>
          <p:cNvSpPr txBox="1"/>
          <p:nvPr/>
        </p:nvSpPr>
        <p:spPr>
          <a:xfrm>
            <a:off x="3474720" y="2340864"/>
            <a:ext cx="914400" cy="169164"/>
          </a:xfrm>
          <a:prstGeom prst="rect">
            <a:avLst/>
          </a:prstGeom>
          <a:noFill/>
        </p:spPr>
        <p:txBody>
          <a:bodyPr wrap="none" anchor="t">
            <a:spAutoFit/>
          </a:bodyPr>
          <a:lstStyle/>
          <a:p>
            <a:r>
              <a:rPr lang="en-US" sz="1000" dirty="0">
                <a:solidFill>
                  <a:srgbClr val="CCCCCC"/>
                </a:solidFill>
                <a:latin typeface="Calibri"/>
              </a:rPr>
              <a:t>($125,500)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(90-Day + 60-Day Extension)</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lang="en-US" sz="1000" dirty="0">
                <a:solidFill>
                  <a:srgbClr val="CCCCCC"/>
                </a:solidFill>
                <a:latin typeface="Calibri"/>
              </a:rPr>
              <a:t>The Board approves the Exos offer (Option B terms), confirms Exos's 90-day §3 exclusivity</a:t>
            </a:r>
          </a:p>
          <a:p>
            <a:r>
              <a:rPr lang="en-US" sz="1000" dirty="0">
                <a:solidFill>
                  <a:srgbClr val="CCCCCC"/>
                </a:solidFill>
                <a:latin typeface="Calibri"/>
              </a:rPr>
              <a:t>under the May 2025 Asset Acquisition Agreement (extendable 60 days if significant progress is</a:t>
            </a:r>
          </a:p>
          <a:p>
            <a:r>
              <a:rPr lang="en-US" sz="1000" dirty="0">
                <a:solidFill>
                  <a:srgbClr val="CCCCCC"/>
                </a:solidFill>
                <a:latin typeface="Calibri"/>
              </a:rPr>
              <a:t>being made toward a definitive agreement, not unreasonably withheld).</a:t>
            </a:r>
          </a:p>
          <a:p>
            <a:r>
              <a:rPr lang="en-US" sz="1000" dirty="0">
                <a:solidFill>
                  <a:srgbClr val="CCCCCC"/>
                </a:solidFill>
                <a:latin typeface="Calibri"/>
              </a:rPr>
              <a:t>Target financing close: January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dirty="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dirty="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dirty="0">
                <a:solidFill>
                  <a:srgbClr val="CCCCCC"/>
                </a:solidFill>
                <a:latin typeface="Calibri"/>
              </a:rPr>
              <a:t>Authorize Exos to use the QB data to evaluate compatible ERP/MRP and inventory systems.</a:t>
            </a:r>
          </a:p>
          <a:p>
            <a:r>
              <a:rPr sz="1000" b="0" i="0" dirty="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dirty="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dirty="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dirty="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dirty="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dirty="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lstStyle/>
          <a:p>
            <a:endParaRPr/>
          </a:p>
        </p:txBody>
      </p:sp>
      <p:sp>
        <p:nvSpPr>
          <p:cNvPr id="5" name="Shape 2"/>
          <p:cNvSpPr/>
          <p:nvPr/>
        </p:nvSpPr>
        <p:spPr>
          <a:xfrm>
            <a:off x="1024128" y="1426464"/>
            <a:ext cx="0" cy="201168"/>
          </a:xfrm>
          <a:prstGeom prst="line">
            <a:avLst/>
          </a:prstGeom>
          <a:noFill/>
          <a:ln w="12700">
            <a:solidFill>
              <a:srgbClr val="F26A21"/>
            </a:solidFill>
            <a:prstDash val="solid"/>
          </a:ln>
        </p:spPr>
        <p:txBody>
          <a:bodyPr/>
          <a:lstStyle/>
          <a:p>
            <a:endParaR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lstStyle/>
          <a:p>
            <a:endParaRPr/>
          </a:p>
        </p:txBody>
      </p:sp>
      <p:sp>
        <p:nvSpPr>
          <p:cNvPr id="7" name="Text 4"/>
          <p:cNvSpPr txBox="1"/>
          <p:nvPr/>
        </p:nvSpPr>
        <p:spPr>
          <a:xfrm>
            <a:off x="548640" y="978408"/>
            <a:ext cx="512064" cy="384048"/>
          </a:xfrm>
          <a:prstGeom prst="rect">
            <a:avLst/>
          </a:prstGeom>
          <a:noFill/>
          <a:ln/>
        </p:spPr>
        <p:txBody>
          <a:bodyPr wrap="square" rtlCol="0" anchor="ctr"/>
          <a:lstStyle/>
          <a:p>
            <a:pPr marL="0" indent="0" algn="ctr">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marL="0" indent="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marL="0" indent="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lstStyle/>
          <a:p>
            <a:endParaR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lstStyle/>
          <a:p>
            <a:endParaRPr/>
          </a:p>
        </p:txBody>
      </p:sp>
      <p:sp>
        <p:nvSpPr>
          <p:cNvPr id="12" name="Text 9"/>
          <p:cNvSpPr txBox="1"/>
          <p:nvPr/>
        </p:nvSpPr>
        <p:spPr>
          <a:xfrm>
            <a:off x="548640" y="1673352"/>
            <a:ext cx="512064" cy="384048"/>
          </a:xfrm>
          <a:prstGeom prst="rect">
            <a:avLst/>
          </a:prstGeom>
          <a:noFill/>
          <a:ln/>
        </p:spPr>
        <p:txBody>
          <a:bodyPr wrap="square" rtlCol="0" anchor="ctr"/>
          <a:lstStyle/>
          <a:p>
            <a:pPr marL="0" indent="0" algn="ctr">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marL="0" indent="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marL="0" indent="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lstStyle/>
          <a:p>
            <a:endParaR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lstStyle/>
          <a:p>
            <a:endParaRPr/>
          </a:p>
        </p:txBody>
      </p:sp>
      <p:sp>
        <p:nvSpPr>
          <p:cNvPr id="17" name="Text 14"/>
          <p:cNvSpPr txBox="1"/>
          <p:nvPr/>
        </p:nvSpPr>
        <p:spPr>
          <a:xfrm>
            <a:off x="548640" y="2368296"/>
            <a:ext cx="512064" cy="384048"/>
          </a:xfrm>
          <a:prstGeom prst="rect">
            <a:avLst/>
          </a:prstGeom>
          <a:noFill/>
          <a:ln/>
        </p:spPr>
        <p:txBody>
          <a:bodyPr wrap="square" rtlCol="0" anchor="ctr"/>
          <a:lstStyle/>
          <a:p>
            <a:pPr marL="0" indent="0" algn="ctr">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marL="0" indent="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marL="0" indent="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lstStyle/>
          <a:p>
            <a:endParaR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lstStyle/>
          <a:p>
            <a:endParaRPr/>
          </a:p>
        </p:txBody>
      </p:sp>
      <p:sp>
        <p:nvSpPr>
          <p:cNvPr id="22" name="Text 19"/>
          <p:cNvSpPr txBox="1"/>
          <p:nvPr/>
        </p:nvSpPr>
        <p:spPr>
          <a:xfrm>
            <a:off x="548640" y="3063240"/>
            <a:ext cx="512064" cy="384048"/>
          </a:xfrm>
          <a:prstGeom prst="rect">
            <a:avLst/>
          </a:prstGeom>
          <a:noFill/>
          <a:ln/>
        </p:spPr>
        <p:txBody>
          <a:bodyPr wrap="square" rtlCol="0" anchor="ctr"/>
          <a:lstStyle/>
          <a:p>
            <a:pPr marL="0" indent="0" algn="ctr">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marL="0" indent="0">
              <a:buNone/>
            </a:pPr>
            <a:r>
              <a:rPr lang="en-US" sz="1400" b="1" dirty="0">
                <a:solidFill>
                  <a:srgbClr val="FFFFFF"/>
                </a:solidFill>
              </a:rPr>
              <a:t>Financing Close — target Jan 15, 2027</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marL="0" indent="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lstStyle/>
          <a:p>
            <a:endParaRPr/>
          </a:p>
        </p:txBody>
      </p:sp>
      <p:sp>
        <p:nvSpPr>
          <p:cNvPr id="26" name="Text 23"/>
          <p:cNvSpPr txBox="1"/>
          <p:nvPr/>
        </p:nvSpPr>
        <p:spPr>
          <a:xfrm>
            <a:off x="548640" y="3758184"/>
            <a:ext cx="512064" cy="384048"/>
          </a:xfrm>
          <a:prstGeom prst="rect">
            <a:avLst/>
          </a:prstGeom>
          <a:noFill/>
          <a:ln/>
        </p:spPr>
        <p:txBody>
          <a:bodyPr wrap="square" rtlCol="0" anchor="ctr"/>
          <a:lstStyle/>
          <a:p>
            <a:pPr marL="0" indent="0" algn="ctr">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marL="0" indent="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marL="0" indent="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251959"/>
            <a:ext cx="8446086" cy="769425"/>
          </a:xfrm>
          <a:prstGeom prst="rect">
            <a:avLst/>
          </a:prstGeom>
          <a:solidFill>
            <a:srgbClr val="2A1000"/>
          </a:solidFill>
          <a:ln w="12700">
            <a:solidFill>
              <a:srgbClr val="F26A21"/>
            </a:solidFill>
            <a:prstDash val="solid"/>
          </a:ln>
        </p:spPr>
        <p:txBody>
          <a:bodyPr/>
          <a:lstStyle/>
          <a:p>
            <a:endParaRPr/>
          </a:p>
        </p:txBody>
      </p:sp>
      <p:sp>
        <p:nvSpPr>
          <p:cNvPr id="30" name="Text 27"/>
          <p:cNvSpPr txBox="1"/>
          <p:nvPr/>
        </p:nvSpPr>
        <p:spPr>
          <a:xfrm>
            <a:off x="502920" y="4626864"/>
            <a:ext cx="8363634" cy="146304"/>
          </a:xfrm>
          <a:prstGeom prst="rect">
            <a:avLst/>
          </a:prstGeom>
          <a:noFill/>
          <a:ln/>
        </p:spPr>
        <p:txBody>
          <a:bodyPr wrap="square" rtlCol="0" anchor="ctr"/>
          <a:lstStyle/>
          <a:p>
            <a:pPr marL="0" indent="0" algn="ctr">
              <a:buNone/>
            </a:pPr>
            <a:r>
              <a:rPr lang="en-US" sz="1000" b="1" dirty="0">
                <a:solidFill>
                  <a:srgbClr val="F26A21"/>
                </a:solidFill>
              </a:rPr>
              <a:t>The Board is asked today to vote on Motions 1–5: approving the Exos offer and granting exclusivity (90-day + 60-day ext., Motion 1), QB access (Motion 2), accounting correction (Motion 3), and ERP evaluation (Motion 4), and related-party balances (Motion 5). Declining Motion 1 is a judgment that SSLC alone — without new capital — is more likely to create more than the $18.4M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TotalTime>
  <Words>6864</Words>
  <Application>Microsoft Office PowerPoint</Application>
  <PresentationFormat>On-screen Show (16:9)</PresentationFormat>
  <Paragraphs>631</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Exos Aerospace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John Quinn (Admin)</cp:lastModifiedBy>
  <cp:revision>4</cp:revision>
  <dcterms:created xsi:type="dcterms:W3CDTF">2026-10-10T23:08:01Z</dcterms:created>
  <dcterms:modified xsi:type="dcterms:W3CDTF">2026-10-12T17:14:42Z</dcterms:modified>
</cp:coreProperties>
</file>