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81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A499BFB-F040-48B8-9E84-D08343026312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81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Backup" id="{432D7212-DC6C-4A2B-8D3D-8238FF68CDF1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3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85"/>
            <a:ext cx="12191695" cy="6857828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617690"/>
            <a:ext cx="12191695" cy="60958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782" y="1737402"/>
            <a:ext cx="7315200" cy="93266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EXOS AEROSPACE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782" y="2499383"/>
            <a:ext cx="7315200" cy="56996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800" b="1">
                <a:solidFill>
                  <a:srgbClr val="FF6B00"/>
                </a:solidFill>
                <a:latin typeface="Arial"/>
              </a:rPr>
              <a:t>AI-Native Industrial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782" y="3048009"/>
            <a:ext cx="7315200" cy="3886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066CC"/>
                </a:solidFill>
                <a:latin typeface="Arial"/>
              </a:rPr>
              <a:t>A reusable flight-test &amp; composite industrial-base consortium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1022" y="5013920"/>
            <a:ext cx="7315200" cy="2849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Commission on the Future of the Navy  ·  Maritime Industrial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1022" y="5349191"/>
            <a:ext cx="7315200" cy="2331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>
                <a:solidFill>
                  <a:srgbClr val="CBD8E8"/>
                </a:solidFill>
                <a:latin typeface="Arial"/>
              </a:rPr>
              <a:t>Greenville, Texas  ·  August 11,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022" y="5623505"/>
            <a:ext cx="7315200" cy="20725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CBD8E8"/>
                </a:solidFill>
                <a:latin typeface="Arial"/>
              </a:rPr>
              <a:t>John Quinn, Cofounder &amp; CEO  ·  jquinn@exosaero.com  ·  www.exosaero.com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xos_Provided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188" y="320117"/>
            <a:ext cx="1344471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A1628"/>
                </a:solidFill>
                <a:latin typeface="Arial"/>
              </a:rPr>
              <a:t>THE EXOS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88" y="784926"/>
            <a:ext cx="5950603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Two decades of reusable rockets. Lunar-proven tanks. A team that does more with less.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188" y="1066859"/>
            <a:ext cx="11277318" cy="30479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4" name="Rounded Rectangle 13"/>
          <p:cNvSpPr/>
          <p:nvPr/>
        </p:nvSpPr>
        <p:spPr>
          <a:xfrm>
            <a:off x="5333866" y="1371651"/>
            <a:ext cx="3093642" cy="15696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6" name="TextBox 15"/>
          <p:cNvSpPr txBox="1"/>
          <p:nvPr/>
        </p:nvSpPr>
        <p:spPr>
          <a:xfrm>
            <a:off x="5562460" y="1645964"/>
            <a:ext cx="889667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 b="1" dirty="0">
                <a:solidFill>
                  <a:srgbClr val="0066CC"/>
                </a:solidFill>
                <a:latin typeface="Arial"/>
              </a:rPr>
              <a:t>2</a:t>
            </a:r>
            <a:r>
              <a:rPr lang="en-US" sz="2000" b="1" dirty="0">
                <a:solidFill>
                  <a:srgbClr val="0066CC"/>
                </a:solidFill>
                <a:latin typeface="Arial"/>
              </a:rPr>
              <a:t>5</a:t>
            </a:r>
            <a:r>
              <a:rPr sz="2000" b="1" dirty="0">
                <a:solidFill>
                  <a:srgbClr val="0066CC"/>
                </a:solidFill>
                <a:latin typeface="Arial"/>
              </a:rPr>
              <a:t>+ yrs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62460" y="2206020"/>
            <a:ext cx="1784143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41414"/>
                </a:solidFill>
                <a:latin typeface="Arial"/>
              </a:rPr>
              <a:t>reusable-rocket heritage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62460" y="2423185"/>
            <a:ext cx="1705595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>
                <a:solidFill>
                  <a:srgbClr val="5A6B7D"/>
                </a:solidFill>
                <a:latin typeface="Arial"/>
              </a:rPr>
              <a:t>Armadillo (2000) → Exos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40863" y="1371651"/>
            <a:ext cx="3093642" cy="15696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21" name="TextBox 20"/>
          <p:cNvSpPr txBox="1"/>
          <p:nvPr/>
        </p:nvSpPr>
        <p:spPr>
          <a:xfrm>
            <a:off x="8869458" y="1645964"/>
            <a:ext cx="639599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 b="1" dirty="0">
                <a:solidFill>
                  <a:srgbClr val="0066CC"/>
                </a:solidFill>
                <a:latin typeface="Arial"/>
              </a:rPr>
              <a:t>4 / 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458" y="2206020"/>
            <a:ext cx="2370842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41414"/>
                </a:solidFill>
                <a:latin typeface="Arial"/>
              </a:rPr>
              <a:t>flights / months, 12-person team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458" y="2423185"/>
            <a:ext cx="2225417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>
                <a:solidFill>
                  <a:srgbClr val="5A6B7D"/>
                </a:solidFill>
                <a:latin typeface="Arial"/>
              </a:rPr>
              <a:t>SARGE — capital-efficient reuse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33866" y="3154686"/>
            <a:ext cx="3093642" cy="15696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F6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26" name="TextBox 25"/>
          <p:cNvSpPr txBox="1"/>
          <p:nvPr/>
        </p:nvSpPr>
        <p:spPr>
          <a:xfrm>
            <a:off x="5562460" y="3429000"/>
            <a:ext cx="668453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 b="1" dirty="0">
                <a:solidFill>
                  <a:srgbClr val="FF6B00"/>
                </a:solidFill>
                <a:latin typeface="Arial"/>
              </a:rPr>
              <a:t>1 of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2460" y="3989055"/>
            <a:ext cx="2447337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41414"/>
                </a:solidFill>
                <a:latin typeface="Arial"/>
              </a:rPr>
              <a:t>FAA-licensed reusable in the U.S.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62460" y="4206220"/>
            <a:ext cx="1256754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>
                <a:solidFill>
                  <a:srgbClr val="5A6B7D"/>
                </a:solidFill>
                <a:latin typeface="Arial"/>
              </a:rPr>
              <a:t>~2-day turnaround — a design target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0863" y="3154686"/>
            <a:ext cx="3093642" cy="15696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31" name="TextBox 30"/>
          <p:cNvSpPr txBox="1"/>
          <p:nvPr/>
        </p:nvSpPr>
        <p:spPr>
          <a:xfrm>
            <a:off x="8869458" y="3429000"/>
            <a:ext cx="1046761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 b="1" dirty="0">
                <a:solidFill>
                  <a:srgbClr val="22C55E"/>
                </a:solidFill>
                <a:latin typeface="Arial"/>
              </a:rPr>
              <a:t>2× Moon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458" y="3989055"/>
            <a:ext cx="2109360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41414"/>
                </a:solidFill>
                <a:latin typeface="Arial"/>
              </a:rPr>
              <a:t>Type-5 tanks — lunar-proven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458" y="4206220"/>
            <a:ext cx="2236190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>
                <a:solidFill>
                  <a:srgbClr val="5A6B7D"/>
                </a:solidFill>
                <a:latin typeface="Arial"/>
              </a:rPr>
              <a:t>now cryo for commercial stations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188" y="5029159"/>
            <a:ext cx="11277318" cy="1142971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9AA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35" name="TextBox 34"/>
          <p:cNvSpPr txBox="1"/>
          <p:nvPr/>
        </p:nvSpPr>
        <p:spPr>
          <a:xfrm>
            <a:off x="685782" y="5272993"/>
            <a:ext cx="4327788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 dirty="0">
                <a:solidFill>
                  <a:srgbClr val="0A1628"/>
                </a:solidFill>
                <a:latin typeface="Arial"/>
              </a:rPr>
              <a:t>ACTIVATING AMERICA'S DORMANT INDUSTRIAL CAPACITY</a:t>
            </a:r>
            <a:r>
              <a:rPr lang="en-US" sz="1200" b="1" dirty="0">
                <a:solidFill>
                  <a:srgbClr val="0A1628"/>
                </a:solidFill>
                <a:latin typeface="Arial"/>
              </a:rPr>
              <a:t/>
            </a:r>
            <a:r>
              <a:rPr sz="1200" b="1" dirty="0">
                <a:solidFill>
                  <a:srgbClr val="0A1628"/>
                </a:solidFill>
                <a:latin typeface="Arial"/>
              </a:rPr>
              <a:t/>
            </a:r>
            <a:r>
              <a:rPr lang="en-US" sz="1200" b="1" dirty="0">
                <a:solidFill>
                  <a:srgbClr val="0A1628"/>
                </a:solidFill>
                <a:latin typeface="Arial"/>
              </a:rPr>
              <a:t/>
            </a:r>
            <a:endParaRPr sz="1200" b="1" dirty="0">
              <a:solidFill>
                <a:srgbClr val="0A1628"/>
              </a:solidFill>
              <a:latin typeface="Arial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85782" y="5600645"/>
            <a:ext cx="6057749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141414"/>
                </a:solidFill>
                <a:latin typeface="Arial"/>
              </a:rPr>
              <a:t>ACTIVATING AMERICA'S DORMANT INDUSTRIAL CAPACITY</a:t>
            </a:r>
            <a:r>
              <a:rPr sz="1200" b="0" dirty="0">
                <a:solidFill>
                  <a:srgbClr val="141414"/>
                </a:solidFill>
                <a:latin typeface="Arial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782" y="5935917"/>
            <a:ext cx="6296596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 dirty="0">
                <a:solidFill>
                  <a:srgbClr val="5A6B7D"/>
                </a:solidFill>
                <a:latin typeface="Arial"/>
              </a:rPr>
              <a:t>Profitable in 2025  ·  102% four-year revenue CAGR  ·  audited figures in the data room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0508E067-3056-7375-73D1-341587C8C2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312" y="1114233"/>
            <a:ext cx="3473274" cy="389803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85"/>
            <a:ext cx="12191695" cy="68578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5"/>
            <a:ext cx="12191695" cy="7924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92545"/>
            <a:ext cx="12191695" cy="45718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50" y="167721"/>
            <a:ext cx="7315200" cy="3886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Leadership — the team that built Exos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50" y="525852"/>
            <a:ext cx="7315200" cy="1943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CBD8E8"/>
                </a:solidFill>
                <a:latin typeface="Arial"/>
              </a:rPr>
              <a:t>Navy discipline, propulsion &amp; recovery, flight-ops, and capital markets — all built into Exos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50" y="1143057"/>
            <a:ext cx="3505112" cy="2285942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3865" y="1371651"/>
            <a:ext cx="7315200" cy="2590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066CC"/>
                </a:solidFill>
                <a:latin typeface="Arial"/>
              </a:rPr>
              <a:t>John Quinn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865" y="1638344"/>
            <a:ext cx="7315200" cy="1683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CEO &amp; Co-Founder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3865" y="1924087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11 years building Exos — drove it 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65" y="2099343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profitability in 2025. Managed $1B+ FPL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865" y="2274598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power-plant construction, adding $43M+ 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3865" y="2449854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revenue — major capital execution in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3865" y="2625110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regulated utility. 14.5-year U.S. Navy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3865" y="2800365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 dirty="0">
                <a:solidFill>
                  <a:srgbClr val="141414"/>
                </a:solidFill>
                <a:latin typeface="Arial"/>
              </a:rPr>
              <a:t>Submarine Service.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291" y="1143057"/>
            <a:ext cx="3505112" cy="2285942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41406" y="1371651"/>
            <a:ext cx="7315200" cy="2590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066CC"/>
                </a:solidFill>
                <a:latin typeface="Arial"/>
              </a:rPr>
              <a:t>Russel Blink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1406" y="1638344"/>
            <a:ext cx="7315200" cy="1683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CTO &amp; Co-Founder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406" y="1924087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Exos's technical bench — has built hundreds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406" y="2099343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of rocket engines and dozens of flying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406" y="2274598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vehicles. Anchors propulsion and vehicle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1406" y="2449854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engineering.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0831" y="1143057"/>
            <a:ext cx="3505112" cy="2285942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18947" y="1371651"/>
            <a:ext cx="7315200" cy="2590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066CC"/>
                </a:solidFill>
                <a:latin typeface="Arial"/>
              </a:rPr>
              <a:t>Neil Milburn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18947" y="1638344"/>
            <a:ext cx="7315200" cy="1683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COO &amp; Co-Founder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18947" y="1924087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Longtime Armadillo Aerospace veteran. FAA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18947" y="2099343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liaison; drives operational excellence,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18947" y="2274598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program execution, and turnarounds.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50" y="3657594"/>
            <a:ext cx="3505112" cy="2285942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3865" y="3886188"/>
            <a:ext cx="7315200" cy="2590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066CC"/>
                </a:solidFill>
                <a:latin typeface="Arial"/>
              </a:rPr>
              <a:t>David Mitchell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865" y="4152881"/>
            <a:ext cx="7315200" cy="1683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President &amp; Co-Founder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3865" y="4438624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4th-generation energy entrepreneur; secured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3865" y="4613880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the private capital that built Exos's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3865" y="4789135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reusable rockets (prior family company sold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3865" y="4964391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to CBS). Leads financing &amp; investor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3865" y="5139647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relations.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43291" y="3657594"/>
            <a:ext cx="3505112" cy="2285942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41406" y="3886188"/>
            <a:ext cx="7315200" cy="2590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066CC"/>
                </a:solidFill>
                <a:latin typeface="Arial"/>
              </a:rPr>
              <a:t>Kyle Ballard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406" y="4152881"/>
            <a:ext cx="7315200" cy="1683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Chief Financial Officer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41406" y="4438624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With Exos for years — responsible first and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41406" y="4613880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foremost for Exos financial accuracy: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41406" y="4789135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reporting, controls, diligence, and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41406" y="4964391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public-listing (TXSE) prep.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20831" y="3657594"/>
            <a:ext cx="3505112" cy="2285942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518947" y="3886188"/>
            <a:ext cx="7315200" cy="2590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066CC"/>
                </a:solidFill>
                <a:latin typeface="Arial"/>
              </a:rPr>
              <a:t>Phil Eaton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18947" y="4152881"/>
            <a:ext cx="7315200" cy="1683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Propulsion &amp; Recovery Design Engineer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18947" y="4438624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Exos's core engine — designs the propulsion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18947" y="4613880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and recovery systems that make reusable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18947" y="4789135"/>
            <a:ext cx="7315200" cy="174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flight and intact hardware recovery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711" y="123251"/>
            <a:ext cx="12191695" cy="609584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5291" y="607898"/>
            <a:ext cx="7315200" cy="4096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A1628"/>
                </a:solidFill>
                <a:latin typeface="Arial"/>
              </a:rPr>
              <a:t>ANSWERING THE COMMISSION'S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91" y="962308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>
                <a:solidFill>
                  <a:srgbClr val="141414"/>
                </a:solidFill>
                <a:latin typeface="Arial"/>
              </a:rPr>
              <a:t>On the terms of the Maritime Industrial Base Working Group — their concern, our answer.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291" y="1231659"/>
            <a:ext cx="11341111" cy="21264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7937" y="1508099"/>
            <a:ext cx="7315200" cy="253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5A6B7D"/>
                </a:solidFill>
                <a:latin typeface="Arial"/>
              </a:rPr>
              <a:t>THE COMMISSION'S CONCERN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9375" y="1508099"/>
            <a:ext cx="7315200" cy="253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066CC"/>
                </a:solidFill>
                <a:latin typeface="Arial"/>
              </a:rPr>
              <a:t>EXOS'S ANSWER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25291" y="1770362"/>
            <a:ext cx="11341112" cy="0"/>
          </a:xfrm>
          <a:prstGeom prst="bentConnector3">
            <a:avLst/>
          </a:prstGeom>
          <a:ln w="952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5444" y="2073028"/>
            <a:ext cx="11341111" cy="793877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7937" y="2103507"/>
            <a:ext cx="7315200" cy="3253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Can the U.S. base build,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7" y="2387035"/>
            <a:ext cx="7315200" cy="3253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sustain, and SURGE?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2559" y="2125921"/>
            <a:ext cx="4825039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en-US" sz="1200" b="0" dirty="0">
                <a:solidFill>
                  <a:srgbClr val="141414"/>
                </a:solidFill>
                <a:latin typeface="Arial"/>
              </a:rPr>
              <a:t>IF we learn how to enable commercialization and support expansion by </a:t>
            </a:r>
            <a:endParaRPr sz="1200" b="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132559" y="2381096"/>
            <a:ext cx="4749249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141414"/>
                </a:solidFill>
                <a:latin typeface="Arial"/>
              </a:rPr>
              <a:t>leveraging business AI to multiply productivity and utilize the standing </a:t>
            </a:r>
            <a:endParaRPr sz="1200" b="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32559" y="2636271"/>
            <a:ext cx="5144037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141414"/>
                </a:solidFill>
                <a:latin typeface="Arial"/>
              </a:rPr>
              <a:t>production capacity to 85% then support targeted growth like OSC intended</a:t>
            </a:r>
            <a:endParaRPr sz="1200" b="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27267" y="2986509"/>
            <a:ext cx="43282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7" y="2996620"/>
            <a:ext cx="7315200" cy="3253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Supplier-tier health: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7" y="3280147"/>
            <a:ext cx="7315200" cy="3253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composites &amp; propulsion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2559" y="3065730"/>
            <a:ext cx="7315200" cy="2771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Own the resin → tank → vehicle stack; domestic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2559" y="3320905"/>
            <a:ext cx="7315200" cy="2771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propulsion options (GTL RDRE, Vaya hybrid motors)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444" y="3615170"/>
            <a:ext cx="11341111" cy="793877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937" y="3889732"/>
            <a:ext cx="7315200" cy="3253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Workforce scarcity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2559" y="3795349"/>
            <a:ext cx="7315200" cy="2771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AI-native operations; standard robots now, humanoids for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32559" y="4050524"/>
            <a:ext cx="7315200" cy="2771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the 2nd &amp; 3rd shift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937" y="4782845"/>
            <a:ext cx="7315200" cy="3253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Speed — cut acquisition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937" y="5066373"/>
            <a:ext cx="7315200" cy="3253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friction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32558" y="4765662"/>
            <a:ext cx="7315200" cy="2771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OTA on-ramp, SBIR Phase III, firm-fixed-price — buy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32558" y="5050877"/>
            <a:ext cx="7315200" cy="2771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outcomes, not oversight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291" y="5555458"/>
            <a:ext cx="11341111" cy="737172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438247" y="5683045"/>
            <a:ext cx="7315200" cy="3855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WE ARE THE PROFILE YOU'RE STUDYING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38247" y="5994926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CBD8E8"/>
                </a:solidFill>
                <a:latin typeface="Arial"/>
              </a:rPr>
              <a:t>a small, non-traditional, agile supplier — and our answer runs through your own levers.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1076"/>
            <a:ext cx="12191695" cy="609584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5291" y="636251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THE COMMISSION'S 8 QUESTIONS — DIRECT RESPONSES (1–4)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91" y="962308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>
                <a:solidFill>
                  <a:srgbClr val="141414"/>
                </a:solidFill>
                <a:latin typeface="Arial"/>
              </a:rPr>
              <a:t>Every question: a prepared answer, linked to the hardware, process, and vision that backs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291" y="1231659"/>
            <a:ext cx="11341111" cy="21264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7937" y="1486834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A6B7D"/>
                </a:solidFill>
                <a:latin typeface="Arial"/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1451" y="1486834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66CC"/>
                </a:solidFill>
                <a:latin typeface="Arial"/>
              </a:rPr>
              <a:t>PREPARED 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89361" y="1486834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EVIDENCE &amp; LINKAGE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5291" y="1742009"/>
            <a:ext cx="11341112" cy="0"/>
          </a:xfrm>
          <a:prstGeom prst="bentConnector3">
            <a:avLst/>
          </a:prstGeom>
          <a:ln w="952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25291" y="1869597"/>
            <a:ext cx="11341111" cy="985259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3761" y="2011361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1 · Overview of current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761" y="2266536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work, programs &amp;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761" y="2521711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capabilities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1451" y="2039713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Reusable suborbital flight-test &amp; de-risk platform — BLK3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1451" y="2266536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(FAA-licensed 3/13/26, ~2-day turnaround — a design target); active USAF HVRR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1451" y="2493358"/>
            <a:ext cx="4179029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vehicle build (</a:t>
            </a:r>
            <a:r>
              <a:rPr lang="en-US" sz="1200" b="0" dirty="0">
                <a:solidFill>
                  <a:srgbClr val="141414"/>
                </a:solidFill>
                <a:latin typeface="Arial"/>
              </a:rPr>
              <a:t>RDRE </a:t>
            </a:r>
            <a:r>
              <a:rPr sz="1200" b="0" dirty="0">
                <a:solidFill>
                  <a:srgbClr val="141414"/>
                </a:solidFill>
                <a:latin typeface="Arial"/>
              </a:rPr>
              <a:t>propulsion GFE); Project KARMEN rapid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1451" y="2720180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reconstitution; 18% of Scorpius (lunar-flown Type-5 tanks).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9361" y="2053890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Slides: Exos Story ·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9361" y="2266536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KARMEN · How the pieces play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9361" y="2479181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together. Tour: composites,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89361" y="2691827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integration, BLK3.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761" y="3067502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2 · 5-year workload 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761" y="3322677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man-hours (waterfall)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1451" y="3095854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Built from our 5-year financial model ($1.55M→$120M by program: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1451" y="3322677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Scorpius, HVRR/TACFI-STRATFI, BLK4, payload). Man-hour equivalent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1451" y="3549499"/>
            <a:ext cx="4680769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shown; final headcount plan to confirm.</a:t>
            </a:r>
            <a:r>
              <a:rPr lang="en-US" sz="1200" b="0" dirty="0">
                <a:solidFill>
                  <a:srgbClr val="141414"/>
                </a:solidFill>
                <a:latin typeface="Arial"/>
              </a:rPr>
              <a:t> 5-yr capital: $25M equity (expanded) + ~$59.7M CapEx, $38M debt-financed</a:t>
            </a:r>
            <a:endParaRPr sz="1200" b="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789361" y="3110031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Slide: 5-Year Workload Projection.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89361" y="3322677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Basis: Exos financial model.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5291" y="3981879"/>
            <a:ext cx="11341111" cy="985259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3761" y="4123643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3 · Recruitment,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761" y="4378818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retention &amp; attrition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761" y="4633993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(WC/BC)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1451" y="4045209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Small senior core with heavy AI-native leverage; scarce trades 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31451" y="4272032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composites &amp; propulsion techs; cross-training, apprenticeships &amp;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1451" y="4498854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university pipelines. Standard bots + humanoids backfill the gap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1451" y="4725676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(quantified). Attrition/hiring figures to follow.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89361" y="4166172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Slides: Automation Rollout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9361" y="4378818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(quantified) · The automation gap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89361" y="4591463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· Mission Control.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7937" y="5164841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4 · Critical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3761" y="5434959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skills/trades 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761" y="5690134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shortfall strategy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1451" y="5208136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Scarce: composites layup/bonding/NDE, propulsion test,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31451" y="5434959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licensed-vehicle integration. Strategy: AI augmentation, standard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1451" y="5661781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robots now + humanoids on 2nd/3rd shift, workforce training as 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1451" y="5888603"/>
            <a:ext cx="4086055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line of business.</a:t>
            </a:r>
            <a:r>
              <a:rPr lang="en-US" sz="1200" b="0" dirty="0">
                <a:solidFill>
                  <a:srgbClr val="141414"/>
                </a:solidFill>
                <a:latin typeface="Arial"/>
              </a:rPr>
              <a:t>  Requires access to latest humanoid robots</a:t>
            </a:r>
            <a:endParaRPr sz="1200" b="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789361" y="5222313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Slides: The automation gap 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89361" y="5434959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Output grows with shifts. Tour: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89361" y="5647604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composites/build.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4864" y="213638"/>
            <a:ext cx="12191695" cy="609584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5291" y="636251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THE COMMISSION'S 8 QUESTIONS — DIRECT RESPONSES (5–8)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91" y="962308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>
                <a:solidFill>
                  <a:srgbClr val="141414"/>
                </a:solidFill>
                <a:latin typeface="Arial"/>
              </a:rPr>
              <a:t>Prepared answers, linked to supporting evidence in this deck and on the facilities tour.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291" y="1231659"/>
            <a:ext cx="11341111" cy="21264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7937" y="1486834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A6B7D"/>
                </a:solidFill>
                <a:latin typeface="Arial"/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1451" y="1486834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66CC"/>
                </a:solidFill>
                <a:latin typeface="Arial"/>
              </a:rPr>
              <a:t>PREPARED 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89361" y="1486834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EVIDENCE &amp; LINKAGE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5291" y="1742009"/>
            <a:ext cx="11341112" cy="0"/>
          </a:xfrm>
          <a:prstGeom prst="bentConnector3">
            <a:avLst/>
          </a:prstGeom>
          <a:ln w="952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25291" y="1869597"/>
            <a:ext cx="11341111" cy="868303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3761" y="2011361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5 · Facilities capital 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761" y="2266536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planned improvements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1451" y="2039713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Minimal fixed infrastructure (pad + power/comms; mobile command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1451" y="2266536"/>
            <a:ext cx="4792979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module). Planned: BLK4 </a:t>
            </a:r>
            <a:r>
              <a:rPr lang="en-US" sz="1200" dirty="0">
                <a:solidFill>
                  <a:srgbClr val="141414"/>
                </a:solidFill>
                <a:latin typeface="Arial"/>
              </a:rPr>
              <a:t>RDRE </a:t>
            </a:r>
            <a:r>
              <a:rPr sz="1200" b="0" dirty="0">
                <a:solidFill>
                  <a:srgbClr val="141414"/>
                </a:solidFill>
                <a:latin typeface="Arial"/>
              </a:rPr>
              <a:t>build-out, propulsion/test infrastructure,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1451" y="2493358"/>
            <a:ext cx="4092467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parallel payload integration. Capex figures to </a:t>
            </a:r>
            <a:r>
              <a:rPr lang="en-US" sz="1200" dirty="0">
                <a:solidFill>
                  <a:srgbClr val="141414"/>
                </a:solidFill>
                <a:latin typeface="Arial"/>
              </a:rPr>
              <a:t>5yr ~$59.7M total</a:t>
            </a:r>
            <a:endParaRPr sz="1200" b="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789361" y="2053890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Slides: What the anchor capital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9361" y="2266536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buys · The pilot fund. Tour: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9361" y="2479181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Greenville facility.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61" y="2950546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6 · Supply-chain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761" y="3205721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challenges (booked &amp;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761" y="3460896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anticipated)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1451" y="2978899"/>
            <a:ext cx="4648708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Composite raw materials</a:t>
            </a:r>
            <a:r>
              <a:rPr lang="en-US" sz="1200" b="0" dirty="0">
                <a:solidFill>
                  <a:srgbClr val="141414"/>
                </a:solidFill>
                <a:latin typeface="Arial"/>
              </a:rPr>
              <a:t> (carbon fiber)</a:t>
            </a:r>
            <a:r>
              <a:rPr sz="1200" b="0" dirty="0">
                <a:solidFill>
                  <a:srgbClr val="141414"/>
                </a:solidFill>
                <a:latin typeface="Arial"/>
              </a:rPr>
              <a:t> &amp; specialty resins (lead time)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1451" y="3205721"/>
            <a:ext cx="5166479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lang="en-US" sz="1200" dirty="0">
                <a:solidFill>
                  <a:srgbClr val="141414"/>
                </a:solidFill>
                <a:latin typeface="Arial"/>
              </a:rPr>
              <a:t>— mitigated </a:t>
            </a:r>
            <a:r>
              <a:rPr sz="1200" b="0" dirty="0">
                <a:solidFill>
                  <a:srgbClr val="141414"/>
                </a:solidFill>
                <a:latin typeface="Arial"/>
              </a:rPr>
              <a:t>by owning the </a:t>
            </a:r>
            <a:r>
              <a:rPr sz="1200" b="0" dirty="0" err="1">
                <a:solidFill>
                  <a:srgbClr val="141414"/>
                </a:solidFill>
                <a:latin typeface="Arial"/>
              </a:rPr>
              <a:t>resin→tank→vehicle</a:t>
            </a:r>
            <a:r>
              <a:rPr sz="1200" b="0" dirty="0">
                <a:solidFill>
                  <a:srgbClr val="141414"/>
                </a:solidFill>
                <a:latin typeface="Arial"/>
              </a:rPr>
              <a:t> stack; propulsion long-lead;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1451" y="3432544"/>
            <a:ext cx="5421356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commodity avionics. </a:t>
            </a:r>
            <a:r>
              <a:rPr lang="en-US" sz="1200" b="0" dirty="0">
                <a:solidFill>
                  <a:srgbClr val="141414"/>
                </a:solidFill>
                <a:latin typeface="Arial"/>
              </a:rPr>
              <a:t>Bulk buys and </a:t>
            </a:r>
            <a:r>
              <a:rPr sz="1200" b="0" dirty="0">
                <a:solidFill>
                  <a:srgbClr val="141414"/>
                </a:solidFill>
                <a:latin typeface="Arial"/>
              </a:rPr>
              <a:t>Low unit count </a:t>
            </a:r>
            <a:r>
              <a:rPr lang="en-US" sz="1200" dirty="0">
                <a:solidFill>
                  <a:srgbClr val="141414"/>
                </a:solidFill>
                <a:latin typeface="Arial"/>
              </a:rPr>
              <a:t>of reusables =less </a:t>
            </a:r>
            <a:r>
              <a:rPr sz="1200" b="0" dirty="0">
                <a:solidFill>
                  <a:srgbClr val="141414"/>
                </a:solidFill>
                <a:latin typeface="Arial"/>
              </a:rPr>
              <a:t>exposure.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9361" y="2993076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Slides: How the pieces play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89361" y="3205721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together · What the anchor capital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89361" y="3418367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buys.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291" y="3747968"/>
            <a:ext cx="11341111" cy="868303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7937" y="3889732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7 · Surge capacity of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761" y="4144907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plant/equipment &amp; supply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761" y="4400082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45262" y="3718197"/>
            <a:ext cx="5051511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Reuse = more tests per unit built (~2-day turnaround — a design target); KARMEN offered to</a:t>
            </a:r>
            <a:r>
              <a:rPr lang="en-US" sz="1200" dirty="0">
                <a:solidFill>
                  <a:srgbClr val="141414"/>
                </a:solidFill>
                <a:latin typeface="Arial"/>
              </a:rPr>
              <a:t/>
            </a:r>
            <a:endParaRPr sz="1200" b="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345262" y="3945019"/>
            <a:ext cx="4748801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fl</a:t>
            </a:r>
            <a:r>
              <a:rPr lang="en-US" sz="1200" b="0" dirty="0">
                <a:solidFill>
                  <a:srgbClr val="141414"/>
                </a:solidFill>
                <a:latin typeface="Arial"/>
              </a:rPr>
              <a:t>y</a:t>
            </a:r>
            <a:r>
              <a:rPr sz="1200" b="0" dirty="0">
                <a:solidFill>
                  <a:srgbClr val="141414"/>
                </a:solidFill>
                <a:latin typeface="Arial"/>
              </a:rPr>
              <a:t> to space twice in 48 </a:t>
            </a:r>
            <a:r>
              <a:rPr sz="1200" b="0" dirty="0" err="1">
                <a:solidFill>
                  <a:srgbClr val="141414"/>
                </a:solidFill>
                <a:latin typeface="Arial"/>
              </a:rPr>
              <a:t>hrs</a:t>
            </a:r>
            <a:r>
              <a:rPr lang="en-US" sz="1200" b="0" dirty="0">
                <a:solidFill>
                  <a:srgbClr val="141414"/>
                </a:solidFill>
                <a:latin typeface="Arial"/>
              </a:rPr>
              <a:t> for $3M</a:t>
            </a:r>
            <a:r>
              <a:rPr sz="1200" b="0" dirty="0">
                <a:solidFill>
                  <a:srgbClr val="141414"/>
                </a:solidFill>
                <a:latin typeface="Arial"/>
              </a:rPr>
              <a:t>. A reusable LIQUID platform burns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45262" y="4171841"/>
            <a:ext cx="5142433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no SRM per flight </a:t>
            </a:r>
            <a:r>
              <a:rPr lang="en-US" sz="1200" b="0" dirty="0">
                <a:solidFill>
                  <a:srgbClr val="141414"/>
                </a:solidFill>
                <a:latin typeface="Arial"/>
              </a:rPr>
              <a:t>– underutilized rocket winders can produce motor casings</a:t>
            </a:r>
            <a:endParaRPr sz="1200" b="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345262" y="4398664"/>
            <a:ext cx="5333191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en-US" sz="1200" b="0" dirty="0">
                <a:solidFill>
                  <a:srgbClr val="141414"/>
                </a:solidFill>
                <a:latin typeface="Arial"/>
              </a:rPr>
              <a:t> and support </a:t>
            </a:r>
            <a:r>
              <a:rPr sz="1200" b="0" dirty="0">
                <a:solidFill>
                  <a:srgbClr val="141414"/>
                </a:solidFill>
                <a:latin typeface="Arial"/>
              </a:rPr>
              <a:t>weapons surge; </a:t>
            </a:r>
            <a:r>
              <a:rPr lang="en-US" sz="1200" b="0" dirty="0">
                <a:solidFill>
                  <a:srgbClr val="141414"/>
                </a:solidFill>
                <a:latin typeface="Arial"/>
              </a:rPr>
              <a:t>build more by </a:t>
            </a:r>
            <a:r>
              <a:rPr sz="1200" b="0" dirty="0">
                <a:solidFill>
                  <a:srgbClr val="141414"/>
                </a:solidFill>
                <a:latin typeface="Arial"/>
              </a:rPr>
              <a:t>automat</a:t>
            </a:r>
            <a:r>
              <a:rPr lang="en-US" sz="1200" b="0" dirty="0">
                <a:solidFill>
                  <a:srgbClr val="141414"/>
                </a:solidFill>
                <a:latin typeface="Arial"/>
              </a:rPr>
              <a:t>ing</a:t>
            </a:r>
            <a:r>
              <a:rPr sz="1200" b="0" dirty="0">
                <a:solidFill>
                  <a:srgbClr val="141414"/>
                </a:solidFill>
                <a:latin typeface="Arial"/>
              </a:rPr>
              <a:t> </a:t>
            </a:r>
            <a:r>
              <a:rPr lang="en-US" sz="1200" dirty="0">
                <a:solidFill>
                  <a:srgbClr val="141414"/>
                </a:solidFill>
                <a:latin typeface="Arial"/>
              </a:rPr>
              <a:t>Industry 2</a:t>
            </a:r>
            <a:r>
              <a:rPr sz="1200" b="0" dirty="0">
                <a:solidFill>
                  <a:srgbClr val="141414"/>
                </a:solidFill>
                <a:latin typeface="Arial"/>
              </a:rPr>
              <a:t>nd/3rd shift</a:t>
            </a:r>
            <a:r>
              <a:rPr lang="en-US" sz="1200" b="0" dirty="0">
                <a:solidFill>
                  <a:srgbClr val="141414"/>
                </a:solidFill>
                <a:latin typeface="Arial"/>
              </a:rPr>
              <a:t>s</a:t>
            </a:r>
            <a:r>
              <a:rPr sz="1200" b="0" dirty="0">
                <a:solidFill>
                  <a:srgbClr val="141414"/>
                </a:solidFill>
                <a:latin typeface="Arial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89361" y="3932261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Slides: Project KARMEN · Output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89361" y="4144907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grows with shifts · Cost-share.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761" y="4828918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8 · Productivity 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761" y="5084093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relief from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761" y="5339268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A1628"/>
                </a:solidFill>
                <a:latin typeface="Arial"/>
              </a:rPr>
              <a:t>law/reg/policy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31756" y="4692115"/>
            <a:ext cx="5066643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en-US" sz="1200" b="0" dirty="0">
                <a:solidFill>
                  <a:srgbClr val="141414"/>
                </a:solidFill>
                <a:latin typeface="Arial"/>
              </a:rPr>
              <a:t>Enable </a:t>
            </a:r>
            <a:r>
              <a:rPr sz="1200" b="0" dirty="0">
                <a:solidFill>
                  <a:srgbClr val="141414"/>
                </a:solidFill>
                <a:latin typeface="Arial"/>
              </a:rPr>
              <a:t>AI-native </a:t>
            </a:r>
            <a:r>
              <a:rPr lang="en-US" sz="1200" b="0" dirty="0">
                <a:solidFill>
                  <a:srgbClr val="141414"/>
                </a:solidFill>
                <a:latin typeface="Arial"/>
              </a:rPr>
              <a:t>management </a:t>
            </a:r>
            <a:r>
              <a:rPr sz="1200" b="0" dirty="0">
                <a:solidFill>
                  <a:srgbClr val="141414"/>
                </a:solidFill>
                <a:latin typeface="Arial"/>
              </a:rPr>
              <a:t>ops &amp; reusability as productivity multipliers.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31756" y="4918937"/>
            <a:ext cx="4714432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lang="en-US" sz="1200" dirty="0">
                <a:solidFill>
                  <a:srgbClr val="141414"/>
                </a:solidFill>
                <a:latin typeface="Arial"/>
              </a:rPr>
              <a:t>Relief: </a:t>
            </a:r>
            <a:r>
              <a:rPr sz="1200" b="0" dirty="0">
                <a:solidFill>
                  <a:srgbClr val="141414"/>
                </a:solidFill>
                <a:latin typeface="Arial"/>
              </a:rPr>
              <a:t>right-size Part 450, predictable range/airspace, small-business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1756" y="5145759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ITAR/EAR safe-harbors, fuller SBIR Phase III, move to OTA + FFP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31756" y="5372581"/>
            <a:ext cx="4446282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141414"/>
                </a:solidFill>
                <a:latin typeface="Arial"/>
              </a:rPr>
              <a:t>(buy outcomes).</a:t>
            </a:r>
            <a:r>
              <a:rPr lang="en-US" sz="1200" b="0" dirty="0">
                <a:solidFill>
                  <a:srgbClr val="141414"/>
                </a:solidFill>
                <a:latin typeface="Arial"/>
              </a:rPr>
              <a:t> Support International Trade Zone (DHS CRADA)</a:t>
            </a:r>
            <a:endParaRPr sz="1200" b="0" dirty="0">
              <a:solidFill>
                <a:srgbClr val="141414"/>
              </a:solidFill>
              <a:latin typeface="Arial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789361" y="4871447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Slides: Mission Control · The OTA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9361" y="5084093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Arial"/>
              </a:rPr>
              <a:t>model is the home · The ask.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5291" y="5711398"/>
            <a:ext cx="11341111" cy="425291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438247" y="5824809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CBD8E8"/>
                </a:solidFill>
                <a:latin typeface="Arial"/>
              </a:rPr>
              <a:t>Facilities tour — composites/build → integration → test → hover/ops. The live hardware is the physical evidence behind Q1, Q4, Q5 &amp; Q6.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9312"/>
            <a:ext cx="12191695" cy="6379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5291" y="480310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5-YEAR WORKLOAD PROJECTION — FROM OUR FINANCIAL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91" y="806367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>
                <a:solidFill>
                  <a:srgbClr val="141414"/>
                </a:solidFill>
                <a:latin typeface="Arial"/>
              </a:rPr>
              <a:t>Workload driven by the Exos 5-year revenue plan (model v9, Cash Flow conservative / building-financed case), by program. Fiscal years begin in July — spans 2027–2032; man-hours illustrative.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291" y="1075719"/>
            <a:ext cx="11341111" cy="21264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96173" y="1302541"/>
            <a:ext cx="155940" cy="15594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8819" y="1323806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BLK4 launcher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005959" y="1302541"/>
            <a:ext cx="155940" cy="1559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18604" y="1323806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Scorpius tanks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93714" y="1302541"/>
            <a:ext cx="155940" cy="155940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06360" y="1323806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Propulsion (RDRE/TACFI/STRATFI)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06962" y="1302541"/>
            <a:ext cx="155940" cy="1559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19608" y="1323806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SARGE / other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88520" y="4747404"/>
            <a:ext cx="10419647" cy="0"/>
          </a:xfrm>
          <a:prstGeom prst="bentConnector3">
            <a:avLst/>
          </a:prstGeom>
          <a:ln w="10632">
            <a:solidFill>
              <a:srgbClr val="0A16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168987" y="4642130"/>
            <a:ext cx="1204993" cy="105273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168987" y="4531843"/>
            <a:ext cx="1204993" cy="110286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168987" y="4519311"/>
            <a:ext cx="1204993" cy="1253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-886115" y="4292489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  <a:latin typeface="Arial"/>
              </a:rPr>
              <a:t>$9.1M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886115" y="4860815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  <a:latin typeface="Arial"/>
              </a:rPr>
              <a:t>2027E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886115" y="5080549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6B00"/>
                </a:solidFill>
                <a:latin typeface="Arial"/>
              </a:rPr>
              <a:t>~57k hrs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-886115" y="5257754"/>
            <a:ext cx="7315200" cy="1686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5A6B7D"/>
                </a:solidFill>
                <a:latin typeface="Arial"/>
              </a:rPr>
              <a:t>~30 FTE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7858" y="4531843"/>
            <a:ext cx="1204993" cy="21556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167858" y="4366413"/>
            <a:ext cx="1204993" cy="165430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67858" y="4218529"/>
            <a:ext cx="1204993" cy="147884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12755" y="3991707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  <a:latin typeface="Arial"/>
              </a:rPr>
              <a:t>$21.1M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2755" y="4860815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  <a:latin typeface="Arial"/>
              </a:rPr>
              <a:t>2028E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2755" y="5080549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6B00"/>
                </a:solidFill>
                <a:latin typeface="Arial"/>
              </a:rPr>
              <a:t>~101k hrs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2755" y="5257754"/>
            <a:ext cx="7315200" cy="1686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5A6B7D"/>
                </a:solidFill>
                <a:latin typeface="Arial"/>
              </a:rPr>
              <a:t>~53 FTE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66729" y="4669702"/>
            <a:ext cx="1204993" cy="77702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166729" y="4298737"/>
            <a:ext cx="1204993" cy="3709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66729" y="3992942"/>
            <a:ext cx="1204993" cy="305794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166729" y="3807460"/>
            <a:ext cx="1204993" cy="18548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111626" y="3580638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  <a:latin typeface="Arial"/>
              </a:rPr>
              <a:t>$37.5M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11626" y="4860815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  <a:latin typeface="Arial"/>
              </a:rPr>
              <a:t>2029E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11626" y="5080549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6B00"/>
                </a:solidFill>
                <a:latin typeface="Arial"/>
              </a:rPr>
              <a:t>~129k hrs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11626" y="5257754"/>
            <a:ext cx="7315200" cy="1686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5A6B7D"/>
                </a:solidFill>
                <a:latin typeface="Arial"/>
              </a:rPr>
              <a:t>~68 FTE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11626" y="5427870"/>
            <a:ext cx="7315200" cy="1445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22C55E"/>
                </a:solidFill>
                <a:latin typeface="Arial"/>
              </a:rPr>
              <a:t>+ humanoids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65600" y="4373933"/>
            <a:ext cx="1204993" cy="37347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165600" y="3830019"/>
            <a:ext cx="1204993" cy="54391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165600" y="3484120"/>
            <a:ext cx="1204993" cy="345899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165600" y="3205896"/>
            <a:ext cx="1204993" cy="278223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110497" y="2979074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  <a:latin typeface="Arial"/>
              </a:rPr>
              <a:t>$61.6M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10497" y="4860815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  <a:latin typeface="Arial"/>
              </a:rPr>
              <a:t>2030E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10497" y="5080549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6B00"/>
                </a:solidFill>
                <a:latin typeface="Arial"/>
              </a:rPr>
              <a:t>~167k hrs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10497" y="5257754"/>
            <a:ext cx="7315200" cy="1686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5A6B7D"/>
                </a:solidFill>
                <a:latin typeface="Arial"/>
              </a:rPr>
              <a:t>~88 FTE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10497" y="5427870"/>
            <a:ext cx="7315200" cy="1445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22C55E"/>
                </a:solidFill>
                <a:latin typeface="Arial"/>
              </a:rPr>
              <a:t>+ humanoids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164471" y="3702186"/>
            <a:ext cx="1204993" cy="1045217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10164471" y="2774775"/>
            <a:ext cx="1204993" cy="927411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0164471" y="2225848"/>
            <a:ext cx="1204993" cy="548927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10164471" y="1699480"/>
            <a:ext cx="1204993" cy="52636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109368" y="1472658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  <a:latin typeface="Arial"/>
              </a:rPr>
              <a:t>$121.6M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09368" y="4860815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  <a:latin typeface="Arial"/>
              </a:rPr>
              <a:t>2031E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09368" y="5080549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6B00"/>
                </a:solidFill>
                <a:latin typeface="Arial"/>
              </a:rPr>
              <a:t>~272k hrs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09368" y="5257754"/>
            <a:ext cx="7315200" cy="1686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5A6B7D"/>
                </a:solidFill>
                <a:latin typeface="Arial"/>
              </a:rPr>
              <a:t>~143 FTE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09368" y="5427870"/>
            <a:ext cx="7315200" cy="1445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22C55E"/>
                </a:solidFill>
                <a:latin typeface="Arial"/>
              </a:rPr>
              <a:t>+ humanoids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126458" y="1883773"/>
            <a:ext cx="4890854" cy="1119934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339104" y="2082242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6B00"/>
                </a:solidFill>
                <a:latin typeface="Arial"/>
              </a:rPr>
              <a:t>HUMANOIDS IN THE MODEL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39104" y="2323241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Revenue scales ~13× (2027→2032); human headcount only ~5×.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39104" y="2542975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CBD8E8"/>
                </a:solidFill>
                <a:latin typeface="Arial"/>
              </a:rPr>
              <a:t>Humanoids + Mission Control cover the 2nd &amp; 3rd shift from 2029 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9104" y="2713092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CBD8E8"/>
                </a:solidFill>
                <a:latin typeface="Arial"/>
              </a:rPr>
              <a:t>the productivity lever that bends the man-hour curve down.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5291" y="5654693"/>
            <a:ext cx="11341111" cy="680466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FF6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37937" y="5803545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Revenue = Exos 5-year financial model v9 — Cash Flow (conservative, building-financed) case; fiscal years, Jul start, spans 2027–2032.  Standard bots + humanoids quantified next slide.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7937" y="6016191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Man-hours illustrative: revenue ÷ revenue-per-FTE (rising as standard robots + humanoids and Mission Control cover added shifts) × ~1,900 hrs/FTE. Headcount plan to confirm.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9312"/>
            <a:ext cx="12191695" cy="6379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5291" y="480310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AUTOMATION ROLLOUT — QUANTIFIED (STANDARD BOTS + HUMANOIDS)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91" y="806367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>
                <a:solidFill>
                  <a:srgbClr val="141414"/>
                </a:solidFill>
                <a:latin typeface="Arial"/>
              </a:rPr>
              <a:t>First rollout: 20% of humanoids run as standard bots — delivery lag + required bot CLI/integration builds — ramping to ~92% humanoid-capable by 2031.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291" y="1075719"/>
            <a:ext cx="11341111" cy="21264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6173" y="1472658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5A6B7D"/>
                </a:solidFill>
                <a:latin typeface="Arial"/>
              </a:rPr>
              <a:t>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9428" y="1472658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  <a:latin typeface="Arial"/>
              </a:rPr>
              <a:t>2027E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7067" y="1472658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  <a:latin typeface="Arial"/>
              </a:rPr>
              <a:t>2028E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4706" y="1472658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  <a:latin typeface="Arial"/>
              </a:rPr>
              <a:t>2029E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2345" y="1472658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  <a:latin typeface="Arial"/>
              </a:rPr>
              <a:t>2030E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99984" y="1472658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  <a:latin typeface="Arial"/>
              </a:rPr>
              <a:t>2031E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5291" y="1699480"/>
            <a:ext cx="11341112" cy="0"/>
          </a:xfrm>
          <a:prstGeom prst="bentConnector3">
            <a:avLst/>
          </a:prstGeom>
          <a:ln w="952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25291" y="1827067"/>
            <a:ext cx="11341111" cy="453644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4526" y="1968831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41414"/>
                </a:solidFill>
                <a:latin typeface="Arial"/>
              </a:rPr>
              <a:t>Standard bots (cumulative units)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9428" y="1968831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0">
                <a:solidFill>
                  <a:srgbClr val="141414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47067" y="1968831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0">
                <a:solidFill>
                  <a:srgbClr val="141414"/>
                </a:solidFill>
                <a:latin typeface="Arial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4706" y="1968831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0">
                <a:solidFill>
                  <a:srgbClr val="141414"/>
                </a:solidFill>
                <a:latin typeface="Arial"/>
              </a:rPr>
              <a:t>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2345" y="1968831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0">
                <a:solidFill>
                  <a:srgbClr val="141414"/>
                </a:solidFill>
                <a:latin typeface="Arial"/>
              </a:rPr>
              <a:t>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9984" y="1968831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0">
                <a:solidFill>
                  <a:srgbClr val="141414"/>
                </a:solidFill>
                <a:latin typeface="Arial"/>
              </a:rPr>
              <a:t>48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526" y="2493358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41414"/>
                </a:solidFill>
                <a:latin typeface="Arial"/>
              </a:rPr>
              <a:t>Humanoids ordered (cumulative units)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29428" y="2493358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0">
                <a:solidFill>
                  <a:srgbClr val="141414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47067" y="2493358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0">
                <a:solidFill>
                  <a:srgbClr val="141414"/>
                </a:solidFill>
                <a:latin typeface="Arial"/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706" y="2493358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0">
                <a:solidFill>
                  <a:srgbClr val="141414"/>
                </a:solidFill>
                <a:latin typeface="Arial"/>
              </a:rPr>
              <a:t>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2345" y="2493358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0">
                <a:solidFill>
                  <a:srgbClr val="141414"/>
                </a:solidFill>
                <a:latin typeface="Arial"/>
              </a:rPr>
              <a:t>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99984" y="2493358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0">
                <a:solidFill>
                  <a:srgbClr val="141414"/>
                </a:solidFill>
                <a:latin typeface="Arial"/>
              </a:rPr>
              <a:t>90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291" y="2876120"/>
            <a:ext cx="11341111" cy="453644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4526" y="3017884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A1628"/>
                </a:solidFill>
                <a:latin typeface="Arial"/>
              </a:rPr>
              <a:t>Humanoids productive (after 20% first-rollout +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526" y="3230530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A1628"/>
                </a:solidFill>
                <a:latin typeface="Arial"/>
              </a:rPr>
              <a:t>builds)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29428" y="3017884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066CC"/>
                </a:solidFill>
                <a:latin typeface="Arial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47067" y="3017884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066CC"/>
                </a:solidFill>
                <a:latin typeface="Arial"/>
              </a:rPr>
              <a:t>~2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706" y="3017884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066CC"/>
                </a:solidFill>
                <a:latin typeface="Arial"/>
              </a:rPr>
              <a:t>~13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2345" y="3017884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066CC"/>
                </a:solidFill>
                <a:latin typeface="Arial"/>
              </a:rPr>
              <a:t>~40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9984" y="3017884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066CC"/>
                </a:solidFill>
                <a:latin typeface="Arial"/>
              </a:rPr>
              <a:t>~83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4526" y="3542411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A1628"/>
                </a:solidFill>
                <a:latin typeface="Arial"/>
              </a:rPr>
              <a:t>Bot capex, cumulative ($M)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29428" y="3542411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6B00"/>
                </a:solidFill>
                <a:latin typeface="Arial"/>
              </a:rPr>
              <a:t>0.6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47067" y="3542411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6B00"/>
                </a:solidFill>
                <a:latin typeface="Arial"/>
              </a:rPr>
              <a:t>3.1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64706" y="3542411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6B00"/>
                </a:solidFill>
                <a:latin typeface="Arial"/>
              </a:rPr>
              <a:t>7.8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2345" y="3542411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6B00"/>
                </a:solidFill>
                <a:latin typeface="Arial"/>
              </a:rPr>
              <a:t>14.8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99984" y="3542411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6B00"/>
                </a:solidFill>
                <a:latin typeface="Arial"/>
              </a:rPr>
              <a:t>25.2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5291" y="3925173"/>
            <a:ext cx="11341111" cy="453644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24526" y="4066937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A1628"/>
                </a:solidFill>
                <a:latin typeface="Arial"/>
              </a:rPr>
              <a:t>FTE-equivalent labor offset (cumulative)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29428" y="4066937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Arial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47067" y="4066937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Arial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64706" y="4066937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Arial"/>
              </a:rPr>
              <a:t>59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2345" y="4066937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Arial"/>
              </a:rPr>
              <a:t>148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99984" y="4066937"/>
            <a:ext cx="7315200" cy="3132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Arial"/>
              </a:rPr>
              <a:t>296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5291" y="4492229"/>
            <a:ext cx="11341111" cy="793877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761" y="4655257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As a DIB supplier, early access to the latest standard and humanoid robots secures this capability against a challenging workforce-development environment.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3761" y="4945873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~$25M in bots → ~296 FTE-equivalent of surge labor by 2031 — the productivity behind ~$122M revenue on ~145 human staff.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5291" y="5371165"/>
            <a:ext cx="11341111" cy="524526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3761" y="5470400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ACCELERANT — early, targeted capital (e.g. DPA Title III / an OTA program) front-loads this rollout: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761" y="5661781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a focused early investment pulls the FTE-equivalent surge — and the revenue it unlocks — forward by ~12–18 months.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5291" y="6448571"/>
            <a:ext cx="7315200" cy="1445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Planning assumptions: standard bot ≈ $150K installed (~1.5 FTE offset); humanoid ≈ $200K all-in incl. CLI/integration build (~1.5 FTE at first rollout → ~2.7 FTE on 2nd/3rd shift at maturity).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9312"/>
            <a:ext cx="12191695" cy="6379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5291" y="480310"/>
            <a:ext cx="7315200" cy="361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5-YEAR CAPITAL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91" y="827632"/>
            <a:ext cx="7315200" cy="204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The $10M base case unlocks the plan; the live raise expands to $25M. Total capital to execute the full plan ≈ $110M (Exos CapEx + consortium pilot fund).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291" y="1075719"/>
            <a:ext cx="11341111" cy="21264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291" y="1302541"/>
            <a:ext cx="2636808" cy="3827625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584" y="1600245"/>
            <a:ext cx="7315200" cy="168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6B00"/>
                </a:solidFill>
                <a:latin typeface="Arial"/>
              </a:rPr>
              <a:t>EQUITY — BASE CASE (MODELED)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" y="1883773"/>
            <a:ext cx="7315200" cy="6506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$10M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1166" y="2167301"/>
            <a:ext cx="7315200" cy="168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BD8E8"/>
                </a:solidFill>
                <a:latin typeface="Arial"/>
              </a:rPr>
              <a:t>enabler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84" y="2422476"/>
            <a:ext cx="2268223" cy="0"/>
          </a:xfrm>
          <a:prstGeom prst="bentConnector3">
            <a:avLst/>
          </a:prstGeom>
          <a:ln w="9525">
            <a:solidFill>
              <a:srgbClr val="2A3F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09584" y="2635122"/>
            <a:ext cx="7315200" cy="168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Scorpius ROFR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-4437392" y="2613857"/>
            <a:ext cx="7315200" cy="204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2C55E"/>
                </a:solidFill>
                <a:latin typeface="Arial"/>
              </a:rPr>
              <a:t>$3.4M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" y="3003708"/>
            <a:ext cx="7315200" cy="168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RDRE / TACFI 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4437392" y="2982443"/>
            <a:ext cx="7315200" cy="204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2C55E"/>
                </a:solidFill>
                <a:latin typeface="Arial"/>
              </a:rPr>
              <a:t>$4.1M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584" y="3372294"/>
            <a:ext cx="7315200" cy="168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BLK3 vehicle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4437392" y="3351029"/>
            <a:ext cx="7315200" cy="204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2C55E"/>
                </a:solidFill>
                <a:latin typeface="Arial"/>
              </a:rPr>
              <a:t>$2.5M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1231" y="4364641"/>
            <a:ext cx="2324927" cy="637937"/>
          </a:xfrm>
          <a:prstGeom prst="roundRect">
            <a:avLst/>
          </a:prstGeom>
          <a:solidFill>
            <a:srgbClr val="12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819" y="4513493"/>
            <a:ext cx="7315200" cy="156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BD8E8"/>
                </a:solidFill>
                <a:latin typeface="Arial"/>
              </a:rPr>
              <a:t>Unlocks TACFI/STRATFI — without it the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819" y="4655257"/>
            <a:ext cx="7315200" cy="156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BD8E8"/>
                </a:solidFill>
                <a:latin typeface="Arial"/>
              </a:rPr>
              <a:t>plan doesn't start.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75511" y="1302541"/>
            <a:ext cx="2636808" cy="3827625"/>
          </a:xfrm>
          <a:prstGeom prst="roundRect">
            <a:avLst/>
          </a:prstGeom>
          <a:solidFill>
            <a:srgbClr val="0A1628"/>
          </a:solidFill>
          <a:ln w="31750">
            <a:solidFill>
              <a:srgbClr val="FF6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59804" y="1600245"/>
            <a:ext cx="7315200" cy="168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6B00"/>
                </a:solidFill>
                <a:latin typeface="Arial"/>
              </a:rPr>
              <a:t>EQUITY — EXPANDED (LIVE RAISE)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9804" y="1883773"/>
            <a:ext cx="7315200" cy="6506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$25M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1386" y="2167301"/>
            <a:ext cx="7315200" cy="168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BD8E8"/>
                </a:solidFill>
                <a:latin typeface="Arial"/>
              </a:rPr>
              <a:t>accelerator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359804" y="2422476"/>
            <a:ext cx="2268222" cy="0"/>
          </a:xfrm>
          <a:prstGeom prst="bentConnector3">
            <a:avLst/>
          </a:prstGeom>
          <a:ln w="9525">
            <a:solidFill>
              <a:srgbClr val="2A3F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359804" y="2642210"/>
            <a:ext cx="7315200" cy="156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Scorpius ROFR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-1687173" y="2613857"/>
            <a:ext cx="7315200" cy="204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2C55E"/>
                </a:solidFill>
                <a:latin typeface="Arial"/>
              </a:rPr>
              <a:t>$3.4M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59804" y="3010796"/>
            <a:ext cx="7315200" cy="156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RDRE development (GTL / MSFC)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-1687173" y="2982443"/>
            <a:ext cx="7315200" cy="204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2C55E"/>
                </a:solidFill>
                <a:latin typeface="Arial"/>
              </a:rPr>
              <a:t>$8.0M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59804" y="3379382"/>
            <a:ext cx="7315200" cy="156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BLK4 build (next-gen PSRLV)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1687173" y="3351029"/>
            <a:ext cx="7315200" cy="204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2C55E"/>
                </a:solidFill>
                <a:latin typeface="Arial"/>
              </a:rPr>
              <a:t>$9.0M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9804" y="3747968"/>
            <a:ext cx="7315200" cy="156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Working capital · Part 450 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59804" y="3876973"/>
            <a:ext cx="7315200" cy="156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contingency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-1687173" y="3719615"/>
            <a:ext cx="7315200" cy="204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2C55E"/>
                </a:solidFill>
                <a:latin typeface="Arial"/>
              </a:rPr>
              <a:t>$4.6M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31451" y="4364641"/>
            <a:ext cx="2324927" cy="637937"/>
          </a:xfrm>
          <a:prstGeom prst="roundRect">
            <a:avLst/>
          </a:prstGeom>
          <a:solidFill>
            <a:srgbClr val="12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59039" y="4513493"/>
            <a:ext cx="7315200" cy="156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BD8E8"/>
                </a:solidFill>
                <a:latin typeface="Arial"/>
              </a:rPr>
              <a:t>Adds the hardware path above the base 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59039" y="4655257"/>
            <a:ext cx="7315200" cy="156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BD8E8"/>
                </a:solidFill>
                <a:latin typeface="Arial"/>
              </a:rPr>
              <a:t>RDRE down-select + next-gen BLK4.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5847" y="1302541"/>
            <a:ext cx="5670555" cy="1828754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9AA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8493" y="1472658"/>
            <a:ext cx="7315200" cy="2409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1628"/>
                </a:solidFill>
                <a:latin typeface="Arial"/>
              </a:rPr>
              <a:t>5-YEAR CAPEX  —  ~$59.7M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308493" y="1727833"/>
            <a:ext cx="5245264" cy="0"/>
          </a:xfrm>
          <a:prstGeom prst="bentConnector3">
            <a:avLst/>
          </a:prstGeom>
          <a:ln w="952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308493" y="1905038"/>
            <a:ext cx="7315200" cy="204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Equipment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38557" y="1883773"/>
            <a:ext cx="7315200" cy="2409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066CC"/>
                </a:solidFill>
                <a:latin typeface="Arial"/>
              </a:rPr>
              <a:t>~$21.7M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8493" y="2124772"/>
            <a:ext cx="7315200" cy="168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Y1 $2.1M · Y2 $5.4M · Y3 $0.3M · Y4 $7.5M · Y5 $6.4M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8493" y="2500446"/>
            <a:ext cx="7315200" cy="204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Facilities  (Y4 $20M + Y5 $18M)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38557" y="2479181"/>
            <a:ext cx="7315200" cy="2409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6B00"/>
                </a:solidFill>
                <a:latin typeface="Arial"/>
              </a:rPr>
              <a:t>$38M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8493" y="2720180"/>
            <a:ext cx="7315200" cy="168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6B00"/>
                </a:solidFill>
                <a:latin typeface="Arial"/>
              </a:rPr>
              <a:t>DEBT-FINANCED via commercial mortgage — not equity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8493" y="2911561"/>
            <a:ext cx="7315200" cy="156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Equipment funded by the raise + internally generated cash.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95847" y="3258883"/>
            <a:ext cx="5670555" cy="1871283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8493" y="3457352"/>
            <a:ext cx="7315200" cy="1927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6B00"/>
                </a:solidFill>
                <a:latin typeface="Arial"/>
              </a:rPr>
              <a:t>OPERATIONS SELF-FUND FROM YEAR 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8493" y="3854291"/>
            <a:ext cx="7315200" cy="168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BD8E8"/>
                </a:solidFill>
                <a:latin typeface="Arial"/>
              </a:rPr>
              <a:t>Free cash flow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75419" y="4045672"/>
            <a:ext cx="7315200" cy="2289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BD8E8"/>
                </a:solidFill>
                <a:latin typeface="Arial"/>
              </a:rPr>
              <a:t>−$1.5M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75419" y="4272495"/>
            <a:ext cx="7315200" cy="1807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CBD8E8"/>
                </a:solidFill>
                <a:latin typeface="Arial"/>
              </a:rPr>
              <a:t>Y1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24472" y="4045672"/>
            <a:ext cx="7315200" cy="2289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BD8E8"/>
                </a:solidFill>
                <a:latin typeface="Arial"/>
              </a:rPr>
              <a:t>−$0.9M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24472" y="4272495"/>
            <a:ext cx="7315200" cy="1807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CBD8E8"/>
                </a:solidFill>
                <a:latin typeface="Arial"/>
              </a:rPr>
              <a:t>Y2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73525" y="4045672"/>
            <a:ext cx="7315200" cy="2289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2C55E"/>
                </a:solidFill>
                <a:latin typeface="Arial"/>
              </a:rPr>
              <a:t>+$9.3M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73525" y="4272495"/>
            <a:ext cx="7315200" cy="1807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CBD8E8"/>
                </a:solidFill>
                <a:latin typeface="Arial"/>
              </a:rPr>
              <a:t>Y3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2578" y="4045672"/>
            <a:ext cx="7315200" cy="2289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2C55E"/>
                </a:solidFill>
                <a:latin typeface="Arial"/>
              </a:rPr>
              <a:t>+$8.0M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22578" y="4272495"/>
            <a:ext cx="7315200" cy="1807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CBD8E8"/>
                </a:solidFill>
                <a:latin typeface="Arial"/>
              </a:rPr>
              <a:t>Y4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71631" y="4045672"/>
            <a:ext cx="7315200" cy="2289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2C55E"/>
                </a:solidFill>
                <a:latin typeface="Arial"/>
              </a:rPr>
              <a:t>+$32.9M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71631" y="4272495"/>
            <a:ext cx="7315200" cy="1807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CBD8E8"/>
                </a:solidFill>
                <a:latin typeface="Arial"/>
              </a:rPr>
              <a:t>Y5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08493" y="4563111"/>
            <a:ext cx="5245264" cy="453644"/>
          </a:xfrm>
          <a:prstGeom prst="roundRect">
            <a:avLst/>
          </a:prstGeom>
          <a:solidFill>
            <a:srgbClr val="12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50257" y="4704875"/>
            <a:ext cx="7315200" cy="168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The $10M covers the acquisition, the RDRE match, the BLK3 build,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50257" y="4846638"/>
            <a:ext cx="7315200" cy="168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and the Year 1–2 bridge.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25291" y="5229401"/>
            <a:ext cx="11341111" cy="552879"/>
          </a:xfrm>
          <a:prstGeom prst="round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2113" y="5371165"/>
            <a:ext cx="7315200" cy="2168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TOTAL 5-YEAR CAPITAL TO EXECUTE THE PLAN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2113" y="5576723"/>
            <a:ext cx="7315200" cy="1807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A1628"/>
                </a:solidFill>
                <a:latin typeface="Arial"/>
              </a:rPr>
              <a:t>~$59.7M  Exos CapEx     +     $50M  consortium pilot fund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38557" y="5342812"/>
            <a:ext cx="7315200" cy="3855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800" b="1">
                <a:solidFill>
                  <a:srgbClr val="FFFFFF"/>
                </a:solidFill>
                <a:latin typeface="Arial"/>
              </a:rPr>
              <a:t>≈ $110M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3644" y="5860250"/>
            <a:ext cx="7315200" cy="156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Base $10M modeled in v9; $25M expanded is the current target. Revenue, CapEx &amp; FCF per the model's Cash Flow (conservative) case; consortium pilot fund detailed on the pilot-fund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5485"/>
            <a:ext cx="12191695" cy="53870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5291" y="933955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STRANDED CAPITAL IS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91" y="1256468"/>
            <a:ext cx="7315200" cy="198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The competitive market already stranded enormous capacity — hundreds of millions, much of it just sitting idle.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25291" y="1486834"/>
            <a:ext cx="11341112" cy="0"/>
          </a:xfrm>
          <a:prstGeom prst="bentConnector3">
            <a:avLst/>
          </a:prstGeom>
          <a:ln w="952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25291" y="1646318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5A6B7D"/>
                </a:solidFill>
                <a:latin typeface="Arial"/>
              </a:rPr>
              <a:t>CAPITAL RAISED  →  OUTCOME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6173" y="2053890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A1628"/>
                </a:solidFill>
                <a:latin typeface="Arial"/>
              </a:rPr>
              <a:t>Virgin Orbit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72048" y="1926302"/>
            <a:ext cx="3331451" cy="368586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6911" y="2060978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$1B+  →  Chapter 11 (2023)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6173" y="2635122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A1628"/>
                </a:solidFill>
                <a:latin typeface="Arial"/>
              </a:rPr>
              <a:t>Astra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72048" y="2507534"/>
            <a:ext cx="1665725" cy="368586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51185" y="2642210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$500M  →  2 of 7 to orbit, taken private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6173" y="3216354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A1628"/>
                </a:solidFill>
                <a:latin typeface="Arial"/>
              </a:rPr>
              <a:t>ABL Space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72048" y="3088766"/>
            <a:ext cx="1535799" cy="368586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21259" y="3223442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$461M  →  RS1 failed, exited launch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6173" y="3797586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A1628"/>
                </a:solidFill>
                <a:latin typeface="Arial"/>
              </a:rPr>
              <a:t>Vector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72048" y="3669998"/>
            <a:ext cx="333145" cy="368586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218604" y="3804674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$100M  →  Chapter 11 (2019)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6173" y="4198069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+ Relativity — Terran 1 retired after a single flight → pivot.  Sector-wide: $300B+ into ~1,900 companies since 2009.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5833" y="1926302"/>
            <a:ext cx="3260569" cy="1063229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F6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90126" y="2011361"/>
            <a:ext cx="7315200" cy="5542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F6B00"/>
                </a:solidFill>
                <a:latin typeface="Arial"/>
              </a:rPr>
              <a:t>&lt;15%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90126" y="2500446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Virgin Orbit machine utilization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0126" y="2670563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last year — an 85% idle gap.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5833" y="3117119"/>
            <a:ext cx="3260569" cy="1063229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90126" y="3322677"/>
            <a:ext cx="7315200" cy="156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6B00"/>
                </a:solidFill>
                <a:latin typeface="Arial"/>
              </a:rPr>
              <a:t>WHAT EXOS CHANGES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90126" y="3538867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Astra could have reached orbit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90126" y="3694807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faster and far cheaper by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90126" y="3850747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de-risking on Exos reuse 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90126" y="4006687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recovery — it never did.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5291" y="4563111"/>
            <a:ext cx="11341111" cy="779701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438247" y="4676522"/>
            <a:ext cx="7315200" cy="4096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THE 85% IDLE GAP IS THE OPPORTUNITY.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38247" y="5045108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EAFBF0"/>
                </a:solidFill>
                <a:latin typeface="Arial"/>
              </a:rPr>
              <a:t>The consortium turns stranded capacity into national throughput — for a fraction of building new.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1076"/>
            <a:ext cx="12191695" cy="609584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5291" y="593722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WHY BURN-UP REENTRY DOESN'T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91" y="905602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The disposable model — deorbit and burn up — is already changing the stratosphere. At constellation scale it breaks.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291" y="1132424"/>
            <a:ext cx="11341111" cy="21264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25291" y="1373423"/>
            <a:ext cx="5670555" cy="3331451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6290" y="1678215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6B00"/>
                </a:solidFill>
                <a:latin typeface="Arial"/>
              </a:rPr>
              <a:t>THE STRATOSPHERE IS ALREADY CHANGING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290" y="1897949"/>
            <a:ext cx="7315200" cy="91579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10% → 50%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290" y="2624489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CBD8E8"/>
                </a:solidFill>
                <a:latin typeface="Arial"/>
              </a:rPr>
              <a:t>of stratospheric aerosol particles carry spacecraft-reentry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290" y="2780430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CBD8E8"/>
                </a:solidFill>
                <a:latin typeface="Arial"/>
              </a:rPr>
              <a:t>metals — today ~10%, rising toward 50%+ (NOAA, 2023)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290" y="2968267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8054" y="2978899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20+ exotic elements (aluminum, lithium, niobium, hafnium) matched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054" y="3120663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to rocket &amp; satellite alloys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290" y="3351029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054" y="3361662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Reentry metal influx now exceeds natural cosmic-dust influx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054" y="3503426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some metals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290" y="3733792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8054" y="3744424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First stratospheric pollution unquestionably tied to reentering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054" y="3886188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space debris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290" y="4116554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054" y="4127187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High-altitude stratospheric sampling, NASA WB-57 (NOAA SABRE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054" y="4268951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mission)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79375" y="1373423"/>
            <a:ext cx="5387028" cy="157357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77844" y="1550628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6B00"/>
                </a:solidFill>
                <a:latin typeface="Arial"/>
              </a:rPr>
              <a:t>THE 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7844" y="1819979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•  Constellations scaling to tens of thousands of satellites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7844" y="2131860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•  ~5-year lifespans → tens of thousands of reentries per year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77844" y="2443740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•  Deorbit-to-burn-up is the default disposal plan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79375" y="3117119"/>
            <a:ext cx="5387028" cy="1587755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77844" y="3294324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THE ANSWER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7844" y="3563675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•  Recover and reuse hardware — Exos recovery systems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7844" y="3875556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•  Service &amp; refuel in space, don't deorbit — Scorpius cryo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7844" y="4187436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•  depots and commercial stations extend life on orbit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5291" y="4889168"/>
            <a:ext cx="11341111" cy="637937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438247" y="4974226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DISPOSABLE BURN-UP DOESN'T SCALE — RECOVER, REUSE, REFUEL.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38247" y="5293195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EAFBF0"/>
                </a:solidFill>
                <a:latin typeface="Arial"/>
              </a:rPr>
              <a:t>reusability and in-space servicing aren't just cheaper — at constellation scale they're the only sustainable path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1076"/>
            <a:ext cx="12191695" cy="609584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5291" y="622074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THE AUTOMATION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91" y="944587"/>
            <a:ext cx="7315200" cy="198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The U.S. is behind on the standard robots that raise utilization — humanoids then fill what fixed automation can't.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291" y="1174954"/>
            <a:ext cx="11341111" cy="21264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5291" y="1465570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5A6B7D"/>
                </a:solidFill>
                <a:latin typeface="Arial"/>
              </a:rPr>
              <a:t>ROBOT DENSITY — industrial robots per 10,000 manufacturing workers (2024)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291" y="1968831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>
                <a:solidFill>
                  <a:srgbClr val="141414"/>
                </a:solidFill>
                <a:latin typeface="Arial"/>
              </a:rPr>
              <a:t>South Korea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51750" y="1798715"/>
            <a:ext cx="5245264" cy="467820"/>
          </a:xfrm>
          <a:prstGeom prst="round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24601" y="1940479"/>
            <a:ext cx="7315200" cy="2891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066CC"/>
                </a:solidFill>
                <a:latin typeface="Arial"/>
              </a:rPr>
              <a:t>1,220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91" y="2606769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>
                <a:solidFill>
                  <a:srgbClr val="141414"/>
                </a:solidFill>
                <a:latin typeface="Arial"/>
              </a:rPr>
              <a:t>Singapore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51750" y="2436652"/>
            <a:ext cx="3516906" cy="467820"/>
          </a:xfrm>
          <a:prstGeom prst="round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96244" y="2578416"/>
            <a:ext cx="7315200" cy="2891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066CC"/>
                </a:solidFill>
                <a:latin typeface="Arial"/>
              </a:rPr>
              <a:t>818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291" y="3244706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>
                <a:solidFill>
                  <a:srgbClr val="141414"/>
                </a:solidFill>
                <a:latin typeface="Arial"/>
              </a:rPr>
              <a:t>Germany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51750" y="3074590"/>
            <a:ext cx="1930429" cy="467820"/>
          </a:xfrm>
          <a:prstGeom prst="round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09766" y="3216354"/>
            <a:ext cx="7315200" cy="2891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066CC"/>
                </a:solidFill>
                <a:latin typeface="Arial"/>
              </a:rPr>
              <a:t>449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291" y="3882644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>
                <a:solidFill>
                  <a:srgbClr val="141414"/>
                </a:solidFill>
                <a:latin typeface="Arial"/>
              </a:rPr>
              <a:t>Japan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51750" y="3712527"/>
            <a:ext cx="1917531" cy="467820"/>
          </a:xfrm>
          <a:prstGeom prst="round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96868" y="3854291"/>
            <a:ext cx="7315200" cy="2891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066CC"/>
                </a:solidFill>
                <a:latin typeface="Arial"/>
              </a:rPr>
              <a:t>446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291" y="4520582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41414"/>
                </a:solidFill>
                <a:latin typeface="Arial"/>
              </a:rPr>
              <a:t>United States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51750" y="4350465"/>
            <a:ext cx="1319914" cy="467820"/>
          </a:xfrm>
          <a:prstGeom prst="round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999252" y="4492229"/>
            <a:ext cx="7315200" cy="2891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FF6B00"/>
                </a:solidFill>
                <a:latin typeface="Arial"/>
              </a:rPr>
              <a:t>307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2248" y="4548934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6B00"/>
                </a:solidFill>
                <a:latin typeface="Arial"/>
              </a:rPr>
              <a:t>rank 8th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18479" y="1798715"/>
            <a:ext cx="3047923" cy="1417638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02772" y="1990096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066CC"/>
                </a:solidFill>
                <a:latin typeface="Arial"/>
              </a:rPr>
              <a:t>TIER 1 — STANDARD ROBOTS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2772" y="2241727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arms · cobots · CNC / FMS cells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02772" y="2440196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proven, deploy today 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2772" y="2638666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this closes the density gap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18479" y="3386470"/>
            <a:ext cx="3047923" cy="1077405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902772" y="3549499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6B00"/>
                </a:solidFill>
                <a:latin typeface="Arial"/>
              </a:rPr>
              <a:t>TIER 2 — HUMANOIDS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02772" y="3804674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legacy lines not built for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02772" y="3988967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fixed automation, and the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02772" y="4173260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2nd &amp; 3rd shift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5291" y="4860815"/>
            <a:ext cx="11341111" cy="737172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438247" y="4960050"/>
            <a:ext cx="7315200" cy="3855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THE GAP IS STANDARD ROBOTS THE U.S. HASN'T INSTALLED.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38247" y="5314459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EAFBF0"/>
                </a:solidFill>
                <a:latin typeface="Arial"/>
              </a:rPr>
              <a:t>Deploy standard automation now; humanoids fill the rest. China holds the world's largest installed base (~2M robots).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xos_Integration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468" y="0"/>
            <a:ext cx="1016875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97548"/>
            <a:ext cx="12191695" cy="66629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5291" y="338547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DECADES OF FEDERAL R&amp;D — READY TO COMMERCIALIZE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91" y="664603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Our partners aren't startups. They hold deep, government-funded technology — much of it never commercialized. Exos is the integrator that ships it.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25291" y="905602"/>
            <a:ext cx="11341112" cy="0"/>
          </a:xfrm>
          <a:prstGeom prst="bentConnector3">
            <a:avLst/>
          </a:prstGeom>
          <a:ln w="952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25291" y="1160777"/>
            <a:ext cx="5564232" cy="1346757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25291" y="1160777"/>
            <a:ext cx="70881" cy="1346757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7937" y="1330894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A1628"/>
                </a:solidFill>
                <a:latin typeface="Arial"/>
              </a:rPr>
              <a:t>Advanced materials &amp; structures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937" y="1610878"/>
            <a:ext cx="7315200" cy="198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6B00"/>
                </a:solidFill>
                <a:latin typeface="Arial"/>
              </a:rPr>
              <a:t>58+ competitive SBIR awards since 2000 (DoD · DOE · NASA · NSF)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937" y="1851876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JWST + record UAS heritage; patented shape-memory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7" y="2014905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deployables; fusion-magnet insulation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937" y="2277168"/>
            <a:ext cx="7315200" cy="1506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government paid to develop it · Exos commercializes 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2170" y="1160777"/>
            <a:ext cx="5564232" cy="1346757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02170" y="1160777"/>
            <a:ext cx="70881" cy="1346757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4816" y="1330894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A1628"/>
                </a:solidFill>
                <a:latin typeface="Arial"/>
              </a:rPr>
              <a:t>Ceramics &amp; space optics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816" y="1610878"/>
            <a:ext cx="7315200" cy="198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6B00"/>
                </a:solidFill>
                <a:latin typeface="Arial"/>
              </a:rPr>
              <a:t>70+ SBIR awards; additive silicon-carbide mirrors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4816" y="1851876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selected for NASA flagship telescopes; hypersonic thermal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816" y="2014905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protection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4816" y="2277168"/>
            <a:ext cx="7315200" cy="1506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government paid to develop it · Exos commercializes 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291" y="2706004"/>
            <a:ext cx="5564232" cy="1346757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5291" y="2706004"/>
            <a:ext cx="70881" cy="1346757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7937" y="2876120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A1628"/>
                </a:solidFill>
                <a:latin typeface="Arial"/>
              </a:rPr>
              <a:t>Ultralight structures &amp; propulsion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937" y="3156104"/>
            <a:ext cx="7315200" cy="198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6B00"/>
                </a:solidFill>
                <a:latin typeface="Arial"/>
              </a:rPr>
              <a:t>NASA- and DARPA-funded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937" y="3397103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record-light composite cryotanks + LH2 lines;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937" y="3560131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rotating-detonation propulsion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937" y="3822394"/>
            <a:ext cx="7315200" cy="1506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government paid to develop it · Exos commercializes 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2170" y="2706004"/>
            <a:ext cx="5564232" cy="1346757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02170" y="2706004"/>
            <a:ext cx="70881" cy="1346757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14816" y="2876120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A1628"/>
                </a:solidFill>
                <a:latin typeface="Arial"/>
              </a:rPr>
              <a:t>Lunar-proven tank technology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4816" y="3156104"/>
            <a:ext cx="7315200" cy="198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6B00"/>
                </a:solidFill>
                <a:latin typeface="Arial"/>
              </a:rPr>
              <a:t>TRL-9, flown to the Moon twice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4816" y="3397103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patented filament winding + trade-secret resin; ~50%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4816" y="3560131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lighter than metal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4816" y="3822394"/>
            <a:ext cx="7315200" cy="1506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government paid to develop it · Exos commercializes 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291" y="4237054"/>
            <a:ext cx="11341111" cy="425291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FF6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438247" y="4389450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</a:rPr>
              <a:t>130+ documented competitive federal R&amp;D awards across the set — much of it still dormant. We turn it into product for the space &amp; defense base.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1076"/>
            <a:ext cx="12191695" cy="609584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5291" y="622074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WHAT THE ANCHOR CAPITAL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91" y="944587"/>
            <a:ext cx="7315200" cy="198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Strategic arbitrage, not a generic acquisition.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291" y="1174954"/>
            <a:ext cx="11341111" cy="21264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25291" y="1515187"/>
            <a:ext cx="5245264" cy="3685861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0466" y="1798715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6B00"/>
                </a:solidFill>
                <a:latin typeface="Arial"/>
              </a:rPr>
              <a:t>THE SCORPIUS ROFR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466" y="2167301"/>
            <a:ext cx="7315200" cy="698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PAY  $3.4M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0466" y="2833591"/>
            <a:ext cx="7315200" cy="5060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22C55E"/>
                </a:solidFill>
                <a:latin typeface="Arial"/>
              </a:rPr>
              <a:t>OWN  $20–40M  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0466" y="3379382"/>
            <a:ext cx="7315200" cy="2289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>
                <a:solidFill>
                  <a:srgbClr val="CBD8E8"/>
                </a:solidFill>
                <a:latin typeface="Arial"/>
              </a:rPr>
              <a:t>6–12× value  ·  at a frozen 2021 basis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466" y="3925173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Exercise the right of first refusal on TRL-9,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0466" y="4109466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lunar-flown Type-5 composite tank technology.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0466" y="4463876"/>
            <a:ext cx="7315200" cy="1686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8AA0BD"/>
                </a:solidFill>
                <a:latin typeface="Arial"/>
              </a:rPr>
              <a:t>Arbitrage figures are Exos's own valuation 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0466" y="4619816"/>
            <a:ext cx="7315200" cy="1686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8AA0BD"/>
                </a:solidFill>
                <a:latin typeface="Arial"/>
              </a:rPr>
              <a:t>independent 409A + diligence in the data room.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54083" y="1621510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066CC"/>
                </a:solidFill>
                <a:latin typeface="Arial"/>
              </a:rPr>
              <a:t>WHAT IT BUILDS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54083" y="2011361"/>
            <a:ext cx="5812319" cy="453644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4200" y="2167301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066CC"/>
                </a:solidFill>
                <a:latin typeface="Arial"/>
              </a:rPr>
              <a:t>Resin &amp; matrix chemistry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2643" y="2521711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5A6B7D"/>
                </a:solidFill>
                <a:latin typeface="Arial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54083" y="2663474"/>
            <a:ext cx="5812319" cy="453644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24200" y="2819415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066CC"/>
                </a:solidFill>
                <a:latin typeface="Arial"/>
              </a:rPr>
              <a:t>Type-5 linerless composite tanks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2643" y="3173824"/>
            <a:ext cx="7315200" cy="240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5A6B7D"/>
                </a:solidFill>
                <a:latin typeface="Arial"/>
              </a:rPr>
              <a:t>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4083" y="3315588"/>
            <a:ext cx="5812319" cy="453644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A16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24200" y="3471529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A1628"/>
                </a:solidFill>
                <a:latin typeface="Arial"/>
              </a:rPr>
              <a:t>Reusable vehicle — flight-proven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54083" y="4010231"/>
            <a:ext cx="5812319" cy="850583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FF6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24200" y="4169716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One owned stack → a vertically integrated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4200" y="4339833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composite pressure-vessel base for missile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4200" y="4509949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bodies, SRM cases, and naval structures.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97548"/>
            <a:ext cx="12191695" cy="66629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5291" y="338547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THE PILOT FUND — BUILT ON DoD'S OWN PLAYBOOK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91" y="664603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$50M, fully deployed in 12–18 months. Not a new idea — the same capital mechanisms DoD already uses, run by pros and steered by insiders.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25291" y="905602"/>
            <a:ext cx="11341112" cy="0"/>
          </a:xfrm>
          <a:prstGeom prst="bentConnector3">
            <a:avLst/>
          </a:prstGeom>
          <a:ln w="952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25291" y="1160777"/>
            <a:ext cx="4819972" cy="4536444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7937" y="1366335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MECHANISMS IT MIRRORS</a:t>
            </a:r>
          </a:p>
        </p:txBody>
      </p:sp>
      <p:sp>
        <p:nvSpPr>
          <p:cNvPr id="8" name="Oval 7"/>
          <p:cNvSpPr/>
          <p:nvPr/>
        </p:nvSpPr>
        <p:spPr>
          <a:xfrm>
            <a:off x="680466" y="1642774"/>
            <a:ext cx="226822" cy="22682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-2863722" y="1685304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0700" y="1649863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DPA Title III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0700" y="1830612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AEC0D6"/>
                </a:solidFill>
                <a:latin typeface="Arial"/>
              </a:rPr>
              <a:t>direct industrial-base investment</a:t>
            </a:r>
          </a:p>
        </p:txBody>
      </p:sp>
      <p:sp>
        <p:nvSpPr>
          <p:cNvPr id="12" name="Oval 11"/>
          <p:cNvSpPr/>
          <p:nvPr/>
        </p:nvSpPr>
        <p:spPr>
          <a:xfrm>
            <a:off x="680466" y="2351594"/>
            <a:ext cx="226822" cy="22682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-2863722" y="2394123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0700" y="2358682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OTA consortia (NSTXL / SpaceWERX)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0700" y="2539431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AEC0D6"/>
                </a:solidFill>
                <a:latin typeface="Arial"/>
              </a:rPr>
              <a:t>rapid, cost-shared prototyping</a:t>
            </a:r>
          </a:p>
        </p:txBody>
      </p:sp>
      <p:sp>
        <p:nvSpPr>
          <p:cNvPr id="16" name="Oval 15"/>
          <p:cNvSpPr/>
          <p:nvPr/>
        </p:nvSpPr>
        <p:spPr>
          <a:xfrm>
            <a:off x="680466" y="3060413"/>
            <a:ext cx="226822" cy="22682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-2863722" y="3102943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0700" y="3067502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In-Q-Tel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0700" y="3248251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AEC0D6"/>
                </a:solidFill>
                <a:latin typeface="Arial"/>
              </a:rPr>
              <a:t>strategic government-aligned capital</a:t>
            </a:r>
          </a:p>
        </p:txBody>
      </p:sp>
      <p:sp>
        <p:nvSpPr>
          <p:cNvPr id="20" name="Oval 19"/>
          <p:cNvSpPr/>
          <p:nvPr/>
        </p:nvSpPr>
        <p:spPr>
          <a:xfrm>
            <a:off x="680466" y="3769233"/>
            <a:ext cx="226822" cy="22682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-2863722" y="3811762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0700" y="3776321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SBIR / STRATFI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0700" y="3957070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AEC0D6"/>
                </a:solidFill>
                <a:latin typeface="Arial"/>
              </a:rPr>
              <a:t>non-dilutive matching</a:t>
            </a:r>
          </a:p>
        </p:txBody>
      </p:sp>
      <p:sp>
        <p:nvSpPr>
          <p:cNvPr id="24" name="Oval 23"/>
          <p:cNvSpPr/>
          <p:nvPr/>
        </p:nvSpPr>
        <p:spPr>
          <a:xfrm>
            <a:off x="680466" y="4478052"/>
            <a:ext cx="226822" cy="22682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-2863722" y="4520582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0700" y="4485141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DIU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0700" y="4665890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AEC0D6"/>
                </a:solidFill>
                <a:latin typeface="Arial"/>
              </a:rPr>
              <a:t>commercial on-ramp to DoD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7910" y="1330894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A1628"/>
                </a:solidFill>
                <a:latin typeface="Arial"/>
              </a:rPr>
              <a:t>USE OF FUNDS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57910" y="1423040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Anchor acquisitions (ROFR + materials)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57910" y="1614422"/>
            <a:ext cx="6024965" cy="283527"/>
          </a:xfrm>
          <a:prstGeom prst="round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457910" y="1614422"/>
            <a:ext cx="5121220" cy="283527"/>
          </a:xfrm>
          <a:prstGeom prst="round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238557" y="1692392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 b="1">
                <a:solidFill>
                  <a:srgbClr val="0066CC"/>
                </a:solidFill>
                <a:latin typeface="Arial"/>
              </a:rPr>
              <a:t>34%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57910" y="2160213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Capacity activation (idle lines)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57910" y="2351594"/>
            <a:ext cx="6024965" cy="283527"/>
          </a:xfrm>
          <a:prstGeom prst="round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57910" y="2351594"/>
            <a:ext cx="3313731" cy="283527"/>
          </a:xfrm>
          <a:prstGeom prst="round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238557" y="2429564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 b="1">
                <a:solidFill>
                  <a:srgbClr val="0066CC"/>
                </a:solidFill>
                <a:latin typeface="Arial"/>
              </a:rPr>
              <a:t>22%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57910" y="2897385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Robotics / automation + Mission Control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57910" y="3088766"/>
            <a:ext cx="6024965" cy="283527"/>
          </a:xfrm>
          <a:prstGeom prst="round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457910" y="3088766"/>
            <a:ext cx="2711234" cy="283527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238557" y="3166736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 b="1">
                <a:solidFill>
                  <a:srgbClr val="22C55E"/>
                </a:solidFill>
                <a:latin typeface="Arial"/>
              </a:rPr>
              <a:t>18%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7910" y="3634557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M&amp;A execution overhead (pros, insider-steered)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57910" y="3825938"/>
            <a:ext cx="6024965" cy="283527"/>
          </a:xfrm>
          <a:prstGeom prst="round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457910" y="3825938"/>
            <a:ext cx="2108737" cy="283527"/>
          </a:xfrm>
          <a:prstGeom prst="round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238557" y="3903909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 b="1">
                <a:solidFill>
                  <a:srgbClr val="FF6B00"/>
                </a:solidFill>
                <a:latin typeface="Arial"/>
              </a:rPr>
              <a:t>14%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57910" y="4371729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Working capital / contingency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57910" y="4563111"/>
            <a:ext cx="6024965" cy="283527"/>
          </a:xfrm>
          <a:prstGeom prst="round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457910" y="4563111"/>
            <a:ext cx="1807489" cy="283527"/>
          </a:xfrm>
          <a:prstGeom prst="roundRect">
            <a:avLst/>
          </a:prstGeom>
          <a:solidFill>
            <a:srgbClr val="5A6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238557" y="4641081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 b="1">
                <a:solidFill>
                  <a:srgbClr val="5A6B7D"/>
                </a:solidFill>
                <a:latin typeface="Arial"/>
              </a:rPr>
              <a:t>12%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57910" y="5243577"/>
            <a:ext cx="6308493" cy="354409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FF6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954556" y="5374709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</a:rPr>
              <a:t>M&amp;A firm runs diligence &amp; closings · Exos insiders decide what fits the stack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9312"/>
            <a:ext cx="12191695" cy="6379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5291" y="480310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COST-SHARE THAT DOESN'T KILL SMALL VENDORS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91" y="806367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A blanket 50% match on every project kills the small vendors. So: cost-share where it's viable — and the fund fills the gap where it isn't.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25291" y="1047366"/>
            <a:ext cx="11341112" cy="0"/>
          </a:xfrm>
          <a:prstGeom prst="bentConnector3">
            <a:avLst/>
          </a:prstGeom>
          <a:ln w="952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7055" y="1281276"/>
            <a:ext cx="7315200" cy="1686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5A6B7D"/>
                </a:solidFill>
                <a:latin typeface="Arial"/>
              </a:rPr>
              <a:t>THE PROJECT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7055" y="1479746"/>
            <a:ext cx="2764396" cy="637937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331451" y="1479746"/>
            <a:ext cx="2764396" cy="637937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95847" y="1479746"/>
            <a:ext cx="5528792" cy="637937"/>
          </a:xfrm>
          <a:prstGeom prst="rect">
            <a:avLst/>
          </a:prstGeom>
          <a:solidFill>
            <a:srgbClr val="395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6095847" y="1423040"/>
            <a:ext cx="0" cy="751349"/>
          </a:xfrm>
          <a:prstGeom prst="bentConnector3">
            <a:avLst/>
          </a:prstGeom>
          <a:ln w="14176">
            <a:solidFill>
              <a:srgbClr val="FF6B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-1708346" y="1727833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GOV 50%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6049" y="1727833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COMMERCIAL 50%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2643" y="1727833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GOVERNMENT-FUNDED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326148" y="2202742"/>
            <a:ext cx="7315200" cy="1686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  <a:latin typeface="Arial"/>
              </a:rPr>
              <a:t>~HALF: cost-shared (commercially viable)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2643" y="2202742"/>
            <a:ext cx="7315200" cy="1686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5A6B7D"/>
                </a:solidFill>
                <a:latin typeface="Arial"/>
              </a:rPr>
              <a:t>~HALF: mission-critical, no viable commercial match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7055" y="2613857"/>
            <a:ext cx="11057584" cy="567055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9701" y="2734356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THE PILOT FUND FILLS THE 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9701" y="2950546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where a vendor can't front its 50% share, the fund bridges it — so the match requirement enables participation instead of blocking 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291" y="3393559"/>
            <a:ext cx="11341111" cy="609584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38247" y="3538867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BD8E8"/>
                </a:solidFill>
                <a:latin typeface="Arial"/>
              </a:rPr>
              <a:t>THE MATH, HONESTLY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247" y="3733792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≈ 1.3–1.5× federal reach across the portfolio · ~2× on the cost-shared projects · commercial capital via a public vehicle (Exos / TXSE)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9312"/>
            <a:ext cx="12191695" cy="6379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5291" y="480310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OUTPUT GROWS WITH SHIFTS — SAME PLANT, NO NEW CAPEX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91" y="802823"/>
            <a:ext cx="7315200" cy="198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Humanoids and Mission Control fill the 2nd and 3rd shifts the labor market can't. Fixed cost amortizes across up to 3× the output.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291" y="1033190"/>
            <a:ext cx="11341111" cy="21264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1275875" y="5342812"/>
            <a:ext cx="10065236" cy="0"/>
          </a:xfrm>
          <a:prstGeom prst="bentConnector3">
            <a:avLst/>
          </a:prstGeom>
          <a:ln w="10632">
            <a:solidFill>
              <a:srgbClr val="0A16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126458" y="4112408"/>
            <a:ext cx="2126458" cy="1230403"/>
          </a:xfrm>
          <a:prstGeom prst="roundRect">
            <a:avLst/>
          </a:prstGeom>
          <a:solidFill>
            <a:srgbClr val="5A6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-467912" y="3786352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5A6B7D"/>
                </a:solidFill>
                <a:latin typeface="Arial"/>
              </a:rPr>
              <a:t>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467912" y="5463311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  <a:latin typeface="Arial"/>
              </a:rPr>
              <a:t>1 SHIFT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467912" y="5658237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5A6B7D"/>
                </a:solidFill>
                <a:latin typeface="Arial"/>
              </a:rPr>
              <a:t>today · humans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87028" y="3066565"/>
            <a:ext cx="2126458" cy="2276246"/>
          </a:xfrm>
          <a:prstGeom prst="round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2657" y="2740508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066CC"/>
                </a:solidFill>
                <a:latin typeface="Arial"/>
              </a:rPr>
              <a:t>185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2657" y="5463311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  <a:latin typeface="Arial"/>
              </a:rPr>
              <a:t>2 SHIFTS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2657" y="5658237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5A6B7D"/>
                </a:solidFill>
                <a:latin typeface="Arial"/>
              </a:rPr>
              <a:t>+ humanoid backfill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7597" y="2082242"/>
            <a:ext cx="2126458" cy="3260569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53226" y="1756186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22C55E"/>
                </a:solidFill>
                <a:latin typeface="Arial"/>
              </a:rPr>
              <a:t>265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226" y="5463311"/>
            <a:ext cx="7315200" cy="2048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  <a:latin typeface="Arial"/>
              </a:rPr>
              <a:t>3 SHIFTS / LIGHTS-OUT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226" y="5658237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5A6B7D"/>
                </a:solidFill>
                <a:latin typeface="Arial"/>
              </a:rPr>
              <a:t>24/7 · Mission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8247" y="1174954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6B00"/>
                </a:solidFill>
                <a:latin typeface="Arial"/>
              </a:rPr>
              <a:t>up to ~2.6× output on the same fixed plant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97548"/>
            <a:ext cx="12191695" cy="6662903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93722"/>
            <a:ext cx="12191695" cy="28352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3527" y="253488"/>
            <a:ext cx="7315200" cy="2891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EXOS MISSION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92967" y="324370"/>
            <a:ext cx="7315200" cy="1686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AA0BD"/>
                </a:solidFill>
                <a:latin typeface="Arial"/>
              </a:rPr>
              <a:t>representative 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527" y="806367"/>
            <a:ext cx="2211516" cy="850583"/>
          </a:xfrm>
          <a:prstGeom prst="roundRect">
            <a:avLst/>
          </a:prstGeom>
          <a:solidFill>
            <a:srgbClr val="0F1E38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5291" y="1004837"/>
            <a:ext cx="7315200" cy="1445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8AA0BD"/>
                </a:solidFill>
                <a:latin typeface="Arial"/>
              </a:rPr>
              <a:t>ACTIVE PURSUITS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291" y="1189130"/>
            <a:ext cx="7315200" cy="4578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36808" y="806367"/>
            <a:ext cx="2211516" cy="850583"/>
          </a:xfrm>
          <a:prstGeom prst="roundRect">
            <a:avLst/>
          </a:prstGeom>
          <a:solidFill>
            <a:srgbClr val="0F1E38"/>
          </a:solidFill>
          <a:ln w="1905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78572" y="1004837"/>
            <a:ext cx="7315200" cy="1445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8AA0BD"/>
                </a:solidFill>
                <a:latin typeface="Arial"/>
              </a:rPr>
              <a:t>PIPELINE 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78572" y="1189130"/>
            <a:ext cx="7315200" cy="4578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$180M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90089" y="806367"/>
            <a:ext cx="2211516" cy="850583"/>
          </a:xfrm>
          <a:prstGeom prst="roundRect">
            <a:avLst/>
          </a:prstGeom>
          <a:solidFill>
            <a:srgbClr val="0F1E38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31853" y="1004837"/>
            <a:ext cx="7315200" cy="1445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8AA0BD"/>
                </a:solidFill>
                <a:latin typeface="Arial"/>
              </a:rPr>
              <a:t>TASKS ORCHESTRATED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1853" y="1189130"/>
            <a:ext cx="7315200" cy="4578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1,240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43369" y="806367"/>
            <a:ext cx="2211516" cy="850583"/>
          </a:xfrm>
          <a:prstGeom prst="roundRect">
            <a:avLst/>
          </a:prstGeom>
          <a:solidFill>
            <a:srgbClr val="0F1E38"/>
          </a:solidFill>
          <a:ln w="1905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85133" y="1004837"/>
            <a:ext cx="7315200" cy="1445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8AA0BD"/>
                </a:solidFill>
                <a:latin typeface="Arial"/>
              </a:rPr>
              <a:t>DECISIONS CLEARED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5133" y="1189130"/>
            <a:ext cx="7315200" cy="4578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96%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96650" y="806367"/>
            <a:ext cx="2211516" cy="850583"/>
          </a:xfrm>
          <a:prstGeom prst="roundRect">
            <a:avLst/>
          </a:prstGeom>
          <a:solidFill>
            <a:srgbClr val="0F1E38"/>
          </a:solidFill>
          <a:ln w="19050">
            <a:solidFill>
              <a:srgbClr val="FF6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38414" y="1004837"/>
            <a:ext cx="7315200" cy="1445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8AA0BD"/>
                </a:solidFill>
                <a:latin typeface="Arial"/>
              </a:rPr>
              <a:t>PARTNERS LOAD-BALANCED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38414" y="1189130"/>
            <a:ext cx="7315200" cy="4578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3527" y="1869597"/>
            <a:ext cx="2799836" cy="3969389"/>
          </a:xfrm>
          <a:prstGeom prst="roundRect">
            <a:avLst/>
          </a:prstGeom>
          <a:solidFill>
            <a:srgbClr val="0F1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83527" y="1869597"/>
            <a:ext cx="2799836" cy="311880"/>
          </a:xfrm>
          <a:prstGeom prst="rect">
            <a:avLst/>
          </a:prstGeom>
          <a:solidFill>
            <a:srgbClr val="13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1115" y="1975920"/>
            <a:ext cx="7315200" cy="1686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066CC"/>
                </a:solidFill>
                <a:latin typeface="Arial"/>
              </a:rPr>
              <a:t>INTAKE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2762" y="2280712"/>
            <a:ext cx="2601367" cy="411115"/>
          </a:xfrm>
          <a:prstGeom prst="roundRect">
            <a:avLst/>
          </a:prstGeom>
          <a:solidFill>
            <a:srgbClr val="132A46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1997" y="2426020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SAM.gov RFP swept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2762" y="2776886"/>
            <a:ext cx="2601367" cy="411115"/>
          </a:xfrm>
          <a:prstGeom prst="roundRect">
            <a:avLst/>
          </a:prstGeom>
          <a:solidFill>
            <a:srgbClr val="132A46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1997" y="2922194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Partner idle-line ping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2762" y="3273059"/>
            <a:ext cx="2601367" cy="411115"/>
          </a:xfrm>
          <a:prstGeom prst="roundRect">
            <a:avLst/>
          </a:prstGeom>
          <a:solidFill>
            <a:srgbClr val="132A46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1997" y="3418367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New payload inquiry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25128" y="1869597"/>
            <a:ext cx="2799836" cy="3969389"/>
          </a:xfrm>
          <a:prstGeom prst="roundRect">
            <a:avLst/>
          </a:prstGeom>
          <a:solidFill>
            <a:srgbClr val="0F1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25128" y="1869597"/>
            <a:ext cx="2799836" cy="311880"/>
          </a:xfrm>
          <a:prstGeom prst="rect">
            <a:avLst/>
          </a:prstGeom>
          <a:solidFill>
            <a:srgbClr val="13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52716" y="1975920"/>
            <a:ext cx="7315200" cy="1686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066CC"/>
                </a:solidFill>
                <a:latin typeface="Arial"/>
              </a:rPr>
              <a:t>SCORING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24363" y="2280712"/>
            <a:ext cx="2601367" cy="411115"/>
          </a:xfrm>
          <a:prstGeom prst="roundRect">
            <a:avLst/>
          </a:prstGeom>
          <a:solidFill>
            <a:srgbClr val="132A46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423598" y="2426020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Mission-fit + margin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24363" y="2776886"/>
            <a:ext cx="2601367" cy="411115"/>
          </a:xfrm>
          <a:prstGeom prst="roundRect">
            <a:avLst/>
          </a:prstGeom>
          <a:solidFill>
            <a:srgbClr val="132A46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423598" y="2922194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North-Star filter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24363" y="3273059"/>
            <a:ext cx="2601367" cy="411115"/>
          </a:xfrm>
          <a:prstGeom prst="roundRect">
            <a:avLst/>
          </a:prstGeom>
          <a:solidFill>
            <a:srgbClr val="132A46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423598" y="3418367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Export screen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66729" y="1869597"/>
            <a:ext cx="2799836" cy="3969389"/>
          </a:xfrm>
          <a:prstGeom prst="roundRect">
            <a:avLst/>
          </a:prstGeom>
          <a:solidFill>
            <a:srgbClr val="0F1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166729" y="1869597"/>
            <a:ext cx="2799836" cy="311880"/>
          </a:xfrm>
          <a:prstGeom prst="rect">
            <a:avLst/>
          </a:prstGeom>
          <a:solidFill>
            <a:srgbClr val="13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94317" y="1975920"/>
            <a:ext cx="7315200" cy="1686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066CC"/>
                </a:solidFill>
                <a:latin typeface="Arial"/>
              </a:rPr>
              <a:t>ACTIVE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5964" y="2280712"/>
            <a:ext cx="2601367" cy="411115"/>
          </a:xfrm>
          <a:prstGeom prst="roundRect">
            <a:avLst/>
          </a:prstGeom>
          <a:solidFill>
            <a:srgbClr val="132A46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65199" y="2426020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Scorpius ROFR diligence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5964" y="2776886"/>
            <a:ext cx="2601367" cy="411115"/>
          </a:xfrm>
          <a:prstGeom prst="roundRect">
            <a:avLst/>
          </a:prstGeom>
          <a:solidFill>
            <a:srgbClr val="132A46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65199" y="2922194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BLK3 payload manifest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5964" y="3273059"/>
            <a:ext cx="2601367" cy="411115"/>
          </a:xfrm>
          <a:prstGeom prst="roundRect">
            <a:avLst/>
          </a:prstGeom>
          <a:solidFill>
            <a:srgbClr val="132A46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65199" y="3418367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RDRE trade study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08330" y="1869597"/>
            <a:ext cx="2799836" cy="3969389"/>
          </a:xfrm>
          <a:prstGeom prst="roundRect">
            <a:avLst/>
          </a:prstGeom>
          <a:solidFill>
            <a:srgbClr val="0F1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9108330" y="1869597"/>
            <a:ext cx="2799836" cy="311880"/>
          </a:xfrm>
          <a:prstGeom prst="rect">
            <a:avLst/>
          </a:prstGeom>
          <a:solidFill>
            <a:srgbClr val="13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235917" y="1975920"/>
            <a:ext cx="7315200" cy="1686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066CC"/>
                </a:solidFill>
                <a:latin typeface="Arial"/>
              </a:rPr>
              <a:t>DELIVERED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207565" y="2280712"/>
            <a:ext cx="2601367" cy="411115"/>
          </a:xfrm>
          <a:prstGeom prst="roundRect">
            <a:avLst/>
          </a:prstGeom>
          <a:solidFill>
            <a:srgbClr val="132A46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306799" y="2426020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Quote sent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207565" y="2776886"/>
            <a:ext cx="2601367" cy="411115"/>
          </a:xfrm>
          <a:prstGeom prst="roundRect">
            <a:avLst/>
          </a:prstGeom>
          <a:solidFill>
            <a:srgbClr val="132A46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306799" y="2922194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Decision → owner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207565" y="3273059"/>
            <a:ext cx="2601367" cy="411115"/>
          </a:xfrm>
          <a:prstGeom prst="roundRect">
            <a:avLst/>
          </a:prstGeom>
          <a:solidFill>
            <a:srgbClr val="132A46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306799" y="3418367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Contract booked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83527" y="5980750"/>
            <a:ext cx="11624639" cy="425291"/>
          </a:xfrm>
          <a:prstGeom prst="roundRect">
            <a:avLst/>
          </a:prstGeom>
          <a:solidFill>
            <a:srgbClr val="0F1E38"/>
          </a:solidFill>
          <a:ln w="1905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5291" y="6140234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AI ORCHESTRATION — optimizing across billions of parameters: route work to idle capacity · allocate capital · track delivered value across every partner P&amp;L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97548"/>
            <a:ext cx="12191695" cy="66629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5291" y="310194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THE OTA MODEL IS THE HOME FOR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91" y="664603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Our program only moves at speed under Other Transaction Authority. OTA on-ramps and accelerates; FAR sustains what must ride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291" y="891426"/>
            <a:ext cx="11341111" cy="21264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5291" y="1174954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5A6B7D"/>
                </a:solidFill>
                <a:latin typeface="Arial"/>
              </a:rPr>
              <a:t>TRADITIONAL FAR / PROGRAM OF RECORD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291" y="1387599"/>
            <a:ext cx="11341111" cy="453644"/>
          </a:xfrm>
          <a:prstGeom prst="round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25291" y="1387599"/>
            <a:ext cx="9639945" cy="453644"/>
          </a:xfrm>
          <a:prstGeom prst="roundRect">
            <a:avLst/>
          </a:prstGeom>
          <a:solidFill>
            <a:srgbClr val="B7C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7055" y="1564804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1414"/>
                </a:solidFill>
                <a:latin typeface="Arial"/>
              </a:rPr>
              <a:t>18–36+ months to award · heavy PM overhead · slow to non-traditional vendors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91" y="2110595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066CC"/>
                </a:solidFill>
                <a:latin typeface="Arial"/>
              </a:rPr>
              <a:t>CONSORTIUM OTA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291" y="2323241"/>
            <a:ext cx="11341111" cy="453644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25291" y="2323241"/>
            <a:ext cx="2495044" cy="453644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7055" y="2500446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weeks–months to award · cost-share native · non-traditional friendly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4147" y="2500446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 b="1">
                <a:solidFill>
                  <a:srgbClr val="22C55E"/>
                </a:solidFill>
                <a:latin typeface="Arial"/>
              </a:rPr>
              <a:t>far faster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291" y="3145472"/>
            <a:ext cx="11341111" cy="1275875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38247" y="3301412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THE OTA UMBRELLA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8819" y="3641645"/>
            <a:ext cx="3402333" cy="567055"/>
          </a:xfrm>
          <a:prstGeom prst="roundRect">
            <a:avLst/>
          </a:prstGeom>
          <a:solidFill>
            <a:srgbClr val="13233B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-1247613" y="3801130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Prototype 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1247613" y="3992511"/>
            <a:ext cx="7315200" cy="1506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AEC0D6"/>
                </a:solidFill>
                <a:latin typeface="Arial"/>
              </a:rPr>
              <a:t>rapid build + test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25329" y="3925173"/>
            <a:ext cx="240999" cy="0"/>
          </a:xfrm>
          <a:prstGeom prst="bentConnector3">
            <a:avLst/>
          </a:prstGeom>
          <a:ln w="14176">
            <a:solidFill>
              <a:srgbClr val="22C5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4323798" y="3875556"/>
            <a:ext cx="99234" cy="99234"/>
          </a:xfrm>
          <a:prstGeom prst="triangl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394680" y="3641645"/>
            <a:ext cx="3402333" cy="567055"/>
          </a:xfrm>
          <a:prstGeom prst="roundRect">
            <a:avLst/>
          </a:prstGeom>
          <a:solidFill>
            <a:srgbClr val="13233B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438247" y="3801130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Follow-on Production 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247" y="3992511"/>
            <a:ext cx="7315200" cy="1506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AEC0D6"/>
                </a:solidFill>
                <a:latin typeface="Arial"/>
              </a:rPr>
              <a:t>scale without re-competing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11190" y="3925173"/>
            <a:ext cx="240999" cy="0"/>
          </a:xfrm>
          <a:prstGeom prst="bentConnector3">
            <a:avLst/>
          </a:prstGeom>
          <a:ln w="14176">
            <a:solidFill>
              <a:srgbClr val="22C5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8009660" y="3875556"/>
            <a:ext cx="99234" cy="99234"/>
          </a:xfrm>
          <a:prstGeom prst="triangl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080542" y="3641645"/>
            <a:ext cx="3402333" cy="567055"/>
          </a:xfrm>
          <a:prstGeom prst="roundRect">
            <a:avLst/>
          </a:prstGeom>
          <a:solidFill>
            <a:srgbClr val="13233B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24108" y="3801130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Cost-share + pilot fund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4108" y="3992511"/>
            <a:ext cx="7315200" cy="1506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AEC0D6"/>
                </a:solidFill>
                <a:latin typeface="Arial"/>
              </a:rPr>
              <a:t>inside the vehicle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5291" y="4662345"/>
            <a:ext cx="11341111" cy="411115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FF6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438247" y="4811198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</a:rPr>
              <a:t>Statutory basis: 10 U.S.C. 4021/4022 (OTA) · Middle Tier Acquisition · DPA Title III · SBIR Phase III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22840"/>
            <a:ext cx="12191695" cy="5812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5291" y="763838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PROJECT KARMEN — RAPID-TURNAROUND SPACELIFT TEST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91" y="1086351"/>
            <a:ext cx="7315200" cy="198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USSF SBIR SF254-D1002 (Direct-to-Phase-II): a reusable suborbital platform to empirically qualify cargo, supplies &amp; equipment under real spacelift conditions.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291" y="1316717"/>
            <a:ext cx="11341111" cy="21264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25291" y="1586069"/>
            <a:ext cx="11341111" cy="1063229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-2594370" y="1656951"/>
            <a:ext cx="7315200" cy="101219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$3M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9104" y="2039713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0">
                <a:solidFill>
                  <a:srgbClr val="CBD8E8"/>
                </a:solidFill>
                <a:latin typeface="Arial"/>
              </a:rPr>
              <a:t>requested,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4136" y="1656951"/>
            <a:ext cx="7315200" cy="101219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4000" b="1">
                <a:solidFill>
                  <a:srgbClr val="FF6B00"/>
                </a:solidFill>
                <a:latin typeface="Arial"/>
              </a:rPr>
              <a:t>$300K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7611" y="2039713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0">
                <a:solidFill>
                  <a:srgbClr val="CBD8E8"/>
                </a:solidFill>
                <a:latin typeface="Arial"/>
              </a:rPr>
              <a:t>funded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0542" y="1841244"/>
            <a:ext cx="3189687" cy="552879"/>
          </a:xfrm>
          <a:prstGeom prst="round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17786" y="1876685"/>
            <a:ext cx="7315200" cy="2771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~10× UNDERFUNDED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7786" y="2153124"/>
            <a:ext cx="7315200" cy="1686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0A1628"/>
                </a:solidFill>
                <a:latin typeface="Arial"/>
              </a:rPr>
              <a:t>a real requirement, under-resourced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291" y="2847768"/>
            <a:ext cx="5528792" cy="212645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3761" y="3067502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0066CC"/>
                </a:solidFill>
                <a:latin typeface="Arial"/>
              </a:rPr>
              <a:t>THE MISSION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761" y="3336853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6B00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701" y="3333309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Reusable, rapid-turnaround suborbital testbed (120+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9701" y="3496337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km): launch, microgravity, reentry, recovery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61" y="3804674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6B00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9701" y="3801130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Empirically qualify cargo — capture shock,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701" y="3964158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vibration, temperature, acceleration &amp; structural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701" y="4127187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761" y="4272495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6B00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701" y="4268951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48-hour recovery-to-relaunch for high-tempo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701" y="4431979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campaigns; minimal launch infrastructure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7611" y="2847768"/>
            <a:ext cx="5528792" cy="2126458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36080" y="3067502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6B00"/>
                </a:solidFill>
                <a:latin typeface="Arial"/>
              </a:rPr>
              <a:t>WHY EXOS CAN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6080" y="3336853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2021" y="3333309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BLK3 — FAA-licensed reusable suborbital vehicle with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92021" y="3496337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a modular payload bay + high-precision recovery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6080" y="3804674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92021" y="3801130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Flying reusable since 2018; ~2-day turnaround — a design target 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92021" y="3964158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already the design point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6080" y="4272495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92021" y="4268951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Directly fills USSF's cargo-qualification 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92021" y="4431979"/>
            <a:ext cx="7315200" cy="18677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'Operational Energy for Space' gap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5291" y="5158519"/>
            <a:ext cx="11341111" cy="680466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438247" y="5243577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THE REQUIREMENT IS REAL — FUND THE OUTCOME.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38247" y="5569634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EAFBF0"/>
                </a:solidFill>
                <a:latin typeface="Arial"/>
              </a:rPr>
              <a:t>$3M requested, funded at $300K. Full funding delivers cargo qualification the space-logistics enterprise lacks. USSF SBIR SF254-D1002 (D2P2).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1076"/>
            <a:ext cx="12191695" cy="609584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5291" y="622074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91" y="944587"/>
            <a:ext cx="7315200" cy="198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What only the Commission can move.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291" y="1174954"/>
            <a:ext cx="11341111" cy="21264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25291" y="1628598"/>
            <a:ext cx="11341111" cy="779701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37937" y="1784538"/>
            <a:ext cx="425291" cy="425291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-2807016" y="1869597"/>
            <a:ext cx="7315200" cy="3373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5875" y="1798715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A1628"/>
                </a:solidFill>
                <a:latin typeface="Arial"/>
              </a:rPr>
              <a:t>Buy commercial outcomes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5875" y="2068066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pay for delivered results, not process</a:t>
            </a:r>
          </a:p>
        </p:txBody>
      </p:sp>
      <p:sp>
        <p:nvSpPr>
          <p:cNvPr id="11" name="Oval 10"/>
          <p:cNvSpPr/>
          <p:nvPr/>
        </p:nvSpPr>
        <p:spPr>
          <a:xfrm>
            <a:off x="637937" y="2663474"/>
            <a:ext cx="425291" cy="425291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-2807016" y="2748533"/>
            <a:ext cx="7315200" cy="3373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5875" y="2677651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A1628"/>
                </a:solidFill>
                <a:latin typeface="Arial"/>
              </a:rPr>
              <a:t>Let us perform off the traditional base &amp; DoD ranges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5875" y="2947002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fractional cost, accelerated speed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291" y="3386470"/>
            <a:ext cx="11341111" cy="779701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37937" y="3542411"/>
            <a:ext cx="425291" cy="425291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-2807016" y="3627469"/>
            <a:ext cx="7315200" cy="3373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5875" y="3556587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A1628"/>
                </a:solidFill>
                <a:latin typeface="Arial"/>
              </a:rPr>
              <a:t>Stop micromanaging the small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5875" y="3825938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firm-fixed-price, milestone- and outcome-based</a:t>
            </a:r>
          </a:p>
        </p:txBody>
      </p:sp>
      <p:sp>
        <p:nvSpPr>
          <p:cNvPr id="20" name="Oval 19"/>
          <p:cNvSpPr/>
          <p:nvPr/>
        </p:nvSpPr>
        <p:spPr>
          <a:xfrm>
            <a:off x="637937" y="4421347"/>
            <a:ext cx="425291" cy="425291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-2807016" y="4506405"/>
            <a:ext cx="7315200" cy="3373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875" y="4435523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A1628"/>
                </a:solidFill>
                <a:latin typeface="Arial"/>
              </a:rPr>
              <a:t>Make the OTA model the home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5875" y="4704875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on-ramp non-traditional capacity without re-competing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291" y="5144343"/>
            <a:ext cx="11341111" cy="779701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37937" y="5300283"/>
            <a:ext cx="425291" cy="425291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-2807016" y="5385341"/>
            <a:ext cx="7315200" cy="3373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75875" y="5314459"/>
            <a:ext cx="7315200" cy="2650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A1628"/>
                </a:solidFill>
                <a:latin typeface="Arial"/>
              </a:rPr>
              <a:t>Clear the friction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875" y="5583811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right-size Part 450 · predictable range/airspace · small-business ITAR/EAR safe-harbors 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75875" y="5753927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fuller SBIR Phase III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22840"/>
            <a:ext cx="12191695" cy="5812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5291" y="749662"/>
            <a:ext cx="7315200" cy="3614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1628"/>
                </a:solidFill>
                <a:latin typeface="Arial"/>
              </a:rPr>
              <a:t>THE PATHWAY — PROVE IT IN SPACE &amp; DEFENSE, THEN REPLICATE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91" y="1072175"/>
            <a:ext cx="7315200" cy="19882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141414"/>
                </a:solidFill>
                <a:latin typeface="Arial"/>
              </a:rPr>
              <a:t>Small vendors already see the opportunity across many industries. The same challenges show up everywhere — so the same model transfers.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25291" y="1316717"/>
            <a:ext cx="11341112" cy="0"/>
          </a:xfrm>
          <a:prstGeom prst="bentConnector3">
            <a:avLst/>
          </a:prstGeom>
          <a:ln w="952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25291" y="1515187"/>
            <a:ext cx="3969389" cy="3969389"/>
          </a:xfrm>
          <a:prstGeom prst="round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7937" y="1685304"/>
            <a:ext cx="7315200" cy="2891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SPACE &amp;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937" y="1954655"/>
            <a:ext cx="7315200" cy="1686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8AA0BD"/>
                </a:solidFill>
                <a:latin typeface="Arial"/>
              </a:rPr>
              <a:t>the proving ground — today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937" y="2209830"/>
            <a:ext cx="2126458" cy="226822"/>
          </a:xfrm>
          <a:prstGeom prst="round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-1956433" y="2270080"/>
            <a:ext cx="7315200" cy="1626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THE CONSORTIUM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7" y="2486270"/>
            <a:ext cx="7315200" cy="1566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AEC0D6"/>
                </a:solidFill>
                <a:latin typeface="Arial"/>
              </a:rPr>
              <a:t>sector-agnostic — nothing here is space-specific</a:t>
            </a:r>
          </a:p>
        </p:txBody>
      </p:sp>
      <p:sp>
        <p:nvSpPr>
          <p:cNvPr id="12" name="Oval 11"/>
          <p:cNvSpPr/>
          <p:nvPr/>
        </p:nvSpPr>
        <p:spPr>
          <a:xfrm>
            <a:off x="666290" y="2706004"/>
            <a:ext cx="255175" cy="255175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-2863722" y="2755621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0700" y="2769797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Find fragmented vendors + stranded capacity</a:t>
            </a:r>
          </a:p>
        </p:txBody>
      </p:sp>
      <p:sp>
        <p:nvSpPr>
          <p:cNvPr id="15" name="Oval 14"/>
          <p:cNvSpPr/>
          <p:nvPr/>
        </p:nvSpPr>
        <p:spPr>
          <a:xfrm>
            <a:off x="666290" y="3188001"/>
            <a:ext cx="255175" cy="255175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-2863722" y="3237618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0700" y="3251795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Anchor + pilot fund to activate it</a:t>
            </a:r>
          </a:p>
        </p:txBody>
      </p:sp>
      <p:sp>
        <p:nvSpPr>
          <p:cNvPr id="18" name="Oval 17"/>
          <p:cNvSpPr/>
          <p:nvPr/>
        </p:nvSpPr>
        <p:spPr>
          <a:xfrm>
            <a:off x="666290" y="3669998"/>
            <a:ext cx="255175" cy="255175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-2863722" y="3719615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0700" y="3733792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Mission Control AI orchestration</a:t>
            </a:r>
          </a:p>
        </p:txBody>
      </p:sp>
      <p:sp>
        <p:nvSpPr>
          <p:cNvPr id="21" name="Oval 20"/>
          <p:cNvSpPr/>
          <p:nvPr/>
        </p:nvSpPr>
        <p:spPr>
          <a:xfrm>
            <a:off x="666290" y="4151995"/>
            <a:ext cx="255175" cy="255175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-2863722" y="4201613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0700" y="4215789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Humanoid automation backfills shifts</a:t>
            </a:r>
          </a:p>
        </p:txBody>
      </p:sp>
      <p:sp>
        <p:nvSpPr>
          <p:cNvPr id="24" name="Oval 23"/>
          <p:cNvSpPr/>
          <p:nvPr/>
        </p:nvSpPr>
        <p:spPr>
          <a:xfrm>
            <a:off x="666290" y="4633993"/>
            <a:ext cx="255175" cy="255175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-2863722" y="4683610"/>
            <a:ext cx="7315200" cy="216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0700" y="4697786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E8EDF5"/>
                </a:solidFill>
                <a:latin typeface="Arial"/>
              </a:rPr>
              <a:t>Public-company cost-share capital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22268" y="3499881"/>
            <a:ext cx="652114" cy="0"/>
          </a:xfrm>
          <a:prstGeom prst="bentConnector3">
            <a:avLst/>
          </a:prstGeom>
          <a:ln w="28352">
            <a:solidFill>
              <a:srgbClr val="FF6B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5131853" y="3450264"/>
            <a:ext cx="99234" cy="99234"/>
          </a:xfrm>
          <a:prstGeom prst="triangl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90725" y="3223442"/>
            <a:ext cx="7315200" cy="1807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6B00"/>
                </a:solidFill>
                <a:latin typeface="Arial"/>
              </a:rPr>
              <a:t>REPLICATE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30322" y="1515187"/>
            <a:ext cx="3125893" cy="1134111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330322" y="1515187"/>
            <a:ext cx="70881" cy="1134111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542968" y="1777450"/>
            <a:ext cx="7315200" cy="2289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A1628"/>
                </a:solidFill>
                <a:latin typeface="Arial"/>
              </a:rPr>
              <a:t>Maritime &amp; Shipbuilding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42968" y="2064522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aging yards, fragmented sub-tiers, idle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42968" y="2220462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berths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42968" y="2418932"/>
            <a:ext cx="7315200" cy="1506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same challenge · same model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40509" y="1515187"/>
            <a:ext cx="3125893" cy="1134111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640509" y="1515187"/>
            <a:ext cx="70881" cy="1134111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853155" y="1777450"/>
            <a:ext cx="7315200" cy="2289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A1628"/>
                </a:solidFill>
                <a:latin typeface="Arial"/>
              </a:rPr>
              <a:t>Munitions &amp; Missiles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3155" y="2064522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surge demand on a fragile supplier base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53155" y="2418932"/>
            <a:ext cx="7315200" cy="1506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same challenge · same model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330322" y="2932826"/>
            <a:ext cx="3125893" cy="1134111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330322" y="2932826"/>
            <a:ext cx="70881" cy="1134111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542968" y="3195089"/>
            <a:ext cx="7315200" cy="2289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A1628"/>
                </a:solidFill>
                <a:latin typeface="Arial"/>
              </a:rPr>
              <a:t>Energy &amp; Nuclear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42968" y="3482161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long-lead fabrication, stranded shop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42968" y="3638101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capacity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42968" y="3836571"/>
            <a:ext cx="7315200" cy="1506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same challenge · same model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40509" y="2932826"/>
            <a:ext cx="3125893" cy="1134111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8640509" y="2932826"/>
            <a:ext cx="70881" cy="1134111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853155" y="3195089"/>
            <a:ext cx="7315200" cy="2289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A1628"/>
                </a:solidFill>
                <a:latin typeface="Arial"/>
              </a:rPr>
              <a:t>Semiconductors &amp; Microelectronics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53155" y="3482161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packaging/test bottlenecks, underused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53155" y="3638101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small fabs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53155" y="3836571"/>
            <a:ext cx="7315200" cy="1506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same challenge · same model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330322" y="4350465"/>
            <a:ext cx="3125893" cy="1134111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5330322" y="4350465"/>
            <a:ext cx="70881" cy="1134111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542968" y="4612728"/>
            <a:ext cx="7315200" cy="2289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A1628"/>
                </a:solidFill>
                <a:latin typeface="Arial"/>
              </a:rPr>
              <a:t>Advanced Manufacturing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42968" y="4899800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machine shops at low utilization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42968" y="5055740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nationwide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42968" y="5254210"/>
            <a:ext cx="7315200" cy="1506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same challenge · same model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40509" y="4350465"/>
            <a:ext cx="3125893" cy="1134111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8640509" y="4350465"/>
            <a:ext cx="70881" cy="1134111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853155" y="4612728"/>
            <a:ext cx="7315200" cy="2289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A1628"/>
                </a:solidFill>
                <a:latin typeface="Arial"/>
              </a:rPr>
              <a:t>Critical Materials &amp; Processing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53155" y="4899800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small processors — no scale, no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53155" y="5055740"/>
            <a:ext cx="7315200" cy="1747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Arial"/>
              </a:rPr>
              <a:t>orchestration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53155" y="5254210"/>
            <a:ext cx="7315200" cy="1506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Arial"/>
              </a:rPr>
              <a:t>same challenge · same model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5291" y="5640516"/>
            <a:ext cx="11341111" cy="411115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FF6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438247" y="5782280"/>
            <a:ext cx="7315200" cy="1927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</a:rPr>
              <a:t>Same challenges everywhere:  fragmented small vendors · stranded capacity · workforce/automation gap · capital inefficiency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85"/>
            <a:ext cx="12191695" cy="6857828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267179"/>
            <a:ext cx="12191695" cy="60958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01" y="1859319"/>
            <a:ext cx="7315200" cy="7254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De-risk the impossible.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01" y="2560341"/>
            <a:ext cx="7315200" cy="4404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66CC"/>
                </a:solidFill>
                <a:latin typeface="Arial"/>
              </a:rPr>
              <a:t>Deliver the mass that builds humanity's future in space.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6741" y="4785326"/>
            <a:ext cx="7315200" cy="2849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John Quinn, Cofounder &amp; CEO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6741" y="5105358"/>
            <a:ext cx="7315200" cy="2331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>
                <a:solidFill>
                  <a:srgbClr val="CBD8E8"/>
                </a:solidFill>
                <a:latin typeface="Arial"/>
              </a:rPr>
              <a:t>jquinn@exosaero.com  ·  www.exosaero.com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image describes Project KARMEN, a responsive spacelift system for the Naval Industrial Base, capable of dual-use, reusable launches, and rapid testing under various conditions.&#10;&#10;AI-generated content may be incorrect.">
            <a:extLst>
              <a:ext uri="{FF2B5EF4-FFF2-40B4-BE49-F238E27FC236}">
                <a16:creationId xmlns:a16="http://schemas.microsoft.com/office/drawing/2014/main" id="{480162DD-9F12-4156-449E-15BD29C3F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5803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93BA222B086F94CB80A831AC79560FC" ma:contentTypeVersion="13" ma:contentTypeDescription="Create a new document." ma:contentTypeScope="" ma:versionID="f51fc69e8bbd42d3be512d7ef1c1493c">
  <xsd:schema xmlns:xsd="http://www.w3.org/2001/XMLSchema" xmlns:xs="http://www.w3.org/2001/XMLSchema" xmlns:p="http://schemas.microsoft.com/office/2006/metadata/properties" xmlns:ns2="e1558a10-1879-455f-b4fa-cfdedf85505e" xmlns:ns3="917a3f04-5547-4e83-a675-a0677bb25779" targetNamespace="http://schemas.microsoft.com/office/2006/metadata/properties" ma:root="true" ma:fieldsID="03e4d1102a05b14230e5c9e20d839415" ns2:_="" ns3:_="">
    <xsd:import namespace="e1558a10-1879-455f-b4fa-cfdedf85505e"/>
    <xsd:import namespace="917a3f04-5547-4e83-a675-a0677bb25779"/>
    <xsd:element name="properties">
      <xsd:complexType>
        <xsd:sequence>
          <xsd:element name="documentManagement">
            <xsd:complexType>
              <xsd:all>
                <xsd:element ref="ns2:MediaServiceBillingMetadata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558a10-1879-455f-b4fa-cfdedf85505e" elementFormDefault="qualified">
    <xsd:import namespace="http://schemas.microsoft.com/office/2006/documentManagement/types"/>
    <xsd:import namespace="http://schemas.microsoft.com/office/infopath/2007/PartnerControls"/>
    <xsd:element name="MediaServiceBillingMetadata" ma:index="8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bbbd00b4-2324-4224-9886-28f0fa24cb4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7a3f04-5547-4e83-a675-a0677bb25779" elementFormDefault="qualified">
    <xsd:import namespace="http://schemas.microsoft.com/office/2006/documentManagement/types"/>
    <xsd:import namespace="http://schemas.microsoft.com/office/infopath/2007/PartnerControls"/>
    <xsd:element name="TaxCatchAll" ma:index="15" nillable="true" ma:displayName="Taxonomy Catch All Column" ma:hidden="true" ma:list="{23ac47e6-c9a8-4c5a-9ea2-d1b4df31c29b}" ma:internalName="TaxCatchAll" ma:showField="CatchAllData" ma:web="917a3f04-5547-4e83-a675-a0677bb2577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17a3f04-5547-4e83-a675-a0677bb25779" xsi:nil="true"/>
    <lcf76f155ced4ddcb4097134ff3c332f xmlns="e1558a10-1879-455f-b4fa-cfdedf85505e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3C86530-EB95-4924-861A-14EFCB814FE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558a10-1879-455f-b4fa-cfdedf85505e"/>
    <ds:schemaRef ds:uri="917a3f04-5547-4e83-a675-a0677bb2577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7AC0CAB-270B-4322-A666-DF9DC14B99F8}">
  <ds:schemaRefs>
    <ds:schemaRef ds:uri="http://schemas.microsoft.com/office/2006/metadata/properties"/>
    <ds:schemaRef ds:uri="http://schemas.microsoft.com/office/infopath/2007/PartnerControls"/>
    <ds:schemaRef ds:uri="917a3f04-5547-4e83-a675-a0677bb25779"/>
    <ds:schemaRef ds:uri="e1558a10-1879-455f-b4fa-cfdedf85505e"/>
  </ds:schemaRefs>
</ds:datastoreItem>
</file>

<file path=customXml/itemProps3.xml><?xml version="1.0" encoding="utf-8"?>
<ds:datastoreItem xmlns:ds="http://schemas.openxmlformats.org/officeDocument/2006/customXml" ds:itemID="{D8EA178A-412B-4E87-87D5-CCD736C359B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3716</Words>
  <Application>Microsoft Office PowerPoint</Application>
  <PresentationFormat>Widescreen</PresentationFormat>
  <Paragraphs>607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John Quinn</dc:creator>
  <cp:keywords/>
  <dc:description>generated using python-pptx</dc:description>
  <cp:lastModifiedBy>John Quinn</cp:lastModifiedBy>
  <cp:revision>7</cp:revision>
  <dcterms:created xsi:type="dcterms:W3CDTF">2013-01-27T09:14:16Z</dcterms:created>
  <dcterms:modified xsi:type="dcterms:W3CDTF">2026-08-11T03:56:33Z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0x010100B93BA222B086F94CB80A831AC79560FC</vt:lpwstr>
  </property>
  <property fmtid="{D5CDD505-2E9C-101B-9397-08002B2CF9AE}" pid="3" name="MediaServiceImageTags">
    <vt:lpwstr/>
  </property>
</Properties>
</file>