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2" r:id="rId13"/>
    <p:sldId id="513" r:id="rId10"/>
    <p:sldId id="510" r:id="rId31"/>
    <p:sldId id="511" r:id="rId32"/>
    <p:sldId id="257" r:id="rId7"/>
    <p:sldId id="258" r:id="rId8"/>
    <p:sldId id="259" r:id="rId9"/>
    <p:sldId id="261" r:id="rId11"/>
    <p:sldId id="262" r:id="rId12"/>
    <p:sldId id="264" r:id="rId14"/>
    <p:sldId id="265" r:id="rId15"/>
    <p:sldId id="266" r:id="rId16"/>
    <p:sldId id="267" r:id="rId17"/>
    <p:sldId id="268" r:id="rId18"/>
    <p:sldId id="269" r:id="rId19"/>
    <p:sldId id="270" r:id="rId20"/>
    <p:sldId id="514" r:id="rId33"/>
    <p:sldId id="509"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39A05-8FC6-48A2-9C65-4574436B8C6C}" v="3" dt="2026-05-29T14:44:5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3.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2.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userId="49ef7d68-749c-4dd8-b137-19339c5a9f8b" providerId="ADAL" clId="{23154D39-0448-4989-9750-5478DE3CE1CA}"/>
    <pc:docChg chg="undo custSel addSld delSld modSld">
      <pc:chgData name="John Quinn" userId="49ef7d68-749c-4dd8-b137-19339c5a9f8b" providerId="ADAL" clId="{23154D39-0448-4989-9750-5478DE3CE1CA}" dt="2026-05-29T14:45:49.293" v="180" actId="207"/>
      <pc:docMkLst>
        <pc:docMk/>
      </pc:docMkLst>
      <pc:sldChg chg="modSp mod">
        <pc:chgData name="John Quinn" userId="49ef7d68-749c-4dd8-b137-19339c5a9f8b" providerId="ADAL" clId="{23154D39-0448-4989-9750-5478DE3CE1CA}" dt="2026-05-29T14:07:14.169" v="6" actId="1076"/>
        <pc:sldMkLst>
          <pc:docMk/>
          <pc:sldMk cId="0" sldId="256"/>
        </pc:sldMkLst>
        <pc:picChg chg="mod">
          <ac:chgData name="John Quinn" userId="49ef7d68-749c-4dd8-b137-19339c5a9f8b" providerId="ADAL" clId="{23154D39-0448-4989-9750-5478DE3CE1CA}" dt="2026-05-29T14:07:02.911" v="3" actId="1076"/>
          <ac:picMkLst>
            <pc:docMk/>
            <pc:sldMk cId="0" sldId="256"/>
            <ac:picMk id="3" creationId="{00000000-0000-0000-0000-000000000000}"/>
          </ac:picMkLst>
        </pc:picChg>
        <pc:picChg chg="mod">
          <ac:chgData name="John Quinn" userId="49ef7d68-749c-4dd8-b137-19339c5a9f8b" providerId="ADAL" clId="{23154D39-0448-4989-9750-5478DE3CE1CA}" dt="2026-05-29T14:07:14.169" v="6" actId="1076"/>
          <ac:picMkLst>
            <pc:docMk/>
            <pc:sldMk cId="0" sldId="256"/>
            <ac:picMk id="4" creationId="{00000000-0000-0000-0000-000000000000}"/>
          </ac:picMkLst>
        </pc:picChg>
      </pc:sldChg>
      <pc:sldChg chg="modSp mod">
        <pc:chgData name="John Quinn" userId="49ef7d68-749c-4dd8-b137-19339c5a9f8b" providerId="ADAL" clId="{23154D39-0448-4989-9750-5478DE3CE1CA}" dt="2026-05-29T14:11:38.251" v="30" actId="1076"/>
        <pc:sldMkLst>
          <pc:docMk/>
          <pc:sldMk cId="0" sldId="259"/>
        </pc:sldMkLst>
        <pc:spChg chg="mod">
          <ac:chgData name="John Quinn" userId="49ef7d68-749c-4dd8-b137-19339c5a9f8b" providerId="ADAL" clId="{23154D39-0448-4989-9750-5478DE3CE1CA}" dt="2026-05-29T14:09:46.965" v="20" actId="20577"/>
          <ac:spMkLst>
            <pc:docMk/>
            <pc:sldMk cId="0" sldId="259"/>
            <ac:spMk id="7" creationId="{00000000-0000-0000-0000-000000000000}"/>
          </ac:spMkLst>
        </pc:spChg>
        <pc:spChg chg="mod">
          <ac:chgData name="John Quinn" userId="49ef7d68-749c-4dd8-b137-19339c5a9f8b" providerId="ADAL" clId="{23154D39-0448-4989-9750-5478DE3CE1CA}" dt="2026-05-29T14:11:30.352" v="29" actId="1076"/>
          <ac:spMkLst>
            <pc:docMk/>
            <pc:sldMk cId="0" sldId="259"/>
            <ac:spMk id="8" creationId="{00000000-0000-0000-0000-000000000000}"/>
          </ac:spMkLst>
        </pc:spChg>
        <pc:spChg chg="mod">
          <ac:chgData name="John Quinn" userId="49ef7d68-749c-4dd8-b137-19339c5a9f8b" providerId="ADAL" clId="{23154D39-0448-4989-9750-5478DE3CE1CA}" dt="2026-05-29T14:11:30.352" v="29" actId="1076"/>
          <ac:spMkLst>
            <pc:docMk/>
            <pc:sldMk cId="0" sldId="259"/>
            <ac:spMk id="9" creationId="{00000000-0000-0000-0000-000000000000}"/>
          </ac:spMkLst>
        </pc:spChg>
        <pc:spChg chg="mod">
          <ac:chgData name="John Quinn" userId="49ef7d68-749c-4dd8-b137-19339c5a9f8b" providerId="ADAL" clId="{23154D39-0448-4989-9750-5478DE3CE1CA}" dt="2026-05-29T14:11:30.352" v="29" actId="1076"/>
          <ac:spMkLst>
            <pc:docMk/>
            <pc:sldMk cId="0" sldId="259"/>
            <ac:spMk id="10" creationId="{00000000-0000-0000-0000-000000000000}"/>
          </ac:spMkLst>
        </pc:spChg>
        <pc:spChg chg="mod">
          <ac:chgData name="John Quinn" userId="49ef7d68-749c-4dd8-b137-19339c5a9f8b" providerId="ADAL" clId="{23154D39-0448-4989-9750-5478DE3CE1CA}" dt="2026-05-29T14:11:30.352" v="29" actId="1076"/>
          <ac:spMkLst>
            <pc:docMk/>
            <pc:sldMk cId="0" sldId="259"/>
            <ac:spMk id="11" creationId="{00000000-0000-0000-0000-000000000000}"/>
          </ac:spMkLst>
        </pc:spChg>
        <pc:spChg chg="mod">
          <ac:chgData name="John Quinn" userId="49ef7d68-749c-4dd8-b137-19339c5a9f8b" providerId="ADAL" clId="{23154D39-0448-4989-9750-5478DE3CE1CA}" dt="2026-05-29T14:11:38.251" v="30" actId="1076"/>
          <ac:spMkLst>
            <pc:docMk/>
            <pc:sldMk cId="0" sldId="259"/>
            <ac:spMk id="12" creationId="{00000000-0000-0000-0000-000000000000}"/>
          </ac:spMkLst>
        </pc:spChg>
        <pc:picChg chg="mod">
          <ac:chgData name="John Quinn" userId="49ef7d68-749c-4dd8-b137-19339c5a9f8b" providerId="ADAL" clId="{23154D39-0448-4989-9750-5478DE3CE1CA}" dt="2026-05-29T14:11:14.902" v="28" actId="1076"/>
          <ac:picMkLst>
            <pc:docMk/>
            <pc:sldMk cId="0" sldId="259"/>
            <ac:picMk id="3" creationId="{00000000-0000-0000-0000-000000000000}"/>
          </ac:picMkLst>
        </pc:picChg>
      </pc:sldChg>
      <pc:sldChg chg="modSp mod">
        <pc:chgData name="John Quinn" userId="49ef7d68-749c-4dd8-b137-19339c5a9f8b" providerId="ADAL" clId="{23154D39-0448-4989-9750-5478DE3CE1CA}" dt="2026-05-29T14:13:25.022" v="61" actId="20577"/>
        <pc:sldMkLst>
          <pc:docMk/>
          <pc:sldMk cId="0" sldId="260"/>
        </pc:sldMkLst>
        <pc:graphicFrameChg chg="modGraphic">
          <ac:chgData name="John Quinn" userId="49ef7d68-749c-4dd8-b137-19339c5a9f8b" providerId="ADAL" clId="{23154D39-0448-4989-9750-5478DE3CE1CA}" dt="2026-05-29T14:13:25.022" v="61" actId="20577"/>
          <ac:graphicFrameMkLst>
            <pc:docMk/>
            <pc:sldMk cId="0" sldId="260"/>
            <ac:graphicFrameMk id="7" creationId="{00000000-0000-0000-0000-000000000000}"/>
          </ac:graphicFrameMkLst>
        </pc:graphicFrameChg>
      </pc:sldChg>
      <pc:sldChg chg="modSp del mod">
        <pc:chgData name="John Quinn" userId="49ef7d68-749c-4dd8-b137-19339c5a9f8b" providerId="ADAL" clId="{23154D39-0448-4989-9750-5478DE3CE1CA}" dt="2026-05-29T14:45:07.409" v="177" actId="47"/>
        <pc:sldMkLst>
          <pc:docMk/>
          <pc:sldMk cId="0" sldId="271"/>
        </pc:sldMkLst>
        <pc:graphicFrameChg chg="modGraphic">
          <ac:chgData name="John Quinn" userId="49ef7d68-749c-4dd8-b137-19339c5a9f8b" providerId="ADAL" clId="{23154D39-0448-4989-9750-5478DE3CE1CA}" dt="2026-05-29T14:32:20.955" v="171" actId="14734"/>
          <ac:graphicFrameMkLst>
            <pc:docMk/>
            <pc:sldMk cId="0" sldId="271"/>
            <ac:graphicFrameMk id="6" creationId="{00000000-0000-0000-0000-000000000000}"/>
          </ac:graphicFrameMkLst>
        </pc:graphicFrameChg>
      </pc:sldChg>
      <pc:sldChg chg="modSp mod">
        <pc:chgData name="John Quinn" userId="49ef7d68-749c-4dd8-b137-19339c5a9f8b" providerId="ADAL" clId="{23154D39-0448-4989-9750-5478DE3CE1CA}" dt="2026-05-29T14:26:15.347" v="125" actId="20577"/>
        <pc:sldMkLst>
          <pc:docMk/>
          <pc:sldMk cId="0" sldId="273"/>
        </pc:sldMkLst>
        <pc:spChg chg="mod">
          <ac:chgData name="John Quinn" userId="49ef7d68-749c-4dd8-b137-19339c5a9f8b" providerId="ADAL" clId="{23154D39-0448-4989-9750-5478DE3CE1CA}" dt="2026-05-29T14:25:16.982" v="64" actId="1076"/>
          <ac:spMkLst>
            <pc:docMk/>
            <pc:sldMk cId="0" sldId="273"/>
            <ac:spMk id="4" creationId="{00000000-0000-0000-0000-000000000000}"/>
          </ac:spMkLst>
        </pc:spChg>
        <pc:spChg chg="mod">
          <ac:chgData name="John Quinn" userId="49ef7d68-749c-4dd8-b137-19339c5a9f8b" providerId="ADAL" clId="{23154D39-0448-4989-9750-5478DE3CE1CA}" dt="2026-05-29T14:25:22.338" v="65" actId="1076"/>
          <ac:spMkLst>
            <pc:docMk/>
            <pc:sldMk cId="0" sldId="273"/>
            <ac:spMk id="5" creationId="{00000000-0000-0000-0000-000000000000}"/>
          </ac:spMkLst>
        </pc:spChg>
        <pc:spChg chg="mod">
          <ac:chgData name="John Quinn" userId="49ef7d68-749c-4dd8-b137-19339c5a9f8b" providerId="ADAL" clId="{23154D39-0448-4989-9750-5478DE3CE1CA}" dt="2026-05-29T14:25:16.982" v="64" actId="1076"/>
          <ac:spMkLst>
            <pc:docMk/>
            <pc:sldMk cId="0" sldId="273"/>
            <ac:spMk id="6" creationId="{00000000-0000-0000-0000-000000000000}"/>
          </ac:spMkLst>
        </pc:spChg>
        <pc:spChg chg="mod">
          <ac:chgData name="John Quinn" userId="49ef7d68-749c-4dd8-b137-19339c5a9f8b" providerId="ADAL" clId="{23154D39-0448-4989-9750-5478DE3CE1CA}" dt="2026-05-29T14:25:16.982" v="64" actId="1076"/>
          <ac:spMkLst>
            <pc:docMk/>
            <pc:sldMk cId="0" sldId="273"/>
            <ac:spMk id="8" creationId="{00000000-0000-0000-0000-000000000000}"/>
          </ac:spMkLst>
        </pc:spChg>
        <pc:spChg chg="mod">
          <ac:chgData name="John Quinn" userId="49ef7d68-749c-4dd8-b137-19339c5a9f8b" providerId="ADAL" clId="{23154D39-0448-4989-9750-5478DE3CE1CA}" dt="2026-05-29T14:25:24.045" v="66" actId="1076"/>
          <ac:spMkLst>
            <pc:docMk/>
            <pc:sldMk cId="0" sldId="273"/>
            <ac:spMk id="9" creationId="{00000000-0000-0000-0000-000000000000}"/>
          </ac:spMkLst>
        </pc:spChg>
        <pc:spChg chg="mod">
          <ac:chgData name="John Quinn" userId="49ef7d68-749c-4dd8-b137-19339c5a9f8b" providerId="ADAL" clId="{23154D39-0448-4989-9750-5478DE3CE1CA}" dt="2026-05-29T14:25:16.982" v="64" actId="1076"/>
          <ac:spMkLst>
            <pc:docMk/>
            <pc:sldMk cId="0" sldId="273"/>
            <ac:spMk id="10" creationId="{00000000-0000-0000-0000-000000000000}"/>
          </ac:spMkLst>
        </pc:spChg>
        <pc:spChg chg="mod">
          <ac:chgData name="John Quinn" userId="49ef7d68-749c-4dd8-b137-19339c5a9f8b" providerId="ADAL" clId="{23154D39-0448-4989-9750-5478DE3CE1CA}" dt="2026-05-29T14:25:16.982" v="64" actId="1076"/>
          <ac:spMkLst>
            <pc:docMk/>
            <pc:sldMk cId="0" sldId="273"/>
            <ac:spMk id="11" creationId="{00000000-0000-0000-0000-000000000000}"/>
          </ac:spMkLst>
        </pc:spChg>
        <pc:spChg chg="mod">
          <ac:chgData name="John Quinn" userId="49ef7d68-749c-4dd8-b137-19339c5a9f8b" providerId="ADAL" clId="{23154D39-0448-4989-9750-5478DE3CE1CA}" dt="2026-05-29T14:26:15.347" v="125" actId="20577"/>
          <ac:spMkLst>
            <pc:docMk/>
            <pc:sldMk cId="0" sldId="273"/>
            <ac:spMk id="12" creationId="{00000000-0000-0000-0000-000000000000}"/>
          </ac:spMkLst>
        </pc:spChg>
        <pc:graphicFrameChg chg="mod">
          <ac:chgData name="John Quinn" userId="49ef7d68-749c-4dd8-b137-19339c5a9f8b" providerId="ADAL" clId="{23154D39-0448-4989-9750-5478DE3CE1CA}" dt="2026-05-29T14:25:16.982" v="64" actId="1076"/>
          <ac:graphicFrameMkLst>
            <pc:docMk/>
            <pc:sldMk cId="0" sldId="273"/>
            <ac:graphicFrameMk id="7" creationId="{00000000-0000-0000-0000-000000000000}"/>
          </ac:graphicFrameMkLst>
        </pc:graphicFrameChg>
        <pc:picChg chg="mod">
          <ac:chgData name="John Quinn" userId="49ef7d68-749c-4dd8-b137-19339c5a9f8b" providerId="ADAL" clId="{23154D39-0448-4989-9750-5478DE3CE1CA}" dt="2026-05-29T14:25:02.974" v="63" actId="1076"/>
          <ac:picMkLst>
            <pc:docMk/>
            <pc:sldMk cId="0" sldId="273"/>
            <ac:picMk id="3" creationId="{00000000-0000-0000-0000-000000000000}"/>
          </ac:picMkLst>
        </pc:picChg>
      </pc:sldChg>
      <pc:sldChg chg="new del">
        <pc:chgData name="John Quinn" userId="49ef7d68-749c-4dd8-b137-19339c5a9f8b" providerId="ADAL" clId="{23154D39-0448-4989-9750-5478DE3CE1CA}" dt="2026-05-29T14:45:00.849" v="176" actId="47"/>
        <pc:sldMkLst>
          <pc:docMk/>
          <pc:sldMk cId="2135662639" sldId="275"/>
        </pc:sldMkLst>
      </pc:sldChg>
      <pc:sldChg chg="modSp add del mod">
        <pc:chgData name="John Quinn" userId="49ef7d68-749c-4dd8-b137-19339c5a9f8b" providerId="ADAL" clId="{23154D39-0448-4989-9750-5478DE3CE1CA}" dt="2026-05-29T14:45:49.293" v="180" actId="207"/>
        <pc:sldMkLst>
          <pc:docMk/>
          <pc:sldMk cId="3544984704" sldId="509"/>
        </pc:sldMkLst>
        <pc:spChg chg="mod">
          <ac:chgData name="John Quinn" userId="49ef7d68-749c-4dd8-b137-19339c5a9f8b" providerId="ADAL" clId="{23154D39-0448-4989-9750-5478DE3CE1CA}" dt="2026-05-29T14:45:49.293" v="180" actId="207"/>
          <ac:spMkLst>
            <pc:docMk/>
            <pc:sldMk cId="3544984704" sldId="509"/>
            <ac:spMk id="7" creationId="{8CEE4A3B-D5AA-4F4B-A889-F56EFE3A74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 qsCatId="simple" csTypeId="urn:microsoft.com/office/officeart/2005/8/colors/accent1_2" csCatId="accent1" phldr="1"/>
      <dgm:spPr/>
      <dgm:t>
        <a:bodyPr/>
        <a:lstStyle/>
        <a:p>
          <a:endParaRPr lang="en-US"/>
        </a:p>
      </dgm:t>
    </dgm:pt>
    <dgm:pt modelId="{927A0650-4234-49E7-B1AD-6E709BF2AFE4}">
      <dgm:prSet phldrT="[Text]"/>
      <dgm:spPr>
        <a:solidFill>
          <a:srgbClr val="FF0000"/>
        </a:solidFill>
        <a:ln>
          <a:noFill/>
        </a:ln>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dirty="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dirty="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dirty="0">
              <a:latin typeface="Duplicate Sans Light" pitchFamily="2" charset="77"/>
            </a:rPr>
            <a:t>Positioned for Merger or Acquisition</a:t>
          </a:r>
          <a:endParaRPr lang="en-US" sz="1000" b="0" i="0" dirty="0">
            <a:solidFill>
              <a:schemeClr val="bg1">
                <a:lumMod val="50000"/>
                <a:lumOff val="50000"/>
              </a:schemeClr>
            </a:solidFill>
            <a:latin typeface="Duplicate Sans Light" pitchFamily="2" charset="77"/>
          </a:endParaRP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a:solidFill>
          <a:srgbClr val="FF0000"/>
        </a:solidFill>
        <a:ln>
          <a:noFill/>
        </a:ln>
      </dgm:spPr>
    </dgm:pt>
    <dgm:pt modelId="{63AF966E-8D6D-48FA-873C-46E931BD833D}" type="pres">
      <dgm:prSet presAssocID="{927A0650-4234-49E7-B1AD-6E709BF2AFE4}" presName="ParentAccent2" presStyleLbl="alignNode1" presStyleIdx="1" presStyleCnt="34"/>
      <dgm:spPr>
        <a:solidFill>
          <a:srgbClr val="FF0000"/>
        </a:solidFill>
        <a:ln>
          <a:noFill/>
        </a:ln>
      </dgm:spPr>
    </dgm:pt>
    <dgm:pt modelId="{B80959DB-28D6-4CEE-BDEA-44F98A4CEE49}" type="pres">
      <dgm:prSet presAssocID="{927A0650-4234-49E7-B1AD-6E709BF2AFE4}" presName="ParentAccent3" presStyleLbl="alignNode1" presStyleIdx="2" presStyleCnt="34"/>
      <dgm:spPr>
        <a:solidFill>
          <a:srgbClr val="FF0000"/>
        </a:solidFill>
        <a:ln>
          <a:noFill/>
        </a:ln>
      </dgm:spPr>
    </dgm:pt>
    <dgm:pt modelId="{DFBC5DD1-6060-4D48-BD7F-2BC0F265DD65}" type="pres">
      <dgm:prSet presAssocID="{927A0650-4234-49E7-B1AD-6E709BF2AFE4}" presName="ParentAccent4" presStyleLbl="alignNode1" presStyleIdx="3" presStyleCnt="34"/>
      <dgm:spPr>
        <a:solidFill>
          <a:srgbClr val="FF0000"/>
        </a:solidFill>
        <a:ln>
          <a:noFill/>
        </a:ln>
      </dgm:spPr>
    </dgm:pt>
    <dgm:pt modelId="{E43ADEE5-A519-4489-8D26-96FB34D57305}" type="pres">
      <dgm:prSet presAssocID="{927A0650-4234-49E7-B1AD-6E709BF2AFE4}" presName="ParentAccent5" presStyleLbl="alignNode1" presStyleIdx="4" presStyleCnt="34"/>
      <dgm:spPr>
        <a:solidFill>
          <a:srgbClr val="FF0000"/>
        </a:solidFill>
        <a:ln>
          <a:noFill/>
        </a:ln>
      </dgm:spPr>
    </dgm:pt>
    <dgm:pt modelId="{9A391C6C-CCB5-4E08-8F88-62D62AF953C4}" type="pres">
      <dgm:prSet presAssocID="{927A0650-4234-49E7-B1AD-6E709BF2AFE4}" presName="ParentAccent6" presStyleLbl="alignNode1" presStyleIdx="5" presStyleCnt="34"/>
      <dgm:spPr>
        <a:solidFill>
          <a:srgbClr val="FF0000"/>
        </a:solidFill>
        <a:ln>
          <a:noFill/>
        </a:ln>
      </dgm:spPr>
    </dgm:pt>
    <dgm:pt modelId="{CB5C31B4-1748-4468-9A09-30EE4D5578C3}" type="pres">
      <dgm:prSet presAssocID="{927A0650-4234-49E7-B1AD-6E709BF2AFE4}" presName="ParentAccent7" presStyleLbl="alignNode1" presStyleIdx="6" presStyleCnt="34"/>
      <dgm:spPr>
        <a:solidFill>
          <a:srgbClr val="FF0000"/>
        </a:solidFill>
        <a:ln>
          <a:noFill/>
        </a:ln>
      </dgm:spPr>
    </dgm:pt>
    <dgm:pt modelId="{E0C61048-F64E-4273-860E-CEE04FDE7F09}" type="pres">
      <dgm:prSet presAssocID="{927A0650-4234-49E7-B1AD-6E709BF2AFE4}" presName="ParentAccent8" presStyleLbl="alignNode1" presStyleIdx="7" presStyleCnt="34"/>
      <dgm:spPr>
        <a:solidFill>
          <a:srgbClr val="FF0000"/>
        </a:solidFill>
        <a:ln>
          <a:noFill/>
        </a:ln>
      </dgm:spPr>
    </dgm:pt>
    <dgm:pt modelId="{8B5ADAF4-7512-401E-AAD9-8012D2FA10D9}" type="pres">
      <dgm:prSet presAssocID="{927A0650-4234-49E7-B1AD-6E709BF2AFE4}" presName="ParentAccent9" presStyleLbl="alignNode1" presStyleIdx="8" presStyleCnt="34"/>
      <dgm:spPr>
        <a:solidFill>
          <a:srgbClr val="FF0000"/>
        </a:solidFill>
        <a:ln>
          <a:noFill/>
        </a:ln>
      </dgm:spPr>
    </dgm:pt>
    <dgm:pt modelId="{7799C585-58BC-426E-95E9-66A3F1BFA4FC}" type="pres">
      <dgm:prSet presAssocID="{927A0650-4234-49E7-B1AD-6E709BF2AFE4}" presName="ParentAccent10" presStyleLbl="alignNode1" presStyleIdx="9" presStyleCnt="34"/>
      <dgm:spPr>
        <a:solidFill>
          <a:srgbClr val="FF0000"/>
        </a:solidFill>
        <a:ln>
          <a:noFill/>
        </a:ln>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dgm:spPr>
        <a:solidFill>
          <a:srgbClr val="FF0000"/>
        </a:solidFill>
        <a:ln>
          <a:noFill/>
        </a:ln>
      </dgm:spPr>
    </dgm:pt>
    <dgm:pt modelId="{EA7F15F4-BC11-452B-AD11-8558DE40472F}" type="pres">
      <dgm:prSet presAssocID="{FA70011F-51B1-4453-BC10-DE795A85EFBA}" presName="Child1Accent2" presStyleLbl="alignNode1" presStyleIdx="12" presStyleCnt="34"/>
      <dgm:spPr>
        <a:solidFill>
          <a:srgbClr val="FF0000"/>
        </a:solidFill>
        <a:ln>
          <a:noFill/>
        </a:ln>
      </dgm:spPr>
    </dgm:pt>
    <dgm:pt modelId="{E1C307BD-6D13-4973-A92E-E36C9AAE84D7}" type="pres">
      <dgm:prSet presAssocID="{FA70011F-51B1-4453-BC10-DE795A85EFBA}" presName="Child1Accent3" presStyleLbl="alignNode1" presStyleIdx="13" presStyleCnt="34"/>
      <dgm:spPr>
        <a:solidFill>
          <a:srgbClr val="FF0000"/>
        </a:solidFill>
        <a:ln>
          <a:noFill/>
        </a:ln>
      </dgm:spPr>
    </dgm:pt>
    <dgm:pt modelId="{C59FF9DA-0E2A-44B3-8FD5-174FD97A1E12}" type="pres">
      <dgm:prSet presAssocID="{FA70011F-51B1-4453-BC10-DE795A85EFBA}" presName="Child1Accent4" presStyleLbl="alignNode1" presStyleIdx="14" presStyleCnt="34"/>
      <dgm:spPr>
        <a:solidFill>
          <a:srgbClr val="FF0000"/>
        </a:solidFill>
        <a:ln>
          <a:noFill/>
        </a:ln>
      </dgm:spPr>
    </dgm:pt>
    <dgm:pt modelId="{023771EB-27EA-42B2-8076-28D155A65C87}" type="pres">
      <dgm:prSet presAssocID="{FA70011F-51B1-4453-BC10-DE795A85EFBA}" presName="Child1Accent5" presStyleLbl="alignNode1" presStyleIdx="15" presStyleCnt="34"/>
      <dgm:spPr>
        <a:solidFill>
          <a:srgbClr val="FF0000"/>
        </a:solidFill>
        <a:ln>
          <a:noFill/>
        </a:ln>
      </dgm:spPr>
    </dgm:pt>
    <dgm:pt modelId="{5A673C9A-B60F-4208-A783-2C306272D0C7}" type="pres">
      <dgm:prSet presAssocID="{FA70011F-51B1-4453-BC10-DE795A85EFBA}" presName="Child1Accent6" presStyleLbl="alignNode1" presStyleIdx="16" presStyleCnt="34"/>
      <dgm:spPr>
        <a:solidFill>
          <a:srgbClr val="FF0000"/>
        </a:solidFill>
        <a:ln>
          <a:noFill/>
        </a:ln>
      </dgm:spPr>
    </dgm:pt>
    <dgm:pt modelId="{094A2FA5-8DD5-4DA3-88A9-3BA586EC30CE}" type="pres">
      <dgm:prSet presAssocID="{FA70011F-51B1-4453-BC10-DE795A85EFBA}" presName="Child1Accent7" presStyleLbl="alignNode1" presStyleIdx="17" presStyleCnt="34"/>
      <dgm:spPr>
        <a:solidFill>
          <a:srgbClr val="FF0000"/>
        </a:solidFill>
        <a:ln>
          <a:noFill/>
        </a:ln>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Y="-81655"/>
      <dgm:spPr>
        <a:solidFill>
          <a:srgbClr val="FF0000"/>
        </a:solidFill>
        <a:ln>
          <a:noFill/>
        </a:ln>
      </dgm:spPr>
    </dgm:pt>
    <dgm:pt modelId="{619C3C34-D496-497C-9090-22A187BB6CAF}" type="pres">
      <dgm:prSet presAssocID="{15A89210-B323-4C6E-AC5E-98A7F48139D8}" presName="Child2Accent2" presStyleLbl="alignNode1" presStyleIdx="21" presStyleCnt="34" custLinFactY="-66638" custLinFactNeighborY="-100000"/>
      <dgm:spPr>
        <a:solidFill>
          <a:srgbClr val="FF0000"/>
        </a:solidFill>
        <a:ln>
          <a:noFill/>
        </a:ln>
      </dgm:spPr>
    </dgm:pt>
    <dgm:pt modelId="{051D6D60-3189-401A-AA9D-CE95987530A1}" type="pres">
      <dgm:prSet presAssocID="{15A89210-B323-4C6E-AC5E-98A7F48139D8}" presName="Child2Accent3" presStyleLbl="alignNode1" presStyleIdx="22" presStyleCnt="34" custLinFactY="-66638" custLinFactNeighborY="-100000"/>
      <dgm:spPr>
        <a:solidFill>
          <a:srgbClr val="FF0000"/>
        </a:solidFill>
        <a:ln>
          <a:noFill/>
        </a:ln>
      </dgm:spPr>
    </dgm:pt>
    <dgm:pt modelId="{4C59A25A-0308-4E47-9A15-2B8D72675750}" type="pres">
      <dgm:prSet presAssocID="{15A89210-B323-4C6E-AC5E-98A7F48139D8}" presName="Child2Accent4" presStyleLbl="alignNode1" presStyleIdx="23" presStyleCnt="34" custLinFactY="-66638" custLinFactNeighborY="-100000"/>
      <dgm:spPr>
        <a:solidFill>
          <a:srgbClr val="FF0000"/>
        </a:solidFill>
        <a:ln>
          <a:noFill/>
        </a:ln>
      </dgm:spPr>
    </dgm:pt>
    <dgm:pt modelId="{70CAEBDA-7E84-401A-A48E-50421F3BF1B9}" type="pres">
      <dgm:prSet presAssocID="{15A89210-B323-4C6E-AC5E-98A7F48139D8}" presName="Child2Accent5" presStyleLbl="alignNode1" presStyleIdx="24" presStyleCnt="34" custLinFactY="-66638" custLinFactNeighborY="-100000"/>
      <dgm:spPr>
        <a:solidFill>
          <a:srgbClr val="FF0000"/>
        </a:solidFill>
        <a:ln>
          <a:noFill/>
        </a:ln>
      </dgm:spPr>
    </dgm:pt>
    <dgm:pt modelId="{DC29DA05-5B98-4595-BFEA-ADC31E38B2A4}" type="pres">
      <dgm:prSet presAssocID="{15A89210-B323-4C6E-AC5E-98A7F48139D8}" presName="Child2Accent6" presStyleLbl="alignNode1" presStyleIdx="25" presStyleCnt="34" custLinFactY="-66638" custLinFactNeighborY="-100000"/>
      <dgm:spPr>
        <a:solidFill>
          <a:srgbClr val="FF0000"/>
        </a:solidFill>
        <a:ln>
          <a:noFill/>
        </a:ln>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dgm:spPr>
        <a:solidFill>
          <a:srgbClr val="FF0000"/>
        </a:solidFill>
        <a:ln>
          <a:noFill/>
        </a:ln>
      </dgm:spPr>
    </dgm:pt>
    <dgm:pt modelId="{62AD223F-77C0-4827-A09D-8B63847CB5EF}" type="pres">
      <dgm:prSet presAssocID="{C34C1816-98FA-46EE-97D2-68DE722368A3}" presName="Child3Accent2" presStyleLbl="alignNode1" presStyleIdx="28" presStyleCnt="34"/>
      <dgm:spPr>
        <a:solidFill>
          <a:srgbClr val="FF0000"/>
        </a:solidFill>
        <a:ln>
          <a:noFill/>
        </a:ln>
      </dgm:spPr>
    </dgm:pt>
    <dgm:pt modelId="{C02A46F8-6F87-43B9-ADB9-43B46A7E53CB}" type="pres">
      <dgm:prSet presAssocID="{C34C1816-98FA-46EE-97D2-68DE722368A3}" presName="Child3Accent3" presStyleLbl="alignNode1" presStyleIdx="29" presStyleCnt="34"/>
      <dgm:spPr>
        <a:solidFill>
          <a:srgbClr val="FF0000"/>
        </a:solidFill>
        <a:ln>
          <a:noFill/>
        </a:ln>
      </dgm:spPr>
    </dgm:pt>
    <dgm:pt modelId="{7DF0A8AA-EC07-4717-B17C-A2254B45EB22}" type="pres">
      <dgm:prSet presAssocID="{C34C1816-98FA-46EE-97D2-68DE722368A3}" presName="Child3Accent4" presStyleLbl="alignNode1" presStyleIdx="30" presStyleCnt="34"/>
      <dgm:spPr>
        <a:solidFill>
          <a:srgbClr val="FF0000"/>
        </a:solidFill>
        <a:ln>
          <a:noFill/>
        </a:ln>
      </dgm:spPr>
    </dgm:pt>
    <dgm:pt modelId="{A366387B-EFC0-4567-894F-B8995322A132}" type="pres">
      <dgm:prSet presAssocID="{C34C1816-98FA-46EE-97D2-68DE722368A3}" presName="Child3Accent5" presStyleLbl="alignNode1" presStyleIdx="31" presStyleCnt="34"/>
      <dgm:spPr>
        <a:solidFill>
          <a:srgbClr val="FF0000"/>
        </a:solidFill>
        <a:ln>
          <a:noFill/>
        </a:ln>
      </dgm:spPr>
    </dgm:pt>
    <dgm:pt modelId="{A11E41D5-29A0-4139-ADCF-F2CEC06D1224}" type="pres">
      <dgm:prSet presAssocID="{C34C1816-98FA-46EE-97D2-68DE722368A3}" presName="Child3Accent6" presStyleLbl="alignNode1" presStyleIdx="32" presStyleCnt="34"/>
      <dgm:spPr>
        <a:solidFill>
          <a:srgbClr val="FF0000"/>
        </a:solidFill>
        <a:ln>
          <a:noFill/>
        </a:ln>
      </dgm:spPr>
    </dgm:pt>
    <dgm:pt modelId="{B7DC1A33-7999-4FC0-80DE-FB25EB38A9DA}" type="pres">
      <dgm:prSet presAssocID="{C34C1816-98FA-46EE-97D2-68DE722368A3}" presName="Child3Accent7" presStyleLbl="alignNode1" presStyleIdx="33" presStyleCnt="34"/>
      <dgm:spPr>
        <a:solidFill>
          <a:srgbClr val="FF0000"/>
        </a:solidFill>
        <a:ln>
          <a:noFill/>
        </a:ln>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05427" y="414855"/>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63338" y="64017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05427" y="1083532"/>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dirty="0">
              <a:latin typeface="Duplicate Sans Light" pitchFamily="2" charset="77"/>
            </a:rPr>
            <a:t>Positioned for Merger or Acquisition</a:t>
          </a:r>
          <a:endParaRPr lang="en-US" sz="1000" b="0" i="0" kern="1200" dirty="0">
            <a:solidFill>
              <a:schemeClr val="bg1">
                <a:lumMod val="50000"/>
                <a:lumOff val="50000"/>
              </a:schemeClr>
            </a:solidFill>
            <a:latin typeface="Duplicate Sans Light" pitchFamily="2" charset="77"/>
          </a:endParaRP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jpe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19.png"/><Relationship Id="rId24" Type="http://schemas.openxmlformats.org/officeDocument/2006/relationships/image" Target="../media/image20.png"/><Relationship Id="rId25" Type="http://schemas.openxmlformats.org/officeDocument/2006/relationships/image" Target="../media/image21.png"/><Relationship Id="rId26" Type="http://schemas.openxmlformats.org/officeDocument/2006/relationships/image" Target="../media/image22.png"/><Relationship Id="rId27"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AI-Native Industrial Power  ·  Reusable Flight-Test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Licensed Reusable Launch  |  Lunar-Proven Technology  |  Profitable</a:t>
            </a:r>
          </a:p>
          <a:p>
            <a:pPr algn="l">
              <a:spcBef>
                <a:spcPts val="0"/>
              </a:spcBef>
              <a:spcAft>
                <a:spcPts val="800"/>
              </a:spcAft>
            </a:pPr>
            <a:r>
              <a:rPr sz="2000" b="1">
                <a:solidFill>
                  <a:srgbClr val="FFB800"/>
                </a:solidFill>
                <a:latin typeface="Calibri"/>
              </a:rPr>
              <a:t>Primary objective: DPA Title III domestic advanced-manufacturing capacity · Raising: $10M Tranche 1 — of a $25M raise</a:t>
            </a:r>
          </a:p>
          <a:p>
            <a:pPr algn="l">
              <a:spcBef>
                <a:spcPts val="0"/>
              </a:spcBef>
              <a:spcAft>
                <a:spcPts val="400"/>
              </a:spcAft>
            </a:pPr>
            <a:r>
              <a:rPr sz="1400" b="0">
                <a:solidFill>
                  <a:srgbClr val="999999"/>
                </a:solidFill>
                <a:latin typeface="Calibri"/>
              </a:rPr>
              <a:t>July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2000" cy="4572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os_white_tight.png"/>
          <p:cNvPicPr>
            <a:picLocks noChangeAspect="1"/>
          </p:cNvPicPr>
          <p:nvPr/>
        </p:nvPicPr>
        <p:blipFill>
          <a:blip r:embed="rId2"/>
          <a:stretch>
            <a:fillRect/>
          </a:stretch>
        </p:blipFill>
        <p:spPr>
          <a:xfrm>
            <a:off x="10494979" y="301752"/>
            <a:ext cx="1194102" cy="566928"/>
          </a:xfrm>
          <a:prstGeom prst="rect">
            <a:avLst/>
          </a:prstGeom>
        </p:spPr>
      </p:pic>
      <p:sp>
        <p:nvSpPr>
          <p:cNvPr id="5" name="TextBox 4"/>
          <p:cNvSpPr txBox="1"/>
          <p:nvPr/>
        </p:nvSpPr>
        <p:spPr>
          <a:xfrm>
            <a:off x="822960" y="256032"/>
            <a:ext cx="8412480" cy="731520"/>
          </a:xfrm>
          <a:prstGeom prst="rect">
            <a:avLst/>
          </a:prstGeom>
          <a:noFill/>
        </p:spPr>
        <p:txBody>
          <a:bodyPr wrap="square" anchor="ctr">
            <a:spAutoFit/>
          </a:bodyPr>
          <a:lstStyle/>
          <a:p>
            <a:r>
              <a:rPr sz="2000" b="1">
                <a:solidFill>
                  <a:srgbClr val="6F9AD0"/>
                </a:solidFill>
                <a:latin typeface="Calibri"/>
              </a:rPr>
              <a:t>  </a:t>
            </a:r>
            <a:r>
              <a:rPr sz="2400" b="1">
                <a:solidFill>
                  <a:srgbClr val="FFFFFF"/>
                </a:solidFill>
                <a:latin typeface="Calibri"/>
              </a:rPr>
              <a:t>Strategic Objective — Domestic Advanced-Manufacturing Platform</a:t>
            </a:r>
          </a:p>
        </p:txBody>
      </p:sp>
      <p:sp>
        <p:nvSpPr>
          <p:cNvPr id="6" name="TextBox 5"/>
          <p:cNvSpPr txBox="1"/>
          <p:nvPr/>
        </p:nvSpPr>
        <p:spPr>
          <a:xfrm>
            <a:off x="822960" y="1417320"/>
            <a:ext cx="10607040" cy="822960"/>
          </a:xfrm>
          <a:prstGeom prst="rect">
            <a:avLst/>
          </a:prstGeom>
          <a:noFill/>
        </p:spPr>
        <p:txBody>
          <a:bodyPr wrap="square" anchor="t">
            <a:spAutoFit/>
          </a:bodyPr>
          <a:lstStyle/>
          <a:p>
            <a:pPr>
              <a:lnSpc>
                <a:spcPct val="105000"/>
              </a:lnSpc>
            </a:pPr>
            <a:r>
              <a:rPr sz="1550" b="1">
                <a:solidFill>
                  <a:srgbClr val="0B1F3A"/>
                </a:solidFill>
                <a:latin typeface="Calibri"/>
              </a:rPr>
              <a:t>Primary objective: non-dilutive DPA Title III funding for a domestic, defense-critical advanced-manufacturing platform.</a:t>
            </a:r>
          </a:p>
        </p:txBody>
      </p:sp>
      <p:sp>
        <p:nvSpPr>
          <p:cNvPr id="7" name="TextBox 6"/>
          <p:cNvSpPr txBox="1"/>
          <p:nvPr/>
        </p:nvSpPr>
        <p:spPr>
          <a:xfrm>
            <a:off x="822960" y="2286000"/>
            <a:ext cx="10698480" cy="2651760"/>
          </a:xfrm>
          <a:prstGeom prst="rect">
            <a:avLst/>
          </a:prstGeom>
          <a:noFill/>
        </p:spPr>
        <p:txBody>
          <a:bodyPr wrap="square" anchor="t">
            <a:spAutoFit/>
          </a:bodyPr>
          <a:lstStyle/>
          <a:p>
            <a:pPr>
              <a:lnSpc>
                <a:spcPct val="105000"/>
              </a:lnSpc>
              <a:spcAft>
                <a:spcPts val="800"/>
              </a:spcAft>
            </a:pPr>
            <a:r>
              <a:rPr sz="1300" b="1">
                <a:solidFill>
                  <a:srgbClr val="B31B1B"/>
                </a:solidFill>
                <a:latin typeface="Calibri"/>
              </a:rPr>
              <a:t>▪  </a:t>
            </a:r>
            <a:r>
              <a:rPr sz="1300" b="1">
                <a:solidFill>
                  <a:srgbClr val="0B1F3A"/>
                </a:solidFill>
                <a:latin typeface="Calibri"/>
              </a:rPr>
              <a:t>Own the stack:  </a:t>
            </a:r>
            <a:r>
              <a:rPr sz="1300" b="0">
                <a:solidFill>
                  <a:srgbClr val="1A1A1A"/>
                </a:solidFill>
                <a:latin typeface="Calibri"/>
              </a:rPr>
              <a:t>Scorpius Type-5 resin + tanks, CTD (acquisition), Gloyer-Taylor Labs (composite cryo tanks + transfer lines), Goodman (CMC/TPS) — resin to flight.</a:t>
            </a:r>
          </a:p>
          <a:p>
            <a:pPr>
              <a:lnSpc>
                <a:spcPct val="105000"/>
              </a:lnSpc>
              <a:spcAft>
                <a:spcPts val="800"/>
              </a:spcAft>
            </a:pPr>
            <a:r>
              <a:rPr sz="1300" b="1">
                <a:solidFill>
                  <a:srgbClr val="B31B1B"/>
                </a:solidFill>
                <a:latin typeface="Calibri"/>
              </a:rPr>
              <a:t>▪  </a:t>
            </a:r>
            <a:r>
              <a:rPr sz="1300" b="1">
                <a:solidFill>
                  <a:srgbClr val="0B1F3A"/>
                </a:solidFill>
                <a:latin typeface="Calibri"/>
              </a:rPr>
              <a:t>Defense-critical manufacturing:  </a:t>
            </a:r>
            <a:r>
              <a:rPr sz="1300" b="0">
                <a:solidFill>
                  <a:srgbClr val="1A1A1A"/>
                </a:solidFill>
                <a:latin typeface="Calibri"/>
              </a:rPr>
              <a:t>room-temperature-cure, all-composite Type-5 tank = build/repair without an autoclave. Lead use case: B-2 / stealth aircraft fuel-tank depot &amp; field repair.</a:t>
            </a:r>
          </a:p>
          <a:p>
            <a:pPr>
              <a:lnSpc>
                <a:spcPct val="105000"/>
              </a:lnSpc>
              <a:spcAft>
                <a:spcPts val="800"/>
              </a:spcAft>
            </a:pPr>
            <a:r>
              <a:rPr sz="1300" b="1">
                <a:solidFill>
                  <a:srgbClr val="B31B1B"/>
                </a:solidFill>
                <a:latin typeface="Calibri"/>
              </a:rPr>
              <a:t>▪  </a:t>
            </a:r>
            <a:r>
              <a:rPr sz="1300" b="1">
                <a:solidFill>
                  <a:srgbClr val="0B1F3A"/>
                </a:solidFill>
                <a:latin typeface="Calibri"/>
              </a:rPr>
              <a:t>Domestic resilience:  </a:t>
            </a:r>
            <a:r>
              <a:rPr sz="1300" b="0">
                <a:solidFill>
                  <a:srgbClr val="1A1A1A"/>
                </a:solidFill>
                <a:latin typeface="Calibri"/>
              </a:rPr>
              <a:t>the reusable, recoverable U.S. alternative to foreign, single-source, expendable sounding rockets (Black Brant / Magellan).</a:t>
            </a:r>
          </a:p>
          <a:p>
            <a:pPr>
              <a:lnSpc>
                <a:spcPct val="105000"/>
              </a:lnSpc>
              <a:spcAft>
                <a:spcPts val="800"/>
              </a:spcAft>
            </a:pPr>
            <a:r>
              <a:rPr sz="1300" b="1">
                <a:solidFill>
                  <a:srgbClr val="B31B1B"/>
                </a:solidFill>
                <a:latin typeface="Calibri"/>
              </a:rPr>
              <a:t>▪  </a:t>
            </a:r>
            <a:r>
              <a:rPr sz="1300" b="1">
                <a:solidFill>
                  <a:srgbClr val="0B1F3A"/>
                </a:solidFill>
                <a:latin typeface="Calibri"/>
              </a:rPr>
              <a:t>Broad dual-use demand:  </a:t>
            </a:r>
            <a:r>
              <a:rPr sz="1300" b="0">
                <a:solidFill>
                  <a:srgbClr val="1A1A1A"/>
                </a:solidFill>
                <a:latin typeface="Calibri"/>
              </a:rPr>
              <a:t>hypersonics, SRM cases/COPVs, magnet insulation, on-orbit refueling; commercial hydrogen, aviation, fusion, semiconductor.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2000" cy="4572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os_white_tight.png"/>
          <p:cNvPicPr>
            <a:picLocks noChangeAspect="1"/>
          </p:cNvPicPr>
          <p:nvPr/>
        </p:nvPicPr>
        <p:blipFill>
          <a:blip r:embed="rId2"/>
          <a:stretch>
            <a:fillRect/>
          </a:stretch>
        </p:blipFill>
        <p:spPr>
          <a:xfrm>
            <a:off x="10494979" y="301752"/>
            <a:ext cx="1194102" cy="566928"/>
          </a:xfrm>
          <a:prstGeom prst="rect">
            <a:avLst/>
          </a:prstGeom>
        </p:spPr>
      </p:pic>
      <p:sp>
        <p:nvSpPr>
          <p:cNvPr id="5" name="TextBox 4"/>
          <p:cNvSpPr txBox="1"/>
          <p:nvPr/>
        </p:nvSpPr>
        <p:spPr>
          <a:xfrm>
            <a:off x="822960" y="256032"/>
            <a:ext cx="8412480" cy="731520"/>
          </a:xfrm>
          <a:prstGeom prst="rect">
            <a:avLst/>
          </a:prstGeom>
          <a:noFill/>
        </p:spPr>
        <p:txBody>
          <a:bodyPr wrap="square" anchor="ctr">
            <a:spAutoFit/>
          </a:bodyPr>
          <a:lstStyle/>
          <a:p>
            <a:r>
              <a:rPr sz="2000" b="1">
                <a:solidFill>
                  <a:srgbClr val="6F9AD0"/>
                </a:solidFill>
                <a:latin typeface="Calibri"/>
              </a:rPr>
              <a:t>  </a:t>
            </a:r>
            <a:r>
              <a:rPr sz="2400" b="1">
                <a:solidFill>
                  <a:srgbClr val="FFFFFF"/>
                </a:solidFill>
                <a:latin typeface="Calibri"/>
              </a:rPr>
              <a:t>The Capital Pathway — Title III Primary</a:t>
            </a:r>
          </a:p>
        </p:txBody>
      </p:sp>
      <p:sp>
        <p:nvSpPr>
          <p:cNvPr id="6" name="TextBox 5"/>
          <p:cNvSpPr txBox="1"/>
          <p:nvPr/>
        </p:nvSpPr>
        <p:spPr>
          <a:xfrm>
            <a:off x="822960" y="1417320"/>
            <a:ext cx="10607040" cy="822960"/>
          </a:xfrm>
          <a:prstGeom prst="rect">
            <a:avLst/>
          </a:prstGeom>
          <a:noFill/>
        </p:spPr>
        <p:txBody>
          <a:bodyPr wrap="square" anchor="t">
            <a:spAutoFit/>
          </a:bodyPr>
          <a:lstStyle/>
          <a:p>
            <a:pPr>
              <a:lnSpc>
                <a:spcPct val="105000"/>
              </a:lnSpc>
            </a:pPr>
            <a:r>
              <a:rPr sz="1550" b="1">
                <a:solidFill>
                  <a:srgbClr val="0B1F3A"/>
                </a:solidFill>
                <a:latin typeface="Calibri"/>
              </a:rPr>
              <a:t>Stack non-dilutive federal capacity funding first; use equity last and least.</a:t>
            </a:r>
          </a:p>
        </p:txBody>
      </p:sp>
      <p:sp>
        <p:nvSpPr>
          <p:cNvPr id="7" name="TextBox 6"/>
          <p:cNvSpPr txBox="1"/>
          <p:nvPr/>
        </p:nvSpPr>
        <p:spPr>
          <a:xfrm>
            <a:off x="822960" y="2286000"/>
            <a:ext cx="10698480" cy="2651760"/>
          </a:xfrm>
          <a:prstGeom prst="rect">
            <a:avLst/>
          </a:prstGeom>
          <a:noFill/>
        </p:spPr>
        <p:txBody>
          <a:bodyPr wrap="square" anchor="t">
            <a:spAutoFit/>
          </a:bodyPr>
          <a:lstStyle/>
          <a:p>
            <a:pPr>
              <a:lnSpc>
                <a:spcPct val="105000"/>
              </a:lnSpc>
              <a:spcAft>
                <a:spcPts val="800"/>
              </a:spcAft>
            </a:pPr>
            <a:r>
              <a:rPr sz="1300" b="1">
                <a:solidFill>
                  <a:srgbClr val="B31B1B"/>
                </a:solidFill>
                <a:latin typeface="Calibri"/>
              </a:rPr>
              <a:t>▪  </a:t>
            </a:r>
            <a:r>
              <a:rPr sz="1300" b="1">
                <a:solidFill>
                  <a:srgbClr val="0B1F3A"/>
                </a:solidFill>
                <a:latin typeface="Calibri"/>
              </a:rPr>
              <a:t>DPA Title III (PRIMARY):  </a:t>
            </a:r>
            <a:r>
              <a:rPr sz="1300" b="0">
                <a:solidFill>
                  <a:srgbClr val="1A1A1A"/>
                </a:solidFill>
                <a:latin typeface="Calibri"/>
              </a:rPr>
              <a:t>non-dilutive grants / purchase commitments for domestic manufacturing capacity — equipment, facilities, workforce.</a:t>
            </a:r>
            <a:r>
              <a:rPr sz="1300">
                <a:solidFill>
                  <a:srgbClr val="1A1A1A"/>
                </a:solidFill>
                <a:latin typeface="Calibri"/>
              </a:rPr>
              <a:t> Executed via NSTXL / the Defense Industrial Base Consortium (DIBC).</a:t>
            </a:r>
          </a:p>
          <a:p>
            <a:pPr>
              <a:lnSpc>
                <a:spcPct val="105000"/>
              </a:lnSpc>
              <a:spcAft>
                <a:spcPts val="800"/>
              </a:spcAft>
            </a:pPr>
            <a:r>
              <a:rPr sz="1300" b="1">
                <a:solidFill>
                  <a:srgbClr val="B31B1B"/>
                </a:solidFill>
                <a:latin typeface="Calibri"/>
              </a:rPr>
              <a:t>▪  </a:t>
            </a:r>
            <a:r>
              <a:rPr sz="1300" b="1">
                <a:solidFill>
                  <a:srgbClr val="0B1F3A"/>
                </a:solidFill>
                <a:latin typeface="Calibri"/>
              </a:rPr>
              <a:t>OSC (via Stifel):  </a:t>
            </a:r>
            <a:r>
              <a:rPr sz="1300" b="0">
                <a:solidFill>
                  <a:srgbClr val="1A1A1A"/>
                </a:solidFill>
                <a:latin typeface="Calibri"/>
              </a:rPr>
              <a:t>loans / equity for the cryo-tank manufacturing line ($10–150M; FY27 $20.2B authority), sitting under the note.</a:t>
            </a:r>
          </a:p>
          <a:p>
            <a:pPr>
              <a:lnSpc>
                <a:spcPct val="105000"/>
              </a:lnSpc>
              <a:spcAft>
                <a:spcPts val="800"/>
              </a:spcAft>
            </a:pPr>
            <a:r>
              <a:rPr sz="1300" b="1">
                <a:solidFill>
                  <a:srgbClr val="B31B1B"/>
                </a:solidFill>
                <a:latin typeface="Calibri"/>
              </a:rPr>
              <a:t>▪  </a:t>
            </a:r>
            <a:r>
              <a:rPr sz="1300" b="1">
                <a:solidFill>
                  <a:srgbClr val="0B1F3A"/>
                </a:solidFill>
                <a:latin typeface="Calibri"/>
              </a:rPr>
              <a:t>$50M note:  </a:t>
            </a:r>
            <a:r>
              <a:rPr sz="1300" b="0">
                <a:solidFill>
                  <a:srgbClr val="1A1A1A"/>
                </a:solidFill>
                <a:latin typeface="Calibri"/>
              </a:rPr>
              <a:t>equity / convertible for the corporate acquisitions (Scorpius ROFR, CTD) and partnerships (GTL, Goodman, Princeton).</a:t>
            </a:r>
          </a:p>
          <a:p>
            <a:pPr>
              <a:lnSpc>
                <a:spcPct val="105000"/>
              </a:lnSpc>
              <a:spcAft>
                <a:spcPts val="800"/>
              </a:spcAft>
            </a:pPr>
            <a:r>
              <a:rPr sz="1300" b="1">
                <a:solidFill>
                  <a:srgbClr val="B31B1B"/>
                </a:solidFill>
                <a:latin typeface="Calibri"/>
              </a:rPr>
              <a:t>▪  </a:t>
            </a:r>
            <a:r>
              <a:rPr sz="1300" b="1">
                <a:solidFill>
                  <a:srgbClr val="0B1F3A"/>
                </a:solidFill>
                <a:latin typeface="Calibri"/>
              </a:rPr>
              <a:t>Non-dilutive on top:  </a:t>
            </a:r>
            <a:r>
              <a:rPr sz="1300" b="0">
                <a:solidFill>
                  <a:srgbClr val="1A1A1A"/>
                </a:solidFill>
                <a:latin typeface="Calibri"/>
              </a:rPr>
              <a:t>SBIR Phase II→III, TACFI, NASA Flight Opportunities / Tipping Point.</a:t>
            </a:r>
          </a:p>
          <a:p>
            <a:pPr>
              <a:lnSpc>
                <a:spcPct val="105000"/>
              </a:lnSpc>
              <a:spcAft>
                <a:spcPts val="800"/>
              </a:spcAft>
            </a:pPr>
            <a:r>
              <a:rPr sz="1300" b="1">
                <a:solidFill>
                  <a:srgbClr val="B31B1B"/>
                </a:solidFill>
                <a:latin typeface="Calibri"/>
              </a:rPr>
              <a:t>▪  </a:t>
            </a:r>
            <a:r>
              <a:rPr sz="1300" b="1">
                <a:solidFill>
                  <a:srgbClr val="0B1F3A"/>
                </a:solidFill>
                <a:latin typeface="Calibri"/>
              </a:rPr>
              <a:t>Result:  </a:t>
            </a:r>
            <a:r>
              <a:rPr sz="1300" b="0">
                <a:solidFill>
                  <a:srgbClr val="1A1A1A"/>
                </a:solidFill>
                <a:latin typeface="Calibri"/>
              </a:rPr>
              <a:t>federal capacity dollars build the industrial base; investor capital captures the frozen-basis acquisitions.</a:t>
            </a:r>
          </a:p>
        </p:txBody>
      </p:sp>
      <p:sp>
        <p:nvSpPr>
          <p:cNvPr id="8" name="TextBox 7"/>
          <p:cNvSpPr txBox="1"/>
          <p:nvPr/>
        </p:nvSpPr>
        <p:spPr>
          <a:xfrm>
            <a:off x="822960" y="6217920"/>
            <a:ext cx="10515600" cy="457200"/>
          </a:xfrm>
          <a:prstGeom prst="rect">
            <a:avLst/>
          </a:prstGeom>
          <a:noFill/>
        </p:spPr>
        <p:txBody>
          <a:bodyPr wrap="square" anchor="t">
            <a:spAutoFit/>
          </a:bodyPr>
          <a:lstStyle/>
          <a:p>
            <a:r>
              <a:rPr sz="1050" b="0">
                <a:solidFill>
                  <a:srgbClr val="555555"/>
                </a:solidFill>
                <a:latin typeface="Calibri"/>
              </a:rPr>
              <a:t>Title III and OSC are complementary, not either/or. Securities matters route through counsel (Keyes).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licensed flight hardware, manufacturing, regulatory clearance. Moats that take years and cannot be cloned like an app.</a:t>
            </a:r>
          </a:p>
        </p:txBody>
      </p:sp>
      <p:sp>
        <p:nvSpPr>
          <p:cNvPr id="14" name="TextBox 13"/>
          <p:cNvSpPr txBox="1"/>
          <p:nvPr/>
        </p:nvSpPr>
        <p:spPr>
          <a:xfrm>
            <a:off x="731520" y="5650992"/>
            <a:ext cx="10698480" cy="640080"/>
          </a:xfrm>
          <a:prstGeom prst="rect">
            <a:avLst/>
          </a:prstGeom>
          <a:noFill/>
        </p:spPr>
        <p:txBody>
          <a:bodyPr wrap="square" anchor="t">
            <a:spAutoFit/>
          </a:bodyPr>
          <a:lstStyle/>
          <a:p>
            <a:pPr algn="l"/>
            <a:r>
              <a:rPr sz="1600" b="1">
                <a:solidFill>
                  <a:srgbClr val="FFB800"/>
                </a:solidFill>
                <a:latin typeface="Calibri"/>
              </a:rPr>
              <a:t>That difficulty is the opportunity. </a:t>
            </a:r>
            <a:r>
              <a:rPr sz="1600" b="1">
                <a:solidFill>
                  <a:srgbClr val="FFFFFF"/>
                </a:solidFill>
                <a:latin typeface="Calibri"/>
              </a:rPr>
              <a:t>Exos is already on the other side of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3 U.S. FAA-licensed reusable launch companies. The only active commercial suborbital rocket test operator, that we are aware of.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PLAY: own the whole lunar‑proven chain — resin to flight — and consolidate the Scorpius stack at a frozen 2021 basis, before the market reprices it as a completed package.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U.S.-licensed reusable suborbital rocket companies — and the only one currently booking commercial test campaigns, that we are aware of</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flies to space, executes reentry profiles, then recovers.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is the only licensed rocket operator offering commercial suborbital flight-test with full payload recovery, that we are aware of.</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Suborbital flight profile reaching 100+ km altitude</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FAA-licensed (3-13-2026) operations from Spaceport America, NM</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Own the stack — resin to flight: Scorpius's evolved resin (trade secret) and patented winding method for TRL‑9 Type‑5 tanks, integrated into Exos's FAA‑licensed reusable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Exos FY2025 Revenue: $1.49M (102% CAGR over 4 years)</a:t>
            </a:r>
          </a:p>
          <a:p>
            <a:pPr algn="l">
              <a:spcBef>
                <a:spcPts val="0"/>
              </a:spcBef>
              <a:spcAft>
                <a:spcPts val="600"/>
              </a:spcAft>
            </a:pPr>
            <a:r>
              <a:rPr sz="1300" b="0">
                <a:solidFill>
                  <a:srgbClr val="CCCCCC"/>
                </a:solidFill>
                <a:latin typeface="Calibri"/>
              </a:rPr>
              <a:t>•  Exos contract revenue Sept 2025 – July 2026: $1.9M</a:t>
            </a:r>
          </a:p>
          <a:p>
            <a:pPr algn="l">
              <a:spcBef>
                <a:spcPts val="0"/>
              </a:spcBef>
              <a:spcAft>
                <a:spcPts val="600"/>
              </a:spcAft>
            </a:pPr>
            <a:r>
              <a:rPr sz="1300" b="0">
                <a:solidFill>
                  <a:srgbClr val="CCCCCC"/>
                </a:solidFill>
                <a:latin typeface="Calibri"/>
              </a:rPr>
              <a:t>•  Scorpius revenue (pro forma): $3.1M for Sept 2025 – Sept 2026</a:t>
            </a:r>
          </a:p>
          <a:p>
            <a:pPr algn="l">
              <a:spcBef>
                <a:spcPts val="0"/>
              </a:spcBef>
              <a:spcAft>
                <a:spcPts val="600"/>
              </a:spcAft>
            </a:pPr>
            <a:r>
              <a:rPr sz="1300" b="0">
                <a:solidFill>
                  <a:srgbClr val="CCCCCC"/>
                </a:solidFill>
                <a:latin typeface="Calibri"/>
              </a:rPr>
              <a:t>•  Combined pro forma annual run-rate: ~$5M</a:t>
            </a:r>
          </a:p>
          <a:p>
            <a:r>
              <a:rPr sz="1300"/>
              <a:t>Exos FY2025 EBITDA: ~$296K (~20% margin) — first profitable year; ~$6.2M NOL carryforward</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($2M DoD + $2M match)</a:t>
            </a:r>
          </a:p>
          <a:p>
            <a:pPr algn="l">
              <a:spcBef>
                <a:spcPts val="0"/>
              </a:spcBef>
              <a:spcAft>
                <a:spcPts val="600"/>
              </a:spcAft>
            </a:pPr>
            <a:r>
              <a:rPr sz="1300" b="0">
                <a:solidFill>
                  <a:srgbClr val="CCCCCC"/>
                </a:solidFill>
                <a:latin typeface="Calibri"/>
              </a:rPr>
              <a:t>•  STRATFI ($30M) — follow-on, RDRE operational engine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Scorpius revenue shown pro forma pending acquisition close. Not yet consolidated Exos revenue.</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Government backbone + commercial fleet scaling — ~140%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BLK4 Commercial</a:t>
                      </a:r>
                    </a:p>
                  </a:txBody>
                  <a:tcPr>
                    <a:solidFill>
                      <a:srgbClr val="0A142A"/>
                    </a:solidFill>
                  </a:tcPr>
                </a:tc>
                <a:tc>
                  <a:txBody>
                    <a:bodyPr/>
                    <a:lstStyle/>
                    <a:p>
                      <a:r>
                        <a:rPr sz="1100" b="1">
                          <a:solidFill>
                            <a:srgbClr val="009ED9"/>
                          </a:solidFill>
                          <a:latin typeface="Calibri"/>
                        </a:rPr>
                        <a:t>Scorpius</a:t>
                      </a:r>
                    </a:p>
                  </a:txBody>
                  <a:tcPr>
                    <a:solidFill>
                      <a:srgbClr val="0A142A"/>
                    </a:solidFill>
                  </a:tcPr>
                </a:tc>
                <a:tc>
                  <a:txBody>
                    <a:bodyPr/>
                    <a:lstStyle/>
                    <a:p>
                      <a:r>
                        <a:rPr sz="1100" b="1">
                          <a:solidFill>
                            <a:srgbClr val="009ED9"/>
                          </a:solidFill>
                          <a:latin typeface="Calibri"/>
                        </a:rPr>
                        <a:t>TACFI/STRATFI</a:t>
                      </a:r>
                    </a:p>
                  </a:txBody>
                  <a:tcPr>
                    <a:solidFill>
                      <a:srgbClr val="0A142A"/>
                    </a:solidFill>
                  </a:tcPr>
                </a:tc>
                <a:tc>
                  <a:txBody>
                    <a:bodyPr/>
                    <a:lstStyle/>
                    <a:p>
                      <a:r>
                        <a:rPr sz="1100" b="1">
                          <a:solidFill>
                            <a:srgbClr val="009ED9"/>
                          </a:solidFill>
                          <a:latin typeface="Calibri"/>
                        </a:rPr>
                        <a:t>Other Gov/Svc</a:t>
                      </a:r>
                    </a:p>
                  </a:txBody>
                  <a:tcPr>
                    <a:solidFill>
                      <a:srgbClr val="0A142A"/>
                    </a:solidFill>
                  </a:tcPr>
                </a:tc>
                <a:tc>
                  <a:txBody>
                    <a:bodyPr/>
                    <a:lstStyle/>
                    <a:p>
                      <a:r>
                        <a:rPr sz="1100" b="1">
                          <a:solidFill>
                            <a:srgbClr val="009ED9"/>
                          </a:solidFill>
                          <a:latin typeface="Calibri"/>
                        </a:rPr>
                        <a:t>Combined</a:t>
                      </a:r>
                    </a:p>
                  </a:txBody>
                  <a:tcPr>
                    <a:solidFill>
                      <a:srgbClr val="0A142A"/>
                    </a:solidFill>
                  </a:tcPr>
                </a:tc>
                <a:tc>
                  <a:txBody>
                    <a:bodyPr/>
                    <a:lstStyle/>
                    <a:p>
                      <a:r>
                        <a:rPr sz="1100" b="1">
                          <a:solidFill>
                            <a:srgbClr val="009ED9"/>
                          </a:solidFill>
                          <a:latin typeface="Calibri"/>
                        </a:rPr>
                        <a:t>YoY</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146%</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2026E</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$2.65M</a:t>
                      </a:r>
                    </a:p>
                  </a:txBody>
                  <a:tcPr>
                    <a:solidFill>
                      <a:srgbClr val="101626"/>
                    </a:solidFill>
                  </a:tcPr>
                </a:tc>
                <a:tc>
                  <a:txBody>
                    <a:bodyPr/>
                    <a:lstStyle/>
                    <a:p>
                      <a:r>
                        <a:rPr sz="1100">
                          <a:solidFill>
                            <a:srgbClr val="FFFFFF"/>
                          </a:solidFill>
                          <a:latin typeface="Calibri"/>
                        </a:rPr>
                        <a:t>$0.7M</a:t>
                      </a:r>
                    </a:p>
                  </a:txBody>
                  <a:tcPr>
                    <a:solidFill>
                      <a:srgbClr val="101626"/>
                    </a:solidFill>
                  </a:tcPr>
                </a:tc>
                <a:tc>
                  <a:txBody>
                    <a:bodyPr/>
                    <a:lstStyle/>
                    <a:p>
                      <a:r>
                        <a:rPr sz="1100">
                          <a:solidFill>
                            <a:srgbClr val="FFFFFF"/>
                          </a:solidFill>
                          <a:latin typeface="Calibri"/>
                        </a:rPr>
                        <a:t>$1.1M</a:t>
                      </a:r>
                    </a:p>
                  </a:txBody>
                  <a:tcPr>
                    <a:solidFill>
                      <a:srgbClr val="101626"/>
                    </a:solidFill>
                  </a:tcPr>
                </a:tc>
                <a:tc>
                  <a:txBody>
                    <a:bodyPr/>
                    <a:lstStyle/>
                    <a:p>
                      <a:r>
                        <a:rPr sz="1100">
                          <a:solidFill>
                            <a:srgbClr val="FFFFFF"/>
                          </a:solidFill>
                          <a:latin typeface="Calibri"/>
                        </a:rPr>
                        <a:t>$4.4M</a:t>
                      </a:r>
                    </a:p>
                  </a:txBody>
                  <a:tcPr>
                    <a:solidFill>
                      <a:srgbClr val="101626"/>
                    </a:solidFill>
                  </a:tcPr>
                </a:tc>
                <a:tc>
                  <a:txBody>
                    <a:bodyPr/>
                    <a:lstStyle/>
                    <a:p>
                      <a:r>
                        <a:rPr sz="1100">
                          <a:solidFill>
                            <a:srgbClr val="FFFFFF"/>
                          </a:solidFill>
                          <a:latin typeface="Calibri"/>
                        </a:rPr>
                        <a:t>184%</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2027E</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$3.5M</a:t>
                      </a:r>
                    </a:p>
                  </a:txBody>
                  <a:tcPr>
                    <a:solidFill>
                      <a:srgbClr val="0D1220"/>
                    </a:solidFill>
                  </a:tcPr>
                </a:tc>
                <a:tc>
                  <a:txBody>
                    <a:bodyPr/>
                    <a:lstStyle/>
                    <a:p>
                      <a:r>
                        <a:rPr sz="1100">
                          <a:solidFill>
                            <a:srgbClr val="FFFFFF"/>
                          </a:solidFill>
                          <a:latin typeface="Calibri"/>
                        </a:rPr>
                        <a:t>$2.7M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41%</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2028E</a:t>
                      </a:r>
                    </a:p>
                  </a:txBody>
                  <a:tcPr>
                    <a:solidFill>
                      <a:srgbClr val="101626"/>
                    </a:solidFill>
                  </a:tcPr>
                </a:tc>
                <a:tc>
                  <a:txBody>
                    <a:bodyPr/>
                    <a:lstStyle/>
                    <a:p>
                      <a:r>
                        <a:rPr sz="1100">
                          <a:solidFill>
                            <a:srgbClr val="FFFFFF"/>
                          </a:solidFill>
                          <a:latin typeface="Calibri"/>
                        </a:rPr>
                        <a:t>$9.8M</a:t>
                      </a:r>
                    </a:p>
                  </a:txBody>
                  <a:tcPr>
                    <a:solidFill>
                      <a:srgbClr val="101626"/>
                    </a:solidFill>
                  </a:tcPr>
                </a:tc>
                <a:tc>
                  <a:txBody>
                    <a:bodyPr/>
                    <a:lstStyle/>
                    <a:p>
                      <a:r>
                        <a:rPr sz="1100">
                          <a:solidFill>
                            <a:srgbClr val="FFFFFF"/>
                          </a:solidFill>
                          <a:latin typeface="Calibri"/>
                        </a:rPr>
                        <a:t>$7.0M</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$25M</a:t>
                      </a:r>
                    </a:p>
                  </a:txBody>
                  <a:tcPr>
                    <a:solidFill>
                      <a:srgbClr val="101626"/>
                    </a:solidFill>
                  </a:tcPr>
                </a:tc>
                <a:tc>
                  <a:txBody>
                    <a:bodyPr/>
                    <a:lstStyle/>
                    <a:p>
                      <a:r>
                        <a:rPr sz="1100">
                          <a:solidFill>
                            <a:srgbClr val="FFFFFF"/>
                          </a:solidFill>
                          <a:latin typeface="Calibri"/>
                        </a:rPr>
                        <a:t>303%</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2029E</a:t>
                      </a:r>
                    </a:p>
                  </a:txBody>
                  <a:tcPr>
                    <a:solidFill>
                      <a:srgbClr val="0D1220"/>
                    </a:solidFill>
                  </a:tcPr>
                </a:tc>
                <a:tc>
                  <a:txBody>
                    <a:bodyPr/>
                    <a:lstStyle/>
                    <a:p>
                      <a:r>
                        <a:rPr sz="1100">
                          <a:solidFill>
                            <a:srgbClr val="FFFFFF"/>
                          </a:solidFill>
                          <a:latin typeface="Calibri"/>
                        </a:rPr>
                        <a:t>$31M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$10M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2030E</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$28M</a:t>
                      </a:r>
                    </a:p>
                  </a:txBody>
                  <a:tcPr>
                    <a:solidFill>
                      <a:srgbClr val="101626"/>
                    </a:solidFill>
                  </a:tcPr>
                </a:tc>
                <a:tc>
                  <a:txBody>
                    <a:bodyPr/>
                    <a:lstStyle/>
                    <a:p>
                      <a:r>
                        <a:rPr sz="1100">
                          <a:solidFill>
                            <a:srgbClr val="FFFFFF"/>
                          </a:solidFill>
                          <a:latin typeface="Calibri"/>
                        </a:rPr>
                        <a:t>$10M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$120M</a:t>
                      </a:r>
                    </a:p>
                  </a:txBody>
                  <a:tcPr>
                    <a:solidFill>
                      <a:srgbClr val="101626"/>
                    </a:solidFill>
                  </a:tcPr>
                </a:tc>
                <a:tc>
                  <a:txBody>
                    <a:bodyPr/>
                    <a:lstStyle/>
                    <a:p>
                      <a:r>
                        <a:rPr sz="1100">
                          <a:solidFill>
                            <a:srgbClr val="FFFFFF"/>
                          </a:solidFill>
                          <a:latin typeface="Calibri"/>
                        </a:rPr>
                        <a:t>118%</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BLK4 vehicle sale: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TACFI/STRATFI: 30% margin (70% COGS for gov't dev)</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Forward-looking projections from March 2026. Actuals through February 2026. See disclaimers on final slide.</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Tranche 1 — 100% deployed, zero idle capital (Tranche 1 of a $25M, 5-year raise)</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Scorpius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TBD</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FAA-LICENSED OPERATIONS</a:t>
            </a:r>
          </a:p>
          <a:p>
            <a:pPr algn="ctr"/>
            <a:r>
              <a:rPr lang="en-US" sz="1100" b="0" dirty="0">
                <a:solidFill>
                  <a:srgbClr val="CCCCCC"/>
                </a:solidFill>
              </a:rPr>
              <a:t>Reusable suborbital launch | ITAR-controlled technology | Government contracts | Spaceport America</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029200" cy="365760"/>
          </a:xfrm>
          <a:prstGeom prst="rect">
            <a:avLst/>
          </a:prstGeom>
          <a:noFill/>
        </p:spPr>
        <p:txBody>
          <a:bodyPr wrap="square">
            <a:spAutoFit/>
          </a:bodyPr>
          <a:lstStyle/>
          <a:p>
            <a:pPr algn="l">
              <a:spcAft>
                <a:spcPts val="400"/>
              </a:spcAft>
            </a:pPr>
            <a:r>
              <a:rPr sz="1400" b="1" dirty="0">
                <a:solidFill>
                  <a:srgbClr val="FFB800"/>
                </a:solidFill>
                <a:latin typeface="Calibri"/>
              </a:rPr>
              <a:t>PUBLIC-MARKET PATH — PRIMARY: TEXAS STOCK EXCHANGE (TXSE)</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Texas Stock Exchange (TXSE) — primary public path; target ~18–24 months, contingent on Series A close + TACFI/STRATFI engagement</a:t>
            </a:r>
          </a:p>
          <a:p>
            <a:pPr algn="l">
              <a:spcBef>
                <a:spcPts val="0"/>
              </a:spcBef>
              <a:spcAft>
                <a:spcPts val="300"/>
              </a:spcAft>
            </a:pPr>
            <a:r>
              <a:rPr sz="1100" b="0">
                <a:solidFill>
                  <a:srgbClr val="CCCCCC"/>
                </a:solidFill>
                <a:latin typeface="Calibri"/>
              </a:rPr>
              <a:t>(Prior Euronext Dublin / EU listing route discontinued)</a:t>
            </a:r>
          </a:p>
          <a:p>
            <a:pPr algn="l">
              <a:spcBef>
                <a:spcPts val="0"/>
              </a:spcBef>
              <a:spcAft>
                <a:spcPts val="300"/>
              </a:spcAft>
            </a:pPr>
            <a:r>
              <a:rPr sz="1100" b="0">
                <a:solidFill>
                  <a:srgbClr val="CCCCCC"/>
                </a:solidFill>
                <a:latin typeface="Calibri"/>
              </a:rPr>
              <a:t>Currently a private growth Series A; TXSE-primary is the single, dated destination — no interim OTC / Reg A+ route is being marketed.</a:t>
            </a:r>
          </a:p>
          <a:p>
            <a:pPr algn="l">
              <a:spcBef>
                <a:spcPts val="0"/>
              </a:spcBef>
              <a:spcAft>
                <a:spcPts val="300"/>
              </a:spcAft>
            </a:pPr>
            <a:r>
              <a:rPr sz="1100" b="0">
                <a:solidFill>
                  <a:srgbClr val="CCCCCC"/>
                </a:solidFill>
                <a:latin typeface="Calibri"/>
              </a:rPr>
              <a:t/>
            </a: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Aug–Oct 2026: Capital deployed + Scorpius close</a:t>
            </a:r>
          </a:p>
          <a:p>
            <a:pPr algn="l">
              <a:spcBef>
                <a:spcPts val="0"/>
              </a:spcBef>
              <a:spcAft>
                <a:spcPts val="300"/>
              </a:spcAft>
            </a:pPr>
            <a:r>
              <a:rPr lang="en-US" sz="1100" b="0" dirty="0">
                <a:solidFill>
                  <a:srgbClr val="CCCCCC"/>
                </a:solidFill>
              </a:rPr>
              <a:t>•  2027: Listing prep + regulatory filings</a:t>
            </a:r>
          </a:p>
          <a:p>
            <a:pPr algn="l">
              <a:spcBef>
                <a:spcPts val="0"/>
              </a:spcBef>
              <a:spcAft>
                <a:spcPts val="300"/>
              </a:spcAft>
            </a:pPr>
            <a:r>
              <a:rPr lang="en-US" sz="1100" b="0" dirty="0">
                <a:solidFill>
                  <a:srgbClr val="CCCCCC"/>
                </a:solidFill>
              </a:rPr>
              <a:t>•  Q1–Q2 2028: Admission to trading</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Multiple</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$436M</a:t>
                      </a:r>
                    </a:p>
                  </a:txBody>
                  <a:tcPr>
                    <a:solidFill>
                      <a:srgbClr val="0D1220"/>
                    </a:solidFill>
                  </a:tcPr>
                </a:tc>
                <a:tc>
                  <a:txBody>
                    <a:bodyPr/>
                    <a:lstStyle/>
                    <a:p>
                      <a:r>
                        <a:rPr sz="1100">
                          <a:solidFill>
                            <a:srgbClr val="FFFFFF"/>
                          </a:solidFill>
                          <a:latin typeface="Calibri"/>
                        </a:rPr>
                        <a:t>27x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Intuitive Machines (LUNR)</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$3.2B</a:t>
                      </a:r>
                    </a:p>
                  </a:txBody>
                  <a:tcPr>
                    <a:solidFill>
                      <a:srgbClr val="101626"/>
                    </a:solidFill>
                  </a:tcPr>
                </a:tc>
                <a:tc>
                  <a:txBody>
                    <a:bodyPr/>
                    <a:lstStyle/>
                    <a:p>
                      <a:r>
                        <a:rPr sz="1100">
                          <a:solidFill>
                            <a:srgbClr val="FFFFFF"/>
                          </a:solidFill>
                          <a:latin typeface="Calibri"/>
                        </a:rPr>
                        <a:t>$227M</a:t>
                      </a:r>
                    </a:p>
                  </a:txBody>
                  <a:tcPr>
                    <a:solidFill>
                      <a:srgbClr val="101626"/>
                    </a:solidFill>
                  </a:tcPr>
                </a:tc>
                <a:tc>
                  <a:txBody>
                    <a:bodyPr/>
                    <a:lstStyle/>
                    <a:p>
                      <a:r>
                        <a:rPr sz="1100">
                          <a:solidFill>
                            <a:srgbClr val="FFFFFF"/>
                          </a:solidFill>
                          <a:latin typeface="Calibri"/>
                        </a:rPr>
                        <a:t>14x</a:t>
                      </a:r>
                    </a:p>
                  </a:txBody>
                  <a:tcPr>
                    <a:solidFill>
                      <a:srgbClr val="101626"/>
                    </a:solidFill>
                  </a:tcPr>
                </a:tc>
                <a:tc>
                  <a:txBody>
                    <a:bodyPr/>
                    <a:lstStyle/>
                    <a:p>
                      <a:r>
                        <a:rPr sz="1100">
                          <a:solidFill>
                            <a:srgbClr val="FFFFFF"/>
                          </a:solidFill>
                          <a:latin typeface="Calibri"/>
                        </a:rPr>
                        <a:t>Uses Scorpius tanks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Spire Global (SPIR)</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$600M</a:t>
                      </a:r>
                    </a:p>
                  </a:txBody>
                  <a:tcPr>
                    <a:solidFill>
                      <a:srgbClr val="0D1220"/>
                    </a:solidFill>
                  </a:tcPr>
                </a:tc>
                <a:tc>
                  <a:txBody>
                    <a:bodyPr/>
                    <a:lstStyle/>
                    <a:p>
                      <a:r>
                        <a:rPr sz="1100">
                          <a:solidFill>
                            <a:srgbClr val="FFFFFF"/>
                          </a:solidFill>
                          <a:latin typeface="Calibri"/>
                        </a:rPr>
                        <a:t>$110M</a:t>
                      </a:r>
                    </a:p>
                  </a:txBody>
                  <a:tcPr>
                    <a:solidFill>
                      <a:srgbClr val="0D1220"/>
                    </a:solidFill>
                  </a:tcPr>
                </a:tc>
                <a:tc>
                  <a:txBody>
                    <a:bodyPr/>
                    <a:lstStyle/>
                    <a:p>
                      <a:r>
                        <a:rPr sz="1100">
                          <a:solidFill>
                            <a:srgbClr val="FFFFFF"/>
                          </a:solidFill>
                          <a:latin typeface="Calibri"/>
                        </a:rPr>
                        <a:t>5x</a:t>
                      </a:r>
                    </a:p>
                  </a:txBody>
                  <a:tcPr>
                    <a:solidFill>
                      <a:srgbClr val="0D1220"/>
                    </a:solidFill>
                  </a:tcPr>
                </a:tc>
                <a:tc>
                  <a:txBody>
                    <a:bodyPr/>
                    <a:lstStyle/>
                    <a:p>
                      <a:r>
                        <a:rPr sz="1100">
                          <a:solidFill>
                            <a:srgbClr val="FFFFFF"/>
                          </a:solidFill>
                          <a:latin typeface="Calibri"/>
                        </a:rPr>
                        <a:t>Space data/analytics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Mynaric (MYNA)</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$180M</a:t>
                      </a:r>
                    </a:p>
                  </a:txBody>
                  <a:tcPr>
                    <a:solidFill>
                      <a:srgbClr val="101626"/>
                    </a:solidFill>
                  </a:tcPr>
                </a:tc>
                <a:tc>
                  <a:txBody>
                    <a:bodyPr/>
                    <a:lstStyle/>
                    <a:p>
                      <a:r>
                        <a:rPr sz="1100">
                          <a:solidFill>
                            <a:srgbClr val="FFFFFF"/>
                          </a:solidFill>
                          <a:latin typeface="Calibri"/>
                        </a:rPr>
                        <a:t>$40M</a:t>
                      </a:r>
                    </a:p>
                  </a:txBody>
                  <a:tcPr>
                    <a:solidFill>
                      <a:srgbClr val="101626"/>
                    </a:solidFill>
                  </a:tcPr>
                </a:tc>
                <a:tc>
                  <a:txBody>
                    <a:bodyPr/>
                    <a:lstStyle/>
                    <a:p>
                      <a:r>
                        <a:rPr sz="1100">
                          <a:solidFill>
                            <a:srgbClr val="FFFFFF"/>
                          </a:solidFill>
                          <a:latin typeface="Calibri"/>
                        </a:rPr>
                        <a:t>4.5x</a:t>
                      </a:r>
                    </a:p>
                  </a:txBody>
                  <a:tcPr>
                    <a:solidFill>
                      <a:srgbClr val="101626"/>
                    </a:solidFill>
                  </a:tcPr>
                </a:tc>
                <a:tc>
                  <a:txBody>
                    <a:bodyPr/>
                    <a:lstStyle/>
                    <a:p>
                      <a:r>
                        <a:rPr sz="1100">
                          <a:solidFill>
                            <a:srgbClr val="FFFFFF"/>
                          </a:solidFill>
                          <a:latin typeface="Calibri"/>
                        </a:rPr>
                        <a:t>Laser comms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$320M</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Suborbital tourism</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Comps cross-check: 4–6x 2028E combined revenue ($25M) ≈ $100–150M EV — in line with peers adjusted for growth
CY2028 = first year of full commercial operations</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(Scorpius + RDRE)
• $34M gov't funding pipeline = revenue floor</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is the only TRL 9 technology of its kind available commercially that we are aware of.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POLICY TAILWIND — THE 'GOLDEN AGE OF SPACE TRANSPORTATION'</a:t>
            </a:r>
          </a:p>
        </p:txBody>
      </p:sp>
      <p:sp>
        <p:nvSpPr>
          <p:cNvPr id="3" name="Content Placeholder 2"/>
          <p:cNvSpPr>
            <a:spLocks noGrp="1"/>
          </p:cNvSpPr>
          <p:nvPr>
            <p:ph idx="1"/>
          </p:nvPr>
        </p:nvSpPr>
        <p:spPr/>
        <p:txBody>
          <a:bodyPr wrap="square"/>
          <a:lstStyle/>
          <a:p>
            <a:pPr>
              <a:defRPr sz="1500"/>
            </a:pPr>
            <a:r>
              <a:t>New U.S. National Space Transportation Policy (Aug 2026) targets 1,000+ launches AND reentries per year by 2030 — a ~10x market expansion; reentry is the underserved half.</a:t>
            </a:r>
          </a:p>
          <a:p>
            <a:pPr>
              <a:defRPr sz="1500"/>
            </a:pPr>
            <a:r>
              <a:t>Reusable + recoverable: every Exos flight is a launch and a reentry — native to the policy's hardest goal, where few operators compete.</a:t>
            </a:r>
          </a:p>
          <a:p>
            <a:pPr>
              <a:defRPr sz="1500"/>
            </a:pPr>
            <a:r>
              <a:t>48-hour responsive launch: demonstrated by Exos Project Karmen (USAF-funded, 2 flights in 48 hours).</a:t>
            </a:r>
          </a:p>
          <a:p>
            <a:pPr>
              <a:defRPr sz="1500"/>
            </a:pPr>
            <a:r>
              <a:t>Spaceport &amp; reentry-site build-out + streamlined Part 450 portfolio licensing favor Exos's minimal-infrastructure, multi-site model (West Texas).</a:t>
            </a:r>
          </a:p>
          <a:p>
            <a:pPr>
              <a:defRPr sz="1500"/>
            </a:pPr>
            <a:r>
              <a:t>Commercial Moon/Mars push + export emphasis align with Scorpius Type-5 tanks (lunar heritage) and international wet-lease.</a:t>
            </a:r>
          </a:p>
          <a:p>
            <a:pPr>
              <a:defRPr sz="1500"/>
            </a:pPr>
            <a:r>
              <a:t>Net: federal demand-pull that reinforces the Title III / OSC capital pathway and the market-timing thesis.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Lunar Lander Challenge 1</a:t>
              </a:r>
              <a:r>
                <a:rPr lang="en-US" sz="1200" baseline="30000" dirty="0">
                  <a:solidFill>
                    <a:prstClr val="white"/>
                  </a:solidFill>
                  <a:sym typeface="Arial"/>
                </a:rPr>
                <a:t>st</a:t>
              </a:r>
              <a:r>
                <a:rPr lang="en-US" sz="1200" dirty="0">
                  <a:solidFill>
                    <a:prstClr val="white"/>
                  </a:solidFill>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Lunar Lander Challenge 2009 — Armadillo prize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latin typeface="Duplicate Sans Medium" pitchFamily="2" charset="77"/>
                  <a:sym typeface="Arial"/>
                </a:rPr>
                <a:t>2010-2013</a:t>
              </a:r>
              <a:r>
                <a:rPr lang="en-US" dirty="0">
                  <a:solidFill>
                    <a:prstClr val="white"/>
                  </a:solidFill>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defTabSz="914384">
              <a:defRPr/>
            </a:pPr>
            <a:endParaRPr lang="en-US" sz="1600" dirty="0">
              <a:solidFill>
                <a:prstClr val="white"/>
              </a:solidFill>
              <a:latin typeface="Calibri" panose="020F0502020204030204"/>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Super Mod</a:t>
            </a:r>
          </a:p>
          <a:p>
            <a:pPr marL="0" indent="0" algn="ctr" defTabSz="914384">
              <a:buNone/>
              <a:defRPr/>
            </a:pPr>
            <a:r>
              <a:rPr lang="en-US" sz="1200" dirty="0">
                <a:solidFill>
                  <a:prstClr val="white"/>
                </a:solidFill>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4 Launches and 3 recoveries on 1</a:t>
            </a:r>
            <a:r>
              <a:rPr lang="en-US" baseline="30000" dirty="0">
                <a:solidFill>
                  <a:prstClr val="white"/>
                </a:solidFill>
                <a:sym typeface="Arial"/>
              </a:rPr>
              <a:t>st </a:t>
            </a:r>
            <a:r>
              <a:rPr lang="en-US" dirty="0">
                <a:solidFill>
                  <a:prstClr val="white"/>
                </a:solidFill>
                <a:sym typeface="Arial"/>
              </a:rPr>
              <a:t> SARGE vehicle</a:t>
            </a:r>
          </a:p>
          <a:p>
            <a:pPr defTabSz="914384">
              <a:defRPr/>
            </a:pPr>
            <a:r>
              <a:rPr lang="en-US" dirty="0">
                <a:solidFill>
                  <a:prstClr val="white"/>
                </a:solidFill>
                <a:latin typeface="Duplicate Sans Medium" pitchFamily="2" charset="77"/>
                <a:sym typeface="Arial"/>
              </a:rPr>
              <a:t>Aug 2018 – Oct 2019</a:t>
            </a:r>
          </a:p>
          <a:p>
            <a:pPr defTabSz="914384">
              <a:defRPr/>
            </a:pPr>
            <a:endParaRPr lang="en-US" dirty="0">
              <a:solidFill>
                <a:prstClr val="white"/>
              </a:solidFill>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769703" y="-437011"/>
            <a:ext cx="369332" cy="6856508"/>
            <a:chOff x="9308068" y="487595"/>
            <a:chExt cx="369332"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9632067" y="487595"/>
              <a:ext cx="0" cy="659900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9093387" y="2369760"/>
              <a:ext cx="798694" cy="369332"/>
            </a:xfrm>
            <a:prstGeom prst="rect">
              <a:avLst/>
            </a:prstGeom>
            <a:noFill/>
          </p:spPr>
          <p:txBody>
            <a:bodyPr wrap="square" rtlCol="0">
              <a:spAutoFit/>
            </a:bodyPr>
            <a:lstStyle/>
            <a:p>
              <a:pPr algn="ctr" defTabSz="914384">
                <a:defRPr/>
              </a:pPr>
              <a:r>
                <a:rPr lang="en-US" dirty="0">
                  <a:solidFill>
                    <a:srgbClr val="C00000"/>
                  </a:solidFill>
                  <a:latin typeface="Duplicate Sans Light" pitchFamily="2" charset="77"/>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758112" y="1688528"/>
            <a:ext cx="1651475" cy="1754326"/>
          </a:xfrm>
          <a:prstGeom prst="rect">
            <a:avLst/>
          </a:prstGeom>
        </p:spPr>
        <p:txBody>
          <a:bodyPr wrap="square">
            <a:spAutoFit/>
          </a:bodyPr>
          <a:lstStyle/>
          <a:p>
            <a:pPr defTabSz="914384">
              <a:defRPr/>
            </a:pPr>
            <a:r>
              <a:rPr lang="en-US" sz="1200" dirty="0">
                <a:solidFill>
                  <a:prstClr val="white"/>
                </a:solidFill>
                <a:latin typeface="Duplicate Sans Regular" pitchFamily="2" charset="77"/>
                <a:cs typeface="Arial"/>
                <a:sym typeface="Arial"/>
              </a:rPr>
              <a:t>Italy $6.4M grant LOI.  2022 -2025 Exos Aerospace Italia </a:t>
            </a:r>
            <a:r>
              <a:rPr lang="en-US" sz="1200" dirty="0" err="1">
                <a:solidFill>
                  <a:prstClr val="white"/>
                </a:solidFill>
                <a:latin typeface="Duplicate Sans Regular" pitchFamily="2" charset="77"/>
                <a:cs typeface="Arial"/>
                <a:sym typeface="Arial"/>
              </a:rPr>
              <a:t>Srl</a:t>
            </a:r>
            <a:r>
              <a:rPr lang="en-US" sz="1200" dirty="0">
                <a:solidFill>
                  <a:prstClr val="white"/>
                </a:solidFill>
                <a:latin typeface="Duplicate Sans Regular" pitchFamily="2" charset="77"/>
                <a:cs typeface="Arial"/>
                <a:sym typeface="Arial"/>
              </a:rPr>
              <a:t>  work with Defense on Suborbital Air Launch   development and work with Spaceland.it on microgravity research</a:t>
            </a:r>
          </a:p>
          <a:p>
            <a:pPr defTabSz="914384">
              <a:defRPr/>
            </a:pPr>
            <a:endParaRPr lang="en-US" sz="1200" dirty="0">
              <a:solidFill>
                <a:prstClr val="white"/>
              </a:solidFill>
              <a:latin typeface="Duplicate Sans Regular" pitchFamily="2" charset="77"/>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2024- 2026</a:t>
            </a:r>
          </a:p>
          <a:p>
            <a:pPr defTabSz="914384">
              <a:defRPr/>
            </a:pPr>
            <a:r>
              <a:rPr lang="en-US" dirty="0">
                <a:solidFill>
                  <a:prstClr val="white"/>
                </a:solidFill>
                <a:sym typeface="Arial"/>
              </a:rPr>
              <a:t> DoD HVRR Rotating Detonation Rocket Engine  (RDRE)  Test Vehicle Design and build USAF contracts</a:t>
            </a:r>
          </a:p>
          <a:p>
            <a:pPr defTabSz="914384">
              <a:defRPr/>
            </a:pPr>
            <a:endParaRPr lang="en-US" dirty="0">
              <a:solidFill>
                <a:prstClr val="white"/>
              </a:solidFill>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20487" y="3473856"/>
            <a:ext cx="1334123" cy="2409890"/>
          </a:xfrm>
          <a:prstGeom prst="rect">
            <a:avLst/>
          </a:prstGeom>
        </p:spPr>
        <p:txBody>
          <a:bodyPr wrap="square">
            <a:spAutoFit/>
          </a:bodyPr>
          <a:lstStyle/>
          <a:p>
            <a:pPr algn="ctr" defTabSz="914384">
              <a:defRPr/>
            </a:pPr>
            <a:r>
              <a:rPr lang="en-US" sz="1255" kern="0" dirty="0">
                <a:solidFill>
                  <a:prstClr val="white"/>
                </a:solidFill>
                <a:latin typeface="Arial"/>
                <a:cs typeface="Arial"/>
                <a:sym typeface="Arial"/>
              </a:rPr>
              <a:t>Our OTV-enabled service offers LEO → Moon → Earth round-trip capability — a distinct transport solution powered by technology only we provide.”</a:t>
            </a:r>
            <a:endParaRPr lang="en-US" sz="1200" dirty="0">
              <a:solidFill>
                <a:prstClr val="white"/>
              </a:solidFill>
              <a:latin typeface="Duplicate Sans Light" pitchFamily="2" charset="77"/>
              <a:cs typeface="Arial"/>
              <a:sym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84">
              <a:defRPr/>
            </a:pPr>
            <a:endParaRPr lang="en-US" sz="1200" dirty="0">
              <a:solidFill>
                <a:prstClr val="white"/>
              </a:solidFill>
              <a:latin typeface="Duplicate Sans Regular" pitchFamily="2" charset="77"/>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1" name="Group 290">
            <a:extLst>
              <a:ext uri="{FF2B5EF4-FFF2-40B4-BE49-F238E27FC236}">
                <a16:creationId xmlns:a16="http://schemas.microsoft.com/office/drawing/2014/main" id="{BD255554-5765-6A42-9AEF-A854CB2E4B77}"/>
              </a:ext>
            </a:extLst>
          </p:cNvPr>
          <p:cNvGrpSpPr/>
          <p:nvPr/>
        </p:nvGrpSpPr>
        <p:grpSpPr>
          <a:xfrm>
            <a:off x="11179459" y="3217498"/>
            <a:ext cx="316547" cy="316547"/>
            <a:chOff x="762004" y="3201390"/>
            <a:chExt cx="457195" cy="457195"/>
          </a:xfrm>
        </p:grpSpPr>
        <p:sp>
          <p:nvSpPr>
            <p:cNvPr id="292" name="Oval 291">
              <a:extLst>
                <a:ext uri="{FF2B5EF4-FFF2-40B4-BE49-F238E27FC236}">
                  <a16:creationId xmlns:a16="http://schemas.microsoft.com/office/drawing/2014/main" id="{C75C9E9B-B4CC-C44E-9409-B4815E1C67D4}"/>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3" name="Oval 292">
              <a:extLst>
                <a:ext uri="{FF2B5EF4-FFF2-40B4-BE49-F238E27FC236}">
                  <a16:creationId xmlns:a16="http://schemas.microsoft.com/office/drawing/2014/main" id="{35746170-F290-7B4F-B385-FDAACCF0043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4" name="Oval 293">
              <a:extLst>
                <a:ext uri="{FF2B5EF4-FFF2-40B4-BE49-F238E27FC236}">
                  <a16:creationId xmlns:a16="http://schemas.microsoft.com/office/drawing/2014/main" id="{433D9D9F-FD1B-B842-9732-4EEA47544236}"/>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95" name="Straight Connector 294">
            <a:extLst>
              <a:ext uri="{FF2B5EF4-FFF2-40B4-BE49-F238E27FC236}">
                <a16:creationId xmlns:a16="http://schemas.microsoft.com/office/drawing/2014/main" id="{E6259372-27C7-3E40-8925-123E12025AA1}"/>
              </a:ext>
            </a:extLst>
          </p:cNvPr>
          <p:cNvCxnSpPr>
            <a:cxnSpLocks/>
            <a:endCxn id="292" idx="0"/>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defTabSz="914384">
              <a:defRPr/>
            </a:pPr>
            <a:r>
              <a:rPr lang="en-US" sz="1200" dirty="0">
                <a:solidFill>
                  <a:srgbClr val="FF0000"/>
                </a:solidFill>
                <a:latin typeface="Calibri" panose="020F0502020204030204"/>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2025</a:t>
            </a:r>
          </a:p>
        </p:txBody>
      </p:sp>
      <p:sp>
        <p:nvSpPr>
          <p:cNvPr id="304" name="Rectangle 303">
            <a:extLst>
              <a:ext uri="{FF2B5EF4-FFF2-40B4-BE49-F238E27FC236}">
                <a16:creationId xmlns:a16="http://schemas.microsoft.com/office/drawing/2014/main" id="{0C43A2BF-7A99-3645-B2BE-53801B2A24FE}"/>
              </a:ext>
            </a:extLst>
          </p:cNvPr>
          <p:cNvSpPr/>
          <p:nvPr/>
        </p:nvSpPr>
        <p:spPr>
          <a:xfrm>
            <a:off x="11291931" y="3221065"/>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2028</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092268" y="1526356"/>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2026+</a:t>
            </a:r>
            <a:r>
              <a:rPr lang="en-US" sz="1255" dirty="0">
                <a:solidFill>
                  <a:prstClr val="white"/>
                </a:solidFill>
                <a:highlight>
                  <a:srgbClr val="000000"/>
                </a:highlight>
                <a:latin typeface="Metrophobic" panose="020B0604020202020204" charset="0"/>
                <a:sym typeface="Arial"/>
              </a:rPr>
              <a:t> Technology and Reputation Risk Reduction flights testing your hardware and software on our Reusable Rockets</a:t>
            </a:r>
            <a:endParaRPr lang="en-US" sz="1255" kern="0" dirty="0">
              <a:solidFill>
                <a:prstClr val="white"/>
              </a:solidFill>
              <a:highlight>
                <a:srgbClr val="000000"/>
              </a:highlight>
              <a:latin typeface="Metrophobic" panose="020B0604020202020204" charset="0"/>
              <a:cs typeface="Arial"/>
              <a:sym typeface="Arial"/>
            </a:endParaRPr>
          </a:p>
          <a:p>
            <a:pPr defTabSz="914384">
              <a:defRPr/>
            </a:pPr>
            <a:endParaRPr lang="en-US" dirty="0">
              <a:solidFill>
                <a:prstClr val="white"/>
              </a:solidFill>
              <a:sym typeface="Arial"/>
            </a:endParaRPr>
          </a:p>
          <a:p>
            <a:pPr defTabSz="914384">
              <a:defRPr/>
            </a:pPr>
            <a:endParaRPr lang="en-US" dirty="0">
              <a:solidFill>
                <a:prstClr val="white"/>
              </a:solidFill>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2022 USAF Contract for Hypersonic Reusable Launch Vehicle</a:t>
            </a:r>
            <a:endParaRPr lang="en-US" dirty="0">
              <a:solidFill>
                <a:prstClr val="white"/>
              </a:solidFill>
              <a:latin typeface="Duplicate Sans Medium" pitchFamily="2" charset="77"/>
              <a:sym typeface="Arial"/>
            </a:endParaRPr>
          </a:p>
          <a:p>
            <a:pPr defTabSz="914384">
              <a:defRPr/>
            </a:pPr>
            <a:endParaRPr lang="en-US" dirty="0">
              <a:solidFill>
                <a:prstClr val="white"/>
              </a:solidFill>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344841" y="6387362"/>
            <a:ext cx="2781660" cy="461665"/>
          </a:xfrm>
          <a:prstGeom prst="rect">
            <a:avLst/>
          </a:prstGeom>
          <a:noFill/>
        </p:spPr>
        <p:txBody>
          <a:bodyPr wrap="none" rtlCol="0">
            <a:spAutoFit/>
          </a:bodyPr>
          <a:lstStyle/>
          <a:p>
            <a:pPr defTabSz="914384">
              <a:defRPr/>
            </a:pPr>
            <a:r>
              <a:rPr lang="en-US" sz="1200" dirty="0">
                <a:solidFill>
                  <a:prstClr val="white"/>
                </a:solidFill>
                <a:latin typeface="Calibri" panose="020F0502020204030204"/>
                <a:cs typeface="Arial"/>
                <a:sym typeface="Arial"/>
              </a:rPr>
              <a:t>Working with companies like Vaya Space </a:t>
            </a:r>
          </a:p>
          <a:p>
            <a:pPr algn="ctr" defTabSz="914384">
              <a:defRPr/>
            </a:pPr>
            <a:r>
              <a:rPr lang="en-US" sz="1200" dirty="0">
                <a:solidFill>
                  <a:prstClr val="white"/>
                </a:solidFill>
                <a:latin typeface="Calibri" panose="020F0502020204030204"/>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defTabSz="914384">
              <a:defRPr/>
            </a:pPr>
            <a:r>
              <a:rPr lang="en-US" b="1" i="1" dirty="0">
                <a:solidFill>
                  <a:schemeClr val="accent4"/>
                </a:solidFill>
                <a:latin typeface="Calibri" panose="020F0502020204030204"/>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477178" y="5618110"/>
            <a:ext cx="798392" cy="1206981"/>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Tree>
    <p:extLst>
      <p:ext uri="{BB962C8B-B14F-4D97-AF65-F5344CB8AC3E}">
        <p14:creationId xmlns:p14="http://schemas.microsoft.com/office/powerpoint/2010/main" val="354498470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appointed;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timeline</a:t>
                      </a:r>
                    </a:p>
                  </a:txBody>
                  <a:tcPr>
                    <a:solidFill>
                      <a:srgbClr val="0D1220"/>
                    </a:solidFill>
                  </a:tcPr>
                </a:tc>
                <a:tc>
                  <a:txBody>
                    <a:bodyPr/>
                    <a:lstStyle/>
                    <a:p>
                      <a:r>
                        <a:rPr sz="1100">
                          <a:solidFill>
                            <a:srgbClr val="FFFFFF"/>
                          </a:solidFill>
                          <a:latin typeface="Calibri"/>
                        </a:rPr>
                        <a:t>18–24 mo. development in projections; CY2026–2027 revenue not BLK4 dependent</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ASK — TITLE III PRIMARY</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Licensed Reusable Launch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endParaRPr/>
                    </a:p>
                  </a:txBody>
                  <a:tcPr>
                    <a:solidFill>
                      <a:srgbClr val="0A142A"/>
                    </a:solidFill>
                  </a:tcPr>
                </a:tc>
                <a:tc>
                  <a:txBody>
                    <a:bodyPr/>
                    <a:lstStyle/>
                    <a:p>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Raising</a:t>
                      </a:r>
                    </a:p>
                  </a:txBody>
                  <a:tcPr>
                    <a:solidFill>
                      <a:srgbClr val="0D1220"/>
                    </a:solidFill>
                  </a:tcPr>
                </a:tc>
                <a:tc>
                  <a:txBody>
                    <a:bodyPr/>
                    <a:lstStyle/>
                    <a:p>
                      <a:r>
                        <a:rPr sz="1100">
                          <a:solidFill>
                            <a:srgbClr val="FFFFFF"/>
                          </a:solidFill>
                          <a:latin typeface="Calibri"/>
                        </a:rPr>
                        <a:t>$10M Tranche 1 (of $25M over 5 years)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Revenue Trajectory</a:t>
                      </a:r>
                    </a:p>
                  </a:txBody>
                  <a:tcPr>
                    <a:solidFill>
                      <a:srgbClr val="101626"/>
                    </a:solidFill>
                  </a:tcPr>
                </a:tc>
                <a:tc>
                  <a:txBody>
                    <a:bodyPr/>
                    <a:lstStyle/>
                    <a:p>
                      <a:r>
                        <a:rPr sz="1100">
                          <a:solidFill>
                            <a:srgbClr val="FFFFFF"/>
                          </a:solidFill>
                          <a:latin typeface="Calibri"/>
                        </a:rPr>
                        <a:t>$4.4M (2026) → $6.2M → $25M → $55M → $120M (2030)</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Reusable Launch License</a:t>
                      </a:r>
                    </a:p>
                  </a:txBody>
                  <a:tcPr>
                    <a:solidFill>
                      <a:srgbClr val="0D1220"/>
                    </a:solidFill>
                  </a:tcPr>
                </a:tc>
                <a:tc>
                  <a:txBody>
                    <a:bodyPr/>
                    <a:lstStyle/>
                    <a:p>
                      <a:r>
                        <a:rPr sz="1100">
                          <a:solidFill>
                            <a:srgbClr val="FFFFFF"/>
                          </a:solidFill>
                          <a:latin typeface="Calibri"/>
                        </a:rPr>
                        <a:t>One of only three U.S. companies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TRL-9 Technology</a:t>
                      </a:r>
                    </a:p>
                  </a:txBody>
                  <a:tcPr>
                    <a:solidFill>
                      <a:srgbClr val="101626"/>
                    </a:solidFill>
                  </a:tcPr>
                </a:tc>
                <a:tc>
                  <a:txBody>
                    <a:bodyPr/>
                    <a:lstStyle/>
                    <a:p>
                      <a:r>
                        <a:rPr sz="1100">
                          <a:solidFill>
                            <a:srgbClr val="FFFFFF"/>
                          </a:solidFill>
                          <a:latin typeface="Calibri"/>
                        </a:rPr>
                        <a:t>Scorpius fuel tanks operating on the Moon</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Gov't Co-Investment</a:t>
                      </a:r>
                    </a:p>
                  </a:txBody>
                  <a:tcPr>
                    <a:solidFill>
                      <a:srgbClr val="0D1220"/>
                    </a:solidFill>
                  </a:tcPr>
                </a:tc>
                <a:tc>
                  <a:txBody>
                    <a:bodyPr/>
                    <a:lstStyle/>
                    <a:p>
                      <a:r>
                        <a:rPr sz="1100">
                          <a:solidFill>
                            <a:srgbClr val="FFFFFF"/>
                          </a:solidFill>
                          <a:latin typeface="Calibri"/>
                        </a:rPr>
                        <a:t>$34M TACFI/STRATFI pipeline — 3.4x multiplier</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Profitability</a:t>
                      </a:r>
                    </a:p>
                  </a:txBody>
                  <a:tcPr>
                    <a:solidFill>
                      <a:srgbClr val="101626"/>
                    </a:solidFill>
                  </a:tcPr>
                </a:tc>
                <a:tc>
                  <a:txBody>
                    <a:bodyPr/>
                    <a:lstStyle/>
                    <a:p>
                      <a:r>
                        <a:rPr sz="1100">
                          <a:solidFill>
                            <a:srgbClr val="FFFFFF"/>
                          </a:solidFill>
                          <a:latin typeface="Calibri"/>
                        </a:rPr>
                        <a:t>EBITDA-positive since 2025 — 17% margin</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$10M ENABLES: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Scorpius acquisition ($3.4M — Right of First Refusal)</a:t>
            </a:r>
          </a:p>
          <a:p>
            <a:pPr algn="l">
              <a:spcBef>
                <a:spcPts val="0"/>
              </a:spcBef>
              <a:spcAft>
                <a:spcPts val="300"/>
              </a:spcAft>
            </a:pPr>
            <a:r>
              <a:rPr lang="en-US" sz="1200" b="0" dirty="0">
                <a:solidFill>
                  <a:srgbClr val="CCCCCC"/>
                </a:solidFill>
              </a:rPr>
              <a:t>•  TACFI match → unlocks $30M STRATFI</a:t>
            </a:r>
          </a:p>
          <a:p>
            <a:pPr algn="l">
              <a:spcBef>
                <a:spcPts val="0"/>
              </a:spcBef>
              <a:spcAft>
                <a:spcPts val="300"/>
              </a:spcAft>
            </a:pPr>
            <a:r>
              <a:rPr lang="en-US" sz="1200" b="0" dirty="0">
                <a:solidFill>
                  <a:srgbClr val="CCCCCC"/>
                </a:solidFill>
              </a:rPr>
              <a:t>•  BLK4 commercial fleet development</a:t>
            </a:r>
          </a:p>
          <a:p>
            <a:pPr algn="l">
              <a:spcBef>
                <a:spcPts val="0"/>
              </a:spcBef>
              <a:spcAft>
                <a:spcPts val="300"/>
              </a:spcAft>
            </a:pPr>
            <a:r>
              <a:rPr lang="en-US" sz="1200" b="0" dirty="0">
                <a:solidFill>
                  <a:srgbClr val="CCCCCC"/>
                </a:solidFill>
              </a:rPr>
              <a:t>•  Public listing — Texas Stock Exchange (TXSE), ~18–24 mo</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All financial figures are management estimates unless otherwise noted. Audited statements will be prepared in connection with the listing process.</a:t>
            </a:r>
          </a:p>
          <a:p>
            <a:pPr algn="l">
              <a:spcBef>
                <a:spcPts val="0"/>
              </a:spcBef>
              <a:spcAft>
                <a:spcPts val="0"/>
              </a:spcAft>
            </a:pPr>
            <a:r>
              <a:rPr sz="1000" b="0" i="1">
                <a:solidFill>
                  <a:srgbClr val="999999"/>
                </a:solidFill>
                <a:latin typeface="Calibri"/>
              </a:rPr>
              <a:t>Exos Aerospace Systems &amp; Technologies, Inc. | Greenville, TX | July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E1208-CA5A-4667-8C4D-84041752A3EA}">
  <ds:schemaRefs>
    <ds:schemaRef ds:uri="http://schemas.microsoft.com/office/2006/metadata/properties"/>
    <ds:schemaRef ds:uri="http://schemas.microsoft.com/office/infopath/2007/PartnerControls"/>
    <ds:schemaRef ds:uri="917a3f04-5547-4e83-a675-a0677bb25779"/>
    <ds:schemaRef ds:uri="e1558a10-1879-455f-b4fa-cfdedf85505e"/>
  </ds:schemaRefs>
</ds:datastoreItem>
</file>

<file path=customXml/itemProps2.xml><?xml version="1.0" encoding="utf-8"?>
<ds:datastoreItem xmlns:ds="http://schemas.openxmlformats.org/officeDocument/2006/customXml" ds:itemID="{40B2AEEC-7AED-4D24-8C5B-8FFFCA181FBC}">
  <ds:schemaRefs>
    <ds:schemaRef ds:uri="http://schemas.microsoft.com/sharepoint/v3/contenttype/forms"/>
  </ds:schemaRefs>
</ds:datastoreItem>
</file>

<file path=customXml/itemProps3.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TotalTime>
  <Words>2962</Words>
  <Application>Microsoft Office PowerPoint</Application>
  <PresentationFormat>Widescreen</PresentationFormat>
  <Paragraphs>467</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Quinn</cp:lastModifiedBy>
  <cp:revision>1</cp:revision>
  <dcterms:created xsi:type="dcterms:W3CDTF">2013-01-27T09:14:16Z</dcterms:created>
  <dcterms:modified xsi:type="dcterms:W3CDTF">2026-05-29T14:45:54Z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