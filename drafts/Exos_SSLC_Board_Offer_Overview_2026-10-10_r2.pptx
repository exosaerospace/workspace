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72" r:id="rId23"/>
    <p:sldId id="273" r:id="rId24"/>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9.xml"/><Relationship Id="rId6" Type="http://schemas.openxmlformats.org/officeDocument/2006/relationships/slide" Target="slides/slide10.xml"/><Relationship Id="rId7" Type="http://schemas.openxmlformats.org/officeDocument/2006/relationships/slide" Target="slides/slide11.xml"/><Relationship Id="rId8" Type="http://schemas.openxmlformats.org/officeDocument/2006/relationships/slide" Target="slides/slide12.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8.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6.xml"/><Relationship Id="rId19" Type="http://schemas.openxmlformats.org/officeDocument/2006/relationships/slide" Target="slides/slide15.xml"/><Relationship Id="rId20" Type="http://schemas.openxmlformats.org/officeDocument/2006/relationships/slide" Target="slides/slide7.xml"/><Relationship Id="rId21" Type="http://schemas.openxmlformats.org/officeDocument/2006/relationships/slide" Target="slides/slide17.xml"/><Relationship Id="rId22" Type="http://schemas.openxmlformats.org/officeDocument/2006/relationships/slide" Target="slides/slide8.xml"/><Relationship Id="rId23" Type="http://schemas.openxmlformats.org/officeDocument/2006/relationships/slide" Target="slides/slide5.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r>
              <a:rPr lang="en-US" sz="1200" dirty="0">
                <a:solidFill>
                  <a:srgbClr val="CCCCCC"/>
                </a:solidFill>
              </a:rPr>
              <a:t>Approve Exos offer (Option B) + §3 exclusivity (90-day) + ROFR on asset sale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dirty="0" b="1">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900" dirty="0" i="1">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900" dirty="0" i="1">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dirty="0" b="1">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900" dirty="0" b="1">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9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900" dirty="0" b="1">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900" dirty="0" b="1">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900" dirty="0" b="1">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900" dirty="0" b="1">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900" dirty="0" b="1">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9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9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9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9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900" dirty="0">
                <a:solidFill>
                  <a:srgbClr val="CCCCCC"/>
                </a:solidFill>
                <a:latin typeface="Calibri"/>
              </a:rPr>
              <a:t>Unearned billings; Motion 3 scope</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700" dirty="0" b="1">
                <a:solidFill>
                  <a:srgbClr val="F26A21"/>
                </a:solidFill>
                <a:latin typeface="Calibri"/>
              </a:rPr>
              <a:t>S1</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9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9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9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9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9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700" dirty="0" b="1">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900" dirty="0">
                <a:solidFill>
                  <a:srgbClr val="FFFFFF"/>
                </a:solidFill>
                <a:latin typeface="Calibri"/>
              </a:rPr>
              <a:t>2700 Notes Pay.–Bookstore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9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9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9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900" dirty="0">
                <a:solidFill>
                  <a:srgbClr val="FFFFFF"/>
                </a:solidFill>
                <a:latin typeface="Calibri"/>
              </a:rPr>
              <a:t>Interest capitalized 4/30/26 (JE #25926)</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700" dirty="0" b="1">
                <a:solidFill>
                  <a:srgbClr val="F26A21"/>
                </a:solidFill>
                <a:latin typeface="Calibri"/>
              </a:rPr>
              <a:t>S2</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900" dirty="0">
                <a:solidFill>
                  <a:srgbClr val="CCCCCC"/>
                </a:solidFill>
                <a:latin typeface="Calibri"/>
              </a:rPr>
              <a:t>1480→1481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9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9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9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9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700" dirty="0" b="1">
                <a:solidFill>
                  <a:srgbClr val="F26A21"/>
                </a:solidFill>
                <a:latin typeface="Calibri"/>
              </a:rPr>
              <a:t>S3</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900" dirty="0">
                <a:solidFill>
                  <a:srgbClr val="CCCCCC"/>
                </a:solidFill>
                <a:latin typeface="Calibri"/>
              </a:rPr>
              <a:t>2701 Microcosm payable (pre-2024)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9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9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9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900" dirty="0">
                <a:solidFill>
                  <a:srgbClr val="CCCCCC"/>
                </a:solidFill>
                <a:latin typeface="Calibri"/>
              </a:rPr>
              <a:t>No note; no board approval (Mot.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9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9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9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9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9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9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9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9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9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9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900" dirty="0" b="1">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dirty="0" b="1">
                <a:solidFill>
                  <a:srgbClr val="DD4444"/>
                </a:solidFill>
                <a:latin typeface="Calibri"/>
              </a:rPr>
              <a:t>-$1,443,882</a:t>
            </a:r>
          </a:p>
        </p:txBody>
      </p:sp>
      <p:sp>
        <p:nvSpPr>
          <p:cNvPr id="56" name="TextBox 55"/>
          <p:cNvSpPr txBox="1"/>
          <p:nvPr/>
        </p:nvSpPr>
        <p:spPr>
          <a:xfrm>
            <a:off x="256032" y="2286000"/>
            <a:ext cx="3657600" cy="164592"/>
          </a:xfrm>
          <a:prstGeom prst="rect">
            <a:avLst/>
          </a:prstGeom>
          <a:noFill/>
        </p:spPr>
        <p:txBody>
          <a:bodyPr wrap="none" anchor="ctr">
            <a:spAutoFit/>
          </a:bodyPr>
          <a:lstStyle/>
          <a:p>
            <a:r>
              <a:rPr lang="en-US" sz="900" dirty="0">
                <a:solidFill>
                  <a:srgbClr val="CCCCCC"/>
                </a:solidFill>
                <a:latin typeface="Calibri"/>
              </a:rPr>
              <a:t>Step 1 credits (+$448K):</a:t>
            </a:r>
          </a:p>
        </p:txBody>
      </p:sp>
      <p:sp>
        <p:nvSpPr>
          <p:cNvPr id="57" name="TextBox 56"/>
          <p:cNvSpPr txBox="1"/>
          <p:nvPr/>
        </p:nvSpPr>
        <p:spPr>
          <a:xfrm>
            <a:off x="3977639" y="2286000"/>
            <a:ext cx="5029200" cy="164592"/>
          </a:xfrm>
          <a:prstGeom prst="rect">
            <a:avLst/>
          </a:prstGeom>
          <a:noFill/>
        </p:spPr>
        <p:txBody>
          <a:bodyPr wrap="none" anchor="ctr">
            <a:spAutoFit/>
          </a:bodyPr>
          <a:lstStyle/>
          <a:p>
            <a:r>
              <a:rPr lang="en-US" sz="900" dirty="0" b="1">
                <a:solidFill>
                  <a:srgbClr val="F26A21"/>
                </a:solidFill>
                <a:latin typeface="Calibri"/>
              </a:rPr>
              <a:t>-$1,443,882 + $448K ≈ -$996K</a:t>
            </a:r>
          </a:p>
        </p:txBody>
      </p:sp>
      <p:sp>
        <p:nvSpPr>
          <p:cNvPr id="58" name="TextBox 57"/>
          <p:cNvSpPr txBox="1"/>
          <p:nvPr/>
        </p:nvSpPr>
        <p:spPr>
          <a:xfrm>
            <a:off x="256032" y="2468880"/>
            <a:ext cx="3657600" cy="164592"/>
          </a:xfrm>
          <a:prstGeom prst="rect">
            <a:avLst/>
          </a:prstGeom>
          <a:noFill/>
        </p:spPr>
        <p:txBody>
          <a:bodyPr wrap="none" anchor="ctr">
            <a:spAutoFit/>
          </a:bodyPr>
          <a:lstStyle/>
          <a:p>
            <a:r>
              <a:rPr lang="en-US" sz="900" dirty="0">
                <a:solidFill>
                  <a:srgbClr val="CCCCCC"/>
                </a:solidFill>
                <a:latin typeface="Calibri"/>
              </a:rPr>
              <a:t>Steps 1+2 (+$967K):</a:t>
            </a:r>
          </a:p>
        </p:txBody>
      </p:sp>
      <p:sp>
        <p:nvSpPr>
          <p:cNvPr id="59" name="TextBox 58"/>
          <p:cNvSpPr txBox="1"/>
          <p:nvPr/>
        </p:nvSpPr>
        <p:spPr>
          <a:xfrm>
            <a:off x="3977639" y="2468880"/>
            <a:ext cx="5029200" cy="164592"/>
          </a:xfrm>
          <a:prstGeom prst="rect">
            <a:avLst/>
          </a:prstGeom>
          <a:noFill/>
        </p:spPr>
        <p:txBody>
          <a:bodyPr wrap="none" anchor="ctr">
            <a:spAutoFit/>
          </a:bodyPr>
          <a:lstStyle/>
          <a:p>
            <a:r>
              <a:rPr lang="en-US" sz="900" dirty="0" b="1">
                <a:solidFill>
                  <a:srgbClr val="F26A21"/>
                </a:solidFill>
                <a:latin typeface="Calibri"/>
              </a:rPr>
              <a:t>-$1,443,882 + $967K ≈ -$477K</a:t>
            </a:r>
          </a:p>
        </p:txBody>
      </p:sp>
      <p:sp>
        <p:nvSpPr>
          <p:cNvPr id="60" name="TextBox 59"/>
          <p:cNvSpPr txBox="1"/>
          <p:nvPr/>
        </p:nvSpPr>
        <p:spPr>
          <a:xfrm>
            <a:off x="256032" y="2651760"/>
            <a:ext cx="3657600" cy="164592"/>
          </a:xfrm>
          <a:prstGeom prst="rect">
            <a:avLst/>
          </a:prstGeom>
          <a:noFill/>
        </p:spPr>
        <p:txBody>
          <a:bodyPr wrap="none" anchor="ctr">
            <a:spAutoFit/>
          </a:bodyPr>
          <a:lstStyle/>
          <a:p>
            <a:r>
              <a:rPr lang="en-US" sz="900" dirty="0">
                <a:solidFill>
                  <a:srgbClr val="CCCCCC"/>
                </a:solidFill>
                <a:latin typeface="Calibri"/>
              </a:rPr>
              <a:t>Steps 1+2+3 (+$1,261K):</a:t>
            </a:r>
          </a:p>
        </p:txBody>
      </p:sp>
      <p:sp>
        <p:nvSpPr>
          <p:cNvPr id="61" name="TextBox 60"/>
          <p:cNvSpPr txBox="1"/>
          <p:nvPr/>
        </p:nvSpPr>
        <p:spPr>
          <a:xfrm>
            <a:off x="3977639" y="2651760"/>
            <a:ext cx="5029200" cy="164592"/>
          </a:xfrm>
          <a:prstGeom prst="rect">
            <a:avLst/>
          </a:prstGeom>
          <a:noFill/>
        </p:spPr>
        <p:txBody>
          <a:bodyPr wrap="none" anchor="ctr">
            <a:spAutoFit/>
          </a:bodyPr>
          <a:lstStyle/>
          <a:p>
            <a:r>
              <a:rPr lang="en-US" sz="900" dirty="0" b="1">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sq" anchor="ctr">
            <a:spAutoFit/>
          </a:bodyPr>
          <a:lstStyle/>
          <a:p>
            <a:r>
              <a:rPr lang="en-US" sz="800" dirty="0" i="1">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56032" y="3108960"/>
            <a:ext cx="8631936" cy="182880"/>
          </a:xfrm>
          <a:prstGeom prst="rect">
            <a:avLst/>
          </a:prstGeom>
          <a:noFill/>
        </p:spPr>
        <p:txBody>
          <a:bodyPr wrap="none" anchor="ctr">
            <a:spAutoFit/>
          </a:bodyPr>
          <a:lstStyle/>
          <a:p>
            <a:r>
              <a:rPr lang="en-US" sz="1000" dirty="0" b="1">
                <a:solidFill>
                  <a:srgbClr val="CCCCCC"/>
                </a:solidFill>
                <a:latin typeface="Calibri"/>
              </a:rPr>
              <a:t>PER 1% OF SSLC AT CLOSE  (1/15/2027, base case  |  1% = 8,725 of 872,525 shares  |  divisor = 82)</a:t>
            </a:r>
          </a:p>
        </p:txBody>
      </p:sp>
      <p:sp>
        <p:nvSpPr>
          <p:cNvPr id="66" name="TextBox 65"/>
          <p:cNvSpPr txBox="1"/>
          <p:nvPr/>
        </p:nvSpPr>
        <p:spPr>
          <a:xfrm>
            <a:off x="256032" y="3328416"/>
            <a:ext cx="3749039" cy="164592"/>
          </a:xfrm>
          <a:prstGeom prst="rect">
            <a:avLst/>
          </a:prstGeom>
          <a:noFill/>
        </p:spPr>
        <p:txBody>
          <a:bodyPr wrap="none" anchor="ctr">
            <a:spAutoFit/>
          </a:bodyPr>
          <a:lstStyle/>
          <a:p>
            <a:r>
              <a:rPr lang="en-US" sz="1000" dirty="0">
                <a:solidFill>
                  <a:srgbClr val="888888"/>
                </a:solidFill>
                <a:latin typeface="Calibri"/>
              </a:rPr>
              <a:t>As booked (Steps uncorrected):</a:t>
            </a:r>
          </a:p>
        </p:txBody>
      </p:sp>
      <p:sp>
        <p:nvSpPr>
          <p:cNvPr id="67" name="TextBox 66"/>
          <p:cNvSpPr txBox="1"/>
          <p:nvPr/>
        </p:nvSpPr>
        <p:spPr>
          <a:xfrm>
            <a:off x="4114800" y="3328416"/>
            <a:ext cx="2194560" cy="164592"/>
          </a:xfrm>
          <a:prstGeom prst="rect">
            <a:avLst/>
          </a:prstGeom>
          <a:noFill/>
        </p:spPr>
        <p:txBody>
          <a:bodyPr wrap="none" anchor="ctr">
            <a:spAutoFit/>
          </a:bodyPr>
          <a:lstStyle/>
          <a:p>
            <a:r>
              <a:rPr lang="en-US" sz="1000" dirty="0">
                <a:solidFill>
                  <a:srgbClr val="888888"/>
                </a:solidFill>
                <a:latin typeface="Calibri"/>
              </a:rPr>
              <a:t>$1,505,000 / 82 =</a:t>
            </a:r>
          </a:p>
        </p:txBody>
      </p:sp>
      <p:sp>
        <p:nvSpPr>
          <p:cNvPr id="68" name="TextBox 67"/>
          <p:cNvSpPr txBox="1"/>
          <p:nvPr/>
        </p:nvSpPr>
        <p:spPr>
          <a:xfrm>
            <a:off x="6400800" y="3328416"/>
            <a:ext cx="2560320" cy="164592"/>
          </a:xfrm>
          <a:prstGeom prst="rect">
            <a:avLst/>
          </a:prstGeom>
          <a:noFill/>
        </p:spPr>
        <p:txBody>
          <a:bodyPr wrap="none" anchor="ctr">
            <a:spAutoFit/>
          </a:bodyPr>
          <a:lstStyle/>
          <a:p>
            <a:r>
              <a:rPr lang="en-US" sz="1000" dirty="0" b="1">
                <a:solidFill>
                  <a:srgbClr val="888888"/>
                </a:solidFill>
                <a:latin typeface="Calibri"/>
              </a:rPr>
              <a:t>$18.4K</a:t>
            </a:r>
          </a:p>
        </p:txBody>
      </p:sp>
      <p:sp>
        <p:nvSpPr>
          <p:cNvPr id="69" name="TextBox 68"/>
          <p:cNvSpPr txBox="1"/>
          <p:nvPr/>
        </p:nvSpPr>
        <p:spPr>
          <a:xfrm>
            <a:off x="256032" y="3515868"/>
            <a:ext cx="3749039" cy="164592"/>
          </a:xfrm>
          <a:prstGeom prst="rect">
            <a:avLst/>
          </a:prstGeom>
          <a:noFill/>
        </p:spPr>
        <p:txBody>
          <a:bodyPr wrap="none" anchor="ctr">
            <a:spAutoFit/>
          </a:bodyPr>
          <a:lstStyle/>
          <a:p>
            <a:r>
              <a:rPr lang="en-US" sz="1000" dirty="0">
                <a:solidFill>
                  <a:srgbClr val="F26A21"/>
                </a:solidFill>
                <a:latin typeface="Calibri"/>
              </a:rPr>
              <a:t>Step 1 credited (+$448K):</a:t>
            </a:r>
          </a:p>
        </p:txBody>
      </p:sp>
      <p:sp>
        <p:nvSpPr>
          <p:cNvPr id="70" name="TextBox 69"/>
          <p:cNvSpPr txBox="1"/>
          <p:nvPr/>
        </p:nvSpPr>
        <p:spPr>
          <a:xfrm>
            <a:off x="4114800" y="3515868"/>
            <a:ext cx="2194560" cy="164592"/>
          </a:xfrm>
          <a:prstGeom prst="rect">
            <a:avLst/>
          </a:prstGeom>
          <a:noFill/>
        </p:spPr>
        <p:txBody>
          <a:bodyPr wrap="none" anchor="ctr">
            <a:spAutoFit/>
          </a:bodyPr>
          <a:lstStyle/>
          <a:p>
            <a:r>
              <a:rPr lang="en-US" sz="1000" dirty="0">
                <a:solidFill>
                  <a:srgbClr val="888888"/>
                </a:solidFill>
                <a:latin typeface="Calibri"/>
              </a:rPr>
              <a:t>$1,953,000 / 82 =</a:t>
            </a:r>
          </a:p>
        </p:txBody>
      </p:sp>
      <p:sp>
        <p:nvSpPr>
          <p:cNvPr id="71" name="TextBox 70"/>
          <p:cNvSpPr txBox="1"/>
          <p:nvPr/>
        </p:nvSpPr>
        <p:spPr>
          <a:xfrm>
            <a:off x="6400800" y="3515868"/>
            <a:ext cx="2560320" cy="164592"/>
          </a:xfrm>
          <a:prstGeom prst="rect">
            <a:avLst/>
          </a:prstGeom>
          <a:noFill/>
        </p:spPr>
        <p:txBody>
          <a:bodyPr wrap="none" anchor="ctr">
            <a:spAutoFit/>
          </a:bodyPr>
          <a:lstStyle/>
          <a:p>
            <a:r>
              <a:rPr lang="en-US" sz="1000" dirty="0" b="1">
                <a:solidFill>
                  <a:srgbClr val="F26A21"/>
                </a:solidFill>
                <a:latin typeface="Calibri"/>
              </a:rPr>
              <a:t>$23.8K</a:t>
            </a:r>
          </a:p>
        </p:txBody>
      </p:sp>
      <p:sp>
        <p:nvSpPr>
          <p:cNvPr id="72" name="TextBox 71"/>
          <p:cNvSpPr txBox="1"/>
          <p:nvPr/>
        </p:nvSpPr>
        <p:spPr>
          <a:xfrm>
            <a:off x="256032" y="3703320"/>
            <a:ext cx="3749039" cy="164592"/>
          </a:xfrm>
          <a:prstGeom prst="rect">
            <a:avLst/>
          </a:prstGeom>
          <a:noFill/>
        </p:spPr>
        <p:txBody>
          <a:bodyPr wrap="none" anchor="ctr">
            <a:spAutoFit/>
          </a:bodyPr>
          <a:lstStyle/>
          <a:p>
            <a:r>
              <a:rPr lang="en-US" sz="1000" dirty="0">
                <a:solidFill>
                  <a:srgbClr val="F26A21"/>
                </a:solidFill>
                <a:latin typeface="Calibri"/>
              </a:rPr>
              <a:t>Steps 1+2 (+$967K):</a:t>
            </a:r>
          </a:p>
        </p:txBody>
      </p:sp>
      <p:sp>
        <p:nvSpPr>
          <p:cNvPr id="73" name="TextBox 72"/>
          <p:cNvSpPr txBox="1"/>
          <p:nvPr/>
        </p:nvSpPr>
        <p:spPr>
          <a:xfrm>
            <a:off x="4114800" y="3703320"/>
            <a:ext cx="2194560" cy="164592"/>
          </a:xfrm>
          <a:prstGeom prst="rect">
            <a:avLst/>
          </a:prstGeom>
          <a:noFill/>
        </p:spPr>
        <p:txBody>
          <a:bodyPr wrap="none" anchor="ctr">
            <a:spAutoFit/>
          </a:bodyPr>
          <a:lstStyle/>
          <a:p>
            <a:r>
              <a:rPr lang="en-US" sz="1000" dirty="0">
                <a:solidFill>
                  <a:srgbClr val="888888"/>
                </a:solidFill>
                <a:latin typeface="Calibri"/>
              </a:rPr>
              <a:t>$2,472,000 / 82 =</a:t>
            </a:r>
          </a:p>
        </p:txBody>
      </p:sp>
      <p:sp>
        <p:nvSpPr>
          <p:cNvPr id="74" name="TextBox 73"/>
          <p:cNvSpPr txBox="1"/>
          <p:nvPr/>
        </p:nvSpPr>
        <p:spPr>
          <a:xfrm>
            <a:off x="6400800" y="3703320"/>
            <a:ext cx="2560320" cy="164592"/>
          </a:xfrm>
          <a:prstGeom prst="rect">
            <a:avLst/>
          </a:prstGeom>
          <a:noFill/>
        </p:spPr>
        <p:txBody>
          <a:bodyPr wrap="none" anchor="ctr">
            <a:spAutoFit/>
          </a:bodyPr>
          <a:lstStyle/>
          <a:p>
            <a:r>
              <a:rPr lang="en-US" sz="1000" dirty="0" b="1">
                <a:solidFill>
                  <a:srgbClr val="F26A21"/>
                </a:solidFill>
                <a:latin typeface="Calibri"/>
              </a:rPr>
              <a:t>$30.1K</a:t>
            </a:r>
          </a:p>
        </p:txBody>
      </p:sp>
      <p:sp>
        <p:nvSpPr>
          <p:cNvPr id="75" name="TextBox 74"/>
          <p:cNvSpPr txBox="1"/>
          <p:nvPr/>
        </p:nvSpPr>
        <p:spPr>
          <a:xfrm>
            <a:off x="256032" y="3890772"/>
            <a:ext cx="3749039" cy="164592"/>
          </a:xfrm>
          <a:prstGeom prst="rect">
            <a:avLst/>
          </a:prstGeom>
          <a:noFill/>
        </p:spPr>
        <p:txBody>
          <a:bodyPr wrap="none" anchor="ctr">
            <a:spAutoFit/>
          </a:bodyPr>
          <a:lstStyle/>
          <a:p>
            <a:r>
              <a:rPr lang="en-US" sz="1000" dirty="0">
                <a:solidFill>
                  <a:srgbClr val="44BB44"/>
                </a:solidFill>
                <a:latin typeface="Calibri"/>
              </a:rPr>
              <a:t>Steps 1+2+3 (+$1,261K):</a:t>
            </a:r>
          </a:p>
        </p:txBody>
      </p:sp>
      <p:sp>
        <p:nvSpPr>
          <p:cNvPr id="76" name="TextBox 75"/>
          <p:cNvSpPr txBox="1"/>
          <p:nvPr/>
        </p:nvSpPr>
        <p:spPr>
          <a:xfrm>
            <a:off x="4114800" y="3890772"/>
            <a:ext cx="2194560" cy="164592"/>
          </a:xfrm>
          <a:prstGeom prst="rect">
            <a:avLst/>
          </a:prstGeom>
          <a:noFill/>
        </p:spPr>
        <p:txBody>
          <a:bodyPr wrap="none" anchor="ctr">
            <a:spAutoFit/>
          </a:bodyPr>
          <a:lstStyle/>
          <a:p>
            <a:r>
              <a:rPr lang="en-US" sz="1000" dirty="0">
                <a:solidFill>
                  <a:srgbClr val="888888"/>
                </a:solidFill>
                <a:latin typeface="Calibri"/>
              </a:rPr>
              <a:t>$2,766,000 / 82 =</a:t>
            </a:r>
          </a:p>
        </p:txBody>
      </p:sp>
      <p:sp>
        <p:nvSpPr>
          <p:cNvPr id="77" name="TextBox 76"/>
          <p:cNvSpPr txBox="1"/>
          <p:nvPr/>
        </p:nvSpPr>
        <p:spPr>
          <a:xfrm>
            <a:off x="6400800" y="3890772"/>
            <a:ext cx="2560320" cy="164592"/>
          </a:xfrm>
          <a:prstGeom prst="rect">
            <a:avLst/>
          </a:prstGeom>
          <a:noFill/>
        </p:spPr>
        <p:txBody>
          <a:bodyPr wrap="none" anchor="ctr">
            <a:spAutoFit/>
          </a:bodyPr>
          <a:lstStyle/>
          <a:p>
            <a:r>
              <a:rPr lang="en-US" sz="1000" dirty="0" b="1">
                <a:solidFill>
                  <a:srgbClr val="44BB44"/>
                </a:solidFill>
                <a:latin typeface="Calibri"/>
              </a:rPr>
              <a:t>$33.7K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dirty="0" b="1">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900" dirty="0" b="1">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9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900" dirty="0" i="1">
                <a:solidFill>
                  <a:srgbClr val="888888"/>
                </a:solidFill>
                <a:latin typeface="Calibri"/>
              </a:rPr>
              <a:t>Two discrepancies between the Aug 2024 share register and the 6/3/2026 QB stock ledger. Motion 2 corrects the register.</a:t>
            </a:r>
          </a:p>
        </p:txBody>
      </p:sp>
      <p:sp>
        <p:nvSpPr>
          <p:cNvPr id="9" name="Rectangle 8"/>
          <p:cNvSpPr/>
          <p:nvPr/>
        </p:nvSpPr>
        <p:spPr>
          <a:xfrm>
            <a:off x="4572000" y="502920"/>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dirty="0" b="1">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9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sq" anchor="ctr">
            <a:spAutoFit/>
          </a:bodyPr>
          <a:lstStyle/>
          <a:p>
            <a:r>
              <a:rPr lang="en-US" sz="900" dirty="0">
                <a:solidFill>
                  <a:srgbClr val="DD4444"/>
                </a:solidFill>
                <a:latin typeface="Calibri"/>
              </a:rPr>
              <a:t>⚠  Conger: cert #3 (44,000 sh.) missing from ledger.
     Only cert #43 (29,000 sh.) shown. Motion 2 corrects both.</a:t>
            </a:r>
          </a:p>
        </p:txBody>
      </p:sp>
      <p:sp>
        <p:nvSpPr>
          <p:cNvPr id="63" name="TextBox 62"/>
          <p:cNvSpPr txBox="1"/>
          <p:nvPr/>
        </p:nvSpPr>
        <p:spPr>
          <a:xfrm>
            <a:off x="256032" y="2834640"/>
            <a:ext cx="4206240" cy="201168"/>
          </a:xfrm>
          <a:prstGeom prst="rect">
            <a:avLst/>
          </a:prstGeom>
          <a:noFill/>
        </p:spPr>
        <p:txBody>
          <a:bodyPr wrap="none" anchor="ctr">
            <a:spAutoFit/>
          </a:bodyPr>
          <a:lstStyle/>
          <a:p>
            <a:r>
              <a:rPr lang="en-US" sz="1100" dirty="0" b="1">
                <a:solidFill>
                  <a:srgbClr val="44BB44"/>
                </a:solidFill>
                <a:latin typeface="Calibri"/>
              </a:rPr>
              <a:t>Non-Microcosm/Wertz (489,525 sh.) = 56.1% of votes.</a:t>
            </a:r>
          </a:p>
        </p:txBody>
      </p:sp>
      <p:sp>
        <p:nvSpPr>
          <p:cNvPr id="64" name="TextBox 63"/>
          <p:cNvSpPr txBox="1"/>
          <p:nvPr/>
        </p:nvSpPr>
        <p:spPr>
          <a:xfrm>
            <a:off x="256032" y="3054096"/>
            <a:ext cx="4206240" cy="164592"/>
          </a:xfrm>
          <a:prstGeom prst="rect">
            <a:avLst/>
          </a:prstGeom>
          <a:noFill/>
        </p:spPr>
        <p:txBody>
          <a:bodyPr wrap="none" anchor="ctr">
            <a:spAutoFit/>
          </a:bodyPr>
          <a:lstStyle/>
          <a:p>
            <a:r>
              <a:rPr lang="en-US" sz="900" dirty="0">
                <a:solidFill>
                  <a:srgbClr val="F26A21"/>
                </a:solidFill>
                <a:latin typeface="Calibri"/>
              </a:rPr>
              <a:t>Microcosm/Wertz group 43.9% — cannot unilaterally pass Motion 5.</a:t>
            </a:r>
          </a:p>
        </p:txBody>
      </p:sp>
      <p:sp>
        <p:nvSpPr>
          <p:cNvPr id="65" name="TextBox 64"/>
          <p:cNvSpPr txBox="1"/>
          <p:nvPr/>
        </p:nvSpPr>
        <p:spPr>
          <a:xfrm>
            <a:off x="4736592" y="758952"/>
            <a:ext cx="4114800" cy="182880"/>
          </a:xfrm>
          <a:prstGeom prst="rect">
            <a:avLst/>
          </a:prstGeom>
          <a:noFill/>
        </p:spPr>
        <p:txBody>
          <a:bodyPr wrap="none" anchor="ctr">
            <a:spAutoFit/>
          </a:bodyPr>
          <a:lstStyle/>
          <a:p>
            <a:r>
              <a:rPr lang="en-US" sz="1000" dirty="0" b="1">
                <a:solidFill>
                  <a:srgbClr val="CCCCCC"/>
                </a:solidFill>
                <a:latin typeface="Calibri"/>
              </a:rPr>
              <a:t>Exos $790K Invested — How Accumulated</a:t>
            </a:r>
          </a:p>
        </p:txBody>
      </p:sp>
      <p:sp>
        <p:nvSpPr>
          <p:cNvPr id="68" name="TextBox 67"/>
          <p:cNvSpPr txBox="1"/>
          <p:nvPr/>
        </p:nvSpPr>
        <p:spPr>
          <a:xfrm>
            <a:off x="4736592" y="1133856"/>
            <a:ext cx="2560320" cy="155448"/>
          </a:xfrm>
          <a:prstGeom prst="rect">
            <a:avLst/>
          </a:prstGeom>
          <a:noFill/>
        </p:spPr>
        <p:txBody>
          <a:bodyPr wrap="none" anchor="ctr">
            <a:spAutoFit/>
          </a:bodyPr>
          <a:lstStyle/>
          <a:p>
            <a:r>
              <a:rPr lang="en-US" sz="9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900" dirty="0">
                <a:solidFill>
                  <a:srgbClr val="F26A21"/>
                </a:solidFill>
                <a:latin typeface="Calibri"/>
              </a:rPr>
              <a:t> $60,000</a:t>
            </a:r>
          </a:p>
        </p:txBody>
      </p:sp>
      <p:sp>
        <p:nvSpPr>
          <p:cNvPr id="70" name="TextBox 69"/>
          <p:cNvSpPr txBox="1"/>
          <p:nvPr/>
        </p:nvSpPr>
        <p:spPr>
          <a:xfrm>
            <a:off x="4736592" y="1298448"/>
            <a:ext cx="2560320" cy="155448"/>
          </a:xfrm>
          <a:prstGeom prst="rect">
            <a:avLst/>
          </a:prstGeom>
          <a:noFill/>
        </p:spPr>
        <p:txBody>
          <a:bodyPr wrap="none" anchor="ctr">
            <a:spAutoFit/>
          </a:bodyPr>
          <a:lstStyle/>
          <a:p>
            <a:r>
              <a:rPr lang="en-US" sz="9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900" dirty="0">
                <a:solidFill>
                  <a:srgbClr val="F26A21"/>
                </a:solidFill>
                <a:latin typeface="Calibri"/>
              </a:rPr>
              <a:t>$250,000</a:t>
            </a:r>
          </a:p>
        </p:txBody>
      </p:sp>
      <p:sp>
        <p:nvSpPr>
          <p:cNvPr id="72" name="TextBox 71"/>
          <p:cNvSpPr txBox="1"/>
          <p:nvPr/>
        </p:nvSpPr>
        <p:spPr>
          <a:xfrm>
            <a:off x="4736592" y="1463040"/>
            <a:ext cx="2560320" cy="155448"/>
          </a:xfrm>
          <a:prstGeom prst="rect">
            <a:avLst/>
          </a:prstGeom>
          <a:noFill/>
        </p:spPr>
        <p:txBody>
          <a:bodyPr wrap="none" anchor="ctr">
            <a:spAutoFit/>
          </a:bodyPr>
          <a:lstStyle/>
          <a:p>
            <a:r>
              <a:rPr lang="en-US" sz="9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900" dirty="0">
                <a:solidFill>
                  <a:srgbClr val="F26A21"/>
                </a:solidFill>
                <a:latin typeface="Calibri"/>
              </a:rPr>
              <a:t> $30,000</a:t>
            </a:r>
          </a:p>
        </p:txBody>
      </p:sp>
      <p:sp>
        <p:nvSpPr>
          <p:cNvPr id="74" name="TextBox 73"/>
          <p:cNvSpPr txBox="1"/>
          <p:nvPr/>
        </p:nvSpPr>
        <p:spPr>
          <a:xfrm>
            <a:off x="4736592" y="1664208"/>
            <a:ext cx="2560320" cy="155448"/>
          </a:xfrm>
          <a:prstGeom prst="rect">
            <a:avLst/>
          </a:prstGeom>
          <a:noFill/>
        </p:spPr>
        <p:txBody>
          <a:bodyPr wrap="none" anchor="ctr">
            <a:spAutoFit/>
          </a:bodyPr>
          <a:lstStyle/>
          <a:p>
            <a:r>
              <a:rPr lang="en-US" sz="900" dirty="0" b="1">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900" dirty="0" b="1">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736592" y="1920240"/>
            <a:ext cx="4114800" cy="182880"/>
          </a:xfrm>
          <a:prstGeom prst="rect">
            <a:avLst/>
          </a:prstGeom>
          <a:noFill/>
        </p:spPr>
        <p:txBody>
          <a:bodyPr wrap="none" anchor="ctr">
            <a:spAutoFit/>
          </a:bodyPr>
          <a:lstStyle/>
          <a:p>
            <a:r>
              <a:rPr lang="en-US" sz="1000" dirty="0" b="1">
                <a:solidFill>
                  <a:srgbClr val="CCCCCC"/>
                </a:solidFill>
                <a:latin typeface="Calibri"/>
              </a:rPr>
              <a:t>PAID-IN CAPITAL (SSLC Books vs. Register)</a:t>
            </a:r>
          </a:p>
        </p:txBody>
      </p:sp>
      <p:sp>
        <p:nvSpPr>
          <p:cNvPr id="78" name="TextBox 77"/>
          <p:cNvSpPr txBox="1"/>
          <p:nvPr/>
        </p:nvSpPr>
        <p:spPr>
          <a:xfrm>
            <a:off x="4736592" y="2121408"/>
            <a:ext cx="2743200" cy="155448"/>
          </a:xfrm>
          <a:prstGeom prst="rect">
            <a:avLst/>
          </a:prstGeom>
          <a:noFill/>
        </p:spPr>
        <p:txBody>
          <a:bodyPr wrap="none" anchor="ctr">
            <a:spAutoFit/>
          </a:bodyPr>
          <a:lstStyle/>
          <a:p>
            <a:r>
              <a:rPr lang="en-US" sz="9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900" dirty="0">
                <a:solidFill>
                  <a:srgbClr val="CCCCCC"/>
                </a:solidFill>
                <a:latin typeface="Calibri"/>
              </a:rPr>
              <a:t>$1,010,423</a:t>
            </a:r>
          </a:p>
        </p:txBody>
      </p:sp>
      <p:sp>
        <p:nvSpPr>
          <p:cNvPr id="80" name="TextBox 79"/>
          <p:cNvSpPr txBox="1"/>
          <p:nvPr/>
        </p:nvSpPr>
        <p:spPr>
          <a:xfrm>
            <a:off x="4736592" y="2286000"/>
            <a:ext cx="2743200" cy="155448"/>
          </a:xfrm>
          <a:prstGeom prst="rect">
            <a:avLst/>
          </a:prstGeom>
          <a:noFill/>
        </p:spPr>
        <p:txBody>
          <a:bodyPr wrap="none" anchor="ctr">
            <a:spAutoFit/>
          </a:bodyPr>
          <a:lstStyle/>
          <a:p>
            <a:r>
              <a:rPr lang="en-US" sz="9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900" dirty="0">
                <a:solidFill>
                  <a:srgbClr val="CCCCCC"/>
                </a:solidFill>
                <a:latin typeface="Calibri"/>
              </a:rPr>
              <a:t>$4,042</a:t>
            </a:r>
          </a:p>
        </p:txBody>
      </p:sp>
      <p:sp>
        <p:nvSpPr>
          <p:cNvPr id="82" name="TextBox 81"/>
          <p:cNvSpPr txBox="1"/>
          <p:nvPr/>
        </p:nvSpPr>
        <p:spPr>
          <a:xfrm>
            <a:off x="4736592" y="2468880"/>
            <a:ext cx="2743200" cy="155448"/>
          </a:xfrm>
          <a:prstGeom prst="rect">
            <a:avLst/>
          </a:prstGeom>
          <a:noFill/>
        </p:spPr>
        <p:txBody>
          <a:bodyPr wrap="none" anchor="ctr">
            <a:spAutoFit/>
          </a:bodyPr>
          <a:lstStyle/>
          <a:p>
            <a:r>
              <a:rPr lang="en-US" sz="900" dirty="0" b="1">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900" dirty="0" b="1">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9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9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9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900" dirty="0">
                <a:solidFill>
                  <a:srgbClr val="CCCCCC"/>
                </a:solidFill>
                <a:latin typeface="Calibri"/>
              </a:rPr>
              <a:t>$224,465</a:t>
            </a:r>
          </a:p>
        </p:txBody>
      </p:sp>
      <p:sp>
        <p:nvSpPr>
          <p:cNvPr id="88" name="TextBox 87"/>
          <p:cNvSpPr txBox="1"/>
          <p:nvPr/>
        </p:nvSpPr>
        <p:spPr>
          <a:xfrm>
            <a:off x="4736592" y="2980944"/>
            <a:ext cx="2743200" cy="155448"/>
          </a:xfrm>
          <a:prstGeom prst="rect">
            <a:avLst/>
          </a:prstGeom>
          <a:noFill/>
        </p:spPr>
        <p:txBody>
          <a:bodyPr wrap="none" anchor="ctr">
            <a:spAutoFit/>
          </a:bodyPr>
          <a:lstStyle/>
          <a:p>
            <a:r>
              <a:rPr lang="en-US" sz="900" dirty="0" b="1">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900" dirty="0" b="1">
                <a:solidFill>
                  <a:srgbClr val="FFCC44"/>
                </a:solidFill>
                <a:latin typeface="Calibri"/>
              </a:rPr>
              <a:t>$460,752</a:t>
            </a:r>
          </a:p>
        </p:txBody>
      </p:sp>
      <p:sp>
        <p:nvSpPr>
          <p:cNvPr id="90" name="TextBox 89"/>
          <p:cNvSpPr txBox="1"/>
          <p:nvPr/>
        </p:nvSpPr>
        <p:spPr>
          <a:xfrm>
            <a:off x="4736592" y="3172968"/>
            <a:ext cx="4114800" cy="164592"/>
          </a:xfrm>
          <a:prstGeom prst="rect">
            <a:avLst/>
          </a:prstGeom>
          <a:noFill/>
        </p:spPr>
        <p:txBody>
          <a:bodyPr wrap="none" anchor="ctr">
            <a:spAutoFit/>
          </a:bodyPr>
          <a:lstStyle/>
          <a:p>
            <a:r>
              <a:rPr lang="en-US" sz="900" dirty="0" i="1">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900" dirty="0" b="1">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dirty="0" b="1">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1188720" cy="164592"/>
          </a:xfrm>
          <a:prstGeom prst="rect">
            <a:avLst/>
          </a:prstGeom>
          <a:noFill/>
        </p:spPr>
        <p:txBody>
          <a:bodyPr wrap="none">
            <a:spAutoFit/>
          </a:bodyPr>
          <a:lstStyle/>
          <a:p>
            <a:r>
              <a:rPr lang="en-US" sz="900" dirty="0" b="1">
                <a:solidFill>
                  <a:srgbClr val="F26A21"/>
                </a:solidFill>
                <a:latin typeface="Calibri"/>
              </a:rPr>
              <a:t>Holder</a:t>
            </a:r>
          </a:p>
        </p:txBody>
      </p:sp>
      <p:sp>
        <p:nvSpPr>
          <p:cNvPr id="97" name="TextBox 96"/>
          <p:cNvSpPr txBox="1"/>
          <p:nvPr/>
        </p:nvSpPr>
        <p:spPr>
          <a:xfrm>
            <a:off x="1508760" y="969264"/>
            <a:ext cx="822960" cy="164592"/>
          </a:xfrm>
          <a:prstGeom prst="rect">
            <a:avLst/>
          </a:prstGeom>
          <a:noFill/>
        </p:spPr>
        <p:txBody>
          <a:bodyPr wrap="none">
            <a:spAutoFit/>
          </a:bodyPr>
          <a:lstStyle/>
          <a:p>
            <a:r>
              <a:rPr lang="en-US" sz="900" dirty="0" b="1">
                <a:solidFill>
                  <a:srgbClr val="F26A21"/>
                </a:solidFill>
                <a:latin typeface="Calibri"/>
              </a:rPr>
              <a:t>Register</a:t>
            </a:r>
          </a:p>
        </p:txBody>
      </p:sp>
      <p:sp>
        <p:nvSpPr>
          <p:cNvPr id="98" name="TextBox 97"/>
          <p:cNvSpPr txBox="1"/>
          <p:nvPr/>
        </p:nvSpPr>
        <p:spPr>
          <a:xfrm>
            <a:off x="2377440" y="969264"/>
            <a:ext cx="594360" cy="164592"/>
          </a:xfrm>
          <a:prstGeom prst="rect">
            <a:avLst/>
          </a:prstGeom>
          <a:noFill/>
        </p:spPr>
        <p:txBody>
          <a:bodyPr wrap="none">
            <a:spAutoFit/>
          </a:bodyPr>
          <a:lstStyle/>
          <a:p>
            <a:r>
              <a:rPr lang="en-US" sz="900" dirty="0" b="1">
                <a:solidFill>
                  <a:srgbClr val="F26A21"/>
                </a:solidFill>
                <a:latin typeface="Calibri"/>
              </a:rPr>
              <a:t>Reg %</a:t>
            </a:r>
          </a:p>
        </p:txBody>
      </p:sp>
      <p:sp>
        <p:nvSpPr>
          <p:cNvPr id="99" name="TextBox 98"/>
          <p:cNvSpPr txBox="1"/>
          <p:nvPr/>
        </p:nvSpPr>
        <p:spPr>
          <a:xfrm>
            <a:off x="3017520" y="969264"/>
            <a:ext cx="731520" cy="164592"/>
          </a:xfrm>
          <a:prstGeom prst="rect">
            <a:avLst/>
          </a:prstGeom>
          <a:noFill/>
        </p:spPr>
        <p:txBody>
          <a:bodyPr wrap="none">
            <a:spAutoFit/>
          </a:bodyPr>
          <a:lstStyle/>
          <a:p>
            <a:r>
              <a:rPr lang="en-US" sz="900" dirty="0" b="1">
                <a:solidFill>
                  <a:srgbClr val="F26A21"/>
                </a:solidFill>
                <a:latin typeface="Calibri"/>
              </a:rPr>
              <a:t>Ledger</a:t>
            </a:r>
          </a:p>
        </p:txBody>
      </p:sp>
      <p:sp>
        <p:nvSpPr>
          <p:cNvPr id="100" name="TextBox 99"/>
          <p:cNvSpPr txBox="1"/>
          <p:nvPr/>
        </p:nvSpPr>
        <p:spPr>
          <a:xfrm>
            <a:off x="3794760" y="969264"/>
            <a:ext cx="502920" cy="164592"/>
          </a:xfrm>
          <a:prstGeom prst="rect">
            <a:avLst/>
          </a:prstGeom>
          <a:noFill/>
        </p:spPr>
        <p:txBody>
          <a:bodyPr wrap="none">
            <a:spAutoFit/>
          </a:bodyPr>
          <a:lstStyle/>
          <a:p>
            <a:r>
              <a:rPr lang="en-US" sz="900" dirty="0" b="1">
                <a:solidFill>
                  <a:srgbClr val="F26A21"/>
                </a:solidFill>
                <a:latin typeface="Calibri"/>
              </a:rPr>
              <a:t>Led %</a:t>
            </a:r>
          </a:p>
        </p:txBody>
      </p:sp>
      <p:sp>
        <p:nvSpPr>
          <p:cNvPr id="101" name="TextBox 100"/>
          <p:cNvSpPr txBox="1"/>
          <p:nvPr/>
        </p:nvSpPr>
        <p:spPr>
          <a:xfrm>
            <a:off x="4343400" y="969264"/>
            <a:ext cx="594360" cy="164592"/>
          </a:xfrm>
          <a:prstGeom prst="rect">
            <a:avLst/>
          </a:prstGeom>
          <a:noFill/>
        </p:spPr>
        <p:txBody>
          <a:bodyPr wrap="none">
            <a:spAutoFit/>
          </a:bodyPr>
          <a:lstStyle/>
          <a:p>
            <a:r>
              <a:rPr lang="en-US" sz="900" dirty="0" b="1">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56032" y="1152144"/>
            <a:ext cx="1188720" cy="155448"/>
          </a:xfrm>
          <a:prstGeom prst="rect">
            <a:avLst/>
          </a:prstGeom>
          <a:noFill/>
        </p:spPr>
        <p:txBody>
          <a:bodyPr wrap="none">
            <a:spAutoFit/>
          </a:bodyPr>
          <a:lstStyle/>
          <a:p>
            <a:r>
              <a:rPr lang="en-US" sz="900" dirty="0">
                <a:solidFill>
                  <a:srgbClr val="CCCCCC"/>
                </a:solidFill>
                <a:latin typeface="Calibri"/>
              </a:rPr>
              <a:t>Microcosm</a:t>
            </a:r>
          </a:p>
        </p:txBody>
      </p:sp>
      <p:sp>
        <p:nvSpPr>
          <p:cNvPr id="104" name="TextBox 103"/>
          <p:cNvSpPr txBox="1"/>
          <p:nvPr/>
        </p:nvSpPr>
        <p:spPr>
          <a:xfrm>
            <a:off x="1508760" y="1152144"/>
            <a:ext cx="822960" cy="155448"/>
          </a:xfrm>
          <a:prstGeom prst="rect">
            <a:avLst/>
          </a:prstGeom>
          <a:noFill/>
        </p:spPr>
        <p:txBody>
          <a:bodyPr wrap="none">
            <a:spAutoFit/>
          </a:bodyPr>
          <a:lstStyle/>
          <a:p>
            <a:r>
              <a:rPr lang="en-US" sz="900" dirty="0">
                <a:solidFill>
                  <a:srgbClr val="CCCCCC"/>
                </a:solidFill>
                <a:latin typeface="Calibri"/>
              </a:rPr>
              <a:t>280,000</a:t>
            </a:r>
          </a:p>
        </p:txBody>
      </p:sp>
      <p:sp>
        <p:nvSpPr>
          <p:cNvPr id="105" name="TextBox 104"/>
          <p:cNvSpPr txBox="1"/>
          <p:nvPr/>
        </p:nvSpPr>
        <p:spPr>
          <a:xfrm>
            <a:off x="2377440" y="1152144"/>
            <a:ext cx="594360" cy="155448"/>
          </a:xfrm>
          <a:prstGeom prst="rect">
            <a:avLst/>
          </a:prstGeom>
          <a:noFill/>
        </p:spPr>
        <p:txBody>
          <a:bodyPr wrap="none">
            <a:spAutoFit/>
          </a:bodyPr>
          <a:lstStyle/>
          <a:p>
            <a:r>
              <a:rPr lang="en-US" sz="900" dirty="0">
                <a:solidFill>
                  <a:srgbClr val="CCCCCC"/>
                </a:solidFill>
                <a:latin typeface="Calibri"/>
              </a:rPr>
              <a:t>32.09%</a:t>
            </a:r>
          </a:p>
        </p:txBody>
      </p:sp>
      <p:sp>
        <p:nvSpPr>
          <p:cNvPr id="106" name="TextBox 105"/>
          <p:cNvSpPr txBox="1"/>
          <p:nvPr/>
        </p:nvSpPr>
        <p:spPr>
          <a:xfrm>
            <a:off x="3017520" y="1152144"/>
            <a:ext cx="731520" cy="155448"/>
          </a:xfrm>
          <a:prstGeom prst="rect">
            <a:avLst/>
          </a:prstGeom>
          <a:noFill/>
        </p:spPr>
        <p:txBody>
          <a:bodyPr wrap="none">
            <a:spAutoFit/>
          </a:bodyPr>
          <a:lstStyle/>
          <a:p>
            <a:r>
              <a:rPr lang="en-US" sz="900" dirty="0">
                <a:solidFill>
                  <a:srgbClr val="CCCCCC"/>
                </a:solidFill>
                <a:latin typeface="Calibri"/>
              </a:rPr>
              <a:t>280,000</a:t>
            </a:r>
          </a:p>
        </p:txBody>
      </p:sp>
      <p:sp>
        <p:nvSpPr>
          <p:cNvPr id="107" name="TextBox 106"/>
          <p:cNvSpPr txBox="1"/>
          <p:nvPr/>
        </p:nvSpPr>
        <p:spPr>
          <a:xfrm>
            <a:off x="3794760" y="1152144"/>
            <a:ext cx="502920" cy="155448"/>
          </a:xfrm>
          <a:prstGeom prst="rect">
            <a:avLst/>
          </a:prstGeom>
          <a:noFill/>
        </p:spPr>
        <p:txBody>
          <a:bodyPr wrap="none">
            <a:spAutoFit/>
          </a:bodyPr>
          <a:lstStyle/>
          <a:p>
            <a:r>
              <a:rPr lang="en-US" sz="900" dirty="0">
                <a:solidFill>
                  <a:srgbClr val="CCCCCC"/>
                </a:solidFill>
                <a:latin typeface="Calibri"/>
              </a:rPr>
              <a:t>33.02%</a:t>
            </a:r>
          </a:p>
        </p:txBody>
      </p:sp>
      <p:sp>
        <p:nvSpPr>
          <p:cNvPr id="108" name="TextBox 107"/>
          <p:cNvSpPr txBox="1"/>
          <p:nvPr/>
        </p:nvSpPr>
        <p:spPr>
          <a:xfrm>
            <a:off x="4343400" y="1152144"/>
            <a:ext cx="594360" cy="155448"/>
          </a:xfrm>
          <a:prstGeom prst="rect">
            <a:avLst/>
          </a:prstGeom>
          <a:noFill/>
        </p:spPr>
        <p:txBody>
          <a:bodyPr wrap="none">
            <a:spAutoFit/>
          </a:bodyPr>
          <a:lstStyle/>
          <a:p>
            <a:r>
              <a:rPr lang="en-US" sz="900" dirty="0">
                <a:solidFill>
                  <a:srgbClr val="CCCCCC"/>
                </a:solidFill>
                <a:latin typeface="Calibri"/>
              </a:rPr>
              <a:t>   0</a:t>
            </a:r>
          </a:p>
        </p:txBody>
      </p:sp>
      <p:sp>
        <p:nvSpPr>
          <p:cNvPr id="109" name="TextBox 108"/>
          <p:cNvSpPr txBox="1"/>
          <p:nvPr/>
        </p:nvSpPr>
        <p:spPr>
          <a:xfrm>
            <a:off x="256032" y="1316736"/>
            <a:ext cx="1188720" cy="155448"/>
          </a:xfrm>
          <a:prstGeom prst="rect">
            <a:avLst/>
          </a:prstGeom>
          <a:noFill/>
        </p:spPr>
        <p:txBody>
          <a:bodyPr wrap="none">
            <a:spAutoFit/>
          </a:bodyPr>
          <a:lstStyle/>
          <a:p>
            <a:r>
              <a:rPr lang="en-US" sz="900" dirty="0">
                <a:solidFill>
                  <a:srgbClr val="CCCCCC"/>
                </a:solidFill>
                <a:latin typeface="Calibri"/>
              </a:rPr>
              <a:t>Wertz family</a:t>
            </a:r>
          </a:p>
        </p:txBody>
      </p:sp>
      <p:sp>
        <p:nvSpPr>
          <p:cNvPr id="110" name="TextBox 109"/>
          <p:cNvSpPr txBox="1"/>
          <p:nvPr/>
        </p:nvSpPr>
        <p:spPr>
          <a:xfrm>
            <a:off x="1508760" y="1316736"/>
            <a:ext cx="822960" cy="155448"/>
          </a:xfrm>
          <a:prstGeom prst="rect">
            <a:avLst/>
          </a:prstGeom>
          <a:noFill/>
        </p:spPr>
        <p:txBody>
          <a:bodyPr wrap="none">
            <a:spAutoFit/>
          </a:bodyPr>
          <a:lstStyle/>
          <a:p>
            <a:r>
              <a:rPr lang="en-US" sz="900" dirty="0">
                <a:solidFill>
                  <a:srgbClr val="CCCCCC"/>
                </a:solidFill>
                <a:latin typeface="Calibri"/>
              </a:rPr>
              <a:t>103,000</a:t>
            </a:r>
          </a:p>
        </p:txBody>
      </p:sp>
      <p:sp>
        <p:nvSpPr>
          <p:cNvPr id="111" name="TextBox 110"/>
          <p:cNvSpPr txBox="1"/>
          <p:nvPr/>
        </p:nvSpPr>
        <p:spPr>
          <a:xfrm>
            <a:off x="2377440" y="1316736"/>
            <a:ext cx="594360" cy="155448"/>
          </a:xfrm>
          <a:prstGeom prst="rect">
            <a:avLst/>
          </a:prstGeom>
          <a:noFill/>
        </p:spPr>
        <p:txBody>
          <a:bodyPr wrap="none">
            <a:spAutoFit/>
          </a:bodyPr>
          <a:lstStyle/>
          <a:p>
            <a:r>
              <a:rPr lang="en-US" sz="900" dirty="0">
                <a:solidFill>
                  <a:srgbClr val="CCCCCC"/>
                </a:solidFill>
                <a:latin typeface="Calibri"/>
              </a:rPr>
              <a:t>11.80%</a:t>
            </a:r>
          </a:p>
        </p:txBody>
      </p:sp>
      <p:sp>
        <p:nvSpPr>
          <p:cNvPr id="112" name="TextBox 111"/>
          <p:cNvSpPr txBox="1"/>
          <p:nvPr/>
        </p:nvSpPr>
        <p:spPr>
          <a:xfrm>
            <a:off x="3017520" y="1316736"/>
            <a:ext cx="731520" cy="155448"/>
          </a:xfrm>
          <a:prstGeom prst="rect">
            <a:avLst/>
          </a:prstGeom>
          <a:noFill/>
        </p:spPr>
        <p:txBody>
          <a:bodyPr wrap="none">
            <a:spAutoFit/>
          </a:bodyPr>
          <a:lstStyle/>
          <a:p>
            <a:r>
              <a:rPr lang="en-US" sz="900" dirty="0">
                <a:solidFill>
                  <a:srgbClr val="CCCCCC"/>
                </a:solidFill>
                <a:latin typeface="Calibri"/>
              </a:rPr>
              <a:t>~103,000</a:t>
            </a:r>
          </a:p>
        </p:txBody>
      </p:sp>
      <p:sp>
        <p:nvSpPr>
          <p:cNvPr id="113" name="TextBox 112"/>
          <p:cNvSpPr txBox="1"/>
          <p:nvPr/>
        </p:nvSpPr>
        <p:spPr>
          <a:xfrm>
            <a:off x="3794760" y="1316736"/>
            <a:ext cx="502920" cy="155448"/>
          </a:xfrm>
          <a:prstGeom prst="rect">
            <a:avLst/>
          </a:prstGeom>
          <a:noFill/>
        </p:spPr>
        <p:txBody>
          <a:bodyPr wrap="none">
            <a:spAutoFit/>
          </a:bodyPr>
          <a:lstStyle/>
          <a:p>
            <a:r>
              <a:rPr lang="en-US" sz="900" dirty="0">
                <a:solidFill>
                  <a:srgbClr val="CCCCCC"/>
                </a:solidFill>
                <a:latin typeface="Calibri"/>
              </a:rPr>
              <a:t>~12.15%</a:t>
            </a:r>
          </a:p>
        </p:txBody>
      </p:sp>
      <p:sp>
        <p:nvSpPr>
          <p:cNvPr id="114" name="TextBox 113"/>
          <p:cNvSpPr txBox="1"/>
          <p:nvPr/>
        </p:nvSpPr>
        <p:spPr>
          <a:xfrm>
            <a:off x="4343400" y="1316736"/>
            <a:ext cx="594360" cy="155448"/>
          </a:xfrm>
          <a:prstGeom prst="rect">
            <a:avLst/>
          </a:prstGeom>
          <a:noFill/>
        </p:spPr>
        <p:txBody>
          <a:bodyPr wrap="none">
            <a:spAutoFit/>
          </a:bodyPr>
          <a:lstStyle/>
          <a:p>
            <a:r>
              <a:rPr lang="en-US" sz="900" dirty="0">
                <a:solidFill>
                  <a:srgbClr val="CCCCCC"/>
                </a:solidFill>
                <a:latin typeface="Calibri"/>
              </a:rPr>
              <a:t>   —</a:t>
            </a:r>
          </a:p>
        </p:txBody>
      </p:sp>
      <p:sp>
        <p:nvSpPr>
          <p:cNvPr id="115" name="TextBox 114"/>
          <p:cNvSpPr txBox="1"/>
          <p:nvPr/>
        </p:nvSpPr>
        <p:spPr>
          <a:xfrm>
            <a:off x="256032" y="1481328"/>
            <a:ext cx="1188720" cy="155448"/>
          </a:xfrm>
          <a:prstGeom prst="rect">
            <a:avLst/>
          </a:prstGeom>
          <a:noFill/>
        </p:spPr>
        <p:txBody>
          <a:bodyPr wrap="none">
            <a:spAutoFit/>
          </a:bodyPr>
          <a:lstStyle/>
          <a:p>
            <a:r>
              <a:rPr lang="en-US" sz="900" dirty="0">
                <a:solidFill>
                  <a:srgbClr val="DD4444"/>
                </a:solidFill>
                <a:latin typeface="Calibri"/>
              </a:rPr>
              <a:t>Exos</a:t>
            </a:r>
          </a:p>
        </p:txBody>
      </p:sp>
      <p:sp>
        <p:nvSpPr>
          <p:cNvPr id="116" name="TextBox 115"/>
          <p:cNvSpPr txBox="1"/>
          <p:nvPr/>
        </p:nvSpPr>
        <p:spPr>
          <a:xfrm>
            <a:off x="1508760" y="1481328"/>
            <a:ext cx="822960" cy="155448"/>
          </a:xfrm>
          <a:prstGeom prst="rect">
            <a:avLst/>
          </a:prstGeom>
          <a:noFill/>
        </p:spPr>
        <p:txBody>
          <a:bodyPr wrap="none">
            <a:spAutoFit/>
          </a:bodyPr>
          <a:lstStyle/>
          <a:p>
            <a:r>
              <a:rPr lang="en-US" sz="900" dirty="0">
                <a:solidFill>
                  <a:srgbClr val="DD4444"/>
                </a:solidFill>
                <a:latin typeface="Calibri"/>
              </a:rPr>
              <a:t>157,553</a:t>
            </a:r>
          </a:p>
        </p:txBody>
      </p:sp>
      <p:sp>
        <p:nvSpPr>
          <p:cNvPr id="117" name="TextBox 116"/>
          <p:cNvSpPr txBox="1"/>
          <p:nvPr/>
        </p:nvSpPr>
        <p:spPr>
          <a:xfrm>
            <a:off x="2377440" y="1481328"/>
            <a:ext cx="594360" cy="155448"/>
          </a:xfrm>
          <a:prstGeom prst="rect">
            <a:avLst/>
          </a:prstGeom>
          <a:noFill/>
        </p:spPr>
        <p:txBody>
          <a:bodyPr wrap="none">
            <a:spAutoFit/>
          </a:bodyPr>
          <a:lstStyle/>
          <a:p>
            <a:r>
              <a:rPr lang="en-US" sz="900" dirty="0">
                <a:solidFill>
                  <a:srgbClr val="DD4444"/>
                </a:solidFill>
                <a:latin typeface="Calibri"/>
              </a:rPr>
              <a:t>18.06%</a:t>
            </a:r>
          </a:p>
        </p:txBody>
      </p:sp>
      <p:sp>
        <p:nvSpPr>
          <p:cNvPr id="118" name="TextBox 117"/>
          <p:cNvSpPr txBox="1"/>
          <p:nvPr/>
        </p:nvSpPr>
        <p:spPr>
          <a:xfrm>
            <a:off x="3017520" y="1481328"/>
            <a:ext cx="731520" cy="155448"/>
          </a:xfrm>
          <a:prstGeom prst="rect">
            <a:avLst/>
          </a:prstGeom>
          <a:noFill/>
        </p:spPr>
        <p:txBody>
          <a:bodyPr wrap="none">
            <a:spAutoFit/>
          </a:bodyPr>
          <a:lstStyle/>
          <a:p>
            <a:r>
              <a:rPr lang="en-US" sz="900" dirty="0">
                <a:solidFill>
                  <a:srgbClr val="DD4444"/>
                </a:solidFill>
                <a:latin typeface="Calibri"/>
              </a:rPr>
              <a:t>132,972</a:t>
            </a:r>
          </a:p>
        </p:txBody>
      </p:sp>
      <p:sp>
        <p:nvSpPr>
          <p:cNvPr id="119" name="TextBox 118"/>
          <p:cNvSpPr txBox="1"/>
          <p:nvPr/>
        </p:nvSpPr>
        <p:spPr>
          <a:xfrm>
            <a:off x="3794760" y="1481328"/>
            <a:ext cx="502920" cy="155448"/>
          </a:xfrm>
          <a:prstGeom prst="rect">
            <a:avLst/>
          </a:prstGeom>
          <a:noFill/>
        </p:spPr>
        <p:txBody>
          <a:bodyPr wrap="none">
            <a:spAutoFit/>
          </a:bodyPr>
          <a:lstStyle/>
          <a:p>
            <a:r>
              <a:rPr lang="en-US" sz="900" dirty="0">
                <a:solidFill>
                  <a:srgbClr val="DD4444"/>
                </a:solidFill>
                <a:latin typeface="Calibri"/>
              </a:rPr>
              <a:t>15.68%</a:t>
            </a:r>
          </a:p>
        </p:txBody>
      </p:sp>
      <p:sp>
        <p:nvSpPr>
          <p:cNvPr id="120" name="TextBox 119"/>
          <p:cNvSpPr txBox="1"/>
          <p:nvPr/>
        </p:nvSpPr>
        <p:spPr>
          <a:xfrm>
            <a:off x="4343400" y="1481328"/>
            <a:ext cx="594360" cy="155448"/>
          </a:xfrm>
          <a:prstGeom prst="rect">
            <a:avLst/>
          </a:prstGeom>
          <a:noFill/>
        </p:spPr>
        <p:txBody>
          <a:bodyPr wrap="none">
            <a:spAutoFit/>
          </a:bodyPr>
          <a:lstStyle/>
          <a:p>
            <a:r>
              <a:rPr lang="en-US" sz="900" dirty="0">
                <a:solidFill>
                  <a:srgbClr val="DD4444"/>
                </a:solidFill>
                <a:latin typeface="Calibri"/>
              </a:rPr>
              <a:t>-24,581</a:t>
            </a:r>
          </a:p>
        </p:txBody>
      </p:sp>
      <p:sp>
        <p:nvSpPr>
          <p:cNvPr id="121" name="TextBox 120"/>
          <p:cNvSpPr txBox="1"/>
          <p:nvPr/>
        </p:nvSpPr>
        <p:spPr>
          <a:xfrm>
            <a:off x="256032" y="1645920"/>
            <a:ext cx="1188720" cy="155448"/>
          </a:xfrm>
          <a:prstGeom prst="rect">
            <a:avLst/>
          </a:prstGeom>
          <a:noFill/>
        </p:spPr>
        <p:txBody>
          <a:bodyPr wrap="none">
            <a:spAutoFit/>
          </a:bodyPr>
          <a:lstStyle/>
          <a:p>
            <a:r>
              <a:rPr lang="en-US" sz="900" dirty="0">
                <a:solidFill>
                  <a:srgbClr val="DD4444"/>
                </a:solidFill>
                <a:latin typeface="Calibri"/>
              </a:rPr>
              <a:t>Conger</a:t>
            </a:r>
          </a:p>
        </p:txBody>
      </p:sp>
      <p:sp>
        <p:nvSpPr>
          <p:cNvPr id="122" name="TextBox 121"/>
          <p:cNvSpPr txBox="1"/>
          <p:nvPr/>
        </p:nvSpPr>
        <p:spPr>
          <a:xfrm>
            <a:off x="1508760" y="1645920"/>
            <a:ext cx="822960" cy="155448"/>
          </a:xfrm>
          <a:prstGeom prst="rect">
            <a:avLst/>
          </a:prstGeom>
          <a:noFill/>
        </p:spPr>
        <p:txBody>
          <a:bodyPr wrap="none">
            <a:spAutoFit/>
          </a:bodyPr>
          <a:lstStyle/>
          <a:p>
            <a:r>
              <a:rPr lang="en-US" sz="900" dirty="0">
                <a:solidFill>
                  <a:srgbClr val="DD4444"/>
                </a:solidFill>
                <a:latin typeface="Calibri"/>
              </a:rPr>
              <a:t>73,000</a:t>
            </a:r>
          </a:p>
        </p:txBody>
      </p:sp>
      <p:sp>
        <p:nvSpPr>
          <p:cNvPr id="123" name="TextBox 122"/>
          <p:cNvSpPr txBox="1"/>
          <p:nvPr/>
        </p:nvSpPr>
        <p:spPr>
          <a:xfrm>
            <a:off x="2377440" y="1645920"/>
            <a:ext cx="594360" cy="155448"/>
          </a:xfrm>
          <a:prstGeom prst="rect">
            <a:avLst/>
          </a:prstGeom>
          <a:noFill/>
        </p:spPr>
        <p:txBody>
          <a:bodyPr wrap="none">
            <a:spAutoFit/>
          </a:bodyPr>
          <a:lstStyle/>
          <a:p>
            <a:r>
              <a:rPr lang="en-US" sz="900" dirty="0">
                <a:solidFill>
                  <a:srgbClr val="DD4444"/>
                </a:solidFill>
                <a:latin typeface="Calibri"/>
              </a:rPr>
              <a:t> 8.37%</a:t>
            </a:r>
          </a:p>
        </p:txBody>
      </p:sp>
      <p:sp>
        <p:nvSpPr>
          <p:cNvPr id="124" name="TextBox 123"/>
          <p:cNvSpPr txBox="1"/>
          <p:nvPr/>
        </p:nvSpPr>
        <p:spPr>
          <a:xfrm>
            <a:off x="3017520" y="1645920"/>
            <a:ext cx="731520" cy="155448"/>
          </a:xfrm>
          <a:prstGeom prst="rect">
            <a:avLst/>
          </a:prstGeom>
          <a:noFill/>
        </p:spPr>
        <p:txBody>
          <a:bodyPr wrap="none">
            <a:spAutoFit/>
          </a:bodyPr>
          <a:lstStyle/>
          <a:p>
            <a:r>
              <a:rPr lang="en-US" sz="900" dirty="0">
                <a:solidFill>
                  <a:srgbClr val="DD4444"/>
                </a:solidFill>
                <a:latin typeface="Calibri"/>
              </a:rPr>
              <a:t>29,000</a:t>
            </a:r>
          </a:p>
        </p:txBody>
      </p:sp>
      <p:sp>
        <p:nvSpPr>
          <p:cNvPr id="125" name="TextBox 124"/>
          <p:cNvSpPr txBox="1"/>
          <p:nvPr/>
        </p:nvSpPr>
        <p:spPr>
          <a:xfrm>
            <a:off x="3794760" y="1645920"/>
            <a:ext cx="502920" cy="155448"/>
          </a:xfrm>
          <a:prstGeom prst="rect">
            <a:avLst/>
          </a:prstGeom>
          <a:noFill/>
        </p:spPr>
        <p:txBody>
          <a:bodyPr wrap="none">
            <a:spAutoFit/>
          </a:bodyPr>
          <a:lstStyle/>
          <a:p>
            <a:r>
              <a:rPr lang="en-US" sz="900" dirty="0">
                <a:solidFill>
                  <a:srgbClr val="DD4444"/>
                </a:solidFill>
                <a:latin typeface="Calibri"/>
              </a:rPr>
              <a:t> 3.42%</a:t>
            </a:r>
          </a:p>
        </p:txBody>
      </p:sp>
      <p:sp>
        <p:nvSpPr>
          <p:cNvPr id="126" name="TextBox 125"/>
          <p:cNvSpPr txBox="1"/>
          <p:nvPr/>
        </p:nvSpPr>
        <p:spPr>
          <a:xfrm>
            <a:off x="4343400" y="1645920"/>
            <a:ext cx="594360" cy="155448"/>
          </a:xfrm>
          <a:prstGeom prst="rect">
            <a:avLst/>
          </a:prstGeom>
          <a:noFill/>
        </p:spPr>
        <p:txBody>
          <a:bodyPr wrap="none">
            <a:spAutoFit/>
          </a:bodyPr>
          <a:lstStyle/>
          <a:p>
            <a:r>
              <a:rPr lang="en-US" sz="900" dirty="0">
                <a:solidFill>
                  <a:srgbClr val="DD4444"/>
                </a:solidFill>
                <a:latin typeface="Calibri"/>
              </a:rPr>
              <a:t>-44,000</a:t>
            </a:r>
          </a:p>
        </p:txBody>
      </p:sp>
      <p:sp>
        <p:nvSpPr>
          <p:cNvPr id="127" name="TextBox 126"/>
          <p:cNvSpPr txBox="1"/>
          <p:nvPr/>
        </p:nvSpPr>
        <p:spPr>
          <a:xfrm>
            <a:off x="256032" y="1810512"/>
            <a:ext cx="1188720" cy="155448"/>
          </a:xfrm>
          <a:prstGeom prst="rect">
            <a:avLst/>
          </a:prstGeom>
          <a:noFill/>
        </p:spPr>
        <p:txBody>
          <a:bodyPr wrap="none">
            <a:spAutoFit/>
          </a:bodyPr>
          <a:lstStyle/>
          <a:p>
            <a:r>
              <a:rPr lang="en-US" sz="900" dirty="0">
                <a:solidFill>
                  <a:srgbClr val="CCCCCC"/>
                </a:solidFill>
                <a:latin typeface="Calibri"/>
              </a:rPr>
              <a:t>Rufer</a:t>
            </a:r>
          </a:p>
        </p:txBody>
      </p:sp>
      <p:sp>
        <p:nvSpPr>
          <p:cNvPr id="128" name="TextBox 127"/>
          <p:cNvSpPr txBox="1"/>
          <p:nvPr/>
        </p:nvSpPr>
        <p:spPr>
          <a:xfrm>
            <a:off x="1508760" y="1810512"/>
            <a:ext cx="822960" cy="155448"/>
          </a:xfrm>
          <a:prstGeom prst="rect">
            <a:avLst/>
          </a:prstGeom>
          <a:noFill/>
        </p:spPr>
        <p:txBody>
          <a:bodyPr wrap="none">
            <a:spAutoFit/>
          </a:bodyPr>
          <a:lstStyle/>
          <a:p>
            <a:r>
              <a:rPr lang="en-US" sz="900" dirty="0">
                <a:solidFill>
                  <a:srgbClr val="CCCCCC"/>
                </a:solidFill>
                <a:latin typeface="Calibri"/>
              </a:rPr>
              <a:t>91,000</a:t>
            </a:r>
          </a:p>
        </p:txBody>
      </p:sp>
      <p:sp>
        <p:nvSpPr>
          <p:cNvPr id="129" name="TextBox 128"/>
          <p:cNvSpPr txBox="1"/>
          <p:nvPr/>
        </p:nvSpPr>
        <p:spPr>
          <a:xfrm>
            <a:off x="2377440" y="1810512"/>
            <a:ext cx="594360" cy="155448"/>
          </a:xfrm>
          <a:prstGeom prst="rect">
            <a:avLst/>
          </a:prstGeom>
          <a:noFill/>
        </p:spPr>
        <p:txBody>
          <a:bodyPr wrap="none">
            <a:spAutoFit/>
          </a:bodyPr>
          <a:lstStyle/>
          <a:p>
            <a:r>
              <a:rPr lang="en-US" sz="900" dirty="0">
                <a:solidFill>
                  <a:srgbClr val="CCCCCC"/>
                </a:solidFill>
                <a:latin typeface="Calibri"/>
              </a:rPr>
              <a:t>10.43%</a:t>
            </a:r>
          </a:p>
        </p:txBody>
      </p:sp>
      <p:sp>
        <p:nvSpPr>
          <p:cNvPr id="130" name="TextBox 129"/>
          <p:cNvSpPr txBox="1"/>
          <p:nvPr/>
        </p:nvSpPr>
        <p:spPr>
          <a:xfrm>
            <a:off x="3017520" y="1810512"/>
            <a:ext cx="731520" cy="155448"/>
          </a:xfrm>
          <a:prstGeom prst="rect">
            <a:avLst/>
          </a:prstGeom>
          <a:noFill/>
        </p:spPr>
        <p:txBody>
          <a:bodyPr wrap="none">
            <a:spAutoFit/>
          </a:bodyPr>
          <a:lstStyle/>
          <a:p>
            <a:r>
              <a:rPr lang="en-US" sz="900" dirty="0">
                <a:solidFill>
                  <a:srgbClr val="CCCCCC"/>
                </a:solidFill>
                <a:latin typeface="Calibri"/>
              </a:rPr>
              <a:t>—</a:t>
            </a:r>
          </a:p>
        </p:txBody>
      </p:sp>
      <p:sp>
        <p:nvSpPr>
          <p:cNvPr id="131" name="TextBox 130"/>
          <p:cNvSpPr txBox="1"/>
          <p:nvPr/>
        </p:nvSpPr>
        <p:spPr>
          <a:xfrm>
            <a:off x="3794760" y="1810512"/>
            <a:ext cx="502920" cy="155448"/>
          </a:xfrm>
          <a:prstGeom prst="rect">
            <a:avLst/>
          </a:prstGeom>
          <a:noFill/>
        </p:spPr>
        <p:txBody>
          <a:bodyPr wrap="none">
            <a:spAutoFit/>
          </a:bodyPr>
          <a:lstStyle/>
          <a:p>
            <a:r>
              <a:rPr lang="en-US" sz="900" dirty="0">
                <a:solidFill>
                  <a:srgbClr val="CCCCCC"/>
                </a:solidFill>
                <a:latin typeface="Calibri"/>
              </a:rPr>
              <a:t>—</a:t>
            </a:r>
          </a:p>
        </p:txBody>
      </p:sp>
      <p:sp>
        <p:nvSpPr>
          <p:cNvPr id="132" name="TextBox 131"/>
          <p:cNvSpPr txBox="1"/>
          <p:nvPr/>
        </p:nvSpPr>
        <p:spPr>
          <a:xfrm>
            <a:off x="4343400" y="1810512"/>
            <a:ext cx="594360" cy="155448"/>
          </a:xfrm>
          <a:prstGeom prst="rect">
            <a:avLst/>
          </a:prstGeom>
          <a:noFill/>
        </p:spPr>
        <p:txBody>
          <a:bodyPr wrap="none">
            <a:spAutoFit/>
          </a:bodyPr>
          <a:lstStyle/>
          <a:p>
            <a:r>
              <a:rPr lang="en-US" sz="900" dirty="0">
                <a:solidFill>
                  <a:srgbClr val="CCCCCC"/>
                </a:solidFill>
                <a:latin typeface="Calibri"/>
              </a:rPr>
              <a:t>—</a:t>
            </a:r>
          </a:p>
        </p:txBody>
      </p:sp>
      <p:sp>
        <p:nvSpPr>
          <p:cNvPr id="133" name="TextBox 132"/>
          <p:cNvSpPr txBox="1"/>
          <p:nvPr/>
        </p:nvSpPr>
        <p:spPr>
          <a:xfrm>
            <a:off x="256032" y="1975104"/>
            <a:ext cx="1188720" cy="155448"/>
          </a:xfrm>
          <a:prstGeom prst="rect">
            <a:avLst/>
          </a:prstGeom>
          <a:noFill/>
        </p:spPr>
        <p:txBody>
          <a:bodyPr wrap="none">
            <a:spAutoFit/>
          </a:bodyPr>
          <a:lstStyle/>
          <a:p>
            <a:r>
              <a:rPr lang="en-US" sz="900" dirty="0">
                <a:solidFill>
                  <a:srgbClr val="CCCCCC"/>
                </a:solidFill>
                <a:latin typeface="Calibri"/>
              </a:rPr>
              <a:t>Other</a:t>
            </a:r>
          </a:p>
        </p:txBody>
      </p:sp>
      <p:sp>
        <p:nvSpPr>
          <p:cNvPr id="134" name="TextBox 133"/>
          <p:cNvSpPr txBox="1"/>
          <p:nvPr/>
        </p:nvSpPr>
        <p:spPr>
          <a:xfrm>
            <a:off x="1508760" y="1975104"/>
            <a:ext cx="822960" cy="155448"/>
          </a:xfrm>
          <a:prstGeom prst="rect">
            <a:avLst/>
          </a:prstGeom>
          <a:noFill/>
        </p:spPr>
        <p:txBody>
          <a:bodyPr wrap="none">
            <a:spAutoFit/>
          </a:bodyPr>
          <a:lstStyle/>
          <a:p>
            <a:r>
              <a:rPr lang="en-US" sz="900" dirty="0">
                <a:solidFill>
                  <a:srgbClr val="CCCCCC"/>
                </a:solidFill>
                <a:latin typeface="Calibri"/>
              </a:rPr>
              <a:t>167,972</a:t>
            </a:r>
          </a:p>
        </p:txBody>
      </p:sp>
      <p:sp>
        <p:nvSpPr>
          <p:cNvPr id="135" name="TextBox 134"/>
          <p:cNvSpPr txBox="1"/>
          <p:nvPr/>
        </p:nvSpPr>
        <p:spPr>
          <a:xfrm>
            <a:off x="2377440" y="1975104"/>
            <a:ext cx="594360" cy="155448"/>
          </a:xfrm>
          <a:prstGeom prst="rect">
            <a:avLst/>
          </a:prstGeom>
          <a:noFill/>
        </p:spPr>
        <p:txBody>
          <a:bodyPr wrap="none">
            <a:spAutoFit/>
          </a:bodyPr>
          <a:lstStyle/>
          <a:p>
            <a:r>
              <a:rPr lang="en-US" sz="900" dirty="0">
                <a:solidFill>
                  <a:srgbClr val="CCCCCC"/>
                </a:solidFill>
                <a:latin typeface="Calibri"/>
              </a:rPr>
              <a:t>19.25%</a:t>
            </a:r>
          </a:p>
        </p:txBody>
      </p:sp>
      <p:sp>
        <p:nvSpPr>
          <p:cNvPr id="136" name="TextBox 135"/>
          <p:cNvSpPr txBox="1"/>
          <p:nvPr/>
        </p:nvSpPr>
        <p:spPr>
          <a:xfrm>
            <a:off x="3017520" y="1975104"/>
            <a:ext cx="731520" cy="155448"/>
          </a:xfrm>
          <a:prstGeom prst="rect">
            <a:avLst/>
          </a:prstGeom>
          <a:noFill/>
        </p:spPr>
        <p:txBody>
          <a:bodyPr wrap="none">
            <a:spAutoFit/>
          </a:bodyPr>
          <a:lstStyle/>
          <a:p>
            <a:r>
              <a:rPr lang="en-US" sz="900" dirty="0">
                <a:solidFill>
                  <a:srgbClr val="CCCCCC"/>
                </a:solidFill>
                <a:latin typeface="Calibri"/>
              </a:rPr>
              <a:t>—</a:t>
            </a:r>
          </a:p>
        </p:txBody>
      </p:sp>
      <p:sp>
        <p:nvSpPr>
          <p:cNvPr id="137" name="TextBox 136"/>
          <p:cNvSpPr txBox="1"/>
          <p:nvPr/>
        </p:nvSpPr>
        <p:spPr>
          <a:xfrm>
            <a:off x="3794760" y="1975104"/>
            <a:ext cx="502920" cy="155448"/>
          </a:xfrm>
          <a:prstGeom prst="rect">
            <a:avLst/>
          </a:prstGeom>
          <a:noFill/>
        </p:spPr>
        <p:txBody>
          <a:bodyPr wrap="none">
            <a:spAutoFit/>
          </a:bodyPr>
          <a:lstStyle/>
          <a:p>
            <a:r>
              <a:rPr lang="en-US" sz="900" dirty="0">
                <a:solidFill>
                  <a:srgbClr val="CCCCCC"/>
                </a:solidFill>
                <a:latin typeface="Calibri"/>
              </a:rPr>
              <a:t>—</a:t>
            </a:r>
          </a:p>
        </p:txBody>
      </p:sp>
      <p:sp>
        <p:nvSpPr>
          <p:cNvPr id="138" name="TextBox 137"/>
          <p:cNvSpPr txBox="1"/>
          <p:nvPr/>
        </p:nvSpPr>
        <p:spPr>
          <a:xfrm>
            <a:off x="4343400" y="1975104"/>
            <a:ext cx="594360" cy="155448"/>
          </a:xfrm>
          <a:prstGeom prst="rect">
            <a:avLst/>
          </a:prstGeom>
          <a:noFill/>
        </p:spPr>
        <p:txBody>
          <a:bodyPr wrap="none">
            <a:spAutoFit/>
          </a:bodyPr>
          <a:lstStyle/>
          <a:p>
            <a:r>
              <a:rPr lang="en-US" sz="900" dirty="0">
                <a:solidFill>
                  <a:srgbClr val="CCCCCC"/>
                </a:solidFill>
                <a:latin typeface="Calibri"/>
              </a:rPr>
              <a:t>—</a:t>
            </a:r>
          </a:p>
        </p:txBody>
      </p:sp>
      <p:sp>
        <p:nvSpPr>
          <p:cNvPr id="139" name="TextBox 138"/>
          <p:cNvSpPr txBox="1"/>
          <p:nvPr/>
        </p:nvSpPr>
        <p:spPr>
          <a:xfrm>
            <a:off x="256032" y="2176272"/>
            <a:ext cx="1188720" cy="155448"/>
          </a:xfrm>
          <a:prstGeom prst="rect">
            <a:avLst/>
          </a:prstGeom>
          <a:noFill/>
        </p:spPr>
        <p:txBody>
          <a:bodyPr wrap="none">
            <a:spAutoFit/>
          </a:bodyPr>
          <a:lstStyle/>
          <a:p>
            <a:r>
              <a:rPr lang="en-US" sz="900" dirty="0" b="1">
                <a:solidFill>
                  <a:srgbClr val="FFFFFF"/>
                </a:solidFill>
                <a:latin typeface="Calibri"/>
              </a:rPr>
              <a:t>TOTAL</a:t>
            </a:r>
          </a:p>
        </p:txBody>
      </p:sp>
      <p:sp>
        <p:nvSpPr>
          <p:cNvPr id="140" name="TextBox 139"/>
          <p:cNvSpPr txBox="1"/>
          <p:nvPr/>
        </p:nvSpPr>
        <p:spPr>
          <a:xfrm>
            <a:off x="1508760" y="2176272"/>
            <a:ext cx="822960" cy="155448"/>
          </a:xfrm>
          <a:prstGeom prst="rect">
            <a:avLst/>
          </a:prstGeom>
          <a:noFill/>
        </p:spPr>
        <p:txBody>
          <a:bodyPr wrap="none">
            <a:spAutoFit/>
          </a:bodyPr>
          <a:lstStyle/>
          <a:p>
            <a:r>
              <a:rPr lang="en-US" sz="900" dirty="0" b="1">
                <a:solidFill>
                  <a:srgbClr val="FFFFFF"/>
                </a:solidFill>
                <a:latin typeface="Calibri"/>
              </a:rPr>
              <a:t>872,525</a:t>
            </a:r>
          </a:p>
        </p:txBody>
      </p:sp>
      <p:sp>
        <p:nvSpPr>
          <p:cNvPr id="141" name="TextBox 140"/>
          <p:cNvSpPr txBox="1"/>
          <p:nvPr/>
        </p:nvSpPr>
        <p:spPr>
          <a:xfrm>
            <a:off x="2377440" y="2176272"/>
            <a:ext cx="594360" cy="155448"/>
          </a:xfrm>
          <a:prstGeom prst="rect">
            <a:avLst/>
          </a:prstGeom>
          <a:noFill/>
        </p:spPr>
        <p:txBody>
          <a:bodyPr wrap="none">
            <a:spAutoFit/>
          </a:bodyPr>
          <a:lstStyle/>
          <a:p>
            <a:r>
              <a:rPr lang="en-US" sz="900" dirty="0" b="1">
                <a:solidFill>
                  <a:srgbClr val="FFFFFF"/>
                </a:solidFill>
                <a:latin typeface="Calibri"/>
              </a:rPr>
              <a:t>100.0%</a:t>
            </a:r>
          </a:p>
        </p:txBody>
      </p:sp>
      <p:sp>
        <p:nvSpPr>
          <p:cNvPr id="142" name="TextBox 141"/>
          <p:cNvSpPr txBox="1"/>
          <p:nvPr/>
        </p:nvSpPr>
        <p:spPr>
          <a:xfrm>
            <a:off x="3017520" y="2176272"/>
            <a:ext cx="731520" cy="155448"/>
          </a:xfrm>
          <a:prstGeom prst="rect">
            <a:avLst/>
          </a:prstGeom>
          <a:noFill/>
        </p:spPr>
        <p:txBody>
          <a:bodyPr wrap="none">
            <a:spAutoFit/>
          </a:bodyPr>
          <a:lstStyle/>
          <a:p>
            <a:r>
              <a:rPr lang="en-US" sz="900" dirty="0" b="1">
                <a:solidFill>
                  <a:srgbClr val="FFFFFF"/>
                </a:solidFill>
                <a:latin typeface="Calibri"/>
              </a:rPr>
              <a:t>847,944</a:t>
            </a:r>
          </a:p>
        </p:txBody>
      </p:sp>
      <p:sp>
        <p:nvSpPr>
          <p:cNvPr id="143" name="TextBox 142"/>
          <p:cNvSpPr txBox="1"/>
          <p:nvPr/>
        </p:nvSpPr>
        <p:spPr>
          <a:xfrm>
            <a:off x="3794760" y="2176272"/>
            <a:ext cx="502920" cy="155448"/>
          </a:xfrm>
          <a:prstGeom prst="rect">
            <a:avLst/>
          </a:prstGeom>
          <a:noFill/>
        </p:spPr>
        <p:txBody>
          <a:bodyPr wrap="none">
            <a:spAutoFit/>
          </a:bodyPr>
          <a:lstStyle/>
          <a:p>
            <a:r>
              <a:rPr lang="en-US" sz="900" dirty="0" b="1">
                <a:solidFill>
                  <a:srgbClr val="FFFFFF"/>
                </a:solidFill>
                <a:latin typeface="Calibri"/>
              </a:rPr>
              <a:t>97.2%</a:t>
            </a:r>
          </a:p>
        </p:txBody>
      </p:sp>
      <p:sp>
        <p:nvSpPr>
          <p:cNvPr id="144" name="TextBox 143"/>
          <p:cNvSpPr txBox="1"/>
          <p:nvPr/>
        </p:nvSpPr>
        <p:spPr>
          <a:xfrm>
            <a:off x="4343400" y="2176272"/>
            <a:ext cx="594360" cy="155448"/>
          </a:xfrm>
          <a:prstGeom prst="rect">
            <a:avLst/>
          </a:prstGeom>
          <a:noFill/>
        </p:spPr>
        <p:txBody>
          <a:bodyPr wrap="none">
            <a:spAutoFit/>
          </a:bodyPr>
          <a:lstStyle/>
          <a:p>
            <a:r>
              <a:rPr lang="en-US" sz="900" dirty="0" b="1">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4736592" y="969264"/>
            <a:ext cx="2560320" cy="155448"/>
          </a:xfrm>
          <a:prstGeom prst="rect">
            <a:avLst/>
          </a:prstGeom>
          <a:noFill/>
        </p:spPr>
        <p:txBody>
          <a:bodyPr wrap="none">
            <a:spAutoFit/>
          </a:bodyPr>
          <a:lstStyle/>
          <a:p>
            <a:r>
              <a:rPr lang="en-US" sz="9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9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b="1" sz="1000">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i="1" sz="1000">
                <a:solidFill>
                  <a:srgbClr val="CCCCCC"/>
                </a:solidFill>
                <a:latin typeface="Calibri"/>
              </a:rPr>
              <a:t>Not a receivable. Netted 6/30/2025 (#25925-26):</a:t>
            </a:r>
          </a:p>
          <a:p>
            <a:r>
              <a:rPr lang="en-US" i="1" sz="1000">
                <a:solidFill>
                  <a:srgbClr val="CCCCCC"/>
                </a:solidFill>
                <a:latin typeface="Calibri"/>
              </a:rPr>
              <a:t>$294,499 loan payable + $518,201 no invoices</a:t>
            </a:r>
          </a:p>
          <a:p>
            <a:r>
              <a:rPr lang="en-US" i="1" sz="1000">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b="1" sz="1000">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b="1" sz="1000">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$21.1K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$23.8K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$26.7K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At close, Step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$27.4K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$30.1K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$33.0K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$31.0K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$33.7K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$36.6K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(Step 1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~$199.5K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At close  (Step 1+2):</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~$252.4K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At close  (Step 3):</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~$282.4K</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b="1" sz="1000">
                <a:solidFill>
                  <a:srgbClr val="DD4444"/>
                </a:solidFill>
                <a:latin typeface="Calibri"/>
              </a:rPr>
              <a:t>Per 1%: −$15.4K</a:t>
            </a:r>
          </a:p>
        </p:txBody>
      </p:sp>
      <p:sp>
        <p:nvSpPr>
          <p:cNvPr id="71" name="TextBox 70"/>
          <p:cNvSpPr txBox="1"/>
          <p:nvPr/>
        </p:nvSpPr>
        <p:spPr>
          <a:xfrm>
            <a:off x="67482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6931152" y="3310128"/>
            <a:ext cx="1920240" cy="201168"/>
          </a:xfrm>
          <a:prstGeom prst="rect">
            <a:avLst/>
          </a:prstGeom>
          <a:noFill/>
        </p:spPr>
        <p:txBody>
          <a:bodyPr wrap="none">
            <a:spAutoFit/>
          </a:bodyPr>
          <a:lstStyle/>
          <a:p>
            <a:r>
              <a:rPr lang="en-US" b="1" sz="1000">
                <a:solidFill>
                  <a:srgbClr val="DD4444"/>
                </a:solidFill>
                <a:latin typeface="Calibri"/>
              </a:rPr>
              <a:t>Conger: −$128.7K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lang="en-US" sz="900" dirty="0">
                <a:solidFill>
                  <a:srgbClr val="FFCC44"/>
                </a:solidFill>
                <a:latin typeface="Calibri"/>
              </a:rPr>
              <a:t>Step 1: Facility credit ~$351K (Microcosm 50% rent+util, Jul 2024-Aug 2026)</a:t>
            </a:r>
          </a:p>
          <a:p>
            <a:r>
              <a:rPr lang="en-US" sz="900" dirty="0">
                <a:solidFill>
                  <a:srgbClr val="FFCC44"/>
                </a:solidFill>
                <a:latin typeface="Calibri"/>
              </a:rPr>
              <a:t>  + Bookstore capitalized interest $97K = $448K not credited to SSLC holders.</a:t>
            </a:r>
          </a:p>
          <a:p>
            <a:r>
              <a:rPr lang="en-US" sz="900" dirty="0" b="1">
                <a:solidFill>
                  <a:srgbClr val="FFFFFF"/>
                </a:solidFill>
                <a:latin typeface="Calibri"/>
              </a:rPr>
              <a:t>Net cash at close: ~$1.51M (as booked)  →  ~$1.95M (Step 1 applied).</a:t>
            </a:r>
          </a:p>
          <a:p>
            <a:r>
              <a:rPr lang="en-US" sz="900" dirty="0">
                <a:solidFill>
                  <a:srgbClr val="FFCC44"/>
                </a:solidFill>
                <a:latin typeface="Calibri"/>
              </a:rPr>
              <a:t>Adjusted: Due to Microcosm → ~$100K;  Bookstore note → $223K.</a:t>
            </a:r>
          </a:p>
          <a:p>
            <a:r>
              <a:rPr lang="en-US" sz="900" dirty="0">
                <a:solidFill>
                  <a:srgbClr val="FFCC44"/>
                </a:solidFill>
                <a:latin typeface="Calibri"/>
              </a:rPr>
              <a:t>Paid-in: books $224K (non-Exos);  register basis $461K (Motion 2).</a:t>
            </a:r>
          </a:p>
          <a:p>
            <a:r>
              <a:rPr lang="en-US" sz="900" dirty="0">
                <a:solidFill>
                  <a:srgbClr val="CCCCCC"/>
                </a:solidFill>
                <a:latin typeface="Calibri"/>
              </a:rPr>
              <a:t>Exos: $790,000 for 18.06% (157,553 shares).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and related-party balances (Motion 5).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