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2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SSLC Capital &amp; Debt — Sources (10/11/2026 QB)</a:t>
            </a:r>
            <a:br/>
            <a:br/>
            <a:r>
              <a:t>Left: Equity per QB — Common stock $1,010,423 (Acct 3010); APIC $4,042 (Acct 3020); Exos 18.06% → ~$789,572 (~78% of total paid-in); Accum. deficit −$2,571,013 (thru FY26); FY27 YTD NI +$112,666; Total equity −$1,443,882.</a:t>
            </a:r>
            <a:br/>
            <a:br/>
            <a:r>
              <a:t>Right: Loans &amp; notes $1,027,783 — Microcosm $451,429 (Acct 2385); Notes Payable Bookstore $320,582; SBA EIDL $132,072 (Acct 2712); Wertz $92,500 (Acct 2714); Exos $31,200 (11%; past due 1+ yr).</a:t>
            </a:r>
            <a:br/>
            <a:br/>
            <a:r>
              <a:t>EXOS LOAN DETAIL:</a:t>
            </a:r>
            <a:br/>
            <a:r>
              <a:t>  $60,000 originated 10/10/2024.</a:t>
            </a:r>
            <a:br/>
            <a:r>
              <a:t>  $15,000 repaid 3/19/2025; $13,800 repaid 5/2/2025 → $31,200 balance.</a:t>
            </a:r>
            <a:br/>
            <a:r>
              <a:t>  11% interest; total with interest ~$38K. Past due over 1 year. Still owed.</a:t>
            </a:r>
            <a:br/>
            <a:r>
              <a:t>  SSLC and Exos records match on this loan.</a:t>
            </a:r>
            <a:br/>
            <a:r>
              <a:t>  (Note: on the Exos side, the ledger may show a different balance; that is an Exos bookkeeping</a:t>
            </a:r>
            <a:br/>
            <a:r>
              <a:t>  timing issue only — SSLC's $31,200 balance is the correct, agreed amount.)</a:t>
            </a:r>
            <a:br/>
            <a:br/>
            <a:r>
              <a:t>SEPARATE CONVERTED LOAN:</a:t>
            </a:r>
            <a:br/>
            <a:r>
              <a:t>  $30,000 loan made 5/9/2024.</a:t>
            </a:r>
            <a:br/>
            <a:r>
              <a:t>  Converted to 5,464 SSLC shares on 7/24/2024.</a:t>
            </a:r>
            <a:br/>
            <a:r>
              <a:t>  Included in Exos's $790K paid-in capital; no longer a liability.</a:t>
            </a:r>
            <a:br/>
            <a:br/>
            <a:r>
              <a:t>Open items: AR Unbilled $942,177 (Acct 1110) and Deposits $120,000 (Acct 2380) under reconciliation per Motion 3. Facility costs ~$805K (Jan 2024–Oct 2026) never charged to Microcosm.</a:t>
            </a:r>
          </a:p>
          <a:p>
            <a:r>
              <a:rPr lang="en-US"/>
              <a:t>SPEAKER NOTES — SLIDE 4 (Exos-adjusted comparison):
Per SSLC's GL, the 'Notes Payable – Bookstore' ($320,582) is owed to Microcosm Astronautics Books (the Bookstore).
Key 4/30/2026 journal entries:
  $426,687  AP→Due to Microcosm (re-classing payables to Microcosm)
  $97,302   Interest capitalized into Bookstore note (not separately disclosed on 4/30)
  $812,699  SSLC loans-to-Microcosm fully netted vs. Microcosm balances:
              $294,499 vs. Loan Payable–Microcosm
              $423,965 vs. pre-6/2025 Microcosm reimbursables
              $61,290 vs. 'Judy's time'
              $32,946 reimbursable
            After netting: $451,429 'Due to Microcosm' remains.
Exos adjustments (not yet on SSLC books):
  - Microcosm 50% facility share Jul 2024–Aug 2026: ~$351K (rent ~$316K + utilities ~$35K)
    → reduces 'Due to Microcosm' $451K→~$100K
  - Bookstore $97K interest: Exos requests supporting amortization schedule
  - Billed-ahead: start-billings booked at tank start, not cleared at IM shipment
    → est. genuine billed-ahead ~$100K–$250K (Motion 3 directs correction)
  - Equity: base improvement −$1.44M→~−$1.09M (facility credit only); further improvement if billed-ahead reconciled.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Shareholder Payout — Sources and Ranges</a:t>
            </a:r>
            <a:br/>
            <a:br/>
            <a:r>
              <a:t>BASE CASE:</a:t>
            </a:r>
            <a:br/>
            <a:r>
              <a:t>  Exos cash price: $2,510,000 (Offer ①)</a:t>
            </a:r>
            <a:br/>
            <a:r>
              <a:t>  SSLC cash at close: ~$675,000 (est. from $590K on 10/11 + IM pace through Jan 2027)</a:t>
            </a:r>
            <a:br/>
            <a:r>
              <a:t>  Less: loans &amp; notes $1,027,783 (Microcosm $451K, Bookstore $321K, EIDL $132K, Wertz $92.5K, Exos $31.2K)</a:t>
            </a:r>
            <a:br/>
            <a:r>
              <a:t>  Less: Exos loan interest ~$8K (11% to 1/15/27)</a:t>
            </a:r>
            <a:br/>
            <a:r>
              <a:t>  Less: other current liabilities $148,738 (10/11 QB)</a:t>
            </a:r>
            <a:br/>
            <a:r>
              <a:t>  Less: customer deposits $120,000 (IM; buyer assumes performance)</a:t>
            </a:r>
            <a:br/>
            <a:r>
              <a:t>  Less: billed-ahead work $250,000 (Exos assessment: base; range $100K–$390K)</a:t>
            </a:r>
            <a:br/>
            <a:r>
              <a:t>  Less: 5% escrow $125,500 (AAA §7; released at 12 months barring claims)</a:t>
            </a:r>
            <a:br/>
            <a:r>
              <a:t>  Net cash at close: ~$1.51M</a:t>
            </a:r>
            <a:br/>
            <a:r>
              <a:t>  Plus: Exos stock $1.0M (EAI units, Rule 504, 409A)</a:t>
            </a:r>
            <a:br/>
            <a:r>
              <a:t>  Plus: escrow release $126K</a:t>
            </a:r>
            <a:br/>
            <a:r>
              <a:t>  Plus: earn-outs $2.525M base (FY27–FY31 tank milestones + stock)</a:t>
            </a:r>
            <a:br/>
            <a:r>
              <a:t>  Total: ~$5.16M</a:t>
            </a:r>
            <a:br/>
            <a:br/>
            <a:r>
              <a:t>LOW CASE (net cash $1.28M / 5-yr $3.4M): billed-ahead $390K; SSLC cash stays at $590K; earn-outs $950K</a:t>
            </a:r>
            <a:br/>
            <a:r>
              <a:t>HIGH CASE (net cash $1.74M / 5-yr $7.0M): billed-ahead $100K; SSLC cash $761K; earn-outs $4.1M</a:t>
            </a:r>
            <a:br/>
            <a:br/>
            <a:r>
              <a:t>RETURN RATE CONTEXT:</a:t>
            </a:r>
            <a:br/>
            <a:r>
              <a:t>Over a 25-year hold, ~11× is roughly 10%/yr (CAGR) and ~23× roughly 13%/yr. Solid but not outsized — comparable to a long-term equity index. Stock ledger confirms investment dates; without it the precise CAGR can't be stated.</a:t>
            </a:r>
            <a:br/>
            <a:br/>
            <a:r>
              <a:t>EXOS LOAN DETAIL (for presenter):</a:t>
            </a:r>
            <a:br/>
            <a:r>
              <a:t>  $60,000 loan originated 10/10/2024.</a:t>
            </a:r>
            <a:br/>
            <a:r>
              <a:t>  $15,000 repaid 3/19/2025; $13,800 repaid 5/2/2025 → $31,200 balance.</a:t>
            </a:r>
            <a:br/>
            <a:r>
              <a:t>  11% interest; ~$38K total with interest. Past due over 1 year. Still owed.</a:t>
            </a:r>
            <a:br/>
            <a:r>
              <a:t>  SSLC and Exos records match on this loan.</a:t>
            </a:r>
            <a:br/>
            <a:r>
              <a:t>  Separate $30K loan (5/9/2024) converted to 5,464 SSLC shares on 7/24/2024 — included in Exos's $790K paid-in capital; no longer a liability.</a:t>
            </a:r>
            <a:br/>
            <a:br/>
            <a:r>
              <a:t>Stock ledger: Exos's 18.06% credited via $790K in price. Other holders' per-share payout can't be confirmed without ledger. Per John Quinn, most other holders invested 25+ years ago; Exos invested 2021–2024.</a:t>
            </a:r>
          </a:p>
          <a:p>
            <a:r>
              <a:rPr lang="en-US"/>
              <a:t>
--- MICROCOSM RENT CREDIT (Robert Conger question, 10/12) ---
Source: SSLC GL per John Quinn. All figures approximate pending stock ledger / full diligence.
Jan–Jun 2024: SSLC paid Microcosm $11,470/mo (~50% of $23,647 total rent).
Jul 2024 onward: SSLC paid 100% of rent:
  - Jul–Dec 2024: $23,647/mo (paid to Microcosm or sub-landlord)
  - Jan–Dec 2025: $24,238/mo
  - Jan–Aug 2026: $24,844/mo (paid directly to landlords Izadi/Vahidi)
Microcosm continues to occupy the building and is named on the lease.
Microcosm's 50% share Jul 2024–Aug 2026 (14 months): ~$316K (rent only; utilities billed separately).
Microcosm loan history (for context):
  - SSLC lent Microcosm $812,699 total (2019–Oct 2025, booked 4/30/2026).
  - On 4/30/2026, fully netted against Microcosm balances:
      $294,499 vs. Loan Payable–Microcosm
      $423,965 vs. pre-6/2025 Microcosm reimbursables
      $61,290 vs. 'Judy's time'
      $32,946 reimbursable
  - After netting: $451,429 still 'Due to Microcosm' on SSLC's books.
  - This ~$316K rent credit has NOT been netted against the $451K balance.
If the board asserts this credit before close, net cash to holders increases by ~$316K:
  ~$1.51M (base case) → ~$1.82M at close. 5-yr total: ~$5.16M → ~$5.47M.</a:t>
            </a:r>
          </a:p>
          <a:p>
            <a:r>
              <a:rPr lang="en-US"/>
              <a:t>
--- MICROCOSM UTILITIES UPDATE (John 06:43) ---
Source: SSLC GL account 6195 (utilities). All figures approximate.
Utilities (Acct 6195):
  - Jan–Jun 2024 (50% split period): avg ~$1,059/mo → Microcosm's 50% share ~$530/mo
  - Jul 2024–Aug 2026 (SSLC paying 100%): avg ~$2,727/mo (~2.6× jump; some summer seasonality)
  - Jul 2024–Aug 2026 = 14 months; total utilities paid = ~$38,178
  - Microcosm's 50% share of that period: $70,048 / 2 = $35,024 (~$35K)
Updated totals:
  - Rent credit (Jul 2024–Aug 2026): ~$316K
  - Utilities credit (Jul 2024–Aug 2026, 50%): ~$35K
  - Total facility cost credit: ~$351K
Impact if recognized before close:
  - Net cash at close: ~$1.51M → ~$1.86M (+$351K on $1.51M; ~$1.86M = $1.51M + $0.35M)
  - 'Due to Microcosm' (currently $451K): $451K − $351K = ~$100K remaining
  - Total equity: currently ~−$1.44M; improves by $351K → ~−$1.09M
  - 5-yr total: ~$5.16M → ~$5.51M
Note: Microcosm continues to occupy the building and is named on the lease.
This credit has not been asserted or netted on SSLC's books as of 10/11/2026.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Approve Exos offer (Option B) + §3 exclusivity (90-day) + ROFR on asset sale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  <p:sp>
        <p:nvSpPr>
          <p:cNvPr id="10" name="TextBox 9"/>
          <p:cNvSpPr txBox="1"/>
          <p:nvPr/>
        </p:nvSpPr>
        <p:spPr>
          <a:xfrm>
            <a:off x="411480" y="4325112"/>
            <a:ext cx="8321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These motions protect every SSLC holder outside the Microcosm/Wertz group, including Exos (18%), by correcting the books before any payout.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590288"/>
            <a:ext cx="8321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Ownership: Jim Wertz held most of SSLC until Exos's ~10% purchase, then Exos's ~8% follow-on to keep SSLC cash-flow positive.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17136" y="2720340"/>
            <a:ext cx="4224528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  <a:latin typeface="Calibri"/>
              </a:rPr>
              <a:t>Exos loan reconciled: $60K→$31.2K (11% int.); records match. $30K prior loan→5,464 shares (incl. in $790K paid-in).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1168" y="3593592"/>
            <a:ext cx="8741664" cy="1175004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01168" y="3593592"/>
            <a:ext cx="8741664" cy="14630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610051"/>
            <a:ext cx="5486400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Exos Assessment  (Motions 2 &amp; 3)  — As Booked vs. Adjusted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3610051"/>
            <a:ext cx="1463040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pending reconciliation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2608" y="3802075"/>
            <a:ext cx="2926080" cy="1600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  <a:latin typeface="Calibri"/>
              </a:rPr>
              <a:t>Line item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0128" y="3802075"/>
            <a:ext cx="1170432" cy="1600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CCCCCC"/>
                </a:solidFill>
                <a:latin typeface="Calibri"/>
              </a:rPr>
              <a:t>As booked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3802075"/>
            <a:ext cx="1143000" cy="1600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CCCCCC"/>
                </a:solidFill>
                <a:latin typeface="Calibri"/>
              </a:rPr>
              <a:t>Adjusted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06440" y="3802075"/>
            <a:ext cx="2980944" cy="1600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  <a:latin typeface="Calibri"/>
              </a:rPr>
              <a:t>Basis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1168" y="3962095"/>
            <a:ext cx="8741664" cy="731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3973068"/>
            <a:ext cx="228600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-&gt;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4165091"/>
            <a:ext cx="228600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-&gt;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98848" y="4357116"/>
            <a:ext cx="228600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-&gt;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8848" y="4549140"/>
            <a:ext cx="228600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-&gt;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08" y="3973068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CC44"/>
                </a:solidFill>
                <a:latin typeface="Calibri"/>
              </a:rPr>
              <a:t>Due to Microcosm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10128" y="3973068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$451K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3973068"/>
            <a:ext cx="1143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44BB44"/>
                </a:solidFill>
                <a:latin typeface="Calibri"/>
              </a:rPr>
              <a:t>~$100K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440" y="3973068"/>
            <a:ext cx="298094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Rent+util credit ~$351K (Jul '24-Aug '26)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2608" y="4165091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Bookstore note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0128" y="4165091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$321K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4165091"/>
            <a:ext cx="1143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$224K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06440" y="4165091"/>
            <a:ext cx="298094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$97K interest capitalized 4/30/2026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2608" y="4357116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Billed ahead (est.)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10128" y="4357116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$942K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357116"/>
            <a:ext cx="1143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~$100-250K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06440" y="4357116"/>
            <a:ext cx="298094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Start-billings uncleared at ship (Motion 3)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2608" y="4549140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CC44"/>
                </a:solidFill>
                <a:latin typeface="Calibri"/>
              </a:rPr>
              <a:t>Total equity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0128" y="4549140"/>
            <a:ext cx="11704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-$1.44M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0" y="4549140"/>
            <a:ext cx="1143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44BB44"/>
                </a:solidFill>
                <a:latin typeface="Calibri"/>
              </a:rPr>
              <a:t>~-$1.09M+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06440" y="4549140"/>
            <a:ext cx="298094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Credit alone; more if billed-ahead corrected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④ is a forward-looking projection, not a guarantee; an alternative to ③, not additive.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  <p:sp>
        <p:nvSpPr>
          <p:cNvPr id="43" name="Rectangle 42"/>
          <p:cNvSpPr/>
          <p:nvPr/>
        </p:nvSpPr>
        <p:spPr>
          <a:xfrm>
            <a:off x="365760" y="2743200"/>
            <a:ext cx="8412480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943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26A21"/>
                </a:solidFill>
                <a:latin typeface="Calibri"/>
              </a:rPr>
              <a:t>Offer Value as a Multiple of SSLC Revenue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76148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FY26 actual: $1.925M  |  FY27 target: $5.1M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9992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FY26 actual ($1.925M)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FY27 target ($5.1M)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182112"/>
            <a:ext cx="8412480" cy="731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32004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② At close: $4.86M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~2.5×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~0.95×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34152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③ 5-year: $5.8M – $9.0M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31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~3.0–4.7×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~1.1–1.8×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363016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6A21"/>
                </a:solidFill>
                <a:latin typeface="Calibri"/>
              </a:rPr>
              <a:t>④ Max $18.9M (held to 2031)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~9.8×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~3.7×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81628"/>
            <a:ext cx="8412480" cy="109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04488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Declining this offer is a judgment that SSLC alone, without new capital, is more likely to create more than the $18.9M maximum this offer projects (if Exos stock is held to 2031). Not a guarantee; "projects" is the operative word.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Four motions today: approve offer + §3 exclusivity + ROFR  →  90-day window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mbria"/>
              </a:rPr>
              <a:t>Projected Shareholder Payout — Close Jan 15, 2027  (Base Case, Current 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66344"/>
            <a:ext cx="201168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Cash to Shareholders at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79552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cash purchase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79552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+$2,510,000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555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+ SSLC cash at close (est.; $590K on 10/11)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19" y="9555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+$675,000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5214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11556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Subtotal inflows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19" y="111556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CCCCC"/>
                </a:solidFill>
                <a:latin typeface="Calibri"/>
              </a:rPr>
              <a:t>$3,185,000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284732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SSLC loans &amp;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19" y="1284732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($1,027,783)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70169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Other current liabilities (AP, accruals)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19" y="170169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($148,738)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86171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Customer deposits (IM, transferred)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19" y="186171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($120,000)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02173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Billed-ahead work, genuine (Exos est.)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19" y="202173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($250,000)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18175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− 5% escrow holdback (released 12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19" y="218175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($125,500)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50922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378354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Net cash distributable at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19" y="237835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26A21"/>
                </a:solidFill>
                <a:latin typeface="Calibri"/>
              </a:rPr>
              <a:t>~$1.51M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8866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Exos stock (EAI units, Rule 504, 409A)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19" y="258866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+$1,000,000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74868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Escrow release at 12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19" y="274868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+$126,000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90870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Earn-outs base case (FY27–FY31)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290870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+$2,525,000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077870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105302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~5-year total to SSLC shareholders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79" y="310530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26A21"/>
                </a:solidFill>
                <a:latin typeface="Calibri"/>
              </a:rPr>
              <a:t>~$5.16M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4515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4515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Shareholders Paid In vs. Will Receive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81381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PAID-IN CAPITAL (per SSLC books)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996695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Common stock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996695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$1,010,423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115671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Additional paid-in capital (APIC)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115671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$4,042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133502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131673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131673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148590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Exos: $790,000 for 18.06% — recognized via $790K stake credit in price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164592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All other holders: ~$224,000 combined for 81.94%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1805940"/>
            <a:ext cx="41513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755"/>
                </a:solidFill>
                <a:latin typeface="Calibri"/>
              </a:rPr>
              <a:t>Invested largely 25+ yrs ago (per John Quinn; to be confirmed via stock ledger). Exos: 2021–2024.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2080260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PROJECTED RETURN  (OTHER HOLDERS, 81.94%)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26314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Cash + stock at close (est.)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226314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~$2.5M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242316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over 5 years incl. earn-outs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242316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~$5.2M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2601468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2619756"/>
            <a:ext cx="30632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Implied return on invested capital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619756"/>
            <a:ext cx="1463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CC44"/>
                </a:solidFill>
                <a:latin typeface="Calibri"/>
              </a:rPr>
              <a:t>11× at close / 23× over 5 yrs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172968"/>
            <a:ext cx="4151376" cy="224028"/>
          </a:xfrm>
          <a:prstGeom prst="rect">
            <a:avLst/>
          </a:prstGeom>
          <a:solidFill>
            <a:srgbClr val="22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64592" y="4059936"/>
            <a:ext cx="881481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4592" y="4078224"/>
            <a:ext cx="8814816" cy="71323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41102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Why We Need the Stock Ledger (Motion 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4302252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Books show $1,014,465 total paid-in; the stock ledger allocates it by shareholder.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4489704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Ledger confirms cap structure: which shares were issued for cash vs. debt conversion.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2880" y="4809744"/>
            <a:ext cx="8778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Projection based on SSLC books 10/11/2026 + Exos offer terms. Low/high: net cash $1.28M–$1.74M; 5-yr $3.4M–$7.0M. Not a guarantee.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4480" y="4956048"/>
            <a:ext cx="6035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0" y="4956048"/>
            <a:ext cx="1143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45152" y="2834640"/>
            <a:ext cx="4315968" cy="210312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18304" y="2852928"/>
            <a:ext cx="4169663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⚠  NOT YET CREDITED TO SSLC HOLDERS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45152" y="3044952"/>
            <a:ext cx="4315968" cy="1005840"/>
          </a:xfrm>
          <a:prstGeom prst="rect">
            <a:avLst/>
          </a:prstGeom>
          <a:solidFill>
            <a:srgbClr val="2A1800"/>
          </a:solidFill>
          <a:ln w="9525">
            <a:solidFill>
              <a:srgbClr val="FF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36592" y="3095244"/>
            <a:ext cx="41330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EE88"/>
                </a:solidFill>
                <a:latin typeface="Calibri"/>
              </a:rPr>
              <a:t>Microcosm's 50% facility costs, Jul 2024–Aug 2026: ~$351K</a:t>
            </a:r>
          </a:p>
          <a:p>
            <a:r>
              <a:rPr sz="1000" b="0">
                <a:solidFill>
                  <a:srgbClr val="CCCCCC"/>
                </a:solidFill>
                <a:latin typeface="Calibri"/>
              </a:rPr>
              <a:t>  (rent ~$316K + utilities ~$35K). Not credited vs. $451K owed to Microcosm.</a:t>
            </a:r>
          </a:p>
          <a:p>
            <a:r>
              <a:rPr sz="1000" b="1">
                <a:solidFill>
                  <a:srgbClr val="FFEE88"/>
                </a:solidFill>
                <a:latin typeface="Calibri"/>
              </a:rPr>
              <a:t>If applied: SSLC holders' cash at close ~$1.51M → ~$1.86M (base case).</a:t>
            </a:r>
          </a:p>
          <a:p>
            <a:r>
              <a:rPr sz="1000" b="1">
                <a:solidFill>
                  <a:srgbClr val="FFEE88"/>
                </a:solidFill>
                <a:latin typeface="Calibri"/>
              </a:rPr>
              <a:t>'Due to Microcosm' falls to ~$100K.</a:t>
            </a:r>
          </a:p>
          <a:p>
            <a:r>
              <a:rPr sz="1000" b="1">
                <a:solidFill>
                  <a:srgbClr val="FFEE88"/>
                </a:solidFill>
                <a:latin typeface="Calibri"/>
              </a:rPr>
              <a:t>Equity improves: -$1.44M to ~-$1.09M.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492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26A21"/>
                </a:solidFill>
                <a:latin typeface="Calibri"/>
              </a:rPr>
              <a:t>Approve Exos's Offer, Confirm §3 Exclusivity and Grant a ROFR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The Board approves the Exos offer (Option B terms), confirms Exos's 90-day §3 exclusivity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under the May 2025 Asset Acquisition Agreement, and grants Exos a right of first refusal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on any sale of SSLC's assets or a controlling interest.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ROFR term: 6 months from approval; auto-extends while a definitive APA is under negotiation.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Extension not unreasonably withheld.   Target financing close: February 15,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71907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3278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7145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86080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965960"/>
            <a:ext cx="6629400" cy="534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all-access QB Online for John Quinn + one Exos finance reviewer.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Provide: stock ledger, cap table, subscription agreements, paid-in capital by shareholder.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Deadline: Oct 15, 2026.   §1602 inspection right + AAA §4.   NDA 7/27/2021.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546603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6032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5420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883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93491"/>
            <a:ext cx="6629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Direct A La Carte Solutions + Singer Lewak / Welch &amp; Co. to reconcile within 5 days: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Acct 1110 AR Unbilled ($942,177) and Acct 2380 Customer Deposits ($120,000).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Clear start-billings on shipped tanks; post Jul–Sep 2026 revenue-recognition entries.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Tank recon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55244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56616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5478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69417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799332"/>
            <a:ext cx="6629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Exos to use the QB data to evaluate compatible ERP/MRP and inventory systems.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Evaluation only; no implementation obligation.   Confidential under the NDA.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192524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The Board is asked today to vote on Motions 1–4: approving the Exos offer and granting exclusivity + ROFR (Motion 1), QB access (Motion 2), accounting correction (Motion 3), and ERP evaluation (Motion 4). Declining Motion 1 is a judgment that SSLC alone — without new capital — is more likely to create more than the $18.9M maximum this offer projects (if Exos stock held to 2031). Not a guarantee; "projects" is the operative word.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