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6.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4.xml"/><Relationship Id="rId19" Type="http://schemas.openxmlformats.org/officeDocument/2006/relationships/slide" Target="slides/slide13.xml"/><Relationship Id="rId20" Type="http://schemas.openxmlformats.org/officeDocument/2006/relationships/slide" Target="slides/slide5.xml"/><Relationship Id="rId21" Type="http://schemas.openxmlformats.org/officeDocument/2006/relationships/slide" Target="slides/slide1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pPr indent="0" marL="0">
              <a:buNone/>
            </a:pPr>
            <a:r>
              <a:rPr lang="en-US" sz="1000" dirty="0">
                <a:solidFill>
                  <a:srgbClr val="CCCCCC"/>
                </a:solidFill>
              </a:rPr>
              <a:t>Approve Exos offer (Option B) + §3 exclusivity (90-day) + ROFR on asset sale
</a:t>
            </a:r>
            <a:pPr indent="0" marL="0">
              <a:buNone/>
            </a:pPr>
            <a:r>
              <a:rPr lang="en-US" sz="1200" b="1" dirty="0">
                <a:solidFill>
                  <a:srgbClr val="F26A21"/>
                </a:solidFill>
              </a:rPr>
              <a:t>Motion 2: </a:t>
            </a:r>
            <a:pPr indent="0" marL="0">
              <a:buNone/>
            </a:pPr>
            <a:r>
              <a:rPr lang="en-US" sz="1200" dirty="0">
                <a:solidFill>
                  <a:srgbClr val="CCCCCC"/>
                </a:solidFill>
              </a:rPr>
              <a:t>Full read-only QB Online access for diligence (Cal. Corp. Code §1602 + AAA §4; under 7/27/2021 NDA)
</a:t>
            </a:r>
            <a:pPr indent="0" marL="0">
              <a:buNone/>
            </a:pP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pPr indent="0" marL="0">
              <a:buNone/>
            </a:pPr>
            <a:r>
              <a:rPr lang="en-US" sz="1200" dirty="0">
                <a:solidFill>
                  <a:srgbClr val="CCCCCC"/>
                </a:solidFill>
              </a:rPr>
              <a:t>Consent to ERP/MRP &amp; inventory evaluation using QB data (confidential under NDA)</a:t>
            </a:r>
            <a:endParaRPr lang="en-US" sz="1400" dirty="0"/>
          </a:p>
          <a:p>
            <a:r>
              <a:rPr lang="en-US" sz="1000">
                <a:solidFill>
                  <a:srgbClr val="FFFFFF"/>
                </a:solidFill>
                <a:latin typeface="Calibri"/>
              </a:rPr>
              <a:t>Motion 5: 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pPr algn="l"/>
            <a:r>
              <a:rPr sz="1000" b="0" i="1">
                <a:solidFill>
                  <a:srgbClr val="888888"/>
                </a:solidFill>
                <a:latin typeface="Calibri"/>
              </a:rPr>
              <a:t>Ownership: Jim Wertz held most of SSLC until Exos's ~10% purchase, then Exos's ~8% follow-on to keep SSLC cash-flow positive.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pPr algn="l"/>
            <a:r>
              <a:rPr sz="1000" b="1" i="0">
                <a:solidFill>
                  <a:srgbClr val="CCCCCC"/>
                </a:solidFill>
                <a:latin typeface="Calibri"/>
              </a:rPr>
              <a:t>Exos loan reconciled: $60K→$31.2K (11% int.); records match. $30K prior loan→5,464 shares (incl. in $790K paid-in).</a:t>
            </a:r>
          </a:p>
        </p:txBody>
      </p:sp>
      <p:sp>
        <p:nvSpPr>
          <p:cNvPr id="53" name="Rectangle 52"/>
          <p:cNvSpPr/>
          <p:nvPr/>
        </p:nvSpPr>
        <p:spPr>
          <a:xfrm>
            <a:off x="201168" y="3593592"/>
            <a:ext cx="8741664" cy="117500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1168" y="3593592"/>
            <a:ext cx="8741664" cy="1463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610051"/>
            <a:ext cx="5486400" cy="173736"/>
          </a:xfrm>
          <a:prstGeom prst="rect">
            <a:avLst/>
          </a:prstGeom>
          <a:noFill/>
        </p:spPr>
        <p:txBody>
          <a:bodyPr wrap="none">
            <a:spAutoFit/>
          </a:bodyPr>
          <a:lstStyle/>
          <a:p>
            <a:pPr algn="l"/>
            <a:r>
              <a:rPr sz="1000" b="1" i="0">
                <a:solidFill>
                  <a:srgbClr val="F26A21"/>
                </a:solidFill>
                <a:latin typeface="Calibri"/>
              </a:rPr>
              <a:t>Exos Assessment  (Motions 2 &amp; 3)  — As Booked vs. Adjusted</a:t>
            </a:r>
          </a:p>
        </p:txBody>
      </p:sp>
      <p:sp>
        <p:nvSpPr>
          <p:cNvPr id="56" name="TextBox 55"/>
          <p:cNvSpPr txBox="1"/>
          <p:nvPr/>
        </p:nvSpPr>
        <p:spPr>
          <a:xfrm>
            <a:off x="7360920" y="3610051"/>
            <a:ext cx="1463040" cy="173736"/>
          </a:xfrm>
          <a:prstGeom prst="rect">
            <a:avLst/>
          </a:prstGeom>
          <a:noFill/>
        </p:spPr>
        <p:txBody>
          <a:bodyPr wrap="none">
            <a:spAutoFit/>
          </a:bodyPr>
          <a:lstStyle/>
          <a:p>
            <a:pPr algn="r"/>
            <a:r>
              <a:rPr sz="1000" b="0" i="1">
                <a:solidFill>
                  <a:srgbClr val="888888"/>
                </a:solidFill>
                <a:latin typeface="Calibri"/>
              </a:rPr>
              <a:t>pending reconciliation</a:t>
            </a:r>
          </a:p>
        </p:txBody>
      </p:sp>
      <p:sp>
        <p:nvSpPr>
          <p:cNvPr id="57" name="TextBox 56"/>
          <p:cNvSpPr txBox="1"/>
          <p:nvPr/>
        </p:nvSpPr>
        <p:spPr>
          <a:xfrm>
            <a:off x="292608" y="3802075"/>
            <a:ext cx="2926080" cy="160020"/>
          </a:xfrm>
          <a:prstGeom prst="rect">
            <a:avLst/>
          </a:prstGeom>
          <a:noFill/>
        </p:spPr>
        <p:txBody>
          <a:bodyPr wrap="none">
            <a:spAutoFit/>
          </a:bodyPr>
          <a:lstStyle/>
          <a:p>
            <a:pPr algn="l"/>
            <a:r>
              <a:rPr sz="1000" b="1" i="0">
                <a:solidFill>
                  <a:srgbClr val="CCCCCC"/>
                </a:solidFill>
                <a:latin typeface="Calibri"/>
              </a:rPr>
              <a:t>Line item</a:t>
            </a:r>
          </a:p>
        </p:txBody>
      </p:sp>
      <p:sp>
        <p:nvSpPr>
          <p:cNvPr id="58" name="TextBox 57"/>
          <p:cNvSpPr txBox="1"/>
          <p:nvPr/>
        </p:nvSpPr>
        <p:spPr>
          <a:xfrm>
            <a:off x="3310128" y="3802075"/>
            <a:ext cx="1170432" cy="160020"/>
          </a:xfrm>
          <a:prstGeom prst="rect">
            <a:avLst/>
          </a:prstGeom>
          <a:noFill/>
        </p:spPr>
        <p:txBody>
          <a:bodyPr wrap="none">
            <a:spAutoFit/>
          </a:bodyPr>
          <a:lstStyle/>
          <a:p>
            <a:pPr algn="r"/>
            <a:r>
              <a:rPr sz="1000" b="1" i="0">
                <a:solidFill>
                  <a:srgbClr val="CCCCCC"/>
                </a:solidFill>
                <a:latin typeface="Calibri"/>
              </a:rPr>
              <a:t>As booked</a:t>
            </a:r>
          </a:p>
        </p:txBody>
      </p:sp>
      <p:sp>
        <p:nvSpPr>
          <p:cNvPr id="59" name="TextBox 58"/>
          <p:cNvSpPr txBox="1"/>
          <p:nvPr/>
        </p:nvSpPr>
        <p:spPr>
          <a:xfrm>
            <a:off x="4572000" y="3802075"/>
            <a:ext cx="1143000" cy="160020"/>
          </a:xfrm>
          <a:prstGeom prst="rect">
            <a:avLst/>
          </a:prstGeom>
          <a:noFill/>
        </p:spPr>
        <p:txBody>
          <a:bodyPr wrap="none">
            <a:spAutoFit/>
          </a:bodyPr>
          <a:lstStyle/>
          <a:p>
            <a:pPr algn="r"/>
            <a:r>
              <a:rPr sz="1000" b="1" i="0">
                <a:solidFill>
                  <a:srgbClr val="CCCCCC"/>
                </a:solidFill>
                <a:latin typeface="Calibri"/>
              </a:rPr>
              <a:t>Adjusted</a:t>
            </a:r>
          </a:p>
        </p:txBody>
      </p:sp>
      <p:sp>
        <p:nvSpPr>
          <p:cNvPr id="60" name="TextBox 59"/>
          <p:cNvSpPr txBox="1"/>
          <p:nvPr/>
        </p:nvSpPr>
        <p:spPr>
          <a:xfrm>
            <a:off x="5806440" y="3802075"/>
            <a:ext cx="2980944" cy="160020"/>
          </a:xfrm>
          <a:prstGeom prst="rect">
            <a:avLst/>
          </a:prstGeom>
          <a:noFill/>
        </p:spPr>
        <p:txBody>
          <a:bodyPr wrap="none">
            <a:spAutoFit/>
          </a:bodyPr>
          <a:lstStyle/>
          <a:p>
            <a:pPr algn="l"/>
            <a:r>
              <a:rPr sz="1000" b="1" i="0">
                <a:solidFill>
                  <a:srgbClr val="CCCCCC"/>
                </a:solidFill>
                <a:latin typeface="Calibri"/>
              </a:rPr>
              <a:t>Basis</a:t>
            </a:r>
          </a:p>
        </p:txBody>
      </p:sp>
      <p:sp>
        <p:nvSpPr>
          <p:cNvPr id="61" name="Rectangle 60"/>
          <p:cNvSpPr/>
          <p:nvPr/>
        </p:nvSpPr>
        <p:spPr>
          <a:xfrm>
            <a:off x="201168" y="3962095"/>
            <a:ext cx="8741664"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98848" y="3973068"/>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3" name="TextBox 62"/>
          <p:cNvSpPr txBox="1"/>
          <p:nvPr/>
        </p:nvSpPr>
        <p:spPr>
          <a:xfrm>
            <a:off x="4498848" y="4165091"/>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4" name="TextBox 63"/>
          <p:cNvSpPr txBox="1"/>
          <p:nvPr/>
        </p:nvSpPr>
        <p:spPr>
          <a:xfrm>
            <a:off x="4498848" y="4357116"/>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5" name="TextBox 64"/>
          <p:cNvSpPr txBox="1"/>
          <p:nvPr/>
        </p:nvSpPr>
        <p:spPr>
          <a:xfrm>
            <a:off x="4498848" y="4549140"/>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6" name="TextBox 65"/>
          <p:cNvSpPr txBox="1"/>
          <p:nvPr/>
        </p:nvSpPr>
        <p:spPr>
          <a:xfrm>
            <a:off x="292608" y="3973068"/>
            <a:ext cx="2926080" cy="182880"/>
          </a:xfrm>
          <a:prstGeom prst="rect">
            <a:avLst/>
          </a:prstGeom>
          <a:noFill/>
        </p:spPr>
        <p:txBody>
          <a:bodyPr wrap="none">
            <a:spAutoFit/>
          </a:bodyPr>
          <a:lstStyle/>
          <a:p>
            <a:pPr algn="l"/>
            <a:r>
              <a:rPr sz="1000" b="1" i="0">
                <a:solidFill>
                  <a:srgbClr val="FFCC44"/>
                </a:solidFill>
                <a:latin typeface="Calibri"/>
              </a:rPr>
              <a:t>Due to Microcosm</a:t>
            </a:r>
          </a:p>
        </p:txBody>
      </p:sp>
      <p:sp>
        <p:nvSpPr>
          <p:cNvPr id="67" name="TextBox 66"/>
          <p:cNvSpPr txBox="1"/>
          <p:nvPr/>
        </p:nvSpPr>
        <p:spPr>
          <a:xfrm>
            <a:off x="3310128" y="3973068"/>
            <a:ext cx="1170432" cy="182880"/>
          </a:xfrm>
          <a:prstGeom prst="rect">
            <a:avLst/>
          </a:prstGeom>
          <a:noFill/>
        </p:spPr>
        <p:txBody>
          <a:bodyPr wrap="none">
            <a:spAutoFit/>
          </a:bodyPr>
          <a:lstStyle/>
          <a:p>
            <a:pPr algn="r"/>
            <a:r>
              <a:rPr sz="1000" b="0" i="0">
                <a:solidFill>
                  <a:srgbClr val="888888"/>
                </a:solidFill>
                <a:latin typeface="Calibri"/>
              </a:rPr>
              <a:t>$451K</a:t>
            </a:r>
          </a:p>
        </p:txBody>
      </p:sp>
      <p:sp>
        <p:nvSpPr>
          <p:cNvPr id="68" name="TextBox 67"/>
          <p:cNvSpPr txBox="1"/>
          <p:nvPr/>
        </p:nvSpPr>
        <p:spPr>
          <a:xfrm>
            <a:off x="4572000" y="3973068"/>
            <a:ext cx="1143000" cy="182880"/>
          </a:xfrm>
          <a:prstGeom prst="rect">
            <a:avLst/>
          </a:prstGeom>
          <a:noFill/>
        </p:spPr>
        <p:txBody>
          <a:bodyPr wrap="none">
            <a:spAutoFit/>
          </a:bodyPr>
          <a:lstStyle/>
          <a:p>
            <a:pPr algn="r"/>
            <a:r>
              <a:rPr sz="1000" b="1" i="0">
                <a:solidFill>
                  <a:srgbClr val="44BB44"/>
                </a:solidFill>
                <a:latin typeface="Calibri"/>
              </a:rPr>
              <a:t>~$100K</a:t>
            </a:r>
          </a:p>
        </p:txBody>
      </p:sp>
      <p:sp>
        <p:nvSpPr>
          <p:cNvPr id="69" name="TextBox 68"/>
          <p:cNvSpPr txBox="1"/>
          <p:nvPr/>
        </p:nvSpPr>
        <p:spPr>
          <a:xfrm>
            <a:off x="5806440" y="3973068"/>
            <a:ext cx="2980944" cy="182880"/>
          </a:xfrm>
          <a:prstGeom prst="rect">
            <a:avLst/>
          </a:prstGeom>
          <a:noFill/>
        </p:spPr>
        <p:txBody>
          <a:bodyPr wrap="none">
            <a:spAutoFit/>
          </a:bodyPr>
          <a:lstStyle/>
          <a:p>
            <a:pPr algn="l"/>
            <a:r>
              <a:rPr sz="1000" b="0" i="1">
                <a:solidFill>
                  <a:srgbClr val="CCCCCC"/>
                </a:solidFill>
                <a:latin typeface="Calibri"/>
              </a:rPr>
              <a:t>Rent+util credit ~$351K (Jul '24-Aug '26)</a:t>
            </a:r>
          </a:p>
        </p:txBody>
      </p:sp>
      <p:sp>
        <p:nvSpPr>
          <p:cNvPr id="70" name="TextBox 69"/>
          <p:cNvSpPr txBox="1"/>
          <p:nvPr/>
        </p:nvSpPr>
        <p:spPr>
          <a:xfrm>
            <a:off x="292608" y="4165091"/>
            <a:ext cx="2926080" cy="182880"/>
          </a:xfrm>
          <a:prstGeom prst="rect">
            <a:avLst/>
          </a:prstGeom>
          <a:noFill/>
        </p:spPr>
        <p:txBody>
          <a:bodyPr wrap="none">
            <a:spAutoFit/>
          </a:bodyPr>
          <a:lstStyle/>
          <a:p>
            <a:pPr algn="l"/>
            <a:r>
              <a:rPr sz="1000" b="0" i="0">
                <a:solidFill>
                  <a:srgbClr val="FFFFFF"/>
                </a:solidFill>
                <a:latin typeface="Calibri"/>
              </a:rPr>
              <a:t>Bookstore note</a:t>
            </a:r>
          </a:p>
        </p:txBody>
      </p:sp>
      <p:sp>
        <p:nvSpPr>
          <p:cNvPr id="71" name="TextBox 70"/>
          <p:cNvSpPr txBox="1"/>
          <p:nvPr/>
        </p:nvSpPr>
        <p:spPr>
          <a:xfrm>
            <a:off x="3310128" y="4165091"/>
            <a:ext cx="1170432" cy="182880"/>
          </a:xfrm>
          <a:prstGeom prst="rect">
            <a:avLst/>
          </a:prstGeom>
          <a:noFill/>
        </p:spPr>
        <p:txBody>
          <a:bodyPr wrap="none">
            <a:spAutoFit/>
          </a:bodyPr>
          <a:lstStyle/>
          <a:p>
            <a:pPr algn="r"/>
            <a:r>
              <a:rPr sz="1000" b="0" i="0">
                <a:solidFill>
                  <a:srgbClr val="888888"/>
                </a:solidFill>
                <a:latin typeface="Calibri"/>
              </a:rPr>
              <a:t>$321K</a:t>
            </a:r>
          </a:p>
        </p:txBody>
      </p:sp>
      <p:sp>
        <p:nvSpPr>
          <p:cNvPr id="72" name="TextBox 71"/>
          <p:cNvSpPr txBox="1"/>
          <p:nvPr/>
        </p:nvSpPr>
        <p:spPr>
          <a:xfrm>
            <a:off x="4572000" y="4165091"/>
            <a:ext cx="1143000" cy="182880"/>
          </a:xfrm>
          <a:prstGeom prst="rect">
            <a:avLst/>
          </a:prstGeom>
          <a:noFill/>
        </p:spPr>
        <p:txBody>
          <a:bodyPr wrap="none">
            <a:spAutoFit/>
          </a:bodyPr>
          <a:lstStyle/>
          <a:p>
            <a:pPr algn="r"/>
            <a:r>
              <a:rPr sz="1000" b="0" i="0">
                <a:solidFill>
                  <a:srgbClr val="CCCCCC"/>
                </a:solidFill>
                <a:latin typeface="Calibri"/>
              </a:rPr>
              <a:t>$224K</a:t>
            </a:r>
          </a:p>
        </p:txBody>
      </p:sp>
      <p:sp>
        <p:nvSpPr>
          <p:cNvPr id="73" name="TextBox 72"/>
          <p:cNvSpPr txBox="1"/>
          <p:nvPr/>
        </p:nvSpPr>
        <p:spPr>
          <a:xfrm>
            <a:off x="5806440" y="4165091"/>
            <a:ext cx="2980944" cy="182880"/>
          </a:xfrm>
          <a:prstGeom prst="rect">
            <a:avLst/>
          </a:prstGeom>
          <a:noFill/>
        </p:spPr>
        <p:txBody>
          <a:bodyPr wrap="none">
            <a:spAutoFit/>
          </a:bodyPr>
          <a:lstStyle/>
          <a:p>
            <a:pPr algn="l"/>
            <a:r>
              <a:rPr sz="1000" b="0" i="1">
                <a:solidFill>
                  <a:srgbClr val="CCCCCC"/>
                </a:solidFill>
                <a:latin typeface="Calibri"/>
              </a:rPr>
              <a:t>$97K interest capitalized 4/30/2026</a:t>
            </a:r>
          </a:p>
        </p:txBody>
      </p:sp>
      <p:sp>
        <p:nvSpPr>
          <p:cNvPr id="74" name="TextBox 73"/>
          <p:cNvSpPr txBox="1"/>
          <p:nvPr/>
        </p:nvSpPr>
        <p:spPr>
          <a:xfrm>
            <a:off x="292608" y="4357116"/>
            <a:ext cx="2926080" cy="182880"/>
          </a:xfrm>
          <a:prstGeom prst="rect">
            <a:avLst/>
          </a:prstGeom>
          <a:noFill/>
        </p:spPr>
        <p:txBody>
          <a:bodyPr wrap="none">
            <a:spAutoFit/>
          </a:bodyPr>
          <a:lstStyle/>
          <a:p>
            <a:pPr algn="l"/>
            <a:r>
              <a:rPr sz="1000" b="0" i="0">
                <a:solidFill>
                  <a:srgbClr val="FFFFFF"/>
                </a:solidFill>
                <a:latin typeface="Calibri"/>
              </a:rPr>
              <a:t>Billed ahead (est.)</a:t>
            </a:r>
          </a:p>
        </p:txBody>
      </p:sp>
      <p:sp>
        <p:nvSpPr>
          <p:cNvPr id="75" name="TextBox 74"/>
          <p:cNvSpPr txBox="1"/>
          <p:nvPr/>
        </p:nvSpPr>
        <p:spPr>
          <a:xfrm>
            <a:off x="3310128" y="4357116"/>
            <a:ext cx="1170432" cy="182880"/>
          </a:xfrm>
          <a:prstGeom prst="rect">
            <a:avLst/>
          </a:prstGeom>
          <a:noFill/>
        </p:spPr>
        <p:txBody>
          <a:bodyPr wrap="none">
            <a:spAutoFit/>
          </a:bodyPr>
          <a:lstStyle/>
          <a:p>
            <a:pPr algn="r"/>
            <a:r>
              <a:rPr sz="1000" b="0" i="0">
                <a:solidFill>
                  <a:srgbClr val="888888"/>
                </a:solidFill>
                <a:latin typeface="Calibri"/>
              </a:rPr>
              <a:t>$942K</a:t>
            </a:r>
          </a:p>
        </p:txBody>
      </p:sp>
      <p:sp>
        <p:nvSpPr>
          <p:cNvPr id="76" name="TextBox 75"/>
          <p:cNvSpPr txBox="1"/>
          <p:nvPr/>
        </p:nvSpPr>
        <p:spPr>
          <a:xfrm>
            <a:off x="4572000" y="4357116"/>
            <a:ext cx="1143000" cy="182880"/>
          </a:xfrm>
          <a:prstGeom prst="rect">
            <a:avLst/>
          </a:prstGeom>
          <a:noFill/>
        </p:spPr>
        <p:txBody>
          <a:bodyPr wrap="none">
            <a:spAutoFit/>
          </a:bodyPr>
          <a:lstStyle/>
          <a:p>
            <a:pPr algn="r"/>
            <a:r>
              <a:rPr sz="1000" b="0" i="0">
                <a:solidFill>
                  <a:srgbClr val="CCCCCC"/>
                </a:solidFill>
                <a:latin typeface="Calibri"/>
              </a:rPr>
              <a:t>~$100-250K</a:t>
            </a:r>
          </a:p>
        </p:txBody>
      </p:sp>
      <p:sp>
        <p:nvSpPr>
          <p:cNvPr id="77" name="TextBox 76"/>
          <p:cNvSpPr txBox="1"/>
          <p:nvPr/>
        </p:nvSpPr>
        <p:spPr>
          <a:xfrm>
            <a:off x="5806440" y="4357116"/>
            <a:ext cx="2980944" cy="182880"/>
          </a:xfrm>
          <a:prstGeom prst="rect">
            <a:avLst/>
          </a:prstGeom>
          <a:noFill/>
        </p:spPr>
        <p:txBody>
          <a:bodyPr wrap="none">
            <a:spAutoFit/>
          </a:bodyPr>
          <a:lstStyle/>
          <a:p>
            <a:pPr algn="l"/>
            <a:r>
              <a:rPr sz="1000" b="0" i="1">
                <a:solidFill>
                  <a:srgbClr val="CCCCCC"/>
                </a:solidFill>
                <a:latin typeface="Calibri"/>
              </a:rPr>
              <a:t>Start-billings uncleared at ship (Motion 3)</a:t>
            </a:r>
          </a:p>
        </p:txBody>
      </p:sp>
      <p:sp>
        <p:nvSpPr>
          <p:cNvPr id="78" name="TextBox 77"/>
          <p:cNvSpPr txBox="1"/>
          <p:nvPr/>
        </p:nvSpPr>
        <p:spPr>
          <a:xfrm>
            <a:off x="292608" y="4549140"/>
            <a:ext cx="2926080" cy="182880"/>
          </a:xfrm>
          <a:prstGeom prst="rect">
            <a:avLst/>
          </a:prstGeom>
          <a:noFill/>
        </p:spPr>
        <p:txBody>
          <a:bodyPr wrap="none">
            <a:spAutoFit/>
          </a:bodyPr>
          <a:lstStyle/>
          <a:p>
            <a:pPr algn="l"/>
            <a:r>
              <a:rPr sz="1000" b="1" i="0">
                <a:solidFill>
                  <a:srgbClr val="FFCC44"/>
                </a:solidFill>
                <a:latin typeface="Calibri"/>
              </a:rPr>
              <a:t>Total equity</a:t>
            </a:r>
          </a:p>
        </p:txBody>
      </p:sp>
      <p:sp>
        <p:nvSpPr>
          <p:cNvPr id="79" name="TextBox 78"/>
          <p:cNvSpPr txBox="1"/>
          <p:nvPr/>
        </p:nvSpPr>
        <p:spPr>
          <a:xfrm>
            <a:off x="3310128" y="4549140"/>
            <a:ext cx="1170432" cy="182880"/>
          </a:xfrm>
          <a:prstGeom prst="rect">
            <a:avLst/>
          </a:prstGeom>
          <a:noFill/>
        </p:spPr>
        <p:txBody>
          <a:bodyPr wrap="none">
            <a:spAutoFit/>
          </a:bodyPr>
          <a:lstStyle/>
          <a:p>
            <a:pPr algn="r"/>
            <a:r>
              <a:rPr sz="1000" b="0" i="0">
                <a:solidFill>
                  <a:srgbClr val="888888"/>
                </a:solidFill>
                <a:latin typeface="Calibri"/>
              </a:rPr>
              <a:t>-$1.44M</a:t>
            </a:r>
          </a:p>
        </p:txBody>
      </p:sp>
      <p:sp>
        <p:nvSpPr>
          <p:cNvPr id="80" name="TextBox 79"/>
          <p:cNvSpPr txBox="1"/>
          <p:nvPr/>
        </p:nvSpPr>
        <p:spPr>
          <a:xfrm>
            <a:off x="4572000" y="4549140"/>
            <a:ext cx="1143000" cy="182880"/>
          </a:xfrm>
          <a:prstGeom prst="rect">
            <a:avLst/>
          </a:prstGeom>
          <a:noFill/>
        </p:spPr>
        <p:txBody>
          <a:bodyPr wrap="none">
            <a:spAutoFit/>
          </a:bodyPr>
          <a:lstStyle/>
          <a:p>
            <a:pPr algn="r"/>
            <a:r>
              <a:rPr sz="1000" b="1" i="0">
                <a:solidFill>
                  <a:srgbClr val="44BB44"/>
                </a:solidFill>
                <a:latin typeface="Calibri"/>
              </a:rPr>
              <a:t>~-$1.09M+</a:t>
            </a:r>
          </a:p>
        </p:txBody>
      </p:sp>
      <p:sp>
        <p:nvSpPr>
          <p:cNvPr id="81" name="TextBox 80"/>
          <p:cNvSpPr txBox="1"/>
          <p:nvPr/>
        </p:nvSpPr>
        <p:spPr>
          <a:xfrm>
            <a:off x="5806440" y="4549140"/>
            <a:ext cx="2980944" cy="182880"/>
          </a:xfrm>
          <a:prstGeom prst="rect">
            <a:avLst/>
          </a:prstGeom>
          <a:noFill/>
        </p:spPr>
        <p:txBody>
          <a:bodyPr wrap="none">
            <a:spAutoFit/>
          </a:bodyPr>
          <a:lstStyle/>
          <a:p>
            <a:pPr algn="l"/>
            <a:r>
              <a:rPr sz="1000" b="0" i="1">
                <a:solidFill>
                  <a:srgbClr val="CCCCCC"/>
                </a:solidFill>
                <a:latin typeface="Calibri"/>
              </a:rPr>
              <a:t>Credit alone; more if billed-ahead corrected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b="1" sz="1000">
                <a:solidFill>
                  <a:srgbClr val="FFFFFF"/>
                </a:solidFill>
                <a:latin typeface="Calibri"/>
              </a:rPr>
              <a:t>Carried in Workman's Comp acct (1480); not shown as a receivable</a:t>
            </a:r>
          </a:p>
        </p:txBody>
      </p:sp>
      <p:sp>
        <p:nvSpPr>
          <p:cNvPr id="17" name="TextBox 16"/>
          <p:cNvSpPr txBox="1"/>
          <p:nvPr/>
        </p:nvSpPr>
        <p:spPr>
          <a:xfrm>
            <a:off x="1152144" y="1947672"/>
            <a:ext cx="3246120" cy="534924"/>
          </a:xfrm>
          <a:prstGeom prst="rect">
            <a:avLst/>
          </a:prstGeom>
          <a:noFill/>
        </p:spPr>
        <p:txBody>
          <a:bodyPr wrap="square">
            <a:spAutoFit/>
          </a:bodyPr>
          <a:lstStyle/>
          <a:p>
            <a:r>
              <a:rPr lang="en-US" i="1" sz="1000">
                <a:solidFill>
                  <a:srgbClr val="CCCCCC"/>
                </a:solidFill>
                <a:latin typeface="Calibri"/>
              </a:rPr>
              <a:t>Netted 6/30/2025 (JEs #25925/#25926): $294,499 pre-2024 loan payable + $518,201 with no invoices</a:t>
            </a:r>
          </a:p>
          <a:p>
            <a:r>
              <a:rPr lang="en-US" i="1" sz="1000">
                <a:solidFill>
                  <a:srgbClr val="CCCCCC"/>
                </a:solidFill>
                <a:latin typeface="Calibri"/>
              </a:rPr>
              <a:t>Reclassified 4/30/2026 to acct 1481 (‘Loan to Microcosm’); account now shows $0</a:t>
            </a:r>
          </a:p>
        </p:txBody>
      </p:sp>
      <p:sp>
        <p:nvSpPr>
          <p:cNvPr id="18" name="Rectangle 17"/>
          <p:cNvSpPr/>
          <p:nvPr/>
        </p:nvSpPr>
        <p:spPr>
          <a:xfrm>
            <a:off x="256032" y="2574036"/>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574036"/>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775204"/>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b="1" sz="1000">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b="1" sz="1000">
                <a:solidFill>
                  <a:srgbClr val="DD4444"/>
                </a:solidFill>
                <a:latin typeface="Calibri"/>
              </a:rPr>
              <a:t>Non-Wertz lose ~$585K  ·  Conger ~$129K  ·  Rufer ~$160K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books corrected  (+$351K)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$22.6K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5-year, Structure A  (low/base/high)</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$41.0K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$63.0K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$85.1K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No sale  (book equity −$1.44M today)</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$0</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$0</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(books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~$189.5K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5-year base:</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~$527K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Paid in (est., ~$49.1K):</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10.7× return at 5-yr base</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  funding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b="1" sz="1000">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6931152" y="3310128"/>
            <a:ext cx="1920240" cy="201168"/>
          </a:xfrm>
          <a:prstGeom prst="rect">
            <a:avLst/>
          </a:prstGeom>
          <a:noFill/>
        </p:spPr>
        <p:txBody>
          <a:bodyPr wrap="none">
            <a:spAutoFit/>
          </a:bodyPr>
          <a:lstStyle/>
          <a:p>
            <a:r>
              <a:rPr lang="en-US" b="1" sz="1000">
                <a:solidFill>
                  <a:srgbClr val="DD4444"/>
                </a:solidFill>
                <a:latin typeface="Calibri"/>
              </a:rPr>
              <a:t>Conger: −$128.7K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sz="1000" b="1">
                <a:solidFill>
                  <a:srgbClr val="FFEE88"/>
                </a:solidFill>
                <a:latin typeface="Calibri"/>
              </a:rPr>
              <a:t>Microcosm's 50% facility costs, Jul 2024–Aug 2026: ~$351K</a:t>
            </a:r>
          </a:p>
          <a:p>
            <a:r>
              <a:rPr sz="1000" b="0">
                <a:solidFill>
                  <a:srgbClr val="CCCCCC"/>
                </a:solidFill>
                <a:latin typeface="Calibri"/>
              </a:rPr>
              <a:t>  (rent ~$316K + utilities ~$35K). Not credited vs. $451K owed to Microcosm.</a:t>
            </a:r>
          </a:p>
          <a:p>
            <a:r>
              <a:rPr sz="1000" b="1">
                <a:solidFill>
                  <a:srgbClr val="FFEE88"/>
                </a:solidFill>
                <a:latin typeface="Calibri"/>
              </a:rPr>
              <a:t>If applied: SSLC holders' cash at close ~$1.51M → ~$1.86M (base case).</a:t>
            </a:r>
          </a:p>
          <a:p>
            <a:r>
              <a:rPr sz="1000" b="1">
                <a:solidFill>
                  <a:srgbClr val="FFEE88"/>
                </a:solidFill>
                <a:latin typeface="Calibri"/>
              </a:rPr>
              <a:t>'Due to Microcosm' falls to ~$100K.</a:t>
            </a:r>
          </a:p>
          <a:p>
            <a:r>
              <a:rPr sz="1000" b="1">
                <a:solidFill>
                  <a:srgbClr val="FFEE88"/>
                </a:solidFill>
                <a:latin typeface="Calibri"/>
              </a:rPr>
              <a:t>Equity improves: -$1.44M to ~-$1.09M.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Slides 1-4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