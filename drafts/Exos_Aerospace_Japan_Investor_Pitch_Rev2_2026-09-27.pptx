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14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81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shihisa Kumazawa" userId="cb6e1c9866b39365" providerId="LiveId" clId="{C1F3BA26-08C3-4157-A6C1-1BA9BECA4735}"/>
    <pc:docChg chg="custSel modSld">
      <pc:chgData name="Toshihisa Kumazawa" userId="cb6e1c9866b39365" providerId="LiveId" clId="{C1F3BA26-08C3-4157-A6C1-1BA9BECA4735}" dt="2026-09-25T14:47:25.290" v="6" actId="478"/>
      <pc:docMkLst>
        <pc:docMk/>
      </pc:docMkLst>
      <pc:sldChg chg="addSp delSp modSp mod">
        <pc:chgData name="Toshihisa Kumazawa" userId="cb6e1c9866b39365" providerId="LiveId" clId="{C1F3BA26-08C3-4157-A6C1-1BA9BECA4735}" dt="2026-09-25T14:47:25.290" v="6" actId="478"/>
        <pc:sldMkLst>
          <pc:docMk/>
          <pc:sldMk cId="0" sldId="261"/>
        </pc:sldMkLst>
        <pc:picChg chg="add del mod">
          <ac:chgData name="Toshihisa Kumazawa" userId="cb6e1c9866b39365" providerId="LiveId" clId="{C1F3BA26-08C3-4157-A6C1-1BA9BECA4735}" dt="2026-09-25T14:47:25.290" v="6" actId="478"/>
          <ac:picMkLst>
            <pc:docMk/>
            <pc:sldMk cId="0" sldId="261"/>
            <ac:picMk id="21" creationId="{4718A0AA-E40D-5D6D-EB7B-4832B95DE7E9}"/>
          </ac:picMkLst>
        </pc:pic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903720" cy="6858000"/>
          </a:xfrm>
          <a:prstGeom prst="rect">
            <a:avLst/>
          </a:prstGeom>
          <a:solidFill>
            <a:srgbClr val="0E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1371600" cy="4733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874519"/>
            <a:ext cx="5943600" cy="5029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F5F5F5"/>
                </a:solidFill>
                <a:latin typeface="Aptos"/>
              </a:rPr>
              <a:t>EXOS AEROSPACE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87168"/>
            <a:ext cx="3657600" cy="54864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FF671C"/>
                </a:solidFill>
                <a:latin typeface="Aptos"/>
              </a:rPr>
              <a:t>JAPAN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6035040" cy="4114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F5F5F5"/>
                </a:solidFill>
                <a:latin typeface="Aptos"/>
              </a:rPr>
              <a:t>A partnership &amp; investment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5020029" cy="437043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 dirty="0">
                <a:solidFill>
                  <a:srgbClr val="B1B4B9"/>
                </a:solidFill>
                <a:latin typeface="Aptos"/>
              </a:rPr>
              <a:t>Reusable launch capability • Lunar-proven cryogenic tank technology </a:t>
            </a:r>
            <a:endParaRPr lang="en-US" sz="1300" b="0" i="0" dirty="0">
              <a:solidFill>
                <a:srgbClr val="B1B4B9"/>
              </a:solidFill>
              <a:latin typeface="Aptos"/>
            </a:endParaRPr>
          </a:p>
          <a:p>
            <a:pPr algn="l"/>
            <a:r>
              <a:rPr sz="1300" b="0" i="0" dirty="0">
                <a:solidFill>
                  <a:srgbClr val="B1B4B9"/>
                </a:solidFill>
                <a:latin typeface="Aptos"/>
              </a:rPr>
              <a:t>• Japan expansion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526280"/>
            <a:ext cx="1143000" cy="50292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828032"/>
            <a:ext cx="621792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5F5F5"/>
                </a:solidFill>
                <a:latin typeface="Aptos"/>
              </a:rPr>
              <a:t>Exos Aerospace Japan (K.K.)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016752"/>
            <a:ext cx="10515600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B1B4B9"/>
                </a:solidFill>
                <a:latin typeface="Aptos"/>
              </a:rPr>
              <a:t>October 2026  |  Toshi Kumazawa, Japan BD  •  John Quinn, Co-founder &amp; CEO</a:t>
            </a:r>
          </a:p>
        </p:txBody>
      </p:sp>
      <p:pic>
        <p:nvPicPr>
          <p:cNvPr id="4" name="Picture 24">
            <a:extLst>
              <a:ext uri="{FF2B5EF4-FFF2-40B4-BE49-F238E27FC236}">
                <a16:creationId xmlns:a16="http://schemas.microsoft.com/office/drawing/2014/main" id="{7CA3B4F1-9003-7825-70D3-1D15C5440D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2203" y="1028832"/>
            <a:ext cx="4466079" cy="52575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01  |  THE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A profitable U.S. space company with real flight heritage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A focused combination of reusable launch capability and advanced cryogenic tank technology.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94360" y="2057400"/>
            <a:ext cx="2514600" cy="91440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167128"/>
            <a:ext cx="2185416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FF671C"/>
                </a:solidFill>
                <a:latin typeface="Aptos"/>
              </a:rPr>
              <a:t>25+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587752"/>
            <a:ext cx="2185416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B1B4B9"/>
                </a:solidFill>
                <a:latin typeface="Aptos"/>
              </a:rPr>
              <a:t>years of reusable-vehicle heritage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2057400"/>
            <a:ext cx="2514600" cy="91440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38144" y="2167128"/>
            <a:ext cx="2185416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FF671C"/>
                </a:solidFill>
                <a:latin typeface="Aptos"/>
              </a:rPr>
              <a:t>FAA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38144" y="2587752"/>
            <a:ext cx="2185416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B1B4B9"/>
                </a:solidFill>
                <a:latin typeface="Aptos"/>
              </a:rPr>
              <a:t>licensed for reusable launch operations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52744" y="2057400"/>
            <a:ext cx="2514600" cy="91440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17336" y="2167128"/>
            <a:ext cx="2185416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FF671C"/>
                </a:solidFill>
                <a:latin typeface="Aptos"/>
              </a:rPr>
              <a:t>$1.49M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17336" y="2587752"/>
            <a:ext cx="2185416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B1B4B9"/>
                </a:solidFill>
                <a:latin typeface="Aptos"/>
              </a:rPr>
              <a:t>2025 revenue · EBITDA $254K (17%)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31936" y="2057400"/>
            <a:ext cx="2514600" cy="91440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96528" y="2167128"/>
            <a:ext cx="2185416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FF671C"/>
                </a:solidFill>
                <a:latin typeface="Aptos"/>
              </a:rPr>
              <a:t>TRL-9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96528" y="2587752"/>
            <a:ext cx="2185416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B1B4B9"/>
                </a:solidFill>
                <a:latin typeface="Aptos"/>
              </a:rPr>
              <a:t>Type-5 linerless composite cryogenic tanks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429000"/>
            <a:ext cx="3474720" cy="4114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300" b="1" i="0" dirty="0">
                <a:solidFill>
                  <a:srgbClr val="F5F5F5"/>
                </a:solidFill>
                <a:latin typeface="Aptos"/>
              </a:rPr>
              <a:t>Heritage matters.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011" y="3909881"/>
            <a:ext cx="4307589" cy="775597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600" b="0" i="0" dirty="0" err="1">
                <a:solidFill>
                  <a:srgbClr val="B1B4B9"/>
                </a:solidFill>
                <a:latin typeface="Aptos"/>
              </a:rPr>
              <a:t>Exos</a:t>
            </a:r>
            <a:r>
              <a:rPr sz="1600" b="0" i="0" dirty="0">
                <a:solidFill>
                  <a:srgbClr val="B1B4B9"/>
                </a:solidFill>
                <a:latin typeface="Aptos"/>
              </a:rPr>
              <a:t> brings more than two decades of hands-on </a:t>
            </a:r>
            <a:endParaRPr lang="en-US" sz="1600" b="0" i="0" dirty="0">
              <a:solidFill>
                <a:srgbClr val="B1B4B9"/>
              </a:solidFill>
              <a:latin typeface="Aptos"/>
            </a:endParaRPr>
          </a:p>
          <a:p>
            <a:pPr algn="l"/>
            <a:r>
              <a:rPr sz="1600" b="0" i="0" dirty="0">
                <a:solidFill>
                  <a:srgbClr val="B1B4B9"/>
                </a:solidFill>
                <a:latin typeface="Aptos"/>
              </a:rPr>
              <a:t>reusable-vehicle experience, </a:t>
            </a:r>
            <a:endParaRPr lang="en-US" sz="1600" b="0" i="0" dirty="0">
              <a:solidFill>
                <a:srgbClr val="B1B4B9"/>
              </a:solidFill>
              <a:latin typeface="Aptos"/>
            </a:endParaRPr>
          </a:p>
          <a:p>
            <a:pPr algn="l"/>
            <a:r>
              <a:rPr sz="1600" b="0" i="0" dirty="0">
                <a:solidFill>
                  <a:srgbClr val="B1B4B9"/>
                </a:solidFill>
                <a:latin typeface="Aptos"/>
              </a:rPr>
              <a:t>rooted in the Armadillo Aerospace heritage.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429000"/>
            <a:ext cx="3474720" cy="4114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F5F5F5"/>
                </a:solidFill>
                <a:latin typeface="Aptos"/>
              </a:rPr>
              <a:t>The technology stack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909881"/>
            <a:ext cx="530352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 dirty="0">
                <a:solidFill>
                  <a:srgbClr val="FF671C"/>
                </a:solidFill>
                <a:latin typeface="Aptos"/>
              </a:rPr>
              <a:t>• </a:t>
            </a:r>
            <a:r>
              <a:rPr sz="1400" dirty="0">
                <a:solidFill>
                  <a:srgbClr val="F5F5F5"/>
                </a:solidFill>
                <a:latin typeface="Aptos"/>
              </a:rPr>
              <a:t>BLK3: out-of-autoclave carbon composite, low parts count, recovered and </a:t>
            </a:r>
            <a:r>
              <a:rPr sz="1400" dirty="0" err="1">
                <a:solidFill>
                  <a:srgbClr val="F5F5F5"/>
                </a:solidFill>
                <a:latin typeface="Aptos"/>
              </a:rPr>
              <a:t>reflown</a:t>
            </a:r>
            <a:r>
              <a:rPr sz="1400" dirty="0">
                <a:solidFill>
                  <a:srgbClr val="F5F5F5"/>
                </a:solidFill>
                <a:latin typeface="Aptos"/>
              </a:rPr>
              <a:t>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 dirty="0">
                <a:solidFill>
                  <a:srgbClr val="FF671C"/>
                </a:solidFill>
                <a:latin typeface="Aptos"/>
              </a:rPr>
              <a:t>• </a:t>
            </a:r>
            <a:r>
              <a:rPr sz="1400" dirty="0">
                <a:solidFill>
                  <a:srgbClr val="F5F5F5"/>
                </a:solidFill>
                <a:latin typeface="Aptos"/>
              </a:rPr>
              <a:t>SSLC / Scorpius: </a:t>
            </a:r>
            <a:r>
              <a:rPr sz="1400" dirty="0" err="1">
                <a:solidFill>
                  <a:srgbClr val="F5F5F5"/>
                </a:solidFill>
                <a:latin typeface="Aptos"/>
              </a:rPr>
              <a:t>linerless</a:t>
            </a:r>
            <a:r>
              <a:rPr sz="1400" dirty="0">
                <a:solidFill>
                  <a:srgbClr val="F5F5F5"/>
                </a:solidFill>
                <a:latin typeface="Aptos"/>
              </a:rPr>
              <a:t> Type-5 composite cryogenic tanks designed for demanding applications.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 dirty="0">
                <a:solidFill>
                  <a:srgbClr val="FF671C"/>
                </a:solidFill>
                <a:latin typeface="Aptos"/>
              </a:rPr>
              <a:t>• </a:t>
            </a:r>
            <a:r>
              <a:rPr sz="1400" dirty="0">
                <a:solidFill>
                  <a:srgbClr val="F5F5F5"/>
                </a:solidFill>
                <a:latin typeface="Aptos"/>
              </a:rPr>
              <a:t>Type-5 tanks have flown in lunar missions.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02</a:t>
            </a:r>
          </a:p>
        </p:txBody>
      </p:sp>
      <p:sp>
        <p:nvSpPr>
          <p:cNvPr id="14" name="FY25 footnote"/>
          <p:cNvSpPr txBox="1"/>
          <p:nvPr/>
        </p:nvSpPr>
        <p:spPr>
          <a:xfrm>
            <a:off x="5952744" y="3035808"/>
            <a:ext cx="25146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FY2025, accrual basis, unaudited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02  | 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Technology that has already left Earth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The strongest investor story is not a promise of future technology—it is demonstrated hardware and mission heritage.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12648" y="4507992"/>
            <a:ext cx="4586250" cy="4754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6453" y="4666574"/>
            <a:ext cx="310896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00" b="1" i="0" dirty="0">
                <a:solidFill>
                  <a:srgbClr val="F5F5F5"/>
                </a:solidFill>
                <a:latin typeface="Aptos"/>
              </a:rPr>
              <a:t>Lunar mission heritage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2120" y="1860804"/>
            <a:ext cx="5292667" cy="1006429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100" b="1" i="0" dirty="0">
                <a:solidFill>
                  <a:srgbClr val="F5F5F5"/>
                </a:solidFill>
                <a:latin typeface="Aptos"/>
              </a:rPr>
              <a:t>SSLC Type-5 tanks flew as fuel &amp; LOX tanks </a:t>
            </a:r>
            <a:endParaRPr lang="en-US" sz="2100" b="1" i="0" dirty="0">
              <a:solidFill>
                <a:srgbClr val="F5F5F5"/>
              </a:solidFill>
              <a:latin typeface="Aptos"/>
            </a:endParaRPr>
          </a:p>
          <a:p>
            <a:pPr algn="l"/>
            <a:r>
              <a:rPr sz="2100" b="1" i="0" dirty="0">
                <a:solidFill>
                  <a:srgbClr val="F5F5F5"/>
                </a:solidFill>
                <a:latin typeface="Aptos"/>
              </a:rPr>
              <a:t>on Intuitive Machines' Odysseus (2024)</a:t>
            </a:r>
            <a:r>
              <a:rPr lang="en-US" sz="2100" b="1" dirty="0">
                <a:solidFill>
                  <a:srgbClr val="F5F5F5"/>
                </a:solidFill>
                <a:latin typeface="Aptos"/>
              </a:rPr>
              <a:t>,</a:t>
            </a:r>
          </a:p>
          <a:p>
            <a:pPr algn="l"/>
            <a:r>
              <a:rPr sz="2100" b="1" i="0" dirty="0">
                <a:solidFill>
                  <a:srgbClr val="F5F5F5"/>
                </a:solidFill>
                <a:latin typeface="Aptos"/>
              </a:rPr>
              <a:t> and Athena lunar landers.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0" y="3401568"/>
            <a:ext cx="5577840" cy="1828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15000" y="3657600"/>
            <a:ext cx="4114800" cy="34747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F671C"/>
                </a:solidFill>
                <a:latin typeface="Aptos"/>
              </a:rPr>
              <a:t>Why this matters for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4160520"/>
            <a:ext cx="571500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A reusable flight-test platform for Japanese industry and universities.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Cryogenic tank technology applicable to launch and in-space propellant management.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A technology base for long-term Japanese manufacturing and technical partnerships.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03</a:t>
            </a:r>
          </a:p>
        </p:txBody>
      </p:sp>
      <p:pic>
        <p:nvPicPr>
          <p:cNvPr id="15" name="Picture 10">
            <a:extLst>
              <a:ext uri="{FF2B5EF4-FFF2-40B4-BE49-F238E27FC236}">
                <a16:creationId xmlns:a16="http://schemas.microsoft.com/office/drawing/2014/main" id="{0CCD40DA-B949-11A5-213B-B2BB3AD0A2B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488"/>
          <a:stretch/>
        </p:blipFill>
        <p:spPr>
          <a:xfrm>
            <a:off x="653262" y="2215465"/>
            <a:ext cx="4545636" cy="22710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03  |  WHY JAPAN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A local platform connecting Exos technology to Japanese demand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Exos Aerospace Japan is designed as an operating company—not simply a sales office.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tmp_image7.png_7.55_2.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2057400"/>
            <a:ext cx="4663440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86600" y="4160520"/>
            <a:ext cx="4297680" cy="32004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5F5F5"/>
                </a:solidFill>
                <a:latin typeface="Aptos"/>
              </a:rPr>
              <a:t>Hokkaido Spaceport (HOSPO)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4540850"/>
            <a:ext cx="4398833" cy="4678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400" b="0" i="0" dirty="0">
                <a:solidFill>
                  <a:srgbClr val="B1B4B9"/>
                </a:solidFill>
                <a:latin typeface="Aptos"/>
              </a:rPr>
              <a:t>A potential operating base for BLK3 wet-lease reusable </a:t>
            </a:r>
            <a:endParaRPr lang="en-US" sz="1400" b="0" i="0" dirty="0">
              <a:solidFill>
                <a:srgbClr val="B1B4B9"/>
              </a:solidFill>
              <a:latin typeface="Aptos"/>
            </a:endParaRPr>
          </a:p>
          <a:p>
            <a:pPr algn="l"/>
            <a:r>
              <a:rPr sz="1400" b="0" i="0" dirty="0">
                <a:solidFill>
                  <a:srgbClr val="B1B4B9"/>
                </a:solidFill>
                <a:latin typeface="Aptos"/>
              </a:rPr>
              <a:t>suborbital flight services, with </a:t>
            </a:r>
            <a:r>
              <a:rPr sz="1400" b="0" i="0" dirty="0" err="1">
                <a:solidFill>
                  <a:srgbClr val="B1B4B9"/>
                </a:solidFill>
                <a:latin typeface="Aptos"/>
              </a:rPr>
              <a:t>Exos</a:t>
            </a:r>
            <a:r>
              <a:rPr sz="1400" b="0" i="0" dirty="0">
                <a:solidFill>
                  <a:srgbClr val="B1B4B9"/>
                </a:solidFill>
                <a:latin typeface="Aptos"/>
              </a:rPr>
              <a:t> as licensed operator.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4831"/>
            <a:ext cx="521208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5F5F5"/>
                </a:solidFill>
                <a:latin typeface="Aptos"/>
              </a:rPr>
              <a:t>Japan operating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51760"/>
            <a:ext cx="5715000" cy="297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Establish Exos Aerospace Japan (K.K.), with local office and team in 2026.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Deploy BLK3 as a verification / flight-test platform for Japanese customers.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Offer reusable rocket engines and SSLC Type-5 cryogenic tanks.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Build consulting and long-term technical collaboration in Japan.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04  |  INVESTMENT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A structured raise to build Exos Aerospace Japan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Investors invest through the Exos U.S. offering vehicle; proceeds fund the build-out of Exos Aerospace Japan (K.K.), a wholly-owned subsidiary.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1965960"/>
            <a:ext cx="3520440" cy="1920240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2139696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671C"/>
                </a:solidFill>
                <a:latin typeface="Aptos"/>
              </a:rPr>
              <a:t>JAPAN ROUND — VIA EXOS U.S.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2432304"/>
            <a:ext cx="3246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F5F5"/>
                </a:solidFill>
                <a:latin typeface="Aptos"/>
              </a:rPr>
              <a:t>¥790M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329184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B1B4B9"/>
                </a:solidFill>
                <a:latin typeface="Aptos"/>
              </a:rPr>
              <a:t>≈ US$5.0M target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3584448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B1B4B9"/>
                </a:solidFill>
                <a:latin typeface="Aptos"/>
              </a:rPr>
              <a:t>at ~¥157 / US$ (27 Sep 2026)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2029968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671C"/>
                </a:solidFill>
                <a:latin typeface="Aptos"/>
              </a:rPr>
              <a:t>STRUCTURED FOR REALISTIC EQUITY FINANCING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2359152"/>
            <a:ext cx="7178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1B4B9"/>
                </a:solidFill>
                <a:latin typeface="Aptos"/>
              </a:rPr>
              <a:t>Japan round now via Exos U.S.  →  proceeds fund the K.K. build-out  →  growth as Japan revenue scales. Priced off the Exos U.S. valuation.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3273552"/>
            <a:ext cx="7178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671C"/>
                </a:solidFill>
                <a:latin typeface="Aptos"/>
              </a:rPr>
              <a:t>USE OF FUNDS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34840" y="3584448"/>
            <a:ext cx="1700784" cy="1170432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3685032"/>
            <a:ext cx="14264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671C"/>
                </a:solidFill>
                <a:latin typeface="Aptos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393192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F5F5"/>
                </a:solidFill>
                <a:latin typeface="Aptos"/>
              </a:rPr>
              <a:t>Japan entity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261104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B1B4B9"/>
                </a:solidFill>
                <a:latin typeface="Aptos"/>
              </a:rPr>
              <a:t>Stand up the local operating company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36208" y="3584448"/>
            <a:ext cx="1700784" cy="1170432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3685032"/>
            <a:ext cx="14264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671C"/>
                </a:solidFill>
                <a:latin typeface="Aptos"/>
              </a:rPr>
              <a:t>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3368" y="393192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F5F5"/>
                </a:solidFill>
                <a:latin typeface="Aptos"/>
              </a:rPr>
              <a:t>Flight capability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3368" y="4261104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B1B4B9"/>
                </a:solidFill>
                <a:latin typeface="Aptos"/>
              </a:rPr>
              <a:t>Secure a BLK3 wet-lease for HOSPO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37575" y="3584448"/>
            <a:ext cx="1700784" cy="1170432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74736" y="3685032"/>
            <a:ext cx="14264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671C"/>
                </a:solidFill>
                <a:latin typeface="Aptos"/>
              </a:rPr>
              <a:t>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74736" y="393192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F5F5"/>
                </a:solidFill>
                <a:latin typeface="Aptos"/>
              </a:rPr>
              <a:t>Local presence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74736" y="4261104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B1B4B9"/>
                </a:solidFill>
                <a:latin typeface="Aptos"/>
              </a:rPr>
              <a:t>Open the Japan office in 2026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838944" y="3584448"/>
            <a:ext cx="1700784" cy="1170432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976104" y="3685032"/>
            <a:ext cx="14264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671C"/>
                </a:solidFill>
                <a:latin typeface="Aptos"/>
              </a:rPr>
              <a:t>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76104" y="393192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F5F5"/>
                </a:solidFill>
                <a:latin typeface="Aptos"/>
              </a:rPr>
              <a:t>Growth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76104" y="4261104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B1B4B9"/>
                </a:solidFill>
                <a:latin typeface="Aptos"/>
              </a:rPr>
              <a:t>Customers, partners &amp; licensed tank production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504" y="495604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671C"/>
                </a:solidFill>
                <a:latin typeface="Aptos"/>
              </a:rPr>
              <a:t>OWNERSHIP / CONTROL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504" y="5266944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1B4B9"/>
                </a:solidFill>
                <a:latin typeface="Aptos"/>
              </a:rPr>
              <a:t>Exos Aerospace Japan K.K. is a wholly-owned subsidiary of Exos U.S., modeled on the established Exos Aerospace Italia subsidiary. Investors hold a minority interest in Exos U.S.</a:t>
            </a:r>
          </a:p>
        </p:txBody>
      </p:sp>
      <p:sp>
        <p:nvSpPr>
          <p:cNvPr id="4" name="Securities disclaimer"/>
          <p:cNvSpPr txBox="1"/>
          <p:nvPr/>
        </p:nvSpPr>
        <p:spPr>
          <a:xfrm>
            <a:off x="594360" y="6199632"/>
            <a:ext cx="1051560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50" b="0" i="1">
                <a:solidFill>
                  <a:srgbClr val="B1B4B9"/>
                </a:solidFill>
                <a:latin typeface="Aptos"/>
              </a:rPr>
              <a:t>This presentation is not an offer to sell or a solicitation of an offer to buy securities. Any offering will be made only through definitive offering documents to eligible investors.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671C"/>
                </a:solidFill>
                <a:latin typeface="Aptos"/>
              </a:rPr>
              <a:t>05  |  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5F5F5"/>
                </a:solidFill>
                <a:latin typeface="Aptos"/>
              </a:rPr>
              <a:t>Path to profit growth and exit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1B4B9"/>
                </a:solidFill>
                <a:latin typeface="Aptos"/>
              </a:rPr>
              <a:t>How investors realize a return — recurring revenue growth, then a defined exit. Non-dilutive layers can complement the equity round.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36576"/>
          </a:xfrm>
          <a:prstGeom prst="rect">
            <a:avLst/>
          </a:prstGeom>
          <a:solidFill>
            <a:srgbClr val="FF6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611880" cy="1874519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350008"/>
            <a:ext cx="32095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671C"/>
                </a:solidFill>
                <a:latin typeface="Aptos"/>
              </a:rPr>
              <a:t>ROUND (NOW)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770632"/>
            <a:ext cx="32095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F5F5F5"/>
                </a:solidFill>
                <a:latin typeface="Aptos"/>
              </a:rPr>
              <a:t>Fund Japan stand-up + first wet-lease flights at HOSPO.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5384" y="2862072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671C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148840"/>
            <a:ext cx="3611880" cy="1874519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350008"/>
            <a:ext cx="32095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671C"/>
                </a:solidFill>
                <a:latin typeface="Aptos"/>
              </a:rPr>
              <a:t>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770632"/>
            <a:ext cx="32095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F5F5F5"/>
                </a:solidFill>
                <a:latin typeface="Aptos"/>
              </a:rPr>
              <a:t>Recurring revenue — wet-lease flights · Type-5 tank &amp; engine sales · verification &amp; consulting.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1584" y="2862072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671C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2148840"/>
            <a:ext cx="3611880" cy="1874519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67928" y="2350008"/>
            <a:ext cx="32095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671C"/>
                </a:solidFill>
                <a:latin typeface="Aptos"/>
              </a:rPr>
              <a:t>EXIT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2770632"/>
            <a:ext cx="32095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F5F5F5"/>
                </a:solidFill>
                <a:latin typeface="Aptos"/>
              </a:rPr>
              <a:t>Liquidity through an Exos U.S. event: public listing or acquisition. Horizon ~3+ years.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43434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671C"/>
                </a:solidFill>
                <a:latin typeface="Aptos"/>
              </a:rPr>
              <a:t>ALSO ON THE TABLE — NON-DILUTIVE LAYERS  (per Innovation Dojo)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709160"/>
            <a:ext cx="5504688" cy="1234440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4892040"/>
            <a:ext cx="510235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5F5F5"/>
                </a:solidFill>
                <a:latin typeface="Aptos"/>
              </a:rPr>
              <a:t>Payload pre-sales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5294376"/>
            <a:ext cx="510235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1B4B9"/>
                </a:solidFill>
                <a:latin typeface="Aptos"/>
              </a:rPr>
              <a:t>Reserve BLK3 flight capacity ahead of service — cash in without giving up equity.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36792" y="4709160"/>
            <a:ext cx="5504688" cy="1234440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59" y="4892040"/>
            <a:ext cx="510235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5F5F5"/>
                </a:solidFill>
                <a:latin typeface="Aptos"/>
              </a:rPr>
              <a:t>Crowdfunding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59" y="5294376"/>
            <a:ext cx="510235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1B4B9"/>
                </a:solidFill>
                <a:latin typeface="Aptos"/>
              </a:rPr>
              <a:t>Community &amp; supporter participation to broaden the base and build the Japan brand.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B1B4B9"/>
                </a:solidFill>
                <a:latin typeface="Aptos"/>
              </a:rPr>
              <a:t>06</a:t>
            </a:r>
          </a:p>
        </p:txBody>
      </p:sp>
      <p:sp>
        <p:nvSpPr>
          <p:cNvPr id="4" name="Securities disclaimer"/>
          <p:cNvSpPr txBox="1"/>
          <p:nvPr/>
        </p:nvSpPr>
        <p:spPr>
          <a:xfrm>
            <a:off x="594360" y="6199632"/>
            <a:ext cx="10515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B1B4B9"/>
                </a:solidFill>
                <a:latin typeface="Aptos"/>
              </a:rPr>
              <a:t>This presentation is not an offer to sell or a solicitation of an offer to buy securities. Any offering will be made only through definitive offering documents to eligible investors.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06  | 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The Japan opportunity is already moving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Current signals point to customer demand, infrastructure collaboration, and an expanding local partner network.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94360" y="2057400"/>
            <a:ext cx="6446520" cy="96012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2221992"/>
            <a:ext cx="164592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FF671C"/>
                </a:solidFill>
                <a:latin typeface="Aptos"/>
              </a:rPr>
              <a:t>CUSTOMER SIGNAL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2185416"/>
            <a:ext cx="4884286" cy="421654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50" b="0" i="0" dirty="0">
                <a:solidFill>
                  <a:srgbClr val="F5F5F5"/>
                </a:solidFill>
                <a:latin typeface="Aptos"/>
              </a:rPr>
              <a:t>LOI received for a fuel-tank order from a Japanese space-development </a:t>
            </a:r>
            <a:endParaRPr lang="en-US" sz="1250" b="0" i="0" dirty="0">
              <a:solidFill>
                <a:srgbClr val="F5F5F5"/>
              </a:solidFill>
              <a:latin typeface="Aptos"/>
            </a:endParaRPr>
          </a:p>
          <a:p>
            <a:pPr algn="l"/>
            <a:r>
              <a:rPr sz="1250" b="0" i="0" dirty="0">
                <a:solidFill>
                  <a:srgbClr val="F5F5F5"/>
                </a:solidFill>
                <a:latin typeface="Aptos"/>
              </a:rPr>
              <a:t>company; engine-specification inquiry also received.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291840"/>
            <a:ext cx="6446520" cy="96012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" y="3456432"/>
            <a:ext cx="164592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FF671C"/>
                </a:solidFill>
                <a:latin typeface="Aptos"/>
              </a:rPr>
              <a:t>INFRASTRUCTURE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3419856"/>
            <a:ext cx="5048113" cy="421654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50" b="0" i="0" dirty="0">
                <a:solidFill>
                  <a:srgbClr val="F5F5F5"/>
                </a:solidFill>
                <a:latin typeface="Aptos"/>
              </a:rPr>
              <a:t>Collaboration discussions underway with Hokkaido Spaceport (HOSPO / </a:t>
            </a:r>
            <a:endParaRPr lang="en-US" sz="1250" b="0" i="0" dirty="0">
              <a:solidFill>
                <a:srgbClr val="F5F5F5"/>
              </a:solidFill>
              <a:latin typeface="Aptos"/>
            </a:endParaRPr>
          </a:p>
          <a:p>
            <a:pPr algn="l"/>
            <a:r>
              <a:rPr sz="1250" b="0" i="0" dirty="0">
                <a:solidFill>
                  <a:srgbClr val="F5F5F5"/>
                </a:solidFill>
                <a:latin typeface="Aptos"/>
              </a:rPr>
              <a:t>Space Cotan).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526280"/>
            <a:ext cx="6446520" cy="96012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4690872"/>
            <a:ext cx="164592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FF671C"/>
                </a:solidFill>
                <a:latin typeface="Aptos"/>
              </a:rPr>
              <a:t>PARTNER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654296"/>
            <a:ext cx="4882896" cy="421654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50" b="0" i="0" dirty="0">
                <a:solidFill>
                  <a:srgbClr val="F5F5F5"/>
                </a:solidFill>
                <a:latin typeface="Aptos"/>
              </a:rPr>
              <a:t>Seeking Japanese technical partners for licensed production of TRL-9 Type-5 tanks in Japan. BLK3-for-Japan production commences upon international approvals (incl. U.S. export), with potential reallocation of U.S. BLK3 assets to match the speed of those approvals.</a:t>
            </a:r>
            <a:endParaRPr lang="en-US" sz="1250" b="0" i="0" dirty="0">
              <a:solidFill>
                <a:srgbClr val="F5F5F5"/>
              </a:solidFill>
              <a:latin typeface="Apto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360920" y="4892040"/>
            <a:ext cx="420624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635240" y="5029200"/>
            <a:ext cx="365760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F5F5"/>
                </a:solidFill>
                <a:latin typeface="Aptos"/>
              </a:rPr>
              <a:t>October 2026: CEO visit to Japan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5468112"/>
            <a:ext cx="3657600" cy="34747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900" b="0" i="0" dirty="0">
                <a:solidFill>
                  <a:srgbClr val="B1B4B9"/>
                </a:solidFill>
                <a:latin typeface="Aptos"/>
              </a:rPr>
              <a:t>HOSPO • LOI client • space-development companies • prospective investors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07  |  THE INVITATION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Build Exos Aerospace Japan with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The objective: turn proven U.S. technology into a durable Japan operating platform.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15000" y="2103120"/>
            <a:ext cx="5029200" cy="3657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5F5F5"/>
                </a:solidFill>
                <a:latin typeface="Aptos"/>
              </a:rPr>
              <a:t>What partners can help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0" y="2670048"/>
            <a:ext cx="5577840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A local reusable-flight capability at HOSPO.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A Japanese customer and university flight-test platform.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Local technical partnerships for Type-5 cryogenic tanks.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A long-term Exos presence in Japan.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4919472"/>
            <a:ext cx="5532120" cy="54864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15000" y="5184648"/>
            <a:ext cx="5029200" cy="34747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FF671C"/>
                </a:solidFill>
                <a:latin typeface="Aptos"/>
              </a:rPr>
              <a:t>Exos Aerospace Japan (K.K.)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5577840"/>
            <a:ext cx="5212080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5F5F5"/>
                </a:solidFill>
                <a:latin typeface="Aptos"/>
              </a:rPr>
              <a:t>Toshi Kumazawa  •  toshihisa@exosaero.com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5870448"/>
            <a:ext cx="5212080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B1B4B9"/>
                </a:solidFill>
                <a:latin typeface="Aptos"/>
              </a:rPr>
              <a:t>John Quinn  •  Co-founder &amp; CEO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97880"/>
            <a:ext cx="4572000" cy="32004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5F5F5"/>
                </a:solidFill>
                <a:latin typeface="Aptos"/>
              </a:rPr>
              <a:t>Built in Japan, together with Japan.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08</a:t>
            </a: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CE6054FA-7F78-465D-8D39-9D6A5BBDC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224" y="2159559"/>
            <a:ext cx="5146272" cy="278482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625</TotalTime>
  <Words>686</Words>
  <Application>Microsoft Office PowerPoint</Application>
  <PresentationFormat>ワイド画面</PresentationFormat>
  <Paragraphs>108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Aptos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Toshihisa Kumazawa</dc:creator>
  <cp:keywords/>
  <dc:description>generated using python-pptx</dc:description>
  <cp:lastModifiedBy>Toshihisa Kumazawa</cp:lastModifiedBy>
  <cp:revision>3</cp:revision>
  <dcterms:created xsi:type="dcterms:W3CDTF">2013-01-27T09:14:16Z</dcterms:created>
  <dcterms:modified xsi:type="dcterms:W3CDTF">2026-09-25T15:21:47Z</dcterms:modified>
  <cp:category/>
</cp:coreProperties>
</file>