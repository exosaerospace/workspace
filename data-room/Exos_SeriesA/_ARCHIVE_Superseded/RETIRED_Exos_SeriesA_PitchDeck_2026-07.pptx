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 id="2147483660" r:id="rId5"/>
  </p:sldMasterIdLst>
  <p:sldIdLst>
    <p:sldId id="256" r:id="rId6"/>
    <p:sldId id="512" r:id="rId13"/>
    <p:sldId id="513" r:id="rId10"/>
    <p:sldId id="510" r:id="rId31"/>
    <p:sldId id="511" r:id="rId32"/>
    <p:sldId id="257" r:id="rId7"/>
    <p:sldId id="258" r:id="rId8"/>
    <p:sldId id="259" r:id="rId9"/>
    <p:sldId id="261" r:id="rId11"/>
    <p:sldId id="262" r:id="rId12"/>
    <p:sldId id="264" r:id="rId14"/>
    <p:sldId id="265" r:id="rId15"/>
    <p:sldId id="266" r:id="rId16"/>
    <p:sldId id="267" r:id="rId17"/>
    <p:sldId id="268" r:id="rId18"/>
    <p:sldId id="269" r:id="rId19"/>
    <p:sldId id="270" r:id="rId20"/>
    <p:sldId id="509" r:id="rId21"/>
    <p:sldId id="272" r:id="rId22"/>
    <p:sldId id="273" r:id="rId23"/>
    <p:sldId id="274"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2D39A05-8FC6-48A2-9C65-4574436B8C6C}" v="3" dt="2026-05-29T14:44:57.55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92" d="100"/>
          <a:sy n="92" d="100"/>
        </p:scale>
        <p:origin x="312" y="3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 Target="slides/slide1.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3.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2.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29" Type="http://schemas.microsoft.com/office/2016/11/relationships/changesInfo" Target="changesInfos/changesInfo1.xml"/><Relationship Id="rId30" Type="http://schemas.microsoft.com/office/2015/10/relationships/revisionInfo" Target="revisionInfo.xml"/><Relationship Id="rId31" Type="http://schemas.openxmlformats.org/officeDocument/2006/relationships/slide" Target="slides/slide4.xml"/><Relationship Id="rId32"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hn Quinn" userId="49ef7d68-749c-4dd8-b137-19339c5a9f8b" providerId="ADAL" clId="{23154D39-0448-4989-9750-5478DE3CE1CA}"/>
    <pc:docChg chg="undo custSel addSld delSld modSld">
      <pc:chgData name="John Quinn" userId="49ef7d68-749c-4dd8-b137-19339c5a9f8b" providerId="ADAL" clId="{23154D39-0448-4989-9750-5478DE3CE1CA}" dt="2026-05-29T14:45:49.293" v="180" actId="207"/>
      <pc:docMkLst>
        <pc:docMk/>
      </pc:docMkLst>
      <pc:sldChg chg="modSp mod">
        <pc:chgData name="John Quinn" userId="49ef7d68-749c-4dd8-b137-19339c5a9f8b" providerId="ADAL" clId="{23154D39-0448-4989-9750-5478DE3CE1CA}" dt="2026-05-29T14:07:14.169" v="6" actId="1076"/>
        <pc:sldMkLst>
          <pc:docMk/>
          <pc:sldMk cId="0" sldId="256"/>
        </pc:sldMkLst>
        <pc:picChg chg="mod">
          <ac:chgData name="John Quinn" userId="49ef7d68-749c-4dd8-b137-19339c5a9f8b" providerId="ADAL" clId="{23154D39-0448-4989-9750-5478DE3CE1CA}" dt="2026-05-29T14:07:02.911" v="3" actId="1076"/>
          <ac:picMkLst>
            <pc:docMk/>
            <pc:sldMk cId="0" sldId="256"/>
            <ac:picMk id="3" creationId="{00000000-0000-0000-0000-000000000000}"/>
          </ac:picMkLst>
        </pc:picChg>
        <pc:picChg chg="mod">
          <ac:chgData name="John Quinn" userId="49ef7d68-749c-4dd8-b137-19339c5a9f8b" providerId="ADAL" clId="{23154D39-0448-4989-9750-5478DE3CE1CA}" dt="2026-05-29T14:07:14.169" v="6" actId="1076"/>
          <ac:picMkLst>
            <pc:docMk/>
            <pc:sldMk cId="0" sldId="256"/>
            <ac:picMk id="4" creationId="{00000000-0000-0000-0000-000000000000}"/>
          </ac:picMkLst>
        </pc:picChg>
      </pc:sldChg>
      <pc:sldChg chg="modSp mod">
        <pc:chgData name="John Quinn" userId="49ef7d68-749c-4dd8-b137-19339c5a9f8b" providerId="ADAL" clId="{23154D39-0448-4989-9750-5478DE3CE1CA}" dt="2026-05-29T14:11:38.251" v="30" actId="1076"/>
        <pc:sldMkLst>
          <pc:docMk/>
          <pc:sldMk cId="0" sldId="259"/>
        </pc:sldMkLst>
        <pc:spChg chg="mod">
          <ac:chgData name="John Quinn" userId="49ef7d68-749c-4dd8-b137-19339c5a9f8b" providerId="ADAL" clId="{23154D39-0448-4989-9750-5478DE3CE1CA}" dt="2026-05-29T14:09:46.965" v="20" actId="20577"/>
          <ac:spMkLst>
            <pc:docMk/>
            <pc:sldMk cId="0" sldId="259"/>
            <ac:spMk id="7" creationId="{00000000-0000-0000-0000-000000000000}"/>
          </ac:spMkLst>
        </pc:spChg>
        <pc:spChg chg="mod">
          <ac:chgData name="John Quinn" userId="49ef7d68-749c-4dd8-b137-19339c5a9f8b" providerId="ADAL" clId="{23154D39-0448-4989-9750-5478DE3CE1CA}" dt="2026-05-29T14:11:30.352" v="29" actId="1076"/>
          <ac:spMkLst>
            <pc:docMk/>
            <pc:sldMk cId="0" sldId="259"/>
            <ac:spMk id="8" creationId="{00000000-0000-0000-0000-000000000000}"/>
          </ac:spMkLst>
        </pc:spChg>
        <pc:spChg chg="mod">
          <ac:chgData name="John Quinn" userId="49ef7d68-749c-4dd8-b137-19339c5a9f8b" providerId="ADAL" clId="{23154D39-0448-4989-9750-5478DE3CE1CA}" dt="2026-05-29T14:11:30.352" v="29" actId="1076"/>
          <ac:spMkLst>
            <pc:docMk/>
            <pc:sldMk cId="0" sldId="259"/>
            <ac:spMk id="9" creationId="{00000000-0000-0000-0000-000000000000}"/>
          </ac:spMkLst>
        </pc:spChg>
        <pc:spChg chg="mod">
          <ac:chgData name="John Quinn" userId="49ef7d68-749c-4dd8-b137-19339c5a9f8b" providerId="ADAL" clId="{23154D39-0448-4989-9750-5478DE3CE1CA}" dt="2026-05-29T14:11:30.352" v="29" actId="1076"/>
          <ac:spMkLst>
            <pc:docMk/>
            <pc:sldMk cId="0" sldId="259"/>
            <ac:spMk id="10" creationId="{00000000-0000-0000-0000-000000000000}"/>
          </ac:spMkLst>
        </pc:spChg>
        <pc:spChg chg="mod">
          <ac:chgData name="John Quinn" userId="49ef7d68-749c-4dd8-b137-19339c5a9f8b" providerId="ADAL" clId="{23154D39-0448-4989-9750-5478DE3CE1CA}" dt="2026-05-29T14:11:30.352" v="29" actId="1076"/>
          <ac:spMkLst>
            <pc:docMk/>
            <pc:sldMk cId="0" sldId="259"/>
            <ac:spMk id="11" creationId="{00000000-0000-0000-0000-000000000000}"/>
          </ac:spMkLst>
        </pc:spChg>
        <pc:spChg chg="mod">
          <ac:chgData name="John Quinn" userId="49ef7d68-749c-4dd8-b137-19339c5a9f8b" providerId="ADAL" clId="{23154D39-0448-4989-9750-5478DE3CE1CA}" dt="2026-05-29T14:11:38.251" v="30" actId="1076"/>
          <ac:spMkLst>
            <pc:docMk/>
            <pc:sldMk cId="0" sldId="259"/>
            <ac:spMk id="12" creationId="{00000000-0000-0000-0000-000000000000}"/>
          </ac:spMkLst>
        </pc:spChg>
        <pc:picChg chg="mod">
          <ac:chgData name="John Quinn" userId="49ef7d68-749c-4dd8-b137-19339c5a9f8b" providerId="ADAL" clId="{23154D39-0448-4989-9750-5478DE3CE1CA}" dt="2026-05-29T14:11:14.902" v="28" actId="1076"/>
          <ac:picMkLst>
            <pc:docMk/>
            <pc:sldMk cId="0" sldId="259"/>
            <ac:picMk id="3" creationId="{00000000-0000-0000-0000-000000000000}"/>
          </ac:picMkLst>
        </pc:picChg>
      </pc:sldChg>
      <pc:sldChg chg="modSp mod">
        <pc:chgData name="John Quinn" userId="49ef7d68-749c-4dd8-b137-19339c5a9f8b" providerId="ADAL" clId="{23154D39-0448-4989-9750-5478DE3CE1CA}" dt="2026-05-29T14:13:25.022" v="61" actId="20577"/>
        <pc:sldMkLst>
          <pc:docMk/>
          <pc:sldMk cId="0" sldId="260"/>
        </pc:sldMkLst>
        <pc:graphicFrameChg chg="modGraphic">
          <ac:chgData name="John Quinn" userId="49ef7d68-749c-4dd8-b137-19339c5a9f8b" providerId="ADAL" clId="{23154D39-0448-4989-9750-5478DE3CE1CA}" dt="2026-05-29T14:13:25.022" v="61" actId="20577"/>
          <ac:graphicFrameMkLst>
            <pc:docMk/>
            <pc:sldMk cId="0" sldId="260"/>
            <ac:graphicFrameMk id="7" creationId="{00000000-0000-0000-0000-000000000000}"/>
          </ac:graphicFrameMkLst>
        </pc:graphicFrameChg>
      </pc:sldChg>
      <pc:sldChg chg="modSp del mod">
        <pc:chgData name="John Quinn" userId="49ef7d68-749c-4dd8-b137-19339c5a9f8b" providerId="ADAL" clId="{23154D39-0448-4989-9750-5478DE3CE1CA}" dt="2026-05-29T14:45:07.409" v="177" actId="47"/>
        <pc:sldMkLst>
          <pc:docMk/>
          <pc:sldMk cId="0" sldId="271"/>
        </pc:sldMkLst>
        <pc:graphicFrameChg chg="modGraphic">
          <ac:chgData name="John Quinn" userId="49ef7d68-749c-4dd8-b137-19339c5a9f8b" providerId="ADAL" clId="{23154D39-0448-4989-9750-5478DE3CE1CA}" dt="2026-05-29T14:32:20.955" v="171" actId="14734"/>
          <ac:graphicFrameMkLst>
            <pc:docMk/>
            <pc:sldMk cId="0" sldId="271"/>
            <ac:graphicFrameMk id="6" creationId="{00000000-0000-0000-0000-000000000000}"/>
          </ac:graphicFrameMkLst>
        </pc:graphicFrameChg>
      </pc:sldChg>
      <pc:sldChg chg="modSp mod">
        <pc:chgData name="John Quinn" userId="49ef7d68-749c-4dd8-b137-19339c5a9f8b" providerId="ADAL" clId="{23154D39-0448-4989-9750-5478DE3CE1CA}" dt="2026-05-29T14:26:15.347" v="125" actId="20577"/>
        <pc:sldMkLst>
          <pc:docMk/>
          <pc:sldMk cId="0" sldId="273"/>
        </pc:sldMkLst>
        <pc:spChg chg="mod">
          <ac:chgData name="John Quinn" userId="49ef7d68-749c-4dd8-b137-19339c5a9f8b" providerId="ADAL" clId="{23154D39-0448-4989-9750-5478DE3CE1CA}" dt="2026-05-29T14:25:16.982" v="64" actId="1076"/>
          <ac:spMkLst>
            <pc:docMk/>
            <pc:sldMk cId="0" sldId="273"/>
            <ac:spMk id="4" creationId="{00000000-0000-0000-0000-000000000000}"/>
          </ac:spMkLst>
        </pc:spChg>
        <pc:spChg chg="mod">
          <ac:chgData name="John Quinn" userId="49ef7d68-749c-4dd8-b137-19339c5a9f8b" providerId="ADAL" clId="{23154D39-0448-4989-9750-5478DE3CE1CA}" dt="2026-05-29T14:25:22.338" v="65" actId="1076"/>
          <ac:spMkLst>
            <pc:docMk/>
            <pc:sldMk cId="0" sldId="273"/>
            <ac:spMk id="5" creationId="{00000000-0000-0000-0000-000000000000}"/>
          </ac:spMkLst>
        </pc:spChg>
        <pc:spChg chg="mod">
          <ac:chgData name="John Quinn" userId="49ef7d68-749c-4dd8-b137-19339c5a9f8b" providerId="ADAL" clId="{23154D39-0448-4989-9750-5478DE3CE1CA}" dt="2026-05-29T14:25:16.982" v="64" actId="1076"/>
          <ac:spMkLst>
            <pc:docMk/>
            <pc:sldMk cId="0" sldId="273"/>
            <ac:spMk id="6" creationId="{00000000-0000-0000-0000-000000000000}"/>
          </ac:spMkLst>
        </pc:spChg>
        <pc:spChg chg="mod">
          <ac:chgData name="John Quinn" userId="49ef7d68-749c-4dd8-b137-19339c5a9f8b" providerId="ADAL" clId="{23154D39-0448-4989-9750-5478DE3CE1CA}" dt="2026-05-29T14:25:16.982" v="64" actId="1076"/>
          <ac:spMkLst>
            <pc:docMk/>
            <pc:sldMk cId="0" sldId="273"/>
            <ac:spMk id="8" creationId="{00000000-0000-0000-0000-000000000000}"/>
          </ac:spMkLst>
        </pc:spChg>
        <pc:spChg chg="mod">
          <ac:chgData name="John Quinn" userId="49ef7d68-749c-4dd8-b137-19339c5a9f8b" providerId="ADAL" clId="{23154D39-0448-4989-9750-5478DE3CE1CA}" dt="2026-05-29T14:25:24.045" v="66" actId="1076"/>
          <ac:spMkLst>
            <pc:docMk/>
            <pc:sldMk cId="0" sldId="273"/>
            <ac:spMk id="9" creationId="{00000000-0000-0000-0000-000000000000}"/>
          </ac:spMkLst>
        </pc:spChg>
        <pc:spChg chg="mod">
          <ac:chgData name="John Quinn" userId="49ef7d68-749c-4dd8-b137-19339c5a9f8b" providerId="ADAL" clId="{23154D39-0448-4989-9750-5478DE3CE1CA}" dt="2026-05-29T14:25:16.982" v="64" actId="1076"/>
          <ac:spMkLst>
            <pc:docMk/>
            <pc:sldMk cId="0" sldId="273"/>
            <ac:spMk id="10" creationId="{00000000-0000-0000-0000-000000000000}"/>
          </ac:spMkLst>
        </pc:spChg>
        <pc:spChg chg="mod">
          <ac:chgData name="John Quinn" userId="49ef7d68-749c-4dd8-b137-19339c5a9f8b" providerId="ADAL" clId="{23154D39-0448-4989-9750-5478DE3CE1CA}" dt="2026-05-29T14:25:16.982" v="64" actId="1076"/>
          <ac:spMkLst>
            <pc:docMk/>
            <pc:sldMk cId="0" sldId="273"/>
            <ac:spMk id="11" creationId="{00000000-0000-0000-0000-000000000000}"/>
          </ac:spMkLst>
        </pc:spChg>
        <pc:spChg chg="mod">
          <ac:chgData name="John Quinn" userId="49ef7d68-749c-4dd8-b137-19339c5a9f8b" providerId="ADAL" clId="{23154D39-0448-4989-9750-5478DE3CE1CA}" dt="2026-05-29T14:26:15.347" v="125" actId="20577"/>
          <ac:spMkLst>
            <pc:docMk/>
            <pc:sldMk cId="0" sldId="273"/>
            <ac:spMk id="12" creationId="{00000000-0000-0000-0000-000000000000}"/>
          </ac:spMkLst>
        </pc:spChg>
        <pc:graphicFrameChg chg="mod">
          <ac:chgData name="John Quinn" userId="49ef7d68-749c-4dd8-b137-19339c5a9f8b" providerId="ADAL" clId="{23154D39-0448-4989-9750-5478DE3CE1CA}" dt="2026-05-29T14:25:16.982" v="64" actId="1076"/>
          <ac:graphicFrameMkLst>
            <pc:docMk/>
            <pc:sldMk cId="0" sldId="273"/>
            <ac:graphicFrameMk id="7" creationId="{00000000-0000-0000-0000-000000000000}"/>
          </ac:graphicFrameMkLst>
        </pc:graphicFrameChg>
        <pc:picChg chg="mod">
          <ac:chgData name="John Quinn" userId="49ef7d68-749c-4dd8-b137-19339c5a9f8b" providerId="ADAL" clId="{23154D39-0448-4989-9750-5478DE3CE1CA}" dt="2026-05-29T14:25:02.974" v="63" actId="1076"/>
          <ac:picMkLst>
            <pc:docMk/>
            <pc:sldMk cId="0" sldId="273"/>
            <ac:picMk id="3" creationId="{00000000-0000-0000-0000-000000000000}"/>
          </ac:picMkLst>
        </pc:picChg>
      </pc:sldChg>
      <pc:sldChg chg="new del">
        <pc:chgData name="John Quinn" userId="49ef7d68-749c-4dd8-b137-19339c5a9f8b" providerId="ADAL" clId="{23154D39-0448-4989-9750-5478DE3CE1CA}" dt="2026-05-29T14:45:00.849" v="176" actId="47"/>
        <pc:sldMkLst>
          <pc:docMk/>
          <pc:sldMk cId="2135662639" sldId="275"/>
        </pc:sldMkLst>
      </pc:sldChg>
      <pc:sldChg chg="modSp add del mod">
        <pc:chgData name="John Quinn" userId="49ef7d68-749c-4dd8-b137-19339c5a9f8b" providerId="ADAL" clId="{23154D39-0448-4989-9750-5478DE3CE1CA}" dt="2026-05-29T14:45:49.293" v="180" actId="207"/>
        <pc:sldMkLst>
          <pc:docMk/>
          <pc:sldMk cId="3544984704" sldId="509"/>
        </pc:sldMkLst>
        <pc:spChg chg="mod">
          <ac:chgData name="John Quinn" userId="49ef7d68-749c-4dd8-b137-19339c5a9f8b" providerId="ADAL" clId="{23154D39-0448-4989-9750-5478DE3CE1CA}" dt="2026-05-29T14:45:49.293" v="180" actId="207"/>
          <ac:spMkLst>
            <pc:docMk/>
            <pc:sldMk cId="3544984704" sldId="509"/>
            <ac:spMk id="7" creationId="{8CEE4A3B-D5AA-4F4B-A889-F56EFE3A7470}"/>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7CC777D-4F34-4166-9651-B274DC47FB56}" type="doc">
      <dgm:prSet loTypeId="urn:microsoft.com/office/officeart/2011/layout/ConvergingText" loCatId="process" qsTypeId="urn:microsoft.com/office/officeart/2005/8/quickstyle/simple1" qsCatId="simple" csTypeId="urn:microsoft.com/office/officeart/2005/8/colors/accent1_2" csCatId="accent1" phldr="1"/>
      <dgm:spPr/>
      <dgm:t>
        <a:bodyPr/>
        <a:lstStyle/>
        <a:p>
          <a:endParaRPr lang="en-US"/>
        </a:p>
      </dgm:t>
    </dgm:pt>
    <dgm:pt modelId="{927A0650-4234-49E7-B1AD-6E709BF2AFE4}">
      <dgm:prSet phldrT="[Text]"/>
      <dgm:spPr>
        <a:solidFill>
          <a:srgbClr val="FF0000"/>
        </a:solidFill>
        <a:ln>
          <a:noFill/>
        </a:ln>
      </dgm:spPr>
      <dgm:t>
        <a:bodyPr/>
        <a:lstStyle/>
        <a:p>
          <a:r>
            <a:rPr lang="en-US" dirty="0"/>
            <a:t>2029-30 EXIT Potentials</a:t>
          </a:r>
        </a:p>
      </dgm:t>
    </dgm:pt>
    <dgm:pt modelId="{E1CACB15-3B57-4E0C-A641-4FCEA9DDAF84}" type="parTrans" cxnId="{01028D4F-2286-47C6-9DD0-DF5361141186}">
      <dgm:prSet/>
      <dgm:spPr/>
      <dgm:t>
        <a:bodyPr/>
        <a:lstStyle/>
        <a:p>
          <a:endParaRPr lang="en-US"/>
        </a:p>
      </dgm:t>
    </dgm:pt>
    <dgm:pt modelId="{2812E164-C59F-48D0-B7B9-E22E0DC29FC9}" type="sibTrans" cxnId="{01028D4F-2286-47C6-9DD0-DF5361141186}">
      <dgm:prSet/>
      <dgm:spPr/>
      <dgm:t>
        <a:bodyPr/>
        <a:lstStyle/>
        <a:p>
          <a:endParaRPr lang="en-US"/>
        </a:p>
      </dgm:t>
    </dgm:pt>
    <dgm:pt modelId="{FA70011F-51B1-4453-BC10-DE795A85EFBA}">
      <dgm:prSet phldrT="[Text]" custT="1"/>
      <dgm:spPr/>
      <dgm:t>
        <a:bodyPr/>
        <a:lstStyle/>
        <a:p>
          <a:r>
            <a:rPr lang="en-US" sz="1100" b="0" i="0" dirty="0">
              <a:latin typeface="Duplicate Sans Light" pitchFamily="2" charset="77"/>
            </a:rPr>
            <a:t>Initial Public Offering</a:t>
          </a:r>
        </a:p>
      </dgm:t>
    </dgm:pt>
    <dgm:pt modelId="{D0979CA6-1D30-4877-9543-7C186D38B936}" type="parTrans" cxnId="{19F0D729-3223-40F0-9760-CCBBDAE35251}">
      <dgm:prSet/>
      <dgm:spPr/>
      <dgm:t>
        <a:bodyPr/>
        <a:lstStyle/>
        <a:p>
          <a:endParaRPr lang="en-US"/>
        </a:p>
      </dgm:t>
    </dgm:pt>
    <dgm:pt modelId="{C16DB434-0890-49C7-AA10-BC4B31EBAC40}" type="sibTrans" cxnId="{19F0D729-3223-40F0-9760-CCBBDAE35251}">
      <dgm:prSet/>
      <dgm:spPr/>
      <dgm:t>
        <a:bodyPr/>
        <a:lstStyle/>
        <a:p>
          <a:endParaRPr lang="en-US"/>
        </a:p>
      </dgm:t>
    </dgm:pt>
    <dgm:pt modelId="{15A89210-B323-4C6E-AC5E-98A7F48139D8}">
      <dgm:prSet phldrT="[Text]" custT="1"/>
      <dgm:spPr/>
      <dgm:t>
        <a:bodyPr/>
        <a:lstStyle/>
        <a:p>
          <a:r>
            <a:rPr lang="en-US" sz="1100" b="0" i="0" dirty="0">
              <a:latin typeface="Duplicate Sans Light" pitchFamily="2" charset="77"/>
            </a:rPr>
            <a:t>DoD Contract</a:t>
          </a:r>
        </a:p>
      </dgm:t>
    </dgm:pt>
    <dgm:pt modelId="{29788081-3892-4317-B7B2-F39CBED0B5E7}" type="parTrans" cxnId="{81CCDE4D-9226-49F0-B0DE-B2AC678214F7}">
      <dgm:prSet/>
      <dgm:spPr/>
      <dgm:t>
        <a:bodyPr/>
        <a:lstStyle/>
        <a:p>
          <a:endParaRPr lang="en-US"/>
        </a:p>
      </dgm:t>
    </dgm:pt>
    <dgm:pt modelId="{09979BAB-9900-4C4C-A017-BB9E624FF013}" type="sibTrans" cxnId="{81CCDE4D-9226-49F0-B0DE-B2AC678214F7}">
      <dgm:prSet/>
      <dgm:spPr/>
      <dgm:t>
        <a:bodyPr/>
        <a:lstStyle/>
        <a:p>
          <a:endParaRPr lang="en-US"/>
        </a:p>
      </dgm:t>
    </dgm:pt>
    <dgm:pt modelId="{C34C1816-98FA-46EE-97D2-68DE722368A3}">
      <dgm:prSet phldrT="[Text]" custT="1"/>
      <dgm:spPr/>
      <dgm:t>
        <a:bodyPr/>
        <a:lstStyle/>
        <a:p>
          <a:r>
            <a:rPr lang="en-US" sz="1000" b="0" i="0" dirty="0">
              <a:latin typeface="Duplicate Sans Light" pitchFamily="2" charset="77"/>
            </a:rPr>
            <a:t>Positioned for Merger or Acquisition</a:t>
          </a:r>
          <a:endParaRPr lang="en-US" sz="1000" b="0" i="0" dirty="0">
            <a:solidFill>
              <a:schemeClr val="bg1">
                <a:lumMod val="50000"/>
                <a:lumOff val="50000"/>
              </a:schemeClr>
            </a:solidFill>
            <a:latin typeface="Duplicate Sans Light" pitchFamily="2" charset="77"/>
          </a:endParaRPr>
        </a:p>
      </dgm:t>
    </dgm:pt>
    <dgm:pt modelId="{B40783BA-3157-42A6-987B-E2FA80E53C8C}" type="parTrans" cxnId="{86239370-A29A-4912-898C-90E81CD9EE70}">
      <dgm:prSet/>
      <dgm:spPr/>
      <dgm:t>
        <a:bodyPr/>
        <a:lstStyle/>
        <a:p>
          <a:endParaRPr lang="en-US"/>
        </a:p>
      </dgm:t>
    </dgm:pt>
    <dgm:pt modelId="{E3C3675F-8574-4BA4-8A55-EF903A461029}" type="sibTrans" cxnId="{86239370-A29A-4912-898C-90E81CD9EE70}">
      <dgm:prSet/>
      <dgm:spPr/>
      <dgm:t>
        <a:bodyPr/>
        <a:lstStyle/>
        <a:p>
          <a:endParaRPr lang="en-US"/>
        </a:p>
      </dgm:t>
    </dgm:pt>
    <dgm:pt modelId="{E446A5D3-25FD-44D2-A486-8936DCD1D336}" type="pres">
      <dgm:prSet presAssocID="{C7CC777D-4F34-4166-9651-B274DC47FB56}" presName="Name0" presStyleCnt="0">
        <dgm:presLayoutVars>
          <dgm:chMax/>
          <dgm:chPref val="1"/>
          <dgm:dir/>
          <dgm:animOne val="branch"/>
          <dgm:animLvl val="lvl"/>
          <dgm:resizeHandles/>
        </dgm:presLayoutVars>
      </dgm:prSet>
      <dgm:spPr/>
    </dgm:pt>
    <dgm:pt modelId="{6C205E5A-3807-4FB9-9538-72F8BCBA05D8}" type="pres">
      <dgm:prSet presAssocID="{927A0650-4234-49E7-B1AD-6E709BF2AFE4}" presName="composite" presStyleCnt="0"/>
      <dgm:spPr/>
    </dgm:pt>
    <dgm:pt modelId="{0259AEF4-7421-4E81-9618-2E5C7161636E}" type="pres">
      <dgm:prSet presAssocID="{927A0650-4234-49E7-B1AD-6E709BF2AFE4}" presName="ParentAccent1" presStyleLbl="alignNode1" presStyleIdx="0" presStyleCnt="34"/>
      <dgm:spPr>
        <a:solidFill>
          <a:srgbClr val="FF0000"/>
        </a:solidFill>
        <a:ln>
          <a:noFill/>
        </a:ln>
      </dgm:spPr>
    </dgm:pt>
    <dgm:pt modelId="{63AF966E-8D6D-48FA-873C-46E931BD833D}" type="pres">
      <dgm:prSet presAssocID="{927A0650-4234-49E7-B1AD-6E709BF2AFE4}" presName="ParentAccent2" presStyleLbl="alignNode1" presStyleIdx="1" presStyleCnt="34"/>
      <dgm:spPr>
        <a:solidFill>
          <a:srgbClr val="FF0000"/>
        </a:solidFill>
        <a:ln>
          <a:noFill/>
        </a:ln>
      </dgm:spPr>
    </dgm:pt>
    <dgm:pt modelId="{B80959DB-28D6-4CEE-BDEA-44F98A4CEE49}" type="pres">
      <dgm:prSet presAssocID="{927A0650-4234-49E7-B1AD-6E709BF2AFE4}" presName="ParentAccent3" presStyleLbl="alignNode1" presStyleIdx="2" presStyleCnt="34"/>
      <dgm:spPr>
        <a:solidFill>
          <a:srgbClr val="FF0000"/>
        </a:solidFill>
        <a:ln>
          <a:noFill/>
        </a:ln>
      </dgm:spPr>
    </dgm:pt>
    <dgm:pt modelId="{DFBC5DD1-6060-4D48-BD7F-2BC0F265DD65}" type="pres">
      <dgm:prSet presAssocID="{927A0650-4234-49E7-B1AD-6E709BF2AFE4}" presName="ParentAccent4" presStyleLbl="alignNode1" presStyleIdx="3" presStyleCnt="34"/>
      <dgm:spPr>
        <a:solidFill>
          <a:srgbClr val="FF0000"/>
        </a:solidFill>
        <a:ln>
          <a:noFill/>
        </a:ln>
      </dgm:spPr>
    </dgm:pt>
    <dgm:pt modelId="{E43ADEE5-A519-4489-8D26-96FB34D57305}" type="pres">
      <dgm:prSet presAssocID="{927A0650-4234-49E7-B1AD-6E709BF2AFE4}" presName="ParentAccent5" presStyleLbl="alignNode1" presStyleIdx="4" presStyleCnt="34"/>
      <dgm:spPr>
        <a:solidFill>
          <a:srgbClr val="FF0000"/>
        </a:solidFill>
        <a:ln>
          <a:noFill/>
        </a:ln>
      </dgm:spPr>
    </dgm:pt>
    <dgm:pt modelId="{9A391C6C-CCB5-4E08-8F88-62D62AF953C4}" type="pres">
      <dgm:prSet presAssocID="{927A0650-4234-49E7-B1AD-6E709BF2AFE4}" presName="ParentAccent6" presStyleLbl="alignNode1" presStyleIdx="5" presStyleCnt="34"/>
      <dgm:spPr>
        <a:solidFill>
          <a:srgbClr val="FF0000"/>
        </a:solidFill>
        <a:ln>
          <a:noFill/>
        </a:ln>
      </dgm:spPr>
    </dgm:pt>
    <dgm:pt modelId="{CB5C31B4-1748-4468-9A09-30EE4D5578C3}" type="pres">
      <dgm:prSet presAssocID="{927A0650-4234-49E7-B1AD-6E709BF2AFE4}" presName="ParentAccent7" presStyleLbl="alignNode1" presStyleIdx="6" presStyleCnt="34"/>
      <dgm:spPr>
        <a:solidFill>
          <a:srgbClr val="FF0000"/>
        </a:solidFill>
        <a:ln>
          <a:noFill/>
        </a:ln>
      </dgm:spPr>
    </dgm:pt>
    <dgm:pt modelId="{E0C61048-F64E-4273-860E-CEE04FDE7F09}" type="pres">
      <dgm:prSet presAssocID="{927A0650-4234-49E7-B1AD-6E709BF2AFE4}" presName="ParentAccent8" presStyleLbl="alignNode1" presStyleIdx="7" presStyleCnt="34"/>
      <dgm:spPr>
        <a:solidFill>
          <a:srgbClr val="FF0000"/>
        </a:solidFill>
        <a:ln>
          <a:noFill/>
        </a:ln>
      </dgm:spPr>
    </dgm:pt>
    <dgm:pt modelId="{8B5ADAF4-7512-401E-AAD9-8012D2FA10D9}" type="pres">
      <dgm:prSet presAssocID="{927A0650-4234-49E7-B1AD-6E709BF2AFE4}" presName="ParentAccent9" presStyleLbl="alignNode1" presStyleIdx="8" presStyleCnt="34"/>
      <dgm:spPr>
        <a:solidFill>
          <a:srgbClr val="FF0000"/>
        </a:solidFill>
        <a:ln>
          <a:noFill/>
        </a:ln>
      </dgm:spPr>
    </dgm:pt>
    <dgm:pt modelId="{7799C585-58BC-426E-95E9-66A3F1BFA4FC}" type="pres">
      <dgm:prSet presAssocID="{927A0650-4234-49E7-B1AD-6E709BF2AFE4}" presName="ParentAccent10" presStyleLbl="alignNode1" presStyleIdx="9" presStyleCnt="34"/>
      <dgm:spPr>
        <a:solidFill>
          <a:srgbClr val="FF0000"/>
        </a:solidFill>
        <a:ln>
          <a:noFill/>
        </a:ln>
      </dgm:spPr>
    </dgm:pt>
    <dgm:pt modelId="{CC31440D-521E-48F6-AE66-FADC6789ECE6}" type="pres">
      <dgm:prSet presAssocID="{927A0650-4234-49E7-B1AD-6E709BF2AFE4}" presName="Parent" presStyleLbl="alignNode1" presStyleIdx="10" presStyleCnt="34" custScaleX="148014" custScaleY="145578" custLinFactNeighborX="29630" custLinFactNeighborY="-738">
        <dgm:presLayoutVars>
          <dgm:chMax val="5"/>
          <dgm:chPref val="3"/>
          <dgm:bulletEnabled val="1"/>
        </dgm:presLayoutVars>
      </dgm:prSet>
      <dgm:spPr/>
    </dgm:pt>
    <dgm:pt modelId="{3801B84F-CA6C-4196-BD13-DCD3EB8709B5}" type="pres">
      <dgm:prSet presAssocID="{FA70011F-51B1-4453-BC10-DE795A85EFBA}" presName="Child1Accent1" presStyleLbl="alignNode1" presStyleIdx="11" presStyleCnt="34"/>
      <dgm:spPr>
        <a:solidFill>
          <a:srgbClr val="FF0000"/>
        </a:solidFill>
        <a:ln>
          <a:noFill/>
        </a:ln>
      </dgm:spPr>
    </dgm:pt>
    <dgm:pt modelId="{EA7F15F4-BC11-452B-AD11-8558DE40472F}" type="pres">
      <dgm:prSet presAssocID="{FA70011F-51B1-4453-BC10-DE795A85EFBA}" presName="Child1Accent2" presStyleLbl="alignNode1" presStyleIdx="12" presStyleCnt="34"/>
      <dgm:spPr>
        <a:solidFill>
          <a:srgbClr val="FF0000"/>
        </a:solidFill>
        <a:ln>
          <a:noFill/>
        </a:ln>
      </dgm:spPr>
    </dgm:pt>
    <dgm:pt modelId="{E1C307BD-6D13-4973-A92E-E36C9AAE84D7}" type="pres">
      <dgm:prSet presAssocID="{FA70011F-51B1-4453-BC10-DE795A85EFBA}" presName="Child1Accent3" presStyleLbl="alignNode1" presStyleIdx="13" presStyleCnt="34"/>
      <dgm:spPr>
        <a:solidFill>
          <a:srgbClr val="FF0000"/>
        </a:solidFill>
        <a:ln>
          <a:noFill/>
        </a:ln>
      </dgm:spPr>
    </dgm:pt>
    <dgm:pt modelId="{C59FF9DA-0E2A-44B3-8FD5-174FD97A1E12}" type="pres">
      <dgm:prSet presAssocID="{FA70011F-51B1-4453-BC10-DE795A85EFBA}" presName="Child1Accent4" presStyleLbl="alignNode1" presStyleIdx="14" presStyleCnt="34"/>
      <dgm:spPr>
        <a:solidFill>
          <a:srgbClr val="FF0000"/>
        </a:solidFill>
        <a:ln>
          <a:noFill/>
        </a:ln>
      </dgm:spPr>
    </dgm:pt>
    <dgm:pt modelId="{023771EB-27EA-42B2-8076-28D155A65C87}" type="pres">
      <dgm:prSet presAssocID="{FA70011F-51B1-4453-BC10-DE795A85EFBA}" presName="Child1Accent5" presStyleLbl="alignNode1" presStyleIdx="15" presStyleCnt="34"/>
      <dgm:spPr>
        <a:solidFill>
          <a:srgbClr val="FF0000"/>
        </a:solidFill>
        <a:ln>
          <a:noFill/>
        </a:ln>
      </dgm:spPr>
    </dgm:pt>
    <dgm:pt modelId="{5A673C9A-B60F-4208-A783-2C306272D0C7}" type="pres">
      <dgm:prSet presAssocID="{FA70011F-51B1-4453-BC10-DE795A85EFBA}" presName="Child1Accent6" presStyleLbl="alignNode1" presStyleIdx="16" presStyleCnt="34"/>
      <dgm:spPr>
        <a:solidFill>
          <a:srgbClr val="FF0000"/>
        </a:solidFill>
        <a:ln>
          <a:noFill/>
        </a:ln>
      </dgm:spPr>
    </dgm:pt>
    <dgm:pt modelId="{094A2FA5-8DD5-4DA3-88A9-3BA586EC30CE}" type="pres">
      <dgm:prSet presAssocID="{FA70011F-51B1-4453-BC10-DE795A85EFBA}" presName="Child1Accent7" presStyleLbl="alignNode1" presStyleIdx="17" presStyleCnt="34"/>
      <dgm:spPr>
        <a:solidFill>
          <a:srgbClr val="FF0000"/>
        </a:solidFill>
        <a:ln>
          <a:noFill/>
        </a:ln>
      </dgm:spPr>
    </dgm:pt>
    <dgm:pt modelId="{5A7FCF40-FD69-45FC-B8A9-DFA846EA5726}" type="pres">
      <dgm:prSet presAssocID="{FA70011F-51B1-4453-BC10-DE795A85EFBA}" presName="Child1Accent8" presStyleLbl="alignNode1" presStyleIdx="18" presStyleCnt="34"/>
      <dgm:spPr/>
    </dgm:pt>
    <dgm:pt modelId="{C5E25861-CBCB-4D8C-A7A6-F748811EE72E}" type="pres">
      <dgm:prSet presAssocID="{FA70011F-51B1-4453-BC10-DE795A85EFBA}" presName="Child1Accent9" presStyleLbl="alignNode1" presStyleIdx="19" presStyleCnt="34"/>
      <dgm:spPr/>
    </dgm:pt>
    <dgm:pt modelId="{9C9BB9A4-66D1-45DD-93B1-4A54B30FC142}" type="pres">
      <dgm:prSet presAssocID="{FA70011F-51B1-4453-BC10-DE795A85EFBA}" presName="Child1" presStyleLbl="revTx" presStyleIdx="0" presStyleCnt="3" custScaleX="196157" custLinFactNeighborX="4716" custLinFactNeighborY="-20255">
        <dgm:presLayoutVars>
          <dgm:chMax/>
          <dgm:chPref val="0"/>
          <dgm:bulletEnabled val="1"/>
        </dgm:presLayoutVars>
      </dgm:prSet>
      <dgm:spPr/>
    </dgm:pt>
    <dgm:pt modelId="{C515A8E6-8F9B-4090-A741-161B997A863B}" type="pres">
      <dgm:prSet presAssocID="{15A89210-B323-4C6E-AC5E-98A7F48139D8}" presName="Child2Accent1" presStyleLbl="alignNode1" presStyleIdx="20" presStyleCnt="34" custLinFactNeighborY="-81655"/>
      <dgm:spPr>
        <a:solidFill>
          <a:srgbClr val="FF0000"/>
        </a:solidFill>
        <a:ln>
          <a:noFill/>
        </a:ln>
      </dgm:spPr>
    </dgm:pt>
    <dgm:pt modelId="{619C3C34-D496-497C-9090-22A187BB6CAF}" type="pres">
      <dgm:prSet presAssocID="{15A89210-B323-4C6E-AC5E-98A7F48139D8}" presName="Child2Accent2" presStyleLbl="alignNode1" presStyleIdx="21" presStyleCnt="34" custLinFactY="-66638" custLinFactNeighborY="-100000"/>
      <dgm:spPr>
        <a:solidFill>
          <a:srgbClr val="FF0000"/>
        </a:solidFill>
        <a:ln>
          <a:noFill/>
        </a:ln>
      </dgm:spPr>
    </dgm:pt>
    <dgm:pt modelId="{051D6D60-3189-401A-AA9D-CE95987530A1}" type="pres">
      <dgm:prSet presAssocID="{15A89210-B323-4C6E-AC5E-98A7F48139D8}" presName="Child2Accent3" presStyleLbl="alignNode1" presStyleIdx="22" presStyleCnt="34" custLinFactY="-66638" custLinFactNeighborY="-100000"/>
      <dgm:spPr>
        <a:solidFill>
          <a:srgbClr val="FF0000"/>
        </a:solidFill>
        <a:ln>
          <a:noFill/>
        </a:ln>
      </dgm:spPr>
    </dgm:pt>
    <dgm:pt modelId="{4C59A25A-0308-4E47-9A15-2B8D72675750}" type="pres">
      <dgm:prSet presAssocID="{15A89210-B323-4C6E-AC5E-98A7F48139D8}" presName="Child2Accent4" presStyleLbl="alignNode1" presStyleIdx="23" presStyleCnt="34" custLinFactY="-66638" custLinFactNeighborY="-100000"/>
      <dgm:spPr>
        <a:solidFill>
          <a:srgbClr val="FF0000"/>
        </a:solidFill>
        <a:ln>
          <a:noFill/>
        </a:ln>
      </dgm:spPr>
    </dgm:pt>
    <dgm:pt modelId="{70CAEBDA-7E84-401A-A48E-50421F3BF1B9}" type="pres">
      <dgm:prSet presAssocID="{15A89210-B323-4C6E-AC5E-98A7F48139D8}" presName="Child2Accent5" presStyleLbl="alignNode1" presStyleIdx="24" presStyleCnt="34" custLinFactY="-66638" custLinFactNeighborY="-100000"/>
      <dgm:spPr>
        <a:solidFill>
          <a:srgbClr val="FF0000"/>
        </a:solidFill>
        <a:ln>
          <a:noFill/>
        </a:ln>
      </dgm:spPr>
    </dgm:pt>
    <dgm:pt modelId="{DC29DA05-5B98-4595-BFEA-ADC31E38B2A4}" type="pres">
      <dgm:prSet presAssocID="{15A89210-B323-4C6E-AC5E-98A7F48139D8}" presName="Child2Accent6" presStyleLbl="alignNode1" presStyleIdx="25" presStyleCnt="34" custLinFactY="-66638" custLinFactNeighborY="-100000"/>
      <dgm:spPr>
        <a:solidFill>
          <a:srgbClr val="FF0000"/>
        </a:solidFill>
        <a:ln>
          <a:noFill/>
        </a:ln>
      </dgm:spPr>
    </dgm:pt>
    <dgm:pt modelId="{3F764BE7-CE73-4351-87F3-F61B29AA2A7B}" type="pres">
      <dgm:prSet presAssocID="{15A89210-B323-4C6E-AC5E-98A7F48139D8}" presName="Child2Accent7" presStyleLbl="alignNode1" presStyleIdx="26" presStyleCnt="34"/>
      <dgm:spPr/>
    </dgm:pt>
    <dgm:pt modelId="{EA0B2825-37D1-4083-8219-4BF166B1B287}" type="pres">
      <dgm:prSet presAssocID="{15A89210-B323-4C6E-AC5E-98A7F48139D8}" presName="Child2" presStyleLbl="revTx" presStyleIdx="1" presStyleCnt="3" custScaleX="224879" custScaleY="134806" custLinFactY="-1671" custLinFactNeighborX="5100" custLinFactNeighborY="-100000">
        <dgm:presLayoutVars>
          <dgm:chMax/>
          <dgm:chPref val="0"/>
          <dgm:bulletEnabled val="1"/>
        </dgm:presLayoutVars>
      </dgm:prSet>
      <dgm:spPr/>
    </dgm:pt>
    <dgm:pt modelId="{40749508-DE86-4E15-8B6B-2C5852BFD44D}" type="pres">
      <dgm:prSet presAssocID="{C34C1816-98FA-46EE-97D2-68DE722368A3}" presName="Child3Accent1" presStyleLbl="alignNode1" presStyleIdx="27" presStyleCnt="34"/>
      <dgm:spPr>
        <a:solidFill>
          <a:srgbClr val="FF0000"/>
        </a:solidFill>
        <a:ln>
          <a:noFill/>
        </a:ln>
      </dgm:spPr>
    </dgm:pt>
    <dgm:pt modelId="{62AD223F-77C0-4827-A09D-8B63847CB5EF}" type="pres">
      <dgm:prSet presAssocID="{C34C1816-98FA-46EE-97D2-68DE722368A3}" presName="Child3Accent2" presStyleLbl="alignNode1" presStyleIdx="28" presStyleCnt="34"/>
      <dgm:spPr>
        <a:solidFill>
          <a:srgbClr val="FF0000"/>
        </a:solidFill>
        <a:ln>
          <a:noFill/>
        </a:ln>
      </dgm:spPr>
    </dgm:pt>
    <dgm:pt modelId="{C02A46F8-6F87-43B9-ADB9-43B46A7E53CB}" type="pres">
      <dgm:prSet presAssocID="{C34C1816-98FA-46EE-97D2-68DE722368A3}" presName="Child3Accent3" presStyleLbl="alignNode1" presStyleIdx="29" presStyleCnt="34"/>
      <dgm:spPr>
        <a:solidFill>
          <a:srgbClr val="FF0000"/>
        </a:solidFill>
        <a:ln>
          <a:noFill/>
        </a:ln>
      </dgm:spPr>
    </dgm:pt>
    <dgm:pt modelId="{7DF0A8AA-EC07-4717-B17C-A2254B45EB22}" type="pres">
      <dgm:prSet presAssocID="{C34C1816-98FA-46EE-97D2-68DE722368A3}" presName="Child3Accent4" presStyleLbl="alignNode1" presStyleIdx="30" presStyleCnt="34"/>
      <dgm:spPr>
        <a:solidFill>
          <a:srgbClr val="FF0000"/>
        </a:solidFill>
        <a:ln>
          <a:noFill/>
        </a:ln>
      </dgm:spPr>
    </dgm:pt>
    <dgm:pt modelId="{A366387B-EFC0-4567-894F-B8995322A132}" type="pres">
      <dgm:prSet presAssocID="{C34C1816-98FA-46EE-97D2-68DE722368A3}" presName="Child3Accent5" presStyleLbl="alignNode1" presStyleIdx="31" presStyleCnt="34"/>
      <dgm:spPr>
        <a:solidFill>
          <a:srgbClr val="FF0000"/>
        </a:solidFill>
        <a:ln>
          <a:noFill/>
        </a:ln>
      </dgm:spPr>
    </dgm:pt>
    <dgm:pt modelId="{A11E41D5-29A0-4139-ADCF-F2CEC06D1224}" type="pres">
      <dgm:prSet presAssocID="{C34C1816-98FA-46EE-97D2-68DE722368A3}" presName="Child3Accent6" presStyleLbl="alignNode1" presStyleIdx="32" presStyleCnt="34"/>
      <dgm:spPr>
        <a:solidFill>
          <a:srgbClr val="FF0000"/>
        </a:solidFill>
        <a:ln>
          <a:noFill/>
        </a:ln>
      </dgm:spPr>
    </dgm:pt>
    <dgm:pt modelId="{B7DC1A33-7999-4FC0-80DE-FB25EB38A9DA}" type="pres">
      <dgm:prSet presAssocID="{C34C1816-98FA-46EE-97D2-68DE722368A3}" presName="Child3Accent7" presStyleLbl="alignNode1" presStyleIdx="33" presStyleCnt="34"/>
      <dgm:spPr>
        <a:solidFill>
          <a:srgbClr val="FF0000"/>
        </a:solidFill>
        <a:ln>
          <a:noFill/>
        </a:ln>
      </dgm:spPr>
    </dgm:pt>
    <dgm:pt modelId="{7038A793-37D7-476F-9873-92C9576E4F36}" type="pres">
      <dgm:prSet presAssocID="{C34C1816-98FA-46EE-97D2-68DE722368A3}" presName="Child3" presStyleLbl="revTx" presStyleIdx="2" presStyleCnt="3" custScaleX="151505" custScaleY="298748" custLinFactY="-24122" custLinFactNeighborX="-17610" custLinFactNeighborY="-100000">
        <dgm:presLayoutVars>
          <dgm:chMax/>
          <dgm:chPref val="0"/>
          <dgm:bulletEnabled val="1"/>
        </dgm:presLayoutVars>
      </dgm:prSet>
      <dgm:spPr/>
    </dgm:pt>
  </dgm:ptLst>
  <dgm:cxnLst>
    <dgm:cxn modelId="{19F0D729-3223-40F0-9760-CCBBDAE35251}" srcId="{927A0650-4234-49E7-B1AD-6E709BF2AFE4}" destId="{FA70011F-51B1-4453-BC10-DE795A85EFBA}" srcOrd="0" destOrd="0" parTransId="{D0979CA6-1D30-4877-9543-7C186D38B936}" sibTransId="{C16DB434-0890-49C7-AA10-BC4B31EBAC40}"/>
    <dgm:cxn modelId="{81CCDE4D-9226-49F0-B0DE-B2AC678214F7}" srcId="{927A0650-4234-49E7-B1AD-6E709BF2AFE4}" destId="{15A89210-B323-4C6E-AC5E-98A7F48139D8}" srcOrd="1" destOrd="0" parTransId="{29788081-3892-4317-B7B2-F39CBED0B5E7}" sibTransId="{09979BAB-9900-4C4C-A017-BB9E624FF013}"/>
    <dgm:cxn modelId="{01028D4F-2286-47C6-9DD0-DF5361141186}" srcId="{C7CC777D-4F34-4166-9651-B274DC47FB56}" destId="{927A0650-4234-49E7-B1AD-6E709BF2AFE4}" srcOrd="0" destOrd="0" parTransId="{E1CACB15-3B57-4E0C-A641-4FCEA9DDAF84}" sibTransId="{2812E164-C59F-48D0-B7B9-E22E0DC29FC9}"/>
    <dgm:cxn modelId="{86239370-A29A-4912-898C-90E81CD9EE70}" srcId="{927A0650-4234-49E7-B1AD-6E709BF2AFE4}" destId="{C34C1816-98FA-46EE-97D2-68DE722368A3}" srcOrd="2" destOrd="0" parTransId="{B40783BA-3157-42A6-987B-E2FA80E53C8C}" sibTransId="{E3C3675F-8574-4BA4-8A55-EF903A461029}"/>
    <dgm:cxn modelId="{999D805A-F071-4167-A6B4-5E7396E90F0C}" type="presOf" srcId="{FA70011F-51B1-4453-BC10-DE795A85EFBA}" destId="{9C9BB9A4-66D1-45DD-93B1-4A54B30FC142}" srcOrd="0" destOrd="0" presId="urn:microsoft.com/office/officeart/2011/layout/ConvergingText"/>
    <dgm:cxn modelId="{3EAD74A4-F3FF-4917-B840-7E9A6EB47814}" type="presOf" srcId="{C7CC777D-4F34-4166-9651-B274DC47FB56}" destId="{E446A5D3-25FD-44D2-A486-8936DCD1D336}" srcOrd="0" destOrd="0" presId="urn:microsoft.com/office/officeart/2011/layout/ConvergingText"/>
    <dgm:cxn modelId="{56E852A7-9851-47F9-A91F-C1BB2C81D60E}" type="presOf" srcId="{15A89210-B323-4C6E-AC5E-98A7F48139D8}" destId="{EA0B2825-37D1-4083-8219-4BF166B1B287}" srcOrd="0" destOrd="0" presId="urn:microsoft.com/office/officeart/2011/layout/ConvergingText"/>
    <dgm:cxn modelId="{6BF843DA-317F-466F-9B54-8E72CAF90071}" type="presOf" srcId="{927A0650-4234-49E7-B1AD-6E709BF2AFE4}" destId="{CC31440D-521E-48F6-AE66-FADC6789ECE6}" srcOrd="0" destOrd="0" presId="urn:microsoft.com/office/officeart/2011/layout/ConvergingText"/>
    <dgm:cxn modelId="{86869BED-C84E-45BA-A4A2-14DE15ABC72E}" type="presOf" srcId="{C34C1816-98FA-46EE-97D2-68DE722368A3}" destId="{7038A793-37D7-476F-9873-92C9576E4F36}" srcOrd="0" destOrd="0" presId="urn:microsoft.com/office/officeart/2011/layout/ConvergingText"/>
    <dgm:cxn modelId="{498ACE0B-5FBC-4B5E-9858-1E790BF2EE17}" type="presParOf" srcId="{E446A5D3-25FD-44D2-A486-8936DCD1D336}" destId="{6C205E5A-3807-4FB9-9538-72F8BCBA05D8}" srcOrd="0" destOrd="0" presId="urn:microsoft.com/office/officeart/2011/layout/ConvergingText"/>
    <dgm:cxn modelId="{D049660C-F38F-4E28-83DC-2B87D9DB7E4E}" type="presParOf" srcId="{6C205E5A-3807-4FB9-9538-72F8BCBA05D8}" destId="{0259AEF4-7421-4E81-9618-2E5C7161636E}" srcOrd="0" destOrd="0" presId="urn:microsoft.com/office/officeart/2011/layout/ConvergingText"/>
    <dgm:cxn modelId="{01EEB275-B9E1-4A9A-8619-F5240F4948A1}" type="presParOf" srcId="{6C205E5A-3807-4FB9-9538-72F8BCBA05D8}" destId="{63AF966E-8D6D-48FA-873C-46E931BD833D}" srcOrd="1" destOrd="0" presId="urn:microsoft.com/office/officeart/2011/layout/ConvergingText"/>
    <dgm:cxn modelId="{95CA26C7-E950-4C4F-A75F-DF15923EFB1A}" type="presParOf" srcId="{6C205E5A-3807-4FB9-9538-72F8BCBA05D8}" destId="{B80959DB-28D6-4CEE-BDEA-44F98A4CEE49}" srcOrd="2" destOrd="0" presId="urn:microsoft.com/office/officeart/2011/layout/ConvergingText"/>
    <dgm:cxn modelId="{FEB658E1-30C7-4FAE-A0F2-D5A24DD7DCC2}" type="presParOf" srcId="{6C205E5A-3807-4FB9-9538-72F8BCBA05D8}" destId="{DFBC5DD1-6060-4D48-BD7F-2BC0F265DD65}" srcOrd="3" destOrd="0" presId="urn:microsoft.com/office/officeart/2011/layout/ConvergingText"/>
    <dgm:cxn modelId="{D276ABE1-9649-411C-B177-E92DD49702EB}" type="presParOf" srcId="{6C205E5A-3807-4FB9-9538-72F8BCBA05D8}" destId="{E43ADEE5-A519-4489-8D26-96FB34D57305}" srcOrd="4" destOrd="0" presId="urn:microsoft.com/office/officeart/2011/layout/ConvergingText"/>
    <dgm:cxn modelId="{38D41055-266A-4103-B498-47A6990D8526}" type="presParOf" srcId="{6C205E5A-3807-4FB9-9538-72F8BCBA05D8}" destId="{9A391C6C-CCB5-4E08-8F88-62D62AF953C4}" srcOrd="5" destOrd="0" presId="urn:microsoft.com/office/officeart/2011/layout/ConvergingText"/>
    <dgm:cxn modelId="{CB7D6C45-A62E-4857-BCB3-67162026A5C8}" type="presParOf" srcId="{6C205E5A-3807-4FB9-9538-72F8BCBA05D8}" destId="{CB5C31B4-1748-4468-9A09-30EE4D5578C3}" srcOrd="6" destOrd="0" presId="urn:microsoft.com/office/officeart/2011/layout/ConvergingText"/>
    <dgm:cxn modelId="{8CBF46EC-9F4C-4482-BABC-DA444B8E300E}" type="presParOf" srcId="{6C205E5A-3807-4FB9-9538-72F8BCBA05D8}" destId="{E0C61048-F64E-4273-860E-CEE04FDE7F09}" srcOrd="7" destOrd="0" presId="urn:microsoft.com/office/officeart/2011/layout/ConvergingText"/>
    <dgm:cxn modelId="{64102734-EF4C-4CB7-B1FA-85DE86E4202F}" type="presParOf" srcId="{6C205E5A-3807-4FB9-9538-72F8BCBA05D8}" destId="{8B5ADAF4-7512-401E-AAD9-8012D2FA10D9}" srcOrd="8" destOrd="0" presId="urn:microsoft.com/office/officeart/2011/layout/ConvergingText"/>
    <dgm:cxn modelId="{1FB0FB49-4600-474C-832E-352B7140C4B0}" type="presParOf" srcId="{6C205E5A-3807-4FB9-9538-72F8BCBA05D8}" destId="{7799C585-58BC-426E-95E9-66A3F1BFA4FC}" srcOrd="9" destOrd="0" presId="urn:microsoft.com/office/officeart/2011/layout/ConvergingText"/>
    <dgm:cxn modelId="{55F527D1-66CC-4327-A38D-ADD3021B680B}" type="presParOf" srcId="{6C205E5A-3807-4FB9-9538-72F8BCBA05D8}" destId="{CC31440D-521E-48F6-AE66-FADC6789ECE6}" srcOrd="10" destOrd="0" presId="urn:microsoft.com/office/officeart/2011/layout/ConvergingText"/>
    <dgm:cxn modelId="{B2593C21-97D4-4443-8436-153484A715C8}" type="presParOf" srcId="{6C205E5A-3807-4FB9-9538-72F8BCBA05D8}" destId="{3801B84F-CA6C-4196-BD13-DCD3EB8709B5}" srcOrd="11" destOrd="0" presId="urn:microsoft.com/office/officeart/2011/layout/ConvergingText"/>
    <dgm:cxn modelId="{E7546A0A-EFB4-425D-AD6E-AF7AFC7B1A29}" type="presParOf" srcId="{6C205E5A-3807-4FB9-9538-72F8BCBA05D8}" destId="{EA7F15F4-BC11-452B-AD11-8558DE40472F}" srcOrd="12" destOrd="0" presId="urn:microsoft.com/office/officeart/2011/layout/ConvergingText"/>
    <dgm:cxn modelId="{644C3172-416A-44F6-815F-6CE6EF17A089}" type="presParOf" srcId="{6C205E5A-3807-4FB9-9538-72F8BCBA05D8}" destId="{E1C307BD-6D13-4973-A92E-E36C9AAE84D7}" srcOrd="13" destOrd="0" presId="urn:microsoft.com/office/officeart/2011/layout/ConvergingText"/>
    <dgm:cxn modelId="{A2E58A4A-236D-47CE-8130-7BDD2D8755D7}" type="presParOf" srcId="{6C205E5A-3807-4FB9-9538-72F8BCBA05D8}" destId="{C59FF9DA-0E2A-44B3-8FD5-174FD97A1E12}" srcOrd="14" destOrd="0" presId="urn:microsoft.com/office/officeart/2011/layout/ConvergingText"/>
    <dgm:cxn modelId="{CF9429EE-A49B-4DE9-9271-88B6990D617A}" type="presParOf" srcId="{6C205E5A-3807-4FB9-9538-72F8BCBA05D8}" destId="{023771EB-27EA-42B2-8076-28D155A65C87}" srcOrd="15" destOrd="0" presId="urn:microsoft.com/office/officeart/2011/layout/ConvergingText"/>
    <dgm:cxn modelId="{5F621584-20F9-4969-9B89-857A54B8660D}" type="presParOf" srcId="{6C205E5A-3807-4FB9-9538-72F8BCBA05D8}" destId="{5A673C9A-B60F-4208-A783-2C306272D0C7}" srcOrd="16" destOrd="0" presId="urn:microsoft.com/office/officeart/2011/layout/ConvergingText"/>
    <dgm:cxn modelId="{A743BA2C-F745-4D17-9EE1-F0E63F7A6327}" type="presParOf" srcId="{6C205E5A-3807-4FB9-9538-72F8BCBA05D8}" destId="{094A2FA5-8DD5-4DA3-88A9-3BA586EC30CE}" srcOrd="17" destOrd="0" presId="urn:microsoft.com/office/officeart/2011/layout/ConvergingText"/>
    <dgm:cxn modelId="{F430C065-C37B-450B-AD90-625CFAD05313}" type="presParOf" srcId="{6C205E5A-3807-4FB9-9538-72F8BCBA05D8}" destId="{5A7FCF40-FD69-45FC-B8A9-DFA846EA5726}" srcOrd="18" destOrd="0" presId="urn:microsoft.com/office/officeart/2011/layout/ConvergingText"/>
    <dgm:cxn modelId="{11901B99-4F45-4826-904D-84C8AB895386}" type="presParOf" srcId="{6C205E5A-3807-4FB9-9538-72F8BCBA05D8}" destId="{C5E25861-CBCB-4D8C-A7A6-F748811EE72E}" srcOrd="19" destOrd="0" presId="urn:microsoft.com/office/officeart/2011/layout/ConvergingText"/>
    <dgm:cxn modelId="{5D8FC046-C178-4709-8EB5-02FEBD560195}" type="presParOf" srcId="{6C205E5A-3807-4FB9-9538-72F8BCBA05D8}" destId="{9C9BB9A4-66D1-45DD-93B1-4A54B30FC142}" srcOrd="20" destOrd="0" presId="urn:microsoft.com/office/officeart/2011/layout/ConvergingText"/>
    <dgm:cxn modelId="{2339796F-896E-4025-85A6-8198279CA851}" type="presParOf" srcId="{6C205E5A-3807-4FB9-9538-72F8BCBA05D8}" destId="{C515A8E6-8F9B-4090-A741-161B997A863B}" srcOrd="21" destOrd="0" presId="urn:microsoft.com/office/officeart/2011/layout/ConvergingText"/>
    <dgm:cxn modelId="{C30BF538-4EC1-40A7-8B09-A8F02DBD384F}" type="presParOf" srcId="{6C205E5A-3807-4FB9-9538-72F8BCBA05D8}" destId="{619C3C34-D496-497C-9090-22A187BB6CAF}" srcOrd="22" destOrd="0" presId="urn:microsoft.com/office/officeart/2011/layout/ConvergingText"/>
    <dgm:cxn modelId="{0BE3AEEE-8127-42F6-BA55-65311E67C5A6}" type="presParOf" srcId="{6C205E5A-3807-4FB9-9538-72F8BCBA05D8}" destId="{051D6D60-3189-401A-AA9D-CE95987530A1}" srcOrd="23" destOrd="0" presId="urn:microsoft.com/office/officeart/2011/layout/ConvergingText"/>
    <dgm:cxn modelId="{E86171B2-FA57-4252-9F33-8449090706A2}" type="presParOf" srcId="{6C205E5A-3807-4FB9-9538-72F8BCBA05D8}" destId="{4C59A25A-0308-4E47-9A15-2B8D72675750}" srcOrd="24" destOrd="0" presId="urn:microsoft.com/office/officeart/2011/layout/ConvergingText"/>
    <dgm:cxn modelId="{842D6894-2920-4818-8CF7-93D823586FE9}" type="presParOf" srcId="{6C205E5A-3807-4FB9-9538-72F8BCBA05D8}" destId="{70CAEBDA-7E84-401A-A48E-50421F3BF1B9}" srcOrd="25" destOrd="0" presId="urn:microsoft.com/office/officeart/2011/layout/ConvergingText"/>
    <dgm:cxn modelId="{99C37DF6-75F6-4DB6-8AB9-BCFAD9DC1274}" type="presParOf" srcId="{6C205E5A-3807-4FB9-9538-72F8BCBA05D8}" destId="{DC29DA05-5B98-4595-BFEA-ADC31E38B2A4}" srcOrd="26" destOrd="0" presId="urn:microsoft.com/office/officeart/2011/layout/ConvergingText"/>
    <dgm:cxn modelId="{0B048673-6026-4635-8001-D930B0B4EE3E}" type="presParOf" srcId="{6C205E5A-3807-4FB9-9538-72F8BCBA05D8}" destId="{3F764BE7-CE73-4351-87F3-F61B29AA2A7B}" srcOrd="27" destOrd="0" presId="urn:microsoft.com/office/officeart/2011/layout/ConvergingText"/>
    <dgm:cxn modelId="{548B5FA9-4F13-4881-9293-9314CDBD51C9}" type="presParOf" srcId="{6C205E5A-3807-4FB9-9538-72F8BCBA05D8}" destId="{EA0B2825-37D1-4083-8219-4BF166B1B287}" srcOrd="28" destOrd="0" presId="urn:microsoft.com/office/officeart/2011/layout/ConvergingText"/>
    <dgm:cxn modelId="{35DD3130-B7CE-46D6-B507-08747ACA348A}" type="presParOf" srcId="{6C205E5A-3807-4FB9-9538-72F8BCBA05D8}" destId="{40749508-DE86-4E15-8B6B-2C5852BFD44D}" srcOrd="29" destOrd="0" presId="urn:microsoft.com/office/officeart/2011/layout/ConvergingText"/>
    <dgm:cxn modelId="{7DF6A800-F75D-4599-BA18-DBB2CA38054E}" type="presParOf" srcId="{6C205E5A-3807-4FB9-9538-72F8BCBA05D8}" destId="{62AD223F-77C0-4827-A09D-8B63847CB5EF}" srcOrd="30" destOrd="0" presId="urn:microsoft.com/office/officeart/2011/layout/ConvergingText"/>
    <dgm:cxn modelId="{9CBABB2F-58BF-440E-84D5-7040EF1B993A}" type="presParOf" srcId="{6C205E5A-3807-4FB9-9538-72F8BCBA05D8}" destId="{C02A46F8-6F87-43B9-ADB9-43B46A7E53CB}" srcOrd="31" destOrd="0" presId="urn:microsoft.com/office/officeart/2011/layout/ConvergingText"/>
    <dgm:cxn modelId="{C3AEDFEC-59A6-476C-AEF9-F57603F76A08}" type="presParOf" srcId="{6C205E5A-3807-4FB9-9538-72F8BCBA05D8}" destId="{7DF0A8AA-EC07-4717-B17C-A2254B45EB22}" srcOrd="32" destOrd="0" presId="urn:microsoft.com/office/officeart/2011/layout/ConvergingText"/>
    <dgm:cxn modelId="{5A563E05-156A-440C-BF4F-9C5A52E7475A}" type="presParOf" srcId="{6C205E5A-3807-4FB9-9538-72F8BCBA05D8}" destId="{A366387B-EFC0-4567-894F-B8995322A132}" srcOrd="33" destOrd="0" presId="urn:microsoft.com/office/officeart/2011/layout/ConvergingText"/>
    <dgm:cxn modelId="{B0CF418E-D76C-49E4-97F3-0F46EE307CD0}" type="presParOf" srcId="{6C205E5A-3807-4FB9-9538-72F8BCBA05D8}" destId="{A11E41D5-29A0-4139-ADCF-F2CEC06D1224}" srcOrd="34" destOrd="0" presId="urn:microsoft.com/office/officeart/2011/layout/ConvergingText"/>
    <dgm:cxn modelId="{2EDDCA02-6655-4D9F-BDCD-C25139AFECC5}" type="presParOf" srcId="{6C205E5A-3807-4FB9-9538-72F8BCBA05D8}" destId="{B7DC1A33-7999-4FC0-80DE-FB25EB38A9DA}" srcOrd="35" destOrd="0" presId="urn:microsoft.com/office/officeart/2011/layout/ConvergingText"/>
    <dgm:cxn modelId="{9A8F4A25-1290-458F-857F-8DEC56BA7CE2}" type="presParOf" srcId="{6C205E5A-3807-4FB9-9538-72F8BCBA05D8}" destId="{7038A793-37D7-476F-9873-92C9576E4F36}" srcOrd="36" destOrd="0" presId="urn:microsoft.com/office/officeart/2011/layout/ConvergingText"/>
  </dgm:cxnLst>
  <dgm:bg/>
  <dgm:whole/>
  <dgm:extLst>
    <a:ext uri="http://schemas.microsoft.com/office/drawing/2008/diagram">
      <dsp:dataModelExt xmlns:dsp="http://schemas.microsoft.com/office/drawing/2008/diagram" relId="rId2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259AEF4-7421-4E81-9618-2E5C7161636E}">
      <dsp:nvSpPr>
        <dsp:cNvPr id="0" name=""/>
        <dsp:cNvSpPr/>
      </dsp:nvSpPr>
      <dsp:spPr>
        <a:xfrm>
          <a:off x="2701882" y="786217"/>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3AF966E-8D6D-48FA-873C-46E931BD833D}">
      <dsp:nvSpPr>
        <dsp:cNvPr id="0" name=""/>
        <dsp:cNvSpPr/>
      </dsp:nvSpPr>
      <dsp:spPr>
        <a:xfrm>
          <a:off x="2576482" y="786217"/>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80959DB-28D6-4CEE-BDEA-44F98A4CEE49}">
      <dsp:nvSpPr>
        <dsp:cNvPr id="0" name=""/>
        <dsp:cNvSpPr/>
      </dsp:nvSpPr>
      <dsp:spPr>
        <a:xfrm>
          <a:off x="2451082" y="786217"/>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FBC5DD1-6060-4D48-BD7F-2BC0F265DD65}">
      <dsp:nvSpPr>
        <dsp:cNvPr id="0" name=""/>
        <dsp:cNvSpPr/>
      </dsp:nvSpPr>
      <dsp:spPr>
        <a:xfrm>
          <a:off x="2325921" y="786217"/>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43ADEE5-A519-4489-8D26-96FB34D57305}">
      <dsp:nvSpPr>
        <dsp:cNvPr id="0" name=""/>
        <dsp:cNvSpPr/>
      </dsp:nvSpPr>
      <dsp:spPr>
        <a:xfrm>
          <a:off x="2200521" y="786217"/>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A391C6C-CCB5-4E08-8F88-62D62AF953C4}">
      <dsp:nvSpPr>
        <dsp:cNvPr id="0" name=""/>
        <dsp:cNvSpPr/>
      </dsp:nvSpPr>
      <dsp:spPr>
        <a:xfrm>
          <a:off x="2006699" y="752007"/>
          <a:ext cx="136843" cy="136953"/>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B5C31B4-1748-4468-9A09-30EE4D5578C3}">
      <dsp:nvSpPr>
        <dsp:cNvPr id="0" name=""/>
        <dsp:cNvSpPr/>
      </dsp:nvSpPr>
      <dsp:spPr>
        <a:xfrm>
          <a:off x="2590309" y="644875"/>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0C61048-F64E-4273-860E-CEE04FDE7F09}">
      <dsp:nvSpPr>
        <dsp:cNvPr id="0" name=""/>
        <dsp:cNvSpPr/>
      </dsp:nvSpPr>
      <dsp:spPr>
        <a:xfrm>
          <a:off x="2590309" y="928572"/>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B5ADAF4-7512-401E-AAD9-8012D2FA10D9}">
      <dsp:nvSpPr>
        <dsp:cNvPr id="0" name=""/>
        <dsp:cNvSpPr/>
      </dsp:nvSpPr>
      <dsp:spPr>
        <a:xfrm>
          <a:off x="2651341" y="706318"/>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799C585-58BC-426E-95E9-66A3F1BFA4FC}">
      <dsp:nvSpPr>
        <dsp:cNvPr id="0" name=""/>
        <dsp:cNvSpPr/>
      </dsp:nvSpPr>
      <dsp:spPr>
        <a:xfrm>
          <a:off x="2655394" y="867467"/>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C31440D-521E-48F6-AE66-FADC6789ECE6}">
      <dsp:nvSpPr>
        <dsp:cNvPr id="0" name=""/>
        <dsp:cNvSpPr/>
      </dsp:nvSpPr>
      <dsp:spPr>
        <a:xfrm>
          <a:off x="1296116" y="311036"/>
          <a:ext cx="1025439" cy="1008667"/>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US" sz="1300" kern="1200" dirty="0"/>
            <a:t>2029-30 EXIT Potentials</a:t>
          </a:r>
        </a:p>
      </dsp:txBody>
      <dsp:txXfrm>
        <a:off x="1446288" y="458752"/>
        <a:ext cx="725095" cy="713235"/>
      </dsp:txXfrm>
    </dsp:sp>
    <dsp:sp modelId="{3801B84F-CA6C-4196-BD13-DCD3EB8709B5}">
      <dsp:nvSpPr>
        <dsp:cNvPr id="0" name=""/>
        <dsp:cNvSpPr/>
      </dsp:nvSpPr>
      <dsp:spPr>
        <a:xfrm>
          <a:off x="1205427" y="414855"/>
          <a:ext cx="136843" cy="136953"/>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A7F15F4-BC11-452B-AD11-8558DE40472F}">
      <dsp:nvSpPr>
        <dsp:cNvPr id="0" name=""/>
        <dsp:cNvSpPr/>
      </dsp:nvSpPr>
      <dsp:spPr>
        <a:xfrm>
          <a:off x="1117694" y="342609"/>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1C307BD-6D13-4973-A92E-E36C9AAE84D7}">
      <dsp:nvSpPr>
        <dsp:cNvPr id="0" name=""/>
        <dsp:cNvSpPr/>
      </dsp:nvSpPr>
      <dsp:spPr>
        <a:xfrm>
          <a:off x="971553" y="342609"/>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59FF9DA-0E2A-44B3-8FD5-174FD97A1E12}">
      <dsp:nvSpPr>
        <dsp:cNvPr id="0" name=""/>
        <dsp:cNvSpPr/>
      </dsp:nvSpPr>
      <dsp:spPr>
        <a:xfrm>
          <a:off x="825412" y="342609"/>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23771EB-27EA-42B2-8076-28D155A65C87}">
      <dsp:nvSpPr>
        <dsp:cNvPr id="0" name=""/>
        <dsp:cNvSpPr/>
      </dsp:nvSpPr>
      <dsp:spPr>
        <a:xfrm>
          <a:off x="679271" y="342609"/>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A673C9A-B60F-4208-A783-2C306272D0C7}">
      <dsp:nvSpPr>
        <dsp:cNvPr id="0" name=""/>
        <dsp:cNvSpPr/>
      </dsp:nvSpPr>
      <dsp:spPr>
        <a:xfrm>
          <a:off x="532892" y="342609"/>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94A2FA5-8DD5-4DA3-88A9-3BA586EC30CE}">
      <dsp:nvSpPr>
        <dsp:cNvPr id="0" name=""/>
        <dsp:cNvSpPr/>
      </dsp:nvSpPr>
      <dsp:spPr>
        <a:xfrm>
          <a:off x="386751" y="342609"/>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C9BB9A4-66D1-45DD-93B1-4A54B30FC142}">
      <dsp:nvSpPr>
        <dsp:cNvPr id="0" name=""/>
        <dsp:cNvSpPr/>
      </dsp:nvSpPr>
      <dsp:spPr>
        <a:xfrm>
          <a:off x="38512" y="130394"/>
          <a:ext cx="1573154" cy="1760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0">
          <a:noAutofit/>
        </a:bodyPr>
        <a:lstStyle/>
        <a:p>
          <a:pPr marL="0" lvl="0" indent="0" algn="l" defTabSz="488950">
            <a:lnSpc>
              <a:spcPct val="90000"/>
            </a:lnSpc>
            <a:spcBef>
              <a:spcPct val="0"/>
            </a:spcBef>
            <a:spcAft>
              <a:spcPct val="35000"/>
            </a:spcAft>
            <a:buNone/>
          </a:pPr>
          <a:r>
            <a:rPr lang="en-US" sz="1100" b="0" i="0" kern="1200" dirty="0">
              <a:latin typeface="Duplicate Sans Light" pitchFamily="2" charset="77"/>
            </a:rPr>
            <a:t>Initial Public Offering</a:t>
          </a:r>
        </a:p>
      </dsp:txBody>
      <dsp:txXfrm>
        <a:off x="38512" y="130394"/>
        <a:ext cx="1573154" cy="176002"/>
      </dsp:txXfrm>
    </dsp:sp>
    <dsp:sp modelId="{C515A8E6-8F9B-4090-A741-161B997A863B}">
      <dsp:nvSpPr>
        <dsp:cNvPr id="0" name=""/>
        <dsp:cNvSpPr/>
      </dsp:nvSpPr>
      <dsp:spPr>
        <a:xfrm>
          <a:off x="1063338" y="640177"/>
          <a:ext cx="136843" cy="136953"/>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19C3C34-D496-497C-9090-22A187BB6CAF}">
      <dsp:nvSpPr>
        <dsp:cNvPr id="0" name=""/>
        <dsp:cNvSpPr/>
      </dsp:nvSpPr>
      <dsp:spPr>
        <a:xfrm>
          <a:off x="927925" y="672202"/>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51D6D60-3189-401A-AA9D-CE95987530A1}">
      <dsp:nvSpPr>
        <dsp:cNvPr id="0" name=""/>
        <dsp:cNvSpPr/>
      </dsp:nvSpPr>
      <dsp:spPr>
        <a:xfrm>
          <a:off x="792751" y="672202"/>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C59A25A-0308-4E47-9A15-2B8D72675750}">
      <dsp:nvSpPr>
        <dsp:cNvPr id="0" name=""/>
        <dsp:cNvSpPr/>
      </dsp:nvSpPr>
      <dsp:spPr>
        <a:xfrm>
          <a:off x="657338" y="672202"/>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0CAEBDA-7E84-401A-A48E-50421F3BF1B9}">
      <dsp:nvSpPr>
        <dsp:cNvPr id="0" name=""/>
        <dsp:cNvSpPr/>
      </dsp:nvSpPr>
      <dsp:spPr>
        <a:xfrm>
          <a:off x="522164" y="672202"/>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C29DA05-5B98-4595-BFEA-ADC31E38B2A4}">
      <dsp:nvSpPr>
        <dsp:cNvPr id="0" name=""/>
        <dsp:cNvSpPr/>
      </dsp:nvSpPr>
      <dsp:spPr>
        <a:xfrm>
          <a:off x="386751" y="672202"/>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A0B2825-37D1-4083-8219-4BF166B1B287}">
      <dsp:nvSpPr>
        <dsp:cNvPr id="0" name=""/>
        <dsp:cNvSpPr/>
      </dsp:nvSpPr>
      <dsp:spPr>
        <a:xfrm>
          <a:off x="38511" y="401541"/>
          <a:ext cx="1363884" cy="2372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0">
          <a:noAutofit/>
        </a:bodyPr>
        <a:lstStyle/>
        <a:p>
          <a:pPr marL="0" lvl="0" indent="0" algn="l" defTabSz="488950">
            <a:lnSpc>
              <a:spcPct val="90000"/>
            </a:lnSpc>
            <a:spcBef>
              <a:spcPct val="0"/>
            </a:spcBef>
            <a:spcAft>
              <a:spcPct val="35000"/>
            </a:spcAft>
            <a:buNone/>
          </a:pPr>
          <a:r>
            <a:rPr lang="en-US" sz="1100" b="0" i="0" kern="1200" dirty="0">
              <a:latin typeface="Duplicate Sans Light" pitchFamily="2" charset="77"/>
            </a:rPr>
            <a:t>DoD Contract</a:t>
          </a:r>
        </a:p>
      </dsp:txBody>
      <dsp:txXfrm>
        <a:off x="38511" y="401541"/>
        <a:ext cx="1363884" cy="237262"/>
      </dsp:txXfrm>
    </dsp:sp>
    <dsp:sp modelId="{40749508-DE86-4E15-8B6B-2C5852BFD44D}">
      <dsp:nvSpPr>
        <dsp:cNvPr id="0" name=""/>
        <dsp:cNvSpPr/>
      </dsp:nvSpPr>
      <dsp:spPr>
        <a:xfrm>
          <a:off x="1205427" y="1083532"/>
          <a:ext cx="136843" cy="136953"/>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2AD223F-77C0-4827-A09D-8B63847CB5EF}">
      <dsp:nvSpPr>
        <dsp:cNvPr id="0" name=""/>
        <dsp:cNvSpPr/>
      </dsp:nvSpPr>
      <dsp:spPr>
        <a:xfrm>
          <a:off x="1117694" y="1222961"/>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02A46F8-6F87-43B9-ADB9-43B46A7E53CB}">
      <dsp:nvSpPr>
        <dsp:cNvPr id="0" name=""/>
        <dsp:cNvSpPr/>
      </dsp:nvSpPr>
      <dsp:spPr>
        <a:xfrm>
          <a:off x="971553" y="1222961"/>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DF0A8AA-EC07-4717-B17C-A2254B45EB22}">
      <dsp:nvSpPr>
        <dsp:cNvPr id="0" name=""/>
        <dsp:cNvSpPr/>
      </dsp:nvSpPr>
      <dsp:spPr>
        <a:xfrm>
          <a:off x="825412" y="1222961"/>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366387B-EFC0-4567-894F-B8995322A132}">
      <dsp:nvSpPr>
        <dsp:cNvPr id="0" name=""/>
        <dsp:cNvSpPr/>
      </dsp:nvSpPr>
      <dsp:spPr>
        <a:xfrm>
          <a:off x="679271" y="1222961"/>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11E41D5-29A0-4139-ADCF-F2CEC06D1224}">
      <dsp:nvSpPr>
        <dsp:cNvPr id="0" name=""/>
        <dsp:cNvSpPr/>
      </dsp:nvSpPr>
      <dsp:spPr>
        <a:xfrm>
          <a:off x="532892" y="1222961"/>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7DC1A33-7999-4FC0-80DE-FB25EB38A9DA}">
      <dsp:nvSpPr>
        <dsp:cNvPr id="0" name=""/>
        <dsp:cNvSpPr/>
      </dsp:nvSpPr>
      <dsp:spPr>
        <a:xfrm>
          <a:off x="386751" y="1222961"/>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038A793-37D7-476F-9873-92C9576E4F36}">
      <dsp:nvSpPr>
        <dsp:cNvPr id="0" name=""/>
        <dsp:cNvSpPr/>
      </dsp:nvSpPr>
      <dsp:spPr>
        <a:xfrm>
          <a:off x="38512" y="652923"/>
          <a:ext cx="1215051" cy="5258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0">
          <a:noAutofit/>
        </a:bodyPr>
        <a:lstStyle/>
        <a:p>
          <a:pPr marL="0" lvl="0" indent="0" algn="l" defTabSz="444500">
            <a:lnSpc>
              <a:spcPct val="90000"/>
            </a:lnSpc>
            <a:spcBef>
              <a:spcPct val="0"/>
            </a:spcBef>
            <a:spcAft>
              <a:spcPct val="35000"/>
            </a:spcAft>
            <a:buNone/>
          </a:pPr>
          <a:r>
            <a:rPr lang="en-US" sz="1000" b="0" i="0" kern="1200" dirty="0">
              <a:latin typeface="Duplicate Sans Light" pitchFamily="2" charset="77"/>
            </a:rPr>
            <a:t>Positioned for Merger or Acquisition</a:t>
          </a:r>
          <a:endParaRPr lang="en-US" sz="1000" b="0" i="0" kern="1200" dirty="0">
            <a:solidFill>
              <a:schemeClr val="bg1">
                <a:lumMod val="50000"/>
                <a:lumOff val="50000"/>
              </a:schemeClr>
            </a:solidFill>
            <a:latin typeface="Duplicate Sans Light" pitchFamily="2" charset="77"/>
          </a:endParaRPr>
        </a:p>
      </dsp:txBody>
      <dsp:txXfrm>
        <a:off x="38512" y="652923"/>
        <a:ext cx="1215051" cy="525805"/>
      </dsp:txXfrm>
    </dsp:sp>
  </dsp:spTree>
</dsp:drawing>
</file>

<file path=ppt/diagrams/layout1.xml><?xml version="1.0" encoding="utf-8"?>
<dgm:layoutDef xmlns:dgm="http://schemas.openxmlformats.org/drawingml/2006/diagram" xmlns:a="http://schemas.openxmlformats.org/drawingml/2006/main" uniqueId="urn:microsoft.com/office/officeart/2011/layout/ConvergingText">
  <dgm:title val="Converging Text"/>
  <dgm:desc val="Use to show multiple steps or parts that merge into a whole. Limited to one Level 1 shape that contains text and a maximum of five Level 2 shapes."/>
  <dgm:catLst>
    <dgm:cat type="process" pri="6500"/>
    <dgm:cat type="officeonline" pri="5000"/>
  </dgm:catLst>
  <dgm:sampData>
    <dgm:dataModel>
      <dgm:ptLst>
        <dgm:pt modelId="0" type="doc"/>
        <dgm:pt modelId="10">
          <dgm:prSet phldr="1"/>
        </dgm:pt>
        <dgm:pt modelId="11">
          <dgm:prSet phldr="1"/>
        </dgm:pt>
        <dgm:pt modelId="12">
          <dgm:prSet phldr="1"/>
        </dgm:pt>
        <dgm:pt modelId="13">
          <dgm:prSet phldr="1"/>
        </dgm:pt>
      </dgm:ptLst>
      <dgm:cxnLst>
        <dgm:cxn modelId="1" srcId="0" destId="10" srcOrd="0" destOrd="0"/>
        <dgm:cxn modelId="2" srcId="10" destId="11" srcOrd="0" destOrd="0"/>
        <dgm:cxn modelId="3" srcId="10" destId="12" srcOrd="1" destOrd="0"/>
        <dgm:cxn modelId="4" srcId="10" destId="13" srcOrd="2" destOrd="0"/>
      </dgm:cxnLst>
      <dgm:bg/>
      <dgm:whole/>
    </dgm:dataModel>
  </dgm:sampData>
  <dgm:styleData>
    <dgm:dataModel>
      <dgm:ptLst>
        <dgm:pt modelId="0" type="doc"/>
        <dgm:pt modelId="10">
          <dgm:prSet phldr="1"/>
        </dgm:pt>
        <dgm:pt modelId="11">
          <dgm:prSet phldr="1"/>
        </dgm:pt>
        <dgm:pt modelId="12">
          <dgm:prSet phldr="1"/>
        </dgm:pt>
        <dgm:pt modelId="13">
          <dgm:prSet phldr="1"/>
        </dgm:pt>
      </dgm:ptLst>
      <dgm:cxnLst>
        <dgm:cxn modelId="1" srcId="0" destId="10" srcOrd="0" destOrd="0"/>
        <dgm:cxn modelId="2" srcId="10" destId="11" srcOrd="0" destOrd="0"/>
        <dgm:cxn modelId="3" srcId="10" destId="12" srcOrd="1" destOrd="0"/>
        <dgm:cxn modelId="4" srcId="10" destId="13" srcOrd="2" destOrd="0"/>
      </dgm:cxnLst>
      <dgm:bg/>
      <dgm:whole/>
    </dgm:dataModel>
  </dgm:styleData>
  <dgm:clrData>
    <dgm:dataModel>
      <dgm:ptLst>
        <dgm:pt modelId="0" type="doc"/>
        <dgm:pt modelId="10">
          <dgm:prSet phldr="1"/>
        </dgm:pt>
        <dgm:pt modelId="11">
          <dgm:prSet phldr="1"/>
        </dgm:pt>
        <dgm:pt modelId="12">
          <dgm:prSet phldr="1"/>
        </dgm:pt>
        <dgm:pt modelId="13">
          <dgm:prSet phldr="1"/>
        </dgm:pt>
      </dgm:ptLst>
      <dgm:cxnLst>
        <dgm:cxn modelId="1" srcId="0" destId="10" srcOrd="0" destOrd="0"/>
        <dgm:cxn modelId="2" srcId="10" destId="11" srcOrd="0" destOrd="0"/>
        <dgm:cxn modelId="3" srcId="10" destId="12" srcOrd="1" destOrd="0"/>
        <dgm:cxn modelId="4" srcId="10" destId="13" srcOrd="2" destOrd="0"/>
      </dgm:cxnLst>
      <dgm:bg/>
      <dgm:whole/>
    </dgm:dataModel>
  </dgm:clrData>
  <dgm:layoutNode name="Name0">
    <dgm:varLst>
      <dgm:chMax/>
      <dgm:chPref val="1"/>
      <dgm:dir/>
      <dgm:animOne val="branch"/>
      <dgm:animLvl val="lvl"/>
      <dgm:resizeHandles/>
    </dgm:varLst>
    <dgm:choose name="Name1">
      <dgm:if name="Name2" func="var" arg="dir" op="equ" val="norm">
        <dgm:alg type="lin">
          <dgm:param type="linDir" val="fromL"/>
          <dgm:param type="vertAlign" val="mid"/>
          <dgm:param type="nodeVertAlign" val="mid"/>
          <dgm:param type="horzAlign" val="ctr"/>
        </dgm:alg>
      </dgm:if>
      <dgm:else name="Name3">
        <dgm:alg type="lin">
          <dgm:param type="linDir" val="fromR"/>
          <dgm:param type="vertAlign" val="mid"/>
          <dgm:param type="nodeVertAlign" val="mid"/>
          <dgm:param type="horzAlign" val="ctr"/>
        </dgm:alg>
      </dgm:else>
    </dgm:choose>
    <dgm:shape xmlns:r="http://schemas.openxmlformats.org/officeDocument/2006/relationships" r:blip="">
      <dgm:adjLst/>
    </dgm:shape>
    <dgm:constrLst>
      <dgm:constr type="primFontSz" for="des" forName="Parent" op="equ" val="65"/>
      <dgm:constr type="primFontSz" for="des" forName="Child1" op="equ" val="65"/>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w" for="ch" forName="composite" refType="w"/>
      <dgm:constr type="h" for="ch" forName="composite" refType="h"/>
      <dgm:constr type="sp" refType="w" refFor="ch" refForName="composite" op="equ" fact="0.05"/>
      <dgm:constr type="w" for="ch" forName="sibTrans" refType="w" refFor="ch" refForName="composite" op="equ" fact="0.05"/>
      <dgm:constr type="h" for="ch" forName="sibTrans" refType="w" refFor="ch" refForName="sibTrans" op="equ"/>
    </dgm:constrLst>
    <dgm:forEach name="nodesForEach" axis="ch" ptType="node">
      <dgm:layoutNode name="composite">
        <dgm:choose name="Name4">
          <dgm:if name="Name5" func="var" arg="dir" op="equ" val="norm">
            <dgm:choose name="Name6">
              <dgm:if name="Name7" axis="ch" ptType="node" func="cnt" op="equ" val="0">
                <dgm:alg type="composite">
                  <dgm:param type="ar" val="2.1059"/>
                </dgm:alg>
                <dgm:constrLst>
                  <dgm:constr type="l" for="ch" forName="Parent" refType="w" fact="0"/>
                  <dgm:constr type="t" for="ch" forName="Parent" refType="h" fact="0"/>
                  <dgm:constr type="w" for="ch" forName="Parent" refType="w" fact="0.4749"/>
                  <dgm:constr type="h" for="ch" forName="Parent" refType="h"/>
                  <dgm:constr type="l" for="ch" forName="ParentAccent1" refType="w" fact="0.9531"/>
                  <dgm:constr type="t" for="ch" forName="ParentAccent1" refType="h" fact="0.4506"/>
                  <dgm:constr type="w" for="ch" forName="ParentAccent1" refType="w" fact="0.0469"/>
                  <dgm:constr type="h" for="ch" forName="ParentAccent1" refType="h" fact="0.0988"/>
                  <dgm:constr type="l" for="ch" forName="ParentAccent2" refType="w" fact="0.8734"/>
                  <dgm:constr type="t" for="ch" forName="ParentAccent2" refType="h" fact="0.4506"/>
                  <dgm:constr type="w" for="ch" forName="ParentAccent2" refType="w" fact="0.0469"/>
                  <dgm:constr type="h" for="ch" forName="ParentAccent2" refType="h" fact="0.0988"/>
                  <dgm:constr type="l" for="ch" forName="ParentAccent3" refType="w" fact="0.7937"/>
                  <dgm:constr type="t" for="ch" forName="ParentAccent3" refType="h" fact="0.4506"/>
                  <dgm:constr type="w" for="ch" forName="ParentAccent3" refType="w" fact="0.0469"/>
                  <dgm:constr type="h" for="ch" forName="ParentAccent3" refType="h" fact="0.0988"/>
                  <dgm:constr type="l" for="ch" forName="ParentAccent4" refType="w" fact="0.714"/>
                  <dgm:constr type="t" for="ch" forName="ParentAccent4" refType="h" fact="0.4506"/>
                  <dgm:constr type="w" for="ch" forName="ParentAccent4" refType="w" fact="0.0469"/>
                  <dgm:constr type="h" for="ch" forName="ParentAccent4" refType="h" fact="0.0988"/>
                  <dgm:constr type="l" for="ch" forName="ParentAccent5" refType="w" fact="0.6343"/>
                  <dgm:constr type="t" for="ch" forName="ParentAccent5" refType="h" fact="0.4506"/>
                  <dgm:constr type="w" for="ch" forName="ParentAccent5" refType="w" fact="0.0469"/>
                  <dgm:constr type="h" for="ch" forName="ParentAccent5" refType="h" fact="0.0988"/>
                  <dgm:constr type="l" for="ch" forName="ParentAccent6" refType="w" fact="0.5076"/>
                  <dgm:constr type="t" for="ch" forName="ParentAccent6" refType="h" fact="0.4012"/>
                  <dgm:constr type="w" for="ch" forName="ParentAccent6" refType="w" fact="0.0939"/>
                  <dgm:constr type="h" for="ch" forName="ParentAccent6" refType="h" fact="0.1976"/>
                  <dgm:constr type="l" for="ch" forName="ParentAccent7" refType="w" fact="0.8766"/>
                  <dgm:constr type="t" for="ch" forName="ParentAccent7" refType="h" fact="0.2465"/>
                  <dgm:constr type="w" for="ch" forName="ParentAccent7" refType="w" fact="0.0469"/>
                  <dgm:constr type="h" for="ch" forName="ParentAccent7" refType="h" fact="0.0988"/>
                  <dgm:constr type="l" for="ch" forName="ParentAccent8" refType="w" fact="0.8766"/>
                  <dgm:constr type="t" for="ch" forName="ParentAccent8" refType="h" fact="0.6562"/>
                  <dgm:constr type="w" for="ch" forName="ParentAccent8" refType="w" fact="0.0469"/>
                  <dgm:constr type="h" for="ch" forName="ParentAccent8" refType="h" fact="0.0988"/>
                  <dgm:constr type="l" for="ch" forName="ParentAccent9" refType="w" fact="0.9185"/>
                  <dgm:constr type="t" for="ch" forName="ParentAccent9" refType="h" fact="0.3353"/>
                  <dgm:constr type="w" for="ch" forName="ParentAccent9" refType="w" fact="0.0469"/>
                  <dgm:constr type="h" for="ch" forName="ParentAccent9" refType="h" fact="0.0988"/>
                  <dgm:constr type="l" for="ch" forName="ParentAccent10" refType="w" fact="0.9213"/>
                  <dgm:constr type="t" for="ch" forName="ParentAccent10" refType="h" fact="0.5679"/>
                  <dgm:constr type="w" for="ch" forName="ParentAccent10" refType="w" fact="0.0469"/>
                  <dgm:constr type="h" for="ch" forName="ParentAccent10" refType="h" fact="0.0988"/>
                </dgm:constrLst>
              </dgm:if>
              <dgm:if name="Name8" axis="ch" ptType="node" func="cnt" op="equ" val="1">
                <dgm:alg type="composite">
                  <dgm:param type="ar" val="3.4411"/>
                </dgm:alg>
                <dgm:constrLst>
                  <dgm:constr type="l" for="ch" forName="Child1Accent1" refType="w" fact="0.284"/>
                  <dgm:constr type="t" for="ch" forName="Child1Accent1" refType="h" fact="0.4012"/>
                  <dgm:constr type="w" for="ch" forName="Child1Accent1" refType="w" fact="0.0574"/>
                  <dgm:constr type="h" for="ch" forName="Child1Accent1" refType="h" fact="0.1976"/>
                  <dgm:constr type="l" for="ch" forName="Child1Accent2" refType="w" fact="0.2272"/>
                  <dgm:constr type="t" for="ch" forName="Child1Accent2" refType="h" fact="0.4506"/>
                  <dgm:constr type="w" for="ch" forName="Child1Accent2" refType="w" fact="0.0287"/>
                  <dgm:constr type="h" for="ch" forName="Child1Accent2" refType="h" fact="0.0988"/>
                  <dgm:constr type="l" for="ch" forName="Child1Accent3" refType="w" fact="0.1705"/>
                  <dgm:constr type="t" for="ch" forName="Child1Accent3" refType="h" fact="0.4506"/>
                  <dgm:constr type="w" for="ch" forName="Child1Accent3" refType="w" fact="0.0287"/>
                  <dgm:constr type="h" for="ch" forName="Child1Accent3" refType="h" fact="0.0988"/>
                  <dgm:constr type="l" for="ch" forName="Child1Accent4" refType="w" fact="0.1137"/>
                  <dgm:constr type="t" for="ch" forName="Child1Accent4" refType="h" fact="0.4506"/>
                  <dgm:constr type="w" for="ch" forName="Child1Accent4" refType="w" fact="0.0287"/>
                  <dgm:constr type="h" for="ch" forName="Child1Accent4" refType="h" fact="0.0988"/>
                  <dgm:constr type="l" for="ch" forName="Child1Accent5" refType="w" fact="0.057"/>
                  <dgm:constr type="t" for="ch" forName="Child1Accent5" refType="h" fact="0.4506"/>
                  <dgm:constr type="w" for="ch" forName="Child1Accent5" refType="w" fact="0.0287"/>
                  <dgm:constr type="h" for="ch" forName="Child1Accent5" refType="h" fact="0.0988"/>
                  <dgm:constr type="l" for="ch" forName="Child1Accent6" refType="w" fact="0.0002"/>
                  <dgm:constr type="t" for="ch" forName="Child1Accent6" refType="h" fact="0.4506"/>
                  <dgm:constr type="w" for="ch" forName="Child1Accent6" refType="w" fact="0.0287"/>
                  <dgm:constr type="h" for="ch" forName="Child1Accent6" refType="h" fact="0.0988"/>
                  <dgm:constr type="l" for="ch" forName="Child1Accent7" refType="w" fact="0"/>
                  <dgm:constr type="t" for="ch" forName="Child1Accent7" refType="h" fact="0"/>
                  <dgm:constr type="w" for="ch" forName="Child1Accent7" refType="w" fact="0"/>
                  <dgm:constr type="h" for="ch" forName="Child1Accent7" refType="h" fact="0"/>
                  <dgm:constr type="l" for="ch" forName="Child1Accent8" refType="w" fact="0"/>
                  <dgm:constr type="t" for="ch" forName="Child1Accent8" refType="h" fact="0"/>
                  <dgm:constr type="w" for="ch" forName="Child1Accent8" refType="w" fact="0"/>
                  <dgm:constr type="h" for="ch" forName="Child1Accent8" refType="h" fact="0"/>
                  <dgm:constr type="l" for="ch" forName="Child1Accent9" refType="w" fact="0"/>
                  <dgm:constr type="t" for="ch" forName="Child1Accent9" refType="h" fact="0"/>
                  <dgm:constr type="w" for="ch" forName="Child1Accent9" refType="w" fact="0"/>
                  <dgm:constr type="h" for="ch" forName="Child1Accent9" refType="h" fact="0"/>
                  <dgm:constr type="l" for="ch" forName="ParentAccent1" refType="w" fact="0.9713"/>
                  <dgm:constr type="t" for="ch" forName="ParentAccent1" refType="h" fact="0.4506"/>
                  <dgm:constr type="w" for="ch" forName="ParentAccent1" refType="w" fact="0.0287"/>
                  <dgm:constr type="h" for="ch" forName="ParentAccent1" refType="h" fact="0.0988"/>
                  <dgm:constr type="l" for="ch" forName="ParentAccent2" refType="w" fact="0.9187"/>
                  <dgm:constr type="t" for="ch" forName="ParentAccent2" refType="h" fact="0.4506"/>
                  <dgm:constr type="w" for="ch" forName="ParentAccent2" refType="w" fact="0.0287"/>
                  <dgm:constr type="h" for="ch" forName="ParentAccent2" refType="h" fact="0.0988"/>
                  <dgm:constr type="l" for="ch" forName="ParentAccent3" refType="w" fact="0.8661"/>
                  <dgm:constr type="t" for="ch" forName="ParentAccent3" refType="h" fact="0.4506"/>
                  <dgm:constr type="w" for="ch" forName="ParentAccent3" refType="w" fact="0.0287"/>
                  <dgm:constr type="h" for="ch" forName="ParentAccent3" refType="h" fact="0.0988"/>
                  <dgm:constr type="l" for="ch" forName="ParentAccent4" refType="w" fact="0.8136"/>
                  <dgm:constr type="t" for="ch" forName="ParentAccent4" refType="h" fact="0.4506"/>
                  <dgm:constr type="w" for="ch" forName="ParentAccent4" refType="w" fact="0.0287"/>
                  <dgm:constr type="h" for="ch" forName="ParentAccent4" refType="h" fact="0.0988"/>
                  <dgm:constr type="l" for="ch" forName="ParentAccent5" refType="w" fact="0.761"/>
                  <dgm:constr type="t" for="ch" forName="ParentAccent5" refType="h" fact="0.4506"/>
                  <dgm:constr type="w" for="ch" forName="ParentAccent5" refType="w" fact="0.0287"/>
                  <dgm:constr type="h" for="ch" forName="ParentAccent5" refType="h" fact="0.0988"/>
                  <dgm:constr type="l" for="ch" forName="ParentAccent6" refType="w" fact="0.6797"/>
                  <dgm:constr type="t" for="ch" forName="ParentAccent6" refType="h" fact="0.4012"/>
                  <dgm:constr type="w" for="ch" forName="ParentAccent6" refType="w" fact="0.0574"/>
                  <dgm:constr type="h" for="ch" forName="ParentAccent6" refType="h" fact="0.1976"/>
                  <dgm:constr type="l" for="ch" forName="ParentAccent7" refType="w" fact="0.9245"/>
                  <dgm:constr type="t" for="ch" forName="ParentAccent7" refType="h" fact="0.2465"/>
                  <dgm:constr type="w" for="ch" forName="ParentAccent7" refType="w" fact="0.0287"/>
                  <dgm:constr type="h" for="ch" forName="ParentAccent7" refType="h" fact="0.0988"/>
                  <dgm:constr type="l" for="ch" forName="ParentAccent8" refType="w" fact="0.9245"/>
                  <dgm:constr type="t" for="ch" forName="ParentAccent8" refType="h" fact="0.6562"/>
                  <dgm:constr type="w" for="ch" forName="ParentAccent8" refType="w" fact="0.0287"/>
                  <dgm:constr type="h" for="ch" forName="ParentAccent8" refType="h" fact="0.0988"/>
                  <dgm:constr type="l" for="ch" forName="ParentAccent9" refType="w" fact="0.9501"/>
                  <dgm:constr type="t" for="ch" forName="ParentAccent9" refType="h" fact="0.3353"/>
                  <dgm:constr type="w" for="ch" forName="ParentAccent9" refType="w" fact="0.0287"/>
                  <dgm:constr type="h" for="ch" forName="ParentAccent9" refType="h" fact="0.0988"/>
                  <dgm:constr type="l" for="ch" forName="ParentAccent10" refType="w" fact="0.9518"/>
                  <dgm:constr type="t" for="ch" forName="ParentAccent10" refType="h" fact="0.5679"/>
                  <dgm:constr type="w" for="ch" forName="ParentAccent10" refType="w" fact="0.0287"/>
                  <dgm:constr type="h" for="ch" forName="ParentAccent10" refType="h" fact="0.0988"/>
                  <dgm:constr type="l" for="ch" forName="Child1" refType="w" fact="0"/>
                  <dgm:constr type="t" for="ch" forName="Child1" refType="h" fact="0.1978"/>
                  <dgm:constr type="w" for="ch" forName="Child1" refType="w" fact="0.2544"/>
                  <dgm:constr type="h" for="ch" forName="Child1" refType="h" fact="0.2541"/>
                  <dgm:constr type="l" for="ch" forName="Parent" refType="w" fact="0.3653"/>
                  <dgm:constr type="t" for="ch" forName="Parent" refType="h" fact="0"/>
                  <dgm:constr type="w" for="ch" forName="Parent" refType="w" fact="0.2906"/>
                  <dgm:constr type="h" for="ch" forName="Parent" refType="h"/>
                </dgm:constrLst>
              </dgm:if>
              <dgm:if name="Name9" axis="ch" ptType="node" func="cnt" op="equ" val="2">
                <dgm:alg type="composite">
                  <dgm:param type="ar" val="2.1185"/>
                </dgm:alg>
                <dgm:constrLst>
                  <dgm:constr type="l" for="ch" forName="Child1Accent1" refType="w" fact="0.3436"/>
                  <dgm:constr type="t" for="ch" forName="Child1Accent1" refType="h" fact="0.2211"/>
                  <dgm:constr type="w" for="ch" forName="Child1Accent1" refType="w" fact="0.0574"/>
                  <dgm:constr type="h" for="ch" forName="Child1Accent1" refType="h" fact="0.1217"/>
                  <dgm:constr type="l" for="ch" forName="Child1Accent2" refType="w" fact="0.3068"/>
                  <dgm:constr type="t" for="ch" forName="Child1Accent2" refType="h" fact="0.1569"/>
                  <dgm:constr type="w" for="ch" forName="Child1Accent2" refType="w" fact="0.0287"/>
                  <dgm:constr type="h" for="ch" forName="Child1Accent2" refType="h" fact="0.0608"/>
                  <dgm:constr type="l" for="ch" forName="Child1Accent3" refType="w" fact="0.2455"/>
                  <dgm:constr type="t" for="ch" forName="Child1Accent3" refType="h" fact="0.1569"/>
                  <dgm:constr type="w" for="ch" forName="Child1Accent3" refType="w" fact="0.0287"/>
                  <dgm:constr type="h" for="ch" forName="Child1Accent3" refType="h" fact="0.0608"/>
                  <dgm:constr type="l" for="ch" forName="Child1Accent4" refType="w" fact="0.1842"/>
                  <dgm:constr type="t" for="ch" forName="Child1Accent4" refType="h" fact="0.1569"/>
                  <dgm:constr type="w" for="ch" forName="Child1Accent4" refType="w" fact="0.0287"/>
                  <dgm:constr type="h" for="ch" forName="Child1Accent4" refType="h" fact="0.0608"/>
                  <dgm:constr type="l" for="ch" forName="Child1Accent5" refType="w" fact="0.1229"/>
                  <dgm:constr type="t" for="ch" forName="Child1Accent5" refType="h" fact="0.1569"/>
                  <dgm:constr type="w" for="ch" forName="Child1Accent5" refType="w" fact="0.0287"/>
                  <dgm:constr type="h" for="ch" forName="Child1Accent5" refType="h" fact="0.0608"/>
                  <dgm:constr type="l" for="ch" forName="Child1Accent6" refType="w" fact="0.0615"/>
                  <dgm:constr type="t" for="ch" forName="Child1Accent6" refType="h" fact="0.1569"/>
                  <dgm:constr type="w" for="ch" forName="Child1Accent6" refType="w" fact="0.0287"/>
                  <dgm:constr type="h" for="ch" forName="Child1Accent6" refType="h" fact="0.0608"/>
                  <dgm:constr type="l" for="ch" forName="Child1Accent7" refType="w" fact="0.0002"/>
                  <dgm:constr type="t" for="ch" forName="Child1Accent7" refType="h" fact="0.1569"/>
                  <dgm:constr type="w" for="ch" forName="Child1Accent7" refType="w" fact="0.0287"/>
                  <dgm:constr type="h" for="ch" forName="Child1Accent7" refType="h" fact="0.0608"/>
                  <dgm:constr type="l" for="ch" forName="Child1Accent8" refType="w" fact="0"/>
                  <dgm:constr type="t" for="ch" forName="Child1Accent8" refType="h" fact="0"/>
                  <dgm:constr type="w" for="ch" forName="Child1Accent8" refType="w" fact="0"/>
                  <dgm:constr type="h" for="ch" forName="Child1Accent8" refType="h" fact="0"/>
                  <dgm:constr type="l" for="ch" forName="Child1Accent9" refType="w" fact="0"/>
                  <dgm:constr type="t" for="ch" forName="Child1Accent9" refType="h" fact="0"/>
                  <dgm:constr type="w" for="ch" forName="Child1Accent9" refType="w" fact="0"/>
                  <dgm:constr type="h" for="ch" forName="Child1Accent9" refType="h" fact="0"/>
                  <dgm:constr type="l" for="ch" forName="Child2Accent1" refType="w" fact="0.3436"/>
                  <dgm:constr type="t" for="ch" forName="Child2Accent1" refType="h" fact="0.8153"/>
                  <dgm:constr type="w" for="ch" forName="Child2Accent1" refType="w" fact="0.0574"/>
                  <dgm:constr type="h" for="ch" forName="Child2Accent1" refType="h" fact="0.1217"/>
                  <dgm:constr type="l" for="ch" forName="Child2Accent2" refType="w" fact="0.3068"/>
                  <dgm:constr type="t" for="ch" forName="Child2Accent2" refType="h" fact="0.9392"/>
                  <dgm:constr type="w" for="ch" forName="Child2Accent2" refType="w" fact="0.0287"/>
                  <dgm:constr type="h" for="ch" forName="Child2Accent2" refType="h" fact="0.0608"/>
                  <dgm:constr type="l" for="ch" forName="Child2Accent3" refType="w" fact="0.2455"/>
                  <dgm:constr type="t" for="ch" forName="Child2Accent3" refType="h" fact="0.9392"/>
                  <dgm:constr type="w" for="ch" forName="Child2Accent3" refType="w" fact="0.0287"/>
                  <dgm:constr type="h" for="ch" forName="Child2Accent3" refType="h" fact="0.0608"/>
                  <dgm:constr type="l" for="ch" forName="Child2Accent4" refType="w" fact="0.1842"/>
                  <dgm:constr type="t" for="ch" forName="Child2Accent4" refType="h" fact="0.9392"/>
                  <dgm:constr type="w" for="ch" forName="Child2Accent4" refType="w" fact="0.0287"/>
                  <dgm:constr type="h" for="ch" forName="Child2Accent4" refType="h" fact="0.0608"/>
                  <dgm:constr type="l" for="ch" forName="Child2Accent5" refType="w" fact="0.1229"/>
                  <dgm:constr type="t" for="ch" forName="Child2Accent5" refType="h" fact="0.9392"/>
                  <dgm:constr type="w" for="ch" forName="Child2Accent5" refType="w" fact="0.0287"/>
                  <dgm:constr type="h" for="ch" forName="Child2Accent5" refType="h" fact="0.0608"/>
                  <dgm:constr type="l" for="ch" forName="Child2Accent6" refType="w" fact="0.0615"/>
                  <dgm:constr type="t" for="ch" forName="Child2Accent6" refType="h" fact="0.9392"/>
                  <dgm:constr type="w" for="ch" forName="Child2Accent6" refType="w" fact="0.0287"/>
                  <dgm:constr type="h" for="ch" forName="Child2Accent6" refType="h" fact="0.0608"/>
                  <dgm:constr type="l" for="ch" forName="Child2Accent7" refType="w" fact="0.0002"/>
                  <dgm:constr type="t" for="ch" forName="Child2Accent7" refType="h" fact="0.9392"/>
                  <dgm:constr type="w" for="ch" forName="Child2Accent7" refType="w" fact="0.0287"/>
                  <dgm:constr type="h" for="ch" forName="Child2Accent7" refType="h" fact="0.0608"/>
                  <dgm:constr type="l" for="ch" forName="ParentAccent1" refType="w" fact="0.9713"/>
                  <dgm:constr type="t" for="ch" forName="ParentAccent1" refType="h" fact="0.5511"/>
                  <dgm:constr type="w" for="ch" forName="ParentAccent1" refType="w" fact="0.0287"/>
                  <dgm:constr type="h" for="ch" forName="ParentAccent1" refType="h" fact="0.0608"/>
                  <dgm:constr type="l" for="ch" forName="ParentAccent2" refType="w" fact="0.9187"/>
                  <dgm:constr type="t" for="ch" forName="ParentAccent2" refType="h" fact="0.5511"/>
                  <dgm:constr type="w" for="ch" forName="ParentAccent2" refType="w" fact="0.0287"/>
                  <dgm:constr type="h" for="ch" forName="ParentAccent2" refType="h" fact="0.0608"/>
                  <dgm:constr type="l" for="ch" forName="ParentAccent3" refType="w" fact="0.8661"/>
                  <dgm:constr type="t" for="ch" forName="ParentAccent3" refType="h" fact="0.5511"/>
                  <dgm:constr type="w" for="ch" forName="ParentAccent3" refType="w" fact="0.0287"/>
                  <dgm:constr type="h" for="ch" forName="ParentAccent3" refType="h" fact="0.0608"/>
                  <dgm:constr type="l" for="ch" forName="ParentAccent4" refType="w" fact="0.8136"/>
                  <dgm:constr type="t" for="ch" forName="ParentAccent4" refType="h" fact="0.5511"/>
                  <dgm:constr type="w" for="ch" forName="ParentAccent4" refType="w" fact="0.0287"/>
                  <dgm:constr type="h" for="ch" forName="ParentAccent4" refType="h" fact="0.0608"/>
                  <dgm:constr type="l" for="ch" forName="ParentAccent5" refType="w" fact="0.761"/>
                  <dgm:constr type="t" for="ch" forName="ParentAccent5" refType="h" fact="0.5511"/>
                  <dgm:constr type="w" for="ch" forName="ParentAccent5" refType="w" fact="0.0287"/>
                  <dgm:constr type="h" for="ch" forName="ParentAccent5" refType="h" fact="0.0608"/>
                  <dgm:constr type="l" for="ch" forName="ParentAccent6" refType="w" fact="0.6797"/>
                  <dgm:constr type="t" for="ch" forName="ParentAccent6" refType="h" fact="0.5207"/>
                  <dgm:constr type="w" for="ch" forName="ParentAccent6" refType="w" fact="0.0574"/>
                  <dgm:constr type="h" for="ch" forName="ParentAccent6" refType="h" fact="0.1217"/>
                  <dgm:constr type="l" for="ch" forName="ParentAccent7" refType="w" fact="0.9245"/>
                  <dgm:constr type="t" for="ch" forName="ParentAccent7" refType="h" fact="0.4255"/>
                  <dgm:constr type="w" for="ch" forName="ParentAccent7" refType="w" fact="0.0287"/>
                  <dgm:constr type="h" for="ch" forName="ParentAccent7" refType="h" fact="0.0608"/>
                  <dgm:constr type="l" for="ch" forName="ParentAccent8" refType="w" fact="0.9245"/>
                  <dgm:constr type="t" for="ch" forName="ParentAccent8" refType="h" fact="0.6776"/>
                  <dgm:constr type="w" for="ch" forName="ParentAccent8" refType="w" fact="0.0287"/>
                  <dgm:constr type="h" for="ch" forName="ParentAccent8" refType="h" fact="0.0608"/>
                  <dgm:constr type="l" for="ch" forName="ParentAccent9" refType="w" fact="0.9501"/>
                  <dgm:constr type="t" for="ch" forName="ParentAccent9" refType="h" fact="0.4801"/>
                  <dgm:constr type="w" for="ch" forName="ParentAccent9" refType="w" fact="0.0287"/>
                  <dgm:constr type="h" for="ch" forName="ParentAccent9" refType="h" fact="0.0608"/>
                  <dgm:constr type="l" for="ch" forName="ParentAccent10" refType="w" fact="0.9518"/>
                  <dgm:constr type="t" for="ch" forName="ParentAccent10" refType="h" fact="0.6233"/>
                  <dgm:constr type="w" for="ch" forName="ParentAccent10" refType="w" fact="0.0287"/>
                  <dgm:constr type="h" for="ch" forName="ParentAccent10" refType="h" fact="0.0608"/>
                  <dgm:constr type="l" for="ch" forName="Child2" refType="w" fact="0"/>
                  <dgm:constr type="t" for="ch" forName="Child2" refType="h" fact="0.7822"/>
                  <dgm:constr type="w" for="ch" forName="Child2" refType="w" fact="0.3364"/>
                  <dgm:constr type="h" for="ch" forName="Child2" refType="h" fact="0.1564"/>
                  <dgm:constr type="l" for="ch" forName="Child1" refType="w" fact="0"/>
                  <dgm:constr type="t" for="ch" forName="Child1" refType="h" fact="0"/>
                  <dgm:constr type="w" for="ch" forName="Child1" refType="w" fact="0.3364"/>
                  <dgm:constr type="h" for="ch" forName="Child1" refType="h" fact="0.1564"/>
                  <dgm:constr type="l" for="ch" forName="Parent" refType="w" fact="0.3653"/>
                  <dgm:constr type="t" for="ch" forName="Parent" refType="h" fact="0.2737"/>
                  <dgm:constr type="w" for="ch" forName="Parent" refType="w" fact="0.2906"/>
                  <dgm:constr type="h" for="ch" forName="Parent" refType="h" fact="0.6157"/>
                </dgm:constrLst>
              </dgm:if>
              <dgm:if name="Name10" axis="ch" ptType="node" func="cnt" op="equ" val="3">
                <dgm:alg type="composite">
                  <dgm:param type="ar" val="2.1185"/>
                </dgm:alg>
                <dgm:constrLst>
                  <dgm:constr type="l" for="ch" forName="Child1Accent1" refType="w" fact="0.3436"/>
                  <dgm:constr type="t" for="ch" forName="Child1Accent1" refType="h" fact="0.2211"/>
                  <dgm:constr type="w" for="ch" forName="Child1Accent1" refType="w" fact="0.0574"/>
                  <dgm:constr type="h" for="ch" forName="Child1Accent1" refType="h" fact="0.1217"/>
                  <dgm:constr type="l" for="ch" forName="Child1Accent2" refType="w" fact="0.3068"/>
                  <dgm:constr type="t" for="ch" forName="Child1Accent2" refType="h" fact="0.1569"/>
                  <dgm:constr type="w" for="ch" forName="Child1Accent2" refType="w" fact="0.0287"/>
                  <dgm:constr type="h" for="ch" forName="Child1Accent2" refType="h" fact="0.0608"/>
                  <dgm:constr type="l" for="ch" forName="Child1Accent3" refType="w" fact="0.2455"/>
                  <dgm:constr type="t" for="ch" forName="Child1Accent3" refType="h" fact="0.1569"/>
                  <dgm:constr type="w" for="ch" forName="Child1Accent3" refType="w" fact="0.0287"/>
                  <dgm:constr type="h" for="ch" forName="Child1Accent3" refType="h" fact="0.0608"/>
                  <dgm:constr type="l" for="ch" forName="Child1Accent4" refType="w" fact="0.1842"/>
                  <dgm:constr type="t" for="ch" forName="Child1Accent4" refType="h" fact="0.1569"/>
                  <dgm:constr type="w" for="ch" forName="Child1Accent4" refType="w" fact="0.0287"/>
                  <dgm:constr type="h" for="ch" forName="Child1Accent4" refType="h" fact="0.0608"/>
                  <dgm:constr type="l" for="ch" forName="Child1Accent5" refType="w" fact="0.1229"/>
                  <dgm:constr type="t" for="ch" forName="Child1Accent5" refType="h" fact="0.1569"/>
                  <dgm:constr type="w" for="ch" forName="Child1Accent5" refType="w" fact="0.0287"/>
                  <dgm:constr type="h" for="ch" forName="Child1Accent5" refType="h" fact="0.0608"/>
                  <dgm:constr type="l" for="ch" forName="Child2Accent1" refType="w" fact="0.284"/>
                  <dgm:constr type="t" for="ch" forName="Child2Accent1" refType="h" fact="0.5207"/>
                  <dgm:constr type="w" for="ch" forName="Child2Accent1" refType="w" fact="0.0574"/>
                  <dgm:constr type="h" for="ch" forName="Child2Accent1" refType="h" fact="0.1217"/>
                  <dgm:constr type="l" for="ch" forName="Child2Accent2" refType="w" fact="0.2272"/>
                  <dgm:constr type="t" for="ch" forName="Child2Accent2" refType="h" fact="0.5511"/>
                  <dgm:constr type="w" for="ch" forName="Child2Accent2" refType="w" fact="0.0287"/>
                  <dgm:constr type="h" for="ch" forName="Child2Accent2" refType="h" fact="0.0608"/>
                  <dgm:constr type="l" for="ch" forName="Child2Accent3" refType="w" fact="0.1705"/>
                  <dgm:constr type="t" for="ch" forName="Child2Accent3" refType="h" fact="0.5511"/>
                  <dgm:constr type="w" for="ch" forName="Child2Accent3" refType="w" fact="0.0287"/>
                  <dgm:constr type="h" for="ch" forName="Child2Accent3" refType="h" fact="0.0608"/>
                  <dgm:constr type="l" for="ch" forName="Child2Accent4" refType="w" fact="0.1137"/>
                  <dgm:constr type="t" for="ch" forName="Child2Accent4" refType="h" fact="0.5511"/>
                  <dgm:constr type="w" for="ch" forName="Child2Accent4" refType="w" fact="0.0287"/>
                  <dgm:constr type="h" for="ch" forName="Child2Accent4" refType="h" fact="0.0608"/>
                  <dgm:constr type="l" for="ch" forName="Child1Accent6" refType="w" fact="0.0615"/>
                  <dgm:constr type="t" for="ch" forName="Child1Accent6" refType="h" fact="0.1569"/>
                  <dgm:constr type="w" for="ch" forName="Child1Accent6" refType="w" fact="0.0287"/>
                  <dgm:constr type="h" for="ch" forName="Child1Accent6" refType="h" fact="0.0608"/>
                  <dgm:constr type="l" for="ch" forName="Child2Accent5" refType="w" fact="0.057"/>
                  <dgm:constr type="t" for="ch" forName="Child2Accent5" refType="h" fact="0.5511"/>
                  <dgm:constr type="w" for="ch" forName="Child2Accent5" refType="w" fact="0.0287"/>
                  <dgm:constr type="h" for="ch" forName="Child2Accent5" refType="h" fact="0.0608"/>
                  <dgm:constr type="l" for="ch" forName="Child1Accent7" refType="w" fact="0.0002"/>
                  <dgm:constr type="t" for="ch" forName="Child1Accent7" refType="h" fact="0.1569"/>
                  <dgm:constr type="w" for="ch" forName="Child1Accent7" refType="w" fact="0.0287"/>
                  <dgm:constr type="h" for="ch" forName="Child1Accent7" refType="h" fact="0.0608"/>
                  <dgm:constr type="l" for="ch" forName="Child1Accent8" refType="w" fact="0"/>
                  <dgm:constr type="t" for="ch" forName="Child1Accent8" refType="h" fact="0"/>
                  <dgm:constr type="w" for="ch" forName="Child1Accent8" refType="w" fact="0"/>
                  <dgm:constr type="h" for="ch" forName="Child1Accent8" refType="h" fact="0"/>
                  <dgm:constr type="l" for="ch" forName="Child1Accent9" refType="w" fact="0"/>
                  <dgm:constr type="t" for="ch" forName="Child1Accent9" refType="h" fact="0"/>
                  <dgm:constr type="w" for="ch" forName="Child1Accent9" refType="w" fact="0"/>
                  <dgm:constr type="h" for="ch" forName="Child1Accent9" refType="h" fact="0"/>
                  <dgm:constr type="l" for="ch" forName="Child2Accent6" refType="w" fact="0.0002"/>
                  <dgm:constr type="t" for="ch" forName="Child2Accent6" refType="h" fact="0.5511"/>
                  <dgm:constr type="w" for="ch" forName="Child2Accent6" refType="w" fact="0.0287"/>
                  <dgm:constr type="h" for="ch" forName="Child2Accent6" refType="h" fact="0.0608"/>
                  <dgm:constr type="l" for="ch" forName="Child2Accent7" refType="w" fact="0"/>
                  <dgm:constr type="t" for="ch" forName="Child2Accent7" refType="h" fact="0"/>
                  <dgm:constr type="w" for="ch" forName="Child2Accent7" refType="w" fact="0"/>
                  <dgm:constr type="h" for="ch" forName="Child2Accent7" refType="h" fact="0"/>
                  <dgm:constr type="l" for="ch" forName="Child3Accent1" refType="w" fact="0.3436"/>
                  <dgm:constr type="t" for="ch" forName="Child3Accent1" refType="h" fact="0.8153"/>
                  <dgm:constr type="w" for="ch" forName="Child3Accent1" refType="w" fact="0.0574"/>
                  <dgm:constr type="h" for="ch" forName="Child3Accent1" refType="h" fact="0.1217"/>
                  <dgm:constr type="l" for="ch" forName="Child3Accent2" refType="w" fact="0.3068"/>
                  <dgm:constr type="t" for="ch" forName="Child3Accent2" refType="h" fact="0.9392"/>
                  <dgm:constr type="w" for="ch" forName="Child3Accent2" refType="w" fact="0.0287"/>
                  <dgm:constr type="h" for="ch" forName="Child3Accent2" refType="h" fact="0.0608"/>
                  <dgm:constr type="l" for="ch" forName="Child3Accent3" refType="w" fact="0.2455"/>
                  <dgm:constr type="t" for="ch" forName="Child3Accent3" refType="h" fact="0.9392"/>
                  <dgm:constr type="w" for="ch" forName="Child3Accent3" refType="w" fact="0.0287"/>
                  <dgm:constr type="h" for="ch" forName="Child3Accent3" refType="h" fact="0.0608"/>
                  <dgm:constr type="l" for="ch" forName="Child3Accent4" refType="w" fact="0.1842"/>
                  <dgm:constr type="t" for="ch" forName="Child3Accent4" refType="h" fact="0.9392"/>
                  <dgm:constr type="w" for="ch" forName="Child3Accent4" refType="w" fact="0.0287"/>
                  <dgm:constr type="h" for="ch" forName="Child3Accent4" refType="h" fact="0.0608"/>
                  <dgm:constr type="l" for="ch" forName="Child3Accent5" refType="w" fact="0.1229"/>
                  <dgm:constr type="t" for="ch" forName="Child3Accent5" refType="h" fact="0.9392"/>
                  <dgm:constr type="w" for="ch" forName="Child3Accent5" refType="w" fact="0.0287"/>
                  <dgm:constr type="h" for="ch" forName="Child3Accent5" refType="h" fact="0.0608"/>
                  <dgm:constr type="l" for="ch" forName="Child3Accent6" refType="w" fact="0.0615"/>
                  <dgm:constr type="t" for="ch" forName="Child3Accent6" refType="h" fact="0.9392"/>
                  <dgm:constr type="w" for="ch" forName="Child3Accent6" refType="w" fact="0.0287"/>
                  <dgm:constr type="h" for="ch" forName="Child3Accent6" refType="h" fact="0.0608"/>
                  <dgm:constr type="l" for="ch" forName="Child3Accent7" refType="w" fact="0.0002"/>
                  <dgm:constr type="t" for="ch" forName="Child3Accent7" refType="h" fact="0.9392"/>
                  <dgm:constr type="w" for="ch" forName="Child3Accent7" refType="w" fact="0.0287"/>
                  <dgm:constr type="h" for="ch" forName="Child3Accent7" refType="h" fact="0.0608"/>
                  <dgm:constr type="l" for="ch" forName="ParentAccent1" refType="w" fact="0.9713"/>
                  <dgm:constr type="t" for="ch" forName="ParentAccent1" refType="h" fact="0.5511"/>
                  <dgm:constr type="w" for="ch" forName="ParentAccent1" refType="w" fact="0.0287"/>
                  <dgm:constr type="h" for="ch" forName="ParentAccent1" refType="h" fact="0.0608"/>
                  <dgm:constr type="l" for="ch" forName="ParentAccent2" refType="w" fact="0.9187"/>
                  <dgm:constr type="t" for="ch" forName="ParentAccent2" refType="h" fact="0.5511"/>
                  <dgm:constr type="w" for="ch" forName="ParentAccent2" refType="w" fact="0.0287"/>
                  <dgm:constr type="h" for="ch" forName="ParentAccent2" refType="h" fact="0.0608"/>
                  <dgm:constr type="l" for="ch" forName="ParentAccent3" refType="w" fact="0.8661"/>
                  <dgm:constr type="t" for="ch" forName="ParentAccent3" refType="h" fact="0.5511"/>
                  <dgm:constr type="w" for="ch" forName="ParentAccent3" refType="w" fact="0.0287"/>
                  <dgm:constr type="h" for="ch" forName="ParentAccent3" refType="h" fact="0.0608"/>
                  <dgm:constr type="l" for="ch" forName="ParentAccent4" refType="w" fact="0.8136"/>
                  <dgm:constr type="t" for="ch" forName="ParentAccent4" refType="h" fact="0.5511"/>
                  <dgm:constr type="w" for="ch" forName="ParentAccent4" refType="w" fact="0.0287"/>
                  <dgm:constr type="h" for="ch" forName="ParentAccent4" refType="h" fact="0.0608"/>
                  <dgm:constr type="l" for="ch" forName="ParentAccent5" refType="w" fact="0.761"/>
                  <dgm:constr type="t" for="ch" forName="ParentAccent5" refType="h" fact="0.5511"/>
                  <dgm:constr type="w" for="ch" forName="ParentAccent5" refType="w" fact="0.0287"/>
                  <dgm:constr type="h" for="ch" forName="ParentAccent5" refType="h" fact="0.0608"/>
                  <dgm:constr type="l" for="ch" forName="ParentAccent6" refType="w" fact="0.6797"/>
                  <dgm:constr type="t" for="ch" forName="ParentAccent6" refType="h" fact="0.5207"/>
                  <dgm:constr type="w" for="ch" forName="ParentAccent6" refType="w" fact="0.0574"/>
                  <dgm:constr type="h" for="ch" forName="ParentAccent6" refType="h" fact="0.1217"/>
                  <dgm:constr type="l" for="ch" forName="ParentAccent7" refType="w" fact="0.9245"/>
                  <dgm:constr type="t" for="ch" forName="ParentAccent7" refType="h" fact="0.4255"/>
                  <dgm:constr type="w" for="ch" forName="ParentAccent7" refType="w" fact="0.0287"/>
                  <dgm:constr type="h" for="ch" forName="ParentAccent7" refType="h" fact="0.0608"/>
                  <dgm:constr type="l" for="ch" forName="ParentAccent8" refType="w" fact="0.9245"/>
                  <dgm:constr type="t" for="ch" forName="ParentAccent8" refType="h" fact="0.6776"/>
                  <dgm:constr type="w" for="ch" forName="ParentAccent8" refType="w" fact="0.0287"/>
                  <dgm:constr type="h" for="ch" forName="ParentAccent8" refType="h" fact="0.0608"/>
                  <dgm:constr type="l" for="ch" forName="ParentAccent9" refType="w" fact="0.9501"/>
                  <dgm:constr type="t" for="ch" forName="ParentAccent9" refType="h" fact="0.4801"/>
                  <dgm:constr type="w" for="ch" forName="ParentAccent9" refType="w" fact="0.0287"/>
                  <dgm:constr type="h" for="ch" forName="ParentAccent9" refType="h" fact="0.0608"/>
                  <dgm:constr type="l" for="ch" forName="ParentAccent10" refType="w" fact="0.9518"/>
                  <dgm:constr type="t" for="ch" forName="ParentAccent10" refType="h" fact="0.6233"/>
                  <dgm:constr type="w" for="ch" forName="ParentAccent10" refType="w" fact="0.0287"/>
                  <dgm:constr type="h" for="ch" forName="ParentAccent10" refType="h" fact="0.0608"/>
                  <dgm:constr type="l" for="ch" forName="Child3" refType="w" fact="0"/>
                  <dgm:constr type="t" for="ch" forName="Child3" refType="h" fact="0.7822"/>
                  <dgm:constr type="w" for="ch" forName="Child3" refType="w" fact="0.3364"/>
                  <dgm:constr type="h" for="ch" forName="Child3" refType="h" fact="0.1564"/>
                  <dgm:constr type="l" for="ch" forName="Child2" refType="w" fact="0"/>
                  <dgm:constr type="t" for="ch" forName="Child2" refType="h" fact="0.3955"/>
                  <dgm:constr type="w" for="ch" forName="Child2" refType="w" fact="0.2544"/>
                  <dgm:constr type="h" for="ch" forName="Child2" refType="h" fact="0.1564"/>
                  <dgm:constr type="l" for="ch" forName="Child1" refType="w" fact="0"/>
                  <dgm:constr type="t" for="ch" forName="Child1" refType="h" fact="0"/>
                  <dgm:constr type="w" for="ch" forName="Child1" refType="w" fact="0.3364"/>
                  <dgm:constr type="h" for="ch" forName="Child1" refType="h" fact="0.1564"/>
                  <dgm:constr type="l" for="ch" forName="Parent" refType="w" fact="0.3653"/>
                  <dgm:constr type="t" for="ch" forName="Parent" refType="h" fact="0.2737"/>
                  <dgm:constr type="w" for="ch" forName="Parent" refType="w" fact="0.2906"/>
                  <dgm:constr type="h" for="ch" forName="Parent" refType="h" fact="0.6157"/>
                </dgm:constrLst>
              </dgm:if>
              <dgm:if name="Name11" axis="ch" ptType="node" func="cnt" op="equ" val="4">
                <dgm:alg type="composite">
                  <dgm:param type="ar" val="1.8304"/>
                </dgm:alg>
                <dgm:constrLst>
                  <dgm:constr type="l" for="ch" forName="Parent" refType="w" fact="0.3771"/>
                  <dgm:constr type="t" for="ch" forName="Parent" refType="h" fact="0.2946"/>
                  <dgm:constr type="w" for="ch" forName="Parent" refType="w" fact="0.2862"/>
                  <dgm:constr type="h" for="ch" forName="Parent" refType="h" fact="0.5239"/>
                  <dgm:constr type="l" for="ch" forName="Child1Accent1" refType="w" fact="0.3904"/>
                  <dgm:constr type="t" for="ch" forName="Child1Accent1" refType="h" fact="0.2104"/>
                  <dgm:constr type="w" for="ch" forName="Child1Accent1" refType="w" fact="0.0566"/>
                  <dgm:constr type="h" for="ch" forName="Child1Accent1" refType="h" fact="0.1035"/>
                  <dgm:constr type="l" for="ch" forName="Child1Accent3" refType="w" fact="0.3001"/>
                  <dgm:constr type="t" for="ch" forName="Child1Accent3" refType="h" fact="0.128"/>
                  <dgm:constr type="w" for="ch" forName="Child1Accent3" refType="w" fact="0.0283"/>
                  <dgm:constr type="h" for="ch" forName="Child1Accent3" refType="h" fact="0.0518"/>
                  <dgm:constr type="l" for="ch" forName="Child1Accent4" refType="w" fact="0.2418"/>
                  <dgm:constr type="t" for="ch" forName="Child1Accent4" refType="h" fact="0.128"/>
                  <dgm:constr type="w" for="ch" forName="Child1Accent4" refType="w" fact="0.0283"/>
                  <dgm:constr type="h" for="ch" forName="Child1Accent4" refType="h" fact="0.0518"/>
                  <dgm:constr type="l" for="ch" forName="Child1Accent5" refType="w" fact="0.1835"/>
                  <dgm:constr type="t" for="ch" forName="Child1Accent5" refType="h" fact="0.128"/>
                  <dgm:constr type="w" for="ch" forName="Child1Accent5" refType="w" fact="0.0283"/>
                  <dgm:constr type="h" for="ch" forName="Child1Accent5" refType="h" fact="0.0518"/>
                  <dgm:constr type="l" for="ch" forName="Child1Accent6" refType="w" fact="0.1252"/>
                  <dgm:constr type="t" for="ch" forName="Child1Accent6" refType="h" fact="0.128"/>
                  <dgm:constr type="w" for="ch" forName="Child1Accent6" refType="w" fact="0.0283"/>
                  <dgm:constr type="h" for="ch" forName="Child1Accent6" refType="h" fact="0.0518"/>
                  <dgm:constr type="l" for="ch" forName="Child3Accent1" refType="w" fact="0.3158"/>
                  <dgm:constr type="t" for="ch" forName="Child3Accent1" refType="h" fact="0.6212"/>
                  <dgm:constr type="w" for="ch" forName="Child3Accent1" refType="w" fact="0.0566"/>
                  <dgm:constr type="h" for="ch" forName="Child3Accent1" refType="h" fact="0.1035"/>
                  <dgm:constr type="l" for="ch" forName="Child3Accent2" refType="w" fact="0.2689"/>
                  <dgm:constr type="t" for="ch" forName="Child3Accent2" refType="h" fact="0.6828"/>
                  <dgm:constr type="w" for="ch" forName="Child3Accent2" refType="w" fact="0.0283"/>
                  <dgm:constr type="h" for="ch" forName="Child3Accent2" refType="h" fact="0.0518"/>
                  <dgm:constr type="l" for="ch" forName="Child3Accent4" refType="w" fact="0.1614"/>
                  <dgm:constr type="t" for="ch" forName="Child3Accent4" refType="h" fact="0.6828"/>
                  <dgm:constr type="w" for="ch" forName="Child3Accent4" refType="w" fact="0.0283"/>
                  <dgm:constr type="h" for="ch" forName="Child3Accent4" refType="h" fact="0.0518"/>
                  <dgm:constr type="l" for="ch" forName="Child3Accent5" refType="w" fact="0.1077"/>
                  <dgm:constr type="t" for="ch" forName="Child3Accent5" refType="h" fact="0.6828"/>
                  <dgm:constr type="w" for="ch" forName="Child3Accent5" refType="w" fact="0.0283"/>
                  <dgm:constr type="h" for="ch" forName="Child3Accent5" refType="h" fact="0.0518"/>
                  <dgm:constr type="l" for="ch" forName="Child1Accent7" refType="w" fact="0.0668"/>
                  <dgm:constr type="t" for="ch" forName="Child1Accent7" refType="h" fact="0.128"/>
                  <dgm:constr type="w" for="ch" forName="Child1Accent7" refType="w" fact="0.0283"/>
                  <dgm:constr type="h" for="ch" forName="Child1Accent7" refType="h" fact="0.0518"/>
                  <dgm:constr type="l" for="ch" forName="Child3Accent6" refType="w" fact="0.0539"/>
                  <dgm:constr type="t" for="ch" forName="Child3Accent6" refType="h" fact="0.6828"/>
                  <dgm:constr type="w" for="ch" forName="Child3Accent6" refType="w" fact="0.0283"/>
                  <dgm:constr type="h" for="ch" forName="Child3Accent6" refType="h" fact="0.0518"/>
                  <dgm:constr type="l" for="ch" forName="Child1Accent8" refType="w" fact="0.0085"/>
                  <dgm:constr type="t" for="ch" forName="Child1Accent8" refType="h" fact="0.128"/>
                  <dgm:constr type="w" for="ch" forName="Child1Accent8" refType="w" fact="0.0283"/>
                  <dgm:constr type="h" for="ch" forName="Child1Accent8" refType="h" fact="0.0518"/>
                  <dgm:constr type="l" for="ch" forName="Child1Accent9" refType="w" fact="0"/>
                  <dgm:constr type="t" for="ch" forName="Child1Accent9" refType="h" fact="0"/>
                  <dgm:constr type="w" for="ch" forName="Child1Accent9" refType="w" fact="0"/>
                  <dgm:constr type="h" for="ch" forName="Child1Accent9" refType="h" fact="0"/>
                  <dgm:constr type="l" for="ch" forName="Child3Accent7" refType="w" fact="0.0002"/>
                  <dgm:constr type="t" for="ch" forName="Child3Accent7" refType="h" fact="0.6828"/>
                  <dgm:constr type="w" for="ch" forName="Child3Accent7" refType="w" fact="0.0283"/>
                  <dgm:constr type="h" for="ch" forName="Child3Accent7" refType="h" fact="0.0518"/>
                  <dgm:constr type="l" for="ch" forName="Child4Accent1" refType="w" fact="0.3904"/>
                  <dgm:constr type="t" for="ch" forName="Child4Accent1" refType="h" fact="0.8"/>
                  <dgm:constr type="w" for="ch" forName="Child4Accent1" refType="w" fact="0.0566"/>
                  <dgm:constr type="h" for="ch" forName="Child4Accent1" refType="h" fact="0.1035"/>
                  <dgm:constr type="l" for="ch" forName="Child4Accent3" refType="w" fact="0.2998"/>
                  <dgm:constr type="t" for="ch" forName="Child4Accent3" refType="h" fact="0.9482"/>
                  <dgm:constr type="w" for="ch" forName="Child4Accent3" refType="w" fact="0.0283"/>
                  <dgm:constr type="h" for="ch" forName="Child4Accent3" refType="h" fact="0.0518"/>
                  <dgm:constr type="l" for="ch" forName="Child4Accent4" refType="w" fact="0.2415"/>
                  <dgm:constr type="t" for="ch" forName="Child4Accent4" refType="h" fact="0.9482"/>
                  <dgm:constr type="w" for="ch" forName="Child4Accent4" refType="w" fact="0.0283"/>
                  <dgm:constr type="h" for="ch" forName="Child4Accent4" refType="h" fact="0.0518"/>
                  <dgm:constr type="l" for="ch" forName="Child4Accent5" refType="w" fact="0.1833"/>
                  <dgm:constr type="t" for="ch" forName="Child4Accent5" refType="h" fact="0.9482"/>
                  <dgm:constr type="w" for="ch" forName="Child4Accent5" refType="w" fact="0.0283"/>
                  <dgm:constr type="h" for="ch" forName="Child4Accent5" refType="h" fact="0.0518"/>
                  <dgm:constr type="l" for="ch" forName="Child4Accent6" refType="w" fact="0.1251"/>
                  <dgm:constr type="t" for="ch" forName="Child4Accent6" refType="h" fact="0.9482"/>
                  <dgm:constr type="w" for="ch" forName="Child4Accent6" refType="w" fact="0.0283"/>
                  <dgm:constr type="h" for="ch" forName="Child4Accent6" refType="h" fact="0.0518"/>
                  <dgm:constr type="l" for="ch" forName="Child4Accent7" refType="w" fact="0.0668"/>
                  <dgm:constr type="t" for="ch" forName="Child4Accent7" refType="h" fact="0.9482"/>
                  <dgm:constr type="w" for="ch" forName="Child4Accent7" refType="w" fact="0.0283"/>
                  <dgm:constr type="h" for="ch" forName="Child4Accent7" refType="h" fact="0.0518"/>
                  <dgm:constr type="l" for="ch" forName="Child4Accent8" refType="w" fact="0.0086"/>
                  <dgm:constr type="t" for="ch" forName="Child4Accent8" refType="h" fact="0.9482"/>
                  <dgm:constr type="w" for="ch" forName="Child4Accent8" refType="w" fact="0.0283"/>
                  <dgm:constr type="h" for="ch" forName="Child4Accent8" refType="h" fact="0.0518"/>
                  <dgm:constr type="l" for="ch" forName="Child2Accent1" refType="w" fact="0.3158"/>
                  <dgm:constr type="t" for="ch" forName="Child2Accent1" refType="h" fact="0.3725"/>
                  <dgm:constr type="w" for="ch" forName="Child2Accent1" refType="w" fact="0.0566"/>
                  <dgm:constr type="h" for="ch" forName="Child2Accent1" refType="h" fact="0.1035"/>
                  <dgm:constr type="l" for="ch" forName="Child4Accent2" refType="w" fact="0.358"/>
                  <dgm:constr type="t" for="ch" forName="Child4Accent2" refType="h" fact="0.8993"/>
                  <dgm:constr type="w" for="ch" forName="Child4Accent2" refType="w" fact="0.0283"/>
                  <dgm:constr type="h" for="ch" forName="Child4Accent2" refType="h" fact="0.0518"/>
                  <dgm:constr type="l" for="ch" forName="Child1Accent2" refType="w" fact="0.3585"/>
                  <dgm:constr type="t" for="ch" forName="Child1Accent2" refType="h" fact="0.162"/>
                  <dgm:constr type="w" for="ch" forName="Child1Accent2" refType="w" fact="0.0283"/>
                  <dgm:constr type="h" for="ch" forName="Child1Accent2" refType="h" fact="0.0518"/>
                  <dgm:constr type="l" for="ch" forName="Child3Accent3" refType="w" fact="0.2151"/>
                  <dgm:constr type="t" for="ch" forName="Child3Accent3" refType="h" fact="0.6828"/>
                  <dgm:constr type="w" for="ch" forName="Child3Accent3" refType="w" fact="0.0283"/>
                  <dgm:constr type="h" for="ch" forName="Child3Accent3" refType="h" fact="0.0518"/>
                  <dgm:constr type="l" for="ch" forName="Child2Accent2" refType="w" fact="0.2689"/>
                  <dgm:constr type="t" for="ch" forName="Child2Accent2" refType="h" fact="0.3937"/>
                  <dgm:constr type="w" for="ch" forName="Child2Accent2" refType="w" fact="0.0283"/>
                  <dgm:constr type="h" for="ch" forName="Child2Accent2" refType="h" fact="0.0518"/>
                  <dgm:constr type="l" for="ch" forName="Child2Accent4" refType="w" fact="0.1614"/>
                  <dgm:constr type="t" for="ch" forName="Child2Accent4" refType="h" fact="0.3937"/>
                  <dgm:constr type="w" for="ch" forName="Child2Accent4" refType="w" fact="0.0283"/>
                  <dgm:constr type="h" for="ch" forName="Child2Accent4" refType="h" fact="0.0518"/>
                  <dgm:constr type="l" for="ch" forName="Child2Accent5" refType="w" fact="0.1077"/>
                  <dgm:constr type="t" for="ch" forName="Child2Accent5" refType="h" fact="0.3937"/>
                  <dgm:constr type="w" for="ch" forName="Child2Accent5" refType="w" fact="0.0283"/>
                  <dgm:constr type="h" for="ch" forName="Child2Accent5" refType="h" fact="0.0518"/>
                  <dgm:constr type="l" for="ch" forName="Child2Accent6" refType="w" fact="0.0539"/>
                  <dgm:constr type="t" for="ch" forName="Child2Accent6" refType="h" fact="0.3937"/>
                  <dgm:constr type="w" for="ch" forName="Child2Accent6" refType="w" fact="0.0283"/>
                  <dgm:constr type="h" for="ch" forName="Child2Accent6" refType="h" fact="0.0518"/>
                  <dgm:constr type="l" for="ch" forName="Child2Accent7" refType="w" fact="0.0002"/>
                  <dgm:constr type="t" for="ch" forName="Child2Accent7" refType="h" fact="0.3937"/>
                  <dgm:constr type="w" for="ch" forName="Child2Accent7" refType="w" fact="0.0283"/>
                  <dgm:constr type="h" for="ch" forName="Child2Accent7" refType="h" fact="0.0518"/>
                  <dgm:constr type="l" for="ch" forName="Child2Accent3" refType="w" fact="0.2151"/>
                  <dgm:constr type="t" for="ch" forName="Child2Accent3" refType="h" fact="0.3937"/>
                  <dgm:constr type="w" for="ch" forName="Child2Accent3" refType="w" fact="0.0283"/>
                  <dgm:constr type="h" for="ch" forName="Child2Accent3" refType="h" fact="0.0518"/>
                  <dgm:constr type="l" for="ch" forName="ParentAccent1" refType="w" fact="0.9717"/>
                  <dgm:constr type="t" for="ch" forName="ParentAccent1" refType="h" fact="0.5316"/>
                  <dgm:constr type="w" for="ch" forName="ParentAccent1" refType="w" fact="0.0283"/>
                  <dgm:constr type="h" for="ch" forName="ParentAccent1" refType="h" fact="0.0518"/>
                  <dgm:constr type="l" for="ch" forName="ParentAccent2" refType="w" fact="0.9199"/>
                  <dgm:constr type="t" for="ch" forName="ParentAccent2" refType="h" fact="0.5316"/>
                  <dgm:constr type="w" for="ch" forName="ParentAccent2" refType="w" fact="0.0283"/>
                  <dgm:constr type="h" for="ch" forName="ParentAccent2" refType="h" fact="0.0518"/>
                  <dgm:constr type="l" for="ch" forName="ParentAccent3" refType="w" fact="0.8682"/>
                  <dgm:constr type="t" for="ch" forName="ParentAccent3" refType="h" fact="0.5316"/>
                  <dgm:constr type="w" for="ch" forName="ParentAccent3" refType="w" fact="0.0283"/>
                  <dgm:constr type="h" for="ch" forName="ParentAccent3" refType="h" fact="0.0518"/>
                  <dgm:constr type="l" for="ch" forName="ParentAccent4" refType="w" fact="0.8164"/>
                  <dgm:constr type="t" for="ch" forName="ParentAccent4" refType="h" fact="0.5316"/>
                  <dgm:constr type="w" for="ch" forName="ParentAccent4" refType="w" fact="0.0283"/>
                  <dgm:constr type="h" for="ch" forName="ParentAccent4" refType="h" fact="0.0518"/>
                  <dgm:constr type="l" for="ch" forName="ParentAccent5" refType="w" fact="0.7646"/>
                  <dgm:constr type="t" for="ch" forName="ParentAccent5" refType="h" fact="0.5316"/>
                  <dgm:constr type="w" for="ch" forName="ParentAccent5" refType="w" fact="0.0283"/>
                  <dgm:constr type="h" for="ch" forName="ParentAccent5" refType="h" fact="0.0518"/>
                  <dgm:constr type="l" for="ch" forName="ParentAccent6" refType="w" fact="0.6846"/>
                  <dgm:constr type="t" for="ch" forName="ParentAccent6" refType="h" fact="0.5057"/>
                  <dgm:constr type="w" for="ch" forName="ParentAccent6" refType="w" fact="0.0566"/>
                  <dgm:constr type="h" for="ch" forName="ParentAccent6" refType="h" fact="0.1035"/>
                  <dgm:constr type="l" for="ch" forName="ParentAccent7" refType="w" fact="0.9256"/>
                  <dgm:constr type="t" for="ch" forName="ParentAccent7" refType="h" fact="0.4247"/>
                  <dgm:constr type="w" for="ch" forName="ParentAccent7" refType="w" fact="0.0283"/>
                  <dgm:constr type="h" for="ch" forName="ParentAccent7" refType="h" fact="0.0518"/>
                  <dgm:constr type="l" for="ch" forName="ParentAccent8" refType="w" fact="0.9256"/>
                  <dgm:constr type="t" for="ch" forName="ParentAccent8" refType="h" fact="0.6392"/>
                  <dgm:constr type="w" for="ch" forName="ParentAccent8" refType="w" fact="0.0283"/>
                  <dgm:constr type="h" for="ch" forName="ParentAccent8" refType="h" fact="0.0518"/>
                  <dgm:constr type="l" for="ch" forName="ParentAccent9" refType="w" fact="0.9509"/>
                  <dgm:constr type="t" for="ch" forName="ParentAccent9" refType="h" fact="0.4712"/>
                  <dgm:constr type="w" for="ch" forName="ParentAccent9" refType="w" fact="0.0283"/>
                  <dgm:constr type="h" for="ch" forName="ParentAccent9" refType="h" fact="0.0518"/>
                  <dgm:constr type="l" for="ch" forName="ParentAccent10" refType="w" fact="0.9525"/>
                  <dgm:constr type="t" for="ch" forName="ParentAccent10" refType="h" fact="0.593"/>
                  <dgm:constr type="w" for="ch" forName="ParentAccent10" refType="w" fact="0.0283"/>
                  <dgm:constr type="h" for="ch" forName="ParentAccent10" refType="h" fact="0.0518"/>
                  <dgm:constr type="l" for="ch" forName="Child4" refType="w" fact="0.0081"/>
                  <dgm:constr type="t" for="ch" forName="Child4" refType="h" fact="0.8184"/>
                  <dgm:constr type="w" for="ch" forName="Child4" refType="w" fact="0.3192"/>
                  <dgm:constr type="h" for="ch" forName="Child4" refType="h" fact="0.1294"/>
                  <dgm:constr type="l" for="ch" forName="Child3" refType="w" fact="0"/>
                  <dgm:constr type="t" for="ch" forName="Child3" refType="h" fact="0.5547"/>
                  <dgm:constr type="w" for="ch" forName="Child3" refType="w" fact="0.297"/>
                  <dgm:constr type="h" for="ch" forName="Child3" refType="h" fact="0.1294"/>
                  <dgm:constr type="l" for="ch" forName="Child2" refType="w" fact="0"/>
                  <dgm:constr type="t" for="ch" forName="Child2" refType="h" fact="0.2662"/>
                  <dgm:constr type="w" for="ch" forName="Child2" refType="w" fact="0.297"/>
                  <dgm:constr type="h" for="ch" forName="Child2" refType="h" fact="0.1294"/>
                  <dgm:constr type="l" for="ch" forName="Child1" refType="w" fact="0.0081"/>
                  <dgm:constr type="t" for="ch" forName="Child1" refType="h" fact="0"/>
                  <dgm:constr type="w" for="ch" forName="Child1" refType="w" fact="0.3192"/>
                  <dgm:constr type="h" for="ch" forName="Child1" refType="h" fact="0.1294"/>
                </dgm:constrLst>
              </dgm:if>
              <dgm:else name="Name12">
                <dgm:alg type="composite">
                  <dgm:param type="ar" val="1.3278"/>
                </dgm:alg>
                <dgm:constrLst>
                  <dgm:constr type="l" for="ch" forName="Child2Accent1" refType="w" fact="0.3436"/>
                  <dgm:constr type="t" for="ch" forName="Child2Accent1" refType="h" fact="0.3184"/>
                  <dgm:constr type="w" for="ch" forName="Child2Accent1" refType="w" fact="0.0574"/>
                  <dgm:constr type="h" for="ch" forName="Child2Accent1" refType="h" fact="0.0763"/>
                  <dgm:constr type="l" for="ch" forName="Child2Accent2" refType="w" fact="0.3068"/>
                  <dgm:constr type="t" for="ch" forName="Child2Accent2" refType="h" fact="0.2781"/>
                  <dgm:constr type="w" for="ch" forName="Child2Accent2" refType="w" fact="0.0287"/>
                  <dgm:constr type="h" for="ch" forName="Child2Accent2" refType="h" fact="0.0381"/>
                  <dgm:constr type="l" for="ch" forName="Child2Accent3" refType="w" fact="0.2455"/>
                  <dgm:constr type="t" for="ch" forName="Child2Accent3" refType="h" fact="0.2781"/>
                  <dgm:constr type="w" for="ch" forName="Child2Accent3" refType="w" fact="0.0287"/>
                  <dgm:constr type="h" for="ch" forName="Child2Accent3" refType="h" fact="0.0381"/>
                  <dgm:constr type="l" for="ch" forName="Child2Accent4" refType="w" fact="0.1842"/>
                  <dgm:constr type="t" for="ch" forName="Child2Accent4" refType="h" fact="0.2781"/>
                  <dgm:constr type="w" for="ch" forName="Child2Accent4" refType="w" fact="0.0287"/>
                  <dgm:constr type="h" for="ch" forName="Child2Accent4" refType="h" fact="0.0381"/>
                  <dgm:constr type="l" for="ch" forName="Child2Accent5" refType="w" fact="0.1229"/>
                  <dgm:constr type="t" for="ch" forName="Child2Accent5" refType="h" fact="0.2781"/>
                  <dgm:constr type="w" for="ch" forName="Child2Accent5" refType="w" fact="0.0287"/>
                  <dgm:constr type="h" for="ch" forName="Child2Accent5" refType="h" fact="0.0381"/>
                  <dgm:constr type="l" for="ch" forName="Child3Accent1" refType="w" fact="0.284"/>
                  <dgm:constr type="t" for="ch" forName="Child3Accent1" refType="h" fact="0.5061"/>
                  <dgm:constr type="w" for="ch" forName="Child3Accent1" refType="w" fact="0.0574"/>
                  <dgm:constr type="h" for="ch" forName="Child3Accent1" refType="h" fact="0.0763"/>
                  <dgm:constr type="l" for="ch" forName="Child3Accent2" refType="w" fact="0.2272"/>
                  <dgm:constr type="t" for="ch" forName="Child3Accent2" refType="h" fact="0.5252"/>
                  <dgm:constr type="w" for="ch" forName="Child3Accent2" refType="w" fact="0.0287"/>
                  <dgm:constr type="h" for="ch" forName="Child3Accent2" refType="h" fact="0.0381"/>
                  <dgm:constr type="l" for="ch" forName="Child3Accent3" refType="w" fact="0.1705"/>
                  <dgm:constr type="t" for="ch" forName="Child3Accent3" refType="h" fact="0.5252"/>
                  <dgm:constr type="w" for="ch" forName="Child3Accent3" refType="w" fact="0.0287"/>
                  <dgm:constr type="h" for="ch" forName="Child3Accent3" refType="h" fact="0.0381"/>
                  <dgm:constr type="l" for="ch" forName="Child3Accent4" refType="w" fact="0.1137"/>
                  <dgm:constr type="t" for="ch" forName="Child3Accent4" refType="h" fact="0.5252"/>
                  <dgm:constr type="w" for="ch" forName="Child3Accent4" refType="w" fact="0.0287"/>
                  <dgm:constr type="h" for="ch" forName="Child3Accent4" refType="h" fact="0.0381"/>
                  <dgm:constr type="l" for="ch" forName="Child2Accent6" refType="w" fact="0.0615"/>
                  <dgm:constr type="t" for="ch" forName="Child2Accent6" refType="h" fact="0.2781"/>
                  <dgm:constr type="w" for="ch" forName="Child2Accent6" refType="w" fact="0.0287"/>
                  <dgm:constr type="h" for="ch" forName="Child2Accent6" refType="h" fact="0.0381"/>
                  <dgm:constr type="l" for="ch" forName="Child3Accent5" refType="w" fact="0.057"/>
                  <dgm:constr type="t" for="ch" forName="Child3Accent5" refType="h" fact="0.5252"/>
                  <dgm:constr type="w" for="ch" forName="Child3Accent5" refType="w" fact="0.0287"/>
                  <dgm:constr type="h" for="ch" forName="Child3Accent5" refType="h" fact="0.0381"/>
                  <dgm:constr type="l" for="ch" forName="Child2Accent7" refType="w" fact="0.0002"/>
                  <dgm:constr type="t" for="ch" forName="Child2Accent7" refType="h" fact="0.2781"/>
                  <dgm:constr type="w" for="ch" forName="Child2Accent7" refType="w" fact="0.0287"/>
                  <dgm:constr type="h" for="ch" forName="Child2Accent7" refType="h" fact="0.0381"/>
                  <dgm:constr type="l" for="ch" forName="Child3Accent6" refType="w" fact="0.0002"/>
                  <dgm:constr type="t" for="ch" forName="Child3Accent6" refType="h" fact="0.5252"/>
                  <dgm:constr type="w" for="ch" forName="Child3Accent6" refType="w" fact="0.0287"/>
                  <dgm:constr type="h" for="ch" forName="Child3Accent6" refType="h" fact="0.0381"/>
                  <dgm:constr type="l" for="ch" forName="Child3Accent7" refType="w" fact="0"/>
                  <dgm:constr type="t" for="ch" forName="Child3Accent7" refType="h" fact="0"/>
                  <dgm:constr type="w" for="ch" forName="Child3Accent7" refType="w" fact="0"/>
                  <dgm:constr type="h" for="ch" forName="Child3Accent7" refType="h" fact="0"/>
                  <dgm:constr type="l" for="ch" forName="Child4Accent1" refType="w" fact="0.3436"/>
                  <dgm:constr type="t" for="ch" forName="Child4Accent1" refType="h" fact="0.6908"/>
                  <dgm:constr type="w" for="ch" forName="Child4Accent1" refType="w" fact="0.0574"/>
                  <dgm:constr type="h" for="ch" forName="Child4Accent1" refType="h" fact="0.0763"/>
                  <dgm:constr type="l" for="ch" forName="Child4Accent2" refType="w" fact="0.3068"/>
                  <dgm:constr type="t" for="ch" forName="Child4Accent2" refType="h" fact="0.7684"/>
                  <dgm:constr type="w" for="ch" forName="Child4Accent2" refType="w" fact="0.0287"/>
                  <dgm:constr type="h" for="ch" forName="Child4Accent2" refType="h" fact="0.0381"/>
                  <dgm:constr type="l" for="ch" forName="Child4Accent3" refType="w" fact="0.2455"/>
                  <dgm:constr type="t" for="ch" forName="Child4Accent3" refType="h" fact="0.7684"/>
                  <dgm:constr type="w" for="ch" forName="Child4Accent3" refType="w" fact="0.0287"/>
                  <dgm:constr type="h" for="ch" forName="Child4Accent3" refType="h" fact="0.0381"/>
                  <dgm:constr type="l" for="ch" forName="Child4Accent4" refType="w" fact="0.1842"/>
                  <dgm:constr type="t" for="ch" forName="Child4Accent4" refType="h" fact="0.7684"/>
                  <dgm:constr type="w" for="ch" forName="Child4Accent4" refType="w" fact="0.0287"/>
                  <dgm:constr type="h" for="ch" forName="Child4Accent4" refType="h" fact="0.0381"/>
                  <dgm:constr type="l" for="ch" forName="Child4Accent5" refType="w" fact="0.1229"/>
                  <dgm:constr type="t" for="ch" forName="Child4Accent5" refType="h" fact="0.7684"/>
                  <dgm:constr type="w" for="ch" forName="Child4Accent5" refType="w" fact="0.0287"/>
                  <dgm:constr type="h" for="ch" forName="Child4Accent5" refType="h" fact="0.0381"/>
                  <dgm:constr type="l" for="ch" forName="Child4Accent6" refType="w" fact="0.0615"/>
                  <dgm:constr type="t" for="ch" forName="Child4Accent6" refType="h" fact="0.7684"/>
                  <dgm:constr type="w" for="ch" forName="Child4Accent6" refType="w" fact="0.0287"/>
                  <dgm:constr type="h" for="ch" forName="Child4Accent6" refType="h" fact="0.0381"/>
                  <dgm:constr type="l" for="ch" forName="Child4Accent7" refType="w" fact="0.0002"/>
                  <dgm:constr type="t" for="ch" forName="Child4Accent7" refType="h" fact="0.7684"/>
                  <dgm:constr type="w" for="ch" forName="Child4Accent7" refType="w" fact="0.0287"/>
                  <dgm:constr type="h" for="ch" forName="Child4Accent7" refType="h" fact="0.0381"/>
                  <dgm:constr type="l" for="ch" forName="Child4Accent8" refType="w" fact="0"/>
                  <dgm:constr type="t" for="ch" forName="Child4Accent8" refType="h" fact="0"/>
                  <dgm:constr type="w" for="ch" forName="Child4Accent8" refType="w" fact="0"/>
                  <dgm:constr type="h" for="ch" forName="Child4Accent8" refType="h" fact="0"/>
                  <dgm:constr type="l" for="ch" forName="ParentAccent1" refType="w" fact="0.9713"/>
                  <dgm:constr type="t" for="ch" forName="ParentAccent1" refType="h" fact="0.5252"/>
                  <dgm:constr type="w" for="ch" forName="ParentAccent1" refType="w" fact="0.0287"/>
                  <dgm:constr type="h" for="ch" forName="ParentAccent1" refType="h" fact="0.0381"/>
                  <dgm:constr type="l" for="ch" forName="ParentAccent2" refType="w" fact="0.9187"/>
                  <dgm:constr type="t" for="ch" forName="ParentAccent2" refType="h" fact="0.5252"/>
                  <dgm:constr type="w" for="ch" forName="ParentAccent2" refType="w" fact="0.0287"/>
                  <dgm:constr type="h" for="ch" forName="ParentAccent2" refType="h" fact="0.0381"/>
                  <dgm:constr type="l" for="ch" forName="ParentAccent3" refType="w" fact="0.8661"/>
                  <dgm:constr type="t" for="ch" forName="ParentAccent3" refType="h" fact="0.5252"/>
                  <dgm:constr type="w" for="ch" forName="ParentAccent3" refType="w" fact="0.0287"/>
                  <dgm:constr type="h" for="ch" forName="ParentAccent3" refType="h" fact="0.0381"/>
                  <dgm:constr type="l" for="ch" forName="ParentAccent4" refType="w" fact="0.8136"/>
                  <dgm:constr type="t" for="ch" forName="ParentAccent4" refType="h" fact="0.5252"/>
                  <dgm:constr type="w" for="ch" forName="ParentAccent4" refType="w" fact="0.0287"/>
                  <dgm:constr type="h" for="ch" forName="ParentAccent4" refType="h" fact="0.0381"/>
                  <dgm:constr type="l" for="ch" forName="ParentAccent5" refType="w" fact="0.761"/>
                  <dgm:constr type="t" for="ch" forName="ParentAccent5" refType="h" fact="0.5252"/>
                  <dgm:constr type="w" for="ch" forName="ParentAccent5" refType="w" fact="0.0287"/>
                  <dgm:constr type="h" for="ch" forName="ParentAccent5" refType="h" fact="0.0381"/>
                  <dgm:constr type="l" for="ch" forName="ParentAccent6" refType="w" fact="0.6797"/>
                  <dgm:constr type="t" for="ch" forName="ParentAccent6" refType="h" fact="0.5061"/>
                  <dgm:constr type="w" for="ch" forName="ParentAccent6" refType="w" fact="0.0574"/>
                  <dgm:constr type="h" for="ch" forName="ParentAccent6" refType="h" fact="0.0763"/>
                  <dgm:constr type="l" for="ch" forName="ParentAccent7" refType="w" fact="0.9245"/>
                  <dgm:constr type="t" for="ch" forName="ParentAccent7" refType="h" fact="0.4464"/>
                  <dgm:constr type="w" for="ch" forName="ParentAccent7" refType="w" fact="0.0287"/>
                  <dgm:constr type="h" for="ch" forName="ParentAccent7" refType="h" fact="0.0381"/>
                  <dgm:constr type="l" for="ch" forName="ParentAccent8" refType="w" fact="0.9245"/>
                  <dgm:constr type="t" for="ch" forName="ParentAccent8" refType="h" fact="0.6045"/>
                  <dgm:constr type="w" for="ch" forName="ParentAccent8" refType="w" fact="0.0287"/>
                  <dgm:constr type="h" for="ch" forName="ParentAccent8" refType="h" fact="0.0381"/>
                  <dgm:constr type="l" for="ch" forName="ParentAccent9" refType="w" fact="0.9501"/>
                  <dgm:constr type="t" for="ch" forName="ParentAccent9" refType="h" fact="0.4807"/>
                  <dgm:constr type="w" for="ch" forName="ParentAccent9" refType="w" fact="0.0287"/>
                  <dgm:constr type="h" for="ch" forName="ParentAccent9" refType="h" fact="0.0381"/>
                  <dgm:constr type="l" for="ch" forName="ParentAccent10" refType="w" fact="0.9518"/>
                  <dgm:constr type="t" for="ch" forName="ParentAccent10" refType="h" fact="0.5705"/>
                  <dgm:constr type="w" for="ch" forName="ParentAccent10" refType="w" fact="0.0287"/>
                  <dgm:constr type="h" for="ch" forName="ParentAccent10" refType="h" fact="0.0381"/>
                  <dgm:constr type="l" for="ch" forName="Child1Accent1" refType="w" fact="0.4819"/>
                  <dgm:constr type="t" for="ch" forName="Child1Accent1" refType="h" fact="0.2457"/>
                  <dgm:constr type="w" for="ch" forName="Child1Accent1" refType="w" fact="0.0574"/>
                  <dgm:constr type="h" for="ch" forName="Child1Accent1" refType="h" fact="0.0763"/>
                  <dgm:constr type="l" for="ch" forName="Child1Accent4" refType="w" fact="0.3653"/>
                  <dgm:constr type="t" for="ch" forName="Child1Accent4" refType="h" fact="0.097"/>
                  <dgm:constr type="w" for="ch" forName="Child1Accent4" refType="w" fact="0.0287"/>
                  <dgm:constr type="h" for="ch" forName="Child1Accent4" refType="h" fact="0.0381"/>
                  <dgm:constr type="l" for="ch" forName="Child1Accent5" refType="w" fact="0.304"/>
                  <dgm:constr type="t" for="ch" forName="Child1Accent5" refType="h" fact="0.097"/>
                  <dgm:constr type="w" for="ch" forName="Child1Accent5" refType="w" fact="0.0287"/>
                  <dgm:constr type="h" for="ch" forName="Child1Accent5" refType="h" fact="0.0381"/>
                  <dgm:constr type="l" for="ch" forName="Child1Accent6" refType="w" fact="0.2426"/>
                  <dgm:constr type="t" for="ch" forName="Child1Accent6" refType="h" fact="0.097"/>
                  <dgm:constr type="w" for="ch" forName="Child1Accent6" refType="w" fact="0.0287"/>
                  <dgm:constr type="h" for="ch" forName="Child1Accent6" refType="h" fact="0.0381"/>
                  <dgm:constr type="l" for="ch" forName="Child1Accent7" refType="w" fact="0.1813"/>
                  <dgm:constr type="t" for="ch" forName="Child1Accent7" refType="h" fact="0.097"/>
                  <dgm:constr type="w" for="ch" forName="Child1Accent7" refType="w" fact="0.0287"/>
                  <dgm:constr type="h" for="ch" forName="Child1Accent7" refType="h" fact="0.0381"/>
                  <dgm:constr type="l" for="ch" forName="Child1Accent8" refType="w" fact="0.12"/>
                  <dgm:constr type="t" for="ch" forName="Child1Accent8" refType="h" fact="0.097"/>
                  <dgm:constr type="w" for="ch" forName="Child1Accent8" refType="w" fact="0.0287"/>
                  <dgm:constr type="h" for="ch" forName="Child1Accent8" refType="h" fact="0.0381"/>
                  <dgm:constr type="l" for="ch" forName="Child1Accent9" refType="w" fact="0.0587"/>
                  <dgm:constr type="t" for="ch" forName="Child1Accent9" refType="h" fact="0.097"/>
                  <dgm:constr type="w" for="ch" forName="Child1Accent9" refType="w" fact="0.0287"/>
                  <dgm:constr type="h" for="ch" forName="Child1Accent9" refType="h" fact="0.0381"/>
                  <dgm:constr type="l" for="ch" forName="Child5Accent1" refType="w" fact="0.4819"/>
                  <dgm:constr type="t" for="ch" forName="Child5Accent1" refType="h" fact="0.7601"/>
                  <dgm:constr type="w" for="ch" forName="Child5Accent1" refType="w" fact="0.0574"/>
                  <dgm:constr type="h" for="ch" forName="Child5Accent1" refType="h" fact="0.0763"/>
                  <dgm:constr type="l" for="ch" forName="Child5Accent4" refType="w" fact="0.3653"/>
                  <dgm:constr type="t" for="ch" forName="Child5Accent4" refType="h" fact="0.9619"/>
                  <dgm:constr type="w" for="ch" forName="Child5Accent4" refType="w" fact="0.0287"/>
                  <dgm:constr type="h" for="ch" forName="Child5Accent4" refType="h" fact="0.0381"/>
                  <dgm:constr type="l" for="ch" forName="Child5Accent5" refType="w" fact="0.304"/>
                  <dgm:constr type="t" for="ch" forName="Child5Accent5" refType="h" fact="0.9619"/>
                  <dgm:constr type="w" for="ch" forName="Child5Accent5" refType="w" fact="0.0287"/>
                  <dgm:constr type="h" for="ch" forName="Child5Accent5" refType="h" fact="0.0381"/>
                  <dgm:constr type="l" for="ch" forName="Child5Accent6" refType="w" fact="0.2426"/>
                  <dgm:constr type="t" for="ch" forName="Child5Accent6" refType="h" fact="0.9619"/>
                  <dgm:constr type="w" for="ch" forName="Child5Accent6" refType="w" fact="0.0287"/>
                  <dgm:constr type="h" for="ch" forName="Child5Accent6" refType="h" fact="0.0381"/>
                  <dgm:constr type="l" for="ch" forName="Child5Accent7" refType="w" fact="0.1813"/>
                  <dgm:constr type="t" for="ch" forName="Child5Accent7" refType="h" fact="0.9619"/>
                  <dgm:constr type="w" for="ch" forName="Child5Accent7" refType="w" fact="0.0287"/>
                  <dgm:constr type="h" for="ch" forName="Child5Accent7" refType="h" fact="0.0381"/>
                  <dgm:constr type="l" for="ch" forName="Child5Accent8" refType="w" fact="0.12"/>
                  <dgm:constr type="t" for="ch" forName="Child5Accent8" refType="h" fact="0.9619"/>
                  <dgm:constr type="w" for="ch" forName="Child5Accent8" refType="w" fact="0.0287"/>
                  <dgm:constr type="h" for="ch" forName="Child5Accent8" refType="h" fact="0.0381"/>
                  <dgm:constr type="l" for="ch" forName="Child5Accent9" refType="w" fact="0.0587"/>
                  <dgm:constr type="t" for="ch" forName="Child5Accent9" refType="h" fact="0.9619"/>
                  <dgm:constr type="w" for="ch" forName="Child5Accent9" refType="w" fact="0.0287"/>
                  <dgm:constr type="h" for="ch" forName="Child5Accent9" refType="h" fact="0.0381"/>
                  <dgm:constr type="l" for="ch" forName="Child5Accent2" refType="w" fact="0.453"/>
                  <dgm:constr type="t" for="ch" forName="Child5Accent2" refType="h" fact="0.8375"/>
                  <dgm:constr type="w" for="ch" forName="Child5Accent2" refType="w" fact="0.0287"/>
                  <dgm:constr type="h" for="ch" forName="Child5Accent2" refType="h" fact="0.0381"/>
                  <dgm:constr type="l" for="ch" forName="Child5Accent3" refType="w" fact="0.4118"/>
                  <dgm:constr type="t" for="ch" forName="Child5Accent3" refType="h" fact="0.8991"/>
                  <dgm:constr type="w" for="ch" forName="Child5Accent3" refType="w" fact="0.0287"/>
                  <dgm:constr type="h" for="ch" forName="Child5Accent3" refType="h" fact="0.0381"/>
                  <dgm:constr type="l" for="ch" forName="Child1Accent2" refType="w" fact="0.4458"/>
                  <dgm:constr type="t" for="ch" forName="Child1Accent2" refType="h" fact="0.2004"/>
                  <dgm:constr type="w" for="ch" forName="Child1Accent2" refType="w" fact="0.0287"/>
                  <dgm:constr type="h" for="ch" forName="Child1Accent2" refType="h" fact="0.0381"/>
                  <dgm:constr type="l" for="ch" forName="Child1Accent3" refType="w" fact="0.4054"/>
                  <dgm:constr type="t" for="ch" forName="Child1Accent3" refType="h" fact="0.1445"/>
                  <dgm:constr type="w" for="ch" forName="Child1Accent3" refType="w" fact="0.0287"/>
                  <dgm:constr type="h" for="ch" forName="Child1Accent3" refType="h" fact="0.0381"/>
                  <dgm:constr type="l" for="ch" forName="Child5" refType="w" fact="0.0581"/>
                  <dgm:constr type="t" for="ch" forName="Child5" refType="h" fact="0.8635"/>
                  <dgm:constr type="w" for="ch" forName="Child5" refType="w" fact="0.3364"/>
                  <dgm:constr type="h" for="ch" forName="Child5" refType="h" fact="0.0981"/>
                  <dgm:constr type="l" for="ch" forName="Child4" refType="w" fact="0"/>
                  <dgm:constr type="t" for="ch" forName="Child4" refType="h" fact="0.6701"/>
                  <dgm:constr type="w" for="ch" forName="Child4" refType="w" fact="0.3364"/>
                  <dgm:constr type="h" for="ch" forName="Child4" refType="h" fact="0.0981"/>
                  <dgm:constr type="l" for="ch" forName="Child3" refType="w" fact="0"/>
                  <dgm:constr type="t" for="ch" forName="Child3" refType="h" fact="0.4276"/>
                  <dgm:constr type="w" for="ch" forName="Child3" refType="w" fact="0.2544"/>
                  <dgm:constr type="h" for="ch" forName="Child3" refType="h" fact="0.0981"/>
                  <dgm:constr type="l" for="ch" forName="Child2" refType="w" fact="0"/>
                  <dgm:constr type="t" for="ch" forName="Child2" refType="h" fact="0.1798"/>
                  <dgm:constr type="w" for="ch" forName="Child2" refType="w" fact="0.3364"/>
                  <dgm:constr type="h" for="ch" forName="Child2" refType="h" fact="0.0981"/>
                  <dgm:constr type="l" for="ch" forName="Child1" refType="w" fact="0.0581"/>
                  <dgm:constr type="t" for="ch" forName="Child1" refType="h" fact="0"/>
                  <dgm:constr type="w" for="ch" forName="Child1" refType="w" fact="0.3364"/>
                  <dgm:constr type="h" for="ch" forName="Child1" refType="h" fact="0.0981"/>
                  <dgm:constr type="l" for="ch" forName="Parent" refType="w" fact="0.3653"/>
                  <dgm:constr type="t" for="ch" forName="Parent" refType="h" fact="0.3513"/>
                  <dgm:constr type="w" for="ch" forName="Parent" refType="w" fact="0.2906"/>
                  <dgm:constr type="h" for="ch" forName="Parent" refType="h" fact="0.3859"/>
                </dgm:constrLst>
              </dgm:else>
            </dgm:choose>
          </dgm:if>
          <dgm:else name="Name13">
            <dgm:choose name="Name14">
              <dgm:if name="Name15" axis="ch" ptType="node" func="cnt" op="equ" val="0">
                <dgm:alg type="composite">
                  <dgm:param type="ar" val="2.1059"/>
                </dgm:alg>
                <dgm:constrLst>
                  <dgm:constr type="r" for="ch" forName="Parent" refType="w"/>
                  <dgm:constr type="t" for="ch" forName="Parent" refType="h" fact="0"/>
                  <dgm:constr type="w" for="ch" forName="Parent" refType="w" fact="0.4749"/>
                  <dgm:constr type="h" for="ch" forName="Parent" refType="h"/>
                  <dgm:constr type="r" for="ch" forName="ParentAccent1" refType="w" fact="0.0469"/>
                  <dgm:constr type="t" for="ch" forName="ParentAccent1" refType="h" fact="0.4506"/>
                  <dgm:constr type="w" for="ch" forName="ParentAccent1" refType="w" fact="0.0469"/>
                  <dgm:constr type="h" for="ch" forName="ParentAccent1" refType="h" fact="0.0988"/>
                  <dgm:constr type="r" for="ch" forName="ParentAccent2" refType="w" fact="0.1266"/>
                  <dgm:constr type="t" for="ch" forName="ParentAccent2" refType="h" fact="0.4506"/>
                  <dgm:constr type="w" for="ch" forName="ParentAccent2" refType="w" fact="0.0469"/>
                  <dgm:constr type="h" for="ch" forName="ParentAccent2" refType="h" fact="0.0988"/>
                  <dgm:constr type="r" for="ch" forName="ParentAccent3" refType="w" fact="0.2063"/>
                  <dgm:constr type="t" for="ch" forName="ParentAccent3" refType="h" fact="0.4506"/>
                  <dgm:constr type="w" for="ch" forName="ParentAccent3" refType="w" fact="0.0469"/>
                  <dgm:constr type="h" for="ch" forName="ParentAccent3" refType="h" fact="0.0988"/>
                  <dgm:constr type="r" for="ch" forName="ParentAccent4" refType="w" fact="0.286"/>
                  <dgm:constr type="t" for="ch" forName="ParentAccent4" refType="h" fact="0.4506"/>
                  <dgm:constr type="w" for="ch" forName="ParentAccent4" refType="w" fact="0.0469"/>
                  <dgm:constr type="h" for="ch" forName="ParentAccent4" refType="h" fact="0.0988"/>
                  <dgm:constr type="r" for="ch" forName="ParentAccent5" refType="w" fact="0.3657"/>
                  <dgm:constr type="t" for="ch" forName="ParentAccent5" refType="h" fact="0.4506"/>
                  <dgm:constr type="w" for="ch" forName="ParentAccent5" refType="w" fact="0.0469"/>
                  <dgm:constr type="h" for="ch" forName="ParentAccent5" refType="h" fact="0.0988"/>
                  <dgm:constr type="r" for="ch" forName="ParentAccent6" refType="w" fact="0.4924"/>
                  <dgm:constr type="t" for="ch" forName="ParentAccent6" refType="h" fact="0.4012"/>
                  <dgm:constr type="w" for="ch" forName="ParentAccent6" refType="w" fact="0.0939"/>
                  <dgm:constr type="h" for="ch" forName="ParentAccent6" refType="h" fact="0.1976"/>
                  <dgm:constr type="r" for="ch" forName="ParentAccent7" refType="w" fact="0.1234"/>
                  <dgm:constr type="t" for="ch" forName="ParentAccent7" refType="h" fact="0.2465"/>
                  <dgm:constr type="w" for="ch" forName="ParentAccent7" refType="w" fact="0.0469"/>
                  <dgm:constr type="h" for="ch" forName="ParentAccent7" refType="h" fact="0.0988"/>
                  <dgm:constr type="r" for="ch" forName="ParentAccent8" refType="w" fact="0.1234"/>
                  <dgm:constr type="t" for="ch" forName="ParentAccent8" refType="h" fact="0.6562"/>
                  <dgm:constr type="w" for="ch" forName="ParentAccent8" refType="w" fact="0.0469"/>
                  <dgm:constr type="h" for="ch" forName="ParentAccent8" refType="h" fact="0.0988"/>
                  <dgm:constr type="r" for="ch" forName="ParentAccent9" refType="w" fact="0.0815"/>
                  <dgm:constr type="t" for="ch" forName="ParentAccent9" refType="h" fact="0.3353"/>
                  <dgm:constr type="w" for="ch" forName="ParentAccent9" refType="w" fact="0.0469"/>
                  <dgm:constr type="h" for="ch" forName="ParentAccent9" refType="h" fact="0.0988"/>
                  <dgm:constr type="r" for="ch" forName="ParentAccent10" refType="w" fact="0.0787"/>
                  <dgm:constr type="t" for="ch" forName="ParentAccent10" refType="h" fact="0.5679"/>
                  <dgm:constr type="w" for="ch" forName="ParentAccent10" refType="w" fact="0.0469"/>
                  <dgm:constr type="h" for="ch" forName="ParentAccent10" refType="h" fact="0.0988"/>
                </dgm:constrLst>
              </dgm:if>
              <dgm:if name="Name16" axis="ch" ptType="node" func="cnt" op="equ" val="1">
                <dgm:alg type="composite">
                  <dgm:param type="ar" val="3.4411"/>
                </dgm:alg>
                <dgm:constrLst>
                  <dgm:constr type="primFontSz" for="des" forName="Child1" val="65"/>
                  <dgm:constr type="primFontSz" for="des" forName="Child1" refType="primFontSz" refFor="des" refForName="Parent" op="lte"/>
                  <dgm:constr type="r" for="ch" forName="Child1Accent1" refType="w" fact="0.716"/>
                  <dgm:constr type="t" for="ch" forName="Child1Accent1" refType="h" fact="0.4012"/>
                  <dgm:constr type="w" for="ch" forName="Child1Accent1" refType="w" fact="0.0574"/>
                  <dgm:constr type="h" for="ch" forName="Child1Accent1" refType="h" fact="0.1976"/>
                  <dgm:constr type="r" for="ch" forName="Child1Accent2" refType="w" fact="0.7728"/>
                  <dgm:constr type="t" for="ch" forName="Child1Accent2" refType="h" fact="0.4506"/>
                  <dgm:constr type="w" for="ch" forName="Child1Accent2" refType="w" fact="0.0287"/>
                  <dgm:constr type="h" for="ch" forName="Child1Accent2" refType="h" fact="0.0988"/>
                  <dgm:constr type="r" for="ch" forName="Child1Accent3" refType="w" fact="0.8295"/>
                  <dgm:constr type="t" for="ch" forName="Child1Accent3" refType="h" fact="0.4506"/>
                  <dgm:constr type="w" for="ch" forName="Child1Accent3" refType="w" fact="0.0287"/>
                  <dgm:constr type="h" for="ch" forName="Child1Accent3" refType="h" fact="0.0988"/>
                  <dgm:constr type="r" for="ch" forName="Child1Accent4" refType="w" fact="0.8863"/>
                  <dgm:constr type="t" for="ch" forName="Child1Accent4" refType="h" fact="0.4506"/>
                  <dgm:constr type="w" for="ch" forName="Child1Accent4" refType="w" fact="0.0287"/>
                  <dgm:constr type="h" for="ch" forName="Child1Accent4" refType="h" fact="0.0988"/>
                  <dgm:constr type="r" for="ch" forName="Child1Accent5" refType="w" fact="0.943"/>
                  <dgm:constr type="t" for="ch" forName="Child1Accent5" refType="h" fact="0.4506"/>
                  <dgm:constr type="w" for="ch" forName="Child1Accent5" refType="w" fact="0.0287"/>
                  <dgm:constr type="h" for="ch" forName="Child1Accent5" refType="h" fact="0.0988"/>
                  <dgm:constr type="r" for="ch" forName="Child1Accent6" refType="w" fact="0.9998"/>
                  <dgm:constr type="t" for="ch" forName="Child1Accent6" refType="h" fact="0.4506"/>
                  <dgm:constr type="w" for="ch" forName="Child1Accent6" refType="w" fact="0.0287"/>
                  <dgm:constr type="h" for="ch" forName="Child1Accent6" refType="h" fact="0.0988"/>
                  <dgm:constr type="l" for="ch" forName="Child1Accent7" refType="w" fact="0"/>
                  <dgm:constr type="t" for="ch" forName="Child1Accent7" refType="h" fact="0"/>
                  <dgm:constr type="w" for="ch" forName="Child1Accent7" refType="w" fact="0"/>
                  <dgm:constr type="h" for="ch" forName="Child1Accent7" refType="h" fact="0"/>
                  <dgm:constr type="l" for="ch" forName="Child1Accent8" refType="w" fact="0"/>
                  <dgm:constr type="t" for="ch" forName="Child1Accent8" refType="h" fact="0"/>
                  <dgm:constr type="w" for="ch" forName="Child1Accent8" refType="w" fact="0"/>
                  <dgm:constr type="h" for="ch" forName="Child1Accent8" refType="h" fact="0"/>
                  <dgm:constr type="l" for="ch" forName="Child1Accent9" refType="w" fact="0"/>
                  <dgm:constr type="t" for="ch" forName="Child1Accent9" refType="h" fact="0"/>
                  <dgm:constr type="w" for="ch" forName="Child1Accent9" refType="w" fact="0"/>
                  <dgm:constr type="h" for="ch" forName="Child1Accent9" refType="h" fact="0"/>
                  <dgm:constr type="r" for="ch" forName="ParentAccent1" refType="w" fact="0.0287"/>
                  <dgm:constr type="t" for="ch" forName="ParentAccent1" refType="h" fact="0.4506"/>
                  <dgm:constr type="w" for="ch" forName="ParentAccent1" refType="w" fact="0.0287"/>
                  <dgm:constr type="h" for="ch" forName="ParentAccent1" refType="h" fact="0.0988"/>
                  <dgm:constr type="r" for="ch" forName="ParentAccent2" refType="w" fact="0.0813"/>
                  <dgm:constr type="t" for="ch" forName="ParentAccent2" refType="h" fact="0.4506"/>
                  <dgm:constr type="w" for="ch" forName="ParentAccent2" refType="w" fact="0.0287"/>
                  <dgm:constr type="h" for="ch" forName="ParentAccent2" refType="h" fact="0.0988"/>
                  <dgm:constr type="r" for="ch" forName="ParentAccent3" refType="w" fact="0.1339"/>
                  <dgm:constr type="t" for="ch" forName="ParentAccent3" refType="h" fact="0.4506"/>
                  <dgm:constr type="w" for="ch" forName="ParentAccent3" refType="w" fact="0.0287"/>
                  <dgm:constr type="h" for="ch" forName="ParentAccent3" refType="h" fact="0.0988"/>
                  <dgm:constr type="r" for="ch" forName="ParentAccent4" refType="w" fact="0.1864"/>
                  <dgm:constr type="t" for="ch" forName="ParentAccent4" refType="h" fact="0.4506"/>
                  <dgm:constr type="w" for="ch" forName="ParentAccent4" refType="w" fact="0.0287"/>
                  <dgm:constr type="h" for="ch" forName="ParentAccent4" refType="h" fact="0.0988"/>
                  <dgm:constr type="r" for="ch" forName="ParentAccent5" refType="w" fact="0.239"/>
                  <dgm:constr type="t" for="ch" forName="ParentAccent5" refType="h" fact="0.4506"/>
                  <dgm:constr type="w" for="ch" forName="ParentAccent5" refType="w" fact="0.0287"/>
                  <dgm:constr type="h" for="ch" forName="ParentAccent5" refType="h" fact="0.0988"/>
                  <dgm:constr type="r" for="ch" forName="ParentAccent6" refType="w" fact="0.3203"/>
                  <dgm:constr type="t" for="ch" forName="ParentAccent6" refType="h" fact="0.4012"/>
                  <dgm:constr type="w" for="ch" forName="ParentAccent6" refType="w" fact="0.0574"/>
                  <dgm:constr type="h" for="ch" forName="ParentAccent6" refType="h" fact="0.1976"/>
                  <dgm:constr type="r" for="ch" forName="ParentAccent7" refType="w" fact="0.0755"/>
                  <dgm:constr type="t" for="ch" forName="ParentAccent7" refType="h" fact="0.2465"/>
                  <dgm:constr type="w" for="ch" forName="ParentAccent7" refType="w" fact="0.0287"/>
                  <dgm:constr type="h" for="ch" forName="ParentAccent7" refType="h" fact="0.0988"/>
                  <dgm:constr type="r" for="ch" forName="ParentAccent8" refType="w" fact="0.0755"/>
                  <dgm:constr type="t" for="ch" forName="ParentAccent8" refType="h" fact="0.6562"/>
                  <dgm:constr type="w" for="ch" forName="ParentAccent8" refType="w" fact="0.0287"/>
                  <dgm:constr type="h" for="ch" forName="ParentAccent8" refType="h" fact="0.0988"/>
                  <dgm:constr type="r" for="ch" forName="ParentAccent9" refType="w" fact="0.0499"/>
                  <dgm:constr type="t" for="ch" forName="ParentAccent9" refType="h" fact="0.3353"/>
                  <dgm:constr type="w" for="ch" forName="ParentAccent9" refType="w" fact="0.0287"/>
                  <dgm:constr type="h" for="ch" forName="ParentAccent9" refType="h" fact="0.0988"/>
                  <dgm:constr type="r" for="ch" forName="ParentAccent10" refType="w" fact="0.0482"/>
                  <dgm:constr type="t" for="ch" forName="ParentAccent10" refType="h" fact="0.5679"/>
                  <dgm:constr type="w" for="ch" forName="ParentAccent10" refType="w" fact="0.0287"/>
                  <dgm:constr type="h" for="ch" forName="ParentAccent10" refType="h" fact="0.0988"/>
                  <dgm:constr type="r" for="ch" forName="Child1" refType="w"/>
                  <dgm:constr type="t" for="ch" forName="Child1" refType="h" fact="0.1978"/>
                  <dgm:constr type="w" for="ch" forName="Child1" refType="w" fact="0.2544"/>
                  <dgm:constr type="h" for="ch" forName="Child1" refType="h" fact="0.2541"/>
                  <dgm:constr type="r" for="ch" forName="Parent" refType="w" fact="0.6347"/>
                  <dgm:constr type="t" for="ch" forName="Parent" refType="h" fact="0"/>
                  <dgm:constr type="w" for="ch" forName="Parent" refType="w" fact="0.2906"/>
                  <dgm:constr type="h" for="ch" forName="Parent" refType="h"/>
                </dgm:constrLst>
              </dgm:if>
              <dgm:if name="Name17" axis="ch" ptType="node" func="cnt" op="equ" val="2">
                <dgm:alg type="composite">
                  <dgm:param type="ar" val="2.1185"/>
                </dgm:alg>
                <dgm:constrLst>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r" for="ch" forName="Child1Accent1" refType="w" fact="0.6564"/>
                  <dgm:constr type="t" for="ch" forName="Child1Accent1" refType="h" fact="0.2211"/>
                  <dgm:constr type="w" for="ch" forName="Child1Accent1" refType="w" fact="0.0574"/>
                  <dgm:constr type="h" for="ch" forName="Child1Accent1" refType="h" fact="0.1217"/>
                  <dgm:constr type="r" for="ch" forName="Child1Accent2" refType="w" fact="0.6932"/>
                  <dgm:constr type="t" for="ch" forName="Child1Accent2" refType="h" fact="0.1569"/>
                  <dgm:constr type="w" for="ch" forName="Child1Accent2" refType="w" fact="0.0287"/>
                  <dgm:constr type="h" for="ch" forName="Child1Accent2" refType="h" fact="0.0608"/>
                  <dgm:constr type="r" for="ch" forName="Child1Accent3" refType="w" fact="0.7545"/>
                  <dgm:constr type="t" for="ch" forName="Child1Accent3" refType="h" fact="0.1569"/>
                  <dgm:constr type="w" for="ch" forName="Child1Accent3" refType="w" fact="0.0287"/>
                  <dgm:constr type="h" for="ch" forName="Child1Accent3" refType="h" fact="0.0608"/>
                  <dgm:constr type="r" for="ch" forName="Child1Accent4" refType="w" fact="0.8158"/>
                  <dgm:constr type="t" for="ch" forName="Child1Accent4" refType="h" fact="0.1569"/>
                  <dgm:constr type="w" for="ch" forName="Child1Accent4" refType="w" fact="0.0287"/>
                  <dgm:constr type="h" for="ch" forName="Child1Accent4" refType="h" fact="0.0608"/>
                  <dgm:constr type="r" for="ch" forName="Child1Accent5" refType="w" fact="0.8771"/>
                  <dgm:constr type="t" for="ch" forName="Child1Accent5" refType="h" fact="0.1569"/>
                  <dgm:constr type="w" for="ch" forName="Child1Accent5" refType="w" fact="0.0287"/>
                  <dgm:constr type="h" for="ch" forName="Child1Accent5" refType="h" fact="0.0608"/>
                  <dgm:constr type="r" for="ch" forName="Child1Accent6" refType="w" fact="0.9385"/>
                  <dgm:constr type="t" for="ch" forName="Child1Accent6" refType="h" fact="0.1569"/>
                  <dgm:constr type="w" for="ch" forName="Child1Accent6" refType="w" fact="0.0287"/>
                  <dgm:constr type="h" for="ch" forName="Child1Accent6" refType="h" fact="0.0608"/>
                  <dgm:constr type="r" for="ch" forName="Child1Accent7" refType="w" fact="0.9998"/>
                  <dgm:constr type="t" for="ch" forName="Child1Accent7" refType="h" fact="0.1569"/>
                  <dgm:constr type="w" for="ch" forName="Child1Accent7" refType="w" fact="0.0287"/>
                  <dgm:constr type="h" for="ch" forName="Child1Accent7" refType="h" fact="0.0608"/>
                  <dgm:constr type="l" for="ch" forName="Child1Accent8" refType="w" fact="0"/>
                  <dgm:constr type="t" for="ch" forName="Child1Accent8" refType="h" fact="0"/>
                  <dgm:constr type="w" for="ch" forName="Child1Accent8" refType="w" fact="0"/>
                  <dgm:constr type="h" for="ch" forName="Child1Accent8" refType="h" fact="0"/>
                  <dgm:constr type="l" for="ch" forName="Child1Accent9" refType="w" fact="0"/>
                  <dgm:constr type="t" for="ch" forName="Child1Accent9" refType="h" fact="0"/>
                  <dgm:constr type="w" for="ch" forName="Child1Accent9" refType="w" fact="0"/>
                  <dgm:constr type="h" for="ch" forName="Child1Accent9" refType="h" fact="0"/>
                  <dgm:constr type="r" for="ch" forName="Child2Accent1" refType="w" fact="0.6564"/>
                  <dgm:constr type="t" for="ch" forName="Child2Accent1" refType="h" fact="0.8153"/>
                  <dgm:constr type="w" for="ch" forName="Child2Accent1" refType="w" fact="0.0574"/>
                  <dgm:constr type="h" for="ch" forName="Child2Accent1" refType="h" fact="0.1217"/>
                  <dgm:constr type="r" for="ch" forName="Child2Accent2" refType="w" fact="0.6932"/>
                  <dgm:constr type="t" for="ch" forName="Child2Accent2" refType="h" fact="0.9392"/>
                  <dgm:constr type="w" for="ch" forName="Child2Accent2" refType="w" fact="0.0287"/>
                  <dgm:constr type="h" for="ch" forName="Child2Accent2" refType="h" fact="0.0608"/>
                  <dgm:constr type="r" for="ch" forName="Child2Accent3" refType="w" fact="0.7545"/>
                  <dgm:constr type="t" for="ch" forName="Child2Accent3" refType="h" fact="0.9392"/>
                  <dgm:constr type="w" for="ch" forName="Child2Accent3" refType="w" fact="0.0287"/>
                  <dgm:constr type="h" for="ch" forName="Child2Accent3" refType="h" fact="0.0608"/>
                  <dgm:constr type="r" for="ch" forName="Child2Accent4" refType="w" fact="0.8158"/>
                  <dgm:constr type="t" for="ch" forName="Child2Accent4" refType="h" fact="0.9392"/>
                  <dgm:constr type="w" for="ch" forName="Child2Accent4" refType="w" fact="0.0287"/>
                  <dgm:constr type="h" for="ch" forName="Child2Accent4" refType="h" fact="0.0608"/>
                  <dgm:constr type="r" for="ch" forName="Child2Accent5" refType="w" fact="0.8771"/>
                  <dgm:constr type="t" for="ch" forName="Child2Accent5" refType="h" fact="0.9392"/>
                  <dgm:constr type="w" for="ch" forName="Child2Accent5" refType="w" fact="0.0287"/>
                  <dgm:constr type="h" for="ch" forName="Child2Accent5" refType="h" fact="0.0608"/>
                  <dgm:constr type="r" for="ch" forName="Child2Accent6" refType="w" fact="0.9385"/>
                  <dgm:constr type="t" for="ch" forName="Child2Accent6" refType="h" fact="0.9392"/>
                  <dgm:constr type="w" for="ch" forName="Child2Accent6" refType="w" fact="0.0287"/>
                  <dgm:constr type="h" for="ch" forName="Child2Accent6" refType="h" fact="0.0608"/>
                  <dgm:constr type="r" for="ch" forName="Child2Accent7" refType="w" fact="0.9998"/>
                  <dgm:constr type="t" for="ch" forName="Child2Accent7" refType="h" fact="0.9392"/>
                  <dgm:constr type="w" for="ch" forName="Child2Accent7" refType="w" fact="0.0287"/>
                  <dgm:constr type="h" for="ch" forName="Child2Accent7" refType="h" fact="0.0608"/>
                  <dgm:constr type="r" for="ch" forName="ParentAccent1" refType="w" fact="0.0287"/>
                  <dgm:constr type="t" for="ch" forName="ParentAccent1" refType="h" fact="0.5511"/>
                  <dgm:constr type="w" for="ch" forName="ParentAccent1" refType="w" fact="0.0287"/>
                  <dgm:constr type="h" for="ch" forName="ParentAccent1" refType="h" fact="0.0608"/>
                  <dgm:constr type="r" for="ch" forName="ParentAccent2" refType="w" fact="0.0813"/>
                  <dgm:constr type="t" for="ch" forName="ParentAccent2" refType="h" fact="0.5511"/>
                  <dgm:constr type="w" for="ch" forName="ParentAccent2" refType="w" fact="0.0287"/>
                  <dgm:constr type="h" for="ch" forName="ParentAccent2" refType="h" fact="0.0608"/>
                  <dgm:constr type="r" for="ch" forName="ParentAccent3" refType="w" fact="0.1339"/>
                  <dgm:constr type="t" for="ch" forName="ParentAccent3" refType="h" fact="0.5511"/>
                  <dgm:constr type="w" for="ch" forName="ParentAccent3" refType="w" fact="0.0287"/>
                  <dgm:constr type="h" for="ch" forName="ParentAccent3" refType="h" fact="0.0608"/>
                  <dgm:constr type="r" for="ch" forName="ParentAccent4" refType="w" fact="0.1864"/>
                  <dgm:constr type="t" for="ch" forName="ParentAccent4" refType="h" fact="0.5511"/>
                  <dgm:constr type="w" for="ch" forName="ParentAccent4" refType="w" fact="0.0287"/>
                  <dgm:constr type="h" for="ch" forName="ParentAccent4" refType="h" fact="0.0608"/>
                  <dgm:constr type="r" for="ch" forName="ParentAccent5" refType="w" fact="0.239"/>
                  <dgm:constr type="t" for="ch" forName="ParentAccent5" refType="h" fact="0.5511"/>
                  <dgm:constr type="w" for="ch" forName="ParentAccent5" refType="w" fact="0.0287"/>
                  <dgm:constr type="h" for="ch" forName="ParentAccent5" refType="h" fact="0.0608"/>
                  <dgm:constr type="r" for="ch" forName="ParentAccent6" refType="w" fact="0.3203"/>
                  <dgm:constr type="t" for="ch" forName="ParentAccent6" refType="h" fact="0.5207"/>
                  <dgm:constr type="w" for="ch" forName="ParentAccent6" refType="w" fact="0.0574"/>
                  <dgm:constr type="h" for="ch" forName="ParentAccent6" refType="h" fact="0.1217"/>
                  <dgm:constr type="r" for="ch" forName="ParentAccent7" refType="w" fact="0.0755"/>
                  <dgm:constr type="t" for="ch" forName="ParentAccent7" refType="h" fact="0.4255"/>
                  <dgm:constr type="w" for="ch" forName="ParentAccent7" refType="w" fact="0.0287"/>
                  <dgm:constr type="h" for="ch" forName="ParentAccent7" refType="h" fact="0.0608"/>
                  <dgm:constr type="r" for="ch" forName="ParentAccent8" refType="w" fact="0.0755"/>
                  <dgm:constr type="t" for="ch" forName="ParentAccent8" refType="h" fact="0.6776"/>
                  <dgm:constr type="w" for="ch" forName="ParentAccent8" refType="w" fact="0.0287"/>
                  <dgm:constr type="h" for="ch" forName="ParentAccent8" refType="h" fact="0.0608"/>
                  <dgm:constr type="r" for="ch" forName="ParentAccent9" refType="w" fact="0.0499"/>
                  <dgm:constr type="t" for="ch" forName="ParentAccent9" refType="h" fact="0.4801"/>
                  <dgm:constr type="w" for="ch" forName="ParentAccent9" refType="w" fact="0.0287"/>
                  <dgm:constr type="h" for="ch" forName="ParentAccent9" refType="h" fact="0.0608"/>
                  <dgm:constr type="r" for="ch" forName="ParentAccent10" refType="w" fact="0.0482"/>
                  <dgm:constr type="t" for="ch" forName="ParentAccent10" refType="h" fact="0.6233"/>
                  <dgm:constr type="w" for="ch" forName="ParentAccent10" refType="w" fact="0.0287"/>
                  <dgm:constr type="h" for="ch" forName="ParentAccent10" refType="h" fact="0.0608"/>
                  <dgm:constr type="r" for="ch" forName="Child2" refType="w"/>
                  <dgm:constr type="t" for="ch" forName="Child2" refType="h" fact="0.7822"/>
                  <dgm:constr type="w" for="ch" forName="Child2" refType="w" fact="0.3364"/>
                  <dgm:constr type="h" for="ch" forName="Child2" refType="h" fact="0.1564"/>
                  <dgm:constr type="r" for="ch" forName="Child1" refType="w"/>
                  <dgm:constr type="t" for="ch" forName="Child1" refType="h" fact="0"/>
                  <dgm:constr type="w" for="ch" forName="Child1" refType="w" fact="0.3364"/>
                  <dgm:constr type="h" for="ch" forName="Child1" refType="h" fact="0.1564"/>
                  <dgm:constr type="r" for="ch" forName="Parent" refType="w" fact="0.6347"/>
                  <dgm:constr type="t" for="ch" forName="Parent" refType="h" fact="0.2737"/>
                  <dgm:constr type="w" for="ch" forName="Parent" refType="w" fact="0.2906"/>
                  <dgm:constr type="h" for="ch" forName="Parent" refType="h" fact="0.6157"/>
                </dgm:constrLst>
              </dgm:if>
              <dgm:if name="Name18" axis="ch" ptType="node" func="cnt" op="equ" val="3">
                <dgm:alg type="composite">
                  <dgm:param type="ar" val="2.1185"/>
                </dgm:alg>
                <dgm:constrLst>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r" for="ch" forName="Child1Accent1" refType="w" fact="0.6564"/>
                  <dgm:constr type="t" for="ch" forName="Child1Accent1" refType="h" fact="0.2211"/>
                  <dgm:constr type="w" for="ch" forName="Child1Accent1" refType="w" fact="0.0574"/>
                  <dgm:constr type="h" for="ch" forName="Child1Accent1" refType="h" fact="0.1217"/>
                  <dgm:constr type="r" for="ch" forName="Child1Accent2" refType="w" fact="0.6932"/>
                  <dgm:constr type="t" for="ch" forName="Child1Accent2" refType="h" fact="0.1569"/>
                  <dgm:constr type="w" for="ch" forName="Child1Accent2" refType="w" fact="0.0287"/>
                  <dgm:constr type="h" for="ch" forName="Child1Accent2" refType="h" fact="0.0608"/>
                  <dgm:constr type="r" for="ch" forName="Child1Accent3" refType="w" fact="0.7545"/>
                  <dgm:constr type="t" for="ch" forName="Child1Accent3" refType="h" fact="0.1569"/>
                  <dgm:constr type="w" for="ch" forName="Child1Accent3" refType="w" fact="0.0287"/>
                  <dgm:constr type="h" for="ch" forName="Child1Accent3" refType="h" fact="0.0608"/>
                  <dgm:constr type="r" for="ch" forName="Child1Accent4" refType="w" fact="0.8158"/>
                  <dgm:constr type="t" for="ch" forName="Child1Accent4" refType="h" fact="0.1569"/>
                  <dgm:constr type="w" for="ch" forName="Child1Accent4" refType="w" fact="0.0287"/>
                  <dgm:constr type="h" for="ch" forName="Child1Accent4" refType="h" fact="0.0608"/>
                  <dgm:constr type="r" for="ch" forName="Child1Accent5" refType="w" fact="0.8771"/>
                  <dgm:constr type="t" for="ch" forName="Child1Accent5" refType="h" fact="0.1569"/>
                  <dgm:constr type="w" for="ch" forName="Child1Accent5" refType="w" fact="0.0287"/>
                  <dgm:constr type="h" for="ch" forName="Child1Accent5" refType="h" fact="0.0608"/>
                  <dgm:constr type="r" for="ch" forName="Child1Accent6" refType="w" fact="0.9385"/>
                  <dgm:constr type="t" for="ch" forName="Child1Accent6" refType="h" fact="0.1569"/>
                  <dgm:constr type="w" for="ch" forName="Child1Accent6" refType="w" fact="0.0287"/>
                  <dgm:constr type="h" for="ch" forName="Child1Accent6" refType="h" fact="0.0608"/>
                  <dgm:constr type="r" for="ch" forName="Child1Accent7" refType="w" fact="0.9998"/>
                  <dgm:constr type="t" for="ch" forName="Child1Accent7" refType="h" fact="0.1569"/>
                  <dgm:constr type="w" for="ch" forName="Child1Accent7" refType="w" fact="0.0287"/>
                  <dgm:constr type="h" for="ch" forName="Child1Accent7" refType="h" fact="0.0608"/>
                  <dgm:constr type="r" for="ch" forName="Child1Accent8" refType="w" fact="0"/>
                  <dgm:constr type="t" for="ch" forName="Child1Accent8" refType="h" fact="0"/>
                  <dgm:constr type="w" for="ch" forName="Child1Accent8" refType="w" fact="0"/>
                  <dgm:constr type="h" for="ch" forName="Child1Accent8" refType="h" fact="0"/>
                  <dgm:constr type="r" for="ch" forName="Child1Accent9" refType="w" fact="0"/>
                  <dgm:constr type="t" for="ch" forName="Child1Accent9" refType="h" fact="0"/>
                  <dgm:constr type="w" for="ch" forName="Child1Accent9" refType="w" fact="0"/>
                  <dgm:constr type="h" for="ch" forName="Child1Accent9" refType="h" fact="0"/>
                  <dgm:constr type="r" for="ch" forName="Child2Accent1" refType="w" fact="0.716"/>
                  <dgm:constr type="t" for="ch" forName="Child2Accent1" refType="h" fact="0.5207"/>
                  <dgm:constr type="w" for="ch" forName="Child2Accent1" refType="w" fact="0.0574"/>
                  <dgm:constr type="h" for="ch" forName="Child2Accent1" refType="h" fact="0.1217"/>
                  <dgm:constr type="r" for="ch" forName="Child2Accent2" refType="w" fact="0.7728"/>
                  <dgm:constr type="t" for="ch" forName="Child2Accent2" refType="h" fact="0.5511"/>
                  <dgm:constr type="w" for="ch" forName="Child2Accent2" refType="w" fact="0.0287"/>
                  <dgm:constr type="h" for="ch" forName="Child2Accent2" refType="h" fact="0.0608"/>
                  <dgm:constr type="r" for="ch" forName="Child2Accent3" refType="w" fact="0.8295"/>
                  <dgm:constr type="t" for="ch" forName="Child2Accent3" refType="h" fact="0.5511"/>
                  <dgm:constr type="w" for="ch" forName="Child2Accent3" refType="w" fact="0.0287"/>
                  <dgm:constr type="h" for="ch" forName="Child2Accent3" refType="h" fact="0.0608"/>
                  <dgm:constr type="r" for="ch" forName="Child2Accent4" refType="w" fact="0.8863"/>
                  <dgm:constr type="t" for="ch" forName="Child2Accent4" refType="h" fact="0.5511"/>
                  <dgm:constr type="w" for="ch" forName="Child2Accent4" refType="w" fact="0.0287"/>
                  <dgm:constr type="h" for="ch" forName="Child2Accent4" refType="h" fact="0.0608"/>
                  <dgm:constr type="r" for="ch" forName="Child2Accent5" refType="w" fact="0.943"/>
                  <dgm:constr type="t" for="ch" forName="Child2Accent5" refType="h" fact="0.5511"/>
                  <dgm:constr type="w" for="ch" forName="Child2Accent5" refType="w" fact="0.0287"/>
                  <dgm:constr type="h" for="ch" forName="Child2Accent5" refType="h" fact="0.0608"/>
                  <dgm:constr type="r" for="ch" forName="Child2Accent6" refType="w" fact="0.9998"/>
                  <dgm:constr type="t" for="ch" forName="Child2Accent6" refType="h" fact="0.5511"/>
                  <dgm:constr type="w" for="ch" forName="Child2Accent6" refType="w" fact="0.0287"/>
                  <dgm:constr type="h" for="ch" forName="Child2Accent6" refType="h" fact="0.0608"/>
                  <dgm:constr type="r" for="ch" forName="Child2Accent7" refType="w" fact="0"/>
                  <dgm:constr type="t" for="ch" forName="Child2Accent7" refType="h" fact="0"/>
                  <dgm:constr type="w" for="ch" forName="Child2Accent7" refType="w" fact="0"/>
                  <dgm:constr type="h" for="ch" forName="Child2Accent7" refType="h" fact="0"/>
                  <dgm:constr type="r" for="ch" forName="Child3Accent1" refType="w" fact="0.6564"/>
                  <dgm:constr type="t" for="ch" forName="Child3Accent1" refType="h" fact="0.8153"/>
                  <dgm:constr type="w" for="ch" forName="Child3Accent1" refType="w" fact="0.0574"/>
                  <dgm:constr type="h" for="ch" forName="Child3Accent1" refType="h" fact="0.1217"/>
                  <dgm:constr type="r" for="ch" forName="Child3Accent2" refType="w" fact="0.6932"/>
                  <dgm:constr type="t" for="ch" forName="Child3Accent2" refType="h" fact="0.9392"/>
                  <dgm:constr type="w" for="ch" forName="Child3Accent2" refType="w" fact="0.0287"/>
                  <dgm:constr type="h" for="ch" forName="Child3Accent2" refType="h" fact="0.0608"/>
                  <dgm:constr type="r" for="ch" forName="Child3Accent3" refType="w" fact="0.7545"/>
                  <dgm:constr type="t" for="ch" forName="Child3Accent3" refType="h" fact="0.9392"/>
                  <dgm:constr type="w" for="ch" forName="Child3Accent3" refType="w" fact="0.0287"/>
                  <dgm:constr type="h" for="ch" forName="Child3Accent3" refType="h" fact="0.0608"/>
                  <dgm:constr type="r" for="ch" forName="Child3Accent4" refType="w" fact="0.8158"/>
                  <dgm:constr type="t" for="ch" forName="Child3Accent4" refType="h" fact="0.9392"/>
                  <dgm:constr type="w" for="ch" forName="Child3Accent4" refType="w" fact="0.0287"/>
                  <dgm:constr type="h" for="ch" forName="Child3Accent4" refType="h" fact="0.0608"/>
                  <dgm:constr type="r" for="ch" forName="Child3Accent5" refType="w" fact="0.8771"/>
                  <dgm:constr type="t" for="ch" forName="Child3Accent5" refType="h" fact="0.9392"/>
                  <dgm:constr type="w" for="ch" forName="Child3Accent5" refType="w" fact="0.0287"/>
                  <dgm:constr type="h" for="ch" forName="Child3Accent5" refType="h" fact="0.0608"/>
                  <dgm:constr type="r" for="ch" forName="Child3Accent6" refType="w" fact="0.9385"/>
                  <dgm:constr type="t" for="ch" forName="Child3Accent6" refType="h" fact="0.9392"/>
                  <dgm:constr type="w" for="ch" forName="Child3Accent6" refType="w" fact="0.0287"/>
                  <dgm:constr type="h" for="ch" forName="Child3Accent6" refType="h" fact="0.0608"/>
                  <dgm:constr type="r" for="ch" forName="Child3Accent7" refType="w" fact="0.9998"/>
                  <dgm:constr type="t" for="ch" forName="Child3Accent7" refType="h" fact="0.9392"/>
                  <dgm:constr type="w" for="ch" forName="Child3Accent7" refType="w" fact="0.0287"/>
                  <dgm:constr type="h" for="ch" forName="Child3Accent7" refType="h" fact="0.0608"/>
                  <dgm:constr type="r" for="ch" forName="ParentAccent1" refType="w" fact="0.0287"/>
                  <dgm:constr type="t" for="ch" forName="ParentAccent1" refType="h" fact="0.5511"/>
                  <dgm:constr type="w" for="ch" forName="ParentAccent1" refType="w" fact="0.0287"/>
                  <dgm:constr type="h" for="ch" forName="ParentAccent1" refType="h" fact="0.0608"/>
                  <dgm:constr type="r" for="ch" forName="ParentAccent2" refType="w" fact="0.0813"/>
                  <dgm:constr type="t" for="ch" forName="ParentAccent2" refType="h" fact="0.5511"/>
                  <dgm:constr type="w" for="ch" forName="ParentAccent2" refType="w" fact="0.0287"/>
                  <dgm:constr type="h" for="ch" forName="ParentAccent2" refType="h" fact="0.0608"/>
                  <dgm:constr type="r" for="ch" forName="ParentAccent3" refType="w" fact="0.1339"/>
                  <dgm:constr type="t" for="ch" forName="ParentAccent3" refType="h" fact="0.5511"/>
                  <dgm:constr type="w" for="ch" forName="ParentAccent3" refType="w" fact="0.0287"/>
                  <dgm:constr type="h" for="ch" forName="ParentAccent3" refType="h" fact="0.0608"/>
                  <dgm:constr type="r" for="ch" forName="ParentAccent4" refType="w" fact="0.1864"/>
                  <dgm:constr type="t" for="ch" forName="ParentAccent4" refType="h" fact="0.5511"/>
                  <dgm:constr type="w" for="ch" forName="ParentAccent4" refType="w" fact="0.0287"/>
                  <dgm:constr type="h" for="ch" forName="ParentAccent4" refType="h" fact="0.0608"/>
                  <dgm:constr type="r" for="ch" forName="ParentAccent5" refType="w" fact="0.239"/>
                  <dgm:constr type="t" for="ch" forName="ParentAccent5" refType="h" fact="0.5511"/>
                  <dgm:constr type="w" for="ch" forName="ParentAccent5" refType="w" fact="0.0287"/>
                  <dgm:constr type="h" for="ch" forName="ParentAccent5" refType="h" fact="0.0608"/>
                  <dgm:constr type="r" for="ch" forName="ParentAccent6" refType="w" fact="0.3203"/>
                  <dgm:constr type="t" for="ch" forName="ParentAccent6" refType="h" fact="0.5207"/>
                  <dgm:constr type="w" for="ch" forName="ParentAccent6" refType="w" fact="0.0574"/>
                  <dgm:constr type="h" for="ch" forName="ParentAccent6" refType="h" fact="0.1217"/>
                  <dgm:constr type="r" for="ch" forName="ParentAccent7" refType="w" fact="0.0755"/>
                  <dgm:constr type="t" for="ch" forName="ParentAccent7" refType="h" fact="0.4255"/>
                  <dgm:constr type="w" for="ch" forName="ParentAccent7" refType="w" fact="0.0287"/>
                  <dgm:constr type="h" for="ch" forName="ParentAccent7" refType="h" fact="0.0608"/>
                  <dgm:constr type="r" for="ch" forName="ParentAccent8" refType="w" fact="0.0755"/>
                  <dgm:constr type="t" for="ch" forName="ParentAccent8" refType="h" fact="0.6776"/>
                  <dgm:constr type="w" for="ch" forName="ParentAccent8" refType="w" fact="0.0287"/>
                  <dgm:constr type="h" for="ch" forName="ParentAccent8" refType="h" fact="0.0608"/>
                  <dgm:constr type="r" for="ch" forName="ParentAccent9" refType="w" fact="0.0499"/>
                  <dgm:constr type="t" for="ch" forName="ParentAccent9" refType="h" fact="0.4801"/>
                  <dgm:constr type="w" for="ch" forName="ParentAccent9" refType="w" fact="0.0287"/>
                  <dgm:constr type="h" for="ch" forName="ParentAccent9" refType="h" fact="0.0608"/>
                  <dgm:constr type="r" for="ch" forName="ParentAccent10" refType="w" fact="0.0482"/>
                  <dgm:constr type="t" for="ch" forName="ParentAccent10" refType="h" fact="0.6233"/>
                  <dgm:constr type="w" for="ch" forName="ParentAccent10" refType="w" fact="0.0287"/>
                  <dgm:constr type="h" for="ch" forName="ParentAccent10" refType="h" fact="0.0608"/>
                  <dgm:constr type="r" for="ch" forName="Child3" refType="w"/>
                  <dgm:constr type="t" for="ch" forName="Child3" refType="h" fact="0.7822"/>
                  <dgm:constr type="w" for="ch" forName="Child3" refType="w" fact="0.3364"/>
                  <dgm:constr type="h" for="ch" forName="Child3" refType="h" fact="0.1564"/>
                  <dgm:constr type="r" for="ch" forName="Child2" refType="w"/>
                  <dgm:constr type="t" for="ch" forName="Child2" refType="h" fact="0.3955"/>
                  <dgm:constr type="w" for="ch" forName="Child2" refType="w" fact="0.2544"/>
                  <dgm:constr type="h" for="ch" forName="Child2" refType="h" fact="0.1564"/>
                  <dgm:constr type="r" for="ch" forName="Child1" refType="w"/>
                  <dgm:constr type="t" for="ch" forName="Child1" refType="h" fact="0"/>
                  <dgm:constr type="w" for="ch" forName="Child1" refType="w" fact="0.3364"/>
                  <dgm:constr type="h" for="ch" forName="Child1" refType="h" fact="0.1564"/>
                  <dgm:constr type="r" for="ch" forName="Parent" refType="w" fact="0.6347"/>
                  <dgm:constr type="t" for="ch" forName="Parent" refType="h" fact="0.2737"/>
                  <dgm:constr type="w" for="ch" forName="Parent" refType="w" fact="0.2906"/>
                  <dgm:constr type="h" for="ch" forName="Parent" refType="h" fact="0.6157"/>
                </dgm:constrLst>
              </dgm:if>
              <dgm:if name="Name19" axis="ch" ptType="node" func="cnt" op="equ" val="4">
                <dgm:alg type="composite">
                  <dgm:param type="ar" val="1.8304"/>
                </dgm:alg>
                <dgm:constrLst>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Parent" refType="w" fact="0.6229"/>
                  <dgm:constr type="t" for="ch" forName="Parent" refType="h" fact="0.2946"/>
                  <dgm:constr type="w" for="ch" forName="Parent" refType="w" fact="0.2862"/>
                  <dgm:constr type="h" for="ch" forName="Parent" refType="h" fact="0.5239"/>
                  <dgm:constr type="r" for="ch" forName="Child1Accent1" refType="w" fact="0.6096"/>
                  <dgm:constr type="t" for="ch" forName="Child1Accent1" refType="h" fact="0.2104"/>
                  <dgm:constr type="w" for="ch" forName="Child1Accent1" refType="w" fact="0.0566"/>
                  <dgm:constr type="h" for="ch" forName="Child1Accent1" refType="h" fact="0.1035"/>
                  <dgm:constr type="r" for="ch" forName="Child1Accent3" refType="w" fact="0.6999"/>
                  <dgm:constr type="t" for="ch" forName="Child1Accent3" refType="h" fact="0.128"/>
                  <dgm:constr type="w" for="ch" forName="Child1Accent3" refType="w" fact="0.0283"/>
                  <dgm:constr type="h" for="ch" forName="Child1Accent3" refType="h" fact="0.0518"/>
                  <dgm:constr type="r" for="ch" forName="Child1Accent4" refType="w" fact="0.7582"/>
                  <dgm:constr type="t" for="ch" forName="Child1Accent4" refType="h" fact="0.128"/>
                  <dgm:constr type="w" for="ch" forName="Child1Accent4" refType="w" fact="0.0283"/>
                  <dgm:constr type="h" for="ch" forName="Child1Accent4" refType="h" fact="0.0518"/>
                  <dgm:constr type="r" for="ch" forName="Child1Accent5" refType="w" fact="0.8165"/>
                  <dgm:constr type="t" for="ch" forName="Child1Accent5" refType="h" fact="0.128"/>
                  <dgm:constr type="w" for="ch" forName="Child1Accent5" refType="w" fact="0.0283"/>
                  <dgm:constr type="h" for="ch" forName="Child1Accent5" refType="h" fact="0.0518"/>
                  <dgm:constr type="r" for="ch" forName="Child1Accent6" refType="w" fact="0.8748"/>
                  <dgm:constr type="t" for="ch" forName="Child1Accent6" refType="h" fact="0.128"/>
                  <dgm:constr type="w" for="ch" forName="Child1Accent6" refType="w" fact="0.0283"/>
                  <dgm:constr type="h" for="ch" forName="Child1Accent6" refType="h" fact="0.0518"/>
                  <dgm:constr type="r" for="ch" forName="Child3Accent1" refType="w" fact="0.6842"/>
                  <dgm:constr type="t" for="ch" forName="Child3Accent1" refType="h" fact="0.6212"/>
                  <dgm:constr type="w" for="ch" forName="Child3Accent1" refType="w" fact="0.0566"/>
                  <dgm:constr type="h" for="ch" forName="Child3Accent1" refType="h" fact="0.1035"/>
                  <dgm:constr type="r" for="ch" forName="Child3Accent2" refType="w" fact="0.7311"/>
                  <dgm:constr type="t" for="ch" forName="Child3Accent2" refType="h" fact="0.6828"/>
                  <dgm:constr type="w" for="ch" forName="Child3Accent2" refType="w" fact="0.0283"/>
                  <dgm:constr type="h" for="ch" forName="Child3Accent2" refType="h" fact="0.0518"/>
                  <dgm:constr type="r" for="ch" forName="Child3Accent4" refType="w" fact="0.8386"/>
                  <dgm:constr type="t" for="ch" forName="Child3Accent4" refType="h" fact="0.6828"/>
                  <dgm:constr type="w" for="ch" forName="Child3Accent4" refType="w" fact="0.0283"/>
                  <dgm:constr type="h" for="ch" forName="Child3Accent4" refType="h" fact="0.0518"/>
                  <dgm:constr type="r" for="ch" forName="Child3Accent5" refType="w" fact="0.8923"/>
                  <dgm:constr type="t" for="ch" forName="Child3Accent5" refType="h" fact="0.6828"/>
                  <dgm:constr type="w" for="ch" forName="Child3Accent5" refType="w" fact="0.0283"/>
                  <dgm:constr type="h" for="ch" forName="Child3Accent5" refType="h" fact="0.0518"/>
                  <dgm:constr type="r" for="ch" forName="Child1Accent7" refType="w" fact="0.9332"/>
                  <dgm:constr type="t" for="ch" forName="Child1Accent7" refType="h" fact="0.128"/>
                  <dgm:constr type="w" for="ch" forName="Child1Accent7" refType="w" fact="0.0283"/>
                  <dgm:constr type="h" for="ch" forName="Child1Accent7" refType="h" fact="0.0518"/>
                  <dgm:constr type="r" for="ch" forName="Child3Accent6" refType="w" fact="0.9461"/>
                  <dgm:constr type="t" for="ch" forName="Child3Accent6" refType="h" fact="0.6828"/>
                  <dgm:constr type="w" for="ch" forName="Child3Accent6" refType="w" fact="0.0283"/>
                  <dgm:constr type="h" for="ch" forName="Child3Accent6" refType="h" fact="0.0518"/>
                  <dgm:constr type="r" for="ch" forName="Child1Accent8" refType="w" fact="0.9915"/>
                  <dgm:constr type="t" for="ch" forName="Child1Accent8" refType="h" fact="0.128"/>
                  <dgm:constr type="w" for="ch" forName="Child1Accent8" refType="w" fact="0.0283"/>
                  <dgm:constr type="h" for="ch" forName="Child1Accent8" refType="h" fact="0.0518"/>
                  <dgm:constr type="r" for="ch" forName="Child1Accent9" refType="w" fact="0"/>
                  <dgm:constr type="t" for="ch" forName="Child1Accent9" refType="h" fact="0"/>
                  <dgm:constr type="w" for="ch" forName="Child1Accent9" refType="w" fact="0"/>
                  <dgm:constr type="h" for="ch" forName="Child1Accent9" refType="h" fact="0"/>
                  <dgm:constr type="r" for="ch" forName="Child3Accent7" refType="w" fact="0.9998"/>
                  <dgm:constr type="t" for="ch" forName="Child3Accent7" refType="h" fact="0.6828"/>
                  <dgm:constr type="w" for="ch" forName="Child3Accent7" refType="w" fact="0.0283"/>
                  <dgm:constr type="h" for="ch" forName="Child3Accent7" refType="h" fact="0.0518"/>
                  <dgm:constr type="r" for="ch" forName="Child4Accent1" refType="w" fact="0.6096"/>
                  <dgm:constr type="t" for="ch" forName="Child4Accent1" refType="h" fact="0.8"/>
                  <dgm:constr type="w" for="ch" forName="Child4Accent1" refType="w" fact="0.0566"/>
                  <dgm:constr type="h" for="ch" forName="Child4Accent1" refType="h" fact="0.1035"/>
                  <dgm:constr type="r" for="ch" forName="Child4Accent3" refType="w" fact="0.7002"/>
                  <dgm:constr type="t" for="ch" forName="Child4Accent3" refType="h" fact="0.9482"/>
                  <dgm:constr type="w" for="ch" forName="Child4Accent3" refType="w" fact="0.0283"/>
                  <dgm:constr type="h" for="ch" forName="Child4Accent3" refType="h" fact="0.0518"/>
                  <dgm:constr type="r" for="ch" forName="Child4Accent4" refType="w" fact="0.7585"/>
                  <dgm:constr type="t" for="ch" forName="Child4Accent4" refType="h" fact="0.9482"/>
                  <dgm:constr type="w" for="ch" forName="Child4Accent4" refType="w" fact="0.0283"/>
                  <dgm:constr type="h" for="ch" forName="Child4Accent4" refType="h" fact="0.0518"/>
                  <dgm:constr type="r" for="ch" forName="Child4Accent5" refType="w" fact="0.8167"/>
                  <dgm:constr type="t" for="ch" forName="Child4Accent5" refType="h" fact="0.9482"/>
                  <dgm:constr type="w" for="ch" forName="Child4Accent5" refType="w" fact="0.0283"/>
                  <dgm:constr type="h" for="ch" forName="Child4Accent5" refType="h" fact="0.0518"/>
                  <dgm:constr type="r" for="ch" forName="Child4Accent6" refType="w" fact="0.8749"/>
                  <dgm:constr type="t" for="ch" forName="Child4Accent6" refType="h" fact="0.9482"/>
                  <dgm:constr type="w" for="ch" forName="Child4Accent6" refType="w" fact="0.0283"/>
                  <dgm:constr type="h" for="ch" forName="Child4Accent6" refType="h" fact="0.0518"/>
                  <dgm:constr type="r" for="ch" forName="Child4Accent7" refType="w" fact="0.9332"/>
                  <dgm:constr type="t" for="ch" forName="Child4Accent7" refType="h" fact="0.9482"/>
                  <dgm:constr type="w" for="ch" forName="Child4Accent7" refType="w" fact="0.0283"/>
                  <dgm:constr type="h" for="ch" forName="Child4Accent7" refType="h" fact="0.0518"/>
                  <dgm:constr type="r" for="ch" forName="Child4Accent8" refType="w" fact="0.9914"/>
                  <dgm:constr type="t" for="ch" forName="Child4Accent8" refType="h" fact="0.9482"/>
                  <dgm:constr type="w" for="ch" forName="Child4Accent8" refType="w" fact="0.0283"/>
                  <dgm:constr type="h" for="ch" forName="Child4Accent8" refType="h" fact="0.0518"/>
                  <dgm:constr type="r" for="ch" forName="Child2Accent1" refType="w" fact="0.6842"/>
                  <dgm:constr type="t" for="ch" forName="Child2Accent1" refType="h" fact="0.3725"/>
                  <dgm:constr type="w" for="ch" forName="Child2Accent1" refType="w" fact="0.0566"/>
                  <dgm:constr type="h" for="ch" forName="Child2Accent1" refType="h" fact="0.1035"/>
                  <dgm:constr type="r" for="ch" forName="Child4Accent2" refType="w" fact="0.642"/>
                  <dgm:constr type="t" for="ch" forName="Child4Accent2" refType="h" fact="0.8993"/>
                  <dgm:constr type="w" for="ch" forName="Child4Accent2" refType="w" fact="0.0283"/>
                  <dgm:constr type="h" for="ch" forName="Child4Accent2" refType="h" fact="0.0518"/>
                  <dgm:constr type="r" for="ch" forName="Child1Accent2" refType="w" fact="0.6415"/>
                  <dgm:constr type="t" for="ch" forName="Child1Accent2" refType="h" fact="0.162"/>
                  <dgm:constr type="w" for="ch" forName="Child1Accent2" refType="w" fact="0.0283"/>
                  <dgm:constr type="h" for="ch" forName="Child1Accent2" refType="h" fact="0.0518"/>
                  <dgm:constr type="r" for="ch" forName="Child3Accent3" refType="w" fact="0.7849"/>
                  <dgm:constr type="t" for="ch" forName="Child3Accent3" refType="h" fact="0.6828"/>
                  <dgm:constr type="w" for="ch" forName="Child3Accent3" refType="w" fact="0.0283"/>
                  <dgm:constr type="h" for="ch" forName="Child3Accent3" refType="h" fact="0.0518"/>
                  <dgm:constr type="r" for="ch" forName="Child2Accent2" refType="w" fact="0.7311"/>
                  <dgm:constr type="t" for="ch" forName="Child2Accent2" refType="h" fact="0.3937"/>
                  <dgm:constr type="w" for="ch" forName="Child2Accent2" refType="w" fact="0.0283"/>
                  <dgm:constr type="h" for="ch" forName="Child2Accent2" refType="h" fact="0.0518"/>
                  <dgm:constr type="r" for="ch" forName="Child2Accent4" refType="w" fact="0.8386"/>
                  <dgm:constr type="t" for="ch" forName="Child2Accent4" refType="h" fact="0.3937"/>
                  <dgm:constr type="w" for="ch" forName="Child2Accent4" refType="w" fact="0.0283"/>
                  <dgm:constr type="h" for="ch" forName="Child2Accent4" refType="h" fact="0.0518"/>
                  <dgm:constr type="r" for="ch" forName="Child2Accent5" refType="w" fact="0.8923"/>
                  <dgm:constr type="t" for="ch" forName="Child2Accent5" refType="h" fact="0.3937"/>
                  <dgm:constr type="w" for="ch" forName="Child2Accent5" refType="w" fact="0.0283"/>
                  <dgm:constr type="h" for="ch" forName="Child2Accent5" refType="h" fact="0.0518"/>
                  <dgm:constr type="r" for="ch" forName="Child2Accent6" refType="w" fact="0.9461"/>
                  <dgm:constr type="t" for="ch" forName="Child2Accent6" refType="h" fact="0.3937"/>
                  <dgm:constr type="w" for="ch" forName="Child2Accent6" refType="w" fact="0.0283"/>
                  <dgm:constr type="h" for="ch" forName="Child2Accent6" refType="h" fact="0.0518"/>
                  <dgm:constr type="r" for="ch" forName="Child2Accent7" refType="w" fact="0.9998"/>
                  <dgm:constr type="t" for="ch" forName="Child2Accent7" refType="h" fact="0.3937"/>
                  <dgm:constr type="w" for="ch" forName="Child2Accent7" refType="w" fact="0.0283"/>
                  <dgm:constr type="h" for="ch" forName="Child2Accent7" refType="h" fact="0.0518"/>
                  <dgm:constr type="r" for="ch" forName="Child2Accent3" refType="w" fact="0.7849"/>
                  <dgm:constr type="t" for="ch" forName="Child2Accent3" refType="h" fact="0.3937"/>
                  <dgm:constr type="w" for="ch" forName="Child2Accent3" refType="w" fact="0.0283"/>
                  <dgm:constr type="h" for="ch" forName="Child2Accent3" refType="h" fact="0.0518"/>
                  <dgm:constr type="r" for="ch" forName="ParentAccent1" refType="w" fact="0.0283"/>
                  <dgm:constr type="t" for="ch" forName="ParentAccent1" refType="h" fact="0.5316"/>
                  <dgm:constr type="w" for="ch" forName="ParentAccent1" refType="w" fact="0.0283"/>
                  <dgm:constr type="h" for="ch" forName="ParentAccent1" refType="h" fact="0.0518"/>
                  <dgm:constr type="r" for="ch" forName="ParentAccent2" refType="w" fact="0.0801"/>
                  <dgm:constr type="t" for="ch" forName="ParentAccent2" refType="h" fact="0.5316"/>
                  <dgm:constr type="w" for="ch" forName="ParentAccent2" refType="w" fact="0.0283"/>
                  <dgm:constr type="h" for="ch" forName="ParentAccent2" refType="h" fact="0.0518"/>
                  <dgm:constr type="r" for="ch" forName="ParentAccent3" refType="w" fact="0.1318"/>
                  <dgm:constr type="t" for="ch" forName="ParentAccent3" refType="h" fact="0.5316"/>
                  <dgm:constr type="w" for="ch" forName="ParentAccent3" refType="w" fact="0.0283"/>
                  <dgm:constr type="h" for="ch" forName="ParentAccent3" refType="h" fact="0.0518"/>
                  <dgm:constr type="r" for="ch" forName="ParentAccent4" refType="w" fact="0.1836"/>
                  <dgm:constr type="t" for="ch" forName="ParentAccent4" refType="h" fact="0.5316"/>
                  <dgm:constr type="w" for="ch" forName="ParentAccent4" refType="w" fact="0.0283"/>
                  <dgm:constr type="h" for="ch" forName="ParentAccent4" refType="h" fact="0.0518"/>
                  <dgm:constr type="r" for="ch" forName="ParentAccent5" refType="w" fact="0.2354"/>
                  <dgm:constr type="t" for="ch" forName="ParentAccent5" refType="h" fact="0.5316"/>
                  <dgm:constr type="w" for="ch" forName="ParentAccent5" refType="w" fact="0.0283"/>
                  <dgm:constr type="h" for="ch" forName="ParentAccent5" refType="h" fact="0.0518"/>
                  <dgm:constr type="r" for="ch" forName="ParentAccent6" refType="w" fact="0.3154"/>
                  <dgm:constr type="t" for="ch" forName="ParentAccent6" refType="h" fact="0.5057"/>
                  <dgm:constr type="w" for="ch" forName="ParentAccent6" refType="w" fact="0.0566"/>
                  <dgm:constr type="h" for="ch" forName="ParentAccent6" refType="h" fact="0.1035"/>
                  <dgm:constr type="r" for="ch" forName="ParentAccent7" refType="w" fact="0.0744"/>
                  <dgm:constr type="t" for="ch" forName="ParentAccent7" refType="h" fact="0.4247"/>
                  <dgm:constr type="w" for="ch" forName="ParentAccent7" refType="w" fact="0.0283"/>
                  <dgm:constr type="h" for="ch" forName="ParentAccent7" refType="h" fact="0.0518"/>
                  <dgm:constr type="r" for="ch" forName="ParentAccent8" refType="w" fact="0.0744"/>
                  <dgm:constr type="t" for="ch" forName="ParentAccent8" refType="h" fact="0.6392"/>
                  <dgm:constr type="w" for="ch" forName="ParentAccent8" refType="w" fact="0.0283"/>
                  <dgm:constr type="h" for="ch" forName="ParentAccent8" refType="h" fact="0.0518"/>
                  <dgm:constr type="r" for="ch" forName="ParentAccent9" refType="w" fact="0.0491"/>
                  <dgm:constr type="t" for="ch" forName="ParentAccent9" refType="h" fact="0.4712"/>
                  <dgm:constr type="w" for="ch" forName="ParentAccent9" refType="w" fact="0.0283"/>
                  <dgm:constr type="h" for="ch" forName="ParentAccent9" refType="h" fact="0.0518"/>
                  <dgm:constr type="r" for="ch" forName="ParentAccent10" refType="w" fact="0.0475"/>
                  <dgm:constr type="t" for="ch" forName="ParentAccent10" refType="h" fact="0.593"/>
                  <dgm:constr type="w" for="ch" forName="ParentAccent10" refType="w" fact="0.0283"/>
                  <dgm:constr type="h" for="ch" forName="ParentAccent10" refType="h" fact="0.0518"/>
                  <dgm:constr type="r" for="ch" forName="Child4" refType="w" fact="0.9919"/>
                  <dgm:constr type="t" for="ch" forName="Child4" refType="h" fact="0.8184"/>
                  <dgm:constr type="w" for="ch" forName="Child4" refType="w" fact="0.3192"/>
                  <dgm:constr type="h" for="ch" forName="Child4" refType="h" fact="0.1294"/>
                  <dgm:constr type="r" for="ch" forName="Child3" refType="w"/>
                  <dgm:constr type="t" for="ch" forName="Child3" refType="h" fact="0.5547"/>
                  <dgm:constr type="w" for="ch" forName="Child3" refType="w" fact="0.297"/>
                  <dgm:constr type="h" for="ch" forName="Child3" refType="h" fact="0.1294"/>
                  <dgm:constr type="r" for="ch" forName="Child2" refType="w"/>
                  <dgm:constr type="t" for="ch" forName="Child2" refType="h" fact="0.2662"/>
                  <dgm:constr type="w" for="ch" forName="Child2" refType="w" fact="0.297"/>
                  <dgm:constr type="h" for="ch" forName="Child2" refType="h" fact="0.1294"/>
                  <dgm:constr type="r" for="ch" forName="Child1" refType="w" fact="0.9919"/>
                  <dgm:constr type="t" for="ch" forName="Child1" refType="h" fact="0"/>
                  <dgm:constr type="w" for="ch" forName="Child1" refType="w" fact="0.3192"/>
                  <dgm:constr type="h" for="ch" forName="Child1" refType="h" fact="0.1294"/>
                </dgm:constrLst>
              </dgm:if>
              <dgm:else name="Name20">
                <dgm:alg type="composite">
                  <dgm:param type="ar" val="1.3278"/>
                </dgm:alg>
                <dgm:constrLst>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Child2Accent1" refType="w" fact="0.6564"/>
                  <dgm:constr type="t" for="ch" forName="Child2Accent1" refType="h" fact="0.3184"/>
                  <dgm:constr type="w" for="ch" forName="Child2Accent1" refType="w" fact="0.0574"/>
                  <dgm:constr type="h" for="ch" forName="Child2Accent1" refType="h" fact="0.0763"/>
                  <dgm:constr type="r" for="ch" forName="Child2Accent2" refType="w" fact="0.6932"/>
                  <dgm:constr type="t" for="ch" forName="Child2Accent2" refType="h" fact="0.2781"/>
                  <dgm:constr type="w" for="ch" forName="Child2Accent2" refType="w" fact="0.0287"/>
                  <dgm:constr type="h" for="ch" forName="Child2Accent2" refType="h" fact="0.0381"/>
                  <dgm:constr type="r" for="ch" forName="Child2Accent3" refType="w" fact="0.7545"/>
                  <dgm:constr type="t" for="ch" forName="Child2Accent3" refType="h" fact="0.2781"/>
                  <dgm:constr type="w" for="ch" forName="Child2Accent3" refType="w" fact="0.0287"/>
                  <dgm:constr type="h" for="ch" forName="Child2Accent3" refType="h" fact="0.0381"/>
                  <dgm:constr type="r" for="ch" forName="Child2Accent4" refType="w" fact="0.8158"/>
                  <dgm:constr type="t" for="ch" forName="Child2Accent4" refType="h" fact="0.2781"/>
                  <dgm:constr type="w" for="ch" forName="Child2Accent4" refType="w" fact="0.0287"/>
                  <dgm:constr type="h" for="ch" forName="Child2Accent4" refType="h" fact="0.0381"/>
                  <dgm:constr type="r" for="ch" forName="Child2Accent5" refType="w" fact="0.8771"/>
                  <dgm:constr type="t" for="ch" forName="Child2Accent5" refType="h" fact="0.2781"/>
                  <dgm:constr type="w" for="ch" forName="Child2Accent5" refType="w" fact="0.0287"/>
                  <dgm:constr type="h" for="ch" forName="Child2Accent5" refType="h" fact="0.0381"/>
                  <dgm:constr type="r" for="ch" forName="Child2Accent6" refType="w" fact="0.9385"/>
                  <dgm:constr type="t" for="ch" forName="Child2Accent6" refType="h" fact="0.2781"/>
                  <dgm:constr type="w" for="ch" forName="Child2Accent6" refType="w" fact="0.0287"/>
                  <dgm:constr type="h" for="ch" forName="Child2Accent6" refType="h" fact="0.0381"/>
                  <dgm:constr type="r" for="ch" forName="Child2Accent7" refType="w" fact="0.9998"/>
                  <dgm:constr type="t" for="ch" forName="Child2Accent7" refType="h" fact="0.2781"/>
                  <dgm:constr type="w" for="ch" forName="Child2Accent7" refType="w" fact="0.0287"/>
                  <dgm:constr type="h" for="ch" forName="Child2Accent7" refType="h" fact="0.0381"/>
                  <dgm:constr type="r" for="ch" forName="Child3Accent1" refType="w" fact="0.716"/>
                  <dgm:constr type="t" for="ch" forName="Child3Accent1" refType="h" fact="0.5061"/>
                  <dgm:constr type="w" for="ch" forName="Child3Accent1" refType="w" fact="0.0574"/>
                  <dgm:constr type="h" for="ch" forName="Child3Accent1" refType="h" fact="0.0763"/>
                  <dgm:constr type="r" for="ch" forName="Child3Accent2" refType="w" fact="0.7728"/>
                  <dgm:constr type="t" for="ch" forName="Child3Accent2" refType="h" fact="0.5252"/>
                  <dgm:constr type="w" for="ch" forName="Child3Accent2" refType="w" fact="0.0287"/>
                  <dgm:constr type="h" for="ch" forName="Child3Accent2" refType="h" fact="0.0381"/>
                  <dgm:constr type="r" for="ch" forName="Child3Accent3" refType="w" fact="0.8295"/>
                  <dgm:constr type="t" for="ch" forName="Child3Accent3" refType="h" fact="0.5252"/>
                  <dgm:constr type="w" for="ch" forName="Child3Accent3" refType="w" fact="0.0287"/>
                  <dgm:constr type="h" for="ch" forName="Child3Accent3" refType="h" fact="0.0381"/>
                  <dgm:constr type="r" for="ch" forName="Child3Accent4" refType="w" fact="0.8863"/>
                  <dgm:constr type="t" for="ch" forName="Child3Accent4" refType="h" fact="0.5252"/>
                  <dgm:constr type="w" for="ch" forName="Child3Accent4" refType="w" fact="0.0287"/>
                  <dgm:constr type="h" for="ch" forName="Child3Accent4" refType="h" fact="0.0381"/>
                  <dgm:constr type="r" for="ch" forName="Child3Accent5" refType="w" fact="0.943"/>
                  <dgm:constr type="t" for="ch" forName="Child3Accent5" refType="h" fact="0.5252"/>
                  <dgm:constr type="w" for="ch" forName="Child3Accent5" refType="w" fact="0.0287"/>
                  <dgm:constr type="h" for="ch" forName="Child3Accent5" refType="h" fact="0.0381"/>
                  <dgm:constr type="r" for="ch" forName="Child3Accent6" refType="w" fact="0.9998"/>
                  <dgm:constr type="t" for="ch" forName="Child3Accent6" refType="h" fact="0.5252"/>
                  <dgm:constr type="w" for="ch" forName="Child3Accent6" refType="w" fact="0.0287"/>
                  <dgm:constr type="h" for="ch" forName="Child3Accent6" refType="h" fact="0.0381"/>
                  <dgm:constr type="r" for="ch" forName="Child3Accent7" refType="w" fact="0"/>
                  <dgm:constr type="t" for="ch" forName="Child3Accent7" refType="h" fact="0"/>
                  <dgm:constr type="w" for="ch" forName="Child3Accent7" refType="w" fact="0"/>
                  <dgm:constr type="h" for="ch" forName="Child3Accent7" refType="h" fact="0"/>
                  <dgm:constr type="r" for="ch" forName="Child4Accent1" refType="w" fact="0.6564"/>
                  <dgm:constr type="t" for="ch" forName="Child4Accent1" refType="h" fact="0.6908"/>
                  <dgm:constr type="w" for="ch" forName="Child4Accent1" refType="w" fact="0.0574"/>
                  <dgm:constr type="h" for="ch" forName="Child4Accent1" refType="h" fact="0.0763"/>
                  <dgm:constr type="r" for="ch" forName="Child4Accent2" refType="w" fact="0.6932"/>
                  <dgm:constr type="t" for="ch" forName="Child4Accent2" refType="h" fact="0.7684"/>
                  <dgm:constr type="w" for="ch" forName="Child4Accent2" refType="w" fact="0.0287"/>
                  <dgm:constr type="h" for="ch" forName="Child4Accent2" refType="h" fact="0.0381"/>
                  <dgm:constr type="r" for="ch" forName="Child4Accent3" refType="w" fact="0.7545"/>
                  <dgm:constr type="t" for="ch" forName="Child4Accent3" refType="h" fact="0.7684"/>
                  <dgm:constr type="w" for="ch" forName="Child4Accent3" refType="w" fact="0.0287"/>
                  <dgm:constr type="h" for="ch" forName="Child4Accent3" refType="h" fact="0.0381"/>
                  <dgm:constr type="r" for="ch" forName="Child4Accent4" refType="w" fact="0.8158"/>
                  <dgm:constr type="t" for="ch" forName="Child4Accent4" refType="h" fact="0.7684"/>
                  <dgm:constr type="w" for="ch" forName="Child4Accent4" refType="w" fact="0.0287"/>
                  <dgm:constr type="h" for="ch" forName="Child4Accent4" refType="h" fact="0.0381"/>
                  <dgm:constr type="r" for="ch" forName="Child4Accent5" refType="w" fact="0.8771"/>
                  <dgm:constr type="t" for="ch" forName="Child4Accent5" refType="h" fact="0.7684"/>
                  <dgm:constr type="w" for="ch" forName="Child4Accent5" refType="w" fact="0.0287"/>
                  <dgm:constr type="h" for="ch" forName="Child4Accent5" refType="h" fact="0.0381"/>
                  <dgm:constr type="r" for="ch" forName="Child4Accent6" refType="w" fact="0.9385"/>
                  <dgm:constr type="t" for="ch" forName="Child4Accent6" refType="h" fact="0.7684"/>
                  <dgm:constr type="w" for="ch" forName="Child4Accent6" refType="w" fact="0.0287"/>
                  <dgm:constr type="h" for="ch" forName="Child4Accent6" refType="h" fact="0.0381"/>
                  <dgm:constr type="r" for="ch" forName="Child4Accent7" refType="w" fact="0.9998"/>
                  <dgm:constr type="t" for="ch" forName="Child4Accent7" refType="h" fact="0.7684"/>
                  <dgm:constr type="w" for="ch" forName="Child4Accent7" refType="w" fact="0.0287"/>
                  <dgm:constr type="h" for="ch" forName="Child4Accent7" refType="h" fact="0.0381"/>
                  <dgm:constr type="r" for="ch" forName="Child4Accent8" refType="w" fact="0"/>
                  <dgm:constr type="t" for="ch" forName="Child4Accent8" refType="h" fact="0"/>
                  <dgm:constr type="w" for="ch" forName="Child4Accent8" refType="w" fact="0"/>
                  <dgm:constr type="h" for="ch" forName="Child4Accent8" refType="h" fact="0"/>
                  <dgm:constr type="r" for="ch" forName="ParentAccent1" refType="w" fact="0.0287"/>
                  <dgm:constr type="t" for="ch" forName="ParentAccent1" refType="h" fact="0.5252"/>
                  <dgm:constr type="w" for="ch" forName="ParentAccent1" refType="w" fact="0.0287"/>
                  <dgm:constr type="h" for="ch" forName="ParentAccent1" refType="h" fact="0.0381"/>
                  <dgm:constr type="r" for="ch" forName="ParentAccent2" refType="w" fact="0.0813"/>
                  <dgm:constr type="t" for="ch" forName="ParentAccent2" refType="h" fact="0.5252"/>
                  <dgm:constr type="w" for="ch" forName="ParentAccent2" refType="w" fact="0.0287"/>
                  <dgm:constr type="h" for="ch" forName="ParentAccent2" refType="h" fact="0.0381"/>
                  <dgm:constr type="r" for="ch" forName="ParentAccent3" refType="w" fact="0.1339"/>
                  <dgm:constr type="t" for="ch" forName="ParentAccent3" refType="h" fact="0.5252"/>
                  <dgm:constr type="w" for="ch" forName="ParentAccent3" refType="w" fact="0.0287"/>
                  <dgm:constr type="h" for="ch" forName="ParentAccent3" refType="h" fact="0.0381"/>
                  <dgm:constr type="r" for="ch" forName="ParentAccent4" refType="w" fact="0.1864"/>
                  <dgm:constr type="t" for="ch" forName="ParentAccent4" refType="h" fact="0.5252"/>
                  <dgm:constr type="w" for="ch" forName="ParentAccent4" refType="w" fact="0.0287"/>
                  <dgm:constr type="h" for="ch" forName="ParentAccent4" refType="h" fact="0.0381"/>
                  <dgm:constr type="r" for="ch" forName="ParentAccent5" refType="w" fact="0.239"/>
                  <dgm:constr type="t" for="ch" forName="ParentAccent5" refType="h" fact="0.5252"/>
                  <dgm:constr type="w" for="ch" forName="ParentAccent5" refType="w" fact="0.0287"/>
                  <dgm:constr type="h" for="ch" forName="ParentAccent5" refType="h" fact="0.0381"/>
                  <dgm:constr type="r" for="ch" forName="ParentAccent6" refType="w" fact="0.3203"/>
                  <dgm:constr type="t" for="ch" forName="ParentAccent6" refType="h" fact="0.5061"/>
                  <dgm:constr type="w" for="ch" forName="ParentAccent6" refType="w" fact="0.0574"/>
                  <dgm:constr type="h" for="ch" forName="ParentAccent6" refType="h" fact="0.0763"/>
                  <dgm:constr type="r" for="ch" forName="ParentAccent7" refType="w" fact="0.0755"/>
                  <dgm:constr type="t" for="ch" forName="ParentAccent7" refType="h" fact="0.4464"/>
                  <dgm:constr type="w" for="ch" forName="ParentAccent7" refType="w" fact="0.0287"/>
                  <dgm:constr type="h" for="ch" forName="ParentAccent7" refType="h" fact="0.0381"/>
                  <dgm:constr type="r" for="ch" forName="ParentAccent8" refType="w" fact="0.0755"/>
                  <dgm:constr type="t" for="ch" forName="ParentAccent8" refType="h" fact="0.6045"/>
                  <dgm:constr type="w" for="ch" forName="ParentAccent8" refType="w" fact="0.0287"/>
                  <dgm:constr type="h" for="ch" forName="ParentAccent8" refType="h" fact="0.0381"/>
                  <dgm:constr type="r" for="ch" forName="ParentAccent9" refType="w" fact="0.0499"/>
                  <dgm:constr type="t" for="ch" forName="ParentAccent9" refType="h" fact="0.4807"/>
                  <dgm:constr type="w" for="ch" forName="ParentAccent9" refType="w" fact="0.0287"/>
                  <dgm:constr type="h" for="ch" forName="ParentAccent9" refType="h" fact="0.0381"/>
                  <dgm:constr type="r" for="ch" forName="ParentAccent10" refType="w" fact="0.0482"/>
                  <dgm:constr type="t" for="ch" forName="ParentAccent10" refType="h" fact="0.5705"/>
                  <dgm:constr type="w" for="ch" forName="ParentAccent10" refType="w" fact="0.0287"/>
                  <dgm:constr type="h" for="ch" forName="ParentAccent10" refType="h" fact="0.0381"/>
                  <dgm:constr type="r" for="ch" forName="Child1Accent1" refType="w" fact="0.5181"/>
                  <dgm:constr type="t" for="ch" forName="Child1Accent1" refType="h" fact="0.2457"/>
                  <dgm:constr type="w" for="ch" forName="Child1Accent1" refType="w" fact="0.0574"/>
                  <dgm:constr type="h" for="ch" forName="Child1Accent1" refType="h" fact="0.0763"/>
                  <dgm:constr type="r" for="ch" forName="Child1Accent2" refType="w" fact="0.5542"/>
                  <dgm:constr type="t" for="ch" forName="Child1Accent2" refType="h" fact="0.2004"/>
                  <dgm:constr type="w" for="ch" forName="Child1Accent2" refType="w" fact="0.0287"/>
                  <dgm:constr type="h" for="ch" forName="Child1Accent2" refType="h" fact="0.0381"/>
                  <dgm:constr type="r" for="ch" forName="Child1Accent3" refType="w" fact="0.5946"/>
                  <dgm:constr type="t" for="ch" forName="Child1Accent3" refType="h" fact="0.1445"/>
                  <dgm:constr type="w" for="ch" forName="Child1Accent3" refType="w" fact="0.0287"/>
                  <dgm:constr type="h" for="ch" forName="Child1Accent3" refType="h" fact="0.0381"/>
                  <dgm:constr type="r" for="ch" forName="Child1Accent4" refType="w" fact="0.6347"/>
                  <dgm:constr type="t" for="ch" forName="Child1Accent4" refType="h" fact="0.097"/>
                  <dgm:constr type="w" for="ch" forName="Child1Accent4" refType="w" fact="0.0287"/>
                  <dgm:constr type="h" for="ch" forName="Child1Accent4" refType="h" fact="0.0381"/>
                  <dgm:constr type="r" for="ch" forName="Child1Accent5" refType="w" fact="0.696"/>
                  <dgm:constr type="t" for="ch" forName="Child1Accent5" refType="h" fact="0.097"/>
                  <dgm:constr type="w" for="ch" forName="Child1Accent5" refType="w" fact="0.0287"/>
                  <dgm:constr type="h" for="ch" forName="Child1Accent5" refType="h" fact="0.0381"/>
                  <dgm:constr type="r" for="ch" forName="Child1Accent6" refType="w" fact="0.7574"/>
                  <dgm:constr type="t" for="ch" forName="Child1Accent6" refType="h" fact="0.097"/>
                  <dgm:constr type="w" for="ch" forName="Child1Accent6" refType="w" fact="0.0287"/>
                  <dgm:constr type="h" for="ch" forName="Child1Accent6" refType="h" fact="0.0381"/>
                  <dgm:constr type="r" for="ch" forName="Child1Accent7" refType="w" fact="0.8187"/>
                  <dgm:constr type="t" for="ch" forName="Child1Accent7" refType="h" fact="0.097"/>
                  <dgm:constr type="w" for="ch" forName="Child1Accent7" refType="w" fact="0.0287"/>
                  <dgm:constr type="h" for="ch" forName="Child1Accent7" refType="h" fact="0.0381"/>
                  <dgm:constr type="r" for="ch" forName="Child1Accent8" refType="w" fact="0.88"/>
                  <dgm:constr type="t" for="ch" forName="Child1Accent8" refType="h" fact="0.097"/>
                  <dgm:constr type="w" for="ch" forName="Child1Accent8" refType="w" fact="0.0287"/>
                  <dgm:constr type="h" for="ch" forName="Child1Accent8" refType="h" fact="0.0381"/>
                  <dgm:constr type="r" for="ch" forName="Child1Accent9" refType="w" fact="0.9413"/>
                  <dgm:constr type="t" for="ch" forName="Child1Accent9" refType="h" fact="0.097"/>
                  <dgm:constr type="w" for="ch" forName="Child1Accent9" refType="w" fact="0.0287"/>
                  <dgm:constr type="h" for="ch" forName="Child1Accent9" refType="h" fact="0.0381"/>
                  <dgm:constr type="r" for="ch" forName="Child5Accent1" refType="w" fact="0.5181"/>
                  <dgm:constr type="t" for="ch" forName="Child5Accent1" refType="h" fact="0.7601"/>
                  <dgm:constr type="w" for="ch" forName="Child5Accent1" refType="w" fact="0.0574"/>
                  <dgm:constr type="h" for="ch" forName="Child5Accent1" refType="h" fact="0.0763"/>
                  <dgm:constr type="r" for="ch" forName="Child5Accent2" refType="w" fact="0.547"/>
                  <dgm:constr type="t" for="ch" forName="Child5Accent2" refType="h" fact="0.8375"/>
                  <dgm:constr type="w" for="ch" forName="Child5Accent2" refType="w" fact="0.0287"/>
                  <dgm:constr type="h" for="ch" forName="Child5Accent2" refType="h" fact="0.0381"/>
                  <dgm:constr type="r" for="ch" forName="Child5Accent3" refType="w" fact="0.5882"/>
                  <dgm:constr type="t" for="ch" forName="Child5Accent3" refType="h" fact="0.8991"/>
                  <dgm:constr type="w" for="ch" forName="Child5Accent3" refType="w" fact="0.0287"/>
                  <dgm:constr type="h" for="ch" forName="Child5Accent3" refType="h" fact="0.0381"/>
                  <dgm:constr type="r" for="ch" forName="Child5Accent4" refType="w" fact="0.6347"/>
                  <dgm:constr type="t" for="ch" forName="Child5Accent4" refType="h" fact="0.9619"/>
                  <dgm:constr type="w" for="ch" forName="Child5Accent4" refType="w" fact="0.0287"/>
                  <dgm:constr type="h" for="ch" forName="Child5Accent4" refType="h" fact="0.0381"/>
                  <dgm:constr type="r" for="ch" forName="Child5Accent5" refType="w" fact="0.696"/>
                  <dgm:constr type="t" for="ch" forName="Child5Accent5" refType="h" fact="0.9619"/>
                  <dgm:constr type="w" for="ch" forName="Child5Accent5" refType="w" fact="0.0287"/>
                  <dgm:constr type="h" for="ch" forName="Child5Accent5" refType="h" fact="0.0381"/>
                  <dgm:constr type="r" for="ch" forName="Child5Accent6" refType="w" fact="0.7574"/>
                  <dgm:constr type="t" for="ch" forName="Child5Accent6" refType="h" fact="0.9619"/>
                  <dgm:constr type="w" for="ch" forName="Child5Accent6" refType="w" fact="0.0287"/>
                  <dgm:constr type="h" for="ch" forName="Child5Accent6" refType="h" fact="0.0381"/>
                  <dgm:constr type="r" for="ch" forName="Child5Accent7" refType="w" fact="0.8187"/>
                  <dgm:constr type="t" for="ch" forName="Child5Accent7" refType="h" fact="0.9619"/>
                  <dgm:constr type="w" for="ch" forName="Child5Accent7" refType="w" fact="0.0287"/>
                  <dgm:constr type="h" for="ch" forName="Child5Accent7" refType="h" fact="0.0381"/>
                  <dgm:constr type="r" for="ch" forName="Child5Accent8" refType="w" fact="0.88"/>
                  <dgm:constr type="t" for="ch" forName="Child5Accent8" refType="h" fact="0.9619"/>
                  <dgm:constr type="w" for="ch" forName="Child5Accent8" refType="w" fact="0.0287"/>
                  <dgm:constr type="h" for="ch" forName="Child5Accent8" refType="h" fact="0.0381"/>
                  <dgm:constr type="r" for="ch" forName="Child5Accent9" refType="w" fact="0.9423"/>
                  <dgm:constr type="t" for="ch" forName="Child5Accent9" refType="h" fact="0.9619"/>
                  <dgm:constr type="w" for="ch" forName="Child5Accent9" refType="w" fact="0.0287"/>
                  <dgm:constr type="h" for="ch" forName="Child5Accent9" refType="h" fact="0.0381"/>
                  <dgm:constr type="r" for="ch" forName="Child5" refType="w" fact="0.9419"/>
                  <dgm:constr type="t" for="ch" forName="Child5" refType="h" fact="0.8635"/>
                  <dgm:constr type="w" for="ch" forName="Child5" refType="w" fact="0.3364"/>
                  <dgm:constr type="h" for="ch" forName="Child5" refType="h" fact="0.0981"/>
                  <dgm:constr type="r" for="ch" forName="Child4" refType="w"/>
                  <dgm:constr type="t" for="ch" forName="Child4" refType="h" fact="0.6701"/>
                  <dgm:constr type="w" for="ch" forName="Child4" refType="w" fact="0.3364"/>
                  <dgm:constr type="h" for="ch" forName="Child4" refType="h" fact="0.0981"/>
                  <dgm:constr type="r" for="ch" forName="Child3" refType="w"/>
                  <dgm:constr type="t" for="ch" forName="Child3" refType="h" fact="0.4276"/>
                  <dgm:constr type="w" for="ch" forName="Child3" refType="w" fact="0.2544"/>
                  <dgm:constr type="h" for="ch" forName="Child3" refType="h" fact="0.0981"/>
                  <dgm:constr type="r" for="ch" forName="Child2" refType="w"/>
                  <dgm:constr type="t" for="ch" forName="Child2" refType="h" fact="0.1798"/>
                  <dgm:constr type="w" for="ch" forName="Child2" refType="w" fact="0.3364"/>
                  <dgm:constr type="h" for="ch" forName="Child2" refType="h" fact="0.0981"/>
                  <dgm:constr type="r" for="ch" forName="Child1" refType="w" fact="0.9419"/>
                  <dgm:constr type="t" for="ch" forName="Child1" refType="h" fact="0"/>
                  <dgm:constr type="w" for="ch" forName="Child1" refType="w" fact="0.3364"/>
                  <dgm:constr type="h" for="ch" forName="Child1" refType="h" fact="0.0981"/>
                  <dgm:constr type="r" for="ch" forName="Parent" refType="w" fact="0.6347"/>
                  <dgm:constr type="t" for="ch" forName="Parent" refType="h" fact="0.3513"/>
                  <dgm:constr type="w" for="ch" forName="Parent" refType="w" fact="0.2906"/>
                  <dgm:constr type="h" for="ch" forName="Parent" refType="h" fact="0.3859"/>
                </dgm:constrLst>
              </dgm:else>
            </dgm:choose>
          </dgm:else>
        </dgm:choose>
        <dgm:layoutNode name="ParentAccent1" styleLbl="alignNode1">
          <dgm:alg type="sp"/>
          <dgm:shape xmlns:r="http://schemas.openxmlformats.org/officeDocument/2006/relationships" type="ellipse" r:blip="">
            <dgm:adjLst/>
          </dgm:shape>
          <dgm:presOf/>
        </dgm:layoutNode>
        <dgm:layoutNode name="ParentAccent2" styleLbl="alignNode1">
          <dgm:alg type="sp"/>
          <dgm:shape xmlns:r="http://schemas.openxmlformats.org/officeDocument/2006/relationships" type="ellipse" r:blip="">
            <dgm:adjLst/>
          </dgm:shape>
          <dgm:presOf/>
        </dgm:layoutNode>
        <dgm:layoutNode name="ParentAccent3" styleLbl="alignNode1">
          <dgm:alg type="sp"/>
          <dgm:shape xmlns:r="http://schemas.openxmlformats.org/officeDocument/2006/relationships" type="ellipse" r:blip="">
            <dgm:adjLst/>
          </dgm:shape>
          <dgm:presOf/>
        </dgm:layoutNode>
        <dgm:layoutNode name="ParentAccent4" styleLbl="alignNode1">
          <dgm:alg type="sp"/>
          <dgm:shape xmlns:r="http://schemas.openxmlformats.org/officeDocument/2006/relationships" type="ellipse" r:blip="">
            <dgm:adjLst/>
          </dgm:shape>
          <dgm:presOf/>
        </dgm:layoutNode>
        <dgm:layoutNode name="ParentAccent5" styleLbl="alignNode1">
          <dgm:alg type="sp"/>
          <dgm:shape xmlns:r="http://schemas.openxmlformats.org/officeDocument/2006/relationships" type="ellipse" r:blip="">
            <dgm:adjLst/>
          </dgm:shape>
          <dgm:presOf/>
        </dgm:layoutNode>
        <dgm:layoutNode name="ParentAccent6" styleLbl="alignNode1">
          <dgm:alg type="sp"/>
          <dgm:shape xmlns:r="http://schemas.openxmlformats.org/officeDocument/2006/relationships" type="ellipse" r:blip="">
            <dgm:adjLst/>
          </dgm:shape>
          <dgm:presOf/>
        </dgm:layoutNode>
        <dgm:layoutNode name="ParentAccent7" styleLbl="alignNode1">
          <dgm:alg type="sp"/>
          <dgm:shape xmlns:r="http://schemas.openxmlformats.org/officeDocument/2006/relationships" type="ellipse" r:blip="">
            <dgm:adjLst/>
          </dgm:shape>
          <dgm:presOf/>
        </dgm:layoutNode>
        <dgm:layoutNode name="ParentAccent8" styleLbl="alignNode1">
          <dgm:alg type="sp"/>
          <dgm:shape xmlns:r="http://schemas.openxmlformats.org/officeDocument/2006/relationships" type="ellipse" r:blip="">
            <dgm:adjLst/>
          </dgm:shape>
          <dgm:presOf/>
        </dgm:layoutNode>
        <dgm:layoutNode name="ParentAccent9" styleLbl="alignNode1">
          <dgm:alg type="sp"/>
          <dgm:shape xmlns:r="http://schemas.openxmlformats.org/officeDocument/2006/relationships" type="ellipse" r:blip="">
            <dgm:adjLst/>
          </dgm:shape>
          <dgm:presOf/>
        </dgm:layoutNode>
        <dgm:layoutNode name="ParentAccent10" styleLbl="alignNode1">
          <dgm:alg type="sp"/>
          <dgm:shape xmlns:r="http://schemas.openxmlformats.org/officeDocument/2006/relationships" type="ellipse" r:blip="">
            <dgm:adjLst/>
          </dgm:shape>
          <dgm:presOf/>
        </dgm:layoutNode>
        <dgm:layoutNode name="Parent" styleLbl="alignNode1">
          <dgm:varLst>
            <dgm:chMax val="5"/>
            <dgm:chPref val="3"/>
            <dgm:bulletEnabled val="1"/>
          </dgm:varLst>
          <dgm:alg type="tx"/>
          <dgm:shape xmlns:r="http://schemas.openxmlformats.org/officeDocument/2006/relationships" type="ellipse" r:blip="">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name="Name21" axis="ch" ptType="node" cnt="1">
          <dgm:layoutNode name="Child1Accent1" styleLbl="alignNode1">
            <dgm:alg type="sp"/>
            <dgm:shape xmlns:r="http://schemas.openxmlformats.org/officeDocument/2006/relationships" type="ellipse" r:blip="">
              <dgm:adjLst/>
            </dgm:shape>
            <dgm:presOf/>
          </dgm:layoutNode>
          <dgm:layoutNode name="Child1Accent2" styleLbl="alignNode1">
            <dgm:alg type="sp"/>
            <dgm:shape xmlns:r="http://schemas.openxmlformats.org/officeDocument/2006/relationships" type="ellipse" r:blip="">
              <dgm:adjLst/>
            </dgm:shape>
            <dgm:presOf/>
          </dgm:layoutNode>
          <dgm:layoutNode name="Child1Accent3" styleLbl="alignNode1">
            <dgm:alg type="sp"/>
            <dgm:shape xmlns:r="http://schemas.openxmlformats.org/officeDocument/2006/relationships" type="ellipse" r:blip="">
              <dgm:adjLst/>
            </dgm:shape>
            <dgm:presOf/>
          </dgm:layoutNode>
          <dgm:layoutNode name="Child1Accent4" styleLbl="alignNode1">
            <dgm:alg type="sp"/>
            <dgm:shape xmlns:r="http://schemas.openxmlformats.org/officeDocument/2006/relationships" type="ellipse" r:blip="">
              <dgm:adjLst/>
            </dgm:shape>
            <dgm:presOf/>
          </dgm:layoutNode>
          <dgm:layoutNode name="Child1Accent5" styleLbl="alignNode1">
            <dgm:alg type="sp"/>
            <dgm:shape xmlns:r="http://schemas.openxmlformats.org/officeDocument/2006/relationships" type="ellipse" r:blip="">
              <dgm:adjLst/>
            </dgm:shape>
            <dgm:presOf/>
          </dgm:layoutNode>
          <dgm:layoutNode name="Child1Accent6" styleLbl="alignNode1">
            <dgm:alg type="sp"/>
            <dgm:shape xmlns:r="http://schemas.openxmlformats.org/officeDocument/2006/relationships" type="ellipse" r:blip="">
              <dgm:adjLst/>
            </dgm:shape>
            <dgm:presOf/>
          </dgm:layoutNode>
          <dgm:layoutNode name="Child1Accent7" styleLbl="alignNode1">
            <dgm:alg type="sp"/>
            <dgm:shape xmlns:r="http://schemas.openxmlformats.org/officeDocument/2006/relationships" type="ellipse" r:blip="">
              <dgm:adjLst/>
            </dgm:shape>
            <dgm:presOf/>
          </dgm:layoutNode>
          <dgm:layoutNode name="Child1Accent8" styleLbl="alignNode1">
            <dgm:alg type="sp"/>
            <dgm:shape xmlns:r="http://schemas.openxmlformats.org/officeDocument/2006/relationships" type="ellipse" r:blip="">
              <dgm:adjLst/>
            </dgm:shape>
            <dgm:presOf/>
          </dgm:layoutNode>
          <dgm:layoutNode name="Child1Accent9" styleLbl="alignNode1">
            <dgm:alg type="sp"/>
            <dgm:shape xmlns:r="http://schemas.openxmlformats.org/officeDocument/2006/relationships" type="ellipse" r:blip="">
              <dgm:adjLst/>
            </dgm:shape>
            <dgm:presOf/>
          </dgm:layoutNode>
          <dgm:layoutNode name="Child1" styleLbl="revTx">
            <dgm:varLst>
              <dgm:chMax/>
              <dgm:chPref val="0"/>
              <dgm:bulletEnabled val="1"/>
            </dgm:varLst>
            <dgm:alg type="tx">
              <dgm:param type="parTxLTRAlign" val="l"/>
              <dgm:param type="txAnchorVert" val="b"/>
              <dgm:param type="txAnchorVertCh" val="b"/>
            </dgm:alg>
            <dgm:shape xmlns:r="http://schemas.openxmlformats.org/officeDocument/2006/relationships" type="rect" r:blip="">
              <dgm:adjLst/>
            </dgm:shape>
            <dgm:presOf axis="desOrSelf" ptType="nod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forEach>
        <dgm:forEach name="Name22" axis="ch" ptType="node" st="2" cnt="1">
          <dgm:layoutNode name="Child2Accent1" styleLbl="alignNode1">
            <dgm:alg type="sp"/>
            <dgm:shape xmlns:r="http://schemas.openxmlformats.org/officeDocument/2006/relationships" type="ellipse" r:blip="">
              <dgm:adjLst/>
            </dgm:shape>
            <dgm:presOf/>
          </dgm:layoutNode>
          <dgm:layoutNode name="Child2Accent2" styleLbl="alignNode1">
            <dgm:alg type="sp"/>
            <dgm:shape xmlns:r="http://schemas.openxmlformats.org/officeDocument/2006/relationships" type="ellipse" r:blip="">
              <dgm:adjLst/>
            </dgm:shape>
            <dgm:presOf/>
          </dgm:layoutNode>
          <dgm:layoutNode name="Child2Accent3" styleLbl="alignNode1">
            <dgm:alg type="sp"/>
            <dgm:shape xmlns:r="http://schemas.openxmlformats.org/officeDocument/2006/relationships" type="ellipse" r:blip="">
              <dgm:adjLst/>
            </dgm:shape>
            <dgm:presOf/>
          </dgm:layoutNode>
          <dgm:layoutNode name="Child2Accent4" styleLbl="alignNode1">
            <dgm:alg type="sp"/>
            <dgm:shape xmlns:r="http://schemas.openxmlformats.org/officeDocument/2006/relationships" type="ellipse" r:blip="">
              <dgm:adjLst/>
            </dgm:shape>
            <dgm:presOf/>
          </dgm:layoutNode>
          <dgm:layoutNode name="Child2Accent5" styleLbl="alignNode1">
            <dgm:alg type="sp"/>
            <dgm:shape xmlns:r="http://schemas.openxmlformats.org/officeDocument/2006/relationships" type="ellipse" r:blip="">
              <dgm:adjLst/>
            </dgm:shape>
            <dgm:presOf/>
          </dgm:layoutNode>
          <dgm:layoutNode name="Child2Accent6" styleLbl="alignNode1">
            <dgm:alg type="sp"/>
            <dgm:shape xmlns:r="http://schemas.openxmlformats.org/officeDocument/2006/relationships" type="ellipse" r:blip="">
              <dgm:adjLst/>
            </dgm:shape>
            <dgm:presOf/>
          </dgm:layoutNode>
          <dgm:layoutNode name="Child2Accent7" styleLbl="alignNode1">
            <dgm:alg type="sp"/>
            <dgm:shape xmlns:r="http://schemas.openxmlformats.org/officeDocument/2006/relationships" type="ellipse" r:blip="">
              <dgm:adjLst/>
            </dgm:shape>
            <dgm:presOf/>
          </dgm:layoutNode>
          <dgm:layoutNode name="Child2" styleLbl="revTx">
            <dgm:varLst>
              <dgm:chMax/>
              <dgm:chPref val="0"/>
              <dgm:bulletEnabled val="1"/>
            </dgm:varLst>
            <dgm:alg type="tx">
              <dgm:param type="parTxLTRAlign" val="l"/>
              <dgm:param type="txAnchorVert" val="b"/>
              <dgm:param type="txAnchorVertCh" val="b"/>
            </dgm:alg>
            <dgm:shape xmlns:r="http://schemas.openxmlformats.org/officeDocument/2006/relationships" type="rect" r:blip="">
              <dgm:adjLst/>
            </dgm:shape>
            <dgm:presOf axis="desOrSelf" ptType="nod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forEach>
        <dgm:forEach name="Name23" axis="ch" ptType="node" st="3" cnt="1">
          <dgm:layoutNode name="Child3Accent1" styleLbl="alignNode1">
            <dgm:alg type="sp"/>
            <dgm:shape xmlns:r="http://schemas.openxmlformats.org/officeDocument/2006/relationships" type="ellipse" r:blip="">
              <dgm:adjLst/>
            </dgm:shape>
            <dgm:presOf/>
          </dgm:layoutNode>
          <dgm:layoutNode name="Child3Accent2" styleLbl="alignNode1">
            <dgm:alg type="sp"/>
            <dgm:shape xmlns:r="http://schemas.openxmlformats.org/officeDocument/2006/relationships" type="ellipse" r:blip="">
              <dgm:adjLst/>
            </dgm:shape>
            <dgm:presOf/>
          </dgm:layoutNode>
          <dgm:layoutNode name="Child3Accent3" styleLbl="alignNode1">
            <dgm:alg type="sp"/>
            <dgm:shape xmlns:r="http://schemas.openxmlformats.org/officeDocument/2006/relationships" type="ellipse" r:blip="">
              <dgm:adjLst/>
            </dgm:shape>
            <dgm:presOf/>
          </dgm:layoutNode>
          <dgm:layoutNode name="Child3Accent4" styleLbl="alignNode1">
            <dgm:alg type="sp"/>
            <dgm:shape xmlns:r="http://schemas.openxmlformats.org/officeDocument/2006/relationships" type="ellipse" r:blip="">
              <dgm:adjLst/>
            </dgm:shape>
            <dgm:presOf/>
          </dgm:layoutNode>
          <dgm:layoutNode name="Child3Accent5" styleLbl="alignNode1">
            <dgm:alg type="sp"/>
            <dgm:shape xmlns:r="http://schemas.openxmlformats.org/officeDocument/2006/relationships" type="ellipse" r:blip="">
              <dgm:adjLst/>
            </dgm:shape>
            <dgm:presOf/>
          </dgm:layoutNode>
          <dgm:layoutNode name="Child3Accent6" styleLbl="alignNode1">
            <dgm:alg type="sp"/>
            <dgm:shape xmlns:r="http://schemas.openxmlformats.org/officeDocument/2006/relationships" type="ellipse" r:blip="">
              <dgm:adjLst/>
            </dgm:shape>
            <dgm:presOf/>
          </dgm:layoutNode>
          <dgm:layoutNode name="Child3Accent7" styleLbl="alignNode1">
            <dgm:alg type="sp"/>
            <dgm:shape xmlns:r="http://schemas.openxmlformats.org/officeDocument/2006/relationships" type="ellipse" r:blip="">
              <dgm:adjLst/>
            </dgm:shape>
            <dgm:presOf/>
          </dgm:layoutNode>
          <dgm:layoutNode name="Child3" styleLbl="revTx">
            <dgm:varLst>
              <dgm:chMax/>
              <dgm:chPref val="0"/>
              <dgm:bulletEnabled val="1"/>
            </dgm:varLst>
            <dgm:alg type="tx">
              <dgm:param type="parTxLTRAlign" val="l"/>
              <dgm:param type="txAnchorVert" val="b"/>
              <dgm:param type="txAnchorVertCh" val="b"/>
            </dgm:alg>
            <dgm:shape xmlns:r="http://schemas.openxmlformats.org/officeDocument/2006/relationships" type="rect" r:blip="">
              <dgm:adjLst/>
            </dgm:shape>
            <dgm:presOf axis="desOrSelf" ptType="nod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forEach>
        <dgm:forEach name="Name24" axis="ch" ptType="node" st="4" cnt="1">
          <dgm:layoutNode name="Child4Accent1" styleLbl="alignNode1">
            <dgm:alg type="sp"/>
            <dgm:shape xmlns:r="http://schemas.openxmlformats.org/officeDocument/2006/relationships" type="ellipse" r:blip="">
              <dgm:adjLst/>
            </dgm:shape>
            <dgm:presOf/>
          </dgm:layoutNode>
          <dgm:layoutNode name="Child4Accent2" styleLbl="alignNode1">
            <dgm:alg type="sp"/>
            <dgm:shape xmlns:r="http://schemas.openxmlformats.org/officeDocument/2006/relationships" type="ellipse" r:blip="">
              <dgm:adjLst/>
            </dgm:shape>
            <dgm:presOf/>
          </dgm:layoutNode>
          <dgm:layoutNode name="Child4Accent3" styleLbl="alignNode1">
            <dgm:alg type="sp"/>
            <dgm:shape xmlns:r="http://schemas.openxmlformats.org/officeDocument/2006/relationships" type="ellipse" r:blip="">
              <dgm:adjLst/>
            </dgm:shape>
            <dgm:presOf/>
          </dgm:layoutNode>
          <dgm:layoutNode name="Child4Accent4" styleLbl="alignNode1">
            <dgm:alg type="sp"/>
            <dgm:shape xmlns:r="http://schemas.openxmlformats.org/officeDocument/2006/relationships" type="ellipse" r:blip="">
              <dgm:adjLst/>
            </dgm:shape>
            <dgm:presOf/>
          </dgm:layoutNode>
          <dgm:layoutNode name="Child4Accent5" styleLbl="alignNode1">
            <dgm:alg type="sp"/>
            <dgm:shape xmlns:r="http://schemas.openxmlformats.org/officeDocument/2006/relationships" type="ellipse" r:blip="">
              <dgm:adjLst/>
            </dgm:shape>
            <dgm:presOf/>
          </dgm:layoutNode>
          <dgm:layoutNode name="Child4Accent6" styleLbl="alignNode1">
            <dgm:alg type="sp"/>
            <dgm:shape xmlns:r="http://schemas.openxmlformats.org/officeDocument/2006/relationships" type="ellipse" r:blip="">
              <dgm:adjLst/>
            </dgm:shape>
            <dgm:presOf/>
          </dgm:layoutNode>
          <dgm:layoutNode name="Child4Accent7" styleLbl="alignNode1">
            <dgm:alg type="sp"/>
            <dgm:shape xmlns:r="http://schemas.openxmlformats.org/officeDocument/2006/relationships" type="ellipse" r:blip="">
              <dgm:adjLst/>
            </dgm:shape>
            <dgm:presOf/>
          </dgm:layoutNode>
          <dgm:layoutNode name="Child4Accent8" styleLbl="alignNode1">
            <dgm:alg type="sp"/>
            <dgm:shape xmlns:r="http://schemas.openxmlformats.org/officeDocument/2006/relationships" type="ellipse" r:blip="">
              <dgm:adjLst/>
            </dgm:shape>
            <dgm:presOf/>
          </dgm:layoutNode>
          <dgm:layoutNode name="Child4" styleLbl="revTx">
            <dgm:varLst>
              <dgm:chMax/>
              <dgm:chPref val="0"/>
              <dgm:bulletEnabled val="1"/>
            </dgm:varLst>
            <dgm:alg type="tx">
              <dgm:param type="parTxLTRAlign" val="l"/>
              <dgm:param type="txAnchorVert" val="b"/>
              <dgm:param type="txAnchorVertCh" val="b"/>
            </dgm:alg>
            <dgm:shape xmlns:r="http://schemas.openxmlformats.org/officeDocument/2006/relationships" type="rect" r:blip="">
              <dgm:adjLst/>
            </dgm:shape>
            <dgm:presOf axis="desOrSelf" ptType="nod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forEach>
        <dgm:forEach name="Name25" axis="ch" ptType="node" st="5" cnt="1">
          <dgm:layoutNode name="Child5Accent1" styleLbl="alignNode1">
            <dgm:alg type="sp"/>
            <dgm:shape xmlns:r="http://schemas.openxmlformats.org/officeDocument/2006/relationships" type="ellipse" r:blip="">
              <dgm:adjLst/>
            </dgm:shape>
            <dgm:presOf/>
          </dgm:layoutNode>
          <dgm:layoutNode name="Child5Accent2" styleLbl="alignNode1">
            <dgm:alg type="sp"/>
            <dgm:shape xmlns:r="http://schemas.openxmlformats.org/officeDocument/2006/relationships" type="ellipse" r:blip="">
              <dgm:adjLst/>
            </dgm:shape>
            <dgm:presOf/>
          </dgm:layoutNode>
          <dgm:layoutNode name="Child5Accent3" styleLbl="alignNode1">
            <dgm:alg type="sp"/>
            <dgm:shape xmlns:r="http://schemas.openxmlformats.org/officeDocument/2006/relationships" type="ellipse" r:blip="">
              <dgm:adjLst/>
            </dgm:shape>
            <dgm:presOf/>
          </dgm:layoutNode>
          <dgm:layoutNode name="Child5Accent4" styleLbl="alignNode1">
            <dgm:alg type="sp"/>
            <dgm:shape xmlns:r="http://schemas.openxmlformats.org/officeDocument/2006/relationships" type="ellipse" r:blip="">
              <dgm:adjLst/>
            </dgm:shape>
            <dgm:presOf/>
          </dgm:layoutNode>
          <dgm:layoutNode name="Child5Accent5" styleLbl="alignNode1">
            <dgm:alg type="sp"/>
            <dgm:shape xmlns:r="http://schemas.openxmlformats.org/officeDocument/2006/relationships" type="ellipse" r:blip="">
              <dgm:adjLst/>
            </dgm:shape>
            <dgm:presOf/>
          </dgm:layoutNode>
          <dgm:layoutNode name="Child5Accent6" styleLbl="alignNode1">
            <dgm:alg type="sp"/>
            <dgm:shape xmlns:r="http://schemas.openxmlformats.org/officeDocument/2006/relationships" type="ellipse" r:blip="">
              <dgm:adjLst/>
            </dgm:shape>
            <dgm:presOf/>
          </dgm:layoutNode>
          <dgm:layoutNode name="Child5Accent7" styleLbl="alignNode1">
            <dgm:alg type="sp"/>
            <dgm:shape xmlns:r="http://schemas.openxmlformats.org/officeDocument/2006/relationships" type="ellipse" r:blip="">
              <dgm:adjLst/>
            </dgm:shape>
            <dgm:presOf/>
          </dgm:layoutNode>
          <dgm:layoutNode name="Child5Accent8" styleLbl="alignNode1">
            <dgm:alg type="sp"/>
            <dgm:shape xmlns:r="http://schemas.openxmlformats.org/officeDocument/2006/relationships" type="ellipse" r:blip="">
              <dgm:adjLst/>
            </dgm:shape>
            <dgm:presOf/>
          </dgm:layoutNode>
          <dgm:layoutNode name="Child5Accent9" styleLbl="alignNode1">
            <dgm:alg type="sp"/>
            <dgm:shape xmlns:r="http://schemas.openxmlformats.org/officeDocument/2006/relationships" type="ellipse" r:blip="">
              <dgm:adjLst/>
            </dgm:shape>
            <dgm:presOf/>
          </dgm:layoutNode>
          <dgm:layoutNode name="Child5" styleLbl="revTx">
            <dgm:varLst>
              <dgm:chMax/>
              <dgm:chPref val="0"/>
              <dgm:bulletEnabled val="1"/>
            </dgm:varLst>
            <dgm:alg type="tx">
              <dgm:param type="parTxLTRAlign" val="l"/>
              <dgm:param type="txAnchorVert" val="b"/>
              <dgm:param type="txAnchorVertCh" val="b"/>
            </dgm:alg>
            <dgm:shape xmlns:r="http://schemas.openxmlformats.org/officeDocument/2006/relationships" type="rect" r:blip="">
              <dgm:adjLst/>
            </dgm:shape>
            <dgm:presOf axis="desOrSelf" ptType="nod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forEach>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AD715-F81E-FF48-BE2A-0050B404F014}"/>
              </a:ext>
            </a:extLst>
          </p:cNvPr>
          <p:cNvSpPr>
            <a:spLocks noGrp="1"/>
          </p:cNvSpPr>
          <p:nvPr>
            <p:ph type="ctrTitle"/>
          </p:nvPr>
        </p:nvSpPr>
        <p:spPr>
          <a:xfrm>
            <a:off x="1524000" y="1122363"/>
            <a:ext cx="9144000" cy="2387600"/>
          </a:xfrm>
        </p:spPr>
        <p:txBody>
          <a:bodyPr anchor="b"/>
          <a:lstStyle>
            <a:lvl1pPr algn="ctr">
              <a:defRPr sz="6000" b="0" i="0">
                <a:latin typeface="Duplicate Sans Light" pitchFamily="2" charset="77"/>
              </a:defRPr>
            </a:lvl1pPr>
          </a:lstStyle>
          <a:p>
            <a:r>
              <a:rPr lang="en-US" dirty="0"/>
              <a:t>Click to edit Master title style</a:t>
            </a:r>
          </a:p>
        </p:txBody>
      </p:sp>
      <p:sp>
        <p:nvSpPr>
          <p:cNvPr id="3" name="Subtitle 2">
            <a:extLst>
              <a:ext uri="{FF2B5EF4-FFF2-40B4-BE49-F238E27FC236}">
                <a16:creationId xmlns:a16="http://schemas.microsoft.com/office/drawing/2014/main" id="{A4C21A51-BAB9-F145-B1F6-3E1271035A42}"/>
              </a:ext>
            </a:extLst>
          </p:cNvPr>
          <p:cNvSpPr>
            <a:spLocks noGrp="1"/>
          </p:cNvSpPr>
          <p:nvPr>
            <p:ph type="subTitle" idx="1"/>
          </p:nvPr>
        </p:nvSpPr>
        <p:spPr>
          <a:xfrm>
            <a:off x="1524000" y="3602038"/>
            <a:ext cx="9144000" cy="1655762"/>
          </a:xfrm>
        </p:spPr>
        <p:txBody>
          <a:bodyPr/>
          <a:lstStyle>
            <a:lvl1pPr marL="0" indent="0" algn="ctr">
              <a:buNone/>
              <a:defRPr sz="2400" b="0" i="0">
                <a:latin typeface="Duplicate Sans Light" pitchFamily="2" charset="77"/>
              </a:defRPr>
            </a:lvl1pPr>
            <a:lvl2pPr marL="457192" indent="0" algn="ctr">
              <a:buNone/>
              <a:defRPr sz="2000"/>
            </a:lvl2pPr>
            <a:lvl3pPr marL="914384" indent="0" algn="ctr">
              <a:buNone/>
              <a:defRPr sz="1800"/>
            </a:lvl3pPr>
            <a:lvl4pPr marL="1371576" indent="0" algn="ctr">
              <a:buNone/>
              <a:defRPr sz="1600"/>
            </a:lvl4pPr>
            <a:lvl5pPr marL="1828768" indent="0" algn="ctr">
              <a:buNone/>
              <a:defRPr sz="1600"/>
            </a:lvl5pPr>
            <a:lvl6pPr marL="2285960" indent="0" algn="ctr">
              <a:buNone/>
              <a:defRPr sz="1600"/>
            </a:lvl6pPr>
            <a:lvl7pPr marL="2743152" indent="0" algn="ctr">
              <a:buNone/>
              <a:defRPr sz="1600"/>
            </a:lvl7pPr>
            <a:lvl8pPr marL="3200344" indent="0" algn="ctr">
              <a:buNone/>
              <a:defRPr sz="1600"/>
            </a:lvl8pPr>
            <a:lvl9pPr marL="3657536"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9743F29-7C74-FE45-AA94-5D2E3A5A5276}"/>
              </a:ext>
            </a:extLst>
          </p:cNvPr>
          <p:cNvSpPr>
            <a:spLocks noGrp="1"/>
          </p:cNvSpPr>
          <p:nvPr>
            <p:ph type="dt" sz="half" idx="10"/>
          </p:nvPr>
        </p:nvSpPr>
        <p:spPr/>
        <p:txBody>
          <a:bodyPr/>
          <a:lstStyle>
            <a:lvl1pPr>
              <a:defRPr b="0" i="0">
                <a:latin typeface="Duplicate Sans Light" pitchFamily="2" charset="77"/>
              </a:defRPr>
            </a:lvl1pPr>
          </a:lstStyle>
          <a:p>
            <a:fld id="{0C6F1676-E3FE-1E4D-8FC3-1AB9B1717251}" type="datetimeFigureOut">
              <a:rPr lang="en-US" smtClean="0"/>
              <a:pPr/>
              <a:t>5/29/2026</a:t>
            </a:fld>
            <a:endParaRPr lang="en-US" dirty="0"/>
          </a:p>
        </p:txBody>
      </p:sp>
      <p:sp>
        <p:nvSpPr>
          <p:cNvPr id="5" name="Footer Placeholder 4">
            <a:extLst>
              <a:ext uri="{FF2B5EF4-FFF2-40B4-BE49-F238E27FC236}">
                <a16:creationId xmlns:a16="http://schemas.microsoft.com/office/drawing/2014/main" id="{1C6F8A84-9005-734C-88E3-9621F860E7AA}"/>
              </a:ext>
            </a:extLst>
          </p:cNvPr>
          <p:cNvSpPr>
            <a:spLocks noGrp="1"/>
          </p:cNvSpPr>
          <p:nvPr>
            <p:ph type="ftr" sz="quarter" idx="11"/>
          </p:nvPr>
        </p:nvSpPr>
        <p:spPr/>
        <p:txBody>
          <a:bodyPr/>
          <a:lstStyle>
            <a:lvl1pPr>
              <a:defRPr b="0" i="0">
                <a:latin typeface="Duplicate Sans Light" pitchFamily="2" charset="77"/>
              </a:defRPr>
            </a:lvl1pPr>
          </a:lstStyle>
          <a:p>
            <a:endParaRPr lang="en-US" dirty="0"/>
          </a:p>
        </p:txBody>
      </p:sp>
      <p:sp>
        <p:nvSpPr>
          <p:cNvPr id="6" name="Slide Number Placeholder 5">
            <a:extLst>
              <a:ext uri="{FF2B5EF4-FFF2-40B4-BE49-F238E27FC236}">
                <a16:creationId xmlns:a16="http://schemas.microsoft.com/office/drawing/2014/main" id="{C08754D9-B95F-4942-BB07-8FC370CB4E9F}"/>
              </a:ext>
            </a:extLst>
          </p:cNvPr>
          <p:cNvSpPr>
            <a:spLocks noGrp="1"/>
          </p:cNvSpPr>
          <p:nvPr>
            <p:ph type="sldNum" sz="quarter" idx="12"/>
          </p:nvPr>
        </p:nvSpPr>
        <p:spPr/>
        <p:txBody>
          <a:bodyPr/>
          <a:lstStyle>
            <a:lvl1pPr>
              <a:defRPr b="0" i="0">
                <a:latin typeface="Duplicate Sans Light" pitchFamily="2" charset="77"/>
              </a:defRPr>
            </a:lvl1pPr>
          </a:lstStyle>
          <a:p>
            <a:fld id="{2E8BF8D3-86CD-4348-8ADF-36CBF5E042A0}" type="slidenum">
              <a:rPr lang="en-US" smtClean="0"/>
              <a:pPr/>
              <a:t>‹#›</a:t>
            </a:fld>
            <a:endParaRPr lang="en-US" dirty="0"/>
          </a:p>
        </p:txBody>
      </p:sp>
    </p:spTree>
    <p:extLst>
      <p:ext uri="{BB962C8B-B14F-4D97-AF65-F5344CB8AC3E}">
        <p14:creationId xmlns:p14="http://schemas.microsoft.com/office/powerpoint/2010/main" val="37763935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0E5856-5BD1-8447-9DA2-D75C107B39B8}"/>
              </a:ext>
            </a:extLst>
          </p:cNvPr>
          <p:cNvSpPr>
            <a:spLocks noGrp="1"/>
          </p:cNvSpPr>
          <p:nvPr>
            <p:ph type="title"/>
          </p:nvPr>
        </p:nvSpPr>
        <p:spPr/>
        <p:txBody>
          <a:bodyPr/>
          <a:lstStyle>
            <a:lvl1pPr>
              <a:defRPr b="0" i="0">
                <a:latin typeface="Duplicate Sans Light" pitchFamily="2" charset="77"/>
              </a:defRPr>
            </a:lvl1pPr>
          </a:lstStyle>
          <a:p>
            <a:r>
              <a:rPr lang="en-US" dirty="0"/>
              <a:t>Click to edit Master title style</a:t>
            </a:r>
          </a:p>
        </p:txBody>
      </p:sp>
      <p:sp>
        <p:nvSpPr>
          <p:cNvPr id="3" name="Content Placeholder 2">
            <a:extLst>
              <a:ext uri="{FF2B5EF4-FFF2-40B4-BE49-F238E27FC236}">
                <a16:creationId xmlns:a16="http://schemas.microsoft.com/office/drawing/2014/main" id="{FCB4A877-D1E0-D447-91AF-C413DE764CBA}"/>
              </a:ext>
            </a:extLst>
          </p:cNvPr>
          <p:cNvSpPr>
            <a:spLocks noGrp="1"/>
          </p:cNvSpPr>
          <p:nvPr>
            <p:ph idx="1"/>
          </p:nvPr>
        </p:nvSpPr>
        <p:spPr/>
        <p:txBody>
          <a:bodyPr/>
          <a:lstStyle>
            <a:lvl1pPr>
              <a:defRPr b="0" i="0">
                <a:latin typeface="Duplicate Sans Light" pitchFamily="2" charset="77"/>
              </a:defRPr>
            </a:lvl1pPr>
            <a:lvl2pPr>
              <a:defRPr b="0" i="0">
                <a:latin typeface="Duplicate Sans Light" pitchFamily="2" charset="77"/>
              </a:defRPr>
            </a:lvl2pPr>
            <a:lvl3pPr>
              <a:defRPr b="0" i="0">
                <a:latin typeface="Duplicate Sans Light" pitchFamily="2" charset="77"/>
              </a:defRPr>
            </a:lvl3pPr>
            <a:lvl4pPr>
              <a:defRPr b="0" i="0">
                <a:latin typeface="Duplicate Sans Light" pitchFamily="2" charset="77"/>
              </a:defRPr>
            </a:lvl4pPr>
            <a:lvl5pPr>
              <a:defRPr b="0" i="0">
                <a:latin typeface="Duplicate Sans Light" pitchFamily="2"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51CBF79-76C4-ED45-B791-9823CE5D05BF}"/>
              </a:ext>
            </a:extLst>
          </p:cNvPr>
          <p:cNvSpPr>
            <a:spLocks noGrp="1"/>
          </p:cNvSpPr>
          <p:nvPr>
            <p:ph type="dt" sz="half" idx="10"/>
          </p:nvPr>
        </p:nvSpPr>
        <p:spPr/>
        <p:txBody>
          <a:bodyPr/>
          <a:lstStyle>
            <a:lvl1pPr>
              <a:defRPr b="0" i="0">
                <a:latin typeface="Duplicate Sans Light" pitchFamily="2" charset="77"/>
              </a:defRPr>
            </a:lvl1pPr>
          </a:lstStyle>
          <a:p>
            <a:fld id="{0C6F1676-E3FE-1E4D-8FC3-1AB9B1717251}" type="datetimeFigureOut">
              <a:rPr lang="en-US" smtClean="0"/>
              <a:pPr/>
              <a:t>5/29/2026</a:t>
            </a:fld>
            <a:endParaRPr lang="en-US" dirty="0"/>
          </a:p>
        </p:txBody>
      </p:sp>
      <p:sp>
        <p:nvSpPr>
          <p:cNvPr id="5" name="Footer Placeholder 4">
            <a:extLst>
              <a:ext uri="{FF2B5EF4-FFF2-40B4-BE49-F238E27FC236}">
                <a16:creationId xmlns:a16="http://schemas.microsoft.com/office/drawing/2014/main" id="{D8035812-C702-3F4E-93D7-24B3D471B8D7}"/>
              </a:ext>
            </a:extLst>
          </p:cNvPr>
          <p:cNvSpPr>
            <a:spLocks noGrp="1"/>
          </p:cNvSpPr>
          <p:nvPr>
            <p:ph type="ftr" sz="quarter" idx="11"/>
          </p:nvPr>
        </p:nvSpPr>
        <p:spPr/>
        <p:txBody>
          <a:bodyPr/>
          <a:lstStyle>
            <a:lvl1pPr>
              <a:defRPr b="0" i="0">
                <a:latin typeface="Duplicate Sans Light" pitchFamily="2" charset="77"/>
              </a:defRPr>
            </a:lvl1pPr>
          </a:lstStyle>
          <a:p>
            <a:endParaRPr lang="en-US" dirty="0"/>
          </a:p>
        </p:txBody>
      </p:sp>
      <p:sp>
        <p:nvSpPr>
          <p:cNvPr id="6" name="Slide Number Placeholder 5">
            <a:extLst>
              <a:ext uri="{FF2B5EF4-FFF2-40B4-BE49-F238E27FC236}">
                <a16:creationId xmlns:a16="http://schemas.microsoft.com/office/drawing/2014/main" id="{65D74359-623D-5B43-947B-A894CFF61494}"/>
              </a:ext>
            </a:extLst>
          </p:cNvPr>
          <p:cNvSpPr>
            <a:spLocks noGrp="1"/>
          </p:cNvSpPr>
          <p:nvPr>
            <p:ph type="sldNum" sz="quarter" idx="12"/>
          </p:nvPr>
        </p:nvSpPr>
        <p:spPr/>
        <p:txBody>
          <a:bodyPr/>
          <a:lstStyle>
            <a:lvl1pPr>
              <a:defRPr b="0" i="0">
                <a:latin typeface="Duplicate Sans Light" pitchFamily="2" charset="77"/>
              </a:defRPr>
            </a:lvl1pPr>
          </a:lstStyle>
          <a:p>
            <a:fld id="{2E8BF8D3-86CD-4348-8ADF-36CBF5E042A0}" type="slidenum">
              <a:rPr lang="en-US" smtClean="0"/>
              <a:pPr/>
              <a:t>‹#›</a:t>
            </a:fld>
            <a:endParaRPr lang="en-US" dirty="0"/>
          </a:p>
        </p:txBody>
      </p:sp>
    </p:spTree>
    <p:extLst>
      <p:ext uri="{BB962C8B-B14F-4D97-AF65-F5344CB8AC3E}">
        <p14:creationId xmlns:p14="http://schemas.microsoft.com/office/powerpoint/2010/main" val="35441287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09709E-CF7A-6B49-BA9D-35EA8A568527}"/>
              </a:ext>
            </a:extLst>
          </p:cNvPr>
          <p:cNvSpPr>
            <a:spLocks noGrp="1"/>
          </p:cNvSpPr>
          <p:nvPr>
            <p:ph type="title"/>
          </p:nvPr>
        </p:nvSpPr>
        <p:spPr>
          <a:xfrm>
            <a:off x="831850" y="1709738"/>
            <a:ext cx="10515600" cy="2852737"/>
          </a:xfrm>
        </p:spPr>
        <p:txBody>
          <a:bodyPr anchor="b"/>
          <a:lstStyle>
            <a:lvl1pPr>
              <a:defRPr sz="6000" b="0" i="0">
                <a:latin typeface="Duplicate Sans Light" pitchFamily="2" charset="77"/>
              </a:defRPr>
            </a:lvl1pPr>
          </a:lstStyle>
          <a:p>
            <a:r>
              <a:rPr lang="en-US" dirty="0"/>
              <a:t>Click to edit Master title style</a:t>
            </a:r>
          </a:p>
        </p:txBody>
      </p:sp>
      <p:sp>
        <p:nvSpPr>
          <p:cNvPr id="3" name="Text Placeholder 2">
            <a:extLst>
              <a:ext uri="{FF2B5EF4-FFF2-40B4-BE49-F238E27FC236}">
                <a16:creationId xmlns:a16="http://schemas.microsoft.com/office/drawing/2014/main" id="{C8F85538-9BA2-1345-A731-4FA057E03852}"/>
              </a:ext>
            </a:extLst>
          </p:cNvPr>
          <p:cNvSpPr>
            <a:spLocks noGrp="1"/>
          </p:cNvSpPr>
          <p:nvPr>
            <p:ph type="body" idx="1"/>
          </p:nvPr>
        </p:nvSpPr>
        <p:spPr>
          <a:xfrm>
            <a:off x="831850" y="4589463"/>
            <a:ext cx="10515600" cy="1500187"/>
          </a:xfrm>
        </p:spPr>
        <p:txBody>
          <a:bodyPr/>
          <a:lstStyle>
            <a:lvl1pPr marL="0" indent="0">
              <a:buNone/>
              <a:defRPr sz="2400" b="0" i="0">
                <a:solidFill>
                  <a:schemeClr val="tx1">
                    <a:tint val="75000"/>
                  </a:schemeClr>
                </a:solidFill>
                <a:latin typeface="Duplicate Sans Light" pitchFamily="2" charset="77"/>
              </a:defRPr>
            </a:lvl1pPr>
            <a:lvl2pPr marL="457192" indent="0">
              <a:buNone/>
              <a:defRPr sz="2000">
                <a:solidFill>
                  <a:schemeClr val="tx1">
                    <a:tint val="75000"/>
                  </a:schemeClr>
                </a:solidFill>
              </a:defRPr>
            </a:lvl2pPr>
            <a:lvl3pPr marL="914384" indent="0">
              <a:buNone/>
              <a:defRPr sz="1800">
                <a:solidFill>
                  <a:schemeClr val="tx1">
                    <a:tint val="75000"/>
                  </a:schemeClr>
                </a:solidFill>
              </a:defRPr>
            </a:lvl3pPr>
            <a:lvl4pPr marL="1371576" indent="0">
              <a:buNone/>
              <a:defRPr sz="1600">
                <a:solidFill>
                  <a:schemeClr val="tx1">
                    <a:tint val="75000"/>
                  </a:schemeClr>
                </a:solidFill>
              </a:defRPr>
            </a:lvl4pPr>
            <a:lvl5pPr marL="1828768" indent="0">
              <a:buNone/>
              <a:defRPr sz="1600">
                <a:solidFill>
                  <a:schemeClr val="tx1">
                    <a:tint val="75000"/>
                  </a:schemeClr>
                </a:solidFill>
              </a:defRPr>
            </a:lvl5pPr>
            <a:lvl6pPr marL="2285960" indent="0">
              <a:buNone/>
              <a:defRPr sz="1600">
                <a:solidFill>
                  <a:schemeClr val="tx1">
                    <a:tint val="75000"/>
                  </a:schemeClr>
                </a:solidFill>
              </a:defRPr>
            </a:lvl6pPr>
            <a:lvl7pPr marL="2743152" indent="0">
              <a:buNone/>
              <a:defRPr sz="1600">
                <a:solidFill>
                  <a:schemeClr val="tx1">
                    <a:tint val="75000"/>
                  </a:schemeClr>
                </a:solidFill>
              </a:defRPr>
            </a:lvl7pPr>
            <a:lvl8pPr marL="3200344" indent="0">
              <a:buNone/>
              <a:defRPr sz="1600">
                <a:solidFill>
                  <a:schemeClr val="tx1">
                    <a:tint val="75000"/>
                  </a:schemeClr>
                </a:solidFill>
              </a:defRPr>
            </a:lvl8pPr>
            <a:lvl9pPr marL="3657536"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77E9C974-4130-D944-B769-4D341F6724CE}"/>
              </a:ext>
            </a:extLst>
          </p:cNvPr>
          <p:cNvSpPr>
            <a:spLocks noGrp="1"/>
          </p:cNvSpPr>
          <p:nvPr>
            <p:ph type="dt" sz="half" idx="10"/>
          </p:nvPr>
        </p:nvSpPr>
        <p:spPr/>
        <p:txBody>
          <a:bodyPr/>
          <a:lstStyle>
            <a:lvl1pPr>
              <a:defRPr b="0" i="0">
                <a:latin typeface="Duplicate Sans Light" pitchFamily="2" charset="77"/>
              </a:defRPr>
            </a:lvl1pPr>
          </a:lstStyle>
          <a:p>
            <a:fld id="{0C6F1676-E3FE-1E4D-8FC3-1AB9B1717251}" type="datetimeFigureOut">
              <a:rPr lang="en-US" smtClean="0"/>
              <a:pPr/>
              <a:t>5/29/2026</a:t>
            </a:fld>
            <a:endParaRPr lang="en-US" dirty="0"/>
          </a:p>
        </p:txBody>
      </p:sp>
      <p:sp>
        <p:nvSpPr>
          <p:cNvPr id="5" name="Footer Placeholder 4">
            <a:extLst>
              <a:ext uri="{FF2B5EF4-FFF2-40B4-BE49-F238E27FC236}">
                <a16:creationId xmlns:a16="http://schemas.microsoft.com/office/drawing/2014/main" id="{F27DE766-9EA3-FD41-8B47-917070E2D086}"/>
              </a:ext>
            </a:extLst>
          </p:cNvPr>
          <p:cNvSpPr>
            <a:spLocks noGrp="1"/>
          </p:cNvSpPr>
          <p:nvPr>
            <p:ph type="ftr" sz="quarter" idx="11"/>
          </p:nvPr>
        </p:nvSpPr>
        <p:spPr/>
        <p:txBody>
          <a:bodyPr/>
          <a:lstStyle>
            <a:lvl1pPr>
              <a:defRPr b="0" i="0">
                <a:latin typeface="Duplicate Sans Light" pitchFamily="2" charset="77"/>
              </a:defRPr>
            </a:lvl1pPr>
          </a:lstStyle>
          <a:p>
            <a:endParaRPr lang="en-US" dirty="0"/>
          </a:p>
        </p:txBody>
      </p:sp>
      <p:sp>
        <p:nvSpPr>
          <p:cNvPr id="6" name="Slide Number Placeholder 5">
            <a:extLst>
              <a:ext uri="{FF2B5EF4-FFF2-40B4-BE49-F238E27FC236}">
                <a16:creationId xmlns:a16="http://schemas.microsoft.com/office/drawing/2014/main" id="{716D7C3C-E793-EF46-984A-182EE2205041}"/>
              </a:ext>
            </a:extLst>
          </p:cNvPr>
          <p:cNvSpPr>
            <a:spLocks noGrp="1"/>
          </p:cNvSpPr>
          <p:nvPr>
            <p:ph type="sldNum" sz="quarter" idx="12"/>
          </p:nvPr>
        </p:nvSpPr>
        <p:spPr/>
        <p:txBody>
          <a:bodyPr/>
          <a:lstStyle>
            <a:lvl1pPr>
              <a:defRPr b="0" i="0">
                <a:latin typeface="Duplicate Sans Light" pitchFamily="2" charset="77"/>
              </a:defRPr>
            </a:lvl1pPr>
          </a:lstStyle>
          <a:p>
            <a:fld id="{2E8BF8D3-86CD-4348-8ADF-36CBF5E042A0}" type="slidenum">
              <a:rPr lang="en-US" smtClean="0"/>
              <a:pPr/>
              <a:t>‹#›</a:t>
            </a:fld>
            <a:endParaRPr lang="en-US" dirty="0"/>
          </a:p>
        </p:txBody>
      </p:sp>
    </p:spTree>
    <p:extLst>
      <p:ext uri="{BB962C8B-B14F-4D97-AF65-F5344CB8AC3E}">
        <p14:creationId xmlns:p14="http://schemas.microsoft.com/office/powerpoint/2010/main" val="25951391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6EB386-342F-6F46-8763-AC3B6FDBFB8B}"/>
              </a:ext>
            </a:extLst>
          </p:cNvPr>
          <p:cNvSpPr>
            <a:spLocks noGrp="1"/>
          </p:cNvSpPr>
          <p:nvPr>
            <p:ph type="title"/>
          </p:nvPr>
        </p:nvSpPr>
        <p:spPr/>
        <p:txBody>
          <a:bodyPr/>
          <a:lstStyle>
            <a:lvl1pPr>
              <a:defRPr b="0" i="0">
                <a:latin typeface="Duplicate Sans Light" pitchFamily="2" charset="77"/>
              </a:defRPr>
            </a:lvl1pPr>
          </a:lstStyle>
          <a:p>
            <a:r>
              <a:rPr lang="en-US" dirty="0"/>
              <a:t>Click to edit Master title style</a:t>
            </a:r>
          </a:p>
        </p:txBody>
      </p:sp>
      <p:sp>
        <p:nvSpPr>
          <p:cNvPr id="3" name="Content Placeholder 2">
            <a:extLst>
              <a:ext uri="{FF2B5EF4-FFF2-40B4-BE49-F238E27FC236}">
                <a16:creationId xmlns:a16="http://schemas.microsoft.com/office/drawing/2014/main" id="{06B1BFC9-94E3-2F45-B2AF-D3519CAFBE37}"/>
              </a:ext>
            </a:extLst>
          </p:cNvPr>
          <p:cNvSpPr>
            <a:spLocks noGrp="1"/>
          </p:cNvSpPr>
          <p:nvPr>
            <p:ph sz="half" idx="1"/>
          </p:nvPr>
        </p:nvSpPr>
        <p:spPr>
          <a:xfrm>
            <a:off x="838200" y="1825625"/>
            <a:ext cx="5181600" cy="4351338"/>
          </a:xfrm>
        </p:spPr>
        <p:txBody>
          <a:bodyPr/>
          <a:lstStyle>
            <a:lvl1pPr>
              <a:defRPr b="0" i="0">
                <a:latin typeface="Duplicate Sans Light" pitchFamily="2" charset="77"/>
              </a:defRPr>
            </a:lvl1pPr>
            <a:lvl2pPr>
              <a:defRPr b="0" i="0">
                <a:latin typeface="Duplicate Sans Light" pitchFamily="2" charset="77"/>
              </a:defRPr>
            </a:lvl2pPr>
            <a:lvl3pPr>
              <a:defRPr b="0" i="0">
                <a:latin typeface="Duplicate Sans Light" pitchFamily="2" charset="77"/>
              </a:defRPr>
            </a:lvl3pPr>
            <a:lvl4pPr>
              <a:defRPr b="0" i="0">
                <a:latin typeface="Duplicate Sans Light" pitchFamily="2" charset="77"/>
              </a:defRPr>
            </a:lvl4pPr>
            <a:lvl5pPr>
              <a:defRPr b="0" i="0">
                <a:latin typeface="Duplicate Sans Light" pitchFamily="2"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5CA0EA92-E9CA-054C-A5D1-E795C19B87C1}"/>
              </a:ext>
            </a:extLst>
          </p:cNvPr>
          <p:cNvSpPr>
            <a:spLocks noGrp="1"/>
          </p:cNvSpPr>
          <p:nvPr>
            <p:ph sz="half" idx="2"/>
          </p:nvPr>
        </p:nvSpPr>
        <p:spPr>
          <a:xfrm>
            <a:off x="6172200" y="1825625"/>
            <a:ext cx="5181600" cy="4351338"/>
          </a:xfrm>
        </p:spPr>
        <p:txBody>
          <a:bodyPr/>
          <a:lstStyle>
            <a:lvl1pPr>
              <a:defRPr b="0" i="0">
                <a:latin typeface="Duplicate Sans Light" pitchFamily="2" charset="77"/>
              </a:defRPr>
            </a:lvl1pPr>
            <a:lvl2pPr>
              <a:defRPr b="0" i="0">
                <a:latin typeface="Duplicate Sans Light" pitchFamily="2" charset="77"/>
              </a:defRPr>
            </a:lvl2pPr>
            <a:lvl3pPr>
              <a:defRPr b="0" i="0">
                <a:latin typeface="Duplicate Sans Light" pitchFamily="2" charset="77"/>
              </a:defRPr>
            </a:lvl3pPr>
            <a:lvl4pPr>
              <a:defRPr b="0" i="0">
                <a:latin typeface="Duplicate Sans Light" pitchFamily="2" charset="77"/>
              </a:defRPr>
            </a:lvl4pPr>
            <a:lvl5pPr>
              <a:defRPr b="0" i="0">
                <a:latin typeface="Duplicate Sans Light" pitchFamily="2"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36C25B6C-F874-4F4A-BE23-21D37F2887BB}"/>
              </a:ext>
            </a:extLst>
          </p:cNvPr>
          <p:cNvSpPr>
            <a:spLocks noGrp="1"/>
          </p:cNvSpPr>
          <p:nvPr>
            <p:ph type="dt" sz="half" idx="10"/>
          </p:nvPr>
        </p:nvSpPr>
        <p:spPr/>
        <p:txBody>
          <a:bodyPr/>
          <a:lstStyle>
            <a:lvl1pPr>
              <a:defRPr b="0" i="0">
                <a:latin typeface="Duplicate Sans Light" pitchFamily="2" charset="77"/>
              </a:defRPr>
            </a:lvl1pPr>
          </a:lstStyle>
          <a:p>
            <a:fld id="{0C6F1676-E3FE-1E4D-8FC3-1AB9B1717251}" type="datetimeFigureOut">
              <a:rPr lang="en-US" smtClean="0"/>
              <a:pPr/>
              <a:t>5/29/2026</a:t>
            </a:fld>
            <a:endParaRPr lang="en-US" dirty="0"/>
          </a:p>
        </p:txBody>
      </p:sp>
      <p:sp>
        <p:nvSpPr>
          <p:cNvPr id="6" name="Footer Placeholder 5">
            <a:extLst>
              <a:ext uri="{FF2B5EF4-FFF2-40B4-BE49-F238E27FC236}">
                <a16:creationId xmlns:a16="http://schemas.microsoft.com/office/drawing/2014/main" id="{6634D191-60CE-D245-B580-7B43040A4FC9}"/>
              </a:ext>
            </a:extLst>
          </p:cNvPr>
          <p:cNvSpPr>
            <a:spLocks noGrp="1"/>
          </p:cNvSpPr>
          <p:nvPr>
            <p:ph type="ftr" sz="quarter" idx="11"/>
          </p:nvPr>
        </p:nvSpPr>
        <p:spPr/>
        <p:txBody>
          <a:bodyPr/>
          <a:lstStyle>
            <a:lvl1pPr>
              <a:defRPr b="0" i="0">
                <a:latin typeface="Duplicate Sans Light" pitchFamily="2" charset="77"/>
              </a:defRPr>
            </a:lvl1pPr>
          </a:lstStyle>
          <a:p>
            <a:endParaRPr lang="en-US" dirty="0"/>
          </a:p>
        </p:txBody>
      </p:sp>
      <p:sp>
        <p:nvSpPr>
          <p:cNvPr id="7" name="Slide Number Placeholder 6">
            <a:extLst>
              <a:ext uri="{FF2B5EF4-FFF2-40B4-BE49-F238E27FC236}">
                <a16:creationId xmlns:a16="http://schemas.microsoft.com/office/drawing/2014/main" id="{5D32B468-09B3-5347-ADEF-4A3082F855CF}"/>
              </a:ext>
            </a:extLst>
          </p:cNvPr>
          <p:cNvSpPr>
            <a:spLocks noGrp="1"/>
          </p:cNvSpPr>
          <p:nvPr>
            <p:ph type="sldNum" sz="quarter" idx="12"/>
          </p:nvPr>
        </p:nvSpPr>
        <p:spPr/>
        <p:txBody>
          <a:bodyPr/>
          <a:lstStyle>
            <a:lvl1pPr>
              <a:defRPr b="0" i="0">
                <a:latin typeface="Duplicate Sans Light" pitchFamily="2" charset="77"/>
              </a:defRPr>
            </a:lvl1pPr>
          </a:lstStyle>
          <a:p>
            <a:fld id="{2E8BF8D3-86CD-4348-8ADF-36CBF5E042A0}" type="slidenum">
              <a:rPr lang="en-US" smtClean="0"/>
              <a:pPr/>
              <a:t>‹#›</a:t>
            </a:fld>
            <a:endParaRPr lang="en-US" dirty="0"/>
          </a:p>
        </p:txBody>
      </p:sp>
    </p:spTree>
    <p:extLst>
      <p:ext uri="{BB962C8B-B14F-4D97-AF65-F5344CB8AC3E}">
        <p14:creationId xmlns:p14="http://schemas.microsoft.com/office/powerpoint/2010/main" val="69120358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24FB8A-7386-704D-B386-2F106C49A002}"/>
              </a:ext>
            </a:extLst>
          </p:cNvPr>
          <p:cNvSpPr>
            <a:spLocks noGrp="1"/>
          </p:cNvSpPr>
          <p:nvPr>
            <p:ph type="title"/>
          </p:nvPr>
        </p:nvSpPr>
        <p:spPr>
          <a:xfrm>
            <a:off x="839788" y="365126"/>
            <a:ext cx="10515600" cy="1325563"/>
          </a:xfrm>
        </p:spPr>
        <p:txBody>
          <a:bodyPr/>
          <a:lstStyle>
            <a:lvl1pPr>
              <a:defRPr b="0" i="0">
                <a:latin typeface="Duplicate Sans Light" pitchFamily="2" charset="77"/>
              </a:defRPr>
            </a:lvl1pPr>
          </a:lstStyle>
          <a:p>
            <a:r>
              <a:rPr lang="en-US" dirty="0"/>
              <a:t>Click to edit Master title style</a:t>
            </a:r>
          </a:p>
        </p:txBody>
      </p:sp>
      <p:sp>
        <p:nvSpPr>
          <p:cNvPr id="3" name="Text Placeholder 2">
            <a:extLst>
              <a:ext uri="{FF2B5EF4-FFF2-40B4-BE49-F238E27FC236}">
                <a16:creationId xmlns:a16="http://schemas.microsoft.com/office/drawing/2014/main" id="{398A28B7-BCF3-FC49-BD49-3CFFF330E6FB}"/>
              </a:ext>
            </a:extLst>
          </p:cNvPr>
          <p:cNvSpPr>
            <a:spLocks noGrp="1"/>
          </p:cNvSpPr>
          <p:nvPr>
            <p:ph type="body" idx="1"/>
          </p:nvPr>
        </p:nvSpPr>
        <p:spPr>
          <a:xfrm>
            <a:off x="839789" y="1681163"/>
            <a:ext cx="5157787" cy="823912"/>
          </a:xfrm>
        </p:spPr>
        <p:txBody>
          <a:bodyPr anchor="b"/>
          <a:lstStyle>
            <a:lvl1pPr marL="0" indent="0">
              <a:buNone/>
              <a:defRPr sz="2400" b="0" i="0">
                <a:latin typeface="Duplicate Sans Light" pitchFamily="2" charset="77"/>
              </a:defRPr>
            </a:lvl1pPr>
            <a:lvl2pPr marL="457192" indent="0">
              <a:buNone/>
              <a:defRPr sz="2000" b="1"/>
            </a:lvl2pPr>
            <a:lvl3pPr marL="914384" indent="0">
              <a:buNone/>
              <a:defRPr sz="1800" b="1"/>
            </a:lvl3pPr>
            <a:lvl4pPr marL="1371576" indent="0">
              <a:buNone/>
              <a:defRPr sz="1600" b="1"/>
            </a:lvl4pPr>
            <a:lvl5pPr marL="1828768" indent="0">
              <a:buNone/>
              <a:defRPr sz="1600" b="1"/>
            </a:lvl5pPr>
            <a:lvl6pPr marL="2285960" indent="0">
              <a:buNone/>
              <a:defRPr sz="1600" b="1"/>
            </a:lvl6pPr>
            <a:lvl7pPr marL="2743152" indent="0">
              <a:buNone/>
              <a:defRPr sz="1600" b="1"/>
            </a:lvl7pPr>
            <a:lvl8pPr marL="3200344" indent="0">
              <a:buNone/>
              <a:defRPr sz="1600" b="1"/>
            </a:lvl8pPr>
            <a:lvl9pPr marL="3657536"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DD451BBC-8619-894D-B843-91898CDCAAC1}"/>
              </a:ext>
            </a:extLst>
          </p:cNvPr>
          <p:cNvSpPr>
            <a:spLocks noGrp="1"/>
          </p:cNvSpPr>
          <p:nvPr>
            <p:ph sz="half" idx="2"/>
          </p:nvPr>
        </p:nvSpPr>
        <p:spPr>
          <a:xfrm>
            <a:off x="839789" y="2505075"/>
            <a:ext cx="5157787" cy="3684588"/>
          </a:xfrm>
        </p:spPr>
        <p:txBody>
          <a:bodyPr/>
          <a:lstStyle>
            <a:lvl1pPr>
              <a:defRPr b="0" i="0">
                <a:latin typeface="Duplicate Sans Light" pitchFamily="2" charset="77"/>
              </a:defRPr>
            </a:lvl1pPr>
            <a:lvl2pPr>
              <a:defRPr b="0" i="0">
                <a:latin typeface="Duplicate Sans Light" pitchFamily="2" charset="77"/>
              </a:defRPr>
            </a:lvl2pPr>
            <a:lvl3pPr>
              <a:defRPr b="0" i="0">
                <a:latin typeface="Duplicate Sans Light" pitchFamily="2" charset="77"/>
              </a:defRPr>
            </a:lvl3pPr>
            <a:lvl4pPr>
              <a:defRPr b="0" i="0">
                <a:latin typeface="Duplicate Sans Light" pitchFamily="2" charset="77"/>
              </a:defRPr>
            </a:lvl4pPr>
            <a:lvl5pPr>
              <a:defRPr b="0" i="0">
                <a:latin typeface="Duplicate Sans Light" pitchFamily="2"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6646B831-516D-2D46-8601-B920F1D5C547}"/>
              </a:ext>
            </a:extLst>
          </p:cNvPr>
          <p:cNvSpPr>
            <a:spLocks noGrp="1"/>
          </p:cNvSpPr>
          <p:nvPr>
            <p:ph type="body" sz="quarter" idx="3"/>
          </p:nvPr>
        </p:nvSpPr>
        <p:spPr>
          <a:xfrm>
            <a:off x="6172201" y="1681163"/>
            <a:ext cx="5183188" cy="823912"/>
          </a:xfrm>
        </p:spPr>
        <p:txBody>
          <a:bodyPr anchor="b"/>
          <a:lstStyle>
            <a:lvl1pPr marL="0" indent="0">
              <a:buNone/>
              <a:defRPr sz="2400" b="0" i="0">
                <a:latin typeface="Duplicate Sans Light" pitchFamily="2" charset="77"/>
              </a:defRPr>
            </a:lvl1pPr>
            <a:lvl2pPr marL="457192" indent="0">
              <a:buNone/>
              <a:defRPr sz="2000" b="1"/>
            </a:lvl2pPr>
            <a:lvl3pPr marL="914384" indent="0">
              <a:buNone/>
              <a:defRPr sz="1800" b="1"/>
            </a:lvl3pPr>
            <a:lvl4pPr marL="1371576" indent="0">
              <a:buNone/>
              <a:defRPr sz="1600" b="1"/>
            </a:lvl4pPr>
            <a:lvl5pPr marL="1828768" indent="0">
              <a:buNone/>
              <a:defRPr sz="1600" b="1"/>
            </a:lvl5pPr>
            <a:lvl6pPr marL="2285960" indent="0">
              <a:buNone/>
              <a:defRPr sz="1600" b="1"/>
            </a:lvl6pPr>
            <a:lvl7pPr marL="2743152" indent="0">
              <a:buNone/>
              <a:defRPr sz="1600" b="1"/>
            </a:lvl7pPr>
            <a:lvl8pPr marL="3200344" indent="0">
              <a:buNone/>
              <a:defRPr sz="1600" b="1"/>
            </a:lvl8pPr>
            <a:lvl9pPr marL="3657536"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79B5319A-1E54-184F-BB77-950C26B98AEB}"/>
              </a:ext>
            </a:extLst>
          </p:cNvPr>
          <p:cNvSpPr>
            <a:spLocks noGrp="1"/>
          </p:cNvSpPr>
          <p:nvPr>
            <p:ph sz="quarter" idx="4"/>
          </p:nvPr>
        </p:nvSpPr>
        <p:spPr>
          <a:xfrm>
            <a:off x="6172201" y="2505075"/>
            <a:ext cx="5183188" cy="3684588"/>
          </a:xfrm>
        </p:spPr>
        <p:txBody>
          <a:bodyPr/>
          <a:lstStyle>
            <a:lvl1pPr>
              <a:defRPr b="0" i="0">
                <a:latin typeface="Duplicate Sans Light" pitchFamily="2" charset="77"/>
              </a:defRPr>
            </a:lvl1pPr>
            <a:lvl2pPr>
              <a:defRPr b="0" i="0">
                <a:latin typeface="Duplicate Sans Light" pitchFamily="2" charset="77"/>
              </a:defRPr>
            </a:lvl2pPr>
            <a:lvl3pPr>
              <a:defRPr b="0" i="0">
                <a:latin typeface="Duplicate Sans Light" pitchFamily="2" charset="77"/>
              </a:defRPr>
            </a:lvl3pPr>
            <a:lvl4pPr>
              <a:defRPr b="0" i="0">
                <a:latin typeface="Duplicate Sans Light" pitchFamily="2" charset="77"/>
              </a:defRPr>
            </a:lvl4pPr>
            <a:lvl5pPr>
              <a:defRPr b="0" i="0">
                <a:latin typeface="Duplicate Sans Light" pitchFamily="2"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D012BEDB-B7C3-8B44-91F8-65D5B5EB1401}"/>
              </a:ext>
            </a:extLst>
          </p:cNvPr>
          <p:cNvSpPr>
            <a:spLocks noGrp="1"/>
          </p:cNvSpPr>
          <p:nvPr>
            <p:ph type="dt" sz="half" idx="10"/>
          </p:nvPr>
        </p:nvSpPr>
        <p:spPr/>
        <p:txBody>
          <a:bodyPr/>
          <a:lstStyle>
            <a:lvl1pPr>
              <a:defRPr b="0" i="0">
                <a:latin typeface="Duplicate Sans Light" pitchFamily="2" charset="77"/>
              </a:defRPr>
            </a:lvl1pPr>
          </a:lstStyle>
          <a:p>
            <a:fld id="{0C6F1676-E3FE-1E4D-8FC3-1AB9B1717251}" type="datetimeFigureOut">
              <a:rPr lang="en-US" smtClean="0"/>
              <a:pPr/>
              <a:t>5/29/2026</a:t>
            </a:fld>
            <a:endParaRPr lang="en-US" dirty="0"/>
          </a:p>
        </p:txBody>
      </p:sp>
      <p:sp>
        <p:nvSpPr>
          <p:cNvPr id="8" name="Footer Placeholder 7">
            <a:extLst>
              <a:ext uri="{FF2B5EF4-FFF2-40B4-BE49-F238E27FC236}">
                <a16:creationId xmlns:a16="http://schemas.microsoft.com/office/drawing/2014/main" id="{EAF8A91D-8455-1C47-92F1-271C189ED9E4}"/>
              </a:ext>
            </a:extLst>
          </p:cNvPr>
          <p:cNvSpPr>
            <a:spLocks noGrp="1"/>
          </p:cNvSpPr>
          <p:nvPr>
            <p:ph type="ftr" sz="quarter" idx="11"/>
          </p:nvPr>
        </p:nvSpPr>
        <p:spPr/>
        <p:txBody>
          <a:bodyPr/>
          <a:lstStyle>
            <a:lvl1pPr>
              <a:defRPr b="0" i="0">
                <a:latin typeface="Duplicate Sans Light" pitchFamily="2" charset="77"/>
              </a:defRPr>
            </a:lvl1pPr>
          </a:lstStyle>
          <a:p>
            <a:endParaRPr lang="en-US" dirty="0"/>
          </a:p>
        </p:txBody>
      </p:sp>
      <p:sp>
        <p:nvSpPr>
          <p:cNvPr id="9" name="Slide Number Placeholder 8">
            <a:extLst>
              <a:ext uri="{FF2B5EF4-FFF2-40B4-BE49-F238E27FC236}">
                <a16:creationId xmlns:a16="http://schemas.microsoft.com/office/drawing/2014/main" id="{4DCEBEB1-7158-5849-86A6-27DC478C05A4}"/>
              </a:ext>
            </a:extLst>
          </p:cNvPr>
          <p:cNvSpPr>
            <a:spLocks noGrp="1"/>
          </p:cNvSpPr>
          <p:nvPr>
            <p:ph type="sldNum" sz="quarter" idx="12"/>
          </p:nvPr>
        </p:nvSpPr>
        <p:spPr/>
        <p:txBody>
          <a:bodyPr/>
          <a:lstStyle>
            <a:lvl1pPr>
              <a:defRPr b="0" i="0">
                <a:latin typeface="Duplicate Sans Light" pitchFamily="2" charset="77"/>
              </a:defRPr>
            </a:lvl1pPr>
          </a:lstStyle>
          <a:p>
            <a:fld id="{2E8BF8D3-86CD-4348-8ADF-36CBF5E042A0}" type="slidenum">
              <a:rPr lang="en-US" smtClean="0"/>
              <a:pPr/>
              <a:t>‹#›</a:t>
            </a:fld>
            <a:endParaRPr lang="en-US" dirty="0"/>
          </a:p>
        </p:txBody>
      </p:sp>
    </p:spTree>
    <p:extLst>
      <p:ext uri="{BB962C8B-B14F-4D97-AF65-F5344CB8AC3E}">
        <p14:creationId xmlns:p14="http://schemas.microsoft.com/office/powerpoint/2010/main" val="288725877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7B83D5-6986-5F4C-9D14-6EDB64D8E8B5}"/>
              </a:ext>
            </a:extLst>
          </p:cNvPr>
          <p:cNvSpPr>
            <a:spLocks noGrp="1"/>
          </p:cNvSpPr>
          <p:nvPr>
            <p:ph type="title"/>
          </p:nvPr>
        </p:nvSpPr>
        <p:spPr/>
        <p:txBody>
          <a:bodyPr/>
          <a:lstStyle>
            <a:lvl1pPr>
              <a:defRPr b="0" i="0">
                <a:latin typeface="Duplicate Sans Light" pitchFamily="2" charset="77"/>
              </a:defRPr>
            </a:lvl1pPr>
          </a:lstStyle>
          <a:p>
            <a:r>
              <a:rPr lang="en-US" dirty="0"/>
              <a:t>Click to edit Master title style</a:t>
            </a:r>
          </a:p>
        </p:txBody>
      </p:sp>
      <p:sp>
        <p:nvSpPr>
          <p:cNvPr id="3" name="Date Placeholder 2">
            <a:extLst>
              <a:ext uri="{FF2B5EF4-FFF2-40B4-BE49-F238E27FC236}">
                <a16:creationId xmlns:a16="http://schemas.microsoft.com/office/drawing/2014/main" id="{2068C786-B77E-BD4D-B6C6-B776E9370728}"/>
              </a:ext>
            </a:extLst>
          </p:cNvPr>
          <p:cNvSpPr>
            <a:spLocks noGrp="1"/>
          </p:cNvSpPr>
          <p:nvPr>
            <p:ph type="dt" sz="half" idx="10"/>
          </p:nvPr>
        </p:nvSpPr>
        <p:spPr/>
        <p:txBody>
          <a:bodyPr/>
          <a:lstStyle>
            <a:lvl1pPr>
              <a:defRPr b="0" i="0">
                <a:latin typeface="Duplicate Sans Light" pitchFamily="2" charset="77"/>
              </a:defRPr>
            </a:lvl1pPr>
          </a:lstStyle>
          <a:p>
            <a:fld id="{0C6F1676-E3FE-1E4D-8FC3-1AB9B1717251}" type="datetimeFigureOut">
              <a:rPr lang="en-US" smtClean="0"/>
              <a:pPr/>
              <a:t>5/29/2026</a:t>
            </a:fld>
            <a:endParaRPr lang="en-US" dirty="0"/>
          </a:p>
        </p:txBody>
      </p:sp>
      <p:sp>
        <p:nvSpPr>
          <p:cNvPr id="4" name="Footer Placeholder 3">
            <a:extLst>
              <a:ext uri="{FF2B5EF4-FFF2-40B4-BE49-F238E27FC236}">
                <a16:creationId xmlns:a16="http://schemas.microsoft.com/office/drawing/2014/main" id="{9DAEEE1C-E916-D04A-AA69-79697DD9AAFD}"/>
              </a:ext>
            </a:extLst>
          </p:cNvPr>
          <p:cNvSpPr>
            <a:spLocks noGrp="1"/>
          </p:cNvSpPr>
          <p:nvPr>
            <p:ph type="ftr" sz="quarter" idx="11"/>
          </p:nvPr>
        </p:nvSpPr>
        <p:spPr/>
        <p:txBody>
          <a:bodyPr/>
          <a:lstStyle>
            <a:lvl1pPr>
              <a:defRPr b="0" i="0">
                <a:latin typeface="Duplicate Sans Light" pitchFamily="2" charset="77"/>
              </a:defRPr>
            </a:lvl1pPr>
          </a:lstStyle>
          <a:p>
            <a:endParaRPr lang="en-US" dirty="0"/>
          </a:p>
        </p:txBody>
      </p:sp>
      <p:sp>
        <p:nvSpPr>
          <p:cNvPr id="5" name="Slide Number Placeholder 4">
            <a:extLst>
              <a:ext uri="{FF2B5EF4-FFF2-40B4-BE49-F238E27FC236}">
                <a16:creationId xmlns:a16="http://schemas.microsoft.com/office/drawing/2014/main" id="{6375FF5C-55AD-604B-AF69-3683F37E270C}"/>
              </a:ext>
            </a:extLst>
          </p:cNvPr>
          <p:cNvSpPr>
            <a:spLocks noGrp="1"/>
          </p:cNvSpPr>
          <p:nvPr>
            <p:ph type="sldNum" sz="quarter" idx="12"/>
          </p:nvPr>
        </p:nvSpPr>
        <p:spPr/>
        <p:txBody>
          <a:bodyPr/>
          <a:lstStyle>
            <a:lvl1pPr>
              <a:defRPr b="0" i="0">
                <a:latin typeface="Duplicate Sans Light" pitchFamily="2" charset="77"/>
              </a:defRPr>
            </a:lvl1pPr>
          </a:lstStyle>
          <a:p>
            <a:fld id="{2E8BF8D3-86CD-4348-8ADF-36CBF5E042A0}" type="slidenum">
              <a:rPr lang="en-US" smtClean="0"/>
              <a:pPr/>
              <a:t>‹#›</a:t>
            </a:fld>
            <a:endParaRPr lang="en-US" dirty="0"/>
          </a:p>
        </p:txBody>
      </p:sp>
    </p:spTree>
    <p:extLst>
      <p:ext uri="{BB962C8B-B14F-4D97-AF65-F5344CB8AC3E}">
        <p14:creationId xmlns:p14="http://schemas.microsoft.com/office/powerpoint/2010/main" val="172048616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FB8C1DF-3A85-1F46-A29F-E9AEC35F1E09}"/>
              </a:ext>
            </a:extLst>
          </p:cNvPr>
          <p:cNvSpPr>
            <a:spLocks noGrp="1"/>
          </p:cNvSpPr>
          <p:nvPr>
            <p:ph type="dt" sz="half" idx="10"/>
          </p:nvPr>
        </p:nvSpPr>
        <p:spPr/>
        <p:txBody>
          <a:bodyPr/>
          <a:lstStyle>
            <a:lvl1pPr>
              <a:defRPr b="0" i="0">
                <a:latin typeface="Duplicate Sans Light" pitchFamily="2" charset="77"/>
              </a:defRPr>
            </a:lvl1pPr>
          </a:lstStyle>
          <a:p>
            <a:fld id="{0C6F1676-E3FE-1E4D-8FC3-1AB9B1717251}" type="datetimeFigureOut">
              <a:rPr lang="en-US" smtClean="0"/>
              <a:pPr/>
              <a:t>5/29/2026</a:t>
            </a:fld>
            <a:endParaRPr lang="en-US" dirty="0"/>
          </a:p>
        </p:txBody>
      </p:sp>
      <p:sp>
        <p:nvSpPr>
          <p:cNvPr id="3" name="Footer Placeholder 2">
            <a:extLst>
              <a:ext uri="{FF2B5EF4-FFF2-40B4-BE49-F238E27FC236}">
                <a16:creationId xmlns:a16="http://schemas.microsoft.com/office/drawing/2014/main" id="{36D2539F-55C2-ED40-80B7-924B95474168}"/>
              </a:ext>
            </a:extLst>
          </p:cNvPr>
          <p:cNvSpPr>
            <a:spLocks noGrp="1"/>
          </p:cNvSpPr>
          <p:nvPr>
            <p:ph type="ftr" sz="quarter" idx="11"/>
          </p:nvPr>
        </p:nvSpPr>
        <p:spPr/>
        <p:txBody>
          <a:bodyPr/>
          <a:lstStyle>
            <a:lvl1pPr>
              <a:defRPr b="0" i="0">
                <a:latin typeface="Duplicate Sans Light" pitchFamily="2" charset="77"/>
              </a:defRPr>
            </a:lvl1pPr>
          </a:lstStyle>
          <a:p>
            <a:endParaRPr lang="en-US" dirty="0"/>
          </a:p>
        </p:txBody>
      </p:sp>
      <p:sp>
        <p:nvSpPr>
          <p:cNvPr id="4" name="Slide Number Placeholder 3">
            <a:extLst>
              <a:ext uri="{FF2B5EF4-FFF2-40B4-BE49-F238E27FC236}">
                <a16:creationId xmlns:a16="http://schemas.microsoft.com/office/drawing/2014/main" id="{4AC742FA-B8A1-2F4E-BB4F-C10FA006CA5D}"/>
              </a:ext>
            </a:extLst>
          </p:cNvPr>
          <p:cNvSpPr>
            <a:spLocks noGrp="1"/>
          </p:cNvSpPr>
          <p:nvPr>
            <p:ph type="sldNum" sz="quarter" idx="12"/>
          </p:nvPr>
        </p:nvSpPr>
        <p:spPr/>
        <p:txBody>
          <a:bodyPr/>
          <a:lstStyle>
            <a:lvl1pPr>
              <a:defRPr b="0" i="0">
                <a:latin typeface="Duplicate Sans Light" pitchFamily="2" charset="77"/>
              </a:defRPr>
            </a:lvl1pPr>
          </a:lstStyle>
          <a:p>
            <a:fld id="{2E8BF8D3-86CD-4348-8ADF-36CBF5E042A0}" type="slidenum">
              <a:rPr lang="en-US" smtClean="0"/>
              <a:pPr/>
              <a:t>‹#›</a:t>
            </a:fld>
            <a:endParaRPr lang="en-US" dirty="0"/>
          </a:p>
        </p:txBody>
      </p:sp>
    </p:spTree>
    <p:extLst>
      <p:ext uri="{BB962C8B-B14F-4D97-AF65-F5344CB8AC3E}">
        <p14:creationId xmlns:p14="http://schemas.microsoft.com/office/powerpoint/2010/main" val="149271524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EDD865-C135-874C-B606-C08A6049DF61}"/>
              </a:ext>
            </a:extLst>
          </p:cNvPr>
          <p:cNvSpPr>
            <a:spLocks noGrp="1"/>
          </p:cNvSpPr>
          <p:nvPr>
            <p:ph type="title"/>
          </p:nvPr>
        </p:nvSpPr>
        <p:spPr>
          <a:xfrm>
            <a:off x="839788" y="457200"/>
            <a:ext cx="3932237" cy="1600200"/>
          </a:xfrm>
        </p:spPr>
        <p:txBody>
          <a:bodyPr anchor="b"/>
          <a:lstStyle>
            <a:lvl1pPr>
              <a:defRPr sz="3200" b="0" i="0">
                <a:latin typeface="Duplicate Sans Light" pitchFamily="2" charset="77"/>
              </a:defRPr>
            </a:lvl1pPr>
          </a:lstStyle>
          <a:p>
            <a:r>
              <a:rPr lang="en-US" dirty="0"/>
              <a:t>Click to edit Master title style</a:t>
            </a:r>
          </a:p>
        </p:txBody>
      </p:sp>
      <p:sp>
        <p:nvSpPr>
          <p:cNvPr id="3" name="Content Placeholder 2">
            <a:extLst>
              <a:ext uri="{FF2B5EF4-FFF2-40B4-BE49-F238E27FC236}">
                <a16:creationId xmlns:a16="http://schemas.microsoft.com/office/drawing/2014/main" id="{A8B4CF7F-A012-2A4E-8883-8C2C4136C65A}"/>
              </a:ext>
            </a:extLst>
          </p:cNvPr>
          <p:cNvSpPr>
            <a:spLocks noGrp="1"/>
          </p:cNvSpPr>
          <p:nvPr>
            <p:ph idx="1"/>
          </p:nvPr>
        </p:nvSpPr>
        <p:spPr>
          <a:xfrm>
            <a:off x="5183189" y="987425"/>
            <a:ext cx="6172200" cy="4873625"/>
          </a:xfrm>
        </p:spPr>
        <p:txBody>
          <a:bodyPr/>
          <a:lstStyle>
            <a:lvl1pPr>
              <a:defRPr sz="3200" b="0" i="0">
                <a:latin typeface="Duplicate Sans Light" pitchFamily="2" charset="77"/>
              </a:defRPr>
            </a:lvl1pPr>
            <a:lvl2pPr>
              <a:defRPr sz="2800" b="0" i="0">
                <a:latin typeface="Duplicate Sans Light" pitchFamily="2" charset="77"/>
              </a:defRPr>
            </a:lvl2pPr>
            <a:lvl3pPr>
              <a:defRPr sz="2400" b="0" i="0">
                <a:latin typeface="Duplicate Sans Light" pitchFamily="2" charset="77"/>
              </a:defRPr>
            </a:lvl3pPr>
            <a:lvl4pPr>
              <a:defRPr sz="2000" b="0" i="0">
                <a:latin typeface="Duplicate Sans Light" pitchFamily="2" charset="77"/>
              </a:defRPr>
            </a:lvl4pPr>
            <a:lvl5pPr>
              <a:defRPr sz="2000" b="0" i="0">
                <a:latin typeface="Duplicate Sans Light" pitchFamily="2" charset="77"/>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50F16816-74B4-864A-9236-6842F5D2CD94}"/>
              </a:ext>
            </a:extLst>
          </p:cNvPr>
          <p:cNvSpPr>
            <a:spLocks noGrp="1"/>
          </p:cNvSpPr>
          <p:nvPr>
            <p:ph type="body" sz="half" idx="2"/>
          </p:nvPr>
        </p:nvSpPr>
        <p:spPr>
          <a:xfrm>
            <a:off x="839788" y="2057401"/>
            <a:ext cx="3932237" cy="3811588"/>
          </a:xfrm>
        </p:spPr>
        <p:txBody>
          <a:bodyPr/>
          <a:lstStyle>
            <a:lvl1pPr marL="0" indent="0">
              <a:buNone/>
              <a:defRPr sz="1600" b="0" i="0">
                <a:latin typeface="Duplicate Sans Light" pitchFamily="2" charset="77"/>
              </a:defRPr>
            </a:lvl1pPr>
            <a:lvl2pPr marL="457192" indent="0">
              <a:buNone/>
              <a:defRPr sz="1400"/>
            </a:lvl2pPr>
            <a:lvl3pPr marL="914384" indent="0">
              <a:buNone/>
              <a:defRPr sz="1200"/>
            </a:lvl3pPr>
            <a:lvl4pPr marL="1371576" indent="0">
              <a:buNone/>
              <a:defRPr sz="1000"/>
            </a:lvl4pPr>
            <a:lvl5pPr marL="1828768" indent="0">
              <a:buNone/>
              <a:defRPr sz="1000"/>
            </a:lvl5pPr>
            <a:lvl6pPr marL="2285960" indent="0">
              <a:buNone/>
              <a:defRPr sz="1000"/>
            </a:lvl6pPr>
            <a:lvl7pPr marL="2743152" indent="0">
              <a:buNone/>
              <a:defRPr sz="1000"/>
            </a:lvl7pPr>
            <a:lvl8pPr marL="3200344" indent="0">
              <a:buNone/>
              <a:defRPr sz="1000"/>
            </a:lvl8pPr>
            <a:lvl9pPr marL="3657536"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85B3FB84-67D5-1149-87FC-C19EA48E259E}"/>
              </a:ext>
            </a:extLst>
          </p:cNvPr>
          <p:cNvSpPr>
            <a:spLocks noGrp="1"/>
          </p:cNvSpPr>
          <p:nvPr>
            <p:ph type="dt" sz="half" idx="10"/>
          </p:nvPr>
        </p:nvSpPr>
        <p:spPr/>
        <p:txBody>
          <a:bodyPr/>
          <a:lstStyle>
            <a:lvl1pPr>
              <a:defRPr b="0" i="0">
                <a:latin typeface="Duplicate Sans Light" pitchFamily="2" charset="77"/>
              </a:defRPr>
            </a:lvl1pPr>
          </a:lstStyle>
          <a:p>
            <a:fld id="{0C6F1676-E3FE-1E4D-8FC3-1AB9B1717251}" type="datetimeFigureOut">
              <a:rPr lang="en-US" smtClean="0"/>
              <a:pPr/>
              <a:t>5/29/2026</a:t>
            </a:fld>
            <a:endParaRPr lang="en-US" dirty="0"/>
          </a:p>
        </p:txBody>
      </p:sp>
      <p:sp>
        <p:nvSpPr>
          <p:cNvPr id="6" name="Footer Placeholder 5">
            <a:extLst>
              <a:ext uri="{FF2B5EF4-FFF2-40B4-BE49-F238E27FC236}">
                <a16:creationId xmlns:a16="http://schemas.microsoft.com/office/drawing/2014/main" id="{4E8E749F-70D0-A84D-BF1C-10737C11765D}"/>
              </a:ext>
            </a:extLst>
          </p:cNvPr>
          <p:cNvSpPr>
            <a:spLocks noGrp="1"/>
          </p:cNvSpPr>
          <p:nvPr>
            <p:ph type="ftr" sz="quarter" idx="11"/>
          </p:nvPr>
        </p:nvSpPr>
        <p:spPr/>
        <p:txBody>
          <a:bodyPr/>
          <a:lstStyle>
            <a:lvl1pPr>
              <a:defRPr b="0" i="0">
                <a:latin typeface="Duplicate Sans Light" pitchFamily="2" charset="77"/>
              </a:defRPr>
            </a:lvl1pPr>
          </a:lstStyle>
          <a:p>
            <a:endParaRPr lang="en-US" dirty="0"/>
          </a:p>
        </p:txBody>
      </p:sp>
      <p:sp>
        <p:nvSpPr>
          <p:cNvPr id="7" name="Slide Number Placeholder 6">
            <a:extLst>
              <a:ext uri="{FF2B5EF4-FFF2-40B4-BE49-F238E27FC236}">
                <a16:creationId xmlns:a16="http://schemas.microsoft.com/office/drawing/2014/main" id="{321859BE-55CD-0043-ADEE-1D93095BB9A2}"/>
              </a:ext>
            </a:extLst>
          </p:cNvPr>
          <p:cNvSpPr>
            <a:spLocks noGrp="1"/>
          </p:cNvSpPr>
          <p:nvPr>
            <p:ph type="sldNum" sz="quarter" idx="12"/>
          </p:nvPr>
        </p:nvSpPr>
        <p:spPr/>
        <p:txBody>
          <a:bodyPr/>
          <a:lstStyle>
            <a:lvl1pPr>
              <a:defRPr b="0" i="0">
                <a:latin typeface="Duplicate Sans Light" pitchFamily="2" charset="77"/>
              </a:defRPr>
            </a:lvl1pPr>
          </a:lstStyle>
          <a:p>
            <a:fld id="{2E8BF8D3-86CD-4348-8ADF-36CBF5E042A0}" type="slidenum">
              <a:rPr lang="en-US" smtClean="0"/>
              <a:pPr/>
              <a:t>‹#›</a:t>
            </a:fld>
            <a:endParaRPr lang="en-US" dirty="0"/>
          </a:p>
        </p:txBody>
      </p:sp>
    </p:spTree>
    <p:extLst>
      <p:ext uri="{BB962C8B-B14F-4D97-AF65-F5344CB8AC3E}">
        <p14:creationId xmlns:p14="http://schemas.microsoft.com/office/powerpoint/2010/main" val="345240790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A89EEE-1B88-7A44-9DEC-52862A88D163}"/>
              </a:ext>
            </a:extLst>
          </p:cNvPr>
          <p:cNvSpPr>
            <a:spLocks noGrp="1"/>
          </p:cNvSpPr>
          <p:nvPr>
            <p:ph type="title"/>
          </p:nvPr>
        </p:nvSpPr>
        <p:spPr>
          <a:xfrm>
            <a:off x="839788" y="457200"/>
            <a:ext cx="3932237" cy="1600200"/>
          </a:xfrm>
        </p:spPr>
        <p:txBody>
          <a:bodyPr anchor="b"/>
          <a:lstStyle>
            <a:lvl1pPr>
              <a:defRPr sz="3200" b="0" i="0">
                <a:latin typeface="Duplicate Sans Light" pitchFamily="2" charset="77"/>
              </a:defRPr>
            </a:lvl1pPr>
          </a:lstStyle>
          <a:p>
            <a:r>
              <a:rPr lang="en-US" dirty="0"/>
              <a:t>Click to edit Master title style</a:t>
            </a:r>
          </a:p>
        </p:txBody>
      </p:sp>
      <p:sp>
        <p:nvSpPr>
          <p:cNvPr id="3" name="Picture Placeholder 2">
            <a:extLst>
              <a:ext uri="{FF2B5EF4-FFF2-40B4-BE49-F238E27FC236}">
                <a16:creationId xmlns:a16="http://schemas.microsoft.com/office/drawing/2014/main" id="{09A9A3CE-6715-A84F-AEB5-CB29DE9654EA}"/>
              </a:ext>
            </a:extLst>
          </p:cNvPr>
          <p:cNvSpPr>
            <a:spLocks noGrp="1"/>
          </p:cNvSpPr>
          <p:nvPr>
            <p:ph type="pic" idx="1"/>
          </p:nvPr>
        </p:nvSpPr>
        <p:spPr>
          <a:xfrm>
            <a:off x="5183189" y="987425"/>
            <a:ext cx="6172200" cy="4873625"/>
          </a:xfrm>
        </p:spPr>
        <p:txBody>
          <a:bodyPr/>
          <a:lstStyle>
            <a:lvl1pPr marL="0" indent="0">
              <a:buNone/>
              <a:defRPr sz="3200" b="0" i="0">
                <a:latin typeface="Duplicate Sans Light" pitchFamily="2" charset="77"/>
              </a:defRPr>
            </a:lvl1pPr>
            <a:lvl2pPr marL="457192" indent="0">
              <a:buNone/>
              <a:defRPr sz="2800"/>
            </a:lvl2pPr>
            <a:lvl3pPr marL="914384" indent="0">
              <a:buNone/>
              <a:defRPr sz="2400"/>
            </a:lvl3pPr>
            <a:lvl4pPr marL="1371576" indent="0">
              <a:buNone/>
              <a:defRPr sz="2000"/>
            </a:lvl4pPr>
            <a:lvl5pPr marL="1828768" indent="0">
              <a:buNone/>
              <a:defRPr sz="2000"/>
            </a:lvl5pPr>
            <a:lvl6pPr marL="2285960" indent="0">
              <a:buNone/>
              <a:defRPr sz="2000"/>
            </a:lvl6pPr>
            <a:lvl7pPr marL="2743152" indent="0">
              <a:buNone/>
              <a:defRPr sz="2000"/>
            </a:lvl7pPr>
            <a:lvl8pPr marL="3200344" indent="0">
              <a:buNone/>
              <a:defRPr sz="2000"/>
            </a:lvl8pPr>
            <a:lvl9pPr marL="3657536" indent="0">
              <a:buNone/>
              <a:defRPr sz="2000"/>
            </a:lvl9pPr>
          </a:lstStyle>
          <a:p>
            <a:endParaRPr lang="en-US" dirty="0"/>
          </a:p>
        </p:txBody>
      </p:sp>
      <p:sp>
        <p:nvSpPr>
          <p:cNvPr id="4" name="Text Placeholder 3">
            <a:extLst>
              <a:ext uri="{FF2B5EF4-FFF2-40B4-BE49-F238E27FC236}">
                <a16:creationId xmlns:a16="http://schemas.microsoft.com/office/drawing/2014/main" id="{A4485DEF-C950-CA40-BC19-C9B2DB0D4D38}"/>
              </a:ext>
            </a:extLst>
          </p:cNvPr>
          <p:cNvSpPr>
            <a:spLocks noGrp="1"/>
          </p:cNvSpPr>
          <p:nvPr>
            <p:ph type="body" sz="half" idx="2"/>
          </p:nvPr>
        </p:nvSpPr>
        <p:spPr>
          <a:xfrm>
            <a:off x="839788" y="2057401"/>
            <a:ext cx="3932237" cy="3811588"/>
          </a:xfrm>
        </p:spPr>
        <p:txBody>
          <a:bodyPr/>
          <a:lstStyle>
            <a:lvl1pPr marL="0" indent="0">
              <a:buNone/>
              <a:defRPr sz="1600" b="0" i="0">
                <a:latin typeface="Duplicate Sans Light" pitchFamily="2" charset="77"/>
              </a:defRPr>
            </a:lvl1pPr>
            <a:lvl2pPr marL="457192" indent="0">
              <a:buNone/>
              <a:defRPr sz="1400"/>
            </a:lvl2pPr>
            <a:lvl3pPr marL="914384" indent="0">
              <a:buNone/>
              <a:defRPr sz="1200"/>
            </a:lvl3pPr>
            <a:lvl4pPr marL="1371576" indent="0">
              <a:buNone/>
              <a:defRPr sz="1000"/>
            </a:lvl4pPr>
            <a:lvl5pPr marL="1828768" indent="0">
              <a:buNone/>
              <a:defRPr sz="1000"/>
            </a:lvl5pPr>
            <a:lvl6pPr marL="2285960" indent="0">
              <a:buNone/>
              <a:defRPr sz="1000"/>
            </a:lvl6pPr>
            <a:lvl7pPr marL="2743152" indent="0">
              <a:buNone/>
              <a:defRPr sz="1000"/>
            </a:lvl7pPr>
            <a:lvl8pPr marL="3200344" indent="0">
              <a:buNone/>
              <a:defRPr sz="1000"/>
            </a:lvl8pPr>
            <a:lvl9pPr marL="3657536"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43BF1156-302D-CD4B-B264-FE9C6B33CA15}"/>
              </a:ext>
            </a:extLst>
          </p:cNvPr>
          <p:cNvSpPr>
            <a:spLocks noGrp="1"/>
          </p:cNvSpPr>
          <p:nvPr>
            <p:ph type="dt" sz="half" idx="10"/>
          </p:nvPr>
        </p:nvSpPr>
        <p:spPr/>
        <p:txBody>
          <a:bodyPr/>
          <a:lstStyle>
            <a:lvl1pPr>
              <a:defRPr b="0" i="0">
                <a:latin typeface="Duplicate Sans Light" pitchFamily="2" charset="77"/>
              </a:defRPr>
            </a:lvl1pPr>
          </a:lstStyle>
          <a:p>
            <a:fld id="{0C6F1676-E3FE-1E4D-8FC3-1AB9B1717251}" type="datetimeFigureOut">
              <a:rPr lang="en-US" smtClean="0"/>
              <a:pPr/>
              <a:t>5/29/2026</a:t>
            </a:fld>
            <a:endParaRPr lang="en-US" dirty="0"/>
          </a:p>
        </p:txBody>
      </p:sp>
      <p:sp>
        <p:nvSpPr>
          <p:cNvPr id="6" name="Footer Placeholder 5">
            <a:extLst>
              <a:ext uri="{FF2B5EF4-FFF2-40B4-BE49-F238E27FC236}">
                <a16:creationId xmlns:a16="http://schemas.microsoft.com/office/drawing/2014/main" id="{3CF7C406-B78F-1F46-A4A3-AE8125771EA0}"/>
              </a:ext>
            </a:extLst>
          </p:cNvPr>
          <p:cNvSpPr>
            <a:spLocks noGrp="1"/>
          </p:cNvSpPr>
          <p:nvPr>
            <p:ph type="ftr" sz="quarter" idx="11"/>
          </p:nvPr>
        </p:nvSpPr>
        <p:spPr/>
        <p:txBody>
          <a:bodyPr/>
          <a:lstStyle>
            <a:lvl1pPr>
              <a:defRPr b="0" i="0">
                <a:latin typeface="Duplicate Sans Light" pitchFamily="2" charset="77"/>
              </a:defRPr>
            </a:lvl1pPr>
          </a:lstStyle>
          <a:p>
            <a:endParaRPr lang="en-US" dirty="0"/>
          </a:p>
        </p:txBody>
      </p:sp>
      <p:sp>
        <p:nvSpPr>
          <p:cNvPr id="7" name="Slide Number Placeholder 6">
            <a:extLst>
              <a:ext uri="{FF2B5EF4-FFF2-40B4-BE49-F238E27FC236}">
                <a16:creationId xmlns:a16="http://schemas.microsoft.com/office/drawing/2014/main" id="{17A876A8-A3A0-194B-9CA1-0DDBC4AA3045}"/>
              </a:ext>
            </a:extLst>
          </p:cNvPr>
          <p:cNvSpPr>
            <a:spLocks noGrp="1"/>
          </p:cNvSpPr>
          <p:nvPr>
            <p:ph type="sldNum" sz="quarter" idx="12"/>
          </p:nvPr>
        </p:nvSpPr>
        <p:spPr/>
        <p:txBody>
          <a:bodyPr/>
          <a:lstStyle>
            <a:lvl1pPr>
              <a:defRPr b="0" i="0">
                <a:latin typeface="Duplicate Sans Light" pitchFamily="2" charset="77"/>
              </a:defRPr>
            </a:lvl1pPr>
          </a:lstStyle>
          <a:p>
            <a:fld id="{2E8BF8D3-86CD-4348-8ADF-36CBF5E042A0}" type="slidenum">
              <a:rPr lang="en-US" smtClean="0"/>
              <a:pPr/>
              <a:t>‹#›</a:t>
            </a:fld>
            <a:endParaRPr lang="en-US" dirty="0"/>
          </a:p>
        </p:txBody>
      </p:sp>
    </p:spTree>
    <p:extLst>
      <p:ext uri="{BB962C8B-B14F-4D97-AF65-F5344CB8AC3E}">
        <p14:creationId xmlns:p14="http://schemas.microsoft.com/office/powerpoint/2010/main" val="374720008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2B1E6E-F30F-2748-8F76-A2444B2DB393}"/>
              </a:ext>
            </a:extLst>
          </p:cNvPr>
          <p:cNvSpPr>
            <a:spLocks noGrp="1"/>
          </p:cNvSpPr>
          <p:nvPr>
            <p:ph type="title"/>
          </p:nvPr>
        </p:nvSpPr>
        <p:spPr/>
        <p:txBody>
          <a:bodyPr/>
          <a:lstStyle>
            <a:lvl1pPr>
              <a:defRPr b="0" i="0">
                <a:latin typeface="Duplicate Sans Light" pitchFamily="2" charset="77"/>
              </a:defRPr>
            </a:lvl1pPr>
          </a:lstStyle>
          <a:p>
            <a:r>
              <a:rPr lang="en-US" dirty="0"/>
              <a:t>Click to edit Master title style</a:t>
            </a:r>
          </a:p>
        </p:txBody>
      </p:sp>
      <p:sp>
        <p:nvSpPr>
          <p:cNvPr id="3" name="Vertical Text Placeholder 2">
            <a:extLst>
              <a:ext uri="{FF2B5EF4-FFF2-40B4-BE49-F238E27FC236}">
                <a16:creationId xmlns:a16="http://schemas.microsoft.com/office/drawing/2014/main" id="{22BC5E3C-9EE5-5E4F-A1E6-C0B03796B39C}"/>
              </a:ext>
            </a:extLst>
          </p:cNvPr>
          <p:cNvSpPr>
            <a:spLocks noGrp="1"/>
          </p:cNvSpPr>
          <p:nvPr>
            <p:ph type="body" orient="vert" idx="1"/>
          </p:nvPr>
        </p:nvSpPr>
        <p:spPr/>
        <p:txBody>
          <a:bodyPr vert="eaVert"/>
          <a:lstStyle>
            <a:lvl1pPr>
              <a:defRPr b="0" i="0">
                <a:latin typeface="Duplicate Sans Light" pitchFamily="2" charset="77"/>
              </a:defRPr>
            </a:lvl1pPr>
            <a:lvl2pPr>
              <a:defRPr b="0" i="0">
                <a:latin typeface="Duplicate Sans Light" pitchFamily="2" charset="77"/>
              </a:defRPr>
            </a:lvl2pPr>
            <a:lvl3pPr>
              <a:defRPr b="0" i="0">
                <a:latin typeface="Duplicate Sans Light" pitchFamily="2" charset="77"/>
              </a:defRPr>
            </a:lvl3pPr>
            <a:lvl4pPr>
              <a:defRPr b="0" i="0">
                <a:latin typeface="Duplicate Sans Light" pitchFamily="2" charset="77"/>
              </a:defRPr>
            </a:lvl4pPr>
            <a:lvl5pPr>
              <a:defRPr b="0" i="0">
                <a:latin typeface="Duplicate Sans Light" pitchFamily="2"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D3EFAD4-A7B7-DF40-88CE-347F72DE10A9}"/>
              </a:ext>
            </a:extLst>
          </p:cNvPr>
          <p:cNvSpPr>
            <a:spLocks noGrp="1"/>
          </p:cNvSpPr>
          <p:nvPr>
            <p:ph type="dt" sz="half" idx="10"/>
          </p:nvPr>
        </p:nvSpPr>
        <p:spPr/>
        <p:txBody>
          <a:bodyPr/>
          <a:lstStyle>
            <a:lvl1pPr>
              <a:defRPr b="0" i="0">
                <a:latin typeface="Duplicate Sans Light" pitchFamily="2" charset="77"/>
              </a:defRPr>
            </a:lvl1pPr>
          </a:lstStyle>
          <a:p>
            <a:fld id="{0C6F1676-E3FE-1E4D-8FC3-1AB9B1717251}" type="datetimeFigureOut">
              <a:rPr lang="en-US" smtClean="0"/>
              <a:pPr/>
              <a:t>5/29/2026</a:t>
            </a:fld>
            <a:endParaRPr lang="en-US" dirty="0"/>
          </a:p>
        </p:txBody>
      </p:sp>
      <p:sp>
        <p:nvSpPr>
          <p:cNvPr id="5" name="Footer Placeholder 4">
            <a:extLst>
              <a:ext uri="{FF2B5EF4-FFF2-40B4-BE49-F238E27FC236}">
                <a16:creationId xmlns:a16="http://schemas.microsoft.com/office/drawing/2014/main" id="{9BF786EB-B54A-1144-A03E-663282437DC2}"/>
              </a:ext>
            </a:extLst>
          </p:cNvPr>
          <p:cNvSpPr>
            <a:spLocks noGrp="1"/>
          </p:cNvSpPr>
          <p:nvPr>
            <p:ph type="ftr" sz="quarter" idx="11"/>
          </p:nvPr>
        </p:nvSpPr>
        <p:spPr/>
        <p:txBody>
          <a:bodyPr/>
          <a:lstStyle>
            <a:lvl1pPr>
              <a:defRPr b="0" i="0">
                <a:latin typeface="Duplicate Sans Light" pitchFamily="2" charset="77"/>
              </a:defRPr>
            </a:lvl1pPr>
          </a:lstStyle>
          <a:p>
            <a:endParaRPr lang="en-US" dirty="0"/>
          </a:p>
        </p:txBody>
      </p:sp>
      <p:sp>
        <p:nvSpPr>
          <p:cNvPr id="6" name="Slide Number Placeholder 5">
            <a:extLst>
              <a:ext uri="{FF2B5EF4-FFF2-40B4-BE49-F238E27FC236}">
                <a16:creationId xmlns:a16="http://schemas.microsoft.com/office/drawing/2014/main" id="{3A1E0691-85A1-1846-847A-5F08C24BD92D}"/>
              </a:ext>
            </a:extLst>
          </p:cNvPr>
          <p:cNvSpPr>
            <a:spLocks noGrp="1"/>
          </p:cNvSpPr>
          <p:nvPr>
            <p:ph type="sldNum" sz="quarter" idx="12"/>
          </p:nvPr>
        </p:nvSpPr>
        <p:spPr/>
        <p:txBody>
          <a:bodyPr/>
          <a:lstStyle>
            <a:lvl1pPr>
              <a:defRPr b="0" i="0">
                <a:latin typeface="Duplicate Sans Light" pitchFamily="2" charset="77"/>
              </a:defRPr>
            </a:lvl1pPr>
          </a:lstStyle>
          <a:p>
            <a:fld id="{2E8BF8D3-86CD-4348-8ADF-36CBF5E042A0}" type="slidenum">
              <a:rPr lang="en-US" smtClean="0"/>
              <a:pPr/>
              <a:t>‹#›</a:t>
            </a:fld>
            <a:endParaRPr lang="en-US" dirty="0"/>
          </a:p>
        </p:txBody>
      </p:sp>
    </p:spTree>
    <p:extLst>
      <p:ext uri="{BB962C8B-B14F-4D97-AF65-F5344CB8AC3E}">
        <p14:creationId xmlns:p14="http://schemas.microsoft.com/office/powerpoint/2010/main" val="158946282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9530F3B-0996-CD40-BD28-704FD950455E}"/>
              </a:ext>
            </a:extLst>
          </p:cNvPr>
          <p:cNvSpPr>
            <a:spLocks noGrp="1"/>
          </p:cNvSpPr>
          <p:nvPr>
            <p:ph type="title" orient="vert"/>
          </p:nvPr>
        </p:nvSpPr>
        <p:spPr>
          <a:xfrm>
            <a:off x="8724900" y="365126"/>
            <a:ext cx="2628900" cy="5811838"/>
          </a:xfrm>
        </p:spPr>
        <p:txBody>
          <a:bodyPr vert="eaVert"/>
          <a:lstStyle>
            <a:lvl1pPr>
              <a:defRPr b="0" i="0">
                <a:latin typeface="Duplicate Sans Light" pitchFamily="2" charset="77"/>
              </a:defRPr>
            </a:lvl1pPr>
          </a:lstStyle>
          <a:p>
            <a:r>
              <a:rPr lang="en-US" dirty="0"/>
              <a:t>Click to edit Master title style</a:t>
            </a:r>
          </a:p>
        </p:txBody>
      </p:sp>
      <p:sp>
        <p:nvSpPr>
          <p:cNvPr id="3" name="Vertical Text Placeholder 2">
            <a:extLst>
              <a:ext uri="{FF2B5EF4-FFF2-40B4-BE49-F238E27FC236}">
                <a16:creationId xmlns:a16="http://schemas.microsoft.com/office/drawing/2014/main" id="{8043B2CD-4278-8640-8A70-7A877BFDA6CB}"/>
              </a:ext>
            </a:extLst>
          </p:cNvPr>
          <p:cNvSpPr>
            <a:spLocks noGrp="1"/>
          </p:cNvSpPr>
          <p:nvPr>
            <p:ph type="body" orient="vert" idx="1"/>
          </p:nvPr>
        </p:nvSpPr>
        <p:spPr>
          <a:xfrm>
            <a:off x="838201" y="365126"/>
            <a:ext cx="7734300" cy="5811838"/>
          </a:xfrm>
        </p:spPr>
        <p:txBody>
          <a:bodyPr vert="eaVert"/>
          <a:lstStyle>
            <a:lvl1pPr>
              <a:defRPr b="0" i="0">
                <a:latin typeface="Duplicate Sans Light" pitchFamily="2" charset="77"/>
              </a:defRPr>
            </a:lvl1pPr>
            <a:lvl2pPr>
              <a:defRPr b="0" i="0">
                <a:latin typeface="Duplicate Sans Light" pitchFamily="2" charset="77"/>
              </a:defRPr>
            </a:lvl2pPr>
            <a:lvl3pPr>
              <a:defRPr b="0" i="0">
                <a:latin typeface="Duplicate Sans Light" pitchFamily="2" charset="77"/>
              </a:defRPr>
            </a:lvl3pPr>
            <a:lvl4pPr>
              <a:defRPr b="0" i="0">
                <a:latin typeface="Duplicate Sans Light" pitchFamily="2" charset="77"/>
              </a:defRPr>
            </a:lvl4pPr>
            <a:lvl5pPr>
              <a:defRPr b="0" i="0">
                <a:latin typeface="Duplicate Sans Light" pitchFamily="2"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D0B6317-23AD-544E-A219-6800868F2B7F}"/>
              </a:ext>
            </a:extLst>
          </p:cNvPr>
          <p:cNvSpPr>
            <a:spLocks noGrp="1"/>
          </p:cNvSpPr>
          <p:nvPr>
            <p:ph type="dt" sz="half" idx="10"/>
          </p:nvPr>
        </p:nvSpPr>
        <p:spPr/>
        <p:txBody>
          <a:bodyPr/>
          <a:lstStyle>
            <a:lvl1pPr>
              <a:defRPr b="0" i="0">
                <a:latin typeface="Duplicate Sans Light" pitchFamily="2" charset="77"/>
              </a:defRPr>
            </a:lvl1pPr>
          </a:lstStyle>
          <a:p>
            <a:fld id="{0C6F1676-E3FE-1E4D-8FC3-1AB9B1717251}" type="datetimeFigureOut">
              <a:rPr lang="en-US" smtClean="0"/>
              <a:pPr/>
              <a:t>5/29/2026</a:t>
            </a:fld>
            <a:endParaRPr lang="en-US" dirty="0"/>
          </a:p>
        </p:txBody>
      </p:sp>
      <p:sp>
        <p:nvSpPr>
          <p:cNvPr id="5" name="Footer Placeholder 4">
            <a:extLst>
              <a:ext uri="{FF2B5EF4-FFF2-40B4-BE49-F238E27FC236}">
                <a16:creationId xmlns:a16="http://schemas.microsoft.com/office/drawing/2014/main" id="{27A823E0-D0EC-6A4C-BCED-5EBB1CF8E906}"/>
              </a:ext>
            </a:extLst>
          </p:cNvPr>
          <p:cNvSpPr>
            <a:spLocks noGrp="1"/>
          </p:cNvSpPr>
          <p:nvPr>
            <p:ph type="ftr" sz="quarter" idx="11"/>
          </p:nvPr>
        </p:nvSpPr>
        <p:spPr/>
        <p:txBody>
          <a:bodyPr/>
          <a:lstStyle>
            <a:lvl1pPr>
              <a:defRPr b="0" i="0">
                <a:latin typeface="Duplicate Sans Light" pitchFamily="2" charset="77"/>
              </a:defRPr>
            </a:lvl1pPr>
          </a:lstStyle>
          <a:p>
            <a:endParaRPr lang="en-US" dirty="0"/>
          </a:p>
        </p:txBody>
      </p:sp>
      <p:sp>
        <p:nvSpPr>
          <p:cNvPr id="6" name="Slide Number Placeholder 5">
            <a:extLst>
              <a:ext uri="{FF2B5EF4-FFF2-40B4-BE49-F238E27FC236}">
                <a16:creationId xmlns:a16="http://schemas.microsoft.com/office/drawing/2014/main" id="{FDAEC469-C8AD-4A42-AA45-9E15E528D46E}"/>
              </a:ext>
            </a:extLst>
          </p:cNvPr>
          <p:cNvSpPr>
            <a:spLocks noGrp="1"/>
          </p:cNvSpPr>
          <p:nvPr>
            <p:ph type="sldNum" sz="quarter" idx="12"/>
          </p:nvPr>
        </p:nvSpPr>
        <p:spPr/>
        <p:txBody>
          <a:bodyPr/>
          <a:lstStyle>
            <a:lvl1pPr>
              <a:defRPr b="0" i="0">
                <a:latin typeface="Duplicate Sans Light" pitchFamily="2" charset="77"/>
              </a:defRPr>
            </a:lvl1pPr>
          </a:lstStyle>
          <a:p>
            <a:fld id="{2E8BF8D3-86CD-4348-8ADF-36CBF5E042A0}" type="slidenum">
              <a:rPr lang="en-US" smtClean="0"/>
              <a:pPr/>
              <a:t>‹#›</a:t>
            </a:fld>
            <a:endParaRPr lang="en-US" dirty="0"/>
          </a:p>
        </p:txBody>
      </p:sp>
    </p:spTree>
    <p:extLst>
      <p:ext uri="{BB962C8B-B14F-4D97-AF65-F5344CB8AC3E}">
        <p14:creationId xmlns:p14="http://schemas.microsoft.com/office/powerpoint/2010/main" val="72437980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D727380-7E14-4B46-A2BB-0150C9D32756}"/>
              </a:ext>
            </a:extLst>
          </p:cNvPr>
          <p:cNvSpPr>
            <a:spLocks noGrp="1"/>
          </p:cNvSpPr>
          <p:nvPr>
            <p:ph type="title"/>
          </p:nvPr>
        </p:nvSpPr>
        <p:spPr>
          <a:xfrm>
            <a:off x="838200" y="365126"/>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A4480DEC-C0C4-6642-ACE7-42CBACA049D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5F92F98-C23E-9249-A668-AAA14039385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0" i="0">
                <a:solidFill>
                  <a:schemeClr val="tx1">
                    <a:tint val="75000"/>
                  </a:schemeClr>
                </a:solidFill>
                <a:latin typeface="Duplicate Sans Light" pitchFamily="2" charset="77"/>
              </a:defRPr>
            </a:lvl1pPr>
          </a:lstStyle>
          <a:p>
            <a:fld id="{0C6F1676-E3FE-1E4D-8FC3-1AB9B1717251}" type="datetimeFigureOut">
              <a:rPr lang="en-US" smtClean="0"/>
              <a:pPr/>
              <a:t>5/29/2026</a:t>
            </a:fld>
            <a:endParaRPr lang="en-US" dirty="0"/>
          </a:p>
        </p:txBody>
      </p:sp>
      <p:sp>
        <p:nvSpPr>
          <p:cNvPr id="5" name="Footer Placeholder 4">
            <a:extLst>
              <a:ext uri="{FF2B5EF4-FFF2-40B4-BE49-F238E27FC236}">
                <a16:creationId xmlns:a16="http://schemas.microsoft.com/office/drawing/2014/main" id="{71A0A3C0-C74B-3848-9B15-1A037FF819F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0" i="0">
                <a:solidFill>
                  <a:schemeClr val="tx1">
                    <a:tint val="75000"/>
                  </a:schemeClr>
                </a:solidFill>
                <a:latin typeface="Duplicate Sans Light" pitchFamily="2" charset="77"/>
              </a:defRPr>
            </a:lvl1pPr>
          </a:lstStyle>
          <a:p>
            <a:endParaRPr lang="en-US" dirty="0"/>
          </a:p>
        </p:txBody>
      </p:sp>
      <p:sp>
        <p:nvSpPr>
          <p:cNvPr id="6" name="Slide Number Placeholder 5">
            <a:extLst>
              <a:ext uri="{FF2B5EF4-FFF2-40B4-BE49-F238E27FC236}">
                <a16:creationId xmlns:a16="http://schemas.microsoft.com/office/drawing/2014/main" id="{246E2089-9B8D-E943-B2ED-A9EB7F48F8C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0" i="0">
                <a:solidFill>
                  <a:schemeClr val="tx1">
                    <a:tint val="75000"/>
                  </a:schemeClr>
                </a:solidFill>
                <a:latin typeface="Duplicate Sans Light" pitchFamily="2" charset="77"/>
              </a:defRPr>
            </a:lvl1pPr>
          </a:lstStyle>
          <a:p>
            <a:fld id="{2E8BF8D3-86CD-4348-8ADF-36CBF5E042A0}" type="slidenum">
              <a:rPr lang="en-US" smtClean="0"/>
              <a:pPr/>
              <a:t>‹#›</a:t>
            </a:fld>
            <a:endParaRPr lang="en-US" dirty="0"/>
          </a:p>
        </p:txBody>
      </p:sp>
    </p:spTree>
    <p:extLst>
      <p:ext uri="{BB962C8B-B14F-4D97-AF65-F5344CB8AC3E}">
        <p14:creationId xmlns:p14="http://schemas.microsoft.com/office/powerpoint/2010/main" val="2847863234"/>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384" rtl="0" eaLnBrk="1" latinLnBrk="0" hangingPunct="1">
        <a:lnSpc>
          <a:spcPct val="90000"/>
        </a:lnSpc>
        <a:spcBef>
          <a:spcPct val="0"/>
        </a:spcBef>
        <a:buNone/>
        <a:defRPr sz="4400" b="0" i="0" kern="1200">
          <a:solidFill>
            <a:schemeClr val="tx1"/>
          </a:solidFill>
          <a:latin typeface="Duplicate Sans Light" pitchFamily="2" charset="77"/>
          <a:ea typeface="+mj-ea"/>
          <a:cs typeface="+mj-cs"/>
        </a:defRPr>
      </a:lvl1pPr>
    </p:titleStyle>
    <p:bodyStyle>
      <a:lvl1pPr marL="228596" indent="-228596" algn="l" defTabSz="914384" rtl="0" eaLnBrk="1" latinLnBrk="0" hangingPunct="1">
        <a:lnSpc>
          <a:spcPct val="90000"/>
        </a:lnSpc>
        <a:spcBef>
          <a:spcPts val="1000"/>
        </a:spcBef>
        <a:buFont typeface="Arial" panose="020B0604020202020204" pitchFamily="34" charset="0"/>
        <a:buChar char="•"/>
        <a:defRPr sz="2800" b="0" i="0" kern="1200">
          <a:solidFill>
            <a:schemeClr val="tx1"/>
          </a:solidFill>
          <a:latin typeface="Duplicate Sans Light" pitchFamily="2" charset="77"/>
          <a:ea typeface="+mn-ea"/>
          <a:cs typeface="+mn-cs"/>
        </a:defRPr>
      </a:lvl1pPr>
      <a:lvl2pPr marL="685788" indent="-228596" algn="l" defTabSz="914384" rtl="0" eaLnBrk="1" latinLnBrk="0" hangingPunct="1">
        <a:lnSpc>
          <a:spcPct val="90000"/>
        </a:lnSpc>
        <a:spcBef>
          <a:spcPts val="500"/>
        </a:spcBef>
        <a:buFont typeface="Arial" panose="020B0604020202020204" pitchFamily="34" charset="0"/>
        <a:buChar char="•"/>
        <a:defRPr sz="2400" b="0" i="0" kern="1200">
          <a:solidFill>
            <a:schemeClr val="tx1"/>
          </a:solidFill>
          <a:latin typeface="Duplicate Sans Light" pitchFamily="2" charset="77"/>
          <a:ea typeface="+mn-ea"/>
          <a:cs typeface="+mn-cs"/>
        </a:defRPr>
      </a:lvl2pPr>
      <a:lvl3pPr marL="1142980" indent="-228596" algn="l" defTabSz="914384" rtl="0" eaLnBrk="1" latinLnBrk="0" hangingPunct="1">
        <a:lnSpc>
          <a:spcPct val="90000"/>
        </a:lnSpc>
        <a:spcBef>
          <a:spcPts val="500"/>
        </a:spcBef>
        <a:buFont typeface="Arial" panose="020B0604020202020204" pitchFamily="34" charset="0"/>
        <a:buChar char="•"/>
        <a:defRPr sz="2000" b="0" i="0" kern="1200">
          <a:solidFill>
            <a:schemeClr val="tx1"/>
          </a:solidFill>
          <a:latin typeface="Duplicate Sans Light" pitchFamily="2" charset="77"/>
          <a:ea typeface="+mn-ea"/>
          <a:cs typeface="+mn-cs"/>
        </a:defRPr>
      </a:lvl3pPr>
      <a:lvl4pPr marL="1600172" indent="-228596" algn="l" defTabSz="914384"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4pPr>
      <a:lvl5pPr marL="2057364" indent="-228596" algn="l" defTabSz="914384"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5pPr>
      <a:lvl6pPr marL="2514556" indent="-228596" algn="l" defTabSz="91438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48" indent="-228596" algn="l" defTabSz="91438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40" indent="-228596" algn="l" defTabSz="91438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32" indent="-228596" algn="l" defTabSz="91438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84" rtl="0" eaLnBrk="1" latinLnBrk="0" hangingPunct="1">
        <a:defRPr sz="1800" kern="1200">
          <a:solidFill>
            <a:schemeClr val="tx1"/>
          </a:solidFill>
          <a:latin typeface="+mn-lt"/>
          <a:ea typeface="+mn-ea"/>
          <a:cs typeface="+mn-cs"/>
        </a:defRPr>
      </a:lvl1pPr>
      <a:lvl2pPr marL="457192" algn="l" defTabSz="914384" rtl="0" eaLnBrk="1" latinLnBrk="0" hangingPunct="1">
        <a:defRPr sz="1800" kern="1200">
          <a:solidFill>
            <a:schemeClr val="tx1"/>
          </a:solidFill>
          <a:latin typeface="+mn-lt"/>
          <a:ea typeface="+mn-ea"/>
          <a:cs typeface="+mn-cs"/>
        </a:defRPr>
      </a:lvl2pPr>
      <a:lvl3pPr marL="914384" algn="l" defTabSz="914384" rtl="0" eaLnBrk="1" latinLnBrk="0" hangingPunct="1">
        <a:defRPr sz="1800" kern="1200">
          <a:solidFill>
            <a:schemeClr val="tx1"/>
          </a:solidFill>
          <a:latin typeface="+mn-lt"/>
          <a:ea typeface="+mn-ea"/>
          <a:cs typeface="+mn-cs"/>
        </a:defRPr>
      </a:lvl3pPr>
      <a:lvl4pPr marL="1371576" algn="l" defTabSz="914384" rtl="0" eaLnBrk="1" latinLnBrk="0" hangingPunct="1">
        <a:defRPr sz="1800" kern="1200">
          <a:solidFill>
            <a:schemeClr val="tx1"/>
          </a:solidFill>
          <a:latin typeface="+mn-lt"/>
          <a:ea typeface="+mn-ea"/>
          <a:cs typeface="+mn-cs"/>
        </a:defRPr>
      </a:lvl4pPr>
      <a:lvl5pPr marL="1828768" algn="l" defTabSz="914384" rtl="0" eaLnBrk="1" latinLnBrk="0" hangingPunct="1">
        <a:defRPr sz="1800" kern="1200">
          <a:solidFill>
            <a:schemeClr val="tx1"/>
          </a:solidFill>
          <a:latin typeface="+mn-lt"/>
          <a:ea typeface="+mn-ea"/>
          <a:cs typeface="+mn-cs"/>
        </a:defRPr>
      </a:lvl5pPr>
      <a:lvl6pPr marL="2285960" algn="l" defTabSz="914384" rtl="0" eaLnBrk="1" latinLnBrk="0" hangingPunct="1">
        <a:defRPr sz="1800" kern="1200">
          <a:solidFill>
            <a:schemeClr val="tx1"/>
          </a:solidFill>
          <a:latin typeface="+mn-lt"/>
          <a:ea typeface="+mn-ea"/>
          <a:cs typeface="+mn-cs"/>
        </a:defRPr>
      </a:lvl6pPr>
      <a:lvl7pPr marL="2743152" algn="l" defTabSz="914384" rtl="0" eaLnBrk="1" latinLnBrk="0" hangingPunct="1">
        <a:defRPr sz="1800" kern="1200">
          <a:solidFill>
            <a:schemeClr val="tx1"/>
          </a:solidFill>
          <a:latin typeface="+mn-lt"/>
          <a:ea typeface="+mn-ea"/>
          <a:cs typeface="+mn-cs"/>
        </a:defRPr>
      </a:lvl7pPr>
      <a:lvl8pPr marL="3200344" algn="l" defTabSz="914384" rtl="0" eaLnBrk="1" latinLnBrk="0" hangingPunct="1">
        <a:defRPr sz="1800" kern="1200">
          <a:solidFill>
            <a:schemeClr val="tx1"/>
          </a:solidFill>
          <a:latin typeface="+mn-lt"/>
          <a:ea typeface="+mn-ea"/>
          <a:cs typeface="+mn-cs"/>
        </a:defRPr>
      </a:lvl8pPr>
      <a:lvl9pPr marL="3657536" algn="l" defTabSz="914384"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jpg"/><Relationship Id="rId7" Type="http://schemas.openxmlformats.org/officeDocument/2006/relationships/image" Target="../media/image8.png"/><Relationship Id="rId8" Type="http://schemas.openxmlformats.org/officeDocument/2006/relationships/image" Target="../media/image9.png"/><Relationship Id="rId9" Type="http://schemas.openxmlformats.org/officeDocument/2006/relationships/image" Target="../media/image10.png"/><Relationship Id="rId10" Type="http://schemas.openxmlformats.org/officeDocument/2006/relationships/image" Target="../media/image11.png"/><Relationship Id="rId11" Type="http://schemas.openxmlformats.org/officeDocument/2006/relationships/image" Target="../media/image12.jpeg"/><Relationship Id="rId12" Type="http://schemas.openxmlformats.org/officeDocument/2006/relationships/image" Target="../media/image13.png"/><Relationship Id="rId13" Type="http://schemas.openxmlformats.org/officeDocument/2006/relationships/image" Target="../media/image14.png"/><Relationship Id="rId14" Type="http://schemas.openxmlformats.org/officeDocument/2006/relationships/image" Target="../media/image15.jpg"/><Relationship Id="rId15" Type="http://schemas.openxmlformats.org/officeDocument/2006/relationships/image" Target="../media/image16.jpg"/><Relationship Id="rId16" Type="http://schemas.openxmlformats.org/officeDocument/2006/relationships/image" Target="../media/image17.tiff"/><Relationship Id="rId17" Type="http://schemas.openxmlformats.org/officeDocument/2006/relationships/image" Target="../media/image18.png"/><Relationship Id="rId18" Type="http://schemas.openxmlformats.org/officeDocument/2006/relationships/diagramData" Target="../diagrams/data1.xml"/><Relationship Id="rId19" Type="http://schemas.openxmlformats.org/officeDocument/2006/relationships/diagramLayout" Target="../diagrams/layout1.xml"/><Relationship Id="rId20" Type="http://schemas.openxmlformats.org/officeDocument/2006/relationships/diagramQuickStyle" Target="../diagrams/quickStyle1.xml"/><Relationship Id="rId21" Type="http://schemas.openxmlformats.org/officeDocument/2006/relationships/diagramColors" Target="../diagrams/colors1.xml"/><Relationship Id="rId22" Type="http://schemas.microsoft.com/office/2007/relationships/diagramDrawing" Target="../diagrams/drawing1.xml"/><Relationship Id="rId23" Type="http://schemas.openxmlformats.org/officeDocument/2006/relationships/image" Target="../media/image19.png"/><Relationship Id="rId24" Type="http://schemas.openxmlformats.org/officeDocument/2006/relationships/image" Target="../media/image20.png"/><Relationship Id="rId25" Type="http://schemas.openxmlformats.org/officeDocument/2006/relationships/image" Target="../media/image21.png"/><Relationship Id="rId26" Type="http://schemas.openxmlformats.org/officeDocument/2006/relationships/image" Target="../media/image22.png"/><Relationship Id="rId27" Type="http://schemas.openxmlformats.org/officeDocument/2006/relationships/image" Target="../media/image23.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pic>
        <p:nvPicPr>
          <p:cNvPr id="4" name="Picture 3" descr="exos-letterhead-logo.png"/>
          <p:cNvPicPr>
            <a:picLocks noChangeAspect="1"/>
          </p:cNvPicPr>
          <p:nvPr/>
        </p:nvPicPr>
        <p:blipFill>
          <a:blip r:embed="rId3"/>
          <a:stretch>
            <a:fillRect/>
          </a:stretch>
        </p:blipFill>
        <p:spPr>
          <a:xfrm>
            <a:off x="0" y="0"/>
            <a:ext cx="5938345" cy="1226126"/>
          </a:xfrm>
          <a:prstGeom prst="rect">
            <a:avLst/>
          </a:prstGeom>
        </p:spPr>
      </p:pic>
      <p:sp>
        <p:nvSpPr>
          <p:cNvPr id="5" name="TextBox 4"/>
          <p:cNvSpPr txBox="1"/>
          <p:nvPr/>
        </p:nvSpPr>
        <p:spPr>
          <a:xfrm>
            <a:off x="731520" y="2011680"/>
            <a:ext cx="9144000" cy="1097280"/>
          </a:xfrm>
          <a:prstGeom prst="rect">
            <a:avLst/>
          </a:prstGeom>
          <a:noFill/>
        </p:spPr>
        <p:txBody>
          <a:bodyPr wrap="square">
            <a:spAutoFit/>
          </a:bodyPr>
          <a:lstStyle/>
          <a:p>
            <a:pPr algn="l">
              <a:spcAft>
                <a:spcPts val="400"/>
              </a:spcAft>
            </a:pPr>
            <a:r>
              <a:rPr sz="4800" b="1">
                <a:solidFill>
                  <a:srgbClr val="FFFFFF"/>
                </a:solidFill>
                <a:latin typeface="Calibri"/>
              </a:rPr>
              <a:t>EXOS AEROSPACE</a:t>
            </a:r>
          </a:p>
        </p:txBody>
      </p:sp>
      <p:sp>
        <p:nvSpPr>
          <p:cNvPr id="6" name="TextBox 5"/>
          <p:cNvSpPr txBox="1"/>
          <p:nvPr/>
        </p:nvSpPr>
        <p:spPr>
          <a:xfrm>
            <a:off x="731520" y="3108960"/>
            <a:ext cx="9144000" cy="731520"/>
          </a:xfrm>
          <a:prstGeom prst="rect">
            <a:avLst/>
          </a:prstGeom>
          <a:noFill/>
        </p:spPr>
        <p:txBody>
          <a:bodyPr wrap="square">
            <a:spAutoFit/>
          </a:bodyPr>
          <a:lstStyle/>
          <a:p>
            <a:pPr algn="l">
              <a:spcAft>
                <a:spcPts val="400"/>
              </a:spcAft>
            </a:pPr>
            <a:r>
              <a:rPr sz="2200" b="0">
                <a:solidFill>
                  <a:srgbClr val="009ED9"/>
                </a:solidFill>
                <a:latin typeface="Calibri"/>
              </a:rPr>
              <a:t>AI-Native Industrial Power  ·  Reusable Flight-Test for the Space &amp; Defense Industrial Base</a:t>
            </a:r>
          </a:p>
        </p:txBody>
      </p:sp>
      <p:sp>
        <p:nvSpPr>
          <p:cNvPr id="7" name="Rectangle 6"/>
          <p:cNvSpPr/>
          <p:nvPr/>
        </p:nvSpPr>
        <p:spPr>
          <a:xfrm>
            <a:off x="731520" y="3931920"/>
            <a:ext cx="36576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4206240"/>
            <a:ext cx="9144000" cy="1828800"/>
          </a:xfrm>
          <a:prstGeom prst="rect">
            <a:avLst/>
          </a:prstGeom>
          <a:noFill/>
        </p:spPr>
        <p:txBody>
          <a:bodyPr wrap="square">
            <a:spAutoFit/>
          </a:bodyPr>
          <a:lstStyle/>
          <a:p>
            <a:pPr algn="l">
              <a:spcBef>
                <a:spcPts val="0"/>
              </a:spcBef>
              <a:spcAft>
                <a:spcPts val="2000"/>
              </a:spcAft>
            </a:pPr>
            <a:r>
              <a:rPr sz="1600" b="0" i="1">
                <a:solidFill>
                  <a:srgbClr val="CCCCCC"/>
                </a:solidFill>
                <a:latin typeface="Calibri"/>
              </a:rPr>
              <a:t>Licensed Reusable Launch  |  Lunar-Proven Technology  |  Profitable</a:t>
            </a:r>
          </a:p>
          <a:p>
            <a:pPr algn="l">
              <a:spcBef>
                <a:spcPts val="0"/>
              </a:spcBef>
              <a:spcAft>
                <a:spcPts val="800"/>
              </a:spcAft>
            </a:pPr>
            <a:r>
              <a:rPr sz="2000" b="1">
                <a:solidFill>
                  <a:srgbClr val="FFB800"/>
                </a:solidFill>
                <a:latin typeface="Calibri"/>
              </a:rPr>
              <a:t>Primary objective: DPA Title III domestic advanced-manufacturing capacity · Raising: $10M Tranche 1 — of a $40–50M raise</a:t>
            </a:r>
          </a:p>
          <a:p>
            <a:pPr algn="l">
              <a:spcBef>
                <a:spcPts val="0"/>
              </a:spcBef>
              <a:spcAft>
                <a:spcPts val="400"/>
              </a:spcAft>
            </a:pPr>
            <a:r>
              <a:rPr sz="1400" b="0">
                <a:solidFill>
                  <a:srgbClr val="999999"/>
                </a:solidFill>
                <a:latin typeface="Calibri"/>
              </a:rPr>
              <a:t>July 2026</a:t>
            </a:r>
          </a:p>
        </p:txBody>
      </p:sp>
      <p:sp>
        <p:nvSpPr>
          <p:cNvPr id="9" name="Rectangle 8"/>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2000" cy="45720"/>
          </a:xfrm>
          <a:prstGeom prst="rect">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exos_white_tight.png"/>
          <p:cNvPicPr>
            <a:picLocks noChangeAspect="1"/>
          </p:cNvPicPr>
          <p:nvPr/>
        </p:nvPicPr>
        <p:blipFill>
          <a:blip r:embed="rId2"/>
          <a:stretch>
            <a:fillRect/>
          </a:stretch>
        </p:blipFill>
        <p:spPr>
          <a:xfrm>
            <a:off x="10494979" y="301752"/>
            <a:ext cx="1194102" cy="566928"/>
          </a:xfrm>
          <a:prstGeom prst="rect">
            <a:avLst/>
          </a:prstGeom>
        </p:spPr>
      </p:pic>
      <p:sp>
        <p:nvSpPr>
          <p:cNvPr id="5" name="TextBox 4"/>
          <p:cNvSpPr txBox="1"/>
          <p:nvPr/>
        </p:nvSpPr>
        <p:spPr>
          <a:xfrm>
            <a:off x="822960" y="256032"/>
            <a:ext cx="8412480" cy="731520"/>
          </a:xfrm>
          <a:prstGeom prst="rect">
            <a:avLst/>
          </a:prstGeom>
          <a:noFill/>
        </p:spPr>
        <p:txBody>
          <a:bodyPr wrap="square" anchor="ctr">
            <a:spAutoFit/>
          </a:bodyPr>
          <a:lstStyle/>
          <a:p>
            <a:r>
              <a:rPr sz="2000" b="1">
                <a:solidFill>
                  <a:srgbClr val="6F9AD0"/>
                </a:solidFill>
                <a:latin typeface="Calibri"/>
              </a:rPr>
              <a:t>  </a:t>
            </a:r>
            <a:r>
              <a:rPr sz="2400" b="1">
                <a:solidFill>
                  <a:srgbClr val="FFFFFF"/>
                </a:solidFill>
                <a:latin typeface="Calibri"/>
              </a:rPr>
              <a:t>Strategic Objective — Domestic Advanced-Manufacturing Platform</a:t>
            </a:r>
          </a:p>
        </p:txBody>
      </p:sp>
      <p:sp>
        <p:nvSpPr>
          <p:cNvPr id="6" name="TextBox 5"/>
          <p:cNvSpPr txBox="1"/>
          <p:nvPr/>
        </p:nvSpPr>
        <p:spPr>
          <a:xfrm>
            <a:off x="822960" y="1417320"/>
            <a:ext cx="10607040" cy="822960"/>
          </a:xfrm>
          <a:prstGeom prst="rect">
            <a:avLst/>
          </a:prstGeom>
          <a:noFill/>
        </p:spPr>
        <p:txBody>
          <a:bodyPr wrap="square" anchor="t">
            <a:spAutoFit/>
          </a:bodyPr>
          <a:lstStyle/>
          <a:p>
            <a:pPr>
              <a:lnSpc>
                <a:spcPct val="105000"/>
              </a:lnSpc>
            </a:pPr>
            <a:r>
              <a:rPr sz="1550" b="1">
                <a:solidFill>
                  <a:srgbClr val="0B1F3A"/>
                </a:solidFill>
                <a:latin typeface="Calibri"/>
              </a:rPr>
              <a:t>Primary objective: non-dilutive DPA Title III funding for a domestic, defense-critical advanced-manufacturing platform.</a:t>
            </a:r>
          </a:p>
        </p:txBody>
      </p:sp>
      <p:sp>
        <p:nvSpPr>
          <p:cNvPr id="7" name="TextBox 6"/>
          <p:cNvSpPr txBox="1"/>
          <p:nvPr/>
        </p:nvSpPr>
        <p:spPr>
          <a:xfrm>
            <a:off x="822960" y="2286000"/>
            <a:ext cx="10698480" cy="2651760"/>
          </a:xfrm>
          <a:prstGeom prst="rect">
            <a:avLst/>
          </a:prstGeom>
          <a:noFill/>
        </p:spPr>
        <p:txBody>
          <a:bodyPr wrap="square" anchor="t">
            <a:spAutoFit/>
          </a:bodyPr>
          <a:lstStyle/>
          <a:p>
            <a:pPr>
              <a:lnSpc>
                <a:spcPct val="105000"/>
              </a:lnSpc>
              <a:spcAft>
                <a:spcPts val="800"/>
              </a:spcAft>
            </a:pPr>
            <a:r>
              <a:rPr sz="1300" b="1">
                <a:solidFill>
                  <a:srgbClr val="B31B1B"/>
                </a:solidFill>
                <a:latin typeface="Calibri"/>
              </a:rPr>
              <a:t>▪  </a:t>
            </a:r>
            <a:r>
              <a:rPr sz="1300" b="1">
                <a:solidFill>
                  <a:srgbClr val="0B1F3A"/>
                </a:solidFill>
                <a:latin typeface="Calibri"/>
              </a:rPr>
              <a:t>Own the stack:  </a:t>
            </a:r>
            <a:r>
              <a:rPr sz="1300" b="0">
                <a:solidFill>
                  <a:srgbClr val="1A1A1A"/>
                </a:solidFill>
                <a:latin typeface="Calibri"/>
              </a:rPr>
              <a:t>Scorpius Type-5 resin + tanks, CTD (acquisition), Gloyer-Taylor Labs (composite cryo tanks + transfer lines), Goodman (CMC/TPS) — resin to flight.</a:t>
            </a:r>
          </a:p>
          <a:p>
            <a:pPr>
              <a:lnSpc>
                <a:spcPct val="105000"/>
              </a:lnSpc>
              <a:spcAft>
                <a:spcPts val="800"/>
              </a:spcAft>
            </a:pPr>
            <a:r>
              <a:rPr sz="1300" b="1">
                <a:solidFill>
                  <a:srgbClr val="B31B1B"/>
                </a:solidFill>
                <a:latin typeface="Calibri"/>
              </a:rPr>
              <a:t>▪  </a:t>
            </a:r>
            <a:r>
              <a:rPr sz="1300" b="1">
                <a:solidFill>
                  <a:srgbClr val="0B1F3A"/>
                </a:solidFill>
                <a:latin typeface="Calibri"/>
              </a:rPr>
              <a:t>Defense-critical manufacturing:  </a:t>
            </a:r>
            <a:r>
              <a:rPr sz="1300" b="0">
                <a:solidFill>
                  <a:srgbClr val="1A1A1A"/>
                </a:solidFill>
                <a:latin typeface="Calibri"/>
              </a:rPr>
              <a:t>room-temperature-cure, all-composite Type-5 tank = build/repair without an autoclave. Lead use case: B-2 / stealth aircraft fuel-tank depot &amp; field repair.</a:t>
            </a:r>
          </a:p>
          <a:p>
            <a:pPr>
              <a:lnSpc>
                <a:spcPct val="105000"/>
              </a:lnSpc>
              <a:spcAft>
                <a:spcPts val="800"/>
              </a:spcAft>
            </a:pPr>
            <a:r>
              <a:rPr sz="1300" b="1">
                <a:solidFill>
                  <a:srgbClr val="B31B1B"/>
                </a:solidFill>
                <a:latin typeface="Calibri"/>
              </a:rPr>
              <a:t>▪  </a:t>
            </a:r>
            <a:r>
              <a:rPr sz="1300" b="1">
                <a:solidFill>
                  <a:srgbClr val="0B1F3A"/>
                </a:solidFill>
                <a:latin typeface="Calibri"/>
              </a:rPr>
              <a:t>Domestic resilience:  </a:t>
            </a:r>
            <a:r>
              <a:rPr sz="1300" b="0">
                <a:solidFill>
                  <a:srgbClr val="1A1A1A"/>
                </a:solidFill>
                <a:latin typeface="Calibri"/>
              </a:rPr>
              <a:t>the reusable, recoverable U.S. alternative to foreign, single-source, expendable sounding rockets (Black Brant / Magellan).</a:t>
            </a:r>
          </a:p>
          <a:p>
            <a:pPr>
              <a:lnSpc>
                <a:spcPct val="105000"/>
              </a:lnSpc>
              <a:spcAft>
                <a:spcPts val="800"/>
              </a:spcAft>
            </a:pPr>
            <a:r>
              <a:rPr sz="1300" b="1">
                <a:solidFill>
                  <a:srgbClr val="B31B1B"/>
                </a:solidFill>
                <a:latin typeface="Calibri"/>
              </a:rPr>
              <a:t>▪  </a:t>
            </a:r>
            <a:r>
              <a:rPr sz="1300" b="1">
                <a:solidFill>
                  <a:srgbClr val="0B1F3A"/>
                </a:solidFill>
                <a:latin typeface="Calibri"/>
              </a:rPr>
              <a:t>Broad dual-use demand:  </a:t>
            </a:r>
            <a:r>
              <a:rPr sz="1300" b="0">
                <a:solidFill>
                  <a:srgbClr val="1A1A1A"/>
                </a:solidFill>
                <a:latin typeface="Calibri"/>
              </a:rPr>
              <a:t>hypersonics, SRM cases/COPVs, magnet insulation, on-orbit refueling; commercial hydrogen, aviation, fusion, semiconductor.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2000" cy="45720"/>
          </a:xfrm>
          <a:prstGeom prst="rect">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exos_white_tight.png"/>
          <p:cNvPicPr>
            <a:picLocks noChangeAspect="1"/>
          </p:cNvPicPr>
          <p:nvPr/>
        </p:nvPicPr>
        <p:blipFill>
          <a:blip r:embed="rId2"/>
          <a:stretch>
            <a:fillRect/>
          </a:stretch>
        </p:blipFill>
        <p:spPr>
          <a:xfrm>
            <a:off x="10494979" y="301752"/>
            <a:ext cx="1194102" cy="566928"/>
          </a:xfrm>
          <a:prstGeom prst="rect">
            <a:avLst/>
          </a:prstGeom>
        </p:spPr>
      </p:pic>
      <p:sp>
        <p:nvSpPr>
          <p:cNvPr id="5" name="TextBox 4"/>
          <p:cNvSpPr txBox="1"/>
          <p:nvPr/>
        </p:nvSpPr>
        <p:spPr>
          <a:xfrm>
            <a:off x="822960" y="256032"/>
            <a:ext cx="8412480" cy="731520"/>
          </a:xfrm>
          <a:prstGeom prst="rect">
            <a:avLst/>
          </a:prstGeom>
          <a:noFill/>
        </p:spPr>
        <p:txBody>
          <a:bodyPr wrap="square" anchor="ctr">
            <a:spAutoFit/>
          </a:bodyPr>
          <a:lstStyle/>
          <a:p>
            <a:r>
              <a:rPr sz="2000" b="1">
                <a:solidFill>
                  <a:srgbClr val="6F9AD0"/>
                </a:solidFill>
                <a:latin typeface="Calibri"/>
              </a:rPr>
              <a:t>  </a:t>
            </a:r>
            <a:r>
              <a:rPr sz="2400" b="1">
                <a:solidFill>
                  <a:srgbClr val="FFFFFF"/>
                </a:solidFill>
                <a:latin typeface="Calibri"/>
              </a:rPr>
              <a:t>The Capital Pathway — Title III Primary</a:t>
            </a:r>
          </a:p>
        </p:txBody>
      </p:sp>
      <p:sp>
        <p:nvSpPr>
          <p:cNvPr id="6" name="TextBox 5"/>
          <p:cNvSpPr txBox="1"/>
          <p:nvPr/>
        </p:nvSpPr>
        <p:spPr>
          <a:xfrm>
            <a:off x="822960" y="1417320"/>
            <a:ext cx="10607040" cy="822960"/>
          </a:xfrm>
          <a:prstGeom prst="rect">
            <a:avLst/>
          </a:prstGeom>
          <a:noFill/>
        </p:spPr>
        <p:txBody>
          <a:bodyPr wrap="square" anchor="t">
            <a:spAutoFit/>
          </a:bodyPr>
          <a:lstStyle/>
          <a:p>
            <a:pPr>
              <a:lnSpc>
                <a:spcPct val="105000"/>
              </a:lnSpc>
            </a:pPr>
            <a:r>
              <a:rPr sz="1550" b="1">
                <a:solidFill>
                  <a:srgbClr val="0B1F3A"/>
                </a:solidFill>
                <a:latin typeface="Calibri"/>
              </a:rPr>
              <a:t>Stack non-dilutive federal capacity funding first; use equity last and least.</a:t>
            </a:r>
          </a:p>
        </p:txBody>
      </p:sp>
      <p:sp>
        <p:nvSpPr>
          <p:cNvPr id="7" name="TextBox 6"/>
          <p:cNvSpPr txBox="1"/>
          <p:nvPr/>
        </p:nvSpPr>
        <p:spPr>
          <a:xfrm>
            <a:off x="822960" y="2286000"/>
            <a:ext cx="10698480" cy="2651760"/>
          </a:xfrm>
          <a:prstGeom prst="rect">
            <a:avLst/>
          </a:prstGeom>
          <a:noFill/>
        </p:spPr>
        <p:txBody>
          <a:bodyPr wrap="square" anchor="t">
            <a:spAutoFit/>
          </a:bodyPr>
          <a:lstStyle/>
          <a:p>
            <a:pPr>
              <a:lnSpc>
                <a:spcPct val="105000"/>
              </a:lnSpc>
              <a:spcAft>
                <a:spcPts val="800"/>
              </a:spcAft>
            </a:pPr>
            <a:r>
              <a:rPr sz="1300" b="1">
                <a:solidFill>
                  <a:srgbClr val="B31B1B"/>
                </a:solidFill>
                <a:latin typeface="Calibri"/>
              </a:rPr>
              <a:t>▪  </a:t>
            </a:r>
            <a:r>
              <a:rPr sz="1300" b="1">
                <a:solidFill>
                  <a:srgbClr val="0B1F3A"/>
                </a:solidFill>
                <a:latin typeface="Calibri"/>
              </a:rPr>
              <a:t>DPA Title III (PRIMARY):  </a:t>
            </a:r>
            <a:r>
              <a:rPr sz="1300" b="0">
                <a:solidFill>
                  <a:srgbClr val="1A1A1A"/>
                </a:solidFill>
                <a:latin typeface="Calibri"/>
              </a:rPr>
              <a:t>non-dilutive grants / purchase commitments for domestic manufacturing capacity — equipment, facilities, workforce.</a:t>
            </a:r>
            <a:r>
              <a:rPr sz="1300">
                <a:solidFill>
                  <a:srgbClr val="1A1A1A"/>
                </a:solidFill>
                <a:latin typeface="Calibri"/>
              </a:rPr>
              <a:t> Executed via NSTXL / the Defense Industrial Base Consortium (DIBC).</a:t>
            </a:r>
          </a:p>
          <a:p>
            <a:pPr>
              <a:lnSpc>
                <a:spcPct val="105000"/>
              </a:lnSpc>
              <a:spcAft>
                <a:spcPts val="800"/>
              </a:spcAft>
            </a:pPr>
            <a:r>
              <a:rPr sz="1300" b="1">
                <a:solidFill>
                  <a:srgbClr val="B31B1B"/>
                </a:solidFill>
                <a:latin typeface="Calibri"/>
              </a:rPr>
              <a:t>▪  </a:t>
            </a:r>
            <a:r>
              <a:rPr sz="1300" b="1">
                <a:solidFill>
                  <a:srgbClr val="0B1F3A"/>
                </a:solidFill>
                <a:latin typeface="Calibri"/>
              </a:rPr>
              <a:t>OSC (via Stifel):  </a:t>
            </a:r>
            <a:r>
              <a:rPr sz="1300" b="0">
                <a:solidFill>
                  <a:srgbClr val="1A1A1A"/>
                </a:solidFill>
                <a:latin typeface="Calibri"/>
              </a:rPr>
              <a:t>loans / equity for the cryo-tank manufacturing line ($10–150M; FY27 $20.2B authority), sitting under the note.</a:t>
            </a:r>
          </a:p>
          <a:p>
            <a:pPr>
              <a:lnSpc>
                <a:spcPct val="105000"/>
              </a:lnSpc>
              <a:spcAft>
                <a:spcPts val="800"/>
              </a:spcAft>
            </a:pPr>
            <a:r>
              <a:rPr sz="1300" b="1">
                <a:solidFill>
                  <a:srgbClr val="B31B1B"/>
                </a:solidFill>
                <a:latin typeface="Calibri"/>
              </a:rPr>
              <a:t>▪  </a:t>
            </a:r>
            <a:r>
              <a:rPr sz="1300" b="1">
                <a:solidFill>
                  <a:srgbClr val="0B1F3A"/>
                </a:solidFill>
                <a:latin typeface="Calibri"/>
              </a:rPr>
              <a:t>$50M note:  </a:t>
            </a:r>
            <a:r>
              <a:rPr sz="1300" b="0">
                <a:solidFill>
                  <a:srgbClr val="1A1A1A"/>
                </a:solidFill>
                <a:latin typeface="Calibri"/>
              </a:rPr>
              <a:t>equity / convertible for the corporate acquisitions (Scorpius ROFR, CTD) and partnerships (GTL, Goodman, Princeton).</a:t>
            </a:r>
          </a:p>
          <a:p>
            <a:pPr>
              <a:lnSpc>
                <a:spcPct val="105000"/>
              </a:lnSpc>
              <a:spcAft>
                <a:spcPts val="800"/>
              </a:spcAft>
            </a:pPr>
            <a:r>
              <a:rPr sz="1300" b="1">
                <a:solidFill>
                  <a:srgbClr val="B31B1B"/>
                </a:solidFill>
                <a:latin typeface="Calibri"/>
              </a:rPr>
              <a:t>▪  </a:t>
            </a:r>
            <a:r>
              <a:rPr sz="1300" b="1">
                <a:solidFill>
                  <a:srgbClr val="0B1F3A"/>
                </a:solidFill>
                <a:latin typeface="Calibri"/>
              </a:rPr>
              <a:t>Non-dilutive on top:  </a:t>
            </a:r>
            <a:r>
              <a:rPr sz="1300" b="0">
                <a:solidFill>
                  <a:srgbClr val="1A1A1A"/>
                </a:solidFill>
                <a:latin typeface="Calibri"/>
              </a:rPr>
              <a:t>SBIR Phase II→III, TACFI, NASA Flight Opportunities / Tipping Point.</a:t>
            </a:r>
          </a:p>
          <a:p>
            <a:pPr>
              <a:lnSpc>
                <a:spcPct val="105000"/>
              </a:lnSpc>
              <a:spcAft>
                <a:spcPts val="800"/>
              </a:spcAft>
            </a:pPr>
            <a:r>
              <a:rPr sz="1300" b="1">
                <a:solidFill>
                  <a:srgbClr val="B31B1B"/>
                </a:solidFill>
                <a:latin typeface="Calibri"/>
              </a:rPr>
              <a:t>▪  </a:t>
            </a:r>
            <a:r>
              <a:rPr sz="1300" b="1">
                <a:solidFill>
                  <a:srgbClr val="0B1F3A"/>
                </a:solidFill>
                <a:latin typeface="Calibri"/>
              </a:rPr>
              <a:t>Result:  </a:t>
            </a:r>
            <a:r>
              <a:rPr sz="1300" b="0">
                <a:solidFill>
                  <a:srgbClr val="1A1A1A"/>
                </a:solidFill>
                <a:latin typeface="Calibri"/>
              </a:rPr>
              <a:t>federal capacity dollars build the industrial base; investor capital captures the frozen-basis acquisitions.</a:t>
            </a:r>
          </a:p>
        </p:txBody>
      </p:sp>
      <p:sp>
        <p:nvSpPr>
          <p:cNvPr id="8" name="TextBox 7"/>
          <p:cNvSpPr txBox="1"/>
          <p:nvPr/>
        </p:nvSpPr>
        <p:spPr>
          <a:xfrm>
            <a:off x="822960" y="6217920"/>
            <a:ext cx="10515600" cy="457200"/>
          </a:xfrm>
          <a:prstGeom prst="rect">
            <a:avLst/>
          </a:prstGeom>
          <a:noFill/>
        </p:spPr>
        <p:txBody>
          <a:bodyPr wrap="square" anchor="t">
            <a:spAutoFit/>
          </a:bodyPr>
          <a:lstStyle/>
          <a:p>
            <a:r>
              <a:rPr sz="1050" b="0">
                <a:solidFill>
                  <a:srgbClr val="555555"/>
                </a:solidFill>
                <a:latin typeface="Calibri"/>
              </a:rPr>
              <a:t>Title III and OSC are complementary, not either/or. Securities matters route through counsel (Keyes).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B0E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png"/>
          <p:cNvPicPr>
            <a:picLocks noChangeAspect="1"/>
          </p:cNvPicPr>
          <p:nvPr/>
        </p:nvPicPr>
        <p:blipFill>
          <a:blip r:embed="rId2"/>
          <a:stretch>
            <a:fillRect/>
          </a:stretch>
        </p:blipFill>
        <p:spPr>
          <a:xfrm>
            <a:off x="0" y="0"/>
            <a:ext cx="12192000" cy="6858000"/>
          </a:xfrm>
          <a:prstGeom prst="rect">
            <a:avLst/>
          </a:prstGeom>
        </p:spPr>
      </p:pic>
      <p:sp>
        <p:nvSpPr>
          <p:cNvPr id="4" name="TextBox 3"/>
          <p:cNvSpPr txBox="1"/>
          <p:nvPr/>
        </p:nvSpPr>
        <p:spPr>
          <a:xfrm>
            <a:off x="731520" y="365760"/>
            <a:ext cx="10698480" cy="822960"/>
          </a:xfrm>
          <a:prstGeom prst="rect">
            <a:avLst/>
          </a:prstGeom>
          <a:noFill/>
        </p:spPr>
        <p:txBody>
          <a:bodyPr wrap="square">
            <a:spAutoFit/>
          </a:bodyPr>
          <a:lstStyle/>
          <a:p>
            <a:r>
              <a:rPr sz="3200" b="1">
                <a:solidFill>
                  <a:srgbClr val="FFFFFF"/>
                </a:solidFill>
                <a:latin typeface="Calibri"/>
              </a:rPr>
              <a:t>THE $20 TRILLION BLIND SPOT</a:t>
            </a:r>
          </a:p>
        </p:txBody>
      </p:sp>
      <p:sp>
        <p:nvSpPr>
          <p:cNvPr id="5" name="Rectangle 4"/>
          <p:cNvSpPr/>
          <p:nvPr/>
        </p:nvSpPr>
        <p:spPr>
          <a:xfrm>
            <a:off x="731520" y="1115568"/>
            <a:ext cx="2743200" cy="36576"/>
          </a:xfrm>
          <a:prstGeom prst="rect">
            <a:avLst/>
          </a:prstGeom>
          <a:solidFill>
            <a:srgbClr val="009E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325880"/>
            <a:ext cx="10698480" cy="640080"/>
          </a:xfrm>
          <a:prstGeom prst="rect">
            <a:avLst/>
          </a:prstGeom>
          <a:noFill/>
        </p:spPr>
        <p:txBody>
          <a:bodyPr wrap="square">
            <a:spAutoFit/>
          </a:bodyPr>
          <a:lstStyle/>
          <a:p>
            <a:r>
              <a:rPr sz="1800" b="1">
                <a:solidFill>
                  <a:srgbClr val="009ED9"/>
                </a:solidFill>
                <a:latin typeface="Calibri"/>
              </a:rPr>
              <a:t>AI conquered software. The physical world is next — and almost nobody can build for it.</a:t>
            </a:r>
          </a:p>
        </p:txBody>
      </p:sp>
      <p:sp>
        <p:nvSpPr>
          <p:cNvPr id="7" name="Rectangle 6"/>
          <p:cNvSpPr/>
          <p:nvPr/>
        </p:nvSpPr>
        <p:spPr>
          <a:xfrm>
            <a:off x="0" y="6400800"/>
            <a:ext cx="12192000" cy="457200"/>
          </a:xfrm>
          <a:prstGeom prst="rect">
            <a:avLst/>
          </a:prstGeom>
          <a:solidFill>
            <a:srgbClr val="050812"/>
          </a:solidFill>
          <a:ln>
            <a:noFill/>
          </a:ln>
          <a:effectLst/>
        </p:spPr>
        <p:style>
          <a:lnRef idx="1">
            <a:schemeClr val="accent1"/>
          </a:lnRef>
          <a:fillRef idx="3">
            <a:schemeClr val="accent1"/>
          </a:fillRef>
          <a:effectRef idx="2">
            <a:schemeClr val="accent1"/>
          </a:effectRef>
          <a:fontRef idx="minor">
            <a:schemeClr val="lt1"/>
          </a:fontRef>
        </p:style>
        <p:txBody>
          <a:bodyPr rtlCol="0" anchor="ctr" tIns="73152"/>
          <a:lstStyle/>
          <a:p>
            <a:pPr algn="ctr"/>
            <a:r>
              <a:rPr sz="900">
                <a:solidFill>
                  <a:srgbClr val="999999"/>
                </a:solidFill>
                <a:latin typeface="Calibri"/>
              </a:rPr>
              <a:t>PRIVATE &amp; CONFIDENTIAL  |  NOT FOR DISTRIBUTION</a:t>
            </a:r>
          </a:p>
        </p:txBody>
      </p:sp>
      <p:sp>
        <p:nvSpPr>
          <p:cNvPr id="8" name="Rounded Rectangle 7"/>
          <p:cNvSpPr/>
          <p:nvPr/>
        </p:nvSpPr>
        <p:spPr>
          <a:xfrm>
            <a:off x="731520" y="2148840"/>
            <a:ext cx="10698480" cy="1143000"/>
          </a:xfrm>
          <a:prstGeom prst="roundRect">
            <a:avLst/>
          </a:prstGeom>
          <a:solidFill>
            <a:srgbClr val="12182A"/>
          </a:solidFill>
          <a:ln w="9525">
            <a:solidFill>
              <a:srgbClr val="009E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267712"/>
            <a:ext cx="10241280" cy="914400"/>
          </a:xfrm>
          <a:prstGeom prst="rect">
            <a:avLst/>
          </a:prstGeom>
          <a:noFill/>
        </p:spPr>
        <p:txBody>
          <a:bodyPr wrap="square" anchor="t">
            <a:spAutoFit/>
          </a:bodyPr>
          <a:lstStyle/>
          <a:p>
            <a:pPr algn="l"/>
            <a:r>
              <a:rPr sz="1500" b="1">
                <a:solidFill>
                  <a:srgbClr val="FFFFFF"/>
                </a:solidFill>
                <a:latin typeface="Calibri"/>
              </a:rPr>
              <a:t>The last decade of AI value went to BITS.</a:t>
            </a:r>
          </a:p>
          <a:p>
            <a:pPr algn="l">
              <a:spcBef>
                <a:spcPts val="300"/>
              </a:spcBef>
            </a:pPr>
            <a:r>
              <a:rPr sz="1250" b="0">
                <a:solidFill>
                  <a:srgbClr val="CCCCCC"/>
                </a:solidFill>
                <a:latin typeface="Calibri"/>
              </a:rPr>
              <a:t>Code, chat, SaaS, automation. That trade is crowded and commoditized.</a:t>
            </a:r>
          </a:p>
        </p:txBody>
      </p:sp>
      <p:sp>
        <p:nvSpPr>
          <p:cNvPr id="10" name="Rounded Rectangle 9"/>
          <p:cNvSpPr/>
          <p:nvPr/>
        </p:nvSpPr>
        <p:spPr>
          <a:xfrm>
            <a:off x="731520" y="3447288"/>
            <a:ext cx="10698480" cy="1143000"/>
          </a:xfrm>
          <a:prstGeom prst="roundRect">
            <a:avLst/>
          </a:prstGeom>
          <a:solidFill>
            <a:srgbClr val="12182A"/>
          </a:solidFill>
          <a:ln w="9525">
            <a:solidFill>
              <a:srgbClr val="009E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3566160"/>
            <a:ext cx="10241280" cy="914400"/>
          </a:xfrm>
          <a:prstGeom prst="rect">
            <a:avLst/>
          </a:prstGeom>
          <a:noFill/>
        </p:spPr>
        <p:txBody>
          <a:bodyPr wrap="square" anchor="t">
            <a:spAutoFit/>
          </a:bodyPr>
          <a:lstStyle/>
          <a:p>
            <a:pPr algn="l"/>
            <a:r>
              <a:rPr sz="1500" b="1">
                <a:solidFill>
                  <a:srgbClr val="FFFFFF"/>
                </a:solidFill>
                <a:latin typeface="Calibri"/>
              </a:rPr>
              <a:t>The next decade goes to ATOMS.</a:t>
            </a:r>
          </a:p>
          <a:p>
            <a:pPr algn="l">
              <a:spcBef>
                <a:spcPts val="300"/>
              </a:spcBef>
            </a:pPr>
            <a:r>
              <a:rPr sz="1250" b="0">
                <a:solidFill>
                  <a:srgbClr val="CCCCCC"/>
                </a:solidFill>
                <a:latin typeface="Calibri"/>
              </a:rPr>
              <a:t>Aerospace, propulsion, manufacturing, energy, defense hardware — the $20 TRILLION physical economy.</a:t>
            </a:r>
          </a:p>
        </p:txBody>
      </p:sp>
      <p:sp>
        <p:nvSpPr>
          <p:cNvPr id="12" name="Rounded Rectangle 11"/>
          <p:cNvSpPr/>
          <p:nvPr/>
        </p:nvSpPr>
        <p:spPr>
          <a:xfrm>
            <a:off x="731520" y="4745736"/>
            <a:ext cx="10698480" cy="1143000"/>
          </a:xfrm>
          <a:prstGeom prst="roundRect">
            <a:avLst/>
          </a:prstGeom>
          <a:solidFill>
            <a:srgbClr val="12182A"/>
          </a:solidFill>
          <a:ln w="9525">
            <a:solidFill>
              <a:srgbClr val="009E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4864607"/>
            <a:ext cx="10241280" cy="914400"/>
          </a:xfrm>
          <a:prstGeom prst="rect">
            <a:avLst/>
          </a:prstGeom>
          <a:noFill/>
        </p:spPr>
        <p:txBody>
          <a:bodyPr wrap="square" anchor="t">
            <a:spAutoFit/>
          </a:bodyPr>
          <a:lstStyle/>
          <a:p>
            <a:pPr algn="l"/>
            <a:r>
              <a:rPr sz="1500" b="1">
                <a:solidFill>
                  <a:srgbClr val="FFFFFF"/>
                </a:solidFill>
                <a:latin typeface="Calibri"/>
              </a:rPr>
              <a:t>"Almost nobody is building" it — because it is brutally hard.</a:t>
            </a:r>
          </a:p>
          <a:p>
            <a:pPr algn="l">
              <a:spcBef>
                <a:spcPts val="300"/>
              </a:spcBef>
            </a:pPr>
            <a:r>
              <a:rPr sz="1250" b="0">
                <a:solidFill>
                  <a:srgbClr val="CCCCCC"/>
                </a:solidFill>
                <a:latin typeface="Calibri"/>
              </a:rPr>
              <a:t>Real engineering, licensed flight hardware, manufacturing, regulatory clearance. Moats that take years and cannot be cloned like an app.</a:t>
            </a:r>
          </a:p>
        </p:txBody>
      </p:sp>
      <p:sp>
        <p:nvSpPr>
          <p:cNvPr id="14" name="TextBox 13"/>
          <p:cNvSpPr txBox="1"/>
          <p:nvPr/>
        </p:nvSpPr>
        <p:spPr>
          <a:xfrm>
            <a:off x="731520" y="5650992"/>
            <a:ext cx="10698480" cy="640080"/>
          </a:xfrm>
          <a:prstGeom prst="rect">
            <a:avLst/>
          </a:prstGeom>
          <a:noFill/>
        </p:spPr>
        <p:txBody>
          <a:bodyPr wrap="square" anchor="t">
            <a:spAutoFit/>
          </a:bodyPr>
          <a:lstStyle/>
          <a:p>
            <a:pPr algn="l"/>
            <a:r>
              <a:rPr sz="1600" b="1">
                <a:solidFill>
                  <a:srgbClr val="FFB800"/>
                </a:solidFill>
                <a:latin typeface="Calibri"/>
              </a:rPr>
              <a:t>That difficulty is the opportunity. </a:t>
            </a:r>
            <a:r>
              <a:rPr sz="1600" b="1">
                <a:solidFill>
                  <a:srgbClr val="FFFFFF"/>
                </a:solidFill>
                <a:latin typeface="Calibri"/>
              </a:rPr>
              <a:t>Exos is already on the other side of it.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B0E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png"/>
          <p:cNvPicPr>
            <a:picLocks noChangeAspect="1"/>
          </p:cNvPicPr>
          <p:nvPr/>
        </p:nvPicPr>
        <p:blipFill>
          <a:blip r:embed="rId2"/>
          <a:stretch>
            <a:fillRect/>
          </a:stretch>
        </p:blipFill>
        <p:spPr>
          <a:xfrm>
            <a:off x="0" y="0"/>
            <a:ext cx="12192000" cy="6858000"/>
          </a:xfrm>
          <a:prstGeom prst="rect">
            <a:avLst/>
          </a:prstGeom>
        </p:spPr>
      </p:pic>
      <p:sp>
        <p:nvSpPr>
          <p:cNvPr id="4" name="TextBox 3"/>
          <p:cNvSpPr txBox="1"/>
          <p:nvPr/>
        </p:nvSpPr>
        <p:spPr>
          <a:xfrm>
            <a:off x="731520" y="365760"/>
            <a:ext cx="10698480" cy="822960"/>
          </a:xfrm>
          <a:prstGeom prst="rect">
            <a:avLst/>
          </a:prstGeom>
          <a:noFill/>
        </p:spPr>
        <p:txBody>
          <a:bodyPr wrap="square">
            <a:spAutoFit/>
          </a:bodyPr>
          <a:lstStyle/>
          <a:p>
            <a:r>
              <a:rPr sz="3200" b="1">
                <a:solidFill>
                  <a:srgbClr val="FFFFFF"/>
                </a:solidFill>
                <a:latin typeface="Calibri"/>
              </a:rPr>
              <a:t>WHY EXOS IS THE PHYSICAL-AI PLAY</a:t>
            </a:r>
          </a:p>
        </p:txBody>
      </p:sp>
      <p:sp>
        <p:nvSpPr>
          <p:cNvPr id="5" name="Rectangle 4"/>
          <p:cNvSpPr/>
          <p:nvPr/>
        </p:nvSpPr>
        <p:spPr>
          <a:xfrm>
            <a:off x="731520" y="1115568"/>
            <a:ext cx="2743200" cy="36576"/>
          </a:xfrm>
          <a:prstGeom prst="rect">
            <a:avLst/>
          </a:prstGeom>
          <a:solidFill>
            <a:srgbClr val="009E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325880"/>
            <a:ext cx="10698480" cy="640080"/>
          </a:xfrm>
          <a:prstGeom prst="rect">
            <a:avLst/>
          </a:prstGeom>
          <a:noFill/>
        </p:spPr>
        <p:txBody>
          <a:bodyPr wrap="square">
            <a:spAutoFit/>
          </a:bodyPr>
          <a:lstStyle/>
          <a:p>
            <a:r>
              <a:rPr sz="1800" b="1">
                <a:solidFill>
                  <a:srgbClr val="009ED9"/>
                </a:solidFill>
                <a:latin typeface="Calibri"/>
              </a:rPr>
              <a:t>Four pillars no software company — and almost no hardware company — can assemble.</a:t>
            </a:r>
          </a:p>
        </p:txBody>
      </p:sp>
      <p:sp>
        <p:nvSpPr>
          <p:cNvPr id="7" name="Rectangle 6"/>
          <p:cNvSpPr/>
          <p:nvPr/>
        </p:nvSpPr>
        <p:spPr>
          <a:xfrm>
            <a:off x="0" y="6400800"/>
            <a:ext cx="12192000" cy="457200"/>
          </a:xfrm>
          <a:prstGeom prst="rect">
            <a:avLst/>
          </a:prstGeom>
          <a:solidFill>
            <a:srgbClr val="050812"/>
          </a:solidFill>
          <a:ln>
            <a:noFill/>
          </a:ln>
          <a:effectLst/>
        </p:spPr>
        <p:style>
          <a:lnRef idx="1">
            <a:schemeClr val="accent1"/>
          </a:lnRef>
          <a:fillRef idx="3">
            <a:schemeClr val="accent1"/>
          </a:fillRef>
          <a:effectRef idx="2">
            <a:schemeClr val="accent1"/>
          </a:effectRef>
          <a:fontRef idx="minor">
            <a:schemeClr val="lt1"/>
          </a:fontRef>
        </p:style>
        <p:txBody>
          <a:bodyPr rtlCol="0" anchor="ctr" tIns="73152"/>
          <a:lstStyle/>
          <a:p>
            <a:pPr algn="ctr"/>
            <a:r>
              <a:rPr sz="900">
                <a:solidFill>
                  <a:srgbClr val="999999"/>
                </a:solidFill>
                <a:latin typeface="Calibri"/>
              </a:rPr>
              <a:t>PRIVATE &amp; CONFIDENTIAL  |  NOT FOR DISTRIBUTION</a:t>
            </a:r>
          </a:p>
        </p:txBody>
      </p:sp>
      <p:sp>
        <p:nvSpPr>
          <p:cNvPr id="8" name="Rounded Rectangle 7"/>
          <p:cNvSpPr/>
          <p:nvPr/>
        </p:nvSpPr>
        <p:spPr>
          <a:xfrm>
            <a:off x="731520" y="2148840"/>
            <a:ext cx="5276088" cy="1691640"/>
          </a:xfrm>
          <a:prstGeom prst="roundRect">
            <a:avLst/>
          </a:prstGeom>
          <a:solidFill>
            <a:srgbClr val="12182A"/>
          </a:solidFill>
          <a:ln w="9525">
            <a:solidFill>
              <a:srgbClr val="009E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2688" y="2295144"/>
            <a:ext cx="4873751" cy="1417320"/>
          </a:xfrm>
          <a:prstGeom prst="rect">
            <a:avLst/>
          </a:prstGeom>
          <a:noFill/>
        </p:spPr>
        <p:txBody>
          <a:bodyPr wrap="square" anchor="t">
            <a:spAutoFit/>
          </a:bodyPr>
          <a:lstStyle/>
          <a:p>
            <a:pPr algn="l"/>
            <a:r>
              <a:rPr sz="1300" b="1">
                <a:solidFill>
                  <a:srgbClr val="009ED9"/>
                </a:solidFill>
                <a:latin typeface="Calibri"/>
              </a:rPr>
              <a:t>1. PHYSICAL AI, ALREADY IN PRODUCTION</a:t>
            </a:r>
          </a:p>
          <a:p>
            <a:pPr algn="l">
              <a:spcBef>
                <a:spcPts val="400"/>
              </a:spcBef>
            </a:pPr>
            <a:r>
              <a:rPr sz="1150" b="0">
                <a:solidFill>
                  <a:srgbClr val="CCCCCC"/>
                </a:solidFill>
                <a:latin typeface="Calibri"/>
              </a:rPr>
              <a:t>AI applied where it is hardest: real flight hardware. Generative turbomachinery design (AxSTREAM), autonomous flight ops, AI-driven test &amp; integration. Operating today — not on a roadmap.</a:t>
            </a:r>
          </a:p>
        </p:txBody>
      </p:sp>
      <p:sp>
        <p:nvSpPr>
          <p:cNvPr id="10" name="Rounded Rectangle 9"/>
          <p:cNvSpPr/>
          <p:nvPr/>
        </p:nvSpPr>
        <p:spPr>
          <a:xfrm>
            <a:off x="6153912" y="2148840"/>
            <a:ext cx="5276088" cy="1691640"/>
          </a:xfrm>
          <a:prstGeom prst="roundRect">
            <a:avLst/>
          </a:prstGeom>
          <a:solidFill>
            <a:srgbClr val="12182A"/>
          </a:solidFill>
          <a:ln w="9525">
            <a:solidFill>
              <a:srgbClr val="009E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2295144"/>
            <a:ext cx="4873751" cy="1417320"/>
          </a:xfrm>
          <a:prstGeom prst="rect">
            <a:avLst/>
          </a:prstGeom>
          <a:noFill/>
        </p:spPr>
        <p:txBody>
          <a:bodyPr wrap="square" anchor="t">
            <a:spAutoFit/>
          </a:bodyPr>
          <a:lstStyle/>
          <a:p>
            <a:pPr algn="l"/>
            <a:r>
              <a:rPr sz="1300" b="1">
                <a:solidFill>
                  <a:srgbClr val="009ED9"/>
                </a:solidFill>
                <a:latin typeface="Calibri"/>
              </a:rPr>
              <a:t>2. SCARCE PHYSICAL INFRASTRUCTURE</a:t>
            </a:r>
          </a:p>
          <a:p>
            <a:pPr algn="l">
              <a:spcBef>
                <a:spcPts val="400"/>
              </a:spcBef>
            </a:pPr>
            <a:r>
              <a:rPr sz="1150" b="0">
                <a:solidFill>
                  <a:srgbClr val="CCCCCC"/>
                </a:solidFill>
                <a:latin typeface="Calibri"/>
              </a:rPr>
              <a:t>One of only 3 U.S. FAA-licensed reusable launch companies. The only active commercial suborbital rocket test operator, that we are aware of. TRL-9, lunar-proven Scorpius cryo-tank IP. Years-deep moats.</a:t>
            </a:r>
          </a:p>
        </p:txBody>
      </p:sp>
      <p:sp>
        <p:nvSpPr>
          <p:cNvPr id="12" name="Rounded Rectangle 11"/>
          <p:cNvSpPr/>
          <p:nvPr/>
        </p:nvSpPr>
        <p:spPr>
          <a:xfrm>
            <a:off x="731520" y="3977639"/>
            <a:ext cx="5276088" cy="1691640"/>
          </a:xfrm>
          <a:prstGeom prst="roundRect">
            <a:avLst/>
          </a:prstGeom>
          <a:solidFill>
            <a:srgbClr val="12182A"/>
          </a:solidFill>
          <a:ln w="9525">
            <a:solidFill>
              <a:srgbClr val="009E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4123944"/>
            <a:ext cx="4873751" cy="1417320"/>
          </a:xfrm>
          <a:prstGeom prst="rect">
            <a:avLst/>
          </a:prstGeom>
          <a:noFill/>
        </p:spPr>
        <p:txBody>
          <a:bodyPr wrap="square" anchor="t">
            <a:spAutoFit/>
          </a:bodyPr>
          <a:lstStyle/>
          <a:p>
            <a:pPr algn="l"/>
            <a:r>
              <a:rPr sz="1300" b="1">
                <a:solidFill>
                  <a:srgbClr val="009ED9"/>
                </a:solidFill>
                <a:latin typeface="Calibri"/>
              </a:rPr>
              <a:t>3. RE-INDUSTRIALIZATION &amp; AI-ERA WORKFORCE</a:t>
            </a:r>
          </a:p>
          <a:p>
            <a:pPr algn="l">
              <a:spcBef>
                <a:spcPts val="400"/>
              </a:spcBef>
            </a:pPr>
            <a:r>
              <a:rPr sz="1150" b="0">
                <a:solidFill>
                  <a:srgbClr val="CCCCCC"/>
                </a:solidFill>
                <a:latin typeface="Calibri"/>
              </a:rPr>
              <a:t>Rebuilding domestic aerospace manufacturing in rural Texas &amp; Montana — and pioneering the manufacturing-to-AI workforce transition. The labor &amp; supply-chain side of the thesis.</a:t>
            </a:r>
          </a:p>
        </p:txBody>
      </p:sp>
      <p:sp>
        <p:nvSpPr>
          <p:cNvPr id="14" name="Rounded Rectangle 13"/>
          <p:cNvSpPr/>
          <p:nvPr/>
        </p:nvSpPr>
        <p:spPr>
          <a:xfrm>
            <a:off x="6153912" y="3977639"/>
            <a:ext cx="5276088" cy="1691640"/>
          </a:xfrm>
          <a:prstGeom prst="roundRect">
            <a:avLst/>
          </a:prstGeom>
          <a:solidFill>
            <a:srgbClr val="12182A"/>
          </a:solidFill>
          <a:ln w="9525">
            <a:solidFill>
              <a:srgbClr val="009E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5080" y="4123944"/>
            <a:ext cx="4873751" cy="1417320"/>
          </a:xfrm>
          <a:prstGeom prst="rect">
            <a:avLst/>
          </a:prstGeom>
          <a:noFill/>
        </p:spPr>
        <p:txBody>
          <a:bodyPr wrap="square" anchor="t">
            <a:spAutoFit/>
          </a:bodyPr>
          <a:lstStyle/>
          <a:p>
            <a:pPr algn="l"/>
            <a:r>
              <a:rPr sz="1300" b="1">
                <a:solidFill>
                  <a:srgbClr val="009ED9"/>
                </a:solidFill>
                <a:latin typeface="Calibri"/>
              </a:rPr>
              <a:t>4. DE-RISKING THE PHYSICAL FRONTIER</a:t>
            </a:r>
          </a:p>
          <a:p>
            <a:pPr algn="l">
              <a:spcBef>
                <a:spcPts val="400"/>
              </a:spcBef>
            </a:pPr>
            <a:r>
              <a:rPr sz="1150" b="0">
                <a:solidFill>
                  <a:srgbClr val="CCCCCC"/>
                </a:solidFill>
                <a:latin typeface="Calibri"/>
              </a:rPr>
              <a:t>Exos’s reusable suborbital platform is the flight-truth layer the entire physical-space economy needs before committing capital — de-risking orbital, propulsion, in-space architecture.</a:t>
            </a:r>
          </a:p>
        </p:txBody>
      </p:sp>
      <p:sp>
        <p:nvSpPr>
          <p:cNvPr id="16" name="TextBox 15"/>
          <p:cNvSpPr txBox="1"/>
          <p:nvPr/>
        </p:nvSpPr>
        <p:spPr>
          <a:xfrm>
            <a:off x="731520" y="5779008"/>
            <a:ext cx="10698480" cy="548640"/>
          </a:xfrm>
          <a:prstGeom prst="rect">
            <a:avLst/>
          </a:prstGeom>
          <a:noFill/>
        </p:spPr>
        <p:txBody>
          <a:bodyPr wrap="square" anchor="t">
            <a:spAutoFit/>
          </a:bodyPr>
          <a:lstStyle/>
          <a:p>
            <a:pPr algn="l"/>
            <a:r>
              <a:rPr sz="1500" b="1">
                <a:solidFill>
                  <a:srgbClr val="FFB800"/>
                </a:solidFill>
                <a:latin typeface="Calibri"/>
              </a:rPr>
              <a:t>THE PLAY: own the whole lunar‑proven chain — resin to flight — and consolidate the Scorpius stack at a frozen 2021 basis, before the market reprices it as a completed package.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3200" b="1">
                <a:solidFill>
                  <a:srgbClr val="FFFFFF"/>
                </a:solidFill>
                <a:latin typeface="Calibri"/>
              </a:rPr>
              <a:t>THE FLIGHT TEST BOTTLENECK</a:t>
            </a:r>
          </a:p>
        </p:txBody>
      </p:sp>
      <p:sp>
        <p:nvSpPr>
          <p:cNvPr id="5" name="Rectangle 4"/>
          <p:cNvSpPr/>
          <p:nvPr/>
        </p:nvSpPr>
        <p:spPr>
          <a:xfrm>
            <a:off x="731520" y="109728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371600"/>
            <a:ext cx="10058400" cy="548640"/>
          </a:xfrm>
          <a:prstGeom prst="rect">
            <a:avLst/>
          </a:prstGeom>
          <a:noFill/>
        </p:spPr>
        <p:txBody>
          <a:bodyPr wrap="square">
            <a:spAutoFit/>
          </a:bodyPr>
          <a:lstStyle/>
          <a:p>
            <a:pPr algn="l">
              <a:spcAft>
                <a:spcPts val="400"/>
              </a:spcAft>
            </a:pPr>
            <a:r>
              <a:rPr sz="1800" b="1">
                <a:solidFill>
                  <a:srgbClr val="009ED9"/>
                </a:solidFill>
                <a:latin typeface="Calibri"/>
              </a:rPr>
              <a:t>Every orbital program needs flight truth before it commits. There is no substitute.</a:t>
            </a:r>
          </a:p>
        </p:txBody>
      </p:sp>
      <p:sp>
        <p:nvSpPr>
          <p:cNvPr id="7" name="Rounded Rectangle 6"/>
          <p:cNvSpPr/>
          <p:nvPr/>
        </p:nvSpPr>
        <p:spPr>
          <a:xfrm>
            <a:off x="731520" y="2194560"/>
            <a:ext cx="4937760" cy="13716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FF4D4D"/>
                </a:solidFill>
                <a:latin typeface="Calibri"/>
              </a:rPr>
              <a:t>Wind tunnels are saturated</a:t>
            </a:r>
          </a:p>
          <a:p>
            <a:pPr>
              <a:spcBef>
                <a:spcPts val="600"/>
              </a:spcBef>
            </a:pPr>
            <a:r>
              <a:rPr sz="1100">
                <a:solidFill>
                  <a:srgbClr val="CCCCCC"/>
                </a:solidFill>
                <a:latin typeface="Calibri"/>
              </a:rPr>
              <a:t>18-24 month wait times at major facilities nationwide</a:t>
            </a:r>
          </a:p>
        </p:txBody>
      </p:sp>
      <p:sp>
        <p:nvSpPr>
          <p:cNvPr id="8" name="Rounded Rectangle 7"/>
          <p:cNvSpPr/>
          <p:nvPr/>
        </p:nvSpPr>
        <p:spPr>
          <a:xfrm>
            <a:off x="6035040" y="2194560"/>
            <a:ext cx="4937760" cy="13716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FF4D4D"/>
                </a:solidFill>
                <a:latin typeface="Calibri"/>
              </a:rPr>
              <a:t>Computational modeling has limits</a:t>
            </a:r>
          </a:p>
          <a:p>
            <a:pPr>
              <a:spcBef>
                <a:spcPts val="600"/>
              </a:spcBef>
            </a:pPr>
            <a:r>
              <a:rPr sz="1100">
                <a:solidFill>
                  <a:srgbClr val="CCCCCC"/>
                </a:solidFill>
                <a:latin typeface="Calibri"/>
              </a:rPr>
              <a:t>Models diverge from reality at hypersonic and reentry regimes</a:t>
            </a:r>
          </a:p>
        </p:txBody>
      </p:sp>
      <p:sp>
        <p:nvSpPr>
          <p:cNvPr id="9" name="Rounded Rectangle 8"/>
          <p:cNvSpPr/>
          <p:nvPr/>
        </p:nvSpPr>
        <p:spPr>
          <a:xfrm>
            <a:off x="731520" y="3840480"/>
            <a:ext cx="4937760" cy="13716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FF4D4D"/>
                </a:solidFill>
                <a:latin typeface="Calibri"/>
              </a:rPr>
              <a:t>Custom test vehicle costs $50M+</a:t>
            </a:r>
          </a:p>
          <a:p>
            <a:pPr>
              <a:spcBef>
                <a:spcPts val="600"/>
              </a:spcBef>
            </a:pPr>
            <a:r>
              <a:rPr sz="1100">
                <a:solidFill>
                  <a:srgbClr val="CCCCCC"/>
                </a:solidFill>
                <a:latin typeface="Calibri"/>
              </a:rPr>
              <a:t>And takes 2-3 years before first flight</a:t>
            </a:r>
          </a:p>
        </p:txBody>
      </p:sp>
      <p:sp>
        <p:nvSpPr>
          <p:cNvPr id="10" name="Rounded Rectangle 9"/>
          <p:cNvSpPr/>
          <p:nvPr/>
        </p:nvSpPr>
        <p:spPr>
          <a:xfrm>
            <a:off x="6035040" y="3840480"/>
            <a:ext cx="4937760" cy="13716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FF4D4D"/>
                </a:solidFill>
                <a:latin typeface="Calibri"/>
              </a:rPr>
              <a:t>Failed orbital launch destroys hardware</a:t>
            </a:r>
          </a:p>
          <a:p>
            <a:pPr>
              <a:spcBef>
                <a:spcPts val="600"/>
              </a:spcBef>
            </a:pPr>
            <a:r>
              <a:rPr sz="1100">
                <a:solidFill>
                  <a:srgbClr val="CCCCCC"/>
                </a:solidFill>
                <a:latin typeface="Calibri"/>
              </a:rPr>
              <a:t>No intact hardware = no post-flight analysis</a:t>
            </a:r>
          </a:p>
        </p:txBody>
      </p:sp>
      <p:sp>
        <p:nvSpPr>
          <p:cNvPr id="11" name="TextBox 10"/>
          <p:cNvSpPr txBox="1"/>
          <p:nvPr/>
        </p:nvSpPr>
        <p:spPr>
          <a:xfrm>
            <a:off x="731520" y="5669280"/>
            <a:ext cx="10058400" cy="640080"/>
          </a:xfrm>
          <a:prstGeom prst="rect">
            <a:avLst/>
          </a:prstGeom>
          <a:noFill/>
        </p:spPr>
        <p:txBody>
          <a:bodyPr wrap="square">
            <a:spAutoFit/>
          </a:bodyPr>
          <a:lstStyle/>
          <a:p>
            <a:pPr algn="l">
              <a:spcAft>
                <a:spcPts val="400"/>
              </a:spcAft>
            </a:pPr>
            <a:r>
              <a:rPr sz="1600" b="1">
                <a:solidFill>
                  <a:srgbClr val="FFB800"/>
                </a:solidFill>
                <a:latin typeface="Calibri"/>
              </a:rPr>
              <a:t>The gap: Between simulation and orbital commitment, there is no affordable, rapid, repeatable flight test option.</a:t>
            </a:r>
          </a:p>
        </p:txBody>
      </p:sp>
      <p:sp>
        <p:nvSpPr>
          <p:cNvPr id="12" name="Rectangle 11"/>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3200" b="1">
                <a:solidFill>
                  <a:srgbClr val="FFFFFF"/>
                </a:solidFill>
                <a:latin typeface="Calibri"/>
              </a:rPr>
              <a:t>EXOS: THE DE-RISKING PLATFORM</a:t>
            </a:r>
          </a:p>
        </p:txBody>
      </p:sp>
      <p:sp>
        <p:nvSpPr>
          <p:cNvPr id="5" name="Rectangle 4"/>
          <p:cNvSpPr/>
          <p:nvPr/>
        </p:nvSpPr>
        <p:spPr>
          <a:xfrm>
            <a:off x="731520" y="109728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371600"/>
            <a:ext cx="10058400" cy="548640"/>
          </a:xfrm>
          <a:prstGeom prst="rect">
            <a:avLst/>
          </a:prstGeom>
          <a:noFill/>
        </p:spPr>
        <p:txBody>
          <a:bodyPr wrap="square">
            <a:spAutoFit/>
          </a:bodyPr>
          <a:lstStyle/>
          <a:p>
            <a:pPr algn="l">
              <a:spcAft>
                <a:spcPts val="400"/>
              </a:spcAft>
            </a:pPr>
            <a:r>
              <a:rPr sz="1500" b="1">
                <a:solidFill>
                  <a:srgbClr val="009ED9"/>
                </a:solidFill>
                <a:latin typeface="Calibri"/>
              </a:rPr>
              <a:t>One of only three U.S.-licensed reusable suborbital rocket companies — and the only one currently booking commercial test campaigns, that we are aware of</a:t>
            </a:r>
          </a:p>
        </p:txBody>
      </p:sp>
      <p:sp>
        <p:nvSpPr>
          <p:cNvPr id="7" name="Rounded Rectangle 6"/>
          <p:cNvSpPr/>
          <p:nvPr/>
        </p:nvSpPr>
        <p:spPr>
          <a:xfrm>
            <a:off x="731520" y="2194560"/>
            <a:ext cx="3291840" cy="384048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00C87A"/>
                </a:solidFill>
                <a:latin typeface="Calibri"/>
              </a:rPr>
              <a:t>FLIGHT TEST AT A FRACTION OF THE COST</a:t>
            </a:r>
          </a:p>
          <a:p>
            <a:pPr>
              <a:spcBef>
                <a:spcPts val="600"/>
              </a:spcBef>
            </a:pPr>
            <a:r>
              <a:rPr sz="1100">
                <a:solidFill>
                  <a:srgbClr val="CCCCCC"/>
                </a:solidFill>
                <a:latin typeface="Calibri"/>
              </a:rPr>
              <a:t>Customers place avionics, flight controls, and subsystems in our BLK3 payload bay. BLK3 flies to space, executes reentry profiles, then recovers. Customers validate hardware survives — before risking an orbital vehicle.</a:t>
            </a:r>
          </a:p>
        </p:txBody>
      </p:sp>
      <p:sp>
        <p:nvSpPr>
          <p:cNvPr id="8" name="Rounded Rectangle 7"/>
          <p:cNvSpPr/>
          <p:nvPr/>
        </p:nvSpPr>
        <p:spPr>
          <a:xfrm>
            <a:off x="4297680" y="2194560"/>
            <a:ext cx="3291840" cy="384048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009ED9"/>
                </a:solidFill>
                <a:latin typeface="Calibri"/>
              </a:rPr>
              <a:t>SILENT OPERATIONS</a:t>
            </a:r>
          </a:p>
          <a:p>
            <a:pPr>
              <a:spcBef>
                <a:spcPts val="600"/>
              </a:spcBef>
            </a:pPr>
            <a:r>
              <a:rPr sz="1100">
                <a:solidFill>
                  <a:srgbClr val="CCCCCC"/>
                </a:solidFill>
                <a:latin typeface="Calibri"/>
              </a:rPr>
              <a:t>All test operations conducted confidentially until the customer is ready to disclose. Failed tests never become public. Critical for companies with public investors, government stakeholders, or competitive exposure.</a:t>
            </a:r>
          </a:p>
        </p:txBody>
      </p:sp>
      <p:sp>
        <p:nvSpPr>
          <p:cNvPr id="9" name="Rounded Rectangle 8"/>
          <p:cNvSpPr/>
          <p:nvPr/>
        </p:nvSpPr>
        <p:spPr>
          <a:xfrm>
            <a:off x="7863840" y="2194560"/>
            <a:ext cx="3291840" cy="384048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lang="en-US" sz="1300" b="1" dirty="0">
                <a:solidFill>
                  <a:srgbClr val="FFB800"/>
                </a:solidFill>
              </a:rPr>
              <a:t>INTACT HARDWARE RECOVERY</a:t>
            </a:r>
          </a:p>
          <a:p>
            <a:pPr algn="ctr"/>
            <a:r>
              <a:rPr lang="en-US" sz="1100" b="0" dirty="0">
                <a:solidFill>
                  <a:srgbClr val="CCCCCC"/>
                </a:solidFill>
              </a:rPr>
              <a:t>SpaceX and Blue Origin both recover customer hardware intact — but neither currently sells suborbital test services. Exos is the only licensed rocket operator offering commercial suborbital flight-test with full payload recovery, that we are aware of.</a:t>
            </a:r>
          </a:p>
        </p:txBody>
      </p:sp>
      <p:sp>
        <p:nvSpPr>
          <p:cNvPr id="10" name="Rectangle 9"/>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3200" b="1">
                <a:solidFill>
                  <a:srgbClr val="FFFFFF"/>
                </a:solidFill>
                <a:latin typeface="Calibri"/>
              </a:rPr>
              <a:t>THE BLK3 PLATFORM</a:t>
            </a:r>
          </a:p>
        </p:txBody>
      </p:sp>
      <p:sp>
        <p:nvSpPr>
          <p:cNvPr id="5" name="TextBox 4"/>
          <p:cNvSpPr txBox="1"/>
          <p:nvPr/>
        </p:nvSpPr>
        <p:spPr>
          <a:xfrm>
            <a:off x="731520" y="1005840"/>
            <a:ext cx="10058400" cy="365760"/>
          </a:xfrm>
          <a:prstGeom prst="rect">
            <a:avLst/>
          </a:prstGeom>
          <a:noFill/>
        </p:spPr>
        <p:txBody>
          <a:bodyPr wrap="square">
            <a:spAutoFit/>
          </a:bodyPr>
          <a:lstStyle/>
          <a:p>
            <a:pPr algn="l">
              <a:spcAft>
                <a:spcPts val="400"/>
              </a:spcAft>
            </a:pPr>
            <a:r>
              <a:rPr sz="1600" b="0">
                <a:solidFill>
                  <a:srgbClr val="009ED9"/>
                </a:solidFill>
                <a:latin typeface="Calibri"/>
              </a:rPr>
              <a:t>Precision Suborbital Reusable Launch Vehicle</a:t>
            </a:r>
          </a:p>
        </p:txBody>
      </p:sp>
      <p:sp>
        <p:nvSpPr>
          <p:cNvPr id="6" name="Rectangle 5"/>
          <p:cNvSpPr/>
          <p:nvPr/>
        </p:nvSpPr>
        <p:spPr>
          <a:xfrm>
            <a:off x="731520" y="146304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737360"/>
            <a:ext cx="5029200" cy="1954381"/>
          </a:xfrm>
          <a:prstGeom prst="rect">
            <a:avLst/>
          </a:prstGeom>
          <a:noFill/>
        </p:spPr>
        <p:txBody>
          <a:bodyPr wrap="square">
            <a:spAutoFit/>
          </a:bodyPr>
          <a:lstStyle/>
          <a:p>
            <a:pPr algn="l">
              <a:spcBef>
                <a:spcPts val="0"/>
              </a:spcBef>
              <a:spcAft>
                <a:spcPts val="600"/>
              </a:spcAft>
            </a:pPr>
            <a:r>
              <a:rPr lang="en-US" sz="1300" b="0" dirty="0">
                <a:solidFill>
                  <a:srgbClr val="CCCCCC"/>
                </a:solidFill>
              </a:rPr>
              <a:t>•  Suborbital flight profile reaching 100+ km altitude</a:t>
            </a:r>
          </a:p>
          <a:p>
            <a:pPr algn="l">
              <a:spcBef>
                <a:spcPts val="0"/>
              </a:spcBef>
              <a:spcAft>
                <a:spcPts val="600"/>
              </a:spcAft>
            </a:pPr>
            <a:r>
              <a:rPr lang="en-US" sz="1300" b="0" dirty="0">
                <a:solidFill>
                  <a:srgbClr val="CCCCCC"/>
                </a:solidFill>
              </a:rPr>
              <a:t>•  LOX/ethanol propulsion system</a:t>
            </a:r>
          </a:p>
          <a:p>
            <a:pPr algn="l">
              <a:spcBef>
                <a:spcPts val="0"/>
              </a:spcBef>
              <a:spcAft>
                <a:spcPts val="600"/>
              </a:spcAft>
            </a:pPr>
            <a:r>
              <a:rPr lang="en-US" sz="1300" b="0" dirty="0">
                <a:solidFill>
                  <a:srgbClr val="CCCCCC"/>
                </a:solidFill>
              </a:rPr>
              <a:t>•  Multiple flight test articles per mission</a:t>
            </a:r>
          </a:p>
          <a:p>
            <a:pPr algn="l">
              <a:spcBef>
                <a:spcPts val="0"/>
              </a:spcBef>
              <a:spcAft>
                <a:spcPts val="600"/>
              </a:spcAft>
            </a:pPr>
            <a:r>
              <a:rPr lang="en-US" sz="1300" b="0" dirty="0">
                <a:solidFill>
                  <a:srgbClr val="CCCCCC"/>
                </a:solidFill>
              </a:rPr>
              <a:t>•  Vertical launch, parachute recovery, fully reusable</a:t>
            </a:r>
          </a:p>
          <a:p>
            <a:pPr algn="l">
              <a:spcBef>
                <a:spcPts val="0"/>
              </a:spcBef>
              <a:spcAft>
                <a:spcPts val="600"/>
              </a:spcAft>
            </a:pPr>
            <a:r>
              <a:rPr lang="en-US" sz="1300" b="0" dirty="0">
                <a:solidFill>
                  <a:srgbClr val="CCCCCC"/>
                </a:solidFill>
              </a:rPr>
              <a:t>•  Integrated telemetry, tracking, and real-time data return</a:t>
            </a:r>
          </a:p>
          <a:p>
            <a:pPr algn="l">
              <a:spcBef>
                <a:spcPts val="0"/>
              </a:spcBef>
              <a:spcAft>
                <a:spcPts val="600"/>
              </a:spcAft>
            </a:pPr>
            <a:r>
              <a:rPr lang="en-US" sz="1300" b="0" dirty="0">
                <a:solidFill>
                  <a:srgbClr val="CCCCCC"/>
                </a:solidFill>
              </a:rPr>
              <a:t>•  FAA-licensed (3-13-2026) operations from Spaceport America, NM</a:t>
            </a:r>
          </a:p>
          <a:p>
            <a:pPr algn="l">
              <a:spcBef>
                <a:spcPts val="0"/>
              </a:spcBef>
              <a:spcAft>
                <a:spcPts val="600"/>
              </a:spcAft>
            </a:pPr>
            <a:r>
              <a:rPr lang="en-US" sz="1300" b="0" dirty="0">
                <a:solidFill>
                  <a:srgbClr val="CCCCCC"/>
                </a:solidFill>
              </a:rPr>
              <a:t>•  Modular payload bay for diverse customer hardware</a:t>
            </a:r>
          </a:p>
        </p:txBody>
      </p:sp>
      <p:sp>
        <p:nvSpPr>
          <p:cNvPr id="8" name="TextBox 7"/>
          <p:cNvSpPr txBox="1"/>
          <p:nvPr/>
        </p:nvSpPr>
        <p:spPr>
          <a:xfrm>
            <a:off x="6400800" y="640080"/>
            <a:ext cx="5029200" cy="457200"/>
          </a:xfrm>
          <a:prstGeom prst="rect">
            <a:avLst/>
          </a:prstGeom>
          <a:noFill/>
        </p:spPr>
        <p:txBody>
          <a:bodyPr wrap="square">
            <a:spAutoFit/>
          </a:bodyPr>
          <a:lstStyle/>
          <a:p>
            <a:pPr algn="l">
              <a:spcAft>
                <a:spcPts val="400"/>
              </a:spcAft>
            </a:pPr>
            <a:r>
              <a:rPr sz="1500" b="1" dirty="0">
                <a:solidFill>
                  <a:srgbClr val="FFB800"/>
                </a:solidFill>
                <a:latin typeface="Calibri"/>
              </a:rPr>
              <a:t>CUSTOMER PROGRAM PROGRESSION</a:t>
            </a:r>
          </a:p>
        </p:txBody>
      </p:sp>
      <p:sp>
        <p:nvSpPr>
          <p:cNvPr id="9" name="Rounded Rectangle 8"/>
          <p:cNvSpPr/>
          <p:nvPr/>
        </p:nvSpPr>
        <p:spPr>
          <a:xfrm>
            <a:off x="6400800" y="1280160"/>
            <a:ext cx="5029200" cy="109728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dirty="0">
                <a:solidFill>
                  <a:srgbClr val="009ED9"/>
                </a:solidFill>
                <a:latin typeface="Calibri"/>
              </a:rPr>
              <a:t>Phase 1</a:t>
            </a:r>
          </a:p>
          <a:p>
            <a:pPr>
              <a:spcBef>
                <a:spcPts val="600"/>
              </a:spcBef>
            </a:pPr>
            <a:r>
              <a:rPr sz="1100" dirty="0">
                <a:solidFill>
                  <a:srgbClr val="CCCCCC"/>
                </a:solidFill>
                <a:latin typeface="Calibri"/>
              </a:rPr>
              <a:t>Test avionics, GNC, flight controls via BLK3 suborbital flights</a:t>
            </a:r>
          </a:p>
        </p:txBody>
      </p:sp>
      <p:sp>
        <p:nvSpPr>
          <p:cNvPr id="10" name="Rounded Rectangle 9"/>
          <p:cNvSpPr/>
          <p:nvPr/>
        </p:nvSpPr>
        <p:spPr>
          <a:xfrm>
            <a:off x="6400800" y="2560320"/>
            <a:ext cx="5029200" cy="109728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dirty="0">
                <a:solidFill>
                  <a:srgbClr val="009ED9"/>
                </a:solidFill>
                <a:latin typeface="Calibri"/>
              </a:rPr>
              <a:t>Phase 2</a:t>
            </a:r>
          </a:p>
          <a:p>
            <a:pPr>
              <a:spcBef>
                <a:spcPts val="600"/>
              </a:spcBef>
            </a:pPr>
            <a:r>
              <a:rPr sz="1100" dirty="0">
                <a:solidFill>
                  <a:srgbClr val="CCCCCC"/>
                </a:solidFill>
                <a:latin typeface="Calibri"/>
              </a:rPr>
              <a:t>Iterate — fly repeatedly until all systems validated</a:t>
            </a:r>
          </a:p>
        </p:txBody>
      </p:sp>
      <p:sp>
        <p:nvSpPr>
          <p:cNvPr id="11" name="Rounded Rectangle 10"/>
          <p:cNvSpPr/>
          <p:nvPr/>
        </p:nvSpPr>
        <p:spPr>
          <a:xfrm>
            <a:off x="6400800" y="3840480"/>
            <a:ext cx="5029200" cy="73152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lang="en-US" sz="1300" b="1" dirty="0">
                <a:solidFill>
                  <a:srgbClr val="009ED9"/>
                </a:solidFill>
              </a:rPr>
              <a:t>Phase 3</a:t>
            </a:r>
          </a:p>
          <a:p>
            <a:pPr algn="ctr"/>
            <a:r>
              <a:rPr lang="en-US" sz="1100" b="0" dirty="0">
                <a:solidFill>
                  <a:srgbClr val="CCCCCC"/>
                </a:solidFill>
              </a:rPr>
              <a:t>Suborbital proof flight of customer's actual orbital-class vehicle using Exos-developed recovery systems — validating full reentry before orbital commitment</a:t>
            </a:r>
          </a:p>
        </p:txBody>
      </p:sp>
      <p:sp>
        <p:nvSpPr>
          <p:cNvPr id="12" name="TextBox 11"/>
          <p:cNvSpPr txBox="1"/>
          <p:nvPr/>
        </p:nvSpPr>
        <p:spPr>
          <a:xfrm>
            <a:off x="6434051" y="4941916"/>
            <a:ext cx="5029200" cy="548640"/>
          </a:xfrm>
          <a:prstGeom prst="rect">
            <a:avLst/>
          </a:prstGeom>
          <a:noFill/>
        </p:spPr>
        <p:txBody>
          <a:bodyPr wrap="square">
            <a:spAutoFit/>
          </a:bodyPr>
          <a:lstStyle/>
          <a:p>
            <a:pPr algn="l">
              <a:spcAft>
                <a:spcPts val="400"/>
              </a:spcAft>
            </a:pPr>
            <a:r>
              <a:rPr sz="1100" b="1" dirty="0">
                <a:solidFill>
                  <a:srgbClr val="FFB800"/>
                </a:solidFill>
                <a:latin typeface="Calibri"/>
              </a:rPr>
              <a:t>The endgame: Customers graduate from testing subsystems to flying their own orbital vehicle </a:t>
            </a:r>
            <a:r>
              <a:rPr sz="1100" b="1" dirty="0" err="1">
                <a:solidFill>
                  <a:srgbClr val="FFB800"/>
                </a:solidFill>
                <a:latin typeface="Calibri"/>
              </a:rPr>
              <a:t>suborbitally</a:t>
            </a:r>
            <a:r>
              <a:rPr sz="1100" b="1" dirty="0">
                <a:solidFill>
                  <a:srgbClr val="FFB800"/>
                </a:solidFill>
                <a:latin typeface="Calibri"/>
              </a:rPr>
              <a:t> — recovering it intact — before committing to full orbital flight.</a:t>
            </a:r>
          </a:p>
        </p:txBody>
      </p:sp>
      <p:sp>
        <p:nvSpPr>
          <p:cNvPr id="13" name="Rectangle 12"/>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2800" b="1">
                <a:solidFill>
                  <a:srgbClr val="FFFFFF"/>
                </a:solidFill>
                <a:latin typeface="Calibri"/>
              </a:rPr>
              <a:t>STRATEGIC ACQUISITION: SCORPIUS TYPE 5 TANKS</a:t>
            </a:r>
          </a:p>
        </p:txBody>
      </p:sp>
      <p:sp>
        <p:nvSpPr>
          <p:cNvPr id="5" name="TextBox 4"/>
          <p:cNvSpPr txBox="1"/>
          <p:nvPr/>
        </p:nvSpPr>
        <p:spPr>
          <a:xfrm>
            <a:off x="731520" y="1005840"/>
            <a:ext cx="10058400" cy="365760"/>
          </a:xfrm>
          <a:prstGeom prst="rect">
            <a:avLst/>
          </a:prstGeom>
          <a:noFill/>
        </p:spPr>
        <p:txBody>
          <a:bodyPr wrap="square">
            <a:spAutoFit/>
          </a:bodyPr>
          <a:lstStyle/>
          <a:p>
            <a:pPr algn="l">
              <a:spcAft>
                <a:spcPts val="400"/>
              </a:spcAft>
            </a:pPr>
            <a:r>
              <a:rPr sz="1600" b="1">
                <a:solidFill>
                  <a:srgbClr val="FFB800"/>
                </a:solidFill>
                <a:latin typeface="Calibri"/>
              </a:rPr>
              <a:t>Own the stack — resin to flight: Scorpius's evolved resin (trade secret) and patented winding method for TRL‑9 Type‑5 tanks, integrated into Exos's FAA‑licensed reusable vehicle</a:t>
            </a:r>
          </a:p>
        </p:txBody>
      </p:sp>
      <p:sp>
        <p:nvSpPr>
          <p:cNvPr id="6" name="Rectangle 5"/>
          <p:cNvSpPr/>
          <p:nvPr/>
        </p:nvSpPr>
        <p:spPr>
          <a:xfrm>
            <a:off x="731520" y="146304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737360"/>
            <a:ext cx="5029200" cy="2743200"/>
          </a:xfrm>
          <a:prstGeom prst="rect">
            <a:avLst/>
          </a:prstGeom>
          <a:noFill/>
        </p:spPr>
        <p:txBody>
          <a:bodyPr wrap="square">
            <a:spAutoFit/>
          </a:bodyPr>
          <a:lstStyle/>
          <a:p>
            <a:pPr algn="l">
              <a:spcBef>
                <a:spcPts val="0"/>
              </a:spcBef>
              <a:spcAft>
                <a:spcPts val="1000"/>
              </a:spcAft>
            </a:pPr>
            <a:r>
              <a:rPr sz="1400" b="1">
                <a:solidFill>
                  <a:srgbClr val="009ED9"/>
                </a:solidFill>
                <a:latin typeface="Calibri"/>
              </a:rPr>
              <a:t>TANK ADVANTAGES</a:t>
            </a:r>
          </a:p>
          <a:p>
            <a:pPr algn="l">
              <a:spcBef>
                <a:spcPts val="0"/>
              </a:spcBef>
              <a:spcAft>
                <a:spcPts val="600"/>
              </a:spcAft>
            </a:pPr>
            <a:r>
              <a:rPr sz="1200" b="0">
                <a:solidFill>
                  <a:srgbClr val="CCCCCC"/>
                </a:solidFill>
                <a:latin typeface="Calibri"/>
              </a:rPr>
              <a:t>•  ~50% mass reduction vs. metal tanks</a:t>
            </a:r>
          </a:p>
          <a:p>
            <a:pPr algn="l">
              <a:spcBef>
                <a:spcPts val="0"/>
              </a:spcBef>
              <a:spcAft>
                <a:spcPts val="600"/>
              </a:spcAft>
            </a:pPr>
            <a:r>
              <a:rPr sz="1200" b="0">
                <a:solidFill>
                  <a:srgbClr val="CCCCCC"/>
                </a:solidFill>
                <a:latin typeface="Calibri"/>
              </a:rPr>
              <a:t>•  All-composite, corrosion-resistant, export-approved</a:t>
            </a:r>
          </a:p>
          <a:p>
            <a:pPr algn="l">
              <a:spcBef>
                <a:spcPts val="0"/>
              </a:spcBef>
              <a:spcAft>
                <a:spcPts val="600"/>
              </a:spcAft>
            </a:pPr>
            <a:r>
              <a:rPr sz="1200" b="0">
                <a:solidFill>
                  <a:srgbClr val="CCCCCC"/>
                </a:solidFill>
                <a:latin typeface="Calibri"/>
              </a:rPr>
              <a:t>•  Room-temperature cure — no autoclaves required</a:t>
            </a:r>
          </a:p>
          <a:p>
            <a:pPr algn="l">
              <a:spcBef>
                <a:spcPts val="0"/>
              </a:spcBef>
              <a:spcAft>
                <a:spcPts val="600"/>
              </a:spcAft>
            </a:pPr>
            <a:r>
              <a:rPr sz="1200" b="0">
                <a:solidFill>
                  <a:srgbClr val="CCCCCC"/>
                </a:solidFill>
                <a:latin typeface="Calibri"/>
              </a:rPr>
              <a:t>•  Enables LOX-methane and advanced propellants</a:t>
            </a:r>
          </a:p>
          <a:p>
            <a:pPr algn="l">
              <a:spcBef>
                <a:spcPts val="0"/>
              </a:spcBef>
              <a:spcAft>
                <a:spcPts val="600"/>
              </a:spcAft>
            </a:pPr>
            <a:r>
              <a:rPr sz="1200" b="0">
                <a:solidFill>
                  <a:srgbClr val="CCCCCC"/>
                </a:solidFill>
                <a:latin typeface="Calibri"/>
              </a:rPr>
              <a:t>•  Proprietary trade secret manufacturing process</a:t>
            </a:r>
          </a:p>
        </p:txBody>
      </p:sp>
      <p:graphicFrame>
        <p:nvGraphicFramePr>
          <p:cNvPr id="8" name="Table 7"/>
          <p:cNvGraphicFramePr>
            <a:graphicFrameLocks noGrp="1"/>
          </p:cNvGraphicFramePr>
          <p:nvPr/>
        </p:nvGraphicFramePr>
        <p:xfrm>
          <a:off x="6217920" y="1737360"/>
          <a:ext cx="5303520" cy="3017520"/>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tblGrid>
              <a:tr h="365760">
                <a:tc>
                  <a:txBody>
                    <a:bodyPr/>
                    <a:lstStyle/>
                    <a:p>
                      <a:r>
                        <a:rPr sz="1100" b="1">
                          <a:solidFill>
                            <a:srgbClr val="009ED9"/>
                          </a:solidFill>
                          <a:latin typeface="Calibri"/>
                        </a:rPr>
                        <a:t>Metric</a:t>
                      </a:r>
                    </a:p>
                  </a:txBody>
                  <a:tcPr>
                    <a:solidFill>
                      <a:srgbClr val="0A142A"/>
                    </a:solidFill>
                  </a:tcPr>
                </a:tc>
                <a:tc>
                  <a:txBody>
                    <a:bodyPr/>
                    <a:lstStyle/>
                    <a:p>
                      <a:r>
                        <a:rPr sz="1100" b="1">
                          <a:solidFill>
                            <a:srgbClr val="009ED9"/>
                          </a:solidFill>
                          <a:latin typeface="Calibri"/>
                        </a:rPr>
                        <a:t>Value</a:t>
                      </a:r>
                    </a:p>
                  </a:txBody>
                  <a:tcPr>
                    <a:solidFill>
                      <a:srgbClr val="0A142A"/>
                    </a:solidFill>
                  </a:tcPr>
                </a:tc>
                <a:extLst>
                  <a:ext uri="{0D108BD9-81ED-4DB2-BD59-A6C34878D82A}">
                    <a16:rowId xmlns:a16="http://schemas.microsoft.com/office/drawing/2014/main" val="10000"/>
                  </a:ext>
                </a:extLst>
              </a:tr>
              <a:tr h="365760">
                <a:tc>
                  <a:txBody>
                    <a:bodyPr/>
                    <a:lstStyle/>
                    <a:p>
                      <a:r>
                        <a:rPr sz="1100">
                          <a:solidFill>
                            <a:srgbClr val="FFFFFF"/>
                          </a:solidFill>
                          <a:latin typeface="Calibri"/>
                        </a:rPr>
                        <a:t>Acquisition price</a:t>
                      </a:r>
                    </a:p>
                  </a:txBody>
                  <a:tcPr>
                    <a:solidFill>
                      <a:srgbClr val="0D1220"/>
                    </a:solidFill>
                  </a:tcPr>
                </a:tc>
                <a:tc>
                  <a:txBody>
                    <a:bodyPr/>
                    <a:lstStyle/>
                    <a:p>
                      <a:r>
                        <a:rPr sz="1200">
                          <a:solidFill>
                            <a:srgbClr val="CCCCCC"/>
                          </a:solidFill>
                        </a:rPr>
                        <a:t>$3.4M (Right of First Refusal)</a:t>
                      </a:r>
                    </a:p>
                  </a:txBody>
                  <a:tcPr>
                    <a:solidFill>
                      <a:srgbClr val="0D1220"/>
                    </a:solidFill>
                  </a:tcPr>
                </a:tc>
                <a:extLst>
                  <a:ext uri="{0D108BD9-81ED-4DB2-BD59-A6C34878D82A}">
                    <a16:rowId xmlns:a16="http://schemas.microsoft.com/office/drawing/2014/main" val="10001"/>
                  </a:ext>
                </a:extLst>
              </a:tr>
              <a:tr h="365760">
                <a:tc>
                  <a:txBody>
                    <a:bodyPr/>
                    <a:lstStyle/>
                    <a:p>
                      <a:r>
                        <a:rPr sz="1100">
                          <a:solidFill>
                            <a:srgbClr val="FFFFFF"/>
                          </a:solidFill>
                          <a:latin typeface="Calibri"/>
                        </a:rPr>
                        <a:t>Conservative IP valuation</a:t>
                      </a:r>
                    </a:p>
                  </a:txBody>
                  <a:tcPr>
                    <a:solidFill>
                      <a:srgbClr val="101626"/>
                    </a:solidFill>
                  </a:tcPr>
                </a:tc>
                <a:tc>
                  <a:txBody>
                    <a:bodyPr/>
                    <a:lstStyle/>
                    <a:p>
                      <a:r>
                        <a:rPr sz="1200">
                          <a:solidFill>
                            <a:srgbClr val="CCCCCC"/>
                          </a:solidFill>
                        </a:rPr>
                        <a:t>$20–40M conservative</a:t>
                      </a:r>
                    </a:p>
                  </a:txBody>
                  <a:tcPr>
                    <a:solidFill>
                      <a:srgbClr val="101626"/>
                    </a:solidFill>
                  </a:tcPr>
                </a:tc>
                <a:extLst>
                  <a:ext uri="{0D108BD9-81ED-4DB2-BD59-A6C34878D82A}">
                    <a16:rowId xmlns:a16="http://schemas.microsoft.com/office/drawing/2014/main" val="10002"/>
                  </a:ext>
                </a:extLst>
              </a:tr>
              <a:tr h="365760">
                <a:tc>
                  <a:txBody>
                    <a:bodyPr/>
                    <a:lstStyle/>
                    <a:p>
                      <a:r>
                        <a:rPr sz="1100">
                          <a:solidFill>
                            <a:srgbClr val="FFFFFF"/>
                          </a:solidFill>
                          <a:latin typeface="Calibri"/>
                        </a:rPr>
                        <a:t>Arbitrage multiple</a:t>
                      </a:r>
                    </a:p>
                  </a:txBody>
                  <a:tcPr>
                    <a:solidFill>
                      <a:srgbClr val="0D1220"/>
                    </a:solidFill>
                  </a:tcPr>
                </a:tc>
                <a:tc>
                  <a:txBody>
                    <a:bodyPr/>
                    <a:lstStyle/>
                    <a:p>
                      <a:r>
                        <a:rPr sz="1200">
                          <a:solidFill>
                            <a:srgbClr val="CCCCCC"/>
                          </a:solidFill>
                        </a:rPr>
                        <a:t>6–12x</a:t>
                      </a:r>
                    </a:p>
                  </a:txBody>
                  <a:tcPr>
                    <a:solidFill>
                      <a:srgbClr val="0D1220"/>
                    </a:solidFill>
                  </a:tcPr>
                </a:tc>
                <a:extLst>
                  <a:ext uri="{0D108BD9-81ED-4DB2-BD59-A6C34878D82A}">
                    <a16:rowId xmlns:a16="http://schemas.microsoft.com/office/drawing/2014/main" val="10003"/>
                  </a:ext>
                </a:extLst>
              </a:tr>
              <a:tr h="365760">
                <a:tc>
                  <a:txBody>
                    <a:bodyPr/>
                    <a:lstStyle/>
                    <a:p>
                      <a:r>
                        <a:rPr sz="1100">
                          <a:solidFill>
                            <a:srgbClr val="FFFFFF"/>
                          </a:solidFill>
                          <a:latin typeface="Calibri"/>
                        </a:rPr>
                        <a:t>Key customer</a:t>
                      </a:r>
                    </a:p>
                  </a:txBody>
                  <a:tcPr>
                    <a:solidFill>
                      <a:srgbClr val="101626"/>
                    </a:solidFill>
                  </a:tcPr>
                </a:tc>
                <a:tc>
                  <a:txBody>
                    <a:bodyPr/>
                    <a:lstStyle/>
                    <a:p>
                      <a:r>
                        <a:rPr sz="1100">
                          <a:solidFill>
                            <a:srgbClr val="FFFFFF"/>
                          </a:solidFill>
                          <a:latin typeface="Calibri"/>
                        </a:rPr>
                        <a:t>Intuitive Machines ($3.2B mkt cap)</a:t>
                      </a:r>
                    </a:p>
                  </a:txBody>
                  <a:tcPr>
                    <a:solidFill>
                      <a:srgbClr val="101626"/>
                    </a:solidFill>
                  </a:tcPr>
                </a:tc>
                <a:extLst>
                  <a:ext uri="{0D108BD9-81ED-4DB2-BD59-A6C34878D82A}">
                    <a16:rowId xmlns:a16="http://schemas.microsoft.com/office/drawing/2014/main" val="10004"/>
                  </a:ext>
                </a:extLst>
              </a:tr>
              <a:tr h="365760">
                <a:tc>
                  <a:txBody>
                    <a:bodyPr/>
                    <a:lstStyle/>
                    <a:p>
                      <a:r>
                        <a:rPr sz="1100">
                          <a:solidFill>
                            <a:srgbClr val="FFFFFF"/>
                          </a:solidFill>
                          <a:latin typeface="Calibri"/>
                        </a:rPr>
                        <a:t>Additional targets</a:t>
                      </a:r>
                    </a:p>
                  </a:txBody>
                  <a:tcPr>
                    <a:solidFill>
                      <a:srgbClr val="0D1220"/>
                    </a:solidFill>
                  </a:tcPr>
                </a:tc>
                <a:tc>
                  <a:txBody>
                    <a:bodyPr/>
                    <a:lstStyle/>
                    <a:p>
                      <a:r>
                        <a:rPr sz="1100">
                          <a:solidFill>
                            <a:srgbClr val="FFFFFF"/>
                          </a:solidFill>
                          <a:latin typeface="Calibri"/>
                        </a:rPr>
                        <a:t>SpaceX, NGC, NASA Artemis</a:t>
                      </a:r>
                    </a:p>
                  </a:txBody>
                  <a:tcPr>
                    <a:solidFill>
                      <a:srgbClr val="0D1220"/>
                    </a:solidFill>
                  </a:tcPr>
                </a:tc>
                <a:extLst>
                  <a:ext uri="{0D108BD9-81ED-4DB2-BD59-A6C34878D82A}">
                    <a16:rowId xmlns:a16="http://schemas.microsoft.com/office/drawing/2014/main" val="10005"/>
                  </a:ext>
                </a:extLst>
              </a:tr>
              <a:tr h="365760">
                <a:tc>
                  <a:txBody>
                    <a:bodyPr/>
                    <a:lstStyle/>
                    <a:p>
                      <a:r>
                        <a:rPr sz="1100">
                          <a:solidFill>
                            <a:srgbClr val="FFFFFF"/>
                          </a:solidFill>
                          <a:latin typeface="Calibri"/>
                        </a:rPr>
                        <a:t>Terms</a:t>
                      </a:r>
                    </a:p>
                  </a:txBody>
                  <a:tcPr>
                    <a:solidFill>
                      <a:srgbClr val="101626"/>
                    </a:solidFill>
                  </a:tcPr>
                </a:tc>
                <a:tc>
                  <a:txBody>
                    <a:bodyPr/>
                    <a:lstStyle/>
                    <a:p>
                      <a:r>
                        <a:rPr sz="1200">
                          <a:solidFill>
                            <a:srgbClr val="CCCCCC"/>
                          </a:solidFill>
                        </a:rPr>
                        <a:t>$2.4M close + $1M Exos debt repayment at funding (if not converted by Note holders)</a:t>
                      </a:r>
                    </a:p>
                  </a:txBody>
                  <a:tcPr>
                    <a:solidFill>
                      <a:srgbClr val="101626"/>
                    </a:solidFill>
                  </a:tcPr>
                </a:tc>
                <a:extLst>
                  <a:ext uri="{0D108BD9-81ED-4DB2-BD59-A6C34878D82A}">
                    <a16:rowId xmlns:a16="http://schemas.microsoft.com/office/drawing/2014/main" val="10006"/>
                  </a:ext>
                </a:extLst>
              </a:tr>
              <a:tr h="365760">
                <a:tc>
                  <a:txBody>
                    <a:bodyPr/>
                    <a:lstStyle/>
                    <a:p>
                      <a:r>
                        <a:rPr sz="1100">
                          <a:solidFill>
                            <a:srgbClr val="FFFFFF"/>
                          </a:solidFill>
                          <a:latin typeface="Calibri"/>
                        </a:rPr>
                        <a:t>Current ownership</a:t>
                      </a:r>
                    </a:p>
                  </a:txBody>
                  <a:tcPr>
                    <a:solidFill>
                      <a:srgbClr val="0D1220"/>
                    </a:solidFill>
                  </a:tcPr>
                </a:tc>
                <a:tc>
                  <a:txBody>
                    <a:bodyPr/>
                    <a:lstStyle/>
                    <a:p>
                      <a:r>
                        <a:rPr sz="1100">
                          <a:solidFill>
                            <a:srgbClr val="FFFFFF"/>
                          </a:solidFill>
                          <a:latin typeface="Calibri"/>
                        </a:rPr>
                        <a:t>Exos is existing 18% owner</a:t>
                      </a:r>
                    </a:p>
                  </a:txBody>
                  <a:tcPr>
                    <a:solidFill>
                      <a:srgbClr val="0D1220"/>
                    </a:solidFill>
                  </a:tcPr>
                </a:tc>
                <a:extLst>
                  <a:ext uri="{0D108BD9-81ED-4DB2-BD59-A6C34878D82A}">
                    <a16:rowId xmlns:a16="http://schemas.microsoft.com/office/drawing/2014/main" val="10007"/>
                  </a:ext>
                </a:extLst>
              </a:tr>
            </a:tbl>
          </a:graphicData>
        </a:graphic>
      </p:graphicFrame>
      <p:sp>
        <p:nvSpPr>
          <p:cNvPr id="9" name="TextBox 8"/>
          <p:cNvSpPr txBox="1"/>
          <p:nvPr/>
        </p:nvSpPr>
        <p:spPr>
          <a:xfrm>
            <a:off x="731520" y="5029200"/>
            <a:ext cx="10515600" cy="1097280"/>
          </a:xfrm>
          <a:prstGeom prst="rect">
            <a:avLst/>
          </a:prstGeom>
          <a:noFill/>
        </p:spPr>
        <p:txBody>
          <a:bodyPr wrap="square">
            <a:spAutoFit/>
          </a:bodyPr>
          <a:lstStyle/>
          <a:p>
            <a:pPr algn="l">
              <a:spcAft>
                <a:spcPts val="400"/>
              </a:spcAft>
            </a:pPr>
            <a:r>
              <a:rPr sz="1200" b="0">
                <a:solidFill>
                  <a:srgbClr val="CCCCCC"/>
                </a:solidFill>
                <a:latin typeface="Calibri"/>
              </a:rPr>
              <a:t>Scorpius Type 5 composite-overwrapped cryogenic tanks served as fuel and LOX tanks on Intuitive Machines' Odysseus (IM-1) and Athena (IM-2) lunar missions — launched aboard SpaceX Falcon 9, funded by NASA CLPS.</a:t>
            </a:r>
          </a:p>
        </p:txBody>
      </p:sp>
      <p:sp>
        <p:nvSpPr>
          <p:cNvPr id="10" name="Rectangle 9"/>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3200" b="1">
                <a:solidFill>
                  <a:srgbClr val="FFFFFF"/>
                </a:solidFill>
                <a:latin typeface="Calibri"/>
              </a:rPr>
              <a:t>MARKET SIZE &amp; TRACTION</a:t>
            </a:r>
          </a:p>
        </p:txBody>
      </p:sp>
      <p:sp>
        <p:nvSpPr>
          <p:cNvPr id="5" name="Rectangle 4"/>
          <p:cNvSpPr/>
          <p:nvPr/>
        </p:nvSpPr>
        <p:spPr>
          <a:xfrm>
            <a:off x="731520" y="109728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p:cNvGraphicFramePr>
            <a:graphicFrameLocks noGrp="1"/>
          </p:cNvGraphicFramePr>
          <p:nvPr/>
        </p:nvGraphicFramePr>
        <p:xfrm>
          <a:off x="731520" y="1371600"/>
          <a:ext cx="10515600" cy="1828800"/>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4114800">
                  <a:extLst>
                    <a:ext uri="{9D8B030D-6E8A-4147-A177-3AD203B41FA5}">
                      <a16:colId xmlns:a16="http://schemas.microsoft.com/office/drawing/2014/main" val="20002"/>
                    </a:ext>
                  </a:extLst>
                </a:gridCol>
              </a:tblGrid>
              <a:tr h="365760">
                <a:tc>
                  <a:txBody>
                    <a:bodyPr/>
                    <a:lstStyle/>
                    <a:p>
                      <a:r>
                        <a:rPr sz="1100" b="1">
                          <a:solidFill>
                            <a:srgbClr val="009ED9"/>
                          </a:solidFill>
                          <a:latin typeface="Calibri"/>
                        </a:rPr>
                        <a:t>Market Segment</a:t>
                      </a:r>
                    </a:p>
                  </a:txBody>
                  <a:tcPr>
                    <a:solidFill>
                      <a:srgbClr val="0A142A"/>
                    </a:solidFill>
                  </a:tcPr>
                </a:tc>
                <a:tc>
                  <a:txBody>
                    <a:bodyPr/>
                    <a:lstStyle/>
                    <a:p>
                      <a:r>
                        <a:rPr sz="1100" b="1">
                          <a:solidFill>
                            <a:srgbClr val="009ED9"/>
                          </a:solidFill>
                          <a:latin typeface="Calibri"/>
                        </a:rPr>
                        <a:t>Size by 2030</a:t>
                      </a:r>
                    </a:p>
                  </a:txBody>
                  <a:tcPr>
                    <a:solidFill>
                      <a:srgbClr val="0A142A"/>
                    </a:solidFill>
                  </a:tcPr>
                </a:tc>
                <a:tc>
                  <a:txBody>
                    <a:bodyPr/>
                    <a:lstStyle/>
                    <a:p>
                      <a:r>
                        <a:rPr sz="1100" b="1">
                          <a:solidFill>
                            <a:srgbClr val="009ED9"/>
                          </a:solidFill>
                          <a:latin typeface="Calibri"/>
                        </a:rPr>
                        <a:t>Source</a:t>
                      </a:r>
                    </a:p>
                  </a:txBody>
                  <a:tcPr>
                    <a:solidFill>
                      <a:srgbClr val="0A142A"/>
                    </a:solidFill>
                  </a:tcPr>
                </a:tc>
                <a:extLst>
                  <a:ext uri="{0D108BD9-81ED-4DB2-BD59-A6C34878D82A}">
                    <a16:rowId xmlns:a16="http://schemas.microsoft.com/office/drawing/2014/main" val="10000"/>
                  </a:ext>
                </a:extLst>
              </a:tr>
              <a:tr h="365760">
                <a:tc>
                  <a:txBody>
                    <a:bodyPr/>
                    <a:lstStyle/>
                    <a:p>
                      <a:r>
                        <a:rPr sz="1100">
                          <a:solidFill>
                            <a:srgbClr val="FFFFFF"/>
                          </a:solidFill>
                          <a:latin typeface="Calibri"/>
                        </a:rPr>
                        <a:t>Suborbital Flight Test Services</a:t>
                      </a:r>
                    </a:p>
                  </a:txBody>
                  <a:tcPr>
                    <a:solidFill>
                      <a:srgbClr val="0D1220"/>
                    </a:solidFill>
                  </a:tcPr>
                </a:tc>
                <a:tc>
                  <a:txBody>
                    <a:bodyPr/>
                    <a:lstStyle/>
                    <a:p>
                      <a:r>
                        <a:rPr sz="1100">
                          <a:solidFill>
                            <a:srgbClr val="FFFFFF"/>
                          </a:solidFill>
                          <a:latin typeface="Calibri"/>
                        </a:rPr>
                        <a:t>$1.5–2.5B</a:t>
                      </a:r>
                    </a:p>
                  </a:txBody>
                  <a:tcPr>
                    <a:solidFill>
                      <a:srgbClr val="0D1220"/>
                    </a:solidFill>
                  </a:tcPr>
                </a:tc>
                <a:tc>
                  <a:txBody>
                    <a:bodyPr/>
                    <a:lstStyle/>
                    <a:p>
                      <a:r>
                        <a:rPr sz="1100">
                          <a:solidFill>
                            <a:srgbClr val="FFFFFF"/>
                          </a:solidFill>
                          <a:latin typeface="Calibri"/>
                        </a:rPr>
                        <a:t>NSR, FAA AST, Bryce Tech</a:t>
                      </a:r>
                    </a:p>
                  </a:txBody>
                  <a:tcPr>
                    <a:solidFill>
                      <a:srgbClr val="0D1220"/>
                    </a:solidFill>
                  </a:tcPr>
                </a:tc>
                <a:extLst>
                  <a:ext uri="{0D108BD9-81ED-4DB2-BD59-A6C34878D82A}">
                    <a16:rowId xmlns:a16="http://schemas.microsoft.com/office/drawing/2014/main" val="10001"/>
                  </a:ext>
                </a:extLst>
              </a:tr>
              <a:tr h="365760">
                <a:tc>
                  <a:txBody>
                    <a:bodyPr/>
                    <a:lstStyle/>
                    <a:p>
                      <a:r>
                        <a:rPr sz="1100">
                          <a:solidFill>
                            <a:srgbClr val="FFFFFF"/>
                          </a:solidFill>
                          <a:latin typeface="Calibri"/>
                        </a:rPr>
                        <a:t>Cryogenic Tank Production (Space)</a:t>
                      </a:r>
                    </a:p>
                  </a:txBody>
                  <a:tcPr>
                    <a:solidFill>
                      <a:srgbClr val="101626"/>
                    </a:solidFill>
                  </a:tcPr>
                </a:tc>
                <a:tc>
                  <a:txBody>
                    <a:bodyPr/>
                    <a:lstStyle/>
                    <a:p>
                      <a:r>
                        <a:rPr sz="1100">
                          <a:solidFill>
                            <a:srgbClr val="FFFFFF"/>
                          </a:solidFill>
                          <a:latin typeface="Calibri"/>
                        </a:rPr>
                        <a:t>$2–4B</a:t>
                      </a:r>
                    </a:p>
                  </a:txBody>
                  <a:tcPr>
                    <a:solidFill>
                      <a:srgbClr val="101626"/>
                    </a:solidFill>
                  </a:tcPr>
                </a:tc>
                <a:tc>
                  <a:txBody>
                    <a:bodyPr/>
                    <a:lstStyle/>
                    <a:p>
                      <a:r>
                        <a:rPr sz="1100">
                          <a:solidFill>
                            <a:srgbClr val="FFFFFF"/>
                          </a:solidFill>
                          <a:latin typeface="Calibri"/>
                        </a:rPr>
                        <a:t>In-space refueling + lunar demand</a:t>
                      </a:r>
                    </a:p>
                  </a:txBody>
                  <a:tcPr>
                    <a:solidFill>
                      <a:srgbClr val="101626"/>
                    </a:solidFill>
                  </a:tcPr>
                </a:tc>
                <a:extLst>
                  <a:ext uri="{0D108BD9-81ED-4DB2-BD59-A6C34878D82A}">
                    <a16:rowId xmlns:a16="http://schemas.microsoft.com/office/drawing/2014/main" val="10002"/>
                  </a:ext>
                </a:extLst>
              </a:tr>
              <a:tr h="365760">
                <a:tc>
                  <a:txBody>
                    <a:bodyPr/>
                    <a:lstStyle/>
                    <a:p>
                      <a:r>
                        <a:rPr sz="1100">
                          <a:solidFill>
                            <a:srgbClr val="FFFFFF"/>
                          </a:solidFill>
                          <a:latin typeface="Calibri"/>
                        </a:rPr>
                        <a:t>Advanced Propulsion Systems</a:t>
                      </a:r>
                    </a:p>
                  </a:txBody>
                  <a:tcPr>
                    <a:solidFill>
                      <a:srgbClr val="0D1220"/>
                    </a:solidFill>
                  </a:tcPr>
                </a:tc>
                <a:tc>
                  <a:txBody>
                    <a:bodyPr/>
                    <a:lstStyle/>
                    <a:p>
                      <a:r>
                        <a:rPr sz="1100">
                          <a:solidFill>
                            <a:srgbClr val="FFFFFF"/>
                          </a:solidFill>
                          <a:latin typeface="Calibri"/>
                        </a:rPr>
                        <a:t>$1–2B</a:t>
                      </a:r>
                    </a:p>
                  </a:txBody>
                  <a:tcPr>
                    <a:solidFill>
                      <a:srgbClr val="0D1220"/>
                    </a:solidFill>
                  </a:tcPr>
                </a:tc>
                <a:tc>
                  <a:txBody>
                    <a:bodyPr/>
                    <a:lstStyle/>
                    <a:p>
                      <a:r>
                        <a:rPr sz="1100">
                          <a:solidFill>
                            <a:srgbClr val="FFFFFF"/>
                          </a:solidFill>
                          <a:latin typeface="Calibri"/>
                        </a:rPr>
                        <a:t>RDRE/detonation programs DoD/NASA</a:t>
                      </a:r>
                    </a:p>
                  </a:txBody>
                  <a:tcPr>
                    <a:solidFill>
                      <a:srgbClr val="0D1220"/>
                    </a:solidFill>
                  </a:tcPr>
                </a:tc>
                <a:extLst>
                  <a:ext uri="{0D108BD9-81ED-4DB2-BD59-A6C34878D82A}">
                    <a16:rowId xmlns:a16="http://schemas.microsoft.com/office/drawing/2014/main" val="10003"/>
                  </a:ext>
                </a:extLst>
              </a:tr>
              <a:tr h="365760">
                <a:tc>
                  <a:txBody>
                    <a:bodyPr/>
                    <a:lstStyle/>
                    <a:p>
                      <a:r>
                        <a:rPr sz="1100">
                          <a:solidFill>
                            <a:srgbClr val="FFFFFF"/>
                          </a:solidFill>
                          <a:latin typeface="Calibri"/>
                        </a:rPr>
                        <a:t>Total Serviceable Market</a:t>
                      </a:r>
                    </a:p>
                  </a:txBody>
                  <a:tcPr>
                    <a:solidFill>
                      <a:srgbClr val="101626"/>
                    </a:solidFill>
                  </a:tcPr>
                </a:tc>
                <a:tc>
                  <a:txBody>
                    <a:bodyPr/>
                    <a:lstStyle/>
                    <a:p>
                      <a:r>
                        <a:rPr sz="1100">
                          <a:solidFill>
                            <a:srgbClr val="FFFFFF"/>
                          </a:solidFill>
                          <a:latin typeface="Calibri"/>
                        </a:rPr>
                        <a:t>$4.5–8.5B</a:t>
                      </a:r>
                    </a:p>
                  </a:txBody>
                  <a:tcPr>
                    <a:solidFill>
                      <a:srgbClr val="101626"/>
                    </a:solidFill>
                  </a:tcPr>
                </a:tc>
                <a:tc>
                  <a:txBody>
                    <a:bodyPr/>
                    <a:lstStyle/>
                    <a:p>
                      <a:endParaRPr/>
                    </a:p>
                  </a:txBody>
                  <a:tcPr>
                    <a:solidFill>
                      <a:srgbClr val="101626"/>
                    </a:solidFill>
                  </a:tcPr>
                </a:tc>
                <a:extLst>
                  <a:ext uri="{0D108BD9-81ED-4DB2-BD59-A6C34878D82A}">
                    <a16:rowId xmlns:a16="http://schemas.microsoft.com/office/drawing/2014/main" val="10004"/>
                  </a:ext>
                </a:extLst>
              </a:tr>
            </a:tbl>
          </a:graphicData>
        </a:graphic>
      </p:graphicFrame>
      <p:sp>
        <p:nvSpPr>
          <p:cNvPr id="7" name="TextBox 6"/>
          <p:cNvSpPr txBox="1"/>
          <p:nvPr/>
        </p:nvSpPr>
        <p:spPr>
          <a:xfrm>
            <a:off x="731520" y="3474720"/>
            <a:ext cx="4572000" cy="365760"/>
          </a:xfrm>
          <a:prstGeom prst="rect">
            <a:avLst/>
          </a:prstGeom>
          <a:noFill/>
        </p:spPr>
        <p:txBody>
          <a:bodyPr wrap="square">
            <a:spAutoFit/>
          </a:bodyPr>
          <a:lstStyle/>
          <a:p>
            <a:pPr algn="l">
              <a:spcAft>
                <a:spcPts val="400"/>
              </a:spcAft>
            </a:pPr>
            <a:r>
              <a:rPr sz="1500" b="1">
                <a:solidFill>
                  <a:srgbClr val="FFB800"/>
                </a:solidFill>
                <a:latin typeface="Calibri"/>
              </a:rPr>
              <a:t>CURRENT TRACTION</a:t>
            </a:r>
          </a:p>
        </p:txBody>
      </p:sp>
      <p:sp>
        <p:nvSpPr>
          <p:cNvPr id="8" name="TextBox 7"/>
          <p:cNvSpPr txBox="1"/>
          <p:nvPr/>
        </p:nvSpPr>
        <p:spPr>
          <a:xfrm>
            <a:off x="731520" y="3931920"/>
            <a:ext cx="5029200" cy="2286000"/>
          </a:xfrm>
          <a:prstGeom prst="rect">
            <a:avLst/>
          </a:prstGeom>
          <a:noFill/>
        </p:spPr>
        <p:txBody>
          <a:bodyPr wrap="square">
            <a:spAutoFit/>
          </a:bodyPr>
          <a:lstStyle/>
          <a:p>
            <a:pPr algn="l">
              <a:spcBef>
                <a:spcPts val="0"/>
              </a:spcBef>
              <a:spcAft>
                <a:spcPts val="600"/>
              </a:spcAft>
            </a:pPr>
            <a:r>
              <a:rPr sz="1300" b="0">
                <a:solidFill>
                  <a:srgbClr val="CCCCCC"/>
                </a:solidFill>
                <a:latin typeface="Calibri"/>
              </a:rPr>
              <a:t>•  Exos FY2025 Revenue: $1.55M (102% CAGR over 4 years)</a:t>
            </a:r>
          </a:p>
          <a:p>
            <a:pPr algn="l">
              <a:spcBef>
                <a:spcPts val="0"/>
              </a:spcBef>
              <a:spcAft>
                <a:spcPts val="600"/>
              </a:spcAft>
            </a:pPr>
            <a:r>
              <a:rPr sz="1300" b="0">
                <a:solidFill>
                  <a:srgbClr val="CCCCCC"/>
                </a:solidFill>
                <a:latin typeface="Calibri"/>
              </a:rPr>
              <a:t>•  Exos contract revenue Sept 2025 – July 2026: $1.9M</a:t>
            </a:r>
          </a:p>
          <a:p>
            <a:pPr algn="l">
              <a:spcBef>
                <a:spcPts val="0"/>
              </a:spcBef>
              <a:spcAft>
                <a:spcPts val="600"/>
              </a:spcAft>
            </a:pPr>
            <a:r>
              <a:rPr sz="1300" b="0">
                <a:solidFill>
                  <a:srgbClr val="CCCCCC"/>
                </a:solidFill>
                <a:latin typeface="Calibri"/>
              </a:rPr>
              <a:t>•  Scorpius revenue (pro forma): $3.1M for Sept 2025 – Sept 2026</a:t>
            </a:r>
          </a:p>
          <a:p>
            <a:pPr algn="l">
              <a:spcBef>
                <a:spcPts val="0"/>
              </a:spcBef>
              <a:spcAft>
                <a:spcPts val="600"/>
              </a:spcAft>
            </a:pPr>
            <a:r>
              <a:rPr sz="1300" b="0">
                <a:solidFill>
                  <a:srgbClr val="CCCCCC"/>
                </a:solidFill>
                <a:latin typeface="Calibri"/>
              </a:rPr>
              <a:t>•  Combined pro forma annual run-rate: ~$5M</a:t>
            </a:r>
          </a:p>
        </p:txBody>
      </p:sp>
      <p:sp>
        <p:nvSpPr>
          <p:cNvPr id="9" name="TextBox 8"/>
          <p:cNvSpPr txBox="1"/>
          <p:nvPr/>
        </p:nvSpPr>
        <p:spPr>
          <a:xfrm>
            <a:off x="6400800" y="3474720"/>
            <a:ext cx="4572000" cy="365760"/>
          </a:xfrm>
          <a:prstGeom prst="rect">
            <a:avLst/>
          </a:prstGeom>
          <a:noFill/>
        </p:spPr>
        <p:txBody>
          <a:bodyPr wrap="square">
            <a:spAutoFit/>
          </a:bodyPr>
          <a:lstStyle/>
          <a:p>
            <a:pPr algn="l">
              <a:spcAft>
                <a:spcPts val="400"/>
              </a:spcAft>
            </a:pPr>
            <a:r>
              <a:rPr sz="1500" b="1">
                <a:solidFill>
                  <a:srgbClr val="FFB800"/>
                </a:solidFill>
                <a:latin typeface="Calibri"/>
              </a:rPr>
              <a:t>GOVERNMENT PIPELINE</a:t>
            </a:r>
          </a:p>
        </p:txBody>
      </p:sp>
      <p:sp>
        <p:nvSpPr>
          <p:cNvPr id="10" name="TextBox 9"/>
          <p:cNvSpPr txBox="1"/>
          <p:nvPr/>
        </p:nvSpPr>
        <p:spPr>
          <a:xfrm>
            <a:off x="6400800" y="3931920"/>
            <a:ext cx="5029200" cy="2286000"/>
          </a:xfrm>
          <a:prstGeom prst="rect">
            <a:avLst/>
          </a:prstGeom>
          <a:noFill/>
        </p:spPr>
        <p:txBody>
          <a:bodyPr wrap="square">
            <a:spAutoFit/>
          </a:bodyPr>
          <a:lstStyle/>
          <a:p>
            <a:pPr algn="l">
              <a:spcBef>
                <a:spcPts val="0"/>
              </a:spcBef>
              <a:spcAft>
                <a:spcPts val="600"/>
              </a:spcAft>
            </a:pPr>
            <a:r>
              <a:rPr sz="1300" b="0">
                <a:solidFill>
                  <a:srgbClr val="CCCCCC"/>
                </a:solidFill>
                <a:latin typeface="Calibri"/>
              </a:rPr>
              <a:t>•  USAF SBIR Phase II — HVRR-RDRE (FA9300-25-C-6022)</a:t>
            </a:r>
          </a:p>
          <a:p>
            <a:pPr algn="l">
              <a:spcBef>
                <a:spcPts val="0"/>
              </a:spcBef>
              <a:spcAft>
                <a:spcPts val="600"/>
              </a:spcAft>
            </a:pPr>
            <a:r>
              <a:rPr sz="1300" b="0">
                <a:solidFill>
                  <a:srgbClr val="CCCCCC"/>
                </a:solidFill>
                <a:latin typeface="Calibri"/>
              </a:rPr>
              <a:t>•  TACFI ($4M) — RDRE development ($2M DoD + $2M match)</a:t>
            </a:r>
          </a:p>
          <a:p>
            <a:pPr algn="l">
              <a:spcBef>
                <a:spcPts val="0"/>
              </a:spcBef>
              <a:spcAft>
                <a:spcPts val="600"/>
              </a:spcAft>
            </a:pPr>
            <a:r>
              <a:rPr sz="1300" b="0">
                <a:solidFill>
                  <a:srgbClr val="CCCCCC"/>
                </a:solidFill>
                <a:latin typeface="Calibri"/>
              </a:rPr>
              <a:t>•  STRATFI ($30M) — follow-on, RDRE operational engine</a:t>
            </a:r>
          </a:p>
          <a:p>
            <a:pPr algn="l">
              <a:spcBef>
                <a:spcPts val="0"/>
              </a:spcBef>
              <a:spcAft>
                <a:spcPts val="600"/>
              </a:spcAft>
            </a:pPr>
            <a:r>
              <a:rPr sz="1300" b="0">
                <a:solidFill>
                  <a:srgbClr val="CCCCCC"/>
                </a:solidFill>
                <a:latin typeface="Calibri"/>
              </a:rPr>
              <a:t>•  Active NASA relationships via Scorpius heritage</a:t>
            </a:r>
          </a:p>
        </p:txBody>
      </p:sp>
      <p:sp>
        <p:nvSpPr>
          <p:cNvPr id="11" name="TextBox 10"/>
          <p:cNvSpPr txBox="1"/>
          <p:nvPr/>
        </p:nvSpPr>
        <p:spPr>
          <a:xfrm>
            <a:off x="731520" y="5943600"/>
            <a:ext cx="10058400" cy="365760"/>
          </a:xfrm>
          <a:prstGeom prst="rect">
            <a:avLst/>
          </a:prstGeom>
          <a:noFill/>
        </p:spPr>
        <p:txBody>
          <a:bodyPr wrap="square">
            <a:spAutoFit/>
          </a:bodyPr>
          <a:lstStyle/>
          <a:p>
            <a:pPr algn="l">
              <a:spcAft>
                <a:spcPts val="400"/>
              </a:spcAft>
            </a:pPr>
            <a:r>
              <a:rPr sz="1000" b="0" i="1">
                <a:solidFill>
                  <a:srgbClr val="999999"/>
                </a:solidFill>
                <a:latin typeface="Calibri"/>
              </a:rPr>
              <a:t>Scorpius revenue shown pro forma pending acquisition close. Not yet consolidated Exos revenue.</a:t>
            </a:r>
          </a:p>
        </p:txBody>
      </p:sp>
      <p:sp>
        <p:nvSpPr>
          <p:cNvPr id="12" name="Rectangle 11"/>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3200" b="1">
                <a:solidFill>
                  <a:srgbClr val="FFFFFF"/>
                </a:solidFill>
                <a:latin typeface="Calibri"/>
              </a:rPr>
              <a:t>REVENUE SCALING — PROJECTED</a:t>
            </a:r>
          </a:p>
        </p:txBody>
      </p:sp>
      <p:sp>
        <p:nvSpPr>
          <p:cNvPr id="5" name="TextBox 4"/>
          <p:cNvSpPr txBox="1"/>
          <p:nvPr/>
        </p:nvSpPr>
        <p:spPr>
          <a:xfrm>
            <a:off x="731520" y="1005840"/>
            <a:ext cx="10058400" cy="365760"/>
          </a:xfrm>
          <a:prstGeom prst="rect">
            <a:avLst/>
          </a:prstGeom>
          <a:noFill/>
        </p:spPr>
        <p:txBody>
          <a:bodyPr wrap="square">
            <a:spAutoFit/>
          </a:bodyPr>
          <a:lstStyle/>
          <a:p>
            <a:pPr algn="l">
              <a:spcAft>
                <a:spcPts val="400"/>
              </a:spcAft>
            </a:pPr>
            <a:r>
              <a:rPr sz="1600" b="0">
                <a:solidFill>
                  <a:srgbClr val="009ED9"/>
                </a:solidFill>
                <a:latin typeface="Calibri"/>
              </a:rPr>
              <a:t>Government backbone + commercial fleet scaling — ~140% CAGR</a:t>
            </a:r>
          </a:p>
        </p:txBody>
      </p:sp>
      <p:sp>
        <p:nvSpPr>
          <p:cNvPr id="6" name="Rectangle 5"/>
          <p:cNvSpPr/>
          <p:nvPr/>
        </p:nvSpPr>
        <p:spPr>
          <a:xfrm>
            <a:off x="731520" y="146304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7" name="Table 6"/>
          <p:cNvGraphicFramePr>
            <a:graphicFrameLocks noGrp="1"/>
          </p:cNvGraphicFramePr>
          <p:nvPr/>
        </p:nvGraphicFramePr>
        <p:xfrm>
          <a:off x="731520" y="1737360"/>
          <a:ext cx="10515600" cy="2560320"/>
        </p:xfrm>
        <a:graphic>
          <a:graphicData uri="http://schemas.openxmlformats.org/drawingml/2006/table">
            <a:tbl>
              <a:tblPr firstRow="1" bandRow="1">
                <a:tableStyleId>{5C22544A-7EE6-4342-B048-85BDC9FD1C3A}</a:tableStyleId>
              </a:tblPr>
              <a:tblGrid>
                <a:gridCol w="109728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1645920">
                  <a:extLst>
                    <a:ext uri="{9D8B030D-6E8A-4147-A177-3AD203B41FA5}">
                      <a16:colId xmlns:a16="http://schemas.microsoft.com/office/drawing/2014/main" val="20004"/>
                    </a:ext>
                  </a:extLst>
                </a:gridCol>
                <a:gridCol w="1371600">
                  <a:extLst>
                    <a:ext uri="{9D8B030D-6E8A-4147-A177-3AD203B41FA5}">
                      <a16:colId xmlns:a16="http://schemas.microsoft.com/office/drawing/2014/main" val="20005"/>
                    </a:ext>
                  </a:extLst>
                </a:gridCol>
                <a:gridCol w="1371600">
                  <a:extLst>
                    <a:ext uri="{9D8B030D-6E8A-4147-A177-3AD203B41FA5}">
                      <a16:colId xmlns:a16="http://schemas.microsoft.com/office/drawing/2014/main" val="20006"/>
                    </a:ext>
                  </a:extLst>
                </a:gridCol>
              </a:tblGrid>
              <a:tr h="365760">
                <a:tc>
                  <a:txBody>
                    <a:bodyPr/>
                    <a:lstStyle/>
                    <a:p>
                      <a:r>
                        <a:rPr sz="1100" b="1">
                          <a:solidFill>
                            <a:srgbClr val="009ED9"/>
                          </a:solidFill>
                          <a:latin typeface="Calibri"/>
                        </a:rPr>
                        <a:t>Year</a:t>
                      </a:r>
                    </a:p>
                  </a:txBody>
                  <a:tcPr>
                    <a:solidFill>
                      <a:srgbClr val="0A142A"/>
                    </a:solidFill>
                  </a:tcPr>
                </a:tc>
                <a:tc>
                  <a:txBody>
                    <a:bodyPr/>
                    <a:lstStyle/>
                    <a:p>
                      <a:r>
                        <a:rPr sz="1100" b="1">
                          <a:solidFill>
                            <a:srgbClr val="009ED9"/>
                          </a:solidFill>
                          <a:latin typeface="Calibri"/>
                        </a:rPr>
                        <a:t>BLK4 Commercial</a:t>
                      </a:r>
                    </a:p>
                  </a:txBody>
                  <a:tcPr>
                    <a:solidFill>
                      <a:srgbClr val="0A142A"/>
                    </a:solidFill>
                  </a:tcPr>
                </a:tc>
                <a:tc>
                  <a:txBody>
                    <a:bodyPr/>
                    <a:lstStyle/>
                    <a:p>
                      <a:r>
                        <a:rPr sz="1100" b="1">
                          <a:solidFill>
                            <a:srgbClr val="009ED9"/>
                          </a:solidFill>
                          <a:latin typeface="Calibri"/>
                        </a:rPr>
                        <a:t>Scorpius</a:t>
                      </a:r>
                    </a:p>
                  </a:txBody>
                  <a:tcPr>
                    <a:solidFill>
                      <a:srgbClr val="0A142A"/>
                    </a:solidFill>
                  </a:tcPr>
                </a:tc>
                <a:tc>
                  <a:txBody>
                    <a:bodyPr/>
                    <a:lstStyle/>
                    <a:p>
                      <a:r>
                        <a:rPr sz="1100" b="1">
                          <a:solidFill>
                            <a:srgbClr val="009ED9"/>
                          </a:solidFill>
                          <a:latin typeface="Calibri"/>
                        </a:rPr>
                        <a:t>TACFI/STRATFI</a:t>
                      </a:r>
                    </a:p>
                  </a:txBody>
                  <a:tcPr>
                    <a:solidFill>
                      <a:srgbClr val="0A142A"/>
                    </a:solidFill>
                  </a:tcPr>
                </a:tc>
                <a:tc>
                  <a:txBody>
                    <a:bodyPr/>
                    <a:lstStyle/>
                    <a:p>
                      <a:r>
                        <a:rPr sz="1100" b="1">
                          <a:solidFill>
                            <a:srgbClr val="009ED9"/>
                          </a:solidFill>
                          <a:latin typeface="Calibri"/>
                        </a:rPr>
                        <a:t>Other Gov/Svc</a:t>
                      </a:r>
                    </a:p>
                  </a:txBody>
                  <a:tcPr>
                    <a:solidFill>
                      <a:srgbClr val="0A142A"/>
                    </a:solidFill>
                  </a:tcPr>
                </a:tc>
                <a:tc>
                  <a:txBody>
                    <a:bodyPr/>
                    <a:lstStyle/>
                    <a:p>
                      <a:r>
                        <a:rPr sz="1100" b="1">
                          <a:solidFill>
                            <a:srgbClr val="009ED9"/>
                          </a:solidFill>
                          <a:latin typeface="Calibri"/>
                        </a:rPr>
                        <a:t>Combined</a:t>
                      </a:r>
                    </a:p>
                  </a:txBody>
                  <a:tcPr>
                    <a:solidFill>
                      <a:srgbClr val="0A142A"/>
                    </a:solidFill>
                  </a:tcPr>
                </a:tc>
                <a:tc>
                  <a:txBody>
                    <a:bodyPr/>
                    <a:lstStyle/>
                    <a:p>
                      <a:r>
                        <a:rPr sz="1100" b="1">
                          <a:solidFill>
                            <a:srgbClr val="009ED9"/>
                          </a:solidFill>
                          <a:latin typeface="Calibri"/>
                        </a:rPr>
                        <a:t>YoY</a:t>
                      </a:r>
                    </a:p>
                  </a:txBody>
                  <a:tcPr>
                    <a:solidFill>
                      <a:srgbClr val="0A142A"/>
                    </a:solidFill>
                  </a:tcPr>
                </a:tc>
                <a:extLst>
                  <a:ext uri="{0D108BD9-81ED-4DB2-BD59-A6C34878D82A}">
                    <a16:rowId xmlns:a16="http://schemas.microsoft.com/office/drawing/2014/main" val="10000"/>
                  </a:ext>
                </a:extLst>
              </a:tr>
              <a:tr h="365760">
                <a:tc>
                  <a:txBody>
                    <a:bodyPr/>
                    <a:lstStyle/>
                    <a:p>
                      <a:r>
                        <a:rPr sz="1100">
                          <a:solidFill>
                            <a:srgbClr val="FFFFFF"/>
                          </a:solidFill>
                          <a:latin typeface="Calibri"/>
                        </a:rPr>
                        <a:t>2025A</a:t>
                      </a:r>
                    </a:p>
                  </a:txBody>
                  <a:tcPr>
                    <a:solidFill>
                      <a:srgbClr val="0D1220"/>
                    </a:solidFill>
                  </a:tcPr>
                </a:tc>
                <a:tc>
                  <a:txBody>
                    <a:bodyPr/>
                    <a:lstStyle/>
                    <a:p>
                      <a:r>
                        <a:rPr sz="1100">
                          <a:solidFill>
                            <a:srgbClr val="FFFFFF"/>
                          </a:solidFill>
                          <a:latin typeface="Calibri"/>
                        </a:rPr>
                        <a:t>—</a:t>
                      </a:r>
                    </a:p>
                  </a:txBody>
                  <a:tcPr>
                    <a:solidFill>
                      <a:srgbClr val="0D1220"/>
                    </a:solidFill>
                  </a:tcPr>
                </a:tc>
                <a:tc>
                  <a:txBody>
                    <a:bodyPr/>
                    <a:lstStyle/>
                    <a:p>
                      <a:r>
                        <a:rPr sz="1100">
                          <a:solidFill>
                            <a:srgbClr val="FFFFFF"/>
                          </a:solidFill>
                          <a:latin typeface="Calibri"/>
                        </a:rPr>
                        <a:t>—</a:t>
                      </a:r>
                    </a:p>
                  </a:txBody>
                  <a:tcPr>
                    <a:solidFill>
                      <a:srgbClr val="0D1220"/>
                    </a:solidFill>
                  </a:tcPr>
                </a:tc>
                <a:tc>
                  <a:txBody>
                    <a:bodyPr/>
                    <a:lstStyle/>
                    <a:p>
                      <a:r>
                        <a:rPr sz="1100">
                          <a:solidFill>
                            <a:srgbClr val="FFFFFF"/>
                          </a:solidFill>
                          <a:latin typeface="Calibri"/>
                        </a:rPr>
                        <a:t>—</a:t>
                      </a:r>
                    </a:p>
                  </a:txBody>
                  <a:tcPr>
                    <a:solidFill>
                      <a:srgbClr val="0D1220"/>
                    </a:solidFill>
                  </a:tcPr>
                </a:tc>
                <a:tc>
                  <a:txBody>
                    <a:bodyPr/>
                    <a:lstStyle/>
                    <a:p>
                      <a:r>
                        <a:rPr sz="1100">
                          <a:solidFill>
                            <a:srgbClr val="FFFFFF"/>
                          </a:solidFill>
                          <a:latin typeface="Calibri"/>
                        </a:rPr>
                        <a:t>$1.55M</a:t>
                      </a:r>
                    </a:p>
                  </a:txBody>
                  <a:tcPr>
                    <a:solidFill>
                      <a:srgbClr val="0D1220"/>
                    </a:solidFill>
                  </a:tcPr>
                </a:tc>
                <a:tc>
                  <a:txBody>
                    <a:bodyPr/>
                    <a:lstStyle/>
                    <a:p>
                      <a:r>
                        <a:rPr sz="1100">
                          <a:solidFill>
                            <a:srgbClr val="FFFFFF"/>
                          </a:solidFill>
                          <a:latin typeface="Calibri"/>
                        </a:rPr>
                        <a:t>$1.55M</a:t>
                      </a:r>
                    </a:p>
                  </a:txBody>
                  <a:tcPr>
                    <a:solidFill>
                      <a:srgbClr val="0D1220"/>
                    </a:solidFill>
                  </a:tcPr>
                </a:tc>
                <a:tc>
                  <a:txBody>
                    <a:bodyPr/>
                    <a:lstStyle/>
                    <a:p>
                      <a:r>
                        <a:rPr sz="1100">
                          <a:solidFill>
                            <a:srgbClr val="FFFFFF"/>
                          </a:solidFill>
                          <a:latin typeface="Calibri"/>
                        </a:rPr>
                        <a:t>146%</a:t>
                      </a:r>
                    </a:p>
                  </a:txBody>
                  <a:tcPr>
                    <a:solidFill>
                      <a:srgbClr val="0D1220"/>
                    </a:solidFill>
                  </a:tcPr>
                </a:tc>
                <a:extLst>
                  <a:ext uri="{0D108BD9-81ED-4DB2-BD59-A6C34878D82A}">
                    <a16:rowId xmlns:a16="http://schemas.microsoft.com/office/drawing/2014/main" val="10001"/>
                  </a:ext>
                </a:extLst>
              </a:tr>
              <a:tr h="365760">
                <a:tc>
                  <a:txBody>
                    <a:bodyPr/>
                    <a:lstStyle/>
                    <a:p>
                      <a:r>
                        <a:rPr sz="1100">
                          <a:solidFill>
                            <a:srgbClr val="FFFFFF"/>
                          </a:solidFill>
                          <a:latin typeface="Calibri"/>
                        </a:rPr>
                        <a:t>2026E</a:t>
                      </a:r>
                    </a:p>
                  </a:txBody>
                  <a:tcPr>
                    <a:solidFill>
                      <a:srgbClr val="101626"/>
                    </a:solidFill>
                  </a:tcPr>
                </a:tc>
                <a:tc>
                  <a:txBody>
                    <a:bodyPr/>
                    <a:lstStyle/>
                    <a:p>
                      <a:r>
                        <a:rPr sz="1100">
                          <a:solidFill>
                            <a:srgbClr val="FFFFFF"/>
                          </a:solidFill>
                          <a:latin typeface="Calibri"/>
                        </a:rPr>
                        <a:t>—</a:t>
                      </a:r>
                    </a:p>
                  </a:txBody>
                  <a:tcPr>
                    <a:solidFill>
                      <a:srgbClr val="101626"/>
                    </a:solidFill>
                  </a:tcPr>
                </a:tc>
                <a:tc>
                  <a:txBody>
                    <a:bodyPr/>
                    <a:lstStyle/>
                    <a:p>
                      <a:r>
                        <a:rPr sz="1100">
                          <a:solidFill>
                            <a:srgbClr val="FFFFFF"/>
                          </a:solidFill>
                          <a:latin typeface="Calibri"/>
                        </a:rPr>
                        <a:t>$2.65M</a:t>
                      </a:r>
                    </a:p>
                  </a:txBody>
                  <a:tcPr>
                    <a:solidFill>
                      <a:srgbClr val="101626"/>
                    </a:solidFill>
                  </a:tcPr>
                </a:tc>
                <a:tc>
                  <a:txBody>
                    <a:bodyPr/>
                    <a:lstStyle/>
                    <a:p>
                      <a:r>
                        <a:rPr sz="1100">
                          <a:solidFill>
                            <a:srgbClr val="FFFFFF"/>
                          </a:solidFill>
                          <a:latin typeface="Calibri"/>
                        </a:rPr>
                        <a:t>$0.7M</a:t>
                      </a:r>
                    </a:p>
                  </a:txBody>
                  <a:tcPr>
                    <a:solidFill>
                      <a:srgbClr val="101626"/>
                    </a:solidFill>
                  </a:tcPr>
                </a:tc>
                <a:tc>
                  <a:txBody>
                    <a:bodyPr/>
                    <a:lstStyle/>
                    <a:p>
                      <a:r>
                        <a:rPr sz="1100">
                          <a:solidFill>
                            <a:srgbClr val="FFFFFF"/>
                          </a:solidFill>
                          <a:latin typeface="Calibri"/>
                        </a:rPr>
                        <a:t>$1.1M</a:t>
                      </a:r>
                    </a:p>
                  </a:txBody>
                  <a:tcPr>
                    <a:solidFill>
                      <a:srgbClr val="101626"/>
                    </a:solidFill>
                  </a:tcPr>
                </a:tc>
                <a:tc>
                  <a:txBody>
                    <a:bodyPr/>
                    <a:lstStyle/>
                    <a:p>
                      <a:r>
                        <a:rPr sz="1100">
                          <a:solidFill>
                            <a:srgbClr val="FFFFFF"/>
                          </a:solidFill>
                          <a:latin typeface="Calibri"/>
                        </a:rPr>
                        <a:t>$4.4M</a:t>
                      </a:r>
                    </a:p>
                  </a:txBody>
                  <a:tcPr>
                    <a:solidFill>
                      <a:srgbClr val="101626"/>
                    </a:solidFill>
                  </a:tcPr>
                </a:tc>
                <a:tc>
                  <a:txBody>
                    <a:bodyPr/>
                    <a:lstStyle/>
                    <a:p>
                      <a:r>
                        <a:rPr sz="1100">
                          <a:solidFill>
                            <a:srgbClr val="FFFFFF"/>
                          </a:solidFill>
                          <a:latin typeface="Calibri"/>
                        </a:rPr>
                        <a:t>184%</a:t>
                      </a:r>
                    </a:p>
                  </a:txBody>
                  <a:tcPr>
                    <a:solidFill>
                      <a:srgbClr val="101626"/>
                    </a:solidFill>
                  </a:tcPr>
                </a:tc>
                <a:extLst>
                  <a:ext uri="{0D108BD9-81ED-4DB2-BD59-A6C34878D82A}">
                    <a16:rowId xmlns:a16="http://schemas.microsoft.com/office/drawing/2014/main" val="10002"/>
                  </a:ext>
                </a:extLst>
              </a:tr>
              <a:tr h="365760">
                <a:tc>
                  <a:txBody>
                    <a:bodyPr/>
                    <a:lstStyle/>
                    <a:p>
                      <a:r>
                        <a:rPr sz="1100">
                          <a:solidFill>
                            <a:srgbClr val="FFFFFF"/>
                          </a:solidFill>
                          <a:latin typeface="Calibri"/>
                        </a:rPr>
                        <a:t>2027E</a:t>
                      </a:r>
                    </a:p>
                  </a:txBody>
                  <a:tcPr>
                    <a:solidFill>
                      <a:srgbClr val="0D1220"/>
                    </a:solidFill>
                  </a:tcPr>
                </a:tc>
                <a:tc>
                  <a:txBody>
                    <a:bodyPr/>
                    <a:lstStyle/>
                    <a:p>
                      <a:r>
                        <a:rPr sz="1100">
                          <a:solidFill>
                            <a:srgbClr val="FFFFFF"/>
                          </a:solidFill>
                          <a:latin typeface="Calibri"/>
                        </a:rPr>
                        <a:t>—</a:t>
                      </a:r>
                    </a:p>
                  </a:txBody>
                  <a:tcPr>
                    <a:solidFill>
                      <a:srgbClr val="0D1220"/>
                    </a:solidFill>
                  </a:tcPr>
                </a:tc>
                <a:tc>
                  <a:txBody>
                    <a:bodyPr/>
                    <a:lstStyle/>
                    <a:p>
                      <a:r>
                        <a:rPr sz="1100">
                          <a:solidFill>
                            <a:srgbClr val="FFFFFF"/>
                          </a:solidFill>
                          <a:latin typeface="Calibri"/>
                        </a:rPr>
                        <a:t>$3.5M</a:t>
                      </a:r>
                    </a:p>
                  </a:txBody>
                  <a:tcPr>
                    <a:solidFill>
                      <a:srgbClr val="0D1220"/>
                    </a:solidFill>
                  </a:tcPr>
                </a:tc>
                <a:tc>
                  <a:txBody>
                    <a:bodyPr/>
                    <a:lstStyle/>
                    <a:p>
                      <a:r>
                        <a:rPr sz="1100">
                          <a:solidFill>
                            <a:srgbClr val="FFFFFF"/>
                          </a:solidFill>
                          <a:latin typeface="Calibri"/>
                        </a:rPr>
                        <a:t>$2.7M</a:t>
                      </a:r>
                    </a:p>
                  </a:txBody>
                  <a:tcPr>
                    <a:solidFill>
                      <a:srgbClr val="0D1220"/>
                    </a:solidFill>
                  </a:tcPr>
                </a:tc>
                <a:tc>
                  <a:txBody>
                    <a:bodyPr/>
                    <a:lstStyle/>
                    <a:p>
                      <a:r>
                        <a:rPr sz="1100">
                          <a:solidFill>
                            <a:srgbClr val="FFFFFF"/>
                          </a:solidFill>
                          <a:latin typeface="Calibri"/>
                        </a:rPr>
                        <a:t>—</a:t>
                      </a:r>
                    </a:p>
                  </a:txBody>
                  <a:tcPr>
                    <a:solidFill>
                      <a:srgbClr val="0D1220"/>
                    </a:solidFill>
                  </a:tcPr>
                </a:tc>
                <a:tc>
                  <a:txBody>
                    <a:bodyPr/>
                    <a:lstStyle/>
                    <a:p>
                      <a:r>
                        <a:rPr sz="1100">
                          <a:solidFill>
                            <a:srgbClr val="FFFFFF"/>
                          </a:solidFill>
                          <a:latin typeface="Calibri"/>
                        </a:rPr>
                        <a:t>$6.2M</a:t>
                      </a:r>
                    </a:p>
                  </a:txBody>
                  <a:tcPr>
                    <a:solidFill>
                      <a:srgbClr val="0D1220"/>
                    </a:solidFill>
                  </a:tcPr>
                </a:tc>
                <a:tc>
                  <a:txBody>
                    <a:bodyPr/>
                    <a:lstStyle/>
                    <a:p>
                      <a:r>
                        <a:rPr sz="1100">
                          <a:solidFill>
                            <a:srgbClr val="FFFFFF"/>
                          </a:solidFill>
                          <a:latin typeface="Calibri"/>
                        </a:rPr>
                        <a:t>41%</a:t>
                      </a:r>
                    </a:p>
                  </a:txBody>
                  <a:tcPr>
                    <a:solidFill>
                      <a:srgbClr val="0D1220"/>
                    </a:solidFill>
                  </a:tcPr>
                </a:tc>
                <a:extLst>
                  <a:ext uri="{0D108BD9-81ED-4DB2-BD59-A6C34878D82A}">
                    <a16:rowId xmlns:a16="http://schemas.microsoft.com/office/drawing/2014/main" val="10003"/>
                  </a:ext>
                </a:extLst>
              </a:tr>
              <a:tr h="365760">
                <a:tc>
                  <a:txBody>
                    <a:bodyPr/>
                    <a:lstStyle/>
                    <a:p>
                      <a:r>
                        <a:rPr sz="1100">
                          <a:solidFill>
                            <a:srgbClr val="FFFFFF"/>
                          </a:solidFill>
                          <a:latin typeface="Calibri"/>
                        </a:rPr>
                        <a:t>2028E</a:t>
                      </a:r>
                    </a:p>
                  </a:txBody>
                  <a:tcPr>
                    <a:solidFill>
                      <a:srgbClr val="101626"/>
                    </a:solidFill>
                  </a:tcPr>
                </a:tc>
                <a:tc>
                  <a:txBody>
                    <a:bodyPr/>
                    <a:lstStyle/>
                    <a:p>
                      <a:r>
                        <a:rPr sz="1100">
                          <a:solidFill>
                            <a:srgbClr val="FFFFFF"/>
                          </a:solidFill>
                          <a:latin typeface="Calibri"/>
                        </a:rPr>
                        <a:t>$9.8M</a:t>
                      </a:r>
                    </a:p>
                  </a:txBody>
                  <a:tcPr>
                    <a:solidFill>
                      <a:srgbClr val="101626"/>
                    </a:solidFill>
                  </a:tcPr>
                </a:tc>
                <a:tc>
                  <a:txBody>
                    <a:bodyPr/>
                    <a:lstStyle/>
                    <a:p>
                      <a:r>
                        <a:rPr sz="1100">
                          <a:solidFill>
                            <a:srgbClr val="FFFFFF"/>
                          </a:solidFill>
                          <a:latin typeface="Calibri"/>
                        </a:rPr>
                        <a:t>$7.0M</a:t>
                      </a:r>
                    </a:p>
                  </a:txBody>
                  <a:tcPr>
                    <a:solidFill>
                      <a:srgbClr val="101626"/>
                    </a:solidFill>
                  </a:tcPr>
                </a:tc>
                <a:tc>
                  <a:txBody>
                    <a:bodyPr/>
                    <a:lstStyle/>
                    <a:p>
                      <a:r>
                        <a:rPr sz="1100">
                          <a:solidFill>
                            <a:srgbClr val="FFFFFF"/>
                          </a:solidFill>
                          <a:latin typeface="Calibri"/>
                        </a:rPr>
                        <a:t>$8.2M</a:t>
                      </a:r>
                    </a:p>
                  </a:txBody>
                  <a:tcPr>
                    <a:solidFill>
                      <a:srgbClr val="101626"/>
                    </a:solidFill>
                  </a:tcPr>
                </a:tc>
                <a:tc>
                  <a:txBody>
                    <a:bodyPr/>
                    <a:lstStyle/>
                    <a:p>
                      <a:r>
                        <a:rPr sz="1100">
                          <a:solidFill>
                            <a:srgbClr val="FFFFFF"/>
                          </a:solidFill>
                          <a:latin typeface="Calibri"/>
                        </a:rPr>
                        <a:t>—</a:t>
                      </a:r>
                    </a:p>
                  </a:txBody>
                  <a:tcPr>
                    <a:solidFill>
                      <a:srgbClr val="101626"/>
                    </a:solidFill>
                  </a:tcPr>
                </a:tc>
                <a:tc>
                  <a:txBody>
                    <a:bodyPr/>
                    <a:lstStyle/>
                    <a:p>
                      <a:r>
                        <a:rPr sz="1100">
                          <a:solidFill>
                            <a:srgbClr val="FFFFFF"/>
                          </a:solidFill>
                          <a:latin typeface="Calibri"/>
                        </a:rPr>
                        <a:t>$25M</a:t>
                      </a:r>
                    </a:p>
                  </a:txBody>
                  <a:tcPr>
                    <a:solidFill>
                      <a:srgbClr val="101626"/>
                    </a:solidFill>
                  </a:tcPr>
                </a:tc>
                <a:tc>
                  <a:txBody>
                    <a:bodyPr/>
                    <a:lstStyle/>
                    <a:p>
                      <a:r>
                        <a:rPr sz="1100">
                          <a:solidFill>
                            <a:srgbClr val="FFFFFF"/>
                          </a:solidFill>
                          <a:latin typeface="Calibri"/>
                        </a:rPr>
                        <a:t>303%</a:t>
                      </a:r>
                    </a:p>
                  </a:txBody>
                  <a:tcPr>
                    <a:solidFill>
                      <a:srgbClr val="101626"/>
                    </a:solidFill>
                  </a:tcPr>
                </a:tc>
                <a:extLst>
                  <a:ext uri="{0D108BD9-81ED-4DB2-BD59-A6C34878D82A}">
                    <a16:rowId xmlns:a16="http://schemas.microsoft.com/office/drawing/2014/main" val="10004"/>
                  </a:ext>
                </a:extLst>
              </a:tr>
              <a:tr h="365760">
                <a:tc>
                  <a:txBody>
                    <a:bodyPr/>
                    <a:lstStyle/>
                    <a:p>
                      <a:r>
                        <a:rPr sz="1100">
                          <a:solidFill>
                            <a:srgbClr val="FFFFFF"/>
                          </a:solidFill>
                          <a:latin typeface="Calibri"/>
                        </a:rPr>
                        <a:t>2029E</a:t>
                      </a:r>
                    </a:p>
                  </a:txBody>
                  <a:tcPr>
                    <a:solidFill>
                      <a:srgbClr val="0D1220"/>
                    </a:solidFill>
                  </a:tcPr>
                </a:tc>
                <a:tc>
                  <a:txBody>
                    <a:bodyPr/>
                    <a:lstStyle/>
                    <a:p>
                      <a:r>
                        <a:rPr sz="1100">
                          <a:solidFill>
                            <a:srgbClr val="FFFFFF"/>
                          </a:solidFill>
                          <a:latin typeface="Calibri"/>
                        </a:rPr>
                        <a:t>$31M</a:t>
                      </a:r>
                    </a:p>
                  </a:txBody>
                  <a:tcPr>
                    <a:solidFill>
                      <a:srgbClr val="0D1220"/>
                    </a:solidFill>
                  </a:tcPr>
                </a:tc>
                <a:tc>
                  <a:txBody>
                    <a:bodyPr/>
                    <a:lstStyle/>
                    <a:p>
                      <a:r>
                        <a:rPr sz="1100">
                          <a:solidFill>
                            <a:srgbClr val="FFFFFF"/>
                          </a:solidFill>
                          <a:latin typeface="Calibri"/>
                        </a:rPr>
                        <a:t>$14M</a:t>
                      </a:r>
                    </a:p>
                  </a:txBody>
                  <a:tcPr>
                    <a:solidFill>
                      <a:srgbClr val="0D1220"/>
                    </a:solidFill>
                  </a:tcPr>
                </a:tc>
                <a:tc>
                  <a:txBody>
                    <a:bodyPr/>
                    <a:lstStyle/>
                    <a:p>
                      <a:r>
                        <a:rPr sz="1100">
                          <a:solidFill>
                            <a:srgbClr val="FFFFFF"/>
                          </a:solidFill>
                          <a:latin typeface="Calibri"/>
                        </a:rPr>
                        <a:t>$10M</a:t>
                      </a:r>
                    </a:p>
                  </a:txBody>
                  <a:tcPr>
                    <a:solidFill>
                      <a:srgbClr val="0D1220"/>
                    </a:solidFill>
                  </a:tcPr>
                </a:tc>
                <a:tc>
                  <a:txBody>
                    <a:bodyPr/>
                    <a:lstStyle/>
                    <a:p>
                      <a:r>
                        <a:rPr sz="1100">
                          <a:solidFill>
                            <a:srgbClr val="FFFFFF"/>
                          </a:solidFill>
                          <a:latin typeface="Calibri"/>
                        </a:rPr>
                        <a:t>—</a:t>
                      </a:r>
                    </a:p>
                  </a:txBody>
                  <a:tcPr>
                    <a:solidFill>
                      <a:srgbClr val="0D1220"/>
                    </a:solidFill>
                  </a:tcPr>
                </a:tc>
                <a:tc>
                  <a:txBody>
                    <a:bodyPr/>
                    <a:lstStyle/>
                    <a:p>
                      <a:r>
                        <a:rPr sz="1100">
                          <a:solidFill>
                            <a:srgbClr val="FFFFFF"/>
                          </a:solidFill>
                          <a:latin typeface="Calibri"/>
                        </a:rPr>
                        <a:t>$55M</a:t>
                      </a:r>
                    </a:p>
                  </a:txBody>
                  <a:tcPr>
                    <a:solidFill>
                      <a:srgbClr val="0D1220"/>
                    </a:solidFill>
                  </a:tcPr>
                </a:tc>
                <a:tc>
                  <a:txBody>
                    <a:bodyPr/>
                    <a:lstStyle/>
                    <a:p>
                      <a:r>
                        <a:rPr sz="1100">
                          <a:solidFill>
                            <a:srgbClr val="FFFFFF"/>
                          </a:solidFill>
                          <a:latin typeface="Calibri"/>
                        </a:rPr>
                        <a:t>120%</a:t>
                      </a:r>
                    </a:p>
                  </a:txBody>
                  <a:tcPr>
                    <a:solidFill>
                      <a:srgbClr val="0D1220"/>
                    </a:solidFill>
                  </a:tcPr>
                </a:tc>
                <a:extLst>
                  <a:ext uri="{0D108BD9-81ED-4DB2-BD59-A6C34878D82A}">
                    <a16:rowId xmlns:a16="http://schemas.microsoft.com/office/drawing/2014/main" val="10005"/>
                  </a:ext>
                </a:extLst>
              </a:tr>
              <a:tr h="365760">
                <a:tc>
                  <a:txBody>
                    <a:bodyPr/>
                    <a:lstStyle/>
                    <a:p>
                      <a:r>
                        <a:rPr sz="1100">
                          <a:solidFill>
                            <a:srgbClr val="FFFFFF"/>
                          </a:solidFill>
                          <a:latin typeface="Calibri"/>
                        </a:rPr>
                        <a:t>2030E</a:t>
                      </a:r>
                    </a:p>
                  </a:txBody>
                  <a:tcPr>
                    <a:solidFill>
                      <a:srgbClr val="101626"/>
                    </a:solidFill>
                  </a:tcPr>
                </a:tc>
                <a:tc>
                  <a:txBody>
                    <a:bodyPr/>
                    <a:lstStyle/>
                    <a:p>
                      <a:r>
                        <a:rPr sz="1100">
                          <a:solidFill>
                            <a:srgbClr val="FFFFFF"/>
                          </a:solidFill>
                          <a:latin typeface="Calibri"/>
                        </a:rPr>
                        <a:t>$82M</a:t>
                      </a:r>
                    </a:p>
                  </a:txBody>
                  <a:tcPr>
                    <a:solidFill>
                      <a:srgbClr val="101626"/>
                    </a:solidFill>
                  </a:tcPr>
                </a:tc>
                <a:tc>
                  <a:txBody>
                    <a:bodyPr/>
                    <a:lstStyle/>
                    <a:p>
                      <a:r>
                        <a:rPr sz="1100">
                          <a:solidFill>
                            <a:srgbClr val="FFFFFF"/>
                          </a:solidFill>
                          <a:latin typeface="Calibri"/>
                        </a:rPr>
                        <a:t>$28M</a:t>
                      </a:r>
                    </a:p>
                  </a:txBody>
                  <a:tcPr>
                    <a:solidFill>
                      <a:srgbClr val="101626"/>
                    </a:solidFill>
                  </a:tcPr>
                </a:tc>
                <a:tc>
                  <a:txBody>
                    <a:bodyPr/>
                    <a:lstStyle/>
                    <a:p>
                      <a:r>
                        <a:rPr sz="1100">
                          <a:solidFill>
                            <a:srgbClr val="FFFFFF"/>
                          </a:solidFill>
                          <a:latin typeface="Calibri"/>
                        </a:rPr>
                        <a:t>$10M</a:t>
                      </a:r>
                    </a:p>
                  </a:txBody>
                  <a:tcPr>
                    <a:solidFill>
                      <a:srgbClr val="101626"/>
                    </a:solidFill>
                  </a:tcPr>
                </a:tc>
                <a:tc>
                  <a:txBody>
                    <a:bodyPr/>
                    <a:lstStyle/>
                    <a:p>
                      <a:r>
                        <a:rPr sz="1100">
                          <a:solidFill>
                            <a:srgbClr val="FFFFFF"/>
                          </a:solidFill>
                          <a:latin typeface="Calibri"/>
                        </a:rPr>
                        <a:t>—</a:t>
                      </a:r>
                    </a:p>
                  </a:txBody>
                  <a:tcPr>
                    <a:solidFill>
                      <a:srgbClr val="101626"/>
                    </a:solidFill>
                  </a:tcPr>
                </a:tc>
                <a:tc>
                  <a:txBody>
                    <a:bodyPr/>
                    <a:lstStyle/>
                    <a:p>
                      <a:r>
                        <a:rPr sz="1100">
                          <a:solidFill>
                            <a:srgbClr val="FFFFFF"/>
                          </a:solidFill>
                          <a:latin typeface="Calibri"/>
                        </a:rPr>
                        <a:t>$120M</a:t>
                      </a:r>
                    </a:p>
                  </a:txBody>
                  <a:tcPr>
                    <a:solidFill>
                      <a:srgbClr val="101626"/>
                    </a:solidFill>
                  </a:tcPr>
                </a:tc>
                <a:tc>
                  <a:txBody>
                    <a:bodyPr/>
                    <a:lstStyle/>
                    <a:p>
                      <a:r>
                        <a:rPr sz="1100">
                          <a:solidFill>
                            <a:srgbClr val="FFFFFF"/>
                          </a:solidFill>
                          <a:latin typeface="Calibri"/>
                        </a:rPr>
                        <a:t>118%</a:t>
                      </a:r>
                    </a:p>
                  </a:txBody>
                  <a:tcPr>
                    <a:solidFill>
                      <a:srgbClr val="101626"/>
                    </a:solidFill>
                  </a:tcPr>
                </a:tc>
                <a:extLst>
                  <a:ext uri="{0D108BD9-81ED-4DB2-BD59-A6C34878D82A}">
                    <a16:rowId xmlns:a16="http://schemas.microsoft.com/office/drawing/2014/main" val="10006"/>
                  </a:ext>
                </a:extLst>
              </a:tr>
            </a:tbl>
          </a:graphicData>
        </a:graphic>
      </p:graphicFrame>
      <p:sp>
        <p:nvSpPr>
          <p:cNvPr id="8" name="TextBox 7"/>
          <p:cNvSpPr txBox="1"/>
          <p:nvPr/>
        </p:nvSpPr>
        <p:spPr>
          <a:xfrm>
            <a:off x="731520" y="4754880"/>
            <a:ext cx="5029200" cy="365760"/>
          </a:xfrm>
          <a:prstGeom prst="rect">
            <a:avLst/>
          </a:prstGeom>
          <a:noFill/>
        </p:spPr>
        <p:txBody>
          <a:bodyPr wrap="square">
            <a:spAutoFit/>
          </a:bodyPr>
          <a:lstStyle/>
          <a:p>
            <a:pPr algn="l">
              <a:spcAft>
                <a:spcPts val="400"/>
              </a:spcAft>
            </a:pPr>
            <a:r>
              <a:rPr sz="1400" b="1">
                <a:solidFill>
                  <a:srgbClr val="FFB800"/>
                </a:solidFill>
                <a:latin typeface="Calibri"/>
              </a:rPr>
              <a:t>UNIT ECONOMICS</a:t>
            </a:r>
          </a:p>
        </p:txBody>
      </p:sp>
      <p:sp>
        <p:nvSpPr>
          <p:cNvPr id="9" name="TextBox 8"/>
          <p:cNvSpPr txBox="1"/>
          <p:nvPr/>
        </p:nvSpPr>
        <p:spPr>
          <a:xfrm>
            <a:off x="731520" y="5120640"/>
            <a:ext cx="5029200" cy="1828800"/>
          </a:xfrm>
          <a:prstGeom prst="rect">
            <a:avLst/>
          </a:prstGeom>
          <a:noFill/>
        </p:spPr>
        <p:txBody>
          <a:bodyPr wrap="square">
            <a:spAutoFit/>
          </a:bodyPr>
          <a:lstStyle/>
          <a:p>
            <a:pPr algn="l">
              <a:spcBef>
                <a:spcPts val="0"/>
              </a:spcBef>
              <a:spcAft>
                <a:spcPts val="400"/>
              </a:spcAft>
            </a:pPr>
            <a:r>
              <a:rPr sz="1200" b="0">
                <a:solidFill>
                  <a:srgbClr val="CCCCCC"/>
                </a:solidFill>
                <a:latin typeface="Calibri"/>
              </a:rPr>
              <a:t>•  BLK4 vehicle sale: $6M/unit, 50%+ gross margin</a:t>
            </a:r>
          </a:p>
          <a:p>
            <a:pPr algn="l">
              <a:spcBef>
                <a:spcPts val="0"/>
              </a:spcBef>
              <a:spcAft>
                <a:spcPts val="400"/>
              </a:spcAft>
            </a:pPr>
            <a:r>
              <a:rPr sz="1200" b="0">
                <a:solidFill>
                  <a:srgbClr val="CCCCCC"/>
                </a:solidFill>
                <a:latin typeface="Calibri"/>
              </a:rPr>
              <a:t>•  BLK4 wet-lease flight: $3.75M/flight, 60%+ margin</a:t>
            </a:r>
          </a:p>
          <a:p>
            <a:pPr algn="l">
              <a:spcBef>
                <a:spcPts val="0"/>
              </a:spcBef>
              <a:spcAft>
                <a:spcPts val="400"/>
              </a:spcAft>
            </a:pPr>
            <a:r>
              <a:rPr sz="1200" b="0">
                <a:solidFill>
                  <a:srgbClr val="CCCCCC"/>
                </a:solidFill>
                <a:latin typeface="Calibri"/>
              </a:rPr>
              <a:t>•  Tank manufacturing: $200K–$1M/unit, 45%+ margin</a:t>
            </a:r>
          </a:p>
          <a:p>
            <a:pPr algn="l">
              <a:spcBef>
                <a:spcPts val="0"/>
              </a:spcBef>
              <a:spcAft>
                <a:spcPts val="400"/>
              </a:spcAft>
            </a:pPr>
            <a:r>
              <a:rPr sz="1200" b="0">
                <a:solidFill>
                  <a:srgbClr val="CCCCCC"/>
                </a:solidFill>
                <a:latin typeface="Calibri"/>
              </a:rPr>
              <a:t>•  TACFI/STRATFI: 30% margin (70% COGS for gov't dev)</a:t>
            </a:r>
          </a:p>
        </p:txBody>
      </p:sp>
      <p:sp>
        <p:nvSpPr>
          <p:cNvPr id="10" name="TextBox 9"/>
          <p:cNvSpPr txBox="1"/>
          <p:nvPr/>
        </p:nvSpPr>
        <p:spPr>
          <a:xfrm>
            <a:off x="731520" y="6217920"/>
            <a:ext cx="10058400" cy="274320"/>
          </a:xfrm>
          <a:prstGeom prst="rect">
            <a:avLst/>
          </a:prstGeom>
          <a:noFill/>
        </p:spPr>
        <p:txBody>
          <a:bodyPr wrap="square">
            <a:spAutoFit/>
          </a:bodyPr>
          <a:lstStyle/>
          <a:p>
            <a:pPr algn="l">
              <a:spcAft>
                <a:spcPts val="400"/>
              </a:spcAft>
            </a:pPr>
            <a:r>
              <a:rPr sz="900" b="0" i="1">
                <a:solidFill>
                  <a:srgbClr val="999999"/>
                </a:solidFill>
                <a:latin typeface="Calibri"/>
              </a:rPr>
              <a:t>Forward-looking projections from March 2026. Actuals through February 2026. See disclaimers on final slide.</a:t>
            </a:r>
          </a:p>
        </p:txBody>
      </p:sp>
      <p:sp>
        <p:nvSpPr>
          <p:cNvPr id="11" name="Rectangle 10"/>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2800" b="1">
                <a:solidFill>
                  <a:srgbClr val="FFFFFF"/>
                </a:solidFill>
                <a:latin typeface="Calibri"/>
              </a:rPr>
              <a:t>USE OF FUNDS &amp; FINANCIAL PERFORMANCE</a:t>
            </a:r>
          </a:p>
        </p:txBody>
      </p:sp>
      <p:sp>
        <p:nvSpPr>
          <p:cNvPr id="5" name="Rectangle 4"/>
          <p:cNvSpPr/>
          <p:nvPr/>
        </p:nvSpPr>
        <p:spPr>
          <a:xfrm>
            <a:off x="731520" y="109728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280160"/>
            <a:ext cx="10058400" cy="365760"/>
          </a:xfrm>
          <a:prstGeom prst="rect">
            <a:avLst/>
          </a:prstGeom>
          <a:noFill/>
        </p:spPr>
        <p:txBody>
          <a:bodyPr wrap="square">
            <a:spAutoFit/>
          </a:bodyPr>
          <a:lstStyle/>
          <a:p>
            <a:pPr algn="l">
              <a:spcAft>
                <a:spcPts val="400"/>
              </a:spcAft>
            </a:pPr>
            <a:r>
              <a:rPr sz="1800" b="1">
                <a:solidFill>
                  <a:srgbClr val="FFB800"/>
                </a:solidFill>
              </a:rPr>
              <a:t>$10M Tranche 1 — 100% deployed, zero idle capital (Tranche 1 of a $40–50M, 5-year raise)</a:t>
            </a:r>
          </a:p>
        </p:txBody>
      </p:sp>
      <p:graphicFrame>
        <p:nvGraphicFramePr>
          <p:cNvPr id="7" name="Table 6"/>
          <p:cNvGraphicFramePr>
            <a:graphicFrameLocks noGrp="1"/>
          </p:cNvGraphicFramePr>
          <p:nvPr/>
        </p:nvGraphicFramePr>
        <p:xfrm>
          <a:off x="731520" y="1828800"/>
          <a:ext cx="10515600" cy="1828800"/>
        </p:xfrm>
        <a:graphic>
          <a:graphicData uri="http://schemas.openxmlformats.org/drawingml/2006/table">
            <a:tbl>
              <a:tblPr firstRow="1" bandRow="1">
                <a:tableStyleId>{5C22544A-7EE6-4342-B048-85BDC9FD1C3A}</a:tableStyleId>
              </a:tblPr>
              <a:tblGrid>
                <a:gridCol w="32004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5943600">
                  <a:extLst>
                    <a:ext uri="{9D8B030D-6E8A-4147-A177-3AD203B41FA5}">
                      <a16:colId xmlns:a16="http://schemas.microsoft.com/office/drawing/2014/main" val="20002"/>
                    </a:ext>
                  </a:extLst>
                </a:gridCol>
              </a:tblGrid>
              <a:tr h="365760">
                <a:tc>
                  <a:txBody>
                    <a:bodyPr/>
                    <a:lstStyle/>
                    <a:p>
                      <a:r>
                        <a:rPr sz="1100" b="1">
                          <a:solidFill>
                            <a:srgbClr val="009ED9"/>
                          </a:solidFill>
                          <a:latin typeface="Calibri"/>
                        </a:rPr>
                        <a:t>Allocation</a:t>
                      </a:r>
                    </a:p>
                  </a:txBody>
                  <a:tcPr>
                    <a:solidFill>
                      <a:srgbClr val="0A142A"/>
                    </a:solidFill>
                  </a:tcPr>
                </a:tc>
                <a:tc>
                  <a:txBody>
                    <a:bodyPr/>
                    <a:lstStyle/>
                    <a:p>
                      <a:r>
                        <a:rPr sz="1100" b="1">
                          <a:solidFill>
                            <a:srgbClr val="009ED9"/>
                          </a:solidFill>
                          <a:latin typeface="Calibri"/>
                        </a:rPr>
                        <a:t>Amount</a:t>
                      </a:r>
                    </a:p>
                  </a:txBody>
                  <a:tcPr>
                    <a:solidFill>
                      <a:srgbClr val="0A142A"/>
                    </a:solidFill>
                  </a:tcPr>
                </a:tc>
                <a:tc>
                  <a:txBody>
                    <a:bodyPr/>
                    <a:lstStyle/>
                    <a:p>
                      <a:r>
                        <a:rPr sz="1100" b="1">
                          <a:solidFill>
                            <a:srgbClr val="009ED9"/>
                          </a:solidFill>
                          <a:latin typeface="Calibri"/>
                        </a:rPr>
                        <a:t>Purpose</a:t>
                      </a:r>
                    </a:p>
                  </a:txBody>
                  <a:tcPr>
                    <a:solidFill>
                      <a:srgbClr val="0A142A"/>
                    </a:solidFill>
                  </a:tcPr>
                </a:tc>
                <a:extLst>
                  <a:ext uri="{0D108BD9-81ED-4DB2-BD59-A6C34878D82A}">
                    <a16:rowId xmlns:a16="http://schemas.microsoft.com/office/drawing/2014/main" val="10000"/>
                  </a:ext>
                </a:extLst>
              </a:tr>
              <a:tr h="365760">
                <a:tc>
                  <a:txBody>
                    <a:bodyPr/>
                    <a:lstStyle/>
                    <a:p>
                      <a:r>
                        <a:rPr sz="1100">
                          <a:solidFill>
                            <a:srgbClr val="FFFFFF"/>
                          </a:solidFill>
                          <a:latin typeface="Calibri"/>
                        </a:rPr>
                        <a:t>Scorpius Acquisition</a:t>
                      </a:r>
                    </a:p>
                  </a:txBody>
                  <a:tcPr>
                    <a:solidFill>
                      <a:srgbClr val="0D1220"/>
                    </a:solidFill>
                  </a:tcPr>
                </a:tc>
                <a:tc>
                  <a:txBody>
                    <a:bodyPr/>
                    <a:lstStyle/>
                    <a:p>
                      <a:r>
                        <a:rPr sz="1200">
                          <a:solidFill>
                            <a:srgbClr val="CCCCCC"/>
                          </a:solidFill>
                        </a:rPr>
                        <a:t>$3.4M</a:t>
                      </a:r>
                    </a:p>
                  </a:txBody>
                  <a:tcPr>
                    <a:solidFill>
                      <a:srgbClr val="0D1220"/>
                    </a:solidFill>
                  </a:tcPr>
                </a:tc>
                <a:tc>
                  <a:txBody>
                    <a:bodyPr/>
                    <a:lstStyle/>
                    <a:p>
                      <a:r>
                        <a:rPr sz="1200">
                          <a:solidFill>
                            <a:srgbClr val="CCCCCC"/>
                          </a:solidFill>
                        </a:rPr>
                        <a:t>6–12x value on $20–40M IP. ROFR at $3.4M.</a:t>
                      </a:r>
                    </a:p>
                  </a:txBody>
                  <a:tcPr>
                    <a:solidFill>
                      <a:srgbClr val="0D1220"/>
                    </a:solidFill>
                  </a:tcPr>
                </a:tc>
                <a:extLst>
                  <a:ext uri="{0D108BD9-81ED-4DB2-BD59-A6C34878D82A}">
                    <a16:rowId xmlns:a16="http://schemas.microsoft.com/office/drawing/2014/main" val="10001"/>
                  </a:ext>
                </a:extLst>
              </a:tr>
              <a:tr h="365760">
                <a:tc>
                  <a:txBody>
                    <a:bodyPr/>
                    <a:lstStyle/>
                    <a:p>
                      <a:r>
                        <a:rPr sz="1100">
                          <a:solidFill>
                            <a:srgbClr val="FFFFFF"/>
                          </a:solidFill>
                          <a:latin typeface="Calibri"/>
                        </a:rPr>
                        <a:t>RDRE Development (TACFI match)</a:t>
                      </a:r>
                    </a:p>
                  </a:txBody>
                  <a:tcPr>
                    <a:solidFill>
                      <a:srgbClr val="101626"/>
                    </a:solidFill>
                  </a:tcPr>
                </a:tc>
                <a:tc>
                  <a:txBody>
                    <a:bodyPr/>
                    <a:lstStyle/>
                    <a:p>
                      <a:r>
                        <a:rPr sz="1100">
                          <a:solidFill>
                            <a:srgbClr val="FFFFFF"/>
                          </a:solidFill>
                          <a:latin typeface="Calibri"/>
                        </a:rPr>
                        <a:t>$2M</a:t>
                      </a:r>
                    </a:p>
                  </a:txBody>
                  <a:tcPr>
                    <a:solidFill>
                      <a:srgbClr val="101626"/>
                    </a:solidFill>
                  </a:tcPr>
                </a:tc>
                <a:tc>
                  <a:txBody>
                    <a:bodyPr/>
                    <a:lstStyle/>
                    <a:p>
                      <a:r>
                        <a:rPr sz="1100">
                          <a:solidFill>
                            <a:srgbClr val="FFFFFF"/>
                          </a:solidFill>
                          <a:latin typeface="Calibri"/>
                        </a:rPr>
                        <a:t>Match for $4M TACFI. Unlocks $30M STRATFI.</a:t>
                      </a:r>
                    </a:p>
                  </a:txBody>
                  <a:tcPr>
                    <a:solidFill>
                      <a:srgbClr val="101626"/>
                    </a:solidFill>
                  </a:tcPr>
                </a:tc>
                <a:extLst>
                  <a:ext uri="{0D108BD9-81ED-4DB2-BD59-A6C34878D82A}">
                    <a16:rowId xmlns:a16="http://schemas.microsoft.com/office/drawing/2014/main" val="10002"/>
                  </a:ext>
                </a:extLst>
              </a:tr>
              <a:tr h="365760">
                <a:tc>
                  <a:txBody>
                    <a:bodyPr/>
                    <a:lstStyle/>
                    <a:p>
                      <a:r>
                        <a:rPr sz="1100">
                          <a:solidFill>
                            <a:srgbClr val="FFFFFF"/>
                          </a:solidFill>
                          <a:latin typeface="Calibri"/>
                        </a:rPr>
                        <a:t>BLK3 Vehicle Build</a:t>
                      </a:r>
                    </a:p>
                  </a:txBody>
                  <a:tcPr>
                    <a:solidFill>
                      <a:srgbClr val="0D1220"/>
                    </a:solidFill>
                  </a:tcPr>
                </a:tc>
                <a:tc>
                  <a:txBody>
                    <a:bodyPr/>
                    <a:lstStyle/>
                    <a:p>
                      <a:r>
                        <a:rPr sz="1100">
                          <a:solidFill>
                            <a:srgbClr val="FFFFFF"/>
                          </a:solidFill>
                          <a:latin typeface="Calibri"/>
                        </a:rPr>
                        <a:t>$2.5M</a:t>
                      </a:r>
                    </a:p>
                  </a:txBody>
                  <a:tcPr>
                    <a:solidFill>
                      <a:srgbClr val="0D1220"/>
                    </a:solidFill>
                  </a:tcPr>
                </a:tc>
                <a:tc>
                  <a:txBody>
                    <a:bodyPr/>
                    <a:lstStyle/>
                    <a:p>
                      <a:r>
                        <a:rPr sz="1100">
                          <a:solidFill>
                            <a:srgbClr val="FFFFFF"/>
                          </a:solidFill>
                          <a:latin typeface="Calibri"/>
                        </a:rPr>
                        <a:t>2nd vehicle. Dual-site ops. Doubles capacity.</a:t>
                      </a:r>
                    </a:p>
                  </a:txBody>
                  <a:tcPr>
                    <a:solidFill>
                      <a:srgbClr val="0D1220"/>
                    </a:solidFill>
                  </a:tcPr>
                </a:tc>
                <a:extLst>
                  <a:ext uri="{0D108BD9-81ED-4DB2-BD59-A6C34878D82A}">
                    <a16:rowId xmlns:a16="http://schemas.microsoft.com/office/drawing/2014/main" val="10003"/>
                  </a:ext>
                </a:extLst>
              </a:tr>
              <a:tr h="365760">
                <a:tc>
                  <a:txBody>
                    <a:bodyPr/>
                    <a:lstStyle/>
                    <a:p>
                      <a:r>
                        <a:rPr sz="1100">
                          <a:solidFill>
                            <a:srgbClr val="FFFFFF"/>
                          </a:solidFill>
                          <a:latin typeface="Calibri"/>
                        </a:rPr>
                        <a:t>Listing + Working Capital</a:t>
                      </a:r>
                    </a:p>
                  </a:txBody>
                  <a:tcPr>
                    <a:solidFill>
                      <a:srgbClr val="101626"/>
                    </a:solidFill>
                  </a:tcPr>
                </a:tc>
                <a:tc>
                  <a:txBody>
                    <a:bodyPr/>
                    <a:lstStyle/>
                    <a:p>
                      <a:r>
                        <a:rPr sz="1200">
                          <a:solidFill>
                            <a:srgbClr val="CCCCCC"/>
                          </a:solidFill>
                        </a:rPr>
                        <a:t>$2.1M</a:t>
                      </a:r>
                    </a:p>
                  </a:txBody>
                  <a:tcPr>
                    <a:solidFill>
                      <a:srgbClr val="101626"/>
                    </a:solidFill>
                  </a:tcPr>
                </a:tc>
                <a:tc>
                  <a:txBody>
                    <a:bodyPr/>
                    <a:lstStyle/>
                    <a:p>
                      <a:r>
                        <a:rPr sz="1100">
                          <a:solidFill>
                            <a:srgbClr val="FFFFFF"/>
                          </a:solidFill>
                          <a:latin typeface="Calibri"/>
                        </a:rPr>
                        <a:t>Public listing costs + operational buffer.</a:t>
                      </a:r>
                    </a:p>
                  </a:txBody>
                  <a:tcPr>
                    <a:solidFill>
                      <a:srgbClr val="101626"/>
                    </a:solidFill>
                  </a:tcPr>
                </a:tc>
                <a:extLst>
                  <a:ext uri="{0D108BD9-81ED-4DB2-BD59-A6C34878D82A}">
                    <a16:rowId xmlns:a16="http://schemas.microsoft.com/office/drawing/2014/main" val="10004"/>
                  </a:ext>
                </a:extLst>
              </a:tr>
            </a:tbl>
          </a:graphicData>
        </a:graphic>
      </p:graphicFrame>
      <p:sp>
        <p:nvSpPr>
          <p:cNvPr id="8" name="Rounded Rectangle 7"/>
          <p:cNvSpPr/>
          <p:nvPr/>
        </p:nvSpPr>
        <p:spPr>
          <a:xfrm>
            <a:off x="731520" y="3840480"/>
            <a:ext cx="10515600" cy="73152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00C87A"/>
                </a:solidFill>
                <a:latin typeface="Calibri"/>
              </a:rPr>
              <a:t>CAPITAL AMPLIFICATION</a:t>
            </a:r>
          </a:p>
          <a:p>
            <a:pPr>
              <a:spcBef>
                <a:spcPts val="600"/>
              </a:spcBef>
            </a:pPr>
            <a:r>
              <a:rPr sz="1100">
                <a:solidFill>
                  <a:srgbClr val="CCCCCC"/>
                </a:solidFill>
                <a:latin typeface="Calibri"/>
              </a:rPr>
              <a:t>$10M private capital unlocks $34M in government co-investment (TACFI + STRATFI) — a 3.4x multiplier on investor capital.</a:t>
            </a:r>
          </a:p>
        </p:txBody>
      </p:sp>
      <p:graphicFrame>
        <p:nvGraphicFramePr>
          <p:cNvPr id="9" name="Table 8"/>
          <p:cNvGraphicFramePr>
            <a:graphicFrameLocks noGrp="1"/>
          </p:cNvGraphicFramePr>
          <p:nvPr/>
        </p:nvGraphicFramePr>
        <p:xfrm>
          <a:off x="731520" y="4571000"/>
          <a:ext cx="10515600" cy="219456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gridCol w="1737360">
                  <a:extLst>
                    <a:ext uri="{9D8B030D-6E8A-4147-A177-3AD203B41FA5}">
                      <a16:colId xmlns:a16="http://schemas.microsoft.com/office/drawing/2014/main" val="20004"/>
                    </a:ext>
                  </a:extLst>
                </a:gridCol>
                <a:gridCol w="1737360">
                  <a:extLst>
                    <a:ext uri="{9D8B030D-6E8A-4147-A177-3AD203B41FA5}">
                      <a16:colId xmlns:a16="http://schemas.microsoft.com/office/drawing/2014/main" val="20005"/>
                    </a:ext>
                  </a:extLst>
                </a:gridCol>
              </a:tblGrid>
              <a:tr h="365760">
                <a:tc>
                  <a:txBody>
                    <a:bodyPr/>
                    <a:lstStyle/>
                    <a:p>
                      <a:r>
                        <a:rPr sz="1100" b="1">
                          <a:solidFill>
                            <a:srgbClr val="009ED9"/>
                          </a:solidFill>
                          <a:latin typeface="Calibri"/>
                        </a:rPr>
                        <a:t>Metric</a:t>
                      </a:r>
                    </a:p>
                  </a:txBody>
                  <a:tcPr>
                    <a:solidFill>
                      <a:srgbClr val="0A142A"/>
                    </a:solidFill>
                  </a:tcPr>
                </a:tc>
                <a:tc>
                  <a:txBody>
                    <a:bodyPr/>
                    <a:lstStyle/>
                    <a:p>
                      <a:r>
                        <a:rPr sz="1100" b="1">
                          <a:solidFill>
                            <a:srgbClr val="009ED9"/>
                          </a:solidFill>
                          <a:latin typeface="Calibri"/>
                        </a:rPr>
                        <a:t>CY2026</a:t>
                      </a:r>
                    </a:p>
                  </a:txBody>
                  <a:tcPr>
                    <a:solidFill>
                      <a:srgbClr val="0A142A"/>
                    </a:solidFill>
                  </a:tcPr>
                </a:tc>
                <a:tc>
                  <a:txBody>
                    <a:bodyPr/>
                    <a:lstStyle/>
                    <a:p>
                      <a:r>
                        <a:rPr sz="1100" b="1">
                          <a:solidFill>
                            <a:srgbClr val="009ED9"/>
                          </a:solidFill>
                          <a:latin typeface="Calibri"/>
                        </a:rPr>
                        <a:t>CY2027</a:t>
                      </a:r>
                    </a:p>
                  </a:txBody>
                  <a:tcPr>
                    <a:solidFill>
                      <a:srgbClr val="0A142A"/>
                    </a:solidFill>
                  </a:tcPr>
                </a:tc>
                <a:tc>
                  <a:txBody>
                    <a:bodyPr/>
                    <a:lstStyle/>
                    <a:p>
                      <a:r>
                        <a:rPr sz="1100" b="1">
                          <a:solidFill>
                            <a:srgbClr val="009ED9"/>
                          </a:solidFill>
                          <a:latin typeface="Calibri"/>
                        </a:rPr>
                        <a:t>CY2028</a:t>
                      </a:r>
                    </a:p>
                  </a:txBody>
                  <a:tcPr>
                    <a:solidFill>
                      <a:srgbClr val="0A142A"/>
                    </a:solidFill>
                  </a:tcPr>
                </a:tc>
                <a:tc>
                  <a:txBody>
                    <a:bodyPr/>
                    <a:lstStyle/>
                    <a:p>
                      <a:r>
                        <a:rPr sz="1100" b="1">
                          <a:solidFill>
                            <a:srgbClr val="009ED9"/>
                          </a:solidFill>
                          <a:latin typeface="Calibri"/>
                        </a:rPr>
                        <a:t>CY2029</a:t>
                      </a:r>
                    </a:p>
                  </a:txBody>
                  <a:tcPr>
                    <a:solidFill>
                      <a:srgbClr val="0A142A"/>
                    </a:solidFill>
                  </a:tcPr>
                </a:tc>
                <a:tc>
                  <a:txBody>
                    <a:bodyPr/>
                    <a:lstStyle/>
                    <a:p>
                      <a:r>
                        <a:rPr sz="1100" b="1">
                          <a:solidFill>
                            <a:srgbClr val="009ED9"/>
                          </a:solidFill>
                          <a:latin typeface="Calibri"/>
                        </a:rPr>
                        <a:t>CY2030</a:t>
                      </a:r>
                    </a:p>
                  </a:txBody>
                  <a:tcPr>
                    <a:solidFill>
                      <a:srgbClr val="0A142A"/>
                    </a:solidFill>
                  </a:tcPr>
                </a:tc>
                <a:extLst>
                  <a:ext uri="{0D108BD9-81ED-4DB2-BD59-A6C34878D82A}">
                    <a16:rowId xmlns:a16="http://schemas.microsoft.com/office/drawing/2014/main" val="10000"/>
                  </a:ext>
                </a:extLst>
              </a:tr>
              <a:tr h="365760">
                <a:tc>
                  <a:txBody>
                    <a:bodyPr/>
                    <a:lstStyle/>
                    <a:p>
                      <a:r>
                        <a:rPr sz="1100">
                          <a:solidFill>
                            <a:srgbClr val="FFFFFF"/>
                          </a:solidFill>
                          <a:latin typeface="Calibri"/>
                        </a:rPr>
                        <a:t>Revenue</a:t>
                      </a:r>
                    </a:p>
                  </a:txBody>
                  <a:tcPr>
                    <a:solidFill>
                      <a:srgbClr val="0D1220"/>
                    </a:solidFill>
                  </a:tcPr>
                </a:tc>
                <a:tc>
                  <a:txBody>
                    <a:bodyPr/>
                    <a:lstStyle/>
                    <a:p>
                      <a:r>
                        <a:rPr sz="1100">
                          <a:solidFill>
                            <a:srgbClr val="FFFFFF"/>
                          </a:solidFill>
                          <a:latin typeface="Calibri"/>
                        </a:rPr>
                        <a:t>$4.4M</a:t>
                      </a:r>
                    </a:p>
                  </a:txBody>
                  <a:tcPr>
                    <a:solidFill>
                      <a:srgbClr val="0D1220"/>
                    </a:solidFill>
                  </a:tcPr>
                </a:tc>
                <a:tc>
                  <a:txBody>
                    <a:bodyPr/>
                    <a:lstStyle/>
                    <a:p>
                      <a:r>
                        <a:rPr sz="1100">
                          <a:solidFill>
                            <a:srgbClr val="FFFFFF"/>
                          </a:solidFill>
                          <a:latin typeface="Calibri"/>
                        </a:rPr>
                        <a:t>$6.2M</a:t>
                      </a:r>
                    </a:p>
                  </a:txBody>
                  <a:tcPr>
                    <a:solidFill>
                      <a:srgbClr val="0D1220"/>
                    </a:solidFill>
                  </a:tcPr>
                </a:tc>
                <a:tc>
                  <a:txBody>
                    <a:bodyPr/>
                    <a:lstStyle/>
                    <a:p>
                      <a:r>
                        <a:rPr sz="1100">
                          <a:solidFill>
                            <a:srgbClr val="FFFFFF"/>
                          </a:solidFill>
                          <a:latin typeface="Calibri"/>
                        </a:rPr>
                        <a:t>$25M</a:t>
                      </a:r>
                    </a:p>
                  </a:txBody>
                  <a:tcPr>
                    <a:solidFill>
                      <a:srgbClr val="0D1220"/>
                    </a:solidFill>
                  </a:tcPr>
                </a:tc>
                <a:tc>
                  <a:txBody>
                    <a:bodyPr/>
                    <a:lstStyle/>
                    <a:p>
                      <a:r>
                        <a:rPr sz="1100">
                          <a:solidFill>
                            <a:srgbClr val="FFFFFF"/>
                          </a:solidFill>
                          <a:latin typeface="Calibri"/>
                        </a:rPr>
                        <a:t>$55M</a:t>
                      </a:r>
                    </a:p>
                  </a:txBody>
                  <a:tcPr>
                    <a:solidFill>
                      <a:srgbClr val="0D1220"/>
                    </a:solidFill>
                  </a:tcPr>
                </a:tc>
                <a:tc>
                  <a:txBody>
                    <a:bodyPr/>
                    <a:lstStyle/>
                    <a:p>
                      <a:r>
                        <a:rPr sz="1100">
                          <a:solidFill>
                            <a:srgbClr val="FFFFFF"/>
                          </a:solidFill>
                          <a:latin typeface="Calibri"/>
                        </a:rPr>
                        <a:t>$120M</a:t>
                      </a:r>
                    </a:p>
                  </a:txBody>
                  <a:tcPr>
                    <a:solidFill>
                      <a:srgbClr val="0D1220"/>
                    </a:solidFill>
                  </a:tcPr>
                </a:tc>
                <a:extLst>
                  <a:ext uri="{0D108BD9-81ED-4DB2-BD59-A6C34878D82A}">
                    <a16:rowId xmlns:a16="http://schemas.microsoft.com/office/drawing/2014/main" val="10001"/>
                  </a:ext>
                </a:extLst>
              </a:tr>
              <a:tr h="365760">
                <a:tc>
                  <a:txBody>
                    <a:bodyPr/>
                    <a:lstStyle/>
                    <a:p>
                      <a:r>
                        <a:rPr sz="1100">
                          <a:solidFill>
                            <a:srgbClr val="FFFFFF"/>
                          </a:solidFill>
                          <a:latin typeface="Calibri"/>
                        </a:rPr>
                        <a:t>Gross Margin</a:t>
                      </a:r>
                    </a:p>
                  </a:txBody>
                  <a:tcPr>
                    <a:solidFill>
                      <a:srgbClr val="101626"/>
                    </a:solidFill>
                  </a:tcPr>
                </a:tc>
                <a:tc>
                  <a:txBody>
                    <a:bodyPr/>
                    <a:lstStyle/>
                    <a:p>
                      <a:r>
                        <a:rPr sz="1100">
                          <a:solidFill>
                            <a:srgbClr val="FFFFFF"/>
                          </a:solidFill>
                          <a:latin typeface="Calibri"/>
                        </a:rPr>
                        <a:t>42%</a:t>
                      </a:r>
                    </a:p>
                  </a:txBody>
                  <a:tcPr>
                    <a:solidFill>
                      <a:srgbClr val="101626"/>
                    </a:solidFill>
                  </a:tcPr>
                </a:tc>
                <a:tc>
                  <a:txBody>
                    <a:bodyPr/>
                    <a:lstStyle/>
                    <a:p>
                      <a:r>
                        <a:rPr sz="1100">
                          <a:solidFill>
                            <a:srgbClr val="FFFFFF"/>
                          </a:solidFill>
                          <a:latin typeface="Calibri"/>
                        </a:rPr>
                        <a:t>40%</a:t>
                      </a:r>
                    </a:p>
                  </a:txBody>
                  <a:tcPr>
                    <a:solidFill>
                      <a:srgbClr val="101626"/>
                    </a:solidFill>
                  </a:tcPr>
                </a:tc>
                <a:tc>
                  <a:txBody>
                    <a:bodyPr/>
                    <a:lstStyle/>
                    <a:p>
                      <a:r>
                        <a:rPr sz="1100">
                          <a:solidFill>
                            <a:srgbClr val="FFFFFF"/>
                          </a:solidFill>
                          <a:latin typeface="Calibri"/>
                        </a:rPr>
                        <a:t>50%</a:t>
                      </a:r>
                    </a:p>
                  </a:txBody>
                  <a:tcPr>
                    <a:solidFill>
                      <a:srgbClr val="101626"/>
                    </a:solidFill>
                  </a:tcPr>
                </a:tc>
                <a:tc>
                  <a:txBody>
                    <a:bodyPr/>
                    <a:lstStyle/>
                    <a:p>
                      <a:r>
                        <a:rPr sz="1100">
                          <a:solidFill>
                            <a:srgbClr val="FFFFFF"/>
                          </a:solidFill>
                          <a:latin typeface="Calibri"/>
                        </a:rPr>
                        <a:t>55%</a:t>
                      </a:r>
                    </a:p>
                  </a:txBody>
                  <a:tcPr>
                    <a:solidFill>
                      <a:srgbClr val="101626"/>
                    </a:solidFill>
                  </a:tcPr>
                </a:tc>
                <a:tc>
                  <a:txBody>
                    <a:bodyPr/>
                    <a:lstStyle/>
                    <a:p>
                      <a:r>
                        <a:rPr sz="1100">
                          <a:solidFill>
                            <a:srgbClr val="FFFFFF"/>
                          </a:solidFill>
                          <a:latin typeface="Calibri"/>
                        </a:rPr>
                        <a:t>57%</a:t>
                      </a:r>
                    </a:p>
                  </a:txBody>
                  <a:tcPr>
                    <a:solidFill>
                      <a:srgbClr val="101626"/>
                    </a:solidFill>
                  </a:tcPr>
                </a:tc>
                <a:extLst>
                  <a:ext uri="{0D108BD9-81ED-4DB2-BD59-A6C34878D82A}">
                    <a16:rowId xmlns:a16="http://schemas.microsoft.com/office/drawing/2014/main" val="10002"/>
                  </a:ext>
                </a:extLst>
              </a:tr>
              <a:tr h="365760">
                <a:tc>
                  <a:txBody>
                    <a:bodyPr/>
                    <a:lstStyle/>
                    <a:p>
                      <a:r>
                        <a:rPr sz="1100">
                          <a:solidFill>
                            <a:srgbClr val="FFFFFF"/>
                          </a:solidFill>
                          <a:latin typeface="Calibri"/>
                        </a:rPr>
                        <a:t>EBITDA</a:t>
                      </a:r>
                    </a:p>
                  </a:txBody>
                  <a:tcPr>
                    <a:solidFill>
                      <a:srgbClr val="0D1220"/>
                    </a:solidFill>
                  </a:tcPr>
                </a:tc>
                <a:tc>
                  <a:txBody>
                    <a:bodyPr/>
                    <a:lstStyle/>
                    <a:p>
                      <a:r>
                        <a:rPr sz="1100">
                          <a:solidFill>
                            <a:srgbClr val="FFFFFF"/>
                          </a:solidFill>
                          <a:latin typeface="Calibri"/>
                        </a:rPr>
                        <a:t>$0.3M</a:t>
                      </a:r>
                    </a:p>
                  </a:txBody>
                  <a:tcPr>
                    <a:solidFill>
                      <a:srgbClr val="0D1220"/>
                    </a:solidFill>
                  </a:tcPr>
                </a:tc>
                <a:tc>
                  <a:txBody>
                    <a:bodyPr/>
                    <a:lstStyle/>
                    <a:p>
                      <a:r>
                        <a:rPr sz="1100">
                          <a:solidFill>
                            <a:srgbClr val="FFFFFF"/>
                          </a:solidFill>
                          <a:latin typeface="Calibri"/>
                        </a:rPr>
                        <a:t>$0.4M</a:t>
                      </a:r>
                    </a:p>
                  </a:txBody>
                  <a:tcPr>
                    <a:solidFill>
                      <a:srgbClr val="0D1220"/>
                    </a:solidFill>
                  </a:tcPr>
                </a:tc>
                <a:tc>
                  <a:txBody>
                    <a:bodyPr/>
                    <a:lstStyle/>
                    <a:p>
                      <a:r>
                        <a:rPr sz="1100">
                          <a:solidFill>
                            <a:srgbClr val="FFFFFF"/>
                          </a:solidFill>
                          <a:latin typeface="Calibri"/>
                        </a:rPr>
                        <a:t>$4M</a:t>
                      </a:r>
                    </a:p>
                  </a:txBody>
                  <a:tcPr>
                    <a:solidFill>
                      <a:srgbClr val="0D1220"/>
                    </a:solidFill>
                  </a:tcPr>
                </a:tc>
                <a:tc>
                  <a:txBody>
                    <a:bodyPr/>
                    <a:lstStyle/>
                    <a:p>
                      <a:r>
                        <a:rPr sz="1100">
                          <a:solidFill>
                            <a:srgbClr val="FFFFFF"/>
                          </a:solidFill>
                          <a:latin typeface="Calibri"/>
                        </a:rPr>
                        <a:t>$14M</a:t>
                      </a:r>
                    </a:p>
                  </a:txBody>
                  <a:tcPr>
                    <a:solidFill>
                      <a:srgbClr val="0D1220"/>
                    </a:solidFill>
                  </a:tcPr>
                </a:tc>
                <a:tc>
                  <a:txBody>
                    <a:bodyPr/>
                    <a:lstStyle/>
                    <a:p>
                      <a:r>
                        <a:rPr sz="1100">
                          <a:solidFill>
                            <a:srgbClr val="FFFFFF"/>
                          </a:solidFill>
                          <a:latin typeface="Calibri"/>
                        </a:rPr>
                        <a:t>$38M</a:t>
                      </a:r>
                    </a:p>
                  </a:txBody>
                  <a:tcPr>
                    <a:solidFill>
                      <a:srgbClr val="0D1220"/>
                    </a:solidFill>
                  </a:tcPr>
                </a:tc>
                <a:extLst>
                  <a:ext uri="{0D108BD9-81ED-4DB2-BD59-A6C34878D82A}">
                    <a16:rowId xmlns:a16="http://schemas.microsoft.com/office/drawing/2014/main" val="10003"/>
                  </a:ext>
                </a:extLst>
              </a:tr>
              <a:tr h="365760">
                <a:tc>
                  <a:txBody>
                    <a:bodyPr/>
                    <a:lstStyle/>
                    <a:p>
                      <a:r>
                        <a:rPr sz="1100">
                          <a:solidFill>
                            <a:srgbClr val="FFFFFF"/>
                          </a:solidFill>
                          <a:latin typeface="Calibri"/>
                        </a:rPr>
                        <a:t>EBITDA Margin</a:t>
                      </a:r>
                    </a:p>
                  </a:txBody>
                  <a:tcPr>
                    <a:solidFill>
                      <a:srgbClr val="101626"/>
                    </a:solidFill>
                  </a:tcPr>
                </a:tc>
                <a:tc>
                  <a:txBody>
                    <a:bodyPr/>
                    <a:lstStyle/>
                    <a:p>
                      <a:r>
                        <a:rPr sz="1100">
                          <a:solidFill>
                            <a:srgbClr val="FFFFFF"/>
                          </a:solidFill>
                          <a:latin typeface="Calibri"/>
                        </a:rPr>
                        <a:t>7%</a:t>
                      </a:r>
                    </a:p>
                  </a:txBody>
                  <a:tcPr>
                    <a:solidFill>
                      <a:srgbClr val="101626"/>
                    </a:solidFill>
                  </a:tcPr>
                </a:tc>
                <a:tc>
                  <a:txBody>
                    <a:bodyPr/>
                    <a:lstStyle/>
                    <a:p>
                      <a:r>
                        <a:rPr sz="1100">
                          <a:solidFill>
                            <a:srgbClr val="FFFFFF"/>
                          </a:solidFill>
                          <a:latin typeface="Calibri"/>
                        </a:rPr>
                        <a:t>6%</a:t>
                      </a:r>
                    </a:p>
                  </a:txBody>
                  <a:tcPr>
                    <a:solidFill>
                      <a:srgbClr val="101626"/>
                    </a:solidFill>
                  </a:tcPr>
                </a:tc>
                <a:tc>
                  <a:txBody>
                    <a:bodyPr/>
                    <a:lstStyle/>
                    <a:p>
                      <a:r>
                        <a:rPr sz="1100">
                          <a:solidFill>
                            <a:srgbClr val="FFFFFF"/>
                          </a:solidFill>
                          <a:latin typeface="Calibri"/>
                        </a:rPr>
                        <a:t>16%</a:t>
                      </a:r>
                    </a:p>
                  </a:txBody>
                  <a:tcPr>
                    <a:solidFill>
                      <a:srgbClr val="101626"/>
                    </a:solidFill>
                  </a:tcPr>
                </a:tc>
                <a:tc>
                  <a:txBody>
                    <a:bodyPr/>
                    <a:lstStyle/>
                    <a:p>
                      <a:r>
                        <a:rPr sz="1100">
                          <a:solidFill>
                            <a:srgbClr val="FFFFFF"/>
                          </a:solidFill>
                          <a:latin typeface="Calibri"/>
                        </a:rPr>
                        <a:t>25%</a:t>
                      </a:r>
                    </a:p>
                  </a:txBody>
                  <a:tcPr>
                    <a:solidFill>
                      <a:srgbClr val="101626"/>
                    </a:solidFill>
                  </a:tcPr>
                </a:tc>
                <a:tc>
                  <a:txBody>
                    <a:bodyPr/>
                    <a:lstStyle/>
                    <a:p>
                      <a:r>
                        <a:rPr sz="1100">
                          <a:solidFill>
                            <a:srgbClr val="FFFFFF"/>
                          </a:solidFill>
                          <a:latin typeface="Calibri"/>
                        </a:rPr>
                        <a:t>32%</a:t>
                      </a:r>
                    </a:p>
                  </a:txBody>
                  <a:tcPr>
                    <a:solidFill>
                      <a:srgbClr val="101626"/>
                    </a:solidFill>
                  </a:tcPr>
                </a:tc>
                <a:extLst>
                  <a:ext uri="{0D108BD9-81ED-4DB2-BD59-A6C34878D82A}">
                    <a16:rowId xmlns:a16="http://schemas.microsoft.com/office/drawing/2014/main" val="10004"/>
                  </a:ext>
                </a:extLst>
              </a:tr>
              <a:tr h="365760">
                <a:tc>
                  <a:txBody>
                    <a:bodyPr/>
                    <a:lstStyle/>
                    <a:p>
                      <a:r>
                        <a:rPr sz="1100">
                          <a:solidFill>
                            <a:srgbClr val="FFFFFF"/>
                          </a:solidFill>
                          <a:latin typeface="Calibri"/>
                        </a:rPr>
                        <a:t>Net Income</a:t>
                      </a:r>
                    </a:p>
                  </a:txBody>
                  <a:tcPr>
                    <a:solidFill>
                      <a:srgbClr val="0D1220"/>
                    </a:solidFill>
                  </a:tcPr>
                </a:tc>
                <a:tc>
                  <a:txBody>
                    <a:bodyPr/>
                    <a:lstStyle/>
                    <a:p>
                      <a:r>
                        <a:rPr sz="1100">
                          <a:solidFill>
                            <a:srgbClr val="FFFFFF"/>
                          </a:solidFill>
                          <a:latin typeface="Calibri"/>
                        </a:rPr>
                        <a:t>$0</a:t>
                      </a:r>
                    </a:p>
                  </a:txBody>
                  <a:tcPr>
                    <a:solidFill>
                      <a:srgbClr val="0D1220"/>
                    </a:solidFill>
                  </a:tcPr>
                </a:tc>
                <a:tc>
                  <a:txBody>
                    <a:bodyPr/>
                    <a:lstStyle/>
                    <a:p>
                      <a:r>
                        <a:rPr sz="1100">
                          <a:solidFill>
                            <a:srgbClr val="FFFFFF"/>
                          </a:solidFill>
                          <a:latin typeface="Calibri"/>
                        </a:rPr>
                        <a:t>$0</a:t>
                      </a:r>
                    </a:p>
                  </a:txBody>
                  <a:tcPr>
                    <a:solidFill>
                      <a:srgbClr val="0D1220"/>
                    </a:solidFill>
                  </a:tcPr>
                </a:tc>
                <a:tc>
                  <a:txBody>
                    <a:bodyPr/>
                    <a:lstStyle/>
                    <a:p>
                      <a:r>
                        <a:rPr sz="1100">
                          <a:solidFill>
                            <a:srgbClr val="FFFFFF"/>
                          </a:solidFill>
                          <a:latin typeface="Calibri"/>
                        </a:rPr>
                        <a:t>$2M</a:t>
                      </a:r>
                    </a:p>
                  </a:txBody>
                  <a:tcPr>
                    <a:solidFill>
                      <a:srgbClr val="0D1220"/>
                    </a:solidFill>
                  </a:tcPr>
                </a:tc>
                <a:tc>
                  <a:txBody>
                    <a:bodyPr/>
                    <a:lstStyle/>
                    <a:p>
                      <a:r>
                        <a:rPr sz="1100">
                          <a:solidFill>
                            <a:srgbClr val="FFFFFF"/>
                          </a:solidFill>
                          <a:latin typeface="Calibri"/>
                        </a:rPr>
                        <a:t>$9M</a:t>
                      </a:r>
                    </a:p>
                  </a:txBody>
                  <a:tcPr>
                    <a:solidFill>
                      <a:srgbClr val="0D1220"/>
                    </a:solidFill>
                  </a:tcPr>
                </a:tc>
                <a:tc>
                  <a:txBody>
                    <a:bodyPr/>
                    <a:lstStyle/>
                    <a:p>
                      <a:r>
                        <a:rPr sz="1100">
                          <a:solidFill>
                            <a:srgbClr val="FFFFFF"/>
                          </a:solidFill>
                          <a:latin typeface="Calibri"/>
                        </a:rPr>
                        <a:t>$28M</a:t>
                      </a:r>
                    </a:p>
                  </a:txBody>
                  <a:tcPr>
                    <a:solidFill>
                      <a:srgbClr val="0D1220"/>
                    </a:solidFill>
                  </a:tcPr>
                </a:tc>
                <a:extLst>
                  <a:ext uri="{0D108BD9-81ED-4DB2-BD59-A6C34878D82A}">
                    <a16:rowId xmlns:a16="http://schemas.microsoft.com/office/drawing/2014/main" val="10005"/>
                  </a:ext>
                </a:extLst>
              </a:tr>
            </a:tbl>
          </a:graphicData>
        </a:graphic>
      </p:graphicFrame>
      <p:sp>
        <p:nvSpPr>
          <p:cNvPr id="10" name="Rectangle 9"/>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3200" b="1">
                <a:solidFill>
                  <a:srgbClr val="FFFFFF"/>
                </a:solidFill>
                <a:latin typeface="Calibri"/>
              </a:rPr>
              <a:t>MANAGEMENT TEAM</a:t>
            </a:r>
          </a:p>
        </p:txBody>
      </p:sp>
      <p:sp>
        <p:nvSpPr>
          <p:cNvPr id="5" name="Rectangle 4"/>
          <p:cNvSpPr/>
          <p:nvPr/>
        </p:nvSpPr>
        <p:spPr>
          <a:xfrm>
            <a:off x="731520" y="109728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1463040"/>
            <a:ext cx="3383280" cy="22860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009ED9"/>
                </a:solidFill>
                <a:latin typeface="Calibri"/>
              </a:rPr>
              <a:t>JOHN QUINN — CEO &amp; Co-Founder</a:t>
            </a:r>
          </a:p>
          <a:p>
            <a:pPr>
              <a:spcBef>
                <a:spcPts val="600"/>
              </a:spcBef>
            </a:pPr>
            <a:r>
              <a:rPr sz="1100">
                <a:solidFill>
                  <a:srgbClr val="CCCCCC"/>
                </a:solidFill>
                <a:latin typeface="Calibri"/>
              </a:rPr>
              <a:t>14.5-year U.S. Navy Submarine Service career
$43M ROI in Six Sigma projects at FPL
Company IP sale to Emerson Power
Drives strategy, capital markets, government relations</a:t>
            </a:r>
          </a:p>
        </p:txBody>
      </p:sp>
      <p:sp>
        <p:nvSpPr>
          <p:cNvPr id="7" name="Rounded Rectangle 6"/>
          <p:cNvSpPr/>
          <p:nvPr/>
        </p:nvSpPr>
        <p:spPr>
          <a:xfrm>
            <a:off x="4389120" y="1463040"/>
            <a:ext cx="3383280" cy="22860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009ED9"/>
                </a:solidFill>
                <a:latin typeface="Calibri"/>
              </a:rPr>
              <a:t>DAVID MITCHELL — President &amp; Co-Founder</a:t>
            </a:r>
          </a:p>
          <a:p>
            <a:pPr>
              <a:spcBef>
                <a:spcPts val="600"/>
              </a:spcBef>
            </a:pPr>
            <a:r>
              <a:rPr sz="1100">
                <a:solidFill>
                  <a:srgbClr val="CCCCCC"/>
                </a:solidFill>
                <a:latin typeface="Calibri"/>
              </a:rPr>
              <a:t>4th-generation energy entrepreneur and investor
Secured private funding enabling Exos to build commercial-grade reusable rockets
Company sale to CITS
Drives financing, corporate development, investor relations</a:t>
            </a:r>
          </a:p>
        </p:txBody>
      </p:sp>
      <p:sp>
        <p:nvSpPr>
          <p:cNvPr id="8" name="Rounded Rectangle 7"/>
          <p:cNvSpPr/>
          <p:nvPr/>
        </p:nvSpPr>
        <p:spPr>
          <a:xfrm>
            <a:off x="8046720" y="1463040"/>
            <a:ext cx="3383280" cy="22860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009ED9"/>
                </a:solidFill>
                <a:latin typeface="Calibri"/>
              </a:rPr>
              <a:t>RUSSEL BLINK — CTO &amp; Co-Founder</a:t>
            </a:r>
          </a:p>
          <a:p>
            <a:pPr>
              <a:spcBef>
                <a:spcPts val="600"/>
              </a:spcBef>
            </a:pPr>
            <a:r>
              <a:rPr sz="1100">
                <a:solidFill>
                  <a:srgbClr val="CCCCCC"/>
                </a:solidFill>
                <a:latin typeface="Calibri"/>
              </a:rPr>
              <a:t>BS EE, Michigan Technological University
TI Defense → Long Range Systems (VP/Co-founder) → Armadillo Aerospace (VP Eng)
Hundreds of engines, dozens of flying vehicles incl. NASA Lunar Landers</a:t>
            </a:r>
          </a:p>
        </p:txBody>
      </p:sp>
      <p:sp>
        <p:nvSpPr>
          <p:cNvPr id="9" name="Rounded Rectangle 8"/>
          <p:cNvSpPr/>
          <p:nvPr/>
        </p:nvSpPr>
        <p:spPr>
          <a:xfrm>
            <a:off x="731520" y="4023360"/>
            <a:ext cx="3383280" cy="22860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009ED9"/>
                </a:solidFill>
                <a:latin typeface="Calibri"/>
              </a:rPr>
              <a:t>NEIL MILBURN — COO &amp; Co-Founder</a:t>
            </a:r>
          </a:p>
          <a:p>
            <a:pPr>
              <a:spcBef>
                <a:spcPts val="600"/>
              </a:spcBef>
            </a:pPr>
            <a:r>
              <a:rPr sz="1100">
                <a:solidFill>
                  <a:srgbClr val="CCCCCC"/>
                </a:solidFill>
                <a:latin typeface="Calibri"/>
              </a:rPr>
              <a:t>Chemical Engineering; co-founded Armadillo Aerospace (2000)
Revolutionized CNG refueling at NASA launch facilities
FAA liaison; company turnarounds and operational excellence</a:t>
            </a:r>
          </a:p>
        </p:txBody>
      </p:sp>
      <p:sp>
        <p:nvSpPr>
          <p:cNvPr id="10" name="Rounded Rectangle 9"/>
          <p:cNvSpPr/>
          <p:nvPr/>
        </p:nvSpPr>
        <p:spPr>
          <a:xfrm>
            <a:off x="4389120" y="4023360"/>
            <a:ext cx="3383280" cy="22860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009ED9"/>
                </a:solidFill>
                <a:latin typeface="Calibri"/>
              </a:rPr>
              <a:t>KYLE BALLARD — CFO</a:t>
            </a:r>
          </a:p>
          <a:p>
            <a:pPr>
              <a:spcBef>
                <a:spcPts val="600"/>
              </a:spcBef>
            </a:pPr>
            <a:r>
              <a:rPr sz="1100">
                <a:solidFill>
                  <a:srgbClr val="CCCCCC"/>
                </a:solidFill>
                <a:latin typeface="Calibri"/>
              </a:rPr>
              <a:t>Financial operations, reporting, due diligence
Leading SSLC financial analysis and public listing preparation</a:t>
            </a:r>
          </a:p>
        </p:txBody>
      </p:sp>
      <p:sp>
        <p:nvSpPr>
          <p:cNvPr id="11" name="Rectangle 10"/>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3200" b="1">
                <a:solidFill>
                  <a:srgbClr val="FFFFFF"/>
                </a:solidFill>
                <a:latin typeface="Calibri"/>
              </a:rPr>
              <a:t>OWNERSHIP &amp; GOVERNANCE</a:t>
            </a:r>
          </a:p>
        </p:txBody>
      </p:sp>
      <p:sp>
        <p:nvSpPr>
          <p:cNvPr id="5" name="Rectangle 4"/>
          <p:cNvSpPr/>
          <p:nvPr/>
        </p:nvSpPr>
        <p:spPr>
          <a:xfrm>
            <a:off x="731520" y="109728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p:cNvGraphicFramePr>
            <a:graphicFrameLocks noGrp="1"/>
          </p:cNvGraphicFramePr>
          <p:nvPr/>
        </p:nvGraphicFramePr>
        <p:xfrm>
          <a:off x="731520" y="1371600"/>
          <a:ext cx="5029200" cy="188976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365760">
                <a:tc>
                  <a:txBody>
                    <a:bodyPr/>
                    <a:lstStyle/>
                    <a:p>
                      <a:r>
                        <a:rPr sz="1100" b="1">
                          <a:solidFill>
                            <a:srgbClr val="009ED9"/>
                          </a:solidFill>
                          <a:latin typeface="Calibri"/>
                        </a:rPr>
                        <a:t>Shareholder</a:t>
                      </a:r>
                    </a:p>
                  </a:txBody>
                  <a:tcPr>
                    <a:solidFill>
                      <a:srgbClr val="0A142A"/>
                    </a:solidFill>
                  </a:tcPr>
                </a:tc>
                <a:tc>
                  <a:txBody>
                    <a:bodyPr/>
                    <a:lstStyle/>
                    <a:p>
                      <a:r>
                        <a:rPr sz="1100" b="1">
                          <a:solidFill>
                            <a:srgbClr val="009ED9"/>
                          </a:solidFill>
                          <a:latin typeface="Calibri"/>
                        </a:rPr>
                        <a:t>Stake</a:t>
                      </a:r>
                    </a:p>
                  </a:txBody>
                  <a:tcPr>
                    <a:solidFill>
                      <a:srgbClr val="0A142A"/>
                    </a:solidFill>
                  </a:tcPr>
                </a:tc>
                <a:tc>
                  <a:txBody>
                    <a:bodyPr/>
                    <a:lstStyle/>
                    <a:p>
                      <a:r>
                        <a:rPr sz="1100" b="1">
                          <a:solidFill>
                            <a:srgbClr val="009ED9"/>
                          </a:solidFill>
                          <a:latin typeface="Calibri"/>
                        </a:rPr>
                        <a:t>Role</a:t>
                      </a:r>
                    </a:p>
                  </a:txBody>
                  <a:tcPr>
                    <a:solidFill>
                      <a:srgbClr val="0A142A"/>
                    </a:solidFill>
                  </a:tcPr>
                </a:tc>
                <a:extLst>
                  <a:ext uri="{0D108BD9-81ED-4DB2-BD59-A6C34878D82A}">
                    <a16:rowId xmlns:a16="http://schemas.microsoft.com/office/drawing/2014/main" val="10000"/>
                  </a:ext>
                </a:extLst>
              </a:tr>
              <a:tr h="365760">
                <a:tc>
                  <a:txBody>
                    <a:bodyPr/>
                    <a:lstStyle/>
                    <a:p>
                      <a:r>
                        <a:rPr sz="1100">
                          <a:solidFill>
                            <a:srgbClr val="FFFFFF"/>
                          </a:solidFill>
                          <a:latin typeface="Calibri"/>
                        </a:rPr>
                        <a:t>David Mitchell</a:t>
                      </a:r>
                    </a:p>
                  </a:txBody>
                  <a:tcPr>
                    <a:solidFill>
                      <a:srgbClr val="0D1220"/>
                    </a:solidFill>
                  </a:tcPr>
                </a:tc>
                <a:tc>
                  <a:txBody>
                    <a:bodyPr/>
                    <a:lstStyle/>
                    <a:p>
                      <a:r>
                        <a:rPr sz="1100">
                          <a:solidFill>
                            <a:srgbClr val="FFFFFF"/>
                          </a:solidFill>
                          <a:latin typeface="Calibri"/>
                        </a:rPr>
                        <a:t>37%</a:t>
                      </a:r>
                    </a:p>
                  </a:txBody>
                  <a:tcPr>
                    <a:solidFill>
                      <a:srgbClr val="0D1220"/>
                    </a:solidFill>
                  </a:tcPr>
                </a:tc>
                <a:tc>
                  <a:txBody>
                    <a:bodyPr/>
                    <a:lstStyle/>
                    <a:p>
                      <a:r>
                        <a:rPr sz="1100">
                          <a:solidFill>
                            <a:srgbClr val="FFFFFF"/>
                          </a:solidFill>
                          <a:latin typeface="Calibri"/>
                        </a:rPr>
                        <a:t>President, Co-founder</a:t>
                      </a:r>
                    </a:p>
                  </a:txBody>
                  <a:tcPr>
                    <a:solidFill>
                      <a:srgbClr val="0D1220"/>
                    </a:solidFill>
                  </a:tcPr>
                </a:tc>
                <a:extLst>
                  <a:ext uri="{0D108BD9-81ED-4DB2-BD59-A6C34878D82A}">
                    <a16:rowId xmlns:a16="http://schemas.microsoft.com/office/drawing/2014/main" val="10001"/>
                  </a:ext>
                </a:extLst>
              </a:tr>
              <a:tr h="365760">
                <a:tc>
                  <a:txBody>
                    <a:bodyPr/>
                    <a:lstStyle/>
                    <a:p>
                      <a:r>
                        <a:rPr sz="1100">
                          <a:solidFill>
                            <a:srgbClr val="FFFFFF"/>
                          </a:solidFill>
                          <a:latin typeface="Calibri"/>
                        </a:rPr>
                        <a:t>John Quinn</a:t>
                      </a:r>
                    </a:p>
                  </a:txBody>
                  <a:tcPr>
                    <a:solidFill>
                      <a:srgbClr val="101626"/>
                    </a:solidFill>
                  </a:tcPr>
                </a:tc>
                <a:tc>
                  <a:txBody>
                    <a:bodyPr/>
                    <a:lstStyle/>
                    <a:p>
                      <a:r>
                        <a:rPr sz="1100">
                          <a:solidFill>
                            <a:srgbClr val="FFFFFF"/>
                          </a:solidFill>
                          <a:latin typeface="Calibri"/>
                        </a:rPr>
                        <a:t>21%</a:t>
                      </a:r>
                    </a:p>
                  </a:txBody>
                  <a:tcPr>
                    <a:solidFill>
                      <a:srgbClr val="101626"/>
                    </a:solidFill>
                  </a:tcPr>
                </a:tc>
                <a:tc>
                  <a:txBody>
                    <a:bodyPr/>
                    <a:lstStyle/>
                    <a:p>
                      <a:r>
                        <a:rPr sz="1100">
                          <a:solidFill>
                            <a:srgbClr val="FFFFFF"/>
                          </a:solidFill>
                          <a:latin typeface="Calibri"/>
                        </a:rPr>
                        <a:t>CEO, Co-founder</a:t>
                      </a:r>
                    </a:p>
                  </a:txBody>
                  <a:tcPr>
                    <a:solidFill>
                      <a:srgbClr val="101626"/>
                    </a:solidFill>
                  </a:tcPr>
                </a:tc>
                <a:extLst>
                  <a:ext uri="{0D108BD9-81ED-4DB2-BD59-A6C34878D82A}">
                    <a16:rowId xmlns:a16="http://schemas.microsoft.com/office/drawing/2014/main" val="10002"/>
                  </a:ext>
                </a:extLst>
              </a:tr>
              <a:tr h="365760">
                <a:tc>
                  <a:txBody>
                    <a:bodyPr/>
                    <a:lstStyle/>
                    <a:p>
                      <a:r>
                        <a:rPr sz="1100">
                          <a:solidFill>
                            <a:srgbClr val="CCCCCC"/>
                          </a:solidFill>
                        </a:rPr>
                        <a:t>EAI (Exos Aerospace Investors)</a:t>
                      </a:r>
                    </a:p>
                  </a:txBody>
                  <a:tcPr>
                    <a:solidFill>
                      <a:srgbClr val="0D1220"/>
                    </a:solidFill>
                  </a:tcPr>
                </a:tc>
                <a:tc>
                  <a:txBody>
                    <a:bodyPr/>
                    <a:lstStyle/>
                    <a:p>
                      <a:r>
                        <a:rPr sz="1100">
                          <a:solidFill>
                            <a:srgbClr val="FFFFFF"/>
                          </a:solidFill>
                          <a:latin typeface="Calibri"/>
                        </a:rPr>
                        <a:t>37%</a:t>
                      </a:r>
                    </a:p>
                  </a:txBody>
                  <a:tcPr>
                    <a:solidFill>
                      <a:srgbClr val="0D1220"/>
                    </a:solidFill>
                  </a:tcPr>
                </a:tc>
                <a:tc>
                  <a:txBody>
                    <a:bodyPr/>
                    <a:lstStyle/>
                    <a:p>
                      <a:r>
                        <a:rPr sz="1100">
                          <a:solidFill>
                            <a:srgbClr val="CCCCCC"/>
                          </a:solidFill>
                        </a:rPr>
                        <a:t>Common stock — directed by Quinn/Mitchell</a:t>
                      </a:r>
                    </a:p>
                  </a:txBody>
                  <a:tcPr>
                    <a:solidFill>
                      <a:srgbClr val="0D1220"/>
                    </a:solidFill>
                  </a:tcPr>
                </a:tc>
                <a:extLst>
                  <a:ext uri="{0D108BD9-81ED-4DB2-BD59-A6C34878D82A}">
                    <a16:rowId xmlns:a16="http://schemas.microsoft.com/office/drawing/2014/main" val="10003"/>
                  </a:ext>
                </a:extLst>
              </a:tr>
              <a:tr h="365760">
                <a:tc>
                  <a:txBody>
                    <a:bodyPr/>
                    <a:lstStyle/>
                    <a:p>
                      <a:r>
                        <a:rPr sz="1100">
                          <a:solidFill>
                            <a:srgbClr val="FFFFFF"/>
                          </a:solidFill>
                          <a:latin typeface="Calibri"/>
                        </a:rPr>
                        <a:t>Incentive Stock Option Pool</a:t>
                      </a:r>
                    </a:p>
                  </a:txBody>
                  <a:tcPr>
                    <a:solidFill>
                      <a:srgbClr val="101626"/>
                    </a:solidFill>
                  </a:tcPr>
                </a:tc>
                <a:tc>
                  <a:txBody>
                    <a:bodyPr/>
                    <a:lstStyle/>
                    <a:p>
                      <a:r>
                        <a:rPr sz="1100">
                          <a:solidFill>
                            <a:srgbClr val="FFFFFF"/>
                          </a:solidFill>
                          <a:latin typeface="Calibri"/>
                        </a:rPr>
                        <a:t>5%</a:t>
                      </a:r>
                    </a:p>
                  </a:txBody>
                  <a:tcPr>
                    <a:solidFill>
                      <a:srgbClr val="101626"/>
                    </a:solidFill>
                  </a:tcPr>
                </a:tc>
                <a:tc>
                  <a:txBody>
                    <a:bodyPr/>
                    <a:lstStyle/>
                    <a:p>
                      <a:r>
                        <a:rPr sz="1100">
                          <a:solidFill>
                            <a:srgbClr val="FFFFFF"/>
                          </a:solidFill>
                          <a:latin typeface="Calibri"/>
                        </a:rPr>
                        <a:t>Key employee retention</a:t>
                      </a:r>
                    </a:p>
                  </a:txBody>
                  <a:tcPr>
                    <a:solidFill>
                      <a:srgbClr val="101626"/>
                    </a:solidFill>
                  </a:tcPr>
                </a:tc>
                <a:extLst>
                  <a:ext uri="{0D108BD9-81ED-4DB2-BD59-A6C34878D82A}">
                    <a16:rowId xmlns:a16="http://schemas.microsoft.com/office/drawing/2014/main" val="10004"/>
                  </a:ext>
                </a:extLst>
              </a:tr>
            </a:tbl>
          </a:graphicData>
        </a:graphic>
      </p:graphicFrame>
      <p:graphicFrame>
        <p:nvGraphicFramePr>
          <p:cNvPr id="7" name="Table 6"/>
          <p:cNvGraphicFramePr>
            <a:graphicFrameLocks noGrp="1"/>
          </p:cNvGraphicFramePr>
          <p:nvPr/>
        </p:nvGraphicFramePr>
        <p:xfrm>
          <a:off x="6400800" y="1371600"/>
          <a:ext cx="5029200" cy="2255520"/>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365760">
                <a:tc>
                  <a:txBody>
                    <a:bodyPr/>
                    <a:lstStyle/>
                    <a:p>
                      <a:r>
                        <a:rPr sz="1100" b="1">
                          <a:solidFill>
                            <a:srgbClr val="009ED9"/>
                          </a:solidFill>
                          <a:latin typeface="Calibri"/>
                        </a:rPr>
                        <a:t>Shareholder</a:t>
                      </a:r>
                    </a:p>
                  </a:txBody>
                  <a:tcPr>
                    <a:solidFill>
                      <a:srgbClr val="0A142A"/>
                    </a:solidFill>
                  </a:tcPr>
                </a:tc>
                <a:tc>
                  <a:txBody>
                    <a:bodyPr/>
                    <a:lstStyle/>
                    <a:p>
                      <a:r>
                        <a:rPr sz="1100" b="1">
                          <a:solidFill>
                            <a:srgbClr val="009ED9"/>
                          </a:solidFill>
                          <a:latin typeface="Calibri"/>
                        </a:rPr>
                        <a:t>Post-Listing</a:t>
                      </a:r>
                    </a:p>
                  </a:txBody>
                  <a:tcPr>
                    <a:solidFill>
                      <a:srgbClr val="0A142A"/>
                    </a:solidFill>
                  </a:tcPr>
                </a:tc>
                <a:tc>
                  <a:txBody>
                    <a:bodyPr/>
                    <a:lstStyle/>
                    <a:p>
                      <a:r>
                        <a:rPr sz="1100" b="1">
                          <a:solidFill>
                            <a:srgbClr val="009ED9"/>
                          </a:solidFill>
                          <a:latin typeface="Calibri"/>
                        </a:rPr>
                        <a:t>Status</a:t>
                      </a:r>
                    </a:p>
                  </a:txBody>
                  <a:tcPr>
                    <a:solidFill>
                      <a:srgbClr val="0A142A"/>
                    </a:solidFill>
                  </a:tcPr>
                </a:tc>
                <a:extLst>
                  <a:ext uri="{0D108BD9-81ED-4DB2-BD59-A6C34878D82A}">
                    <a16:rowId xmlns:a16="http://schemas.microsoft.com/office/drawing/2014/main" val="10000"/>
                  </a:ext>
                </a:extLst>
              </a:tr>
              <a:tr h="365760">
                <a:tc>
                  <a:txBody>
                    <a:bodyPr/>
                    <a:lstStyle/>
                    <a:p>
                      <a:r>
                        <a:rPr sz="1100">
                          <a:solidFill>
                            <a:srgbClr val="FFFFFF"/>
                          </a:solidFill>
                          <a:latin typeface="Calibri"/>
                        </a:rPr>
                        <a:t>David Mitchell</a:t>
                      </a:r>
                    </a:p>
                  </a:txBody>
                  <a:tcPr>
                    <a:solidFill>
                      <a:srgbClr val="0D1220"/>
                    </a:solidFill>
                  </a:tcPr>
                </a:tc>
                <a:tc>
                  <a:txBody>
                    <a:bodyPr/>
                    <a:lstStyle/>
                    <a:p>
                      <a:r>
                        <a:rPr sz="1100">
                          <a:solidFill>
                            <a:srgbClr val="FFFFFF"/>
                          </a:solidFill>
                          <a:latin typeface="Calibri"/>
                        </a:rPr>
                        <a:t>~33%</a:t>
                      </a:r>
                    </a:p>
                  </a:txBody>
                  <a:tcPr>
                    <a:solidFill>
                      <a:srgbClr val="0D1220"/>
                    </a:solidFill>
                  </a:tcPr>
                </a:tc>
                <a:tc>
                  <a:txBody>
                    <a:bodyPr/>
                    <a:lstStyle/>
                    <a:p>
                      <a:r>
                        <a:rPr sz="1100">
                          <a:solidFill>
                            <a:srgbClr val="FFFFFF"/>
                          </a:solidFill>
                          <a:latin typeface="Calibri"/>
                        </a:rPr>
                        <a:t>Active management</a:t>
                      </a:r>
                    </a:p>
                  </a:txBody>
                  <a:tcPr>
                    <a:solidFill>
                      <a:srgbClr val="0D1220"/>
                    </a:solidFill>
                  </a:tcPr>
                </a:tc>
                <a:extLst>
                  <a:ext uri="{0D108BD9-81ED-4DB2-BD59-A6C34878D82A}">
                    <a16:rowId xmlns:a16="http://schemas.microsoft.com/office/drawing/2014/main" val="10001"/>
                  </a:ext>
                </a:extLst>
              </a:tr>
              <a:tr h="365760">
                <a:tc>
                  <a:txBody>
                    <a:bodyPr/>
                    <a:lstStyle/>
                    <a:p>
                      <a:r>
                        <a:rPr sz="1100">
                          <a:solidFill>
                            <a:srgbClr val="FFFFFF"/>
                          </a:solidFill>
                          <a:latin typeface="Calibri"/>
                        </a:rPr>
                        <a:t>John Quinn</a:t>
                      </a:r>
                    </a:p>
                  </a:txBody>
                  <a:tcPr>
                    <a:solidFill>
                      <a:srgbClr val="101626"/>
                    </a:solidFill>
                  </a:tcPr>
                </a:tc>
                <a:tc>
                  <a:txBody>
                    <a:bodyPr/>
                    <a:lstStyle/>
                    <a:p>
                      <a:r>
                        <a:rPr sz="1100">
                          <a:solidFill>
                            <a:srgbClr val="FFFFFF"/>
                          </a:solidFill>
                          <a:latin typeface="Calibri"/>
                        </a:rPr>
                        <a:t>~19%</a:t>
                      </a:r>
                    </a:p>
                  </a:txBody>
                  <a:tcPr>
                    <a:solidFill>
                      <a:srgbClr val="101626"/>
                    </a:solidFill>
                  </a:tcPr>
                </a:tc>
                <a:tc>
                  <a:txBody>
                    <a:bodyPr/>
                    <a:lstStyle/>
                    <a:p>
                      <a:r>
                        <a:rPr sz="1100">
                          <a:solidFill>
                            <a:srgbClr val="FFFFFF"/>
                          </a:solidFill>
                          <a:latin typeface="Calibri"/>
                        </a:rPr>
                        <a:t>Active management</a:t>
                      </a:r>
                    </a:p>
                  </a:txBody>
                  <a:tcPr>
                    <a:solidFill>
                      <a:srgbClr val="101626"/>
                    </a:solidFill>
                  </a:tcPr>
                </a:tc>
                <a:extLst>
                  <a:ext uri="{0D108BD9-81ED-4DB2-BD59-A6C34878D82A}">
                    <a16:rowId xmlns:a16="http://schemas.microsoft.com/office/drawing/2014/main" val="10002"/>
                  </a:ext>
                </a:extLst>
              </a:tr>
              <a:tr h="365760">
                <a:tc>
                  <a:txBody>
                    <a:bodyPr/>
                    <a:lstStyle/>
                    <a:p>
                      <a:r>
                        <a:rPr sz="1100">
                          <a:solidFill>
                            <a:srgbClr val="CCCCCC"/>
                          </a:solidFill>
                        </a:rPr>
                        <a:t>EAI (Exos Aerospace Investors)</a:t>
                      </a:r>
                    </a:p>
                  </a:txBody>
                  <a:tcPr>
                    <a:solidFill>
                      <a:srgbClr val="0D1220"/>
                    </a:solidFill>
                  </a:tcPr>
                </a:tc>
                <a:tc>
                  <a:txBody>
                    <a:bodyPr/>
                    <a:lstStyle/>
                    <a:p>
                      <a:r>
                        <a:rPr sz="1100">
                          <a:solidFill>
                            <a:srgbClr val="FFFFFF"/>
                          </a:solidFill>
                          <a:latin typeface="Calibri"/>
                        </a:rPr>
                        <a:t>~33%</a:t>
                      </a:r>
                    </a:p>
                  </a:txBody>
                  <a:tcPr>
                    <a:solidFill>
                      <a:srgbClr val="0D1220"/>
                    </a:solidFill>
                  </a:tcPr>
                </a:tc>
                <a:tc>
                  <a:txBody>
                    <a:bodyPr/>
                    <a:lstStyle/>
                    <a:p>
                      <a:r>
                        <a:rPr sz="1100">
                          <a:solidFill>
                            <a:srgbClr val="CCCCCC"/>
                          </a:solidFill>
                        </a:rPr>
                        <a:t>Public float — directed by Quinn/Mitchell</a:t>
                      </a:r>
                    </a:p>
                  </a:txBody>
                  <a:tcPr>
                    <a:solidFill>
                      <a:srgbClr val="0D1220"/>
                    </a:solidFill>
                  </a:tcPr>
                </a:tc>
                <a:extLst>
                  <a:ext uri="{0D108BD9-81ED-4DB2-BD59-A6C34878D82A}">
                    <a16:rowId xmlns:a16="http://schemas.microsoft.com/office/drawing/2014/main" val="10003"/>
                  </a:ext>
                </a:extLst>
              </a:tr>
              <a:tr h="365760">
                <a:tc>
                  <a:txBody>
                    <a:bodyPr/>
                    <a:lstStyle/>
                    <a:p>
                      <a:r>
                        <a:rPr sz="1100">
                          <a:solidFill>
                            <a:srgbClr val="FFFFFF"/>
                          </a:solidFill>
                          <a:latin typeface="Calibri"/>
                        </a:rPr>
                        <a:t>ESOP</a:t>
                      </a:r>
                    </a:p>
                  </a:txBody>
                  <a:tcPr>
                    <a:solidFill>
                      <a:srgbClr val="101626"/>
                    </a:solidFill>
                  </a:tcPr>
                </a:tc>
                <a:tc>
                  <a:txBody>
                    <a:bodyPr/>
                    <a:lstStyle/>
                    <a:p>
                      <a:r>
                        <a:rPr sz="1100">
                          <a:solidFill>
                            <a:srgbClr val="FFFFFF"/>
                          </a:solidFill>
                          <a:latin typeface="Calibri"/>
                        </a:rPr>
                        <a:t>~4.5%</a:t>
                      </a:r>
                    </a:p>
                  </a:txBody>
                  <a:tcPr>
                    <a:solidFill>
                      <a:srgbClr val="101626"/>
                    </a:solidFill>
                  </a:tcPr>
                </a:tc>
                <a:tc>
                  <a:txBody>
                    <a:bodyPr/>
                    <a:lstStyle/>
                    <a:p>
                      <a:r>
                        <a:rPr sz="1100">
                          <a:solidFill>
                            <a:srgbClr val="FFFFFF"/>
                          </a:solidFill>
                          <a:latin typeface="Calibri"/>
                        </a:rPr>
                        <a:t>Vesting</a:t>
                      </a:r>
                    </a:p>
                  </a:txBody>
                  <a:tcPr>
                    <a:solidFill>
                      <a:srgbClr val="101626"/>
                    </a:solidFill>
                  </a:tcPr>
                </a:tc>
                <a:extLst>
                  <a:ext uri="{0D108BD9-81ED-4DB2-BD59-A6C34878D82A}">
                    <a16:rowId xmlns:a16="http://schemas.microsoft.com/office/drawing/2014/main" val="10004"/>
                  </a:ext>
                </a:extLst>
              </a:tr>
              <a:tr h="365760">
                <a:tc>
                  <a:txBody>
                    <a:bodyPr/>
                    <a:lstStyle/>
                    <a:p>
                      <a:r>
                        <a:rPr sz="1100">
                          <a:solidFill>
                            <a:srgbClr val="CCCCCC"/>
                          </a:solidFill>
                        </a:rPr>
                        <a:t>Series A investors</a:t>
                      </a:r>
                    </a:p>
                  </a:txBody>
                  <a:tcPr>
                    <a:solidFill>
                      <a:srgbClr val="0D1220"/>
                    </a:solidFill>
                  </a:tcPr>
                </a:tc>
                <a:tc>
                  <a:txBody>
                    <a:bodyPr/>
                    <a:lstStyle/>
                    <a:p>
                      <a:r>
                        <a:rPr sz="1100">
                          <a:solidFill>
                            <a:srgbClr val="CCCCCC"/>
                          </a:solidFill>
                        </a:rPr>
                        <a:t>TBD</a:t>
                      </a:r>
                    </a:p>
                  </a:txBody>
                  <a:tcPr>
                    <a:solidFill>
                      <a:srgbClr val="0D1220"/>
                    </a:solidFill>
                  </a:tcPr>
                </a:tc>
                <a:tc>
                  <a:txBody>
                    <a:bodyPr/>
                    <a:lstStyle/>
                    <a:p>
                      <a:r>
                        <a:rPr sz="1100">
                          <a:solidFill>
                            <a:srgbClr val="CCCCCC"/>
                          </a:solidFill>
                        </a:rPr>
                        <a:t>Terms under negotiation</a:t>
                      </a:r>
                    </a:p>
                  </a:txBody>
                  <a:tcPr>
                    <a:solidFill>
                      <a:srgbClr val="0D1220"/>
                    </a:solidFill>
                  </a:tcPr>
                </a:tc>
                <a:extLst>
                  <a:ext uri="{0D108BD9-81ED-4DB2-BD59-A6C34878D82A}">
                    <a16:rowId xmlns:a16="http://schemas.microsoft.com/office/drawing/2014/main" val="10005"/>
                  </a:ext>
                </a:extLst>
              </a:tr>
            </a:tbl>
          </a:graphicData>
        </a:graphic>
      </p:graphicFrame>
      <p:sp>
        <p:nvSpPr>
          <p:cNvPr id="8" name="TextBox 7"/>
          <p:cNvSpPr txBox="1"/>
          <p:nvPr/>
        </p:nvSpPr>
        <p:spPr>
          <a:xfrm>
            <a:off x="731520" y="4389120"/>
            <a:ext cx="10058400" cy="2286000"/>
          </a:xfrm>
          <a:prstGeom prst="rect">
            <a:avLst/>
          </a:prstGeom>
          <a:noFill/>
        </p:spPr>
        <p:txBody>
          <a:bodyPr wrap="square">
            <a:spAutoFit/>
          </a:bodyPr>
          <a:lstStyle/>
          <a:p>
            <a:pPr algn="l">
              <a:spcBef>
                <a:spcPts val="0"/>
              </a:spcBef>
              <a:spcAft>
                <a:spcPts val="800"/>
              </a:spcAft>
            </a:pPr>
            <a:r>
              <a:rPr lang="en-US" sz="1400" b="1" dirty="0">
                <a:solidFill>
                  <a:srgbClr val="FFB800"/>
                </a:solidFill>
              </a:rPr>
              <a:t>KEY GOVERNANCE</a:t>
            </a:r>
          </a:p>
          <a:p>
            <a:pPr algn="l">
              <a:spcBef>
                <a:spcPts val="0"/>
              </a:spcBef>
              <a:spcAft>
                <a:spcPts val="800"/>
              </a:spcAft>
            </a:pPr>
            <a:r>
              <a:rPr lang="en-US" sz="1200" b="0" dirty="0">
                <a:solidFill>
                  <a:srgbClr val="CCCCCC"/>
                </a:solidFill>
              </a:rPr>
              <a:t>•  All shares are common stock — no preferred classes</a:t>
            </a:r>
          </a:p>
          <a:p>
            <a:pPr algn="l">
              <a:spcBef>
                <a:spcPts val="0"/>
              </a:spcBef>
              <a:spcAft>
                <a:spcPts val="800"/>
              </a:spcAft>
            </a:pPr>
            <a:r>
              <a:rPr lang="en-US" sz="1200" b="0" dirty="0">
                <a:solidFill>
                  <a:srgbClr val="CCCCCC"/>
                </a:solidFill>
              </a:rPr>
              <a:t>•  Mitchell + Quinn retain 56% effective control</a:t>
            </a:r>
          </a:p>
          <a:p>
            <a:pPr algn="l">
              <a:spcBef>
                <a:spcPts val="0"/>
              </a:spcBef>
              <a:spcAft>
                <a:spcPts val="800"/>
              </a:spcAft>
            </a:pPr>
            <a:r>
              <a:rPr lang="en-US" sz="1200" b="0" dirty="0">
                <a:solidFill>
                  <a:srgbClr val="CCCCCC"/>
                </a:solidFill>
              </a:rPr>
              <a:t>•  EAI (Exos Aerospace Investors) — directed by John Quinn and David Mitchell</a:t>
            </a:r>
          </a:p>
          <a:p>
            <a:pPr algn="l">
              <a:spcBef>
                <a:spcPts val="0"/>
              </a:spcBef>
              <a:spcAft>
                <a:spcPts val="800"/>
              </a:spcAft>
            </a:pPr>
            <a:r>
              <a:rPr lang="en-US" sz="1200" b="0" dirty="0">
                <a:solidFill>
                  <a:srgbClr val="CCCCCC"/>
                </a:solidFill>
              </a:rPr>
              <a:t>•  EAI investors get first liquidity event in 10 years</a:t>
            </a:r>
          </a:p>
          <a:p>
            <a:pPr algn="l">
              <a:spcBef>
                <a:spcPts val="0"/>
              </a:spcBef>
              <a:spcAft>
                <a:spcPts val="800"/>
              </a:spcAft>
            </a:pPr>
            <a:r>
              <a:rPr lang="en-US" sz="1200" b="0" dirty="0">
                <a:solidFill>
                  <a:srgbClr val="CCCCCC"/>
                </a:solidFill>
              </a:rPr>
              <a:t>•  Public float sourced from existing EAI shares</a:t>
            </a:r>
          </a:p>
          <a:p>
            <a:pPr algn="l">
              <a:spcBef>
                <a:spcPts val="0"/>
              </a:spcBef>
              <a:spcAft>
                <a:spcPts val="800"/>
              </a:spcAft>
            </a:pPr>
            <a:r>
              <a:rPr lang="en-US" sz="1200" b="0" dirty="0">
                <a:solidFill>
                  <a:srgbClr val="CCCCCC"/>
                </a:solidFill>
              </a:rPr>
              <a:t>•  Exos Aerospace Systems &amp; Technologies, Inc. — Texas corporation</a:t>
            </a:r>
          </a:p>
        </p:txBody>
      </p:sp>
      <p:sp>
        <p:nvSpPr>
          <p:cNvPr id="9" name="Rectangle 8"/>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2800" b="1">
                <a:solidFill>
                  <a:srgbClr val="FFFFFF"/>
                </a:solidFill>
                <a:latin typeface="Calibri"/>
              </a:rPr>
              <a:t>CORPORATE STRUCTURE &amp; LISTING PATH</a:t>
            </a:r>
          </a:p>
        </p:txBody>
      </p:sp>
      <p:sp>
        <p:nvSpPr>
          <p:cNvPr id="5" name="Rectangle 4"/>
          <p:cNvSpPr/>
          <p:nvPr/>
        </p:nvSpPr>
        <p:spPr>
          <a:xfrm>
            <a:off x="731520" y="109728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3200400" y="1463040"/>
            <a:ext cx="5486400" cy="9144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lang="en-US" sz="1300" b="1" dirty="0">
                <a:solidFill>
                  <a:srgbClr val="FFB800"/>
                </a:solidFill>
              </a:rPr>
              <a:t>EXOS AEROSPACE SYSTEMS &amp; TECHNOLOGIES, INC. (Texas)</a:t>
            </a:r>
          </a:p>
          <a:p>
            <a:pPr algn="ctr"/>
            <a:r>
              <a:rPr lang="en-US" sz="1100" b="0" dirty="0">
                <a:solidFill>
                  <a:srgbClr val="CCCCCC"/>
                </a:solidFill>
              </a:rPr>
              <a:t>Parent entity — all operations, IP, contracts, and public listing vehicle</a:t>
            </a:r>
          </a:p>
        </p:txBody>
      </p:sp>
      <p:sp>
        <p:nvSpPr>
          <p:cNvPr id="7" name="Rounded Rectangle 6"/>
          <p:cNvSpPr/>
          <p:nvPr/>
        </p:nvSpPr>
        <p:spPr>
          <a:xfrm>
            <a:off x="3657600" y="2743200"/>
            <a:ext cx="5029200" cy="109728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lang="en-US" sz="1300" b="1" dirty="0">
                <a:solidFill>
                  <a:srgbClr val="009ED9"/>
                </a:solidFill>
              </a:rPr>
              <a:t>FAA-LICENSED OPERATIONS</a:t>
            </a:r>
          </a:p>
          <a:p>
            <a:pPr algn="ctr"/>
            <a:r>
              <a:rPr lang="en-US" sz="1100" b="0" dirty="0">
                <a:solidFill>
                  <a:srgbClr val="CCCCCC"/>
                </a:solidFill>
              </a:rPr>
              <a:t>Reusable suborbital launch | ITAR-controlled technology | Government contracts | Spaceport America</a:t>
            </a:r>
          </a:p>
        </p:txBody>
      </p:sp>
      <p:sp>
        <p:nvSpPr>
          <p:cNvPr id="8" name="Rounded Rectangle 7"/>
          <p:cNvSpPr/>
          <p:nvPr/>
        </p:nvSpPr>
        <p:spPr>
          <a:xfrm>
            <a:off x="4114800" y="4206240"/>
            <a:ext cx="4572000" cy="9144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00C87A"/>
                </a:solidFill>
                <a:latin typeface="Calibri"/>
              </a:rPr>
              <a:t>SCORPIUS SPACE LAUNCH COMPANY INC</a:t>
            </a:r>
          </a:p>
          <a:p>
            <a:pPr>
              <a:spcBef>
                <a:spcPts val="600"/>
              </a:spcBef>
            </a:pPr>
            <a:r>
              <a:rPr sz="1100">
                <a:solidFill>
                  <a:srgbClr val="CCCCCC"/>
                </a:solidFill>
                <a:latin typeface="Calibri"/>
              </a:rPr>
              <a:t>Cryo tank IP, manufacturing, lunar heritage</a:t>
            </a:r>
          </a:p>
        </p:txBody>
      </p:sp>
      <p:sp>
        <p:nvSpPr>
          <p:cNvPr id="9" name="TextBox 8"/>
          <p:cNvSpPr txBox="1"/>
          <p:nvPr/>
        </p:nvSpPr>
        <p:spPr>
          <a:xfrm>
            <a:off x="731520" y="5303520"/>
            <a:ext cx="5029200" cy="365760"/>
          </a:xfrm>
          <a:prstGeom prst="rect">
            <a:avLst/>
          </a:prstGeom>
          <a:noFill/>
        </p:spPr>
        <p:txBody>
          <a:bodyPr wrap="square">
            <a:spAutoFit/>
          </a:bodyPr>
          <a:lstStyle/>
          <a:p>
            <a:pPr algn="l">
              <a:spcAft>
                <a:spcPts val="400"/>
              </a:spcAft>
            </a:pPr>
            <a:r>
              <a:rPr sz="1400" b="1" dirty="0">
                <a:solidFill>
                  <a:srgbClr val="FFB800"/>
                </a:solidFill>
                <a:latin typeface="Calibri"/>
              </a:rPr>
              <a:t>PUBLIC-MARKET PATH — PRIMARY: TEXAS STOCK EXCHANGE (TXSE)</a:t>
            </a:r>
          </a:p>
        </p:txBody>
      </p:sp>
      <p:sp>
        <p:nvSpPr>
          <p:cNvPr id="10" name="TextBox 9"/>
          <p:cNvSpPr txBox="1"/>
          <p:nvPr/>
        </p:nvSpPr>
        <p:spPr>
          <a:xfrm>
            <a:off x="731520" y="5577840"/>
            <a:ext cx="5029200" cy="1371600"/>
          </a:xfrm>
          <a:prstGeom prst="rect">
            <a:avLst/>
          </a:prstGeom>
          <a:noFill/>
        </p:spPr>
        <p:txBody>
          <a:bodyPr wrap="square">
            <a:spAutoFit/>
          </a:bodyPr>
          <a:lstStyle/>
          <a:p>
            <a:pPr algn="l">
              <a:spcBef>
                <a:spcPts val="0"/>
              </a:spcBef>
              <a:spcAft>
                <a:spcPts val="300"/>
              </a:spcAft>
            </a:pPr>
            <a:r>
              <a:rPr sz="1100" b="0">
                <a:solidFill>
                  <a:srgbClr val="CCCCCC"/>
                </a:solidFill>
                <a:latin typeface="Calibri"/>
              </a:rPr>
              <a:t>Texas Stock Exchange (TXSE) — primary public path; target ~18–24 months, contingent on Series A close + TACFI/STRATFI engagement</a:t>
            </a:r>
          </a:p>
          <a:p>
            <a:pPr algn="l">
              <a:spcBef>
                <a:spcPts val="0"/>
              </a:spcBef>
              <a:spcAft>
                <a:spcPts val="300"/>
              </a:spcAft>
            </a:pPr>
            <a:r>
              <a:rPr sz="1100" b="0">
                <a:solidFill>
                  <a:srgbClr val="CCCCCC"/>
                </a:solidFill>
                <a:latin typeface="Calibri"/>
              </a:rPr>
              <a:t>(Prior Euronext Dublin / EU listing route discontinued)</a:t>
            </a:r>
          </a:p>
          <a:p>
            <a:pPr algn="l">
              <a:spcBef>
                <a:spcPts val="0"/>
              </a:spcBef>
              <a:spcAft>
                <a:spcPts val="300"/>
              </a:spcAft>
            </a:pPr>
            <a:r>
              <a:rPr sz="1100" b="0">
                <a:solidFill>
                  <a:srgbClr val="CCCCCC"/>
                </a:solidFill>
                <a:latin typeface="Calibri"/>
              </a:rPr>
              <a:t>Interim/alternative paths still under evaluation: Reg A+ Tier 2 → NYSE American; OTCQB stepping stone</a:t>
            </a:r>
          </a:p>
          <a:p>
            <a:pPr algn="l">
              <a:spcBef>
                <a:spcPts val="0"/>
              </a:spcBef>
              <a:spcAft>
                <a:spcPts val="300"/>
              </a:spcAft>
            </a:pPr>
            <a:r>
              <a:rPr sz="1100" b="0">
                <a:solidFill>
                  <a:srgbClr val="CCCCCC"/>
                </a:solidFill>
                <a:latin typeface="Calibri"/>
              </a:rPr>
              <a:t/>
            </a:r>
          </a:p>
        </p:txBody>
      </p:sp>
      <p:sp>
        <p:nvSpPr>
          <p:cNvPr id="11" name="TextBox 10"/>
          <p:cNvSpPr txBox="1"/>
          <p:nvPr/>
        </p:nvSpPr>
        <p:spPr>
          <a:xfrm>
            <a:off x="6400800" y="5303520"/>
            <a:ext cx="5029200" cy="365760"/>
          </a:xfrm>
          <a:prstGeom prst="rect">
            <a:avLst/>
          </a:prstGeom>
          <a:noFill/>
        </p:spPr>
        <p:txBody>
          <a:bodyPr wrap="square">
            <a:spAutoFit/>
          </a:bodyPr>
          <a:lstStyle/>
          <a:p>
            <a:pPr algn="l">
              <a:spcAft>
                <a:spcPts val="400"/>
              </a:spcAft>
            </a:pPr>
            <a:r>
              <a:rPr sz="1400" b="1">
                <a:solidFill>
                  <a:srgbClr val="FFB800"/>
                </a:solidFill>
                <a:latin typeface="Calibri"/>
              </a:rPr>
              <a:t>TIMELINE FROM INVESTMENT CLOSE</a:t>
            </a:r>
          </a:p>
        </p:txBody>
      </p:sp>
      <p:sp>
        <p:nvSpPr>
          <p:cNvPr id="12" name="TextBox 11"/>
          <p:cNvSpPr txBox="1"/>
          <p:nvPr/>
        </p:nvSpPr>
        <p:spPr>
          <a:xfrm>
            <a:off x="6400800" y="5577840"/>
            <a:ext cx="5029200" cy="1371600"/>
          </a:xfrm>
          <a:prstGeom prst="rect">
            <a:avLst/>
          </a:prstGeom>
          <a:noFill/>
        </p:spPr>
        <p:txBody>
          <a:bodyPr wrap="square">
            <a:spAutoFit/>
          </a:bodyPr>
          <a:lstStyle/>
          <a:p>
            <a:pPr algn="l">
              <a:spcBef>
                <a:spcPts val="0"/>
              </a:spcBef>
              <a:spcAft>
                <a:spcPts val="300"/>
              </a:spcAft>
            </a:pPr>
            <a:r>
              <a:rPr lang="en-US" sz="1100" b="0" dirty="0">
                <a:solidFill>
                  <a:srgbClr val="CCCCCC"/>
                </a:solidFill>
              </a:rPr>
              <a:t>•  Aug–Oct 2026: Capital deployed + Scorpius close</a:t>
            </a:r>
          </a:p>
          <a:p>
            <a:pPr algn="l">
              <a:spcBef>
                <a:spcPts val="0"/>
              </a:spcBef>
              <a:spcAft>
                <a:spcPts val="300"/>
              </a:spcAft>
            </a:pPr>
            <a:r>
              <a:rPr lang="en-US" sz="1100" b="0" dirty="0">
                <a:solidFill>
                  <a:srgbClr val="CCCCCC"/>
                </a:solidFill>
              </a:rPr>
              <a:t>•  2027: Listing prep + regulatory filings</a:t>
            </a:r>
          </a:p>
          <a:p>
            <a:pPr algn="l">
              <a:spcBef>
                <a:spcPts val="0"/>
              </a:spcBef>
              <a:spcAft>
                <a:spcPts val="300"/>
              </a:spcAft>
            </a:pPr>
            <a:r>
              <a:rPr lang="en-US" sz="1100" b="0" dirty="0">
                <a:solidFill>
                  <a:srgbClr val="CCCCCC"/>
                </a:solidFill>
              </a:rPr>
              <a:t>•  Q1–Q2 2028: Admission to trading</a:t>
            </a:r>
          </a:p>
        </p:txBody>
      </p:sp>
      <p:sp>
        <p:nvSpPr>
          <p:cNvPr id="13" name="Rectangle 12"/>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3200" b="1">
                <a:solidFill>
                  <a:srgbClr val="FFFFFF"/>
                </a:solidFill>
                <a:latin typeface="Calibri"/>
              </a:rPr>
              <a:t>COMPARABLE VALUATIONS</a:t>
            </a:r>
          </a:p>
        </p:txBody>
      </p:sp>
      <p:sp>
        <p:nvSpPr>
          <p:cNvPr id="5" name="Rectangle 4"/>
          <p:cNvSpPr/>
          <p:nvPr/>
        </p:nvSpPr>
        <p:spPr>
          <a:xfrm>
            <a:off x="731520" y="109728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p:cNvGraphicFramePr>
            <a:graphicFrameLocks noGrp="1"/>
          </p:cNvGraphicFramePr>
          <p:nvPr/>
        </p:nvGraphicFramePr>
        <p:xfrm>
          <a:off x="457200" y="1371600"/>
          <a:ext cx="11247120" cy="219456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3200400">
                  <a:extLst>
                    <a:ext uri="{9D8B030D-6E8A-4147-A177-3AD203B41FA5}">
                      <a16:colId xmlns:a16="http://schemas.microsoft.com/office/drawing/2014/main" val="20005"/>
                    </a:ext>
                  </a:extLst>
                </a:gridCol>
              </a:tblGrid>
              <a:tr h="365760">
                <a:tc>
                  <a:txBody>
                    <a:bodyPr/>
                    <a:lstStyle/>
                    <a:p>
                      <a:r>
                        <a:rPr sz="1100" b="1">
                          <a:solidFill>
                            <a:srgbClr val="009ED9"/>
                          </a:solidFill>
                          <a:latin typeface="Calibri"/>
                        </a:rPr>
                        <a:t>Company</a:t>
                      </a:r>
                    </a:p>
                  </a:txBody>
                  <a:tcPr>
                    <a:solidFill>
                      <a:srgbClr val="0A142A"/>
                    </a:solidFill>
                  </a:tcPr>
                </a:tc>
                <a:tc>
                  <a:txBody>
                    <a:bodyPr/>
                    <a:lstStyle/>
                    <a:p>
                      <a:r>
                        <a:rPr sz="1100" b="1">
                          <a:solidFill>
                            <a:srgbClr val="009ED9"/>
                          </a:solidFill>
                          <a:latin typeface="Calibri"/>
                        </a:rPr>
                        <a:t>Exchange</a:t>
                      </a:r>
                    </a:p>
                  </a:txBody>
                  <a:tcPr>
                    <a:solidFill>
                      <a:srgbClr val="0A142A"/>
                    </a:solidFill>
                  </a:tcPr>
                </a:tc>
                <a:tc>
                  <a:txBody>
                    <a:bodyPr/>
                    <a:lstStyle/>
                    <a:p>
                      <a:r>
                        <a:rPr sz="1100" b="1">
                          <a:solidFill>
                            <a:srgbClr val="009ED9"/>
                          </a:solidFill>
                          <a:latin typeface="Calibri"/>
                        </a:rPr>
                        <a:t>Market Cap</a:t>
                      </a:r>
                    </a:p>
                  </a:txBody>
                  <a:tcPr>
                    <a:solidFill>
                      <a:srgbClr val="0A142A"/>
                    </a:solidFill>
                  </a:tcPr>
                </a:tc>
                <a:tc>
                  <a:txBody>
                    <a:bodyPr/>
                    <a:lstStyle/>
                    <a:p>
                      <a:r>
                        <a:rPr sz="1100" b="1">
                          <a:solidFill>
                            <a:srgbClr val="009ED9"/>
                          </a:solidFill>
                          <a:latin typeface="Calibri"/>
                        </a:rPr>
                        <a:t>Revenue</a:t>
                      </a:r>
                    </a:p>
                  </a:txBody>
                  <a:tcPr>
                    <a:solidFill>
                      <a:srgbClr val="0A142A"/>
                    </a:solidFill>
                  </a:tcPr>
                </a:tc>
                <a:tc>
                  <a:txBody>
                    <a:bodyPr/>
                    <a:lstStyle/>
                    <a:p>
                      <a:r>
                        <a:rPr sz="1100" b="1">
                          <a:solidFill>
                            <a:srgbClr val="009ED9"/>
                          </a:solidFill>
                          <a:latin typeface="Calibri"/>
                        </a:rPr>
                        <a:t>Multiple</a:t>
                      </a:r>
                    </a:p>
                  </a:txBody>
                  <a:tcPr>
                    <a:solidFill>
                      <a:srgbClr val="0A142A"/>
                    </a:solidFill>
                  </a:tcPr>
                </a:tc>
                <a:tc>
                  <a:txBody>
                    <a:bodyPr/>
                    <a:lstStyle/>
                    <a:p>
                      <a:r>
                        <a:rPr sz="1100" b="1">
                          <a:solidFill>
                            <a:srgbClr val="009ED9"/>
                          </a:solidFill>
                          <a:latin typeface="Calibri"/>
                        </a:rPr>
                        <a:t>Notes</a:t>
                      </a:r>
                    </a:p>
                  </a:txBody>
                  <a:tcPr>
                    <a:solidFill>
                      <a:srgbClr val="0A142A"/>
                    </a:solidFill>
                  </a:tcPr>
                </a:tc>
                <a:extLst>
                  <a:ext uri="{0D108BD9-81ED-4DB2-BD59-A6C34878D82A}">
                    <a16:rowId xmlns:a16="http://schemas.microsoft.com/office/drawing/2014/main" val="10000"/>
                  </a:ext>
                </a:extLst>
              </a:tr>
              <a:tr h="365760">
                <a:tc>
                  <a:txBody>
                    <a:bodyPr/>
                    <a:lstStyle/>
                    <a:p>
                      <a:r>
                        <a:rPr sz="1100">
                          <a:solidFill>
                            <a:srgbClr val="FFFFFF"/>
                          </a:solidFill>
                          <a:latin typeface="Calibri"/>
                        </a:rPr>
                        <a:t>Rocket Lab (RKLB)</a:t>
                      </a:r>
                    </a:p>
                  </a:txBody>
                  <a:tcPr>
                    <a:solidFill>
                      <a:srgbClr val="0D1220"/>
                    </a:solidFill>
                  </a:tcPr>
                </a:tc>
                <a:tc>
                  <a:txBody>
                    <a:bodyPr/>
                    <a:lstStyle/>
                    <a:p>
                      <a:r>
                        <a:rPr sz="1100">
                          <a:solidFill>
                            <a:srgbClr val="FFFFFF"/>
                          </a:solidFill>
                          <a:latin typeface="Calibri"/>
                        </a:rPr>
                        <a:t>NASDAQ</a:t>
                      </a:r>
                    </a:p>
                  </a:txBody>
                  <a:tcPr>
                    <a:solidFill>
                      <a:srgbClr val="0D1220"/>
                    </a:solidFill>
                  </a:tcPr>
                </a:tc>
                <a:tc>
                  <a:txBody>
                    <a:bodyPr/>
                    <a:lstStyle/>
                    <a:p>
                      <a:r>
                        <a:rPr sz="1100">
                          <a:solidFill>
                            <a:srgbClr val="FFFFFF"/>
                          </a:solidFill>
                          <a:latin typeface="Calibri"/>
                        </a:rPr>
                        <a:t>$12B</a:t>
                      </a:r>
                    </a:p>
                  </a:txBody>
                  <a:tcPr>
                    <a:solidFill>
                      <a:srgbClr val="0D1220"/>
                    </a:solidFill>
                  </a:tcPr>
                </a:tc>
                <a:tc>
                  <a:txBody>
                    <a:bodyPr/>
                    <a:lstStyle/>
                    <a:p>
                      <a:r>
                        <a:rPr sz="1100">
                          <a:solidFill>
                            <a:srgbClr val="FFFFFF"/>
                          </a:solidFill>
                          <a:latin typeface="Calibri"/>
                        </a:rPr>
                        <a:t>$436M</a:t>
                      </a:r>
                    </a:p>
                  </a:txBody>
                  <a:tcPr>
                    <a:solidFill>
                      <a:srgbClr val="0D1220"/>
                    </a:solidFill>
                  </a:tcPr>
                </a:tc>
                <a:tc>
                  <a:txBody>
                    <a:bodyPr/>
                    <a:lstStyle/>
                    <a:p>
                      <a:r>
                        <a:rPr sz="1100">
                          <a:solidFill>
                            <a:srgbClr val="FFFFFF"/>
                          </a:solidFill>
                          <a:latin typeface="Calibri"/>
                        </a:rPr>
                        <a:t>27x</a:t>
                      </a:r>
                    </a:p>
                  </a:txBody>
                  <a:tcPr>
                    <a:solidFill>
                      <a:srgbClr val="0D1220"/>
                    </a:solidFill>
                  </a:tcPr>
                </a:tc>
                <a:tc>
                  <a:txBody>
                    <a:bodyPr/>
                    <a:lstStyle/>
                    <a:p>
                      <a:r>
                        <a:rPr sz="1100">
                          <a:solidFill>
                            <a:srgbClr val="FFFFFF"/>
                          </a:solidFill>
                          <a:latin typeface="Calibri"/>
                        </a:rPr>
                        <a:t>Orbital, M&amp;A-driven</a:t>
                      </a:r>
                    </a:p>
                  </a:txBody>
                  <a:tcPr>
                    <a:solidFill>
                      <a:srgbClr val="0D1220"/>
                    </a:solidFill>
                  </a:tcPr>
                </a:tc>
                <a:extLst>
                  <a:ext uri="{0D108BD9-81ED-4DB2-BD59-A6C34878D82A}">
                    <a16:rowId xmlns:a16="http://schemas.microsoft.com/office/drawing/2014/main" val="10001"/>
                  </a:ext>
                </a:extLst>
              </a:tr>
              <a:tr h="365760">
                <a:tc>
                  <a:txBody>
                    <a:bodyPr/>
                    <a:lstStyle/>
                    <a:p>
                      <a:r>
                        <a:rPr sz="1100">
                          <a:solidFill>
                            <a:srgbClr val="FFFFFF"/>
                          </a:solidFill>
                          <a:latin typeface="Calibri"/>
                        </a:rPr>
                        <a:t>Intuitive Machines (LUNR)</a:t>
                      </a:r>
                    </a:p>
                  </a:txBody>
                  <a:tcPr>
                    <a:solidFill>
                      <a:srgbClr val="101626"/>
                    </a:solidFill>
                  </a:tcPr>
                </a:tc>
                <a:tc>
                  <a:txBody>
                    <a:bodyPr/>
                    <a:lstStyle/>
                    <a:p>
                      <a:r>
                        <a:rPr sz="1100">
                          <a:solidFill>
                            <a:srgbClr val="FFFFFF"/>
                          </a:solidFill>
                          <a:latin typeface="Calibri"/>
                        </a:rPr>
                        <a:t>NASDAQ</a:t>
                      </a:r>
                    </a:p>
                  </a:txBody>
                  <a:tcPr>
                    <a:solidFill>
                      <a:srgbClr val="101626"/>
                    </a:solidFill>
                  </a:tcPr>
                </a:tc>
                <a:tc>
                  <a:txBody>
                    <a:bodyPr/>
                    <a:lstStyle/>
                    <a:p>
                      <a:r>
                        <a:rPr sz="1100">
                          <a:solidFill>
                            <a:srgbClr val="FFFFFF"/>
                          </a:solidFill>
                          <a:latin typeface="Calibri"/>
                        </a:rPr>
                        <a:t>$3.2B</a:t>
                      </a:r>
                    </a:p>
                  </a:txBody>
                  <a:tcPr>
                    <a:solidFill>
                      <a:srgbClr val="101626"/>
                    </a:solidFill>
                  </a:tcPr>
                </a:tc>
                <a:tc>
                  <a:txBody>
                    <a:bodyPr/>
                    <a:lstStyle/>
                    <a:p>
                      <a:r>
                        <a:rPr sz="1100">
                          <a:solidFill>
                            <a:srgbClr val="FFFFFF"/>
                          </a:solidFill>
                          <a:latin typeface="Calibri"/>
                        </a:rPr>
                        <a:t>$227M</a:t>
                      </a:r>
                    </a:p>
                  </a:txBody>
                  <a:tcPr>
                    <a:solidFill>
                      <a:srgbClr val="101626"/>
                    </a:solidFill>
                  </a:tcPr>
                </a:tc>
                <a:tc>
                  <a:txBody>
                    <a:bodyPr/>
                    <a:lstStyle/>
                    <a:p>
                      <a:r>
                        <a:rPr sz="1100">
                          <a:solidFill>
                            <a:srgbClr val="FFFFFF"/>
                          </a:solidFill>
                          <a:latin typeface="Calibri"/>
                        </a:rPr>
                        <a:t>14x</a:t>
                      </a:r>
                    </a:p>
                  </a:txBody>
                  <a:tcPr>
                    <a:solidFill>
                      <a:srgbClr val="101626"/>
                    </a:solidFill>
                  </a:tcPr>
                </a:tc>
                <a:tc>
                  <a:txBody>
                    <a:bodyPr/>
                    <a:lstStyle/>
                    <a:p>
                      <a:r>
                        <a:rPr sz="1100">
                          <a:solidFill>
                            <a:srgbClr val="FFFFFF"/>
                          </a:solidFill>
                          <a:latin typeface="Calibri"/>
                        </a:rPr>
                        <a:t>Uses Scorpius tanks</a:t>
                      </a:r>
                    </a:p>
                  </a:txBody>
                  <a:tcPr>
                    <a:solidFill>
                      <a:srgbClr val="101626"/>
                    </a:solidFill>
                  </a:tcPr>
                </a:tc>
                <a:extLst>
                  <a:ext uri="{0D108BD9-81ED-4DB2-BD59-A6C34878D82A}">
                    <a16:rowId xmlns:a16="http://schemas.microsoft.com/office/drawing/2014/main" val="10002"/>
                  </a:ext>
                </a:extLst>
              </a:tr>
              <a:tr h="365760">
                <a:tc>
                  <a:txBody>
                    <a:bodyPr/>
                    <a:lstStyle/>
                    <a:p>
                      <a:r>
                        <a:rPr sz="1100">
                          <a:solidFill>
                            <a:srgbClr val="FFFFFF"/>
                          </a:solidFill>
                          <a:latin typeface="Calibri"/>
                        </a:rPr>
                        <a:t>Spire Global (SPIR)</a:t>
                      </a:r>
                    </a:p>
                  </a:txBody>
                  <a:tcPr>
                    <a:solidFill>
                      <a:srgbClr val="0D1220"/>
                    </a:solidFill>
                  </a:tcPr>
                </a:tc>
                <a:tc>
                  <a:txBody>
                    <a:bodyPr/>
                    <a:lstStyle/>
                    <a:p>
                      <a:r>
                        <a:rPr sz="1100">
                          <a:solidFill>
                            <a:srgbClr val="FFFFFF"/>
                          </a:solidFill>
                          <a:latin typeface="Calibri"/>
                        </a:rPr>
                        <a:t>NYSE</a:t>
                      </a:r>
                    </a:p>
                  </a:txBody>
                  <a:tcPr>
                    <a:solidFill>
                      <a:srgbClr val="0D1220"/>
                    </a:solidFill>
                  </a:tcPr>
                </a:tc>
                <a:tc>
                  <a:txBody>
                    <a:bodyPr/>
                    <a:lstStyle/>
                    <a:p>
                      <a:r>
                        <a:rPr sz="1100">
                          <a:solidFill>
                            <a:srgbClr val="FFFFFF"/>
                          </a:solidFill>
                          <a:latin typeface="Calibri"/>
                        </a:rPr>
                        <a:t>$600M</a:t>
                      </a:r>
                    </a:p>
                  </a:txBody>
                  <a:tcPr>
                    <a:solidFill>
                      <a:srgbClr val="0D1220"/>
                    </a:solidFill>
                  </a:tcPr>
                </a:tc>
                <a:tc>
                  <a:txBody>
                    <a:bodyPr/>
                    <a:lstStyle/>
                    <a:p>
                      <a:r>
                        <a:rPr sz="1100">
                          <a:solidFill>
                            <a:srgbClr val="FFFFFF"/>
                          </a:solidFill>
                          <a:latin typeface="Calibri"/>
                        </a:rPr>
                        <a:t>$110M</a:t>
                      </a:r>
                    </a:p>
                  </a:txBody>
                  <a:tcPr>
                    <a:solidFill>
                      <a:srgbClr val="0D1220"/>
                    </a:solidFill>
                  </a:tcPr>
                </a:tc>
                <a:tc>
                  <a:txBody>
                    <a:bodyPr/>
                    <a:lstStyle/>
                    <a:p>
                      <a:r>
                        <a:rPr sz="1100">
                          <a:solidFill>
                            <a:srgbClr val="FFFFFF"/>
                          </a:solidFill>
                          <a:latin typeface="Calibri"/>
                        </a:rPr>
                        <a:t>5x</a:t>
                      </a:r>
                    </a:p>
                  </a:txBody>
                  <a:tcPr>
                    <a:solidFill>
                      <a:srgbClr val="0D1220"/>
                    </a:solidFill>
                  </a:tcPr>
                </a:tc>
                <a:tc>
                  <a:txBody>
                    <a:bodyPr/>
                    <a:lstStyle/>
                    <a:p>
                      <a:r>
                        <a:rPr sz="1100">
                          <a:solidFill>
                            <a:srgbClr val="FFFFFF"/>
                          </a:solidFill>
                          <a:latin typeface="Calibri"/>
                        </a:rPr>
                        <a:t>Space data/analytics</a:t>
                      </a:r>
                    </a:p>
                  </a:txBody>
                  <a:tcPr>
                    <a:solidFill>
                      <a:srgbClr val="0D1220"/>
                    </a:solidFill>
                  </a:tcPr>
                </a:tc>
                <a:extLst>
                  <a:ext uri="{0D108BD9-81ED-4DB2-BD59-A6C34878D82A}">
                    <a16:rowId xmlns:a16="http://schemas.microsoft.com/office/drawing/2014/main" val="10003"/>
                  </a:ext>
                </a:extLst>
              </a:tr>
              <a:tr h="365760">
                <a:tc>
                  <a:txBody>
                    <a:bodyPr/>
                    <a:lstStyle/>
                    <a:p>
                      <a:r>
                        <a:rPr sz="1100">
                          <a:solidFill>
                            <a:srgbClr val="FFFFFF"/>
                          </a:solidFill>
                          <a:latin typeface="Calibri"/>
                        </a:rPr>
                        <a:t>Mynaric (MYNA)</a:t>
                      </a:r>
                    </a:p>
                  </a:txBody>
                  <a:tcPr>
                    <a:solidFill>
                      <a:srgbClr val="101626"/>
                    </a:solidFill>
                  </a:tcPr>
                </a:tc>
                <a:tc>
                  <a:txBody>
                    <a:bodyPr/>
                    <a:lstStyle/>
                    <a:p>
                      <a:r>
                        <a:rPr sz="1100">
                          <a:solidFill>
                            <a:srgbClr val="FFFFFF"/>
                          </a:solidFill>
                          <a:latin typeface="Calibri"/>
                        </a:rPr>
                        <a:t>NASDAQ</a:t>
                      </a:r>
                    </a:p>
                  </a:txBody>
                  <a:tcPr>
                    <a:solidFill>
                      <a:srgbClr val="101626"/>
                    </a:solidFill>
                  </a:tcPr>
                </a:tc>
                <a:tc>
                  <a:txBody>
                    <a:bodyPr/>
                    <a:lstStyle/>
                    <a:p>
                      <a:r>
                        <a:rPr sz="1100">
                          <a:solidFill>
                            <a:srgbClr val="FFFFFF"/>
                          </a:solidFill>
                          <a:latin typeface="Calibri"/>
                        </a:rPr>
                        <a:t>$180M</a:t>
                      </a:r>
                    </a:p>
                  </a:txBody>
                  <a:tcPr>
                    <a:solidFill>
                      <a:srgbClr val="101626"/>
                    </a:solidFill>
                  </a:tcPr>
                </a:tc>
                <a:tc>
                  <a:txBody>
                    <a:bodyPr/>
                    <a:lstStyle/>
                    <a:p>
                      <a:r>
                        <a:rPr sz="1100">
                          <a:solidFill>
                            <a:srgbClr val="FFFFFF"/>
                          </a:solidFill>
                          <a:latin typeface="Calibri"/>
                        </a:rPr>
                        <a:t>$40M</a:t>
                      </a:r>
                    </a:p>
                  </a:txBody>
                  <a:tcPr>
                    <a:solidFill>
                      <a:srgbClr val="101626"/>
                    </a:solidFill>
                  </a:tcPr>
                </a:tc>
                <a:tc>
                  <a:txBody>
                    <a:bodyPr/>
                    <a:lstStyle/>
                    <a:p>
                      <a:r>
                        <a:rPr sz="1100">
                          <a:solidFill>
                            <a:srgbClr val="FFFFFF"/>
                          </a:solidFill>
                          <a:latin typeface="Calibri"/>
                        </a:rPr>
                        <a:t>4.5x</a:t>
                      </a:r>
                    </a:p>
                  </a:txBody>
                  <a:tcPr>
                    <a:solidFill>
                      <a:srgbClr val="101626"/>
                    </a:solidFill>
                  </a:tcPr>
                </a:tc>
                <a:tc>
                  <a:txBody>
                    <a:bodyPr/>
                    <a:lstStyle/>
                    <a:p>
                      <a:r>
                        <a:rPr sz="1100">
                          <a:solidFill>
                            <a:srgbClr val="FFFFFF"/>
                          </a:solidFill>
                          <a:latin typeface="Calibri"/>
                        </a:rPr>
                        <a:t>Laser comms</a:t>
                      </a:r>
                    </a:p>
                  </a:txBody>
                  <a:tcPr>
                    <a:solidFill>
                      <a:srgbClr val="101626"/>
                    </a:solidFill>
                  </a:tcPr>
                </a:tc>
                <a:extLst>
                  <a:ext uri="{0D108BD9-81ED-4DB2-BD59-A6C34878D82A}">
                    <a16:rowId xmlns:a16="http://schemas.microsoft.com/office/drawing/2014/main" val="10004"/>
                  </a:ext>
                </a:extLst>
              </a:tr>
              <a:tr h="365760">
                <a:tc>
                  <a:txBody>
                    <a:bodyPr/>
                    <a:lstStyle/>
                    <a:p>
                      <a:r>
                        <a:rPr sz="1100">
                          <a:solidFill>
                            <a:srgbClr val="FFFFFF"/>
                          </a:solidFill>
                          <a:latin typeface="Calibri"/>
                        </a:rPr>
                        <a:t>Virgin Galactic (SPCE)</a:t>
                      </a:r>
                    </a:p>
                  </a:txBody>
                  <a:tcPr>
                    <a:solidFill>
                      <a:srgbClr val="0D1220"/>
                    </a:solidFill>
                  </a:tcPr>
                </a:tc>
                <a:tc>
                  <a:txBody>
                    <a:bodyPr/>
                    <a:lstStyle/>
                    <a:p>
                      <a:r>
                        <a:rPr sz="1100">
                          <a:solidFill>
                            <a:srgbClr val="FFFFFF"/>
                          </a:solidFill>
                          <a:latin typeface="Calibri"/>
                        </a:rPr>
                        <a:t>NYSE</a:t>
                      </a:r>
                    </a:p>
                  </a:txBody>
                  <a:tcPr>
                    <a:solidFill>
                      <a:srgbClr val="0D1220"/>
                    </a:solidFill>
                  </a:tcPr>
                </a:tc>
                <a:tc>
                  <a:txBody>
                    <a:bodyPr/>
                    <a:lstStyle/>
                    <a:p>
                      <a:r>
                        <a:rPr sz="1100">
                          <a:solidFill>
                            <a:srgbClr val="FFFFFF"/>
                          </a:solidFill>
                          <a:latin typeface="Calibri"/>
                        </a:rPr>
                        <a:t>$320M</a:t>
                      </a:r>
                    </a:p>
                  </a:txBody>
                  <a:tcPr>
                    <a:solidFill>
                      <a:srgbClr val="0D1220"/>
                    </a:solidFill>
                  </a:tcPr>
                </a:tc>
                <a:tc>
                  <a:txBody>
                    <a:bodyPr/>
                    <a:lstStyle/>
                    <a:p>
                      <a:r>
                        <a:rPr sz="1100">
                          <a:solidFill>
                            <a:srgbClr val="FFFFFF"/>
                          </a:solidFill>
                          <a:latin typeface="Calibri"/>
                        </a:rPr>
                        <a:t>$2M</a:t>
                      </a:r>
                    </a:p>
                  </a:txBody>
                  <a:tcPr>
                    <a:solidFill>
                      <a:srgbClr val="0D1220"/>
                    </a:solidFill>
                  </a:tcPr>
                </a:tc>
                <a:tc>
                  <a:txBody>
                    <a:bodyPr/>
                    <a:lstStyle/>
                    <a:p>
                      <a:r>
                        <a:rPr sz="1100">
                          <a:solidFill>
                            <a:srgbClr val="FFFFFF"/>
                          </a:solidFill>
                          <a:latin typeface="Calibri"/>
                        </a:rPr>
                        <a:t>—</a:t>
                      </a:r>
                    </a:p>
                  </a:txBody>
                  <a:tcPr>
                    <a:solidFill>
                      <a:srgbClr val="0D1220"/>
                    </a:solidFill>
                  </a:tcPr>
                </a:tc>
                <a:tc>
                  <a:txBody>
                    <a:bodyPr/>
                    <a:lstStyle/>
                    <a:p>
                      <a:r>
                        <a:rPr sz="1100">
                          <a:solidFill>
                            <a:srgbClr val="FFFFFF"/>
                          </a:solidFill>
                          <a:latin typeface="Calibri"/>
                        </a:rPr>
                        <a:t>Suborbital tourism</a:t>
                      </a:r>
                    </a:p>
                  </a:txBody>
                  <a:tcPr>
                    <a:solidFill>
                      <a:srgbClr val="0D1220"/>
                    </a:solidFill>
                  </a:tcPr>
                </a:tc>
                <a:extLst>
                  <a:ext uri="{0D108BD9-81ED-4DB2-BD59-A6C34878D82A}">
                    <a16:rowId xmlns:a16="http://schemas.microsoft.com/office/drawing/2014/main" val="10005"/>
                  </a:ext>
                </a:extLst>
              </a:tr>
            </a:tbl>
          </a:graphicData>
        </a:graphic>
      </p:graphicFrame>
      <p:sp>
        <p:nvSpPr>
          <p:cNvPr id="7" name="Rounded Rectangle 6"/>
          <p:cNvSpPr/>
          <p:nvPr/>
        </p:nvSpPr>
        <p:spPr>
          <a:xfrm>
            <a:off x="731520" y="3840480"/>
            <a:ext cx="5029200" cy="13716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FFB800"/>
                </a:solidFill>
                <a:latin typeface="Calibri"/>
              </a:rPr>
              <a:t>EXOS VALUATION: $169.7M INDEPENDENT 409A EQUITY VALUE</a:t>
            </a:r>
          </a:p>
          <a:p>
            <a:pPr>
              <a:spcBef>
                <a:spcPts val="600"/>
              </a:spcBef>
            </a:pPr>
            <a:r>
              <a:rPr sz="1100">
                <a:solidFill>
                  <a:srgbClr val="CCCCCC"/>
                </a:solidFill>
                <a:latin typeface="Calibri"/>
              </a:rPr>
              <a:t>Independent 409A (Eqvista, 3/31/26): $169.7M equity; $8.66/share common; DLOM 36.51%
Comps cross-check: 4–6x 2028E combined revenue ($25M) ≈ $100–150M EV — in line with peers adjusted for growth
CY2028 = first year of full commercial operations</a:t>
            </a:r>
          </a:p>
        </p:txBody>
      </p:sp>
      <p:sp>
        <p:nvSpPr>
          <p:cNvPr id="8" name="Rounded Rectangle 7"/>
          <p:cNvSpPr/>
          <p:nvPr/>
        </p:nvSpPr>
        <p:spPr>
          <a:xfrm>
            <a:off x="6217920" y="3840480"/>
            <a:ext cx="5029200" cy="13716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00C87A"/>
                </a:solidFill>
                <a:latin typeface="Calibri"/>
              </a:rPr>
              <a:t>WHY EXOS IS NOT VIRGIN GALACTIC</a:t>
            </a:r>
          </a:p>
          <a:p>
            <a:pPr>
              <a:spcBef>
                <a:spcPts val="600"/>
              </a:spcBef>
            </a:pPr>
            <a:r>
              <a:rPr sz="1100">
                <a:solidFill>
                  <a:srgbClr val="CCCCCC"/>
                </a:solidFill>
                <a:latin typeface="Calibri"/>
              </a:rPr>
              <a:t>• Sells to gov't/defense (contracted, recurring)
• Already profitable — SPCE never has been
• Owns irreplaceable IP (Scorpius + RDRE)
• $34M gov't funding pipeline = revenue floor</a:t>
            </a:r>
          </a:p>
        </p:txBody>
      </p:sp>
      <p:sp>
        <p:nvSpPr>
          <p:cNvPr id="9" name="Rectangle 8"/>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3200" b="1">
                <a:solidFill>
                  <a:srgbClr val="FFFFFF"/>
                </a:solidFill>
                <a:latin typeface="Calibri"/>
              </a:rPr>
              <a:t>WHY NOW? MARKET TIMING</a:t>
            </a:r>
          </a:p>
        </p:txBody>
      </p:sp>
      <p:sp>
        <p:nvSpPr>
          <p:cNvPr id="5" name="Rectangle 4"/>
          <p:cNvSpPr/>
          <p:nvPr/>
        </p:nvSpPr>
        <p:spPr>
          <a:xfrm>
            <a:off x="731520" y="109728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1463040"/>
            <a:ext cx="3383280" cy="45720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009ED9"/>
                </a:solidFill>
                <a:latin typeface="Calibri"/>
              </a:rPr>
              <a:t>SPACEX IPO (2026–2027)</a:t>
            </a:r>
          </a:p>
          <a:p>
            <a:pPr>
              <a:spcBef>
                <a:spcPts val="600"/>
              </a:spcBef>
            </a:pPr>
            <a:r>
              <a:rPr sz="1100">
                <a:solidFill>
                  <a:srgbClr val="CCCCCC"/>
                </a:solidFill>
                <a:latin typeface="Calibri"/>
              </a:rPr>
              <a:t>The largest space sector event in history. Creates massive retail and institutional interest in anything space-adjacent. A publicly listed Exos captures investor allocation from those seeking diversified space exposure beyond SpaceX.</a:t>
            </a:r>
          </a:p>
        </p:txBody>
      </p:sp>
      <p:sp>
        <p:nvSpPr>
          <p:cNvPr id="7" name="Rounded Rectangle 6"/>
          <p:cNvSpPr/>
          <p:nvPr/>
        </p:nvSpPr>
        <p:spPr>
          <a:xfrm>
            <a:off x="4389120" y="1463040"/>
            <a:ext cx="3383280" cy="45720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FFB800"/>
                </a:solidFill>
                <a:latin typeface="Calibri"/>
              </a:rPr>
              <a:t>DEFENSE SPENDING SURGE</a:t>
            </a:r>
          </a:p>
          <a:p>
            <a:pPr>
              <a:spcBef>
                <a:spcPts val="600"/>
              </a:spcBef>
            </a:pPr>
            <a:r>
              <a:rPr sz="1100">
                <a:solidFill>
                  <a:srgbClr val="CCCCCC"/>
                </a:solidFill>
                <a:latin typeface="Calibri"/>
              </a:rPr>
              <a:t>NATO nations committed to 2%+ GDP on defense. U.S. and allied governments actively seeking domestic defense/space capabilities. Exos provides flight test infrastructure that supports national security objectives.</a:t>
            </a:r>
          </a:p>
        </p:txBody>
      </p:sp>
      <p:sp>
        <p:nvSpPr>
          <p:cNvPr id="8" name="Rounded Rectangle 7"/>
          <p:cNvSpPr/>
          <p:nvPr/>
        </p:nvSpPr>
        <p:spPr>
          <a:xfrm>
            <a:off x="8046720" y="1463040"/>
            <a:ext cx="3383280" cy="45720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00C87A"/>
                </a:solidFill>
                <a:latin typeface="Calibri"/>
              </a:rPr>
              <a:t>IN-SPACE REFUELING MARKET</a:t>
            </a:r>
          </a:p>
          <a:p>
            <a:pPr>
              <a:spcBef>
                <a:spcPts val="600"/>
              </a:spcBef>
            </a:pPr>
            <a:r>
              <a:rPr sz="1100">
                <a:solidFill>
                  <a:srgbClr val="CCCCCC"/>
                </a:solidFill>
                <a:latin typeface="Calibri"/>
              </a:rPr>
              <a:t>SpaceX Starship depot, NASA Artemis architecture, commercial space stations — all require cryogenic storage solutions. Scorpius is the only TRL 9 technology of its kind available commercially that we are aware of. Market timing is ideal for this acquisition.</a:t>
            </a:r>
          </a:p>
        </p:txBody>
      </p:sp>
      <p:sp>
        <p:nvSpPr>
          <p:cNvPr id="9" name="Rectangle 8"/>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50" name="Straight Connector 249">
            <a:extLst>
              <a:ext uri="{FF2B5EF4-FFF2-40B4-BE49-F238E27FC236}">
                <a16:creationId xmlns:a16="http://schemas.microsoft.com/office/drawing/2014/main" id="{05F5189F-7000-F349-8F07-549B491CE0DE}"/>
              </a:ext>
            </a:extLst>
          </p:cNvPr>
          <p:cNvCxnSpPr>
            <a:cxnSpLocks/>
            <a:stCxn id="18" idx="6"/>
          </p:cNvCxnSpPr>
          <p:nvPr/>
        </p:nvCxnSpPr>
        <p:spPr>
          <a:xfrm flipV="1">
            <a:off x="774878" y="3381363"/>
            <a:ext cx="11417123" cy="20360"/>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73" name="Group 172">
            <a:extLst>
              <a:ext uri="{FF2B5EF4-FFF2-40B4-BE49-F238E27FC236}">
                <a16:creationId xmlns:a16="http://schemas.microsoft.com/office/drawing/2014/main" id="{B97CC9A0-2882-2743-A0BA-3C78230875D7}"/>
              </a:ext>
            </a:extLst>
          </p:cNvPr>
          <p:cNvGrpSpPr/>
          <p:nvPr/>
        </p:nvGrpSpPr>
        <p:grpSpPr>
          <a:xfrm>
            <a:off x="-6795" y="-7680"/>
            <a:ext cx="1423729" cy="2405984"/>
            <a:chOff x="-6796" y="-7680"/>
            <a:chExt cx="1423729" cy="2405984"/>
          </a:xfrm>
        </p:grpSpPr>
        <p:sp>
          <p:nvSpPr>
            <p:cNvPr id="2" name="Text Placeholder 29">
              <a:extLst>
                <a:ext uri="{FF2B5EF4-FFF2-40B4-BE49-F238E27FC236}">
                  <a16:creationId xmlns:a16="http://schemas.microsoft.com/office/drawing/2014/main" id="{0134226A-4BE6-B644-994F-1D1228F619F6}"/>
                </a:ext>
              </a:extLst>
            </p:cNvPr>
            <p:cNvSpPr txBox="1">
              <a:spLocks/>
            </p:cNvSpPr>
            <p:nvPr/>
          </p:nvSpPr>
          <p:spPr>
            <a:xfrm>
              <a:off x="93734" y="1729890"/>
              <a:ext cx="1047990" cy="668414"/>
            </a:xfrm>
            <a:prstGeom prst="rect">
              <a:avLst/>
            </a:prstGeom>
            <a:ln w="6350">
              <a:noFill/>
            </a:ln>
          </p:spPr>
          <p:txBody>
            <a:bodyPr vert="horz" lIns="91440" tIns="45720" rIns="91440" bIns="45720" rtlCol="0">
              <a:noAutofit/>
            </a:bodyPr>
            <a:lstStyle>
              <a:lvl1pPr marL="0" indent="0" algn="ctr" defTabSz="914400" rtl="0" eaLnBrk="1" latinLnBrk="0" hangingPunct="1">
                <a:lnSpc>
                  <a:spcPct val="90000"/>
                </a:lnSpc>
                <a:spcBef>
                  <a:spcPts val="1000"/>
                </a:spcBef>
                <a:buFontTx/>
                <a:buNone/>
                <a:defRPr sz="1200" b="0" i="0" kern="1200">
                  <a:solidFill>
                    <a:schemeClr val="tx1"/>
                  </a:solidFill>
                  <a:latin typeface="Duplicate Sans Light"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Duplicate Sans Light"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Duplicate Sans Light"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914384">
                <a:defRPr/>
              </a:pPr>
              <a:r>
                <a:rPr lang="en-US" dirty="0">
                  <a:solidFill>
                    <a:prstClr val="white"/>
                  </a:solidFill>
                  <a:sym typeface="Arial"/>
                </a:rPr>
                <a:t>Armadillo Aerospace Founded by John Carmack</a:t>
              </a:r>
            </a:p>
          </p:txBody>
        </p:sp>
        <p:pic>
          <p:nvPicPr>
            <p:cNvPr id="9" name="Picture 8">
              <a:extLst>
                <a:ext uri="{FF2B5EF4-FFF2-40B4-BE49-F238E27FC236}">
                  <a16:creationId xmlns:a16="http://schemas.microsoft.com/office/drawing/2014/main" id="{8E40D61C-0BD0-4047-99BF-216FCA510497}"/>
                </a:ext>
              </a:extLst>
            </p:cNvPr>
            <p:cNvPicPr>
              <a:picLocks noChangeAspect="1"/>
            </p:cNvPicPr>
            <p:nvPr/>
          </p:nvPicPr>
          <p:blipFill rotWithShape="1">
            <a:blip r:embed="rId2"/>
            <a:srcRect l="10832" r="7819"/>
            <a:stretch/>
          </p:blipFill>
          <p:spPr>
            <a:xfrm>
              <a:off x="-6796" y="-7680"/>
              <a:ext cx="1423729" cy="1223696"/>
            </a:xfrm>
            <a:prstGeom prst="rect">
              <a:avLst/>
            </a:prstGeom>
          </p:spPr>
        </p:pic>
      </p:grpSp>
      <p:grpSp>
        <p:nvGrpSpPr>
          <p:cNvPr id="172" name="Group 171">
            <a:extLst>
              <a:ext uri="{FF2B5EF4-FFF2-40B4-BE49-F238E27FC236}">
                <a16:creationId xmlns:a16="http://schemas.microsoft.com/office/drawing/2014/main" id="{F7D382C9-9F43-AC48-A2DD-48DAF2C85417}"/>
              </a:ext>
            </a:extLst>
          </p:cNvPr>
          <p:cNvGrpSpPr/>
          <p:nvPr/>
        </p:nvGrpSpPr>
        <p:grpSpPr>
          <a:xfrm>
            <a:off x="76201" y="3861926"/>
            <a:ext cx="1204347" cy="2984483"/>
            <a:chOff x="1352913" y="3854267"/>
            <a:chExt cx="1204347" cy="2984483"/>
          </a:xfrm>
        </p:grpSpPr>
        <p:sp>
          <p:nvSpPr>
            <p:cNvPr id="50" name="Text Placeholder 28">
              <a:extLst>
                <a:ext uri="{FF2B5EF4-FFF2-40B4-BE49-F238E27FC236}">
                  <a16:creationId xmlns:a16="http://schemas.microsoft.com/office/drawing/2014/main" id="{9B629466-F313-5B43-AA9F-24DD372A948B}"/>
                </a:ext>
              </a:extLst>
            </p:cNvPr>
            <p:cNvSpPr txBox="1">
              <a:spLocks/>
            </p:cNvSpPr>
            <p:nvPr/>
          </p:nvSpPr>
          <p:spPr>
            <a:xfrm>
              <a:off x="1370447" y="3854267"/>
              <a:ext cx="1179272" cy="837037"/>
            </a:xfrm>
            <a:prstGeom prst="rect">
              <a:avLst/>
            </a:prstGeom>
          </p:spPr>
          <p:txBody>
            <a:bodyPr vert="horz" lIns="91440" tIns="45720" rIns="91440" bIns="45720" rtlCol="0" anchor="ctr">
              <a:noAutofit/>
            </a:bodyPr>
            <a:lstStyle>
              <a:defPPr>
                <a:defRPr lang="en-US"/>
              </a:defPPr>
              <a:lvl1pPr marL="0" algn="l" defTabSz="914400" rtl="0" eaLnBrk="1" latinLnBrk="0" hangingPunct="1">
                <a:defRPr sz="1200" b="0" i="0" kern="1200">
                  <a:solidFill>
                    <a:schemeClr val="tx1">
                      <a:tint val="75000"/>
                    </a:schemeClr>
                  </a:solidFill>
                  <a:latin typeface="Duplicate Sans Ligh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384">
                <a:defRPr/>
              </a:pPr>
              <a:r>
                <a:rPr lang="en-US" dirty="0">
                  <a:solidFill>
                    <a:prstClr val="white">
                      <a:tint val="75000"/>
                    </a:prstClr>
                  </a:solidFill>
                  <a:sym typeface="Arial"/>
                </a:rPr>
                <a:t> X-Prize Competition w/Pixel and Texel Round 1 Winners</a:t>
              </a:r>
            </a:p>
          </p:txBody>
        </p:sp>
        <p:pic>
          <p:nvPicPr>
            <p:cNvPr id="51" name="Picture 50">
              <a:extLst>
                <a:ext uri="{FF2B5EF4-FFF2-40B4-BE49-F238E27FC236}">
                  <a16:creationId xmlns:a16="http://schemas.microsoft.com/office/drawing/2014/main" id="{18ED0C30-928B-9042-AC56-19102AC67733}"/>
                </a:ext>
              </a:extLst>
            </p:cNvPr>
            <p:cNvPicPr>
              <a:picLocks noChangeAspect="1"/>
            </p:cNvPicPr>
            <p:nvPr/>
          </p:nvPicPr>
          <p:blipFill>
            <a:blip r:embed="rId3"/>
            <a:stretch>
              <a:fillRect/>
            </a:stretch>
          </p:blipFill>
          <p:spPr>
            <a:xfrm>
              <a:off x="1352913" y="5752903"/>
              <a:ext cx="1204347" cy="1085847"/>
            </a:xfrm>
            <a:prstGeom prst="rect">
              <a:avLst/>
            </a:prstGeom>
          </p:spPr>
        </p:pic>
      </p:grpSp>
      <p:grpSp>
        <p:nvGrpSpPr>
          <p:cNvPr id="174" name="Group 173">
            <a:extLst>
              <a:ext uri="{FF2B5EF4-FFF2-40B4-BE49-F238E27FC236}">
                <a16:creationId xmlns:a16="http://schemas.microsoft.com/office/drawing/2014/main" id="{BD751345-26E3-C341-878A-A5CE9E689EB1}"/>
              </a:ext>
            </a:extLst>
          </p:cNvPr>
          <p:cNvGrpSpPr/>
          <p:nvPr/>
        </p:nvGrpSpPr>
        <p:grpSpPr>
          <a:xfrm>
            <a:off x="1447801" y="0"/>
            <a:ext cx="995353" cy="2434792"/>
            <a:chOff x="2294784" y="1264"/>
            <a:chExt cx="995353" cy="2434792"/>
          </a:xfrm>
        </p:grpSpPr>
        <p:sp>
          <p:nvSpPr>
            <p:cNvPr id="52" name="Text Placeholder 31">
              <a:extLst>
                <a:ext uri="{FF2B5EF4-FFF2-40B4-BE49-F238E27FC236}">
                  <a16:creationId xmlns:a16="http://schemas.microsoft.com/office/drawing/2014/main" id="{8AFE6FE1-A6FB-554B-8D70-CEC726AFC554}"/>
                </a:ext>
              </a:extLst>
            </p:cNvPr>
            <p:cNvSpPr txBox="1">
              <a:spLocks/>
            </p:cNvSpPr>
            <p:nvPr/>
          </p:nvSpPr>
          <p:spPr>
            <a:xfrm>
              <a:off x="2309841" y="1774749"/>
              <a:ext cx="980296" cy="66130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Duplicate Sans Light"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Duplicate Sans Light"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Duplicate Sans Light"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defTabSz="914384">
                <a:buNone/>
                <a:defRPr/>
              </a:pPr>
              <a:r>
                <a:rPr lang="en-US" sz="1200" dirty="0">
                  <a:solidFill>
                    <a:prstClr val="white"/>
                  </a:solidFill>
                  <a:sym typeface="Arial"/>
                </a:rPr>
                <a:t>Lunar Lander Challenge 1</a:t>
              </a:r>
              <a:r>
                <a:rPr lang="en-US" sz="1200" baseline="30000" dirty="0">
                  <a:solidFill>
                    <a:prstClr val="white"/>
                  </a:solidFill>
                  <a:sym typeface="Arial"/>
                </a:rPr>
                <a:t>st</a:t>
              </a:r>
              <a:r>
                <a:rPr lang="en-US" sz="1200" dirty="0">
                  <a:solidFill>
                    <a:prstClr val="white"/>
                  </a:solidFill>
                  <a:sym typeface="Arial"/>
                </a:rPr>
                <a:t> Place</a:t>
              </a:r>
            </a:p>
          </p:txBody>
        </p:sp>
        <p:pic>
          <p:nvPicPr>
            <p:cNvPr id="53" name="Picture 52">
              <a:extLst>
                <a:ext uri="{FF2B5EF4-FFF2-40B4-BE49-F238E27FC236}">
                  <a16:creationId xmlns:a16="http://schemas.microsoft.com/office/drawing/2014/main" id="{81D16C87-7D80-F342-A24D-9B4F977C1214}"/>
                </a:ext>
              </a:extLst>
            </p:cNvPr>
            <p:cNvPicPr>
              <a:picLocks noChangeAspect="1"/>
            </p:cNvPicPr>
            <p:nvPr/>
          </p:nvPicPr>
          <p:blipFill>
            <a:blip r:embed="rId4"/>
            <a:stretch>
              <a:fillRect/>
            </a:stretch>
          </p:blipFill>
          <p:spPr>
            <a:xfrm>
              <a:off x="2294784" y="1264"/>
              <a:ext cx="873950" cy="1202595"/>
            </a:xfrm>
            <a:prstGeom prst="rect">
              <a:avLst/>
            </a:prstGeom>
          </p:spPr>
        </p:pic>
      </p:grpSp>
      <p:grpSp>
        <p:nvGrpSpPr>
          <p:cNvPr id="171" name="Group 170">
            <a:extLst>
              <a:ext uri="{FF2B5EF4-FFF2-40B4-BE49-F238E27FC236}">
                <a16:creationId xmlns:a16="http://schemas.microsoft.com/office/drawing/2014/main" id="{7CA0F7DE-FA5B-AC42-A5A6-AAA615674B4E}"/>
              </a:ext>
            </a:extLst>
          </p:cNvPr>
          <p:cNvGrpSpPr/>
          <p:nvPr/>
        </p:nvGrpSpPr>
        <p:grpSpPr>
          <a:xfrm>
            <a:off x="1334350" y="3689003"/>
            <a:ext cx="1421163" cy="3165022"/>
            <a:chOff x="2652891" y="3689002"/>
            <a:chExt cx="1421163" cy="3165022"/>
          </a:xfrm>
        </p:grpSpPr>
        <p:sp>
          <p:nvSpPr>
            <p:cNvPr id="64" name="Text Placeholder 30">
              <a:extLst>
                <a:ext uri="{FF2B5EF4-FFF2-40B4-BE49-F238E27FC236}">
                  <a16:creationId xmlns:a16="http://schemas.microsoft.com/office/drawing/2014/main" id="{94F49064-4A41-9B4B-8A3E-DE0C19202185}"/>
                </a:ext>
              </a:extLst>
            </p:cNvPr>
            <p:cNvSpPr txBox="1">
              <a:spLocks/>
            </p:cNvSpPr>
            <p:nvPr/>
          </p:nvSpPr>
          <p:spPr>
            <a:xfrm>
              <a:off x="2652891" y="3689002"/>
              <a:ext cx="1301208" cy="1177694"/>
            </a:xfrm>
            <a:prstGeom prst="rect">
              <a:avLst/>
            </a:prstGeom>
          </p:spPr>
          <p:txBody>
            <a:bodyPr vert="horz" lIns="91440" tIns="45720" rIns="91440" bIns="45720" rtlCol="0" anchor="ctr">
              <a:noAutofit/>
            </a:bodyPr>
            <a:lstStyle>
              <a:defPPr>
                <a:defRPr lang="en-US"/>
              </a:defPPr>
              <a:lvl1pPr marL="0" algn="r" defTabSz="914400" rtl="0" eaLnBrk="1" latinLnBrk="0" hangingPunct="1">
                <a:defRPr sz="1200" b="0" i="0" kern="1200">
                  <a:solidFill>
                    <a:schemeClr val="tx1">
                      <a:tint val="75000"/>
                    </a:schemeClr>
                  </a:solidFill>
                  <a:latin typeface="Duplicate Sans Ligh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384">
                <a:defRPr/>
              </a:pPr>
              <a:r>
                <a:rPr lang="en-US" dirty="0">
                  <a:solidFill>
                    <a:prstClr val="white">
                      <a:tint val="75000"/>
                    </a:prstClr>
                  </a:solidFill>
                  <a:sym typeface="Arial"/>
                </a:rPr>
                <a:t>Lunar Lander Challenge 2009 — Armadillo prize winner; NASA Morpheus sale</a:t>
              </a:r>
            </a:p>
          </p:txBody>
        </p:sp>
        <p:pic>
          <p:nvPicPr>
            <p:cNvPr id="65" name="Picture 64">
              <a:extLst>
                <a:ext uri="{FF2B5EF4-FFF2-40B4-BE49-F238E27FC236}">
                  <a16:creationId xmlns:a16="http://schemas.microsoft.com/office/drawing/2014/main" id="{4F3EE0CA-C51F-FA49-858F-6605AB5D135B}"/>
                </a:ext>
              </a:extLst>
            </p:cNvPr>
            <p:cNvPicPr>
              <a:picLocks noChangeAspect="1"/>
            </p:cNvPicPr>
            <p:nvPr/>
          </p:nvPicPr>
          <p:blipFill>
            <a:blip r:embed="rId5"/>
            <a:stretch>
              <a:fillRect/>
            </a:stretch>
          </p:blipFill>
          <p:spPr>
            <a:xfrm>
              <a:off x="2690142" y="5760562"/>
              <a:ext cx="1383912" cy="1093462"/>
            </a:xfrm>
            <a:prstGeom prst="rect">
              <a:avLst/>
            </a:prstGeom>
          </p:spPr>
        </p:pic>
      </p:grpSp>
      <p:grpSp>
        <p:nvGrpSpPr>
          <p:cNvPr id="175" name="Group 174">
            <a:extLst>
              <a:ext uri="{FF2B5EF4-FFF2-40B4-BE49-F238E27FC236}">
                <a16:creationId xmlns:a16="http://schemas.microsoft.com/office/drawing/2014/main" id="{9755081C-60D2-DB48-8DBC-DCFE562F53F7}"/>
              </a:ext>
            </a:extLst>
          </p:cNvPr>
          <p:cNvGrpSpPr/>
          <p:nvPr/>
        </p:nvGrpSpPr>
        <p:grpSpPr>
          <a:xfrm>
            <a:off x="2330660" y="-4627"/>
            <a:ext cx="1550463" cy="2245769"/>
            <a:chOff x="2516713" y="12957"/>
            <a:chExt cx="2696293" cy="4058372"/>
          </a:xfrm>
        </p:grpSpPr>
        <p:sp>
          <p:nvSpPr>
            <p:cNvPr id="111" name="Text Placeholder 33">
              <a:extLst>
                <a:ext uri="{FF2B5EF4-FFF2-40B4-BE49-F238E27FC236}">
                  <a16:creationId xmlns:a16="http://schemas.microsoft.com/office/drawing/2014/main" id="{7B7F0C78-F6B8-864A-BDB5-DF3758C31578}"/>
                </a:ext>
              </a:extLst>
            </p:cNvPr>
            <p:cNvSpPr txBox="1">
              <a:spLocks/>
            </p:cNvSpPr>
            <p:nvPr/>
          </p:nvSpPr>
          <p:spPr>
            <a:xfrm>
              <a:off x="3021265" y="3234291"/>
              <a:ext cx="1840514" cy="83703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Duplicate Sans Light"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Duplicate Sans Light"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Duplicate Sans Light"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defTabSz="914384">
                <a:buNone/>
                <a:defRPr/>
              </a:pPr>
              <a:r>
                <a:rPr lang="en-US" sz="1200" dirty="0">
                  <a:solidFill>
                    <a:prstClr val="white"/>
                  </a:solidFill>
                  <a:sym typeface="Arial"/>
                </a:rPr>
                <a:t>Rocket Racing League development program</a:t>
              </a:r>
            </a:p>
          </p:txBody>
        </p:sp>
        <p:pic>
          <p:nvPicPr>
            <p:cNvPr id="112" name="Picture 111">
              <a:extLst>
                <a:ext uri="{FF2B5EF4-FFF2-40B4-BE49-F238E27FC236}">
                  <a16:creationId xmlns:a16="http://schemas.microsoft.com/office/drawing/2014/main" id="{CE2744DA-1242-8240-BA05-207078298168}"/>
                </a:ext>
              </a:extLst>
            </p:cNvPr>
            <p:cNvPicPr>
              <a:picLocks noChangeAspect="1"/>
            </p:cNvPicPr>
            <p:nvPr/>
          </p:nvPicPr>
          <p:blipFill>
            <a:blip r:embed="rId6"/>
            <a:stretch>
              <a:fillRect/>
            </a:stretch>
          </p:blipFill>
          <p:spPr>
            <a:xfrm>
              <a:off x="2516713" y="12957"/>
              <a:ext cx="2696293" cy="2236248"/>
            </a:xfrm>
            <a:prstGeom prst="rect">
              <a:avLst/>
            </a:prstGeom>
          </p:spPr>
        </p:pic>
      </p:grpSp>
      <p:grpSp>
        <p:nvGrpSpPr>
          <p:cNvPr id="170" name="Group 169">
            <a:extLst>
              <a:ext uri="{FF2B5EF4-FFF2-40B4-BE49-F238E27FC236}">
                <a16:creationId xmlns:a16="http://schemas.microsoft.com/office/drawing/2014/main" id="{74A6F9BE-F17E-D842-AD5F-39182FA2099B}"/>
              </a:ext>
            </a:extLst>
          </p:cNvPr>
          <p:cNvGrpSpPr/>
          <p:nvPr/>
        </p:nvGrpSpPr>
        <p:grpSpPr>
          <a:xfrm>
            <a:off x="2847158" y="3861564"/>
            <a:ext cx="1301824" cy="3005478"/>
            <a:chOff x="10370476" y="3852521"/>
            <a:chExt cx="1301824" cy="3005478"/>
          </a:xfrm>
        </p:grpSpPr>
        <p:sp>
          <p:nvSpPr>
            <p:cNvPr id="115" name="Text Placeholder 32">
              <a:extLst>
                <a:ext uri="{FF2B5EF4-FFF2-40B4-BE49-F238E27FC236}">
                  <a16:creationId xmlns:a16="http://schemas.microsoft.com/office/drawing/2014/main" id="{9800EAC4-26D8-3E43-88E1-8DBC2DF7B2DE}"/>
                </a:ext>
              </a:extLst>
            </p:cNvPr>
            <p:cNvSpPr txBox="1">
              <a:spLocks/>
            </p:cNvSpPr>
            <p:nvPr/>
          </p:nvSpPr>
          <p:spPr>
            <a:xfrm>
              <a:off x="10406362" y="3852521"/>
              <a:ext cx="1256137" cy="837037"/>
            </a:xfrm>
            <a:prstGeom prst="rect">
              <a:avLst/>
            </a:prstGeom>
            <a:ln w="6350">
              <a:noFill/>
            </a:ln>
          </p:spPr>
          <p:txBody>
            <a:bodyPr vert="horz" lIns="91440" tIns="45720" rIns="91440" bIns="45720" rtlCol="0">
              <a:normAutofit/>
            </a:bodyPr>
            <a:lstStyle>
              <a:lvl1pPr marL="0" indent="0" algn="ctr" defTabSz="914400" rtl="0" eaLnBrk="1" latinLnBrk="0" hangingPunct="1">
                <a:lnSpc>
                  <a:spcPct val="90000"/>
                </a:lnSpc>
                <a:spcBef>
                  <a:spcPts val="1000"/>
                </a:spcBef>
                <a:buFontTx/>
                <a:buNone/>
                <a:defRPr sz="1200" b="0" i="0" kern="1200">
                  <a:solidFill>
                    <a:schemeClr val="tx1"/>
                  </a:solidFill>
                  <a:latin typeface="Duplicate Sans Light"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Duplicate Sans Light"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Duplicate Sans Light"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914384">
                <a:defRPr/>
              </a:pPr>
              <a:r>
                <a:rPr lang="en-US" dirty="0">
                  <a:solidFill>
                    <a:prstClr val="white"/>
                  </a:solidFill>
                  <a:latin typeface="Duplicate Sans Medium" pitchFamily="2" charset="77"/>
                  <a:sym typeface="Arial"/>
                </a:rPr>
                <a:t>2010-2013</a:t>
              </a:r>
              <a:r>
                <a:rPr lang="en-US" dirty="0">
                  <a:solidFill>
                    <a:prstClr val="white"/>
                  </a:solidFill>
                  <a:sym typeface="Arial"/>
                </a:rPr>
                <a:t> STIG Rocket flies to 95km</a:t>
              </a:r>
            </a:p>
          </p:txBody>
        </p:sp>
        <p:pic>
          <p:nvPicPr>
            <p:cNvPr id="118" name="Picture 117">
              <a:extLst>
                <a:ext uri="{FF2B5EF4-FFF2-40B4-BE49-F238E27FC236}">
                  <a16:creationId xmlns:a16="http://schemas.microsoft.com/office/drawing/2014/main" id="{AA1FFEEA-2509-B94C-B49A-E866AD2FFF10}"/>
                </a:ext>
              </a:extLst>
            </p:cNvPr>
            <p:cNvPicPr>
              <a:picLocks noChangeAspect="1"/>
            </p:cNvPicPr>
            <p:nvPr/>
          </p:nvPicPr>
          <p:blipFill>
            <a:blip r:embed="rId7"/>
            <a:stretch>
              <a:fillRect/>
            </a:stretch>
          </p:blipFill>
          <p:spPr>
            <a:xfrm>
              <a:off x="10370477" y="5755678"/>
              <a:ext cx="909394" cy="1102320"/>
            </a:xfrm>
            <a:prstGeom prst="rect">
              <a:avLst/>
            </a:prstGeom>
          </p:spPr>
        </p:pic>
        <p:pic>
          <p:nvPicPr>
            <p:cNvPr id="116" name="Picture 115">
              <a:extLst>
                <a:ext uri="{FF2B5EF4-FFF2-40B4-BE49-F238E27FC236}">
                  <a16:creationId xmlns:a16="http://schemas.microsoft.com/office/drawing/2014/main" id="{D388C5FD-7DC7-394A-83BA-A97CC56179C9}"/>
                </a:ext>
              </a:extLst>
            </p:cNvPr>
            <p:cNvPicPr>
              <a:picLocks noChangeAspect="1"/>
            </p:cNvPicPr>
            <p:nvPr/>
          </p:nvPicPr>
          <p:blipFill>
            <a:blip r:embed="rId8"/>
            <a:stretch>
              <a:fillRect/>
            </a:stretch>
          </p:blipFill>
          <p:spPr>
            <a:xfrm>
              <a:off x="10370476" y="5735318"/>
              <a:ext cx="441114" cy="545826"/>
            </a:xfrm>
            <a:prstGeom prst="rect">
              <a:avLst/>
            </a:prstGeom>
          </p:spPr>
        </p:pic>
        <p:pic>
          <p:nvPicPr>
            <p:cNvPr id="117" name="Picture 116">
              <a:extLst>
                <a:ext uri="{FF2B5EF4-FFF2-40B4-BE49-F238E27FC236}">
                  <a16:creationId xmlns:a16="http://schemas.microsoft.com/office/drawing/2014/main" id="{514848F5-FDDB-0848-A81B-26D9FD894D19}"/>
                </a:ext>
              </a:extLst>
            </p:cNvPr>
            <p:cNvPicPr>
              <a:picLocks noChangeAspect="1"/>
            </p:cNvPicPr>
            <p:nvPr/>
          </p:nvPicPr>
          <p:blipFill>
            <a:blip r:embed="rId9"/>
            <a:stretch>
              <a:fillRect/>
            </a:stretch>
          </p:blipFill>
          <p:spPr>
            <a:xfrm>
              <a:off x="11325203" y="5746746"/>
              <a:ext cx="347097" cy="1111253"/>
            </a:xfrm>
            <a:prstGeom prst="rect">
              <a:avLst/>
            </a:prstGeom>
          </p:spPr>
        </p:pic>
      </p:grpSp>
      <p:grpSp>
        <p:nvGrpSpPr>
          <p:cNvPr id="22" name="Group 21">
            <a:extLst>
              <a:ext uri="{FF2B5EF4-FFF2-40B4-BE49-F238E27FC236}">
                <a16:creationId xmlns:a16="http://schemas.microsoft.com/office/drawing/2014/main" id="{E602C090-3748-EE41-9733-27DA275AE7B4}"/>
              </a:ext>
            </a:extLst>
          </p:cNvPr>
          <p:cNvGrpSpPr/>
          <p:nvPr/>
        </p:nvGrpSpPr>
        <p:grpSpPr>
          <a:xfrm>
            <a:off x="458331" y="2662318"/>
            <a:ext cx="316547" cy="897677"/>
            <a:chOff x="458330" y="2662318"/>
            <a:chExt cx="316547" cy="897677"/>
          </a:xfrm>
        </p:grpSpPr>
        <p:grpSp>
          <p:nvGrpSpPr>
            <p:cNvPr id="20" name="Group 19">
              <a:extLst>
                <a:ext uri="{FF2B5EF4-FFF2-40B4-BE49-F238E27FC236}">
                  <a16:creationId xmlns:a16="http://schemas.microsoft.com/office/drawing/2014/main" id="{78BA7303-DE4C-904C-832D-4FBC8EA2BAA3}"/>
                </a:ext>
              </a:extLst>
            </p:cNvPr>
            <p:cNvGrpSpPr/>
            <p:nvPr/>
          </p:nvGrpSpPr>
          <p:grpSpPr>
            <a:xfrm>
              <a:off x="458330" y="3243448"/>
              <a:ext cx="316547" cy="316547"/>
              <a:chOff x="762004" y="3201390"/>
              <a:chExt cx="457195" cy="457195"/>
            </a:xfrm>
          </p:grpSpPr>
          <p:sp>
            <p:nvSpPr>
              <p:cNvPr id="16" name="Oval 15">
                <a:extLst>
                  <a:ext uri="{FF2B5EF4-FFF2-40B4-BE49-F238E27FC236}">
                    <a16:creationId xmlns:a16="http://schemas.microsoft.com/office/drawing/2014/main" id="{9FCBBC82-AC46-9B4E-91EC-83CEDA239615}"/>
                  </a:ext>
                </a:extLst>
              </p:cNvPr>
              <p:cNvSpPr/>
              <p:nvPr/>
            </p:nvSpPr>
            <p:spPr>
              <a:xfrm>
                <a:off x="781569" y="3219967"/>
                <a:ext cx="418064" cy="418063"/>
              </a:xfrm>
              <a:prstGeom prst="ellipse">
                <a:avLst/>
              </a:prstGeom>
              <a:solidFill>
                <a:schemeClr val="bg1">
                  <a:lumMod val="95000"/>
                  <a:lumOff val="5000"/>
                </a:schemeClr>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18" name="Oval 17">
                <a:extLst>
                  <a:ext uri="{FF2B5EF4-FFF2-40B4-BE49-F238E27FC236}">
                    <a16:creationId xmlns:a16="http://schemas.microsoft.com/office/drawing/2014/main" id="{6757FD6F-726E-9846-A73A-FE48459EBD85}"/>
                  </a:ext>
                </a:extLst>
              </p:cNvPr>
              <p:cNvSpPr/>
              <p:nvPr/>
            </p:nvSpPr>
            <p:spPr>
              <a:xfrm>
                <a:off x="762004" y="3201390"/>
                <a:ext cx="457195" cy="457195"/>
              </a:xfrm>
              <a:prstGeom prst="ellipse">
                <a:avLst/>
              </a:prstGeom>
              <a:noFill/>
              <a:ln w="3810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19" name="Oval 18">
                <a:extLst>
                  <a:ext uri="{FF2B5EF4-FFF2-40B4-BE49-F238E27FC236}">
                    <a16:creationId xmlns:a16="http://schemas.microsoft.com/office/drawing/2014/main" id="{F2559950-0179-9947-9CB8-326A3154920E}"/>
                  </a:ext>
                </a:extLst>
              </p:cNvPr>
              <p:cNvSpPr/>
              <p:nvPr/>
            </p:nvSpPr>
            <p:spPr>
              <a:xfrm>
                <a:off x="887102" y="3325503"/>
                <a:ext cx="206994" cy="206994"/>
              </a:xfrm>
              <a:prstGeom prst="ellipse">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grpSp>
        <p:cxnSp>
          <p:nvCxnSpPr>
            <p:cNvPr id="43" name="Straight Connector 42">
              <a:extLst>
                <a:ext uri="{FF2B5EF4-FFF2-40B4-BE49-F238E27FC236}">
                  <a16:creationId xmlns:a16="http://schemas.microsoft.com/office/drawing/2014/main" id="{F2DA4D71-EFF6-FB46-BF9C-B59369DE4744}"/>
                </a:ext>
              </a:extLst>
            </p:cNvPr>
            <p:cNvCxnSpPr>
              <a:cxnSpLocks/>
              <a:stCxn id="16" idx="0"/>
            </p:cNvCxnSpPr>
            <p:nvPr/>
          </p:nvCxnSpPr>
          <p:spPr>
            <a:xfrm flipV="1">
              <a:off x="616603" y="2662318"/>
              <a:ext cx="0" cy="593992"/>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123" name="Rectangle 122">
            <a:extLst>
              <a:ext uri="{FF2B5EF4-FFF2-40B4-BE49-F238E27FC236}">
                <a16:creationId xmlns:a16="http://schemas.microsoft.com/office/drawing/2014/main" id="{D3E420DB-D41C-EC48-A371-C917AFDF0950}"/>
              </a:ext>
            </a:extLst>
          </p:cNvPr>
          <p:cNvSpPr/>
          <p:nvPr/>
        </p:nvSpPr>
        <p:spPr>
          <a:xfrm>
            <a:off x="370857" y="3263757"/>
            <a:ext cx="498855" cy="276999"/>
          </a:xfrm>
          <a:prstGeom prst="rect">
            <a:avLst/>
          </a:prstGeom>
        </p:spPr>
        <p:txBody>
          <a:bodyPr wrap="none">
            <a:spAutoFit/>
          </a:bodyPr>
          <a:lstStyle/>
          <a:p>
            <a:pPr defTabSz="914384">
              <a:defRPr/>
            </a:pPr>
            <a:r>
              <a:rPr lang="en-US" sz="1200" dirty="0">
                <a:solidFill>
                  <a:srgbClr val="FF0000"/>
                </a:solidFill>
                <a:latin typeface="Calibri" panose="020F0502020204030204"/>
                <a:cs typeface="Arial"/>
                <a:sym typeface="Arial"/>
              </a:rPr>
              <a:t>2000</a:t>
            </a:r>
          </a:p>
        </p:txBody>
      </p:sp>
      <p:sp>
        <p:nvSpPr>
          <p:cNvPr id="70" name="Oval 69">
            <a:extLst>
              <a:ext uri="{FF2B5EF4-FFF2-40B4-BE49-F238E27FC236}">
                <a16:creationId xmlns:a16="http://schemas.microsoft.com/office/drawing/2014/main" id="{3A791FC6-4928-2F4D-8D14-BA5D589831A9}"/>
              </a:ext>
            </a:extLst>
          </p:cNvPr>
          <p:cNvSpPr/>
          <p:nvPr/>
        </p:nvSpPr>
        <p:spPr>
          <a:xfrm rot="10800000">
            <a:off x="1000471" y="3257328"/>
            <a:ext cx="316547" cy="316547"/>
          </a:xfrm>
          <a:prstGeom prst="ellipse">
            <a:avLst/>
          </a:prstGeom>
          <a:noFill/>
          <a:ln w="3810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cxnSp>
        <p:nvCxnSpPr>
          <p:cNvPr id="139" name="Straight Connector 138">
            <a:extLst>
              <a:ext uri="{FF2B5EF4-FFF2-40B4-BE49-F238E27FC236}">
                <a16:creationId xmlns:a16="http://schemas.microsoft.com/office/drawing/2014/main" id="{B9B06481-E239-C04A-A089-FCCD4A1F48B0}"/>
              </a:ext>
            </a:extLst>
          </p:cNvPr>
          <p:cNvCxnSpPr>
            <a:cxnSpLocks/>
          </p:cNvCxnSpPr>
          <p:nvPr/>
        </p:nvCxnSpPr>
        <p:spPr>
          <a:xfrm flipH="1">
            <a:off x="6179300" y="4260467"/>
            <a:ext cx="440107" cy="683766"/>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sp>
        <p:nvSpPr>
          <p:cNvPr id="162" name="Rectangle 161">
            <a:extLst>
              <a:ext uri="{FF2B5EF4-FFF2-40B4-BE49-F238E27FC236}">
                <a16:creationId xmlns:a16="http://schemas.microsoft.com/office/drawing/2014/main" id="{AFDBAE9B-9D8C-6347-81D4-369DC63E7832}"/>
              </a:ext>
            </a:extLst>
          </p:cNvPr>
          <p:cNvSpPr/>
          <p:nvPr/>
        </p:nvSpPr>
        <p:spPr>
          <a:xfrm>
            <a:off x="4157499" y="3232194"/>
            <a:ext cx="184731" cy="338554"/>
          </a:xfrm>
          <a:prstGeom prst="rect">
            <a:avLst/>
          </a:prstGeom>
        </p:spPr>
        <p:txBody>
          <a:bodyPr wrap="none">
            <a:spAutoFit/>
          </a:bodyPr>
          <a:lstStyle/>
          <a:p>
            <a:pPr defTabSz="914384">
              <a:defRPr/>
            </a:pPr>
            <a:endParaRPr lang="en-US" sz="1600" dirty="0">
              <a:solidFill>
                <a:prstClr val="white"/>
              </a:solidFill>
              <a:latin typeface="Calibri" panose="020F0502020204030204"/>
              <a:cs typeface="Arial"/>
              <a:sym typeface="Arial"/>
            </a:endParaRPr>
          </a:p>
        </p:txBody>
      </p:sp>
      <p:sp>
        <p:nvSpPr>
          <p:cNvPr id="181" name="Text Placeholder 32">
            <a:extLst>
              <a:ext uri="{FF2B5EF4-FFF2-40B4-BE49-F238E27FC236}">
                <a16:creationId xmlns:a16="http://schemas.microsoft.com/office/drawing/2014/main" id="{D3788FEE-C5AD-CC43-B5E5-2EAF73969D9D}"/>
              </a:ext>
            </a:extLst>
          </p:cNvPr>
          <p:cNvSpPr txBox="1">
            <a:spLocks/>
          </p:cNvSpPr>
          <p:nvPr/>
        </p:nvSpPr>
        <p:spPr>
          <a:xfrm>
            <a:off x="3684237" y="1774751"/>
            <a:ext cx="1330540" cy="38493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Duplicate Sans Light"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Duplicate Sans Light"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Duplicate Sans Light"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defTabSz="914384">
              <a:buNone/>
              <a:defRPr/>
            </a:pPr>
            <a:r>
              <a:rPr lang="en-US" sz="1200" dirty="0">
                <a:solidFill>
                  <a:prstClr val="white"/>
                </a:solidFill>
                <a:sym typeface="Arial"/>
              </a:rPr>
              <a:t>Super Mod</a:t>
            </a:r>
          </a:p>
          <a:p>
            <a:pPr marL="0" indent="0" algn="ctr" defTabSz="914384">
              <a:buNone/>
              <a:defRPr/>
            </a:pPr>
            <a:r>
              <a:rPr lang="en-US" sz="1200" dirty="0">
                <a:solidFill>
                  <a:prstClr val="white"/>
                </a:solidFill>
                <a:sym typeface="Arial"/>
              </a:rPr>
              <a:t>(VTVL)</a:t>
            </a:r>
          </a:p>
        </p:txBody>
      </p:sp>
      <p:pic>
        <p:nvPicPr>
          <p:cNvPr id="182" name="Picture 181">
            <a:extLst>
              <a:ext uri="{FF2B5EF4-FFF2-40B4-BE49-F238E27FC236}">
                <a16:creationId xmlns:a16="http://schemas.microsoft.com/office/drawing/2014/main" id="{195BAC4E-5D8F-0142-9316-20DAF4D3054A}"/>
              </a:ext>
            </a:extLst>
          </p:cNvPr>
          <p:cNvPicPr>
            <a:picLocks noChangeAspect="1"/>
          </p:cNvPicPr>
          <p:nvPr/>
        </p:nvPicPr>
        <p:blipFill rotWithShape="1">
          <a:blip r:embed="rId10"/>
          <a:srcRect t="3436"/>
          <a:stretch/>
        </p:blipFill>
        <p:spPr>
          <a:xfrm>
            <a:off x="3898333" y="-7679"/>
            <a:ext cx="945249" cy="1215387"/>
          </a:xfrm>
          <a:prstGeom prst="rect">
            <a:avLst/>
          </a:prstGeom>
        </p:spPr>
      </p:pic>
      <p:cxnSp>
        <p:nvCxnSpPr>
          <p:cNvPr id="187" name="Straight Connector 186">
            <a:extLst>
              <a:ext uri="{FF2B5EF4-FFF2-40B4-BE49-F238E27FC236}">
                <a16:creationId xmlns:a16="http://schemas.microsoft.com/office/drawing/2014/main" id="{3FC663D2-0D67-824C-8442-C6FB3023AB64}"/>
              </a:ext>
            </a:extLst>
          </p:cNvPr>
          <p:cNvCxnSpPr>
            <a:cxnSpLocks/>
            <a:stCxn id="179" idx="0"/>
          </p:cNvCxnSpPr>
          <p:nvPr/>
        </p:nvCxnSpPr>
        <p:spPr>
          <a:xfrm flipV="1">
            <a:off x="4407845" y="2660154"/>
            <a:ext cx="0" cy="576055"/>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201" name="Group 200">
            <a:extLst>
              <a:ext uri="{FF2B5EF4-FFF2-40B4-BE49-F238E27FC236}">
                <a16:creationId xmlns:a16="http://schemas.microsoft.com/office/drawing/2014/main" id="{0EB1963F-7B5D-754D-B655-579A9D2FC104}"/>
              </a:ext>
            </a:extLst>
          </p:cNvPr>
          <p:cNvGrpSpPr/>
          <p:nvPr/>
        </p:nvGrpSpPr>
        <p:grpSpPr>
          <a:xfrm>
            <a:off x="4153036" y="3824829"/>
            <a:ext cx="1780283" cy="3006793"/>
            <a:chOff x="1078123" y="3862798"/>
            <a:chExt cx="1780283" cy="3006793"/>
          </a:xfrm>
        </p:grpSpPr>
        <p:sp>
          <p:nvSpPr>
            <p:cNvPr id="202" name="Text Placeholder 32">
              <a:extLst>
                <a:ext uri="{FF2B5EF4-FFF2-40B4-BE49-F238E27FC236}">
                  <a16:creationId xmlns:a16="http://schemas.microsoft.com/office/drawing/2014/main" id="{7569ED2E-CB43-4F48-89A2-92A0F234B407}"/>
                </a:ext>
              </a:extLst>
            </p:cNvPr>
            <p:cNvSpPr txBox="1">
              <a:spLocks/>
            </p:cNvSpPr>
            <p:nvPr/>
          </p:nvSpPr>
          <p:spPr>
            <a:xfrm>
              <a:off x="1078123" y="3862798"/>
              <a:ext cx="1692420" cy="837037"/>
            </a:xfrm>
            <a:prstGeom prst="rect">
              <a:avLst/>
            </a:prstGeom>
            <a:ln w="6350">
              <a:noFill/>
            </a:ln>
          </p:spPr>
          <p:txBody>
            <a:bodyPr vert="horz" lIns="91440" tIns="45720" rIns="91440" bIns="45720" rtlCol="0">
              <a:noAutofit/>
            </a:bodyPr>
            <a:lstStyle>
              <a:lvl1pPr marL="0" indent="0" algn="ctr" defTabSz="914400" rtl="0" eaLnBrk="1" latinLnBrk="0" hangingPunct="1">
                <a:lnSpc>
                  <a:spcPct val="90000"/>
                </a:lnSpc>
                <a:spcBef>
                  <a:spcPts val="1000"/>
                </a:spcBef>
                <a:buFontTx/>
                <a:buNone/>
                <a:defRPr sz="1200" b="0" i="0" kern="1200">
                  <a:solidFill>
                    <a:schemeClr val="tx1"/>
                  </a:solidFill>
                  <a:latin typeface="Duplicate Sans Light"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Duplicate Sans Light"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Duplicate Sans Light"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914384">
                <a:defRPr/>
              </a:pPr>
              <a:r>
                <a:rPr lang="en-US" dirty="0">
                  <a:solidFill>
                    <a:prstClr val="white"/>
                  </a:solidFill>
                  <a:sym typeface="Arial"/>
                </a:rPr>
                <a:t>Exos Aerospace continues funding of Armadillo Team with new management and commercial objectives</a:t>
              </a:r>
            </a:p>
          </p:txBody>
        </p:sp>
        <p:pic>
          <p:nvPicPr>
            <p:cNvPr id="203" name="Picture 202">
              <a:extLst>
                <a:ext uri="{FF2B5EF4-FFF2-40B4-BE49-F238E27FC236}">
                  <a16:creationId xmlns:a16="http://schemas.microsoft.com/office/drawing/2014/main" id="{C6FEB611-574D-FB42-85E7-438A86909103}"/>
                </a:ext>
              </a:extLst>
            </p:cNvPr>
            <p:cNvPicPr>
              <a:picLocks noChangeAspect="1"/>
            </p:cNvPicPr>
            <p:nvPr/>
          </p:nvPicPr>
          <p:blipFill>
            <a:blip r:embed="rId11"/>
            <a:stretch>
              <a:fillRect/>
            </a:stretch>
          </p:blipFill>
          <p:spPr>
            <a:xfrm>
              <a:off x="1185382" y="5758403"/>
              <a:ext cx="1673024" cy="1111188"/>
            </a:xfrm>
            <a:prstGeom prst="rect">
              <a:avLst/>
            </a:prstGeom>
          </p:spPr>
        </p:pic>
      </p:grpSp>
      <p:sp>
        <p:nvSpPr>
          <p:cNvPr id="224" name="Text Placeholder 32">
            <a:extLst>
              <a:ext uri="{FF2B5EF4-FFF2-40B4-BE49-F238E27FC236}">
                <a16:creationId xmlns:a16="http://schemas.microsoft.com/office/drawing/2014/main" id="{317E6F62-0FFA-1A4A-8F24-C46C10827361}"/>
              </a:ext>
            </a:extLst>
          </p:cNvPr>
          <p:cNvSpPr txBox="1">
            <a:spLocks/>
          </p:cNvSpPr>
          <p:nvPr/>
        </p:nvSpPr>
        <p:spPr>
          <a:xfrm>
            <a:off x="4979487" y="1695205"/>
            <a:ext cx="1611297" cy="837037"/>
          </a:xfrm>
          <a:prstGeom prst="rect">
            <a:avLst/>
          </a:prstGeom>
          <a:ln w="6350">
            <a:noFill/>
          </a:ln>
        </p:spPr>
        <p:txBody>
          <a:bodyPr vert="horz" lIns="91440" tIns="45720" rIns="91440" bIns="45720" rtlCol="0">
            <a:noAutofit/>
          </a:bodyPr>
          <a:lstStyle>
            <a:lvl1pPr marL="0" indent="0" algn="ctr" defTabSz="914400" rtl="0" eaLnBrk="1" latinLnBrk="0" hangingPunct="1">
              <a:lnSpc>
                <a:spcPct val="90000"/>
              </a:lnSpc>
              <a:spcBef>
                <a:spcPts val="1000"/>
              </a:spcBef>
              <a:buFontTx/>
              <a:buNone/>
              <a:defRPr sz="1200" b="0" i="0" kern="1200">
                <a:solidFill>
                  <a:schemeClr val="tx1"/>
                </a:solidFill>
                <a:latin typeface="Duplicate Sans Light"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Duplicate Sans Light"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Duplicate Sans Light"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914384">
              <a:defRPr/>
            </a:pPr>
            <a:r>
              <a:rPr lang="en-US" dirty="0">
                <a:solidFill>
                  <a:prstClr val="white"/>
                </a:solidFill>
                <a:sym typeface="Arial"/>
              </a:rPr>
              <a:t>4 Launches and 3 recoveries on 1</a:t>
            </a:r>
            <a:r>
              <a:rPr lang="en-US" baseline="30000" dirty="0">
                <a:solidFill>
                  <a:prstClr val="white"/>
                </a:solidFill>
                <a:sym typeface="Arial"/>
              </a:rPr>
              <a:t>st </a:t>
            </a:r>
            <a:r>
              <a:rPr lang="en-US" dirty="0">
                <a:solidFill>
                  <a:prstClr val="white"/>
                </a:solidFill>
                <a:sym typeface="Arial"/>
              </a:rPr>
              <a:t> SARGE vehicle</a:t>
            </a:r>
          </a:p>
          <a:p>
            <a:pPr defTabSz="914384">
              <a:defRPr/>
            </a:pPr>
            <a:r>
              <a:rPr lang="en-US" dirty="0">
                <a:solidFill>
                  <a:prstClr val="white"/>
                </a:solidFill>
                <a:latin typeface="Duplicate Sans Medium" pitchFamily="2" charset="77"/>
                <a:sym typeface="Arial"/>
              </a:rPr>
              <a:t>Aug 2018 – Oct 2019</a:t>
            </a:r>
          </a:p>
          <a:p>
            <a:pPr defTabSz="914384">
              <a:defRPr/>
            </a:pPr>
            <a:endParaRPr lang="en-US" dirty="0">
              <a:solidFill>
                <a:prstClr val="white"/>
              </a:solidFill>
              <a:sym typeface="Arial"/>
            </a:endParaRPr>
          </a:p>
        </p:txBody>
      </p:sp>
      <p:pic>
        <p:nvPicPr>
          <p:cNvPr id="225" name="Picture 224">
            <a:extLst>
              <a:ext uri="{FF2B5EF4-FFF2-40B4-BE49-F238E27FC236}">
                <a16:creationId xmlns:a16="http://schemas.microsoft.com/office/drawing/2014/main" id="{839BA090-4058-F244-9834-F51CE5F59A1A}"/>
              </a:ext>
            </a:extLst>
          </p:cNvPr>
          <p:cNvPicPr>
            <a:picLocks noChangeAspect="1"/>
          </p:cNvPicPr>
          <p:nvPr/>
        </p:nvPicPr>
        <p:blipFill>
          <a:blip r:embed="rId12"/>
          <a:stretch>
            <a:fillRect/>
          </a:stretch>
        </p:blipFill>
        <p:spPr>
          <a:xfrm>
            <a:off x="5383721" y="-32336"/>
            <a:ext cx="994885" cy="1231761"/>
          </a:xfrm>
          <a:prstGeom prst="rect">
            <a:avLst/>
          </a:prstGeom>
        </p:spPr>
      </p:pic>
      <p:pic>
        <p:nvPicPr>
          <p:cNvPr id="226" name="Picture 225">
            <a:extLst>
              <a:ext uri="{FF2B5EF4-FFF2-40B4-BE49-F238E27FC236}">
                <a16:creationId xmlns:a16="http://schemas.microsoft.com/office/drawing/2014/main" id="{01161775-7701-6445-BAF8-B83595F4D6E0}"/>
              </a:ext>
            </a:extLst>
          </p:cNvPr>
          <p:cNvPicPr>
            <a:picLocks noChangeAspect="1"/>
          </p:cNvPicPr>
          <p:nvPr/>
        </p:nvPicPr>
        <p:blipFill rotWithShape="1">
          <a:blip r:embed="rId13"/>
          <a:srcRect l="13981"/>
          <a:stretch/>
        </p:blipFill>
        <p:spPr>
          <a:xfrm>
            <a:off x="4901029" y="-24011"/>
            <a:ext cx="746824" cy="1223436"/>
          </a:xfrm>
          <a:prstGeom prst="rect">
            <a:avLst/>
          </a:prstGeom>
        </p:spPr>
      </p:pic>
      <p:pic>
        <p:nvPicPr>
          <p:cNvPr id="227" name="Picture 226">
            <a:extLst>
              <a:ext uri="{FF2B5EF4-FFF2-40B4-BE49-F238E27FC236}">
                <a16:creationId xmlns:a16="http://schemas.microsoft.com/office/drawing/2014/main" id="{59E856E3-0134-A349-B382-39FB07E31B77}"/>
              </a:ext>
            </a:extLst>
          </p:cNvPr>
          <p:cNvPicPr>
            <a:picLocks noChangeAspect="1"/>
          </p:cNvPicPr>
          <p:nvPr/>
        </p:nvPicPr>
        <p:blipFill>
          <a:blip r:embed="rId14"/>
          <a:stretch>
            <a:fillRect/>
          </a:stretch>
        </p:blipFill>
        <p:spPr>
          <a:xfrm>
            <a:off x="5946398" y="-38609"/>
            <a:ext cx="592559" cy="395039"/>
          </a:xfrm>
          <a:prstGeom prst="rect">
            <a:avLst/>
          </a:prstGeom>
        </p:spPr>
      </p:pic>
      <p:grpSp>
        <p:nvGrpSpPr>
          <p:cNvPr id="237" name="Group 236">
            <a:extLst>
              <a:ext uri="{FF2B5EF4-FFF2-40B4-BE49-F238E27FC236}">
                <a16:creationId xmlns:a16="http://schemas.microsoft.com/office/drawing/2014/main" id="{47FBA38D-3624-324C-A353-15294698B577}"/>
              </a:ext>
            </a:extLst>
          </p:cNvPr>
          <p:cNvGrpSpPr/>
          <p:nvPr/>
        </p:nvGrpSpPr>
        <p:grpSpPr>
          <a:xfrm>
            <a:off x="6089400" y="3959646"/>
            <a:ext cx="1964807" cy="2871977"/>
            <a:chOff x="4118160" y="4185575"/>
            <a:chExt cx="2210315" cy="2996494"/>
          </a:xfrm>
        </p:grpSpPr>
        <p:sp>
          <p:nvSpPr>
            <p:cNvPr id="238" name="Text Placeholder 32">
              <a:extLst>
                <a:ext uri="{FF2B5EF4-FFF2-40B4-BE49-F238E27FC236}">
                  <a16:creationId xmlns:a16="http://schemas.microsoft.com/office/drawing/2014/main" id="{735AC0AF-F008-C84F-8442-A7DF7D886174}"/>
                </a:ext>
              </a:extLst>
            </p:cNvPr>
            <p:cNvSpPr txBox="1">
              <a:spLocks/>
            </p:cNvSpPr>
            <p:nvPr/>
          </p:nvSpPr>
          <p:spPr>
            <a:xfrm>
              <a:off x="4469736" y="4185575"/>
              <a:ext cx="1429330" cy="837037"/>
            </a:xfrm>
            <a:prstGeom prst="rect">
              <a:avLst/>
            </a:prstGeom>
            <a:ln w="6350">
              <a:noFill/>
            </a:ln>
          </p:spPr>
          <p:txBody>
            <a:bodyPr vert="horz" lIns="91440" tIns="45720" rIns="91440" bIns="45720" rtlCol="0">
              <a:noAutofit/>
            </a:bodyPr>
            <a:lstStyle>
              <a:lvl1pPr marL="0" indent="0" algn="ctr" defTabSz="914400" rtl="0" eaLnBrk="1" latinLnBrk="0" hangingPunct="1">
                <a:lnSpc>
                  <a:spcPct val="90000"/>
                </a:lnSpc>
                <a:spcBef>
                  <a:spcPts val="1000"/>
                </a:spcBef>
                <a:buFontTx/>
                <a:buNone/>
                <a:defRPr sz="1200" b="0" i="0" kern="1200">
                  <a:solidFill>
                    <a:schemeClr val="tx1"/>
                  </a:solidFill>
                  <a:latin typeface="Duplicate Sans Light"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Duplicate Sans Light"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Duplicate Sans Light"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914384">
                <a:defRPr/>
              </a:pPr>
              <a:r>
                <a:rPr lang="en-US" dirty="0">
                  <a:solidFill>
                    <a:prstClr val="white"/>
                  </a:solidFill>
                  <a:sym typeface="Arial"/>
                </a:rPr>
                <a:t>2021 Phase II Air Force Hypersonic Contract</a:t>
              </a:r>
            </a:p>
          </p:txBody>
        </p:sp>
        <p:pic>
          <p:nvPicPr>
            <p:cNvPr id="240" name="Picture 239">
              <a:extLst>
                <a:ext uri="{FF2B5EF4-FFF2-40B4-BE49-F238E27FC236}">
                  <a16:creationId xmlns:a16="http://schemas.microsoft.com/office/drawing/2014/main" id="{64E35E0C-20F6-3A4D-A921-3195FDF01A06}"/>
                </a:ext>
              </a:extLst>
            </p:cNvPr>
            <p:cNvPicPr>
              <a:picLocks noChangeAspect="1"/>
            </p:cNvPicPr>
            <p:nvPr/>
          </p:nvPicPr>
          <p:blipFill>
            <a:blip r:embed="rId15"/>
            <a:stretch>
              <a:fillRect/>
            </a:stretch>
          </p:blipFill>
          <p:spPr>
            <a:xfrm>
              <a:off x="4118160" y="6037589"/>
              <a:ext cx="2210315" cy="1144480"/>
            </a:xfrm>
            <a:prstGeom prst="rect">
              <a:avLst/>
            </a:prstGeom>
          </p:spPr>
        </p:pic>
      </p:grpSp>
      <p:cxnSp>
        <p:nvCxnSpPr>
          <p:cNvPr id="245" name="Straight Connector 244">
            <a:extLst>
              <a:ext uri="{FF2B5EF4-FFF2-40B4-BE49-F238E27FC236}">
                <a16:creationId xmlns:a16="http://schemas.microsoft.com/office/drawing/2014/main" id="{9FBC1DE2-1C20-444F-B0F4-E35A37D1F2C0}"/>
              </a:ext>
            </a:extLst>
          </p:cNvPr>
          <p:cNvCxnSpPr>
            <a:cxnSpLocks/>
          </p:cNvCxnSpPr>
          <p:nvPr/>
        </p:nvCxnSpPr>
        <p:spPr>
          <a:xfrm flipH="1" flipV="1">
            <a:off x="5767673" y="2650679"/>
            <a:ext cx="1312" cy="610012"/>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83" name="Group 82">
            <a:extLst>
              <a:ext uri="{FF2B5EF4-FFF2-40B4-BE49-F238E27FC236}">
                <a16:creationId xmlns:a16="http://schemas.microsoft.com/office/drawing/2014/main" id="{3113EB33-ED6B-3949-8484-0FB238054A85}"/>
              </a:ext>
            </a:extLst>
          </p:cNvPr>
          <p:cNvGrpSpPr/>
          <p:nvPr/>
        </p:nvGrpSpPr>
        <p:grpSpPr>
          <a:xfrm>
            <a:off x="10769703" y="-437011"/>
            <a:ext cx="369332" cy="6856508"/>
            <a:chOff x="9308068" y="487595"/>
            <a:chExt cx="369332" cy="6599005"/>
          </a:xfrm>
        </p:grpSpPr>
        <p:cxnSp>
          <p:nvCxnSpPr>
            <p:cNvPr id="254" name="Straight Connector 253">
              <a:extLst>
                <a:ext uri="{FF2B5EF4-FFF2-40B4-BE49-F238E27FC236}">
                  <a16:creationId xmlns:a16="http://schemas.microsoft.com/office/drawing/2014/main" id="{1F018645-0BFB-624C-91C0-B130ABD0FB0B}"/>
                </a:ext>
              </a:extLst>
            </p:cNvPr>
            <p:cNvCxnSpPr>
              <a:cxnSpLocks/>
            </p:cNvCxnSpPr>
            <p:nvPr/>
          </p:nvCxnSpPr>
          <p:spPr>
            <a:xfrm>
              <a:off x="9632067" y="487595"/>
              <a:ext cx="0" cy="6599005"/>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255" name="TextBox 254">
              <a:extLst>
                <a:ext uri="{FF2B5EF4-FFF2-40B4-BE49-F238E27FC236}">
                  <a16:creationId xmlns:a16="http://schemas.microsoft.com/office/drawing/2014/main" id="{48885FC4-93EE-7849-9417-0C542331D5A8}"/>
                </a:ext>
              </a:extLst>
            </p:cNvPr>
            <p:cNvSpPr txBox="1"/>
            <p:nvPr/>
          </p:nvSpPr>
          <p:spPr>
            <a:xfrm rot="16200000">
              <a:off x="9093387" y="2369760"/>
              <a:ext cx="798694" cy="369332"/>
            </a:xfrm>
            <a:prstGeom prst="rect">
              <a:avLst/>
            </a:prstGeom>
            <a:noFill/>
          </p:spPr>
          <p:txBody>
            <a:bodyPr wrap="square" rtlCol="0">
              <a:spAutoFit/>
            </a:bodyPr>
            <a:lstStyle/>
            <a:p>
              <a:pPr algn="ctr" defTabSz="914384">
                <a:defRPr/>
              </a:pPr>
              <a:r>
                <a:rPr lang="en-US" dirty="0">
                  <a:solidFill>
                    <a:srgbClr val="C00000"/>
                  </a:solidFill>
                  <a:latin typeface="Duplicate Sans Light" pitchFamily="2" charset="77"/>
                  <a:cs typeface="Arial"/>
                  <a:sym typeface="Arial"/>
                </a:rPr>
                <a:t>Today</a:t>
              </a:r>
            </a:p>
          </p:txBody>
        </p:sp>
      </p:grpSp>
      <p:sp>
        <p:nvSpPr>
          <p:cNvPr id="262" name="Rectangle 261">
            <a:extLst>
              <a:ext uri="{FF2B5EF4-FFF2-40B4-BE49-F238E27FC236}">
                <a16:creationId xmlns:a16="http://schemas.microsoft.com/office/drawing/2014/main" id="{42899B24-B296-B846-8476-C4F16033E316}"/>
              </a:ext>
            </a:extLst>
          </p:cNvPr>
          <p:cNvSpPr/>
          <p:nvPr/>
        </p:nvSpPr>
        <p:spPr>
          <a:xfrm>
            <a:off x="6758112" y="1688528"/>
            <a:ext cx="1651475" cy="1754326"/>
          </a:xfrm>
          <a:prstGeom prst="rect">
            <a:avLst/>
          </a:prstGeom>
        </p:spPr>
        <p:txBody>
          <a:bodyPr wrap="square">
            <a:spAutoFit/>
          </a:bodyPr>
          <a:lstStyle/>
          <a:p>
            <a:pPr defTabSz="914384">
              <a:defRPr/>
            </a:pPr>
            <a:r>
              <a:rPr lang="en-US" sz="1200" dirty="0">
                <a:solidFill>
                  <a:prstClr val="white"/>
                </a:solidFill>
                <a:latin typeface="Duplicate Sans Regular" pitchFamily="2" charset="77"/>
                <a:cs typeface="Arial"/>
                <a:sym typeface="Arial"/>
              </a:rPr>
              <a:t>Italy $6.4M grant LOI.  2022 -2025 Exos Aerospace Italia </a:t>
            </a:r>
            <a:r>
              <a:rPr lang="en-US" sz="1200" dirty="0" err="1">
                <a:solidFill>
                  <a:prstClr val="white"/>
                </a:solidFill>
                <a:latin typeface="Duplicate Sans Regular" pitchFamily="2" charset="77"/>
                <a:cs typeface="Arial"/>
                <a:sym typeface="Arial"/>
              </a:rPr>
              <a:t>Srl</a:t>
            </a:r>
            <a:r>
              <a:rPr lang="en-US" sz="1200" dirty="0">
                <a:solidFill>
                  <a:prstClr val="white"/>
                </a:solidFill>
                <a:latin typeface="Duplicate Sans Regular" pitchFamily="2" charset="77"/>
                <a:cs typeface="Arial"/>
                <a:sym typeface="Arial"/>
              </a:rPr>
              <a:t>  work with Defense on Suborbital Air Launch   development and work with Spaceland.it on microgravity research</a:t>
            </a:r>
          </a:p>
          <a:p>
            <a:pPr defTabSz="914384">
              <a:defRPr/>
            </a:pPr>
            <a:endParaRPr lang="en-US" sz="1200" dirty="0">
              <a:solidFill>
                <a:prstClr val="white"/>
              </a:solidFill>
              <a:latin typeface="Duplicate Sans Regular" pitchFamily="2" charset="77"/>
              <a:cs typeface="Arial"/>
              <a:sym typeface="Arial"/>
            </a:endParaRPr>
          </a:p>
        </p:txBody>
      </p:sp>
      <p:grpSp>
        <p:nvGrpSpPr>
          <p:cNvPr id="263" name="Group 262">
            <a:extLst>
              <a:ext uri="{FF2B5EF4-FFF2-40B4-BE49-F238E27FC236}">
                <a16:creationId xmlns:a16="http://schemas.microsoft.com/office/drawing/2014/main" id="{FA60BE43-1378-C846-9F4C-10206CDF49ED}"/>
              </a:ext>
            </a:extLst>
          </p:cNvPr>
          <p:cNvGrpSpPr/>
          <p:nvPr/>
        </p:nvGrpSpPr>
        <p:grpSpPr>
          <a:xfrm>
            <a:off x="6647049" y="-34606"/>
            <a:ext cx="1145550" cy="1153347"/>
            <a:chOff x="8023332" y="360458"/>
            <a:chExt cx="908606" cy="1073807"/>
          </a:xfrm>
        </p:grpSpPr>
        <p:pic>
          <p:nvPicPr>
            <p:cNvPr id="264" name="Picture 263">
              <a:extLst>
                <a:ext uri="{FF2B5EF4-FFF2-40B4-BE49-F238E27FC236}">
                  <a16:creationId xmlns:a16="http://schemas.microsoft.com/office/drawing/2014/main" id="{9F4BBF18-51FA-CB44-B4FA-7DF24C08EDB1}"/>
                </a:ext>
              </a:extLst>
            </p:cNvPr>
            <p:cNvPicPr>
              <a:picLocks noChangeAspect="1"/>
            </p:cNvPicPr>
            <p:nvPr/>
          </p:nvPicPr>
          <p:blipFill>
            <a:blip r:embed="rId16"/>
            <a:stretch>
              <a:fillRect/>
            </a:stretch>
          </p:blipFill>
          <p:spPr>
            <a:xfrm>
              <a:off x="8023332" y="360458"/>
              <a:ext cx="908606" cy="1073807"/>
            </a:xfrm>
            <a:prstGeom prst="rect">
              <a:avLst/>
            </a:prstGeom>
          </p:spPr>
        </p:pic>
        <p:pic>
          <p:nvPicPr>
            <p:cNvPr id="265" name="Picture 264" descr="A close up of a logo&#10;&#10;Description automatically generated">
              <a:extLst>
                <a:ext uri="{FF2B5EF4-FFF2-40B4-BE49-F238E27FC236}">
                  <a16:creationId xmlns:a16="http://schemas.microsoft.com/office/drawing/2014/main" id="{0EDFFA98-58D0-5744-A65F-6B59D9F086EF}"/>
                </a:ext>
              </a:extLst>
            </p:cNvPr>
            <p:cNvPicPr>
              <a:picLocks noChangeAspect="1"/>
            </p:cNvPicPr>
            <p:nvPr/>
          </p:nvPicPr>
          <p:blipFill>
            <a:blip r:embed="rId17"/>
            <a:stretch>
              <a:fillRect/>
            </a:stretch>
          </p:blipFill>
          <p:spPr>
            <a:xfrm rot="2464851">
              <a:off x="8340622" y="781956"/>
              <a:ext cx="399480" cy="185503"/>
            </a:xfrm>
            <a:prstGeom prst="rect">
              <a:avLst/>
            </a:prstGeom>
          </p:spPr>
        </p:pic>
      </p:grpSp>
      <p:grpSp>
        <p:nvGrpSpPr>
          <p:cNvPr id="48" name="Group 47">
            <a:extLst>
              <a:ext uri="{FF2B5EF4-FFF2-40B4-BE49-F238E27FC236}">
                <a16:creationId xmlns:a16="http://schemas.microsoft.com/office/drawing/2014/main" id="{5BF91C66-C73F-D945-AAB0-2B19C3D96EBF}"/>
              </a:ext>
            </a:extLst>
          </p:cNvPr>
          <p:cNvGrpSpPr/>
          <p:nvPr/>
        </p:nvGrpSpPr>
        <p:grpSpPr>
          <a:xfrm>
            <a:off x="3006346" y="2660155"/>
            <a:ext cx="316547" cy="899841"/>
            <a:chOff x="3298542" y="2660154"/>
            <a:chExt cx="316547" cy="899841"/>
          </a:xfrm>
        </p:grpSpPr>
        <p:cxnSp>
          <p:nvCxnSpPr>
            <p:cNvPr id="154" name="Straight Connector 153">
              <a:extLst>
                <a:ext uri="{FF2B5EF4-FFF2-40B4-BE49-F238E27FC236}">
                  <a16:creationId xmlns:a16="http://schemas.microsoft.com/office/drawing/2014/main" id="{83CB007D-7E63-484B-BA71-DE50F047D356}"/>
                </a:ext>
              </a:extLst>
            </p:cNvPr>
            <p:cNvCxnSpPr>
              <a:cxnSpLocks/>
              <a:stCxn id="168" idx="0"/>
            </p:cNvCxnSpPr>
            <p:nvPr/>
          </p:nvCxnSpPr>
          <p:spPr>
            <a:xfrm flipH="1" flipV="1">
              <a:off x="3448870" y="2660154"/>
              <a:ext cx="7945" cy="596156"/>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59" name="Group 158">
              <a:extLst>
                <a:ext uri="{FF2B5EF4-FFF2-40B4-BE49-F238E27FC236}">
                  <a16:creationId xmlns:a16="http://schemas.microsoft.com/office/drawing/2014/main" id="{903E3315-DE37-EB43-B540-1A79CE7DEDD7}"/>
                </a:ext>
              </a:extLst>
            </p:cNvPr>
            <p:cNvGrpSpPr/>
            <p:nvPr/>
          </p:nvGrpSpPr>
          <p:grpSpPr>
            <a:xfrm>
              <a:off x="3298542" y="3243448"/>
              <a:ext cx="316547" cy="316547"/>
              <a:chOff x="762004" y="3201390"/>
              <a:chExt cx="457195" cy="457195"/>
            </a:xfrm>
          </p:grpSpPr>
          <p:sp>
            <p:nvSpPr>
              <p:cNvPr id="168" name="Oval 167">
                <a:extLst>
                  <a:ext uri="{FF2B5EF4-FFF2-40B4-BE49-F238E27FC236}">
                    <a16:creationId xmlns:a16="http://schemas.microsoft.com/office/drawing/2014/main" id="{45C003D3-C127-1E47-8F34-0CC4B8B75379}"/>
                  </a:ext>
                </a:extLst>
              </p:cNvPr>
              <p:cNvSpPr/>
              <p:nvPr/>
            </p:nvSpPr>
            <p:spPr>
              <a:xfrm>
                <a:off x="781569" y="3219967"/>
                <a:ext cx="418064" cy="418063"/>
              </a:xfrm>
              <a:prstGeom prst="ellipse">
                <a:avLst/>
              </a:prstGeom>
              <a:solidFill>
                <a:schemeClr val="bg1">
                  <a:lumMod val="95000"/>
                  <a:lumOff val="5000"/>
                </a:schemeClr>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169" name="Oval 168">
                <a:extLst>
                  <a:ext uri="{FF2B5EF4-FFF2-40B4-BE49-F238E27FC236}">
                    <a16:creationId xmlns:a16="http://schemas.microsoft.com/office/drawing/2014/main" id="{EC047F8A-F840-CB4C-A869-5E33AD4539BF}"/>
                  </a:ext>
                </a:extLst>
              </p:cNvPr>
              <p:cNvSpPr/>
              <p:nvPr/>
            </p:nvSpPr>
            <p:spPr>
              <a:xfrm>
                <a:off x="762004" y="3201390"/>
                <a:ext cx="457195" cy="457195"/>
              </a:xfrm>
              <a:prstGeom prst="ellipse">
                <a:avLst/>
              </a:prstGeom>
              <a:noFill/>
              <a:ln w="3810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176" name="Oval 175">
                <a:extLst>
                  <a:ext uri="{FF2B5EF4-FFF2-40B4-BE49-F238E27FC236}">
                    <a16:creationId xmlns:a16="http://schemas.microsoft.com/office/drawing/2014/main" id="{782BEEBC-D165-114B-866A-351851EB3295}"/>
                  </a:ext>
                </a:extLst>
              </p:cNvPr>
              <p:cNvSpPr/>
              <p:nvPr/>
            </p:nvSpPr>
            <p:spPr>
              <a:xfrm>
                <a:off x="887102" y="3325503"/>
                <a:ext cx="206994" cy="206994"/>
              </a:xfrm>
              <a:prstGeom prst="ellipse">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grpSp>
      </p:grpSp>
      <p:grpSp>
        <p:nvGrpSpPr>
          <p:cNvPr id="177" name="Group 176">
            <a:extLst>
              <a:ext uri="{FF2B5EF4-FFF2-40B4-BE49-F238E27FC236}">
                <a16:creationId xmlns:a16="http://schemas.microsoft.com/office/drawing/2014/main" id="{B3F907F6-0631-DC4F-9148-A9C7ACC10A69}"/>
              </a:ext>
            </a:extLst>
          </p:cNvPr>
          <p:cNvGrpSpPr/>
          <p:nvPr/>
        </p:nvGrpSpPr>
        <p:grpSpPr>
          <a:xfrm>
            <a:off x="4249572" y="3236210"/>
            <a:ext cx="316547" cy="316547"/>
            <a:chOff x="762004" y="3201390"/>
            <a:chExt cx="457195" cy="457195"/>
          </a:xfrm>
        </p:grpSpPr>
        <p:sp>
          <p:nvSpPr>
            <p:cNvPr id="178" name="Oval 177">
              <a:extLst>
                <a:ext uri="{FF2B5EF4-FFF2-40B4-BE49-F238E27FC236}">
                  <a16:creationId xmlns:a16="http://schemas.microsoft.com/office/drawing/2014/main" id="{9418756D-4CB2-084B-83FC-9257C085D77D}"/>
                </a:ext>
              </a:extLst>
            </p:cNvPr>
            <p:cNvSpPr/>
            <p:nvPr/>
          </p:nvSpPr>
          <p:spPr>
            <a:xfrm>
              <a:off x="781569" y="3219967"/>
              <a:ext cx="418064" cy="418063"/>
            </a:xfrm>
            <a:prstGeom prst="ellipse">
              <a:avLst/>
            </a:prstGeom>
            <a:solidFill>
              <a:schemeClr val="bg1">
                <a:lumMod val="95000"/>
                <a:lumOff val="5000"/>
              </a:schemeClr>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179" name="Oval 178">
              <a:extLst>
                <a:ext uri="{FF2B5EF4-FFF2-40B4-BE49-F238E27FC236}">
                  <a16:creationId xmlns:a16="http://schemas.microsoft.com/office/drawing/2014/main" id="{9BE516B5-8F11-334D-BCF9-6C26179F7F0C}"/>
                </a:ext>
              </a:extLst>
            </p:cNvPr>
            <p:cNvSpPr/>
            <p:nvPr/>
          </p:nvSpPr>
          <p:spPr>
            <a:xfrm>
              <a:off x="762004" y="3201390"/>
              <a:ext cx="457195" cy="457195"/>
            </a:xfrm>
            <a:prstGeom prst="ellipse">
              <a:avLst/>
            </a:prstGeom>
            <a:noFill/>
            <a:ln w="3810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180" name="Oval 179">
              <a:extLst>
                <a:ext uri="{FF2B5EF4-FFF2-40B4-BE49-F238E27FC236}">
                  <a16:creationId xmlns:a16="http://schemas.microsoft.com/office/drawing/2014/main" id="{61D5D6F5-E86D-5F46-BC85-9C27C1040415}"/>
                </a:ext>
              </a:extLst>
            </p:cNvPr>
            <p:cNvSpPr/>
            <p:nvPr/>
          </p:nvSpPr>
          <p:spPr>
            <a:xfrm>
              <a:off x="887102" y="3325503"/>
              <a:ext cx="206994" cy="206994"/>
            </a:xfrm>
            <a:prstGeom prst="ellipse">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grpSp>
      <p:grpSp>
        <p:nvGrpSpPr>
          <p:cNvPr id="191" name="Group 190">
            <a:extLst>
              <a:ext uri="{FF2B5EF4-FFF2-40B4-BE49-F238E27FC236}">
                <a16:creationId xmlns:a16="http://schemas.microsoft.com/office/drawing/2014/main" id="{A9FB6F08-07E3-C845-9E61-2FEE7733EA77}"/>
              </a:ext>
            </a:extLst>
          </p:cNvPr>
          <p:cNvGrpSpPr/>
          <p:nvPr/>
        </p:nvGrpSpPr>
        <p:grpSpPr>
          <a:xfrm>
            <a:off x="4985893" y="3243449"/>
            <a:ext cx="316547" cy="316547"/>
            <a:chOff x="762004" y="3201390"/>
            <a:chExt cx="457195" cy="457195"/>
          </a:xfrm>
        </p:grpSpPr>
        <p:sp>
          <p:nvSpPr>
            <p:cNvPr id="192" name="Oval 191">
              <a:extLst>
                <a:ext uri="{FF2B5EF4-FFF2-40B4-BE49-F238E27FC236}">
                  <a16:creationId xmlns:a16="http://schemas.microsoft.com/office/drawing/2014/main" id="{0DBAE9A4-C466-2B47-BC76-718A199BE15F}"/>
                </a:ext>
              </a:extLst>
            </p:cNvPr>
            <p:cNvSpPr/>
            <p:nvPr/>
          </p:nvSpPr>
          <p:spPr>
            <a:xfrm>
              <a:off x="781569" y="3219967"/>
              <a:ext cx="418064" cy="418063"/>
            </a:xfrm>
            <a:prstGeom prst="ellipse">
              <a:avLst/>
            </a:prstGeom>
            <a:solidFill>
              <a:schemeClr val="bg1">
                <a:lumMod val="95000"/>
                <a:lumOff val="5000"/>
              </a:schemeClr>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193" name="Oval 192">
              <a:extLst>
                <a:ext uri="{FF2B5EF4-FFF2-40B4-BE49-F238E27FC236}">
                  <a16:creationId xmlns:a16="http://schemas.microsoft.com/office/drawing/2014/main" id="{9AFDE4AE-19DA-B341-BAE7-A61474056E51}"/>
                </a:ext>
              </a:extLst>
            </p:cNvPr>
            <p:cNvSpPr/>
            <p:nvPr/>
          </p:nvSpPr>
          <p:spPr>
            <a:xfrm>
              <a:off x="762004" y="3201390"/>
              <a:ext cx="457195" cy="457195"/>
            </a:xfrm>
            <a:prstGeom prst="ellipse">
              <a:avLst/>
            </a:prstGeom>
            <a:noFill/>
            <a:ln w="3810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194" name="Oval 193">
              <a:extLst>
                <a:ext uri="{FF2B5EF4-FFF2-40B4-BE49-F238E27FC236}">
                  <a16:creationId xmlns:a16="http://schemas.microsoft.com/office/drawing/2014/main" id="{23393304-48AE-0446-BAE4-BE16CA0D9F14}"/>
                </a:ext>
              </a:extLst>
            </p:cNvPr>
            <p:cNvSpPr/>
            <p:nvPr/>
          </p:nvSpPr>
          <p:spPr>
            <a:xfrm>
              <a:off x="887102" y="3325503"/>
              <a:ext cx="206994" cy="206994"/>
            </a:xfrm>
            <a:prstGeom prst="ellipse">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grpSp>
      <p:sp>
        <p:nvSpPr>
          <p:cNvPr id="124" name="Rectangle 123">
            <a:extLst>
              <a:ext uri="{FF2B5EF4-FFF2-40B4-BE49-F238E27FC236}">
                <a16:creationId xmlns:a16="http://schemas.microsoft.com/office/drawing/2014/main" id="{65E99FCD-BC5D-7042-A737-B4158326977A}"/>
              </a:ext>
            </a:extLst>
          </p:cNvPr>
          <p:cNvSpPr/>
          <p:nvPr/>
        </p:nvSpPr>
        <p:spPr>
          <a:xfrm>
            <a:off x="921306" y="3263757"/>
            <a:ext cx="498855" cy="276999"/>
          </a:xfrm>
          <a:prstGeom prst="rect">
            <a:avLst/>
          </a:prstGeom>
        </p:spPr>
        <p:txBody>
          <a:bodyPr wrap="none">
            <a:spAutoFit/>
          </a:bodyPr>
          <a:lstStyle/>
          <a:p>
            <a:pPr defTabSz="914384">
              <a:defRPr/>
            </a:pPr>
            <a:r>
              <a:rPr lang="en-US" sz="1200" dirty="0">
                <a:solidFill>
                  <a:srgbClr val="FF0000"/>
                </a:solidFill>
                <a:latin typeface="Calibri" panose="020F0502020204030204"/>
                <a:cs typeface="Arial"/>
                <a:sym typeface="Arial"/>
              </a:rPr>
              <a:t>2006</a:t>
            </a:r>
          </a:p>
        </p:txBody>
      </p:sp>
      <p:grpSp>
        <p:nvGrpSpPr>
          <p:cNvPr id="15" name="Group 14">
            <a:extLst>
              <a:ext uri="{FF2B5EF4-FFF2-40B4-BE49-F238E27FC236}">
                <a16:creationId xmlns:a16="http://schemas.microsoft.com/office/drawing/2014/main" id="{6F83810D-8F09-AC40-B37D-ED26DE93F9A2}"/>
              </a:ext>
            </a:extLst>
          </p:cNvPr>
          <p:cNvGrpSpPr/>
          <p:nvPr/>
        </p:nvGrpSpPr>
        <p:grpSpPr>
          <a:xfrm>
            <a:off x="1794869" y="2686378"/>
            <a:ext cx="316547" cy="873617"/>
            <a:chOff x="1794868" y="2686378"/>
            <a:chExt cx="316547" cy="873617"/>
          </a:xfrm>
        </p:grpSpPr>
        <p:cxnSp>
          <p:nvCxnSpPr>
            <p:cNvPr id="130" name="Straight Connector 129">
              <a:extLst>
                <a:ext uri="{FF2B5EF4-FFF2-40B4-BE49-F238E27FC236}">
                  <a16:creationId xmlns:a16="http://schemas.microsoft.com/office/drawing/2014/main" id="{44582BFA-844F-6549-9F47-6DB62EAE2BDC}"/>
                </a:ext>
              </a:extLst>
            </p:cNvPr>
            <p:cNvCxnSpPr>
              <a:cxnSpLocks/>
              <a:stCxn id="148" idx="0"/>
            </p:cNvCxnSpPr>
            <p:nvPr/>
          </p:nvCxnSpPr>
          <p:spPr>
            <a:xfrm flipV="1">
              <a:off x="1953141" y="2686378"/>
              <a:ext cx="0" cy="569932"/>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47" name="Group 146">
              <a:extLst>
                <a:ext uri="{FF2B5EF4-FFF2-40B4-BE49-F238E27FC236}">
                  <a16:creationId xmlns:a16="http://schemas.microsoft.com/office/drawing/2014/main" id="{52C6E261-9F21-2D49-B7EF-30917AA407AE}"/>
                </a:ext>
              </a:extLst>
            </p:cNvPr>
            <p:cNvGrpSpPr/>
            <p:nvPr/>
          </p:nvGrpSpPr>
          <p:grpSpPr>
            <a:xfrm>
              <a:off x="1794868" y="3243448"/>
              <a:ext cx="316547" cy="316547"/>
              <a:chOff x="762004" y="3201390"/>
              <a:chExt cx="457195" cy="457195"/>
            </a:xfrm>
          </p:grpSpPr>
          <p:sp>
            <p:nvSpPr>
              <p:cNvPr id="148" name="Oval 147">
                <a:extLst>
                  <a:ext uri="{FF2B5EF4-FFF2-40B4-BE49-F238E27FC236}">
                    <a16:creationId xmlns:a16="http://schemas.microsoft.com/office/drawing/2014/main" id="{45A41C49-E033-0B43-A5A1-3B053B80229B}"/>
                  </a:ext>
                </a:extLst>
              </p:cNvPr>
              <p:cNvSpPr/>
              <p:nvPr/>
            </p:nvSpPr>
            <p:spPr>
              <a:xfrm>
                <a:off x="781569" y="3219967"/>
                <a:ext cx="418064" cy="418063"/>
              </a:xfrm>
              <a:prstGeom prst="ellipse">
                <a:avLst/>
              </a:prstGeom>
              <a:solidFill>
                <a:schemeClr val="bg1">
                  <a:lumMod val="95000"/>
                  <a:lumOff val="5000"/>
                </a:schemeClr>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149" name="Oval 148">
                <a:extLst>
                  <a:ext uri="{FF2B5EF4-FFF2-40B4-BE49-F238E27FC236}">
                    <a16:creationId xmlns:a16="http://schemas.microsoft.com/office/drawing/2014/main" id="{2C8D71FF-3379-764A-8A5F-173EA1991C98}"/>
                  </a:ext>
                </a:extLst>
              </p:cNvPr>
              <p:cNvSpPr/>
              <p:nvPr/>
            </p:nvSpPr>
            <p:spPr>
              <a:xfrm>
                <a:off x="762004" y="3201390"/>
                <a:ext cx="457195" cy="457195"/>
              </a:xfrm>
              <a:prstGeom prst="ellipse">
                <a:avLst/>
              </a:prstGeom>
              <a:noFill/>
              <a:ln w="3810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158" name="Oval 157">
                <a:extLst>
                  <a:ext uri="{FF2B5EF4-FFF2-40B4-BE49-F238E27FC236}">
                    <a16:creationId xmlns:a16="http://schemas.microsoft.com/office/drawing/2014/main" id="{8E29616E-C49F-674B-B0CF-1DD1E0CD90F2}"/>
                  </a:ext>
                </a:extLst>
              </p:cNvPr>
              <p:cNvSpPr/>
              <p:nvPr/>
            </p:nvSpPr>
            <p:spPr>
              <a:xfrm>
                <a:off x="887102" y="3325503"/>
                <a:ext cx="206994" cy="206994"/>
              </a:xfrm>
              <a:prstGeom prst="ellipse">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grpSp>
      </p:grpSp>
      <p:sp>
        <p:nvSpPr>
          <p:cNvPr id="128" name="Rectangle 127">
            <a:extLst>
              <a:ext uri="{FF2B5EF4-FFF2-40B4-BE49-F238E27FC236}">
                <a16:creationId xmlns:a16="http://schemas.microsoft.com/office/drawing/2014/main" id="{DBB8238E-12F9-364B-B2F9-8F82CC3B2E53}"/>
              </a:ext>
            </a:extLst>
          </p:cNvPr>
          <p:cNvSpPr/>
          <p:nvPr/>
        </p:nvSpPr>
        <p:spPr>
          <a:xfrm>
            <a:off x="1706129" y="3263757"/>
            <a:ext cx="498855" cy="276999"/>
          </a:xfrm>
          <a:prstGeom prst="rect">
            <a:avLst/>
          </a:prstGeom>
        </p:spPr>
        <p:txBody>
          <a:bodyPr wrap="none">
            <a:spAutoFit/>
          </a:bodyPr>
          <a:lstStyle/>
          <a:p>
            <a:pPr defTabSz="914384">
              <a:defRPr/>
            </a:pPr>
            <a:r>
              <a:rPr lang="en-US" sz="1200" dirty="0">
                <a:solidFill>
                  <a:srgbClr val="FF0000"/>
                </a:solidFill>
                <a:latin typeface="Calibri" panose="020F0502020204030204"/>
                <a:cs typeface="Arial"/>
                <a:sym typeface="Arial"/>
              </a:rPr>
              <a:t>2008</a:t>
            </a:r>
          </a:p>
        </p:txBody>
      </p:sp>
      <p:grpSp>
        <p:nvGrpSpPr>
          <p:cNvPr id="214" name="Group 213">
            <a:extLst>
              <a:ext uri="{FF2B5EF4-FFF2-40B4-BE49-F238E27FC236}">
                <a16:creationId xmlns:a16="http://schemas.microsoft.com/office/drawing/2014/main" id="{54E6560D-09DC-8F40-88BF-6C24EC744F6C}"/>
              </a:ext>
            </a:extLst>
          </p:cNvPr>
          <p:cNvGrpSpPr/>
          <p:nvPr/>
        </p:nvGrpSpPr>
        <p:grpSpPr>
          <a:xfrm>
            <a:off x="2362201" y="3232194"/>
            <a:ext cx="316547" cy="316547"/>
            <a:chOff x="762004" y="3201390"/>
            <a:chExt cx="457195" cy="457195"/>
          </a:xfrm>
        </p:grpSpPr>
        <p:sp>
          <p:nvSpPr>
            <p:cNvPr id="215" name="Oval 214">
              <a:extLst>
                <a:ext uri="{FF2B5EF4-FFF2-40B4-BE49-F238E27FC236}">
                  <a16:creationId xmlns:a16="http://schemas.microsoft.com/office/drawing/2014/main" id="{10761E6A-146D-5448-A2D6-896D94765F0D}"/>
                </a:ext>
              </a:extLst>
            </p:cNvPr>
            <p:cNvSpPr/>
            <p:nvPr/>
          </p:nvSpPr>
          <p:spPr>
            <a:xfrm>
              <a:off x="781569" y="3219967"/>
              <a:ext cx="418064" cy="418063"/>
            </a:xfrm>
            <a:prstGeom prst="ellipse">
              <a:avLst/>
            </a:prstGeom>
            <a:solidFill>
              <a:schemeClr val="bg1">
                <a:lumMod val="95000"/>
                <a:lumOff val="5000"/>
              </a:schemeClr>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216" name="Oval 215">
              <a:extLst>
                <a:ext uri="{FF2B5EF4-FFF2-40B4-BE49-F238E27FC236}">
                  <a16:creationId xmlns:a16="http://schemas.microsoft.com/office/drawing/2014/main" id="{BC2EE945-B71F-7C42-93AF-E59B57B58690}"/>
                </a:ext>
              </a:extLst>
            </p:cNvPr>
            <p:cNvSpPr/>
            <p:nvPr/>
          </p:nvSpPr>
          <p:spPr>
            <a:xfrm>
              <a:off x="762004" y="3201390"/>
              <a:ext cx="457195" cy="457195"/>
            </a:xfrm>
            <a:prstGeom prst="ellipse">
              <a:avLst/>
            </a:prstGeom>
            <a:noFill/>
            <a:ln w="3810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217" name="Oval 216">
              <a:extLst>
                <a:ext uri="{FF2B5EF4-FFF2-40B4-BE49-F238E27FC236}">
                  <a16:creationId xmlns:a16="http://schemas.microsoft.com/office/drawing/2014/main" id="{06C6A8DE-A5A2-D94D-96A1-77267DFF3374}"/>
                </a:ext>
              </a:extLst>
            </p:cNvPr>
            <p:cNvSpPr/>
            <p:nvPr/>
          </p:nvSpPr>
          <p:spPr>
            <a:xfrm>
              <a:off x="887102" y="3325503"/>
              <a:ext cx="206994" cy="206994"/>
            </a:xfrm>
            <a:prstGeom prst="ellipse">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grpSp>
      <p:sp>
        <p:nvSpPr>
          <p:cNvPr id="152" name="Rectangle 151">
            <a:extLst>
              <a:ext uri="{FF2B5EF4-FFF2-40B4-BE49-F238E27FC236}">
                <a16:creationId xmlns:a16="http://schemas.microsoft.com/office/drawing/2014/main" id="{153F20DC-295E-9C48-A8FA-8BAE89F7268B}"/>
              </a:ext>
            </a:extLst>
          </p:cNvPr>
          <p:cNvSpPr/>
          <p:nvPr/>
        </p:nvSpPr>
        <p:spPr>
          <a:xfrm>
            <a:off x="2926956" y="3253043"/>
            <a:ext cx="498855" cy="276999"/>
          </a:xfrm>
          <a:prstGeom prst="rect">
            <a:avLst/>
          </a:prstGeom>
        </p:spPr>
        <p:txBody>
          <a:bodyPr wrap="none">
            <a:spAutoFit/>
          </a:bodyPr>
          <a:lstStyle/>
          <a:p>
            <a:pPr defTabSz="914384">
              <a:defRPr/>
            </a:pPr>
            <a:r>
              <a:rPr lang="en-US" sz="1200" dirty="0">
                <a:solidFill>
                  <a:srgbClr val="FF0000"/>
                </a:solidFill>
                <a:latin typeface="Calibri" panose="020F0502020204030204"/>
                <a:cs typeface="Arial"/>
                <a:sym typeface="Arial"/>
              </a:rPr>
              <a:t>2010</a:t>
            </a:r>
          </a:p>
        </p:txBody>
      </p:sp>
      <p:sp>
        <p:nvSpPr>
          <p:cNvPr id="185" name="Rectangle 184">
            <a:extLst>
              <a:ext uri="{FF2B5EF4-FFF2-40B4-BE49-F238E27FC236}">
                <a16:creationId xmlns:a16="http://schemas.microsoft.com/office/drawing/2014/main" id="{5BAC40A4-15DC-F44A-AA77-BB65F9F4BE87}"/>
              </a:ext>
            </a:extLst>
          </p:cNvPr>
          <p:cNvSpPr/>
          <p:nvPr/>
        </p:nvSpPr>
        <p:spPr>
          <a:xfrm>
            <a:off x="4038221" y="3272976"/>
            <a:ext cx="498855" cy="276999"/>
          </a:xfrm>
          <a:prstGeom prst="rect">
            <a:avLst/>
          </a:prstGeom>
        </p:spPr>
        <p:txBody>
          <a:bodyPr wrap="none">
            <a:spAutoFit/>
          </a:bodyPr>
          <a:lstStyle/>
          <a:p>
            <a:pPr defTabSz="914384">
              <a:defRPr/>
            </a:pPr>
            <a:r>
              <a:rPr lang="en-US" sz="1200" dirty="0">
                <a:solidFill>
                  <a:srgbClr val="FF0000"/>
                </a:solidFill>
                <a:latin typeface="Calibri" panose="020F0502020204030204"/>
                <a:cs typeface="Arial"/>
                <a:sym typeface="Arial"/>
              </a:rPr>
              <a:t>2011</a:t>
            </a:r>
          </a:p>
        </p:txBody>
      </p:sp>
      <p:sp>
        <p:nvSpPr>
          <p:cNvPr id="206" name="Rectangle 205">
            <a:extLst>
              <a:ext uri="{FF2B5EF4-FFF2-40B4-BE49-F238E27FC236}">
                <a16:creationId xmlns:a16="http://schemas.microsoft.com/office/drawing/2014/main" id="{F74951E1-71CF-C141-BA59-B5D1058F66F2}"/>
              </a:ext>
            </a:extLst>
          </p:cNvPr>
          <p:cNvSpPr/>
          <p:nvPr/>
        </p:nvSpPr>
        <p:spPr>
          <a:xfrm>
            <a:off x="4901029" y="3251281"/>
            <a:ext cx="498855" cy="276999"/>
          </a:xfrm>
          <a:prstGeom prst="rect">
            <a:avLst/>
          </a:prstGeom>
        </p:spPr>
        <p:txBody>
          <a:bodyPr wrap="none">
            <a:spAutoFit/>
          </a:bodyPr>
          <a:lstStyle/>
          <a:p>
            <a:pPr defTabSz="914384">
              <a:defRPr/>
            </a:pPr>
            <a:r>
              <a:rPr lang="en-US" sz="1200" dirty="0">
                <a:solidFill>
                  <a:srgbClr val="FF0000"/>
                </a:solidFill>
                <a:latin typeface="Calibri" panose="020F0502020204030204"/>
                <a:cs typeface="Arial"/>
                <a:sym typeface="Arial"/>
              </a:rPr>
              <a:t>2015</a:t>
            </a:r>
          </a:p>
        </p:txBody>
      </p:sp>
      <p:sp>
        <p:nvSpPr>
          <p:cNvPr id="243" name="Rectangle 242">
            <a:extLst>
              <a:ext uri="{FF2B5EF4-FFF2-40B4-BE49-F238E27FC236}">
                <a16:creationId xmlns:a16="http://schemas.microsoft.com/office/drawing/2014/main" id="{18B2F0F5-D578-214B-A291-49C76074F8F7}"/>
              </a:ext>
            </a:extLst>
          </p:cNvPr>
          <p:cNvSpPr/>
          <p:nvPr/>
        </p:nvSpPr>
        <p:spPr>
          <a:xfrm>
            <a:off x="6219956" y="3254171"/>
            <a:ext cx="498855" cy="276999"/>
          </a:xfrm>
          <a:prstGeom prst="rect">
            <a:avLst/>
          </a:prstGeom>
        </p:spPr>
        <p:txBody>
          <a:bodyPr wrap="none">
            <a:spAutoFit/>
          </a:bodyPr>
          <a:lstStyle/>
          <a:p>
            <a:pPr defTabSz="914384">
              <a:defRPr/>
            </a:pPr>
            <a:r>
              <a:rPr lang="en-US" sz="1200" dirty="0">
                <a:solidFill>
                  <a:srgbClr val="FF0000"/>
                </a:solidFill>
                <a:latin typeface="Calibri" panose="020F0502020204030204"/>
                <a:cs typeface="Arial"/>
                <a:sym typeface="Arial"/>
              </a:rPr>
              <a:t>2020</a:t>
            </a:r>
          </a:p>
        </p:txBody>
      </p:sp>
      <p:sp>
        <p:nvSpPr>
          <p:cNvPr id="137" name="Rectangle 136">
            <a:extLst>
              <a:ext uri="{FF2B5EF4-FFF2-40B4-BE49-F238E27FC236}">
                <a16:creationId xmlns:a16="http://schemas.microsoft.com/office/drawing/2014/main" id="{3722967F-9B9F-8241-A29A-36E8E1D39804}"/>
              </a:ext>
            </a:extLst>
          </p:cNvPr>
          <p:cNvSpPr/>
          <p:nvPr/>
        </p:nvSpPr>
        <p:spPr>
          <a:xfrm>
            <a:off x="2276046" y="3253728"/>
            <a:ext cx="498855" cy="276999"/>
          </a:xfrm>
          <a:prstGeom prst="rect">
            <a:avLst/>
          </a:prstGeom>
        </p:spPr>
        <p:txBody>
          <a:bodyPr wrap="none">
            <a:spAutoFit/>
          </a:bodyPr>
          <a:lstStyle/>
          <a:p>
            <a:pPr defTabSz="914384">
              <a:defRPr/>
            </a:pPr>
            <a:r>
              <a:rPr lang="en-US" sz="1200" dirty="0">
                <a:solidFill>
                  <a:srgbClr val="FF0000"/>
                </a:solidFill>
                <a:latin typeface="Calibri" panose="020F0502020204030204"/>
                <a:cs typeface="Arial"/>
                <a:sym typeface="Arial"/>
              </a:rPr>
              <a:t>2009</a:t>
            </a:r>
          </a:p>
        </p:txBody>
      </p:sp>
      <p:grpSp>
        <p:nvGrpSpPr>
          <p:cNvPr id="218" name="Group 217">
            <a:extLst>
              <a:ext uri="{FF2B5EF4-FFF2-40B4-BE49-F238E27FC236}">
                <a16:creationId xmlns:a16="http://schemas.microsoft.com/office/drawing/2014/main" id="{C82CE72F-B85D-F94A-BCD9-E9E2B4C50AD2}"/>
              </a:ext>
            </a:extLst>
          </p:cNvPr>
          <p:cNvGrpSpPr/>
          <p:nvPr/>
        </p:nvGrpSpPr>
        <p:grpSpPr>
          <a:xfrm>
            <a:off x="3574613" y="3236896"/>
            <a:ext cx="316547" cy="316547"/>
            <a:chOff x="762004" y="3201390"/>
            <a:chExt cx="457195" cy="457195"/>
          </a:xfrm>
        </p:grpSpPr>
        <p:sp>
          <p:nvSpPr>
            <p:cNvPr id="219" name="Oval 218">
              <a:extLst>
                <a:ext uri="{FF2B5EF4-FFF2-40B4-BE49-F238E27FC236}">
                  <a16:creationId xmlns:a16="http://schemas.microsoft.com/office/drawing/2014/main" id="{D9FB6B5B-5957-2540-A43A-A43427C58A3D}"/>
                </a:ext>
              </a:extLst>
            </p:cNvPr>
            <p:cNvSpPr/>
            <p:nvPr/>
          </p:nvSpPr>
          <p:spPr>
            <a:xfrm>
              <a:off x="781569" y="3219967"/>
              <a:ext cx="418064" cy="418063"/>
            </a:xfrm>
            <a:prstGeom prst="ellipse">
              <a:avLst/>
            </a:prstGeom>
            <a:solidFill>
              <a:schemeClr val="bg1">
                <a:lumMod val="95000"/>
                <a:lumOff val="5000"/>
              </a:schemeClr>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221" name="Oval 220">
              <a:extLst>
                <a:ext uri="{FF2B5EF4-FFF2-40B4-BE49-F238E27FC236}">
                  <a16:creationId xmlns:a16="http://schemas.microsoft.com/office/drawing/2014/main" id="{B5717212-7438-3145-8917-3D232DE5D4A5}"/>
                </a:ext>
              </a:extLst>
            </p:cNvPr>
            <p:cNvSpPr/>
            <p:nvPr/>
          </p:nvSpPr>
          <p:spPr>
            <a:xfrm>
              <a:off x="762004" y="3201390"/>
              <a:ext cx="457195" cy="457195"/>
            </a:xfrm>
            <a:prstGeom prst="ellipse">
              <a:avLst/>
            </a:prstGeom>
            <a:noFill/>
            <a:ln w="3810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222" name="Oval 221">
              <a:extLst>
                <a:ext uri="{FF2B5EF4-FFF2-40B4-BE49-F238E27FC236}">
                  <a16:creationId xmlns:a16="http://schemas.microsoft.com/office/drawing/2014/main" id="{45723BD0-741E-AB48-93EE-F1C23CB01B0A}"/>
                </a:ext>
              </a:extLst>
            </p:cNvPr>
            <p:cNvSpPr/>
            <p:nvPr/>
          </p:nvSpPr>
          <p:spPr>
            <a:xfrm>
              <a:off x="887102" y="3325503"/>
              <a:ext cx="206994" cy="206994"/>
            </a:xfrm>
            <a:prstGeom prst="ellipse">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grpSp>
      <p:sp>
        <p:nvSpPr>
          <p:cNvPr id="251" name="Text Placeholder 32">
            <a:extLst>
              <a:ext uri="{FF2B5EF4-FFF2-40B4-BE49-F238E27FC236}">
                <a16:creationId xmlns:a16="http://schemas.microsoft.com/office/drawing/2014/main" id="{AE9A7C24-600B-A644-9843-DB490C290712}"/>
              </a:ext>
            </a:extLst>
          </p:cNvPr>
          <p:cNvSpPr txBox="1">
            <a:spLocks/>
          </p:cNvSpPr>
          <p:nvPr/>
        </p:nvSpPr>
        <p:spPr>
          <a:xfrm>
            <a:off x="9498837" y="1526356"/>
            <a:ext cx="1266295" cy="1160023"/>
          </a:xfrm>
          <a:prstGeom prst="rect">
            <a:avLst/>
          </a:prstGeom>
          <a:ln w="6350">
            <a:noFill/>
          </a:ln>
        </p:spPr>
        <p:txBody>
          <a:bodyPr vert="horz" lIns="91440" tIns="45720" rIns="91440" bIns="45720" rtlCol="0">
            <a:noAutofit/>
          </a:bodyPr>
          <a:lstStyle>
            <a:lvl1pPr marL="0" indent="0" algn="ctr" defTabSz="914400" rtl="0" eaLnBrk="1" latinLnBrk="0" hangingPunct="1">
              <a:lnSpc>
                <a:spcPct val="90000"/>
              </a:lnSpc>
              <a:spcBef>
                <a:spcPts val="1000"/>
              </a:spcBef>
              <a:buFontTx/>
              <a:buNone/>
              <a:defRPr sz="1200" b="0" i="0" kern="1200">
                <a:solidFill>
                  <a:schemeClr val="tx1"/>
                </a:solidFill>
                <a:latin typeface="Duplicate Sans Light"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Duplicate Sans Light"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Duplicate Sans Light"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914384">
              <a:defRPr/>
            </a:pPr>
            <a:r>
              <a:rPr lang="en-US" dirty="0">
                <a:solidFill>
                  <a:prstClr val="white"/>
                </a:solidFill>
                <a:sym typeface="Arial"/>
              </a:rPr>
              <a:t>2024- 2026</a:t>
            </a:r>
          </a:p>
          <a:p>
            <a:pPr defTabSz="914384">
              <a:defRPr/>
            </a:pPr>
            <a:r>
              <a:rPr lang="en-US" dirty="0">
                <a:solidFill>
                  <a:prstClr val="white"/>
                </a:solidFill>
                <a:sym typeface="Arial"/>
              </a:rPr>
              <a:t> DoD HVRR Rotating Detonation Rocket Engine  (RDRE)  Test Vehicle Design and build USAF contracts</a:t>
            </a:r>
          </a:p>
          <a:p>
            <a:pPr defTabSz="914384">
              <a:defRPr/>
            </a:pPr>
            <a:endParaRPr lang="en-US" dirty="0">
              <a:solidFill>
                <a:prstClr val="white"/>
              </a:solidFill>
              <a:sym typeface="Arial"/>
            </a:endParaRPr>
          </a:p>
        </p:txBody>
      </p:sp>
      <p:sp>
        <p:nvSpPr>
          <p:cNvPr id="258" name="Rectangle 257">
            <a:extLst>
              <a:ext uri="{FF2B5EF4-FFF2-40B4-BE49-F238E27FC236}">
                <a16:creationId xmlns:a16="http://schemas.microsoft.com/office/drawing/2014/main" id="{11FB1975-BA6E-DE4B-8E83-466C3A74FE60}"/>
              </a:ext>
            </a:extLst>
          </p:cNvPr>
          <p:cNvSpPr/>
          <p:nvPr/>
        </p:nvSpPr>
        <p:spPr>
          <a:xfrm>
            <a:off x="8120487" y="3473856"/>
            <a:ext cx="1334123" cy="2409890"/>
          </a:xfrm>
          <a:prstGeom prst="rect">
            <a:avLst/>
          </a:prstGeom>
        </p:spPr>
        <p:txBody>
          <a:bodyPr wrap="square">
            <a:spAutoFit/>
          </a:bodyPr>
          <a:lstStyle/>
          <a:p>
            <a:pPr algn="ctr" defTabSz="914384">
              <a:defRPr/>
            </a:pPr>
            <a:r>
              <a:rPr lang="en-US" sz="1255" kern="0" dirty="0">
                <a:solidFill>
                  <a:prstClr val="white"/>
                </a:solidFill>
                <a:latin typeface="Arial"/>
                <a:cs typeface="Arial"/>
                <a:sym typeface="Arial"/>
              </a:rPr>
              <a:t>Our OTV-enabled service offers LEO → Moon → Earth round-trip capability — a distinct transport solution powered by technology only we provide.”</a:t>
            </a:r>
            <a:endParaRPr lang="en-US" sz="1200" dirty="0">
              <a:solidFill>
                <a:prstClr val="white"/>
              </a:solidFill>
              <a:latin typeface="Duplicate Sans Light" pitchFamily="2" charset="77"/>
              <a:cs typeface="Arial"/>
              <a:sym typeface="Arial"/>
            </a:endParaRPr>
          </a:p>
        </p:txBody>
      </p:sp>
      <p:sp>
        <p:nvSpPr>
          <p:cNvPr id="268" name="Rectangle 267">
            <a:extLst>
              <a:ext uri="{FF2B5EF4-FFF2-40B4-BE49-F238E27FC236}">
                <a16:creationId xmlns:a16="http://schemas.microsoft.com/office/drawing/2014/main" id="{C3656ABF-70EF-9443-9EF2-413B04690662}"/>
              </a:ext>
            </a:extLst>
          </p:cNvPr>
          <p:cNvSpPr/>
          <p:nvPr/>
        </p:nvSpPr>
        <p:spPr>
          <a:xfrm>
            <a:off x="8847644" y="3773363"/>
            <a:ext cx="1240528" cy="7793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84">
              <a:defRPr/>
            </a:pPr>
            <a:endParaRPr lang="en-US" sz="1200" dirty="0">
              <a:solidFill>
                <a:prstClr val="white"/>
              </a:solidFill>
              <a:latin typeface="Duplicate Sans Regular" pitchFamily="2" charset="77"/>
              <a:sym typeface="Arial"/>
            </a:endParaRPr>
          </a:p>
        </p:txBody>
      </p:sp>
      <p:grpSp>
        <p:nvGrpSpPr>
          <p:cNvPr id="270" name="Group 269">
            <a:extLst>
              <a:ext uri="{FF2B5EF4-FFF2-40B4-BE49-F238E27FC236}">
                <a16:creationId xmlns:a16="http://schemas.microsoft.com/office/drawing/2014/main" id="{D15D6BF4-167C-5F43-BC13-1AE10135B4CA}"/>
              </a:ext>
            </a:extLst>
          </p:cNvPr>
          <p:cNvGrpSpPr/>
          <p:nvPr/>
        </p:nvGrpSpPr>
        <p:grpSpPr>
          <a:xfrm>
            <a:off x="7996302" y="3239386"/>
            <a:ext cx="316547" cy="316547"/>
            <a:chOff x="762004" y="3201390"/>
            <a:chExt cx="457195" cy="457195"/>
          </a:xfrm>
        </p:grpSpPr>
        <p:sp>
          <p:nvSpPr>
            <p:cNvPr id="271" name="Oval 270">
              <a:extLst>
                <a:ext uri="{FF2B5EF4-FFF2-40B4-BE49-F238E27FC236}">
                  <a16:creationId xmlns:a16="http://schemas.microsoft.com/office/drawing/2014/main" id="{0EBA82EF-90DF-C949-A572-8B891B919CC5}"/>
                </a:ext>
              </a:extLst>
            </p:cNvPr>
            <p:cNvSpPr/>
            <p:nvPr/>
          </p:nvSpPr>
          <p:spPr>
            <a:xfrm>
              <a:off x="781569" y="3219967"/>
              <a:ext cx="418064" cy="418063"/>
            </a:xfrm>
            <a:prstGeom prst="ellipse">
              <a:avLst/>
            </a:prstGeom>
            <a:solidFill>
              <a:schemeClr val="bg1">
                <a:lumMod val="95000"/>
                <a:lumOff val="5000"/>
              </a:schemeClr>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272" name="Oval 271">
              <a:extLst>
                <a:ext uri="{FF2B5EF4-FFF2-40B4-BE49-F238E27FC236}">
                  <a16:creationId xmlns:a16="http://schemas.microsoft.com/office/drawing/2014/main" id="{BF45D0EF-1392-1A45-8B4E-D29D6B5D2EC2}"/>
                </a:ext>
              </a:extLst>
            </p:cNvPr>
            <p:cNvSpPr/>
            <p:nvPr/>
          </p:nvSpPr>
          <p:spPr>
            <a:xfrm>
              <a:off x="762004" y="3201390"/>
              <a:ext cx="457195" cy="457195"/>
            </a:xfrm>
            <a:prstGeom prst="ellipse">
              <a:avLst/>
            </a:prstGeom>
            <a:noFill/>
            <a:ln w="3810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273" name="Oval 272">
              <a:extLst>
                <a:ext uri="{FF2B5EF4-FFF2-40B4-BE49-F238E27FC236}">
                  <a16:creationId xmlns:a16="http://schemas.microsoft.com/office/drawing/2014/main" id="{9939AA10-CC93-0B4F-878F-E5A13492A444}"/>
                </a:ext>
              </a:extLst>
            </p:cNvPr>
            <p:cNvSpPr/>
            <p:nvPr/>
          </p:nvSpPr>
          <p:spPr>
            <a:xfrm>
              <a:off x="887102" y="3325503"/>
              <a:ext cx="206994" cy="206994"/>
            </a:xfrm>
            <a:prstGeom prst="ellipse">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grpSp>
      <p:grpSp>
        <p:nvGrpSpPr>
          <p:cNvPr id="278" name="Group 277">
            <a:extLst>
              <a:ext uri="{FF2B5EF4-FFF2-40B4-BE49-F238E27FC236}">
                <a16:creationId xmlns:a16="http://schemas.microsoft.com/office/drawing/2014/main" id="{9EC73C57-A794-DC4B-9CF5-23A7AE0F778B}"/>
              </a:ext>
            </a:extLst>
          </p:cNvPr>
          <p:cNvGrpSpPr/>
          <p:nvPr/>
        </p:nvGrpSpPr>
        <p:grpSpPr>
          <a:xfrm>
            <a:off x="9414526" y="3232194"/>
            <a:ext cx="316547" cy="316547"/>
            <a:chOff x="762004" y="3201390"/>
            <a:chExt cx="457195" cy="457195"/>
          </a:xfrm>
        </p:grpSpPr>
        <p:sp>
          <p:nvSpPr>
            <p:cNvPr id="279" name="Oval 278">
              <a:extLst>
                <a:ext uri="{FF2B5EF4-FFF2-40B4-BE49-F238E27FC236}">
                  <a16:creationId xmlns:a16="http://schemas.microsoft.com/office/drawing/2014/main" id="{2F25265E-6CD1-E440-9FC4-1B084319A2C0}"/>
                </a:ext>
              </a:extLst>
            </p:cNvPr>
            <p:cNvSpPr/>
            <p:nvPr/>
          </p:nvSpPr>
          <p:spPr>
            <a:xfrm>
              <a:off x="781569" y="3219967"/>
              <a:ext cx="418064" cy="418063"/>
            </a:xfrm>
            <a:prstGeom prst="ellipse">
              <a:avLst/>
            </a:prstGeom>
            <a:solidFill>
              <a:schemeClr val="bg1">
                <a:lumMod val="95000"/>
                <a:lumOff val="5000"/>
              </a:schemeClr>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280" name="Oval 279">
              <a:extLst>
                <a:ext uri="{FF2B5EF4-FFF2-40B4-BE49-F238E27FC236}">
                  <a16:creationId xmlns:a16="http://schemas.microsoft.com/office/drawing/2014/main" id="{208ED91F-5499-2A4F-9FA5-27A8807CBC6F}"/>
                </a:ext>
              </a:extLst>
            </p:cNvPr>
            <p:cNvSpPr/>
            <p:nvPr/>
          </p:nvSpPr>
          <p:spPr>
            <a:xfrm>
              <a:off x="762004" y="3201390"/>
              <a:ext cx="457195" cy="457195"/>
            </a:xfrm>
            <a:prstGeom prst="ellipse">
              <a:avLst/>
            </a:prstGeom>
            <a:noFill/>
            <a:ln w="3810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281" name="Oval 280">
              <a:extLst>
                <a:ext uri="{FF2B5EF4-FFF2-40B4-BE49-F238E27FC236}">
                  <a16:creationId xmlns:a16="http://schemas.microsoft.com/office/drawing/2014/main" id="{E05CB889-36C7-8247-B86E-3E7299CC1E2F}"/>
                </a:ext>
              </a:extLst>
            </p:cNvPr>
            <p:cNvSpPr/>
            <p:nvPr/>
          </p:nvSpPr>
          <p:spPr>
            <a:xfrm>
              <a:off x="887102" y="3325503"/>
              <a:ext cx="206994" cy="206994"/>
            </a:xfrm>
            <a:prstGeom prst="ellipse">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grpSp>
      <p:grpSp>
        <p:nvGrpSpPr>
          <p:cNvPr id="282" name="Group 281">
            <a:extLst>
              <a:ext uri="{FF2B5EF4-FFF2-40B4-BE49-F238E27FC236}">
                <a16:creationId xmlns:a16="http://schemas.microsoft.com/office/drawing/2014/main" id="{18F5F1E8-56A8-A947-BB79-8D974A5CFD0E}"/>
              </a:ext>
            </a:extLst>
          </p:cNvPr>
          <p:cNvGrpSpPr/>
          <p:nvPr/>
        </p:nvGrpSpPr>
        <p:grpSpPr>
          <a:xfrm>
            <a:off x="10042221" y="3227067"/>
            <a:ext cx="316547" cy="316547"/>
            <a:chOff x="762004" y="3201390"/>
            <a:chExt cx="457195" cy="457195"/>
          </a:xfrm>
        </p:grpSpPr>
        <p:sp>
          <p:nvSpPr>
            <p:cNvPr id="283" name="Oval 282">
              <a:extLst>
                <a:ext uri="{FF2B5EF4-FFF2-40B4-BE49-F238E27FC236}">
                  <a16:creationId xmlns:a16="http://schemas.microsoft.com/office/drawing/2014/main" id="{D5172C26-1DE0-A14E-913C-EE1154E0EDE1}"/>
                </a:ext>
              </a:extLst>
            </p:cNvPr>
            <p:cNvSpPr/>
            <p:nvPr/>
          </p:nvSpPr>
          <p:spPr>
            <a:xfrm>
              <a:off x="781569" y="3219967"/>
              <a:ext cx="418064" cy="418063"/>
            </a:xfrm>
            <a:prstGeom prst="ellipse">
              <a:avLst/>
            </a:prstGeom>
            <a:solidFill>
              <a:schemeClr val="bg1">
                <a:lumMod val="95000"/>
                <a:lumOff val="5000"/>
              </a:schemeClr>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284" name="Oval 283">
              <a:extLst>
                <a:ext uri="{FF2B5EF4-FFF2-40B4-BE49-F238E27FC236}">
                  <a16:creationId xmlns:a16="http://schemas.microsoft.com/office/drawing/2014/main" id="{1A82AEBA-6330-2944-9C7E-0C5AE2F5F3DB}"/>
                </a:ext>
              </a:extLst>
            </p:cNvPr>
            <p:cNvSpPr/>
            <p:nvPr/>
          </p:nvSpPr>
          <p:spPr>
            <a:xfrm>
              <a:off x="762004" y="3201390"/>
              <a:ext cx="457195" cy="457195"/>
            </a:xfrm>
            <a:prstGeom prst="ellipse">
              <a:avLst/>
            </a:prstGeom>
            <a:noFill/>
            <a:ln w="3810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285" name="Oval 284">
              <a:extLst>
                <a:ext uri="{FF2B5EF4-FFF2-40B4-BE49-F238E27FC236}">
                  <a16:creationId xmlns:a16="http://schemas.microsoft.com/office/drawing/2014/main" id="{52C75B2C-3FFA-B449-B2AC-3FEA196521C5}"/>
                </a:ext>
              </a:extLst>
            </p:cNvPr>
            <p:cNvSpPr/>
            <p:nvPr/>
          </p:nvSpPr>
          <p:spPr>
            <a:xfrm>
              <a:off x="887102" y="3325503"/>
              <a:ext cx="206994" cy="206994"/>
            </a:xfrm>
            <a:prstGeom prst="ellipse">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grpSp>
      <p:cxnSp>
        <p:nvCxnSpPr>
          <p:cNvPr id="286" name="Straight Connector 285">
            <a:extLst>
              <a:ext uri="{FF2B5EF4-FFF2-40B4-BE49-F238E27FC236}">
                <a16:creationId xmlns:a16="http://schemas.microsoft.com/office/drawing/2014/main" id="{8B7F783A-0E54-0B4D-9CA1-41D280D15DCA}"/>
              </a:ext>
            </a:extLst>
          </p:cNvPr>
          <p:cNvCxnSpPr>
            <a:cxnSpLocks/>
          </p:cNvCxnSpPr>
          <p:nvPr/>
        </p:nvCxnSpPr>
        <p:spPr>
          <a:xfrm flipH="1">
            <a:off x="8161210" y="2991244"/>
            <a:ext cx="127638" cy="270647"/>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291" name="Group 290">
            <a:extLst>
              <a:ext uri="{FF2B5EF4-FFF2-40B4-BE49-F238E27FC236}">
                <a16:creationId xmlns:a16="http://schemas.microsoft.com/office/drawing/2014/main" id="{BD255554-5765-6A42-9AEF-A854CB2E4B77}"/>
              </a:ext>
            </a:extLst>
          </p:cNvPr>
          <p:cNvGrpSpPr/>
          <p:nvPr/>
        </p:nvGrpSpPr>
        <p:grpSpPr>
          <a:xfrm>
            <a:off x="11179459" y="3217498"/>
            <a:ext cx="316547" cy="316547"/>
            <a:chOff x="762004" y="3201390"/>
            <a:chExt cx="457195" cy="457195"/>
          </a:xfrm>
        </p:grpSpPr>
        <p:sp>
          <p:nvSpPr>
            <p:cNvPr id="292" name="Oval 291">
              <a:extLst>
                <a:ext uri="{FF2B5EF4-FFF2-40B4-BE49-F238E27FC236}">
                  <a16:creationId xmlns:a16="http://schemas.microsoft.com/office/drawing/2014/main" id="{C75C9E9B-B4CC-C44E-9409-B4815E1C67D4}"/>
                </a:ext>
              </a:extLst>
            </p:cNvPr>
            <p:cNvSpPr/>
            <p:nvPr/>
          </p:nvSpPr>
          <p:spPr>
            <a:xfrm>
              <a:off x="781569" y="3219967"/>
              <a:ext cx="418064" cy="418063"/>
            </a:xfrm>
            <a:prstGeom prst="ellipse">
              <a:avLst/>
            </a:prstGeom>
            <a:solidFill>
              <a:schemeClr val="bg1">
                <a:lumMod val="95000"/>
                <a:lumOff val="5000"/>
              </a:schemeClr>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293" name="Oval 292">
              <a:extLst>
                <a:ext uri="{FF2B5EF4-FFF2-40B4-BE49-F238E27FC236}">
                  <a16:creationId xmlns:a16="http://schemas.microsoft.com/office/drawing/2014/main" id="{35746170-F290-7B4F-B385-FDAACCF0043B}"/>
                </a:ext>
              </a:extLst>
            </p:cNvPr>
            <p:cNvSpPr/>
            <p:nvPr/>
          </p:nvSpPr>
          <p:spPr>
            <a:xfrm>
              <a:off x="762004" y="3201390"/>
              <a:ext cx="457195" cy="457195"/>
            </a:xfrm>
            <a:prstGeom prst="ellipse">
              <a:avLst/>
            </a:prstGeom>
            <a:noFill/>
            <a:ln w="3810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294" name="Oval 293">
              <a:extLst>
                <a:ext uri="{FF2B5EF4-FFF2-40B4-BE49-F238E27FC236}">
                  <a16:creationId xmlns:a16="http://schemas.microsoft.com/office/drawing/2014/main" id="{433D9D9F-FD1B-B842-9732-4EEA47544236}"/>
                </a:ext>
              </a:extLst>
            </p:cNvPr>
            <p:cNvSpPr/>
            <p:nvPr/>
          </p:nvSpPr>
          <p:spPr>
            <a:xfrm>
              <a:off x="887102" y="3325503"/>
              <a:ext cx="206994" cy="206994"/>
            </a:xfrm>
            <a:prstGeom prst="ellipse">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grpSp>
      <p:cxnSp>
        <p:nvCxnSpPr>
          <p:cNvPr id="295" name="Straight Connector 294">
            <a:extLst>
              <a:ext uri="{FF2B5EF4-FFF2-40B4-BE49-F238E27FC236}">
                <a16:creationId xmlns:a16="http://schemas.microsoft.com/office/drawing/2014/main" id="{E6259372-27C7-3E40-8925-123E12025AA1}"/>
              </a:ext>
            </a:extLst>
          </p:cNvPr>
          <p:cNvCxnSpPr>
            <a:cxnSpLocks/>
            <a:endCxn id="292" idx="0"/>
          </p:cNvCxnSpPr>
          <p:nvPr/>
        </p:nvCxnSpPr>
        <p:spPr>
          <a:xfrm>
            <a:off x="11337731" y="2955686"/>
            <a:ext cx="0" cy="274674"/>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97" name="Straight Connector 296">
            <a:extLst>
              <a:ext uri="{FF2B5EF4-FFF2-40B4-BE49-F238E27FC236}">
                <a16:creationId xmlns:a16="http://schemas.microsoft.com/office/drawing/2014/main" id="{36BE18A3-4514-3347-8214-E5D48A9BFE9A}"/>
              </a:ext>
            </a:extLst>
          </p:cNvPr>
          <p:cNvCxnSpPr>
            <a:cxnSpLocks/>
          </p:cNvCxnSpPr>
          <p:nvPr/>
        </p:nvCxnSpPr>
        <p:spPr>
          <a:xfrm flipH="1">
            <a:off x="10016750" y="3525848"/>
            <a:ext cx="183743" cy="287986"/>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98" name="Straight Connector 297">
            <a:extLst>
              <a:ext uri="{FF2B5EF4-FFF2-40B4-BE49-F238E27FC236}">
                <a16:creationId xmlns:a16="http://schemas.microsoft.com/office/drawing/2014/main" id="{648C29CE-FB8E-5E4F-84DA-95682D56AD80}"/>
              </a:ext>
            </a:extLst>
          </p:cNvPr>
          <p:cNvCxnSpPr>
            <a:cxnSpLocks/>
          </p:cNvCxnSpPr>
          <p:nvPr/>
        </p:nvCxnSpPr>
        <p:spPr>
          <a:xfrm flipH="1">
            <a:off x="8154574" y="2981601"/>
            <a:ext cx="127638" cy="270647"/>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sp>
        <p:nvSpPr>
          <p:cNvPr id="300" name="Rectangle 299">
            <a:extLst>
              <a:ext uri="{FF2B5EF4-FFF2-40B4-BE49-F238E27FC236}">
                <a16:creationId xmlns:a16="http://schemas.microsoft.com/office/drawing/2014/main" id="{688ADBD0-F6F6-5B47-BEDC-BBDC8D2F5769}"/>
              </a:ext>
            </a:extLst>
          </p:cNvPr>
          <p:cNvSpPr/>
          <p:nvPr/>
        </p:nvSpPr>
        <p:spPr>
          <a:xfrm>
            <a:off x="7092446" y="3287439"/>
            <a:ext cx="498855" cy="229165"/>
          </a:xfrm>
          <a:prstGeom prst="rect">
            <a:avLst/>
          </a:prstGeom>
        </p:spPr>
        <p:txBody>
          <a:bodyPr wrap="none">
            <a:spAutoFit/>
          </a:bodyPr>
          <a:lstStyle/>
          <a:p>
            <a:pPr algn="ctr" defTabSz="914384">
              <a:lnSpc>
                <a:spcPts val="1040"/>
              </a:lnSpc>
              <a:defRPr/>
            </a:pPr>
            <a:r>
              <a:rPr lang="en-US" sz="1200" dirty="0">
                <a:solidFill>
                  <a:srgbClr val="FF0000"/>
                </a:solidFill>
                <a:latin typeface="Calibri" panose="020F0502020204030204"/>
                <a:cs typeface="Arial"/>
                <a:sym typeface="Arial"/>
              </a:rPr>
              <a:t>2021</a:t>
            </a:r>
          </a:p>
        </p:txBody>
      </p:sp>
      <p:sp>
        <p:nvSpPr>
          <p:cNvPr id="301" name="Rectangle 300">
            <a:extLst>
              <a:ext uri="{FF2B5EF4-FFF2-40B4-BE49-F238E27FC236}">
                <a16:creationId xmlns:a16="http://schemas.microsoft.com/office/drawing/2014/main" id="{DC9FD511-7686-B340-A416-A64F8695C442}"/>
              </a:ext>
            </a:extLst>
          </p:cNvPr>
          <p:cNvSpPr/>
          <p:nvPr/>
        </p:nvSpPr>
        <p:spPr>
          <a:xfrm>
            <a:off x="8586455" y="3268899"/>
            <a:ext cx="498855" cy="229165"/>
          </a:xfrm>
          <a:prstGeom prst="rect">
            <a:avLst/>
          </a:prstGeom>
        </p:spPr>
        <p:txBody>
          <a:bodyPr wrap="none">
            <a:spAutoFit/>
          </a:bodyPr>
          <a:lstStyle/>
          <a:p>
            <a:pPr algn="ctr" defTabSz="914384">
              <a:lnSpc>
                <a:spcPts val="1040"/>
              </a:lnSpc>
              <a:defRPr/>
            </a:pPr>
            <a:r>
              <a:rPr lang="en-US" sz="1200" dirty="0">
                <a:solidFill>
                  <a:srgbClr val="FF0000"/>
                </a:solidFill>
                <a:latin typeface="Calibri" panose="020F0502020204030204"/>
                <a:cs typeface="Arial"/>
                <a:sym typeface="Arial"/>
              </a:rPr>
              <a:t>2022</a:t>
            </a:r>
          </a:p>
        </p:txBody>
      </p:sp>
      <p:sp>
        <p:nvSpPr>
          <p:cNvPr id="302" name="Rectangle 301">
            <a:extLst>
              <a:ext uri="{FF2B5EF4-FFF2-40B4-BE49-F238E27FC236}">
                <a16:creationId xmlns:a16="http://schemas.microsoft.com/office/drawing/2014/main" id="{442170F4-67F0-4342-8142-5D9F8AE7E40F}"/>
              </a:ext>
            </a:extLst>
          </p:cNvPr>
          <p:cNvSpPr/>
          <p:nvPr/>
        </p:nvSpPr>
        <p:spPr>
          <a:xfrm>
            <a:off x="9135323" y="3212412"/>
            <a:ext cx="584182" cy="276999"/>
          </a:xfrm>
          <a:prstGeom prst="rect">
            <a:avLst/>
          </a:prstGeom>
        </p:spPr>
        <p:txBody>
          <a:bodyPr wrap="square">
            <a:spAutoFit/>
          </a:bodyPr>
          <a:lstStyle/>
          <a:p>
            <a:pPr defTabSz="914384">
              <a:defRPr/>
            </a:pPr>
            <a:r>
              <a:rPr lang="en-US" sz="1200" dirty="0">
                <a:solidFill>
                  <a:srgbClr val="FF0000"/>
                </a:solidFill>
                <a:latin typeface="Calibri" panose="020F0502020204030204"/>
                <a:cs typeface="Arial"/>
                <a:sym typeface="Arial"/>
              </a:rPr>
              <a:t>2023</a:t>
            </a:r>
          </a:p>
        </p:txBody>
      </p:sp>
      <p:sp>
        <p:nvSpPr>
          <p:cNvPr id="303" name="Rectangle 302">
            <a:extLst>
              <a:ext uri="{FF2B5EF4-FFF2-40B4-BE49-F238E27FC236}">
                <a16:creationId xmlns:a16="http://schemas.microsoft.com/office/drawing/2014/main" id="{78D77BE1-AF61-BE41-A676-3C7D6E1C469B}"/>
              </a:ext>
            </a:extLst>
          </p:cNvPr>
          <p:cNvSpPr/>
          <p:nvPr/>
        </p:nvSpPr>
        <p:spPr>
          <a:xfrm>
            <a:off x="10663179" y="3217498"/>
            <a:ext cx="498855" cy="276999"/>
          </a:xfrm>
          <a:prstGeom prst="rect">
            <a:avLst/>
          </a:prstGeom>
        </p:spPr>
        <p:txBody>
          <a:bodyPr wrap="none">
            <a:spAutoFit/>
          </a:bodyPr>
          <a:lstStyle/>
          <a:p>
            <a:pPr defTabSz="914384">
              <a:defRPr/>
            </a:pPr>
            <a:r>
              <a:rPr lang="en-US" sz="1200" dirty="0">
                <a:solidFill>
                  <a:srgbClr val="FF0000"/>
                </a:solidFill>
                <a:latin typeface="Calibri" panose="020F0502020204030204"/>
                <a:cs typeface="Arial"/>
                <a:sym typeface="Arial"/>
              </a:rPr>
              <a:t>2025</a:t>
            </a:r>
          </a:p>
        </p:txBody>
      </p:sp>
      <p:sp>
        <p:nvSpPr>
          <p:cNvPr id="304" name="Rectangle 303">
            <a:extLst>
              <a:ext uri="{FF2B5EF4-FFF2-40B4-BE49-F238E27FC236}">
                <a16:creationId xmlns:a16="http://schemas.microsoft.com/office/drawing/2014/main" id="{0C43A2BF-7A99-3645-B2BE-53801B2A24FE}"/>
              </a:ext>
            </a:extLst>
          </p:cNvPr>
          <p:cNvSpPr/>
          <p:nvPr/>
        </p:nvSpPr>
        <p:spPr>
          <a:xfrm>
            <a:off x="11291931" y="3221065"/>
            <a:ext cx="498855" cy="276999"/>
          </a:xfrm>
          <a:prstGeom prst="rect">
            <a:avLst/>
          </a:prstGeom>
        </p:spPr>
        <p:txBody>
          <a:bodyPr wrap="none">
            <a:spAutoFit/>
          </a:bodyPr>
          <a:lstStyle/>
          <a:p>
            <a:pPr defTabSz="914384">
              <a:defRPr/>
            </a:pPr>
            <a:r>
              <a:rPr lang="en-US" sz="1200" dirty="0">
                <a:solidFill>
                  <a:srgbClr val="FF0000"/>
                </a:solidFill>
                <a:latin typeface="Calibri" panose="020F0502020204030204"/>
                <a:cs typeface="Arial"/>
                <a:sym typeface="Arial"/>
              </a:rPr>
              <a:t>2028</a:t>
            </a:r>
          </a:p>
        </p:txBody>
      </p:sp>
      <p:sp>
        <p:nvSpPr>
          <p:cNvPr id="151" name="Rectangle 150">
            <a:extLst>
              <a:ext uri="{FF2B5EF4-FFF2-40B4-BE49-F238E27FC236}">
                <a16:creationId xmlns:a16="http://schemas.microsoft.com/office/drawing/2014/main" id="{CFDA4803-78DB-4A0E-A6D6-26120D77239F}"/>
              </a:ext>
            </a:extLst>
          </p:cNvPr>
          <p:cNvSpPr/>
          <p:nvPr/>
        </p:nvSpPr>
        <p:spPr>
          <a:xfrm>
            <a:off x="5616967" y="3247829"/>
            <a:ext cx="498855" cy="276999"/>
          </a:xfrm>
          <a:prstGeom prst="rect">
            <a:avLst/>
          </a:prstGeom>
        </p:spPr>
        <p:txBody>
          <a:bodyPr wrap="none">
            <a:spAutoFit/>
          </a:bodyPr>
          <a:lstStyle/>
          <a:p>
            <a:pPr defTabSz="914384">
              <a:defRPr/>
            </a:pPr>
            <a:r>
              <a:rPr lang="en-US" sz="1200" dirty="0">
                <a:solidFill>
                  <a:srgbClr val="FF0000"/>
                </a:solidFill>
                <a:latin typeface="Calibri" panose="020F0502020204030204"/>
                <a:cs typeface="Arial"/>
                <a:sym typeface="Arial"/>
              </a:rPr>
              <a:t>2018</a:t>
            </a:r>
          </a:p>
        </p:txBody>
      </p:sp>
      <p:sp>
        <p:nvSpPr>
          <p:cNvPr id="155" name="Rectangle 154">
            <a:extLst>
              <a:ext uri="{FF2B5EF4-FFF2-40B4-BE49-F238E27FC236}">
                <a16:creationId xmlns:a16="http://schemas.microsoft.com/office/drawing/2014/main" id="{FC0E91F2-7D3C-474D-8771-F722E0D6EB75}"/>
              </a:ext>
            </a:extLst>
          </p:cNvPr>
          <p:cNvSpPr/>
          <p:nvPr/>
        </p:nvSpPr>
        <p:spPr>
          <a:xfrm>
            <a:off x="7926328" y="3278193"/>
            <a:ext cx="498855" cy="229165"/>
          </a:xfrm>
          <a:prstGeom prst="rect">
            <a:avLst/>
          </a:prstGeom>
        </p:spPr>
        <p:txBody>
          <a:bodyPr wrap="none">
            <a:spAutoFit/>
          </a:bodyPr>
          <a:lstStyle/>
          <a:p>
            <a:pPr algn="ctr" defTabSz="914384">
              <a:lnSpc>
                <a:spcPts val="1040"/>
              </a:lnSpc>
              <a:defRPr/>
            </a:pPr>
            <a:r>
              <a:rPr lang="en-US" sz="1200" dirty="0">
                <a:solidFill>
                  <a:srgbClr val="FF0000"/>
                </a:solidFill>
                <a:latin typeface="Calibri" panose="020F0502020204030204"/>
                <a:cs typeface="Arial"/>
                <a:sym typeface="Arial"/>
              </a:rPr>
              <a:t>2021</a:t>
            </a:r>
          </a:p>
        </p:txBody>
      </p:sp>
      <p:sp>
        <p:nvSpPr>
          <p:cNvPr id="157" name="Rectangle 156">
            <a:extLst>
              <a:ext uri="{FF2B5EF4-FFF2-40B4-BE49-F238E27FC236}">
                <a16:creationId xmlns:a16="http://schemas.microsoft.com/office/drawing/2014/main" id="{5EA59299-CC01-4EFE-87E4-CA82C673B0CE}"/>
              </a:ext>
            </a:extLst>
          </p:cNvPr>
          <p:cNvSpPr/>
          <p:nvPr/>
        </p:nvSpPr>
        <p:spPr>
          <a:xfrm>
            <a:off x="9879407" y="3230360"/>
            <a:ext cx="498855" cy="276999"/>
          </a:xfrm>
          <a:prstGeom prst="rect">
            <a:avLst/>
          </a:prstGeom>
        </p:spPr>
        <p:txBody>
          <a:bodyPr wrap="none">
            <a:spAutoFit/>
          </a:bodyPr>
          <a:lstStyle/>
          <a:p>
            <a:pPr defTabSz="914384">
              <a:defRPr/>
            </a:pPr>
            <a:r>
              <a:rPr lang="en-US" sz="1200" dirty="0">
                <a:solidFill>
                  <a:srgbClr val="FF0000"/>
                </a:solidFill>
                <a:latin typeface="Calibri" panose="020F0502020204030204"/>
                <a:cs typeface="Arial"/>
                <a:sym typeface="Arial"/>
              </a:rPr>
              <a:t>2024</a:t>
            </a:r>
          </a:p>
        </p:txBody>
      </p:sp>
      <p:sp>
        <p:nvSpPr>
          <p:cNvPr id="160" name="Text Placeholder 32">
            <a:extLst>
              <a:ext uri="{FF2B5EF4-FFF2-40B4-BE49-F238E27FC236}">
                <a16:creationId xmlns:a16="http://schemas.microsoft.com/office/drawing/2014/main" id="{0CF02F89-8E9B-4CEF-9BB4-943DA2C9D5B2}"/>
              </a:ext>
            </a:extLst>
          </p:cNvPr>
          <p:cNvSpPr txBox="1">
            <a:spLocks/>
          </p:cNvSpPr>
          <p:nvPr/>
        </p:nvSpPr>
        <p:spPr>
          <a:xfrm>
            <a:off x="11092268" y="1526356"/>
            <a:ext cx="1070196" cy="3045841"/>
          </a:xfrm>
          <a:prstGeom prst="rect">
            <a:avLst/>
          </a:prstGeom>
          <a:ln w="6350">
            <a:noFill/>
          </a:ln>
        </p:spPr>
        <p:txBody>
          <a:bodyPr vert="horz" lIns="91440" tIns="45720" rIns="91440" bIns="45720" rtlCol="0">
            <a:noAutofit/>
          </a:bodyPr>
          <a:lstStyle>
            <a:lvl1pPr marL="0" indent="0" algn="ctr" defTabSz="914400" rtl="0" eaLnBrk="1" latinLnBrk="0" hangingPunct="1">
              <a:lnSpc>
                <a:spcPct val="90000"/>
              </a:lnSpc>
              <a:spcBef>
                <a:spcPts val="1000"/>
              </a:spcBef>
              <a:buFontTx/>
              <a:buNone/>
              <a:defRPr sz="1200" b="0" i="0" kern="1200">
                <a:solidFill>
                  <a:schemeClr val="tx1"/>
                </a:solidFill>
                <a:latin typeface="Duplicate Sans Light"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Duplicate Sans Light"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Duplicate Sans Light"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914384">
              <a:defRPr/>
            </a:pPr>
            <a:r>
              <a:rPr lang="en-US" dirty="0">
                <a:solidFill>
                  <a:prstClr val="white"/>
                </a:solidFill>
                <a:sym typeface="Arial"/>
              </a:rPr>
              <a:t>2026+</a:t>
            </a:r>
            <a:r>
              <a:rPr lang="en-US" sz="1255" dirty="0">
                <a:solidFill>
                  <a:prstClr val="white"/>
                </a:solidFill>
                <a:highlight>
                  <a:srgbClr val="000000"/>
                </a:highlight>
                <a:latin typeface="Metrophobic" panose="020B0604020202020204" charset="0"/>
                <a:sym typeface="Arial"/>
              </a:rPr>
              <a:t> Technology and Reputation Risk Reduction flights testing your hardware and software on our Reusable Rockets</a:t>
            </a:r>
            <a:endParaRPr lang="en-US" sz="1255" kern="0" dirty="0">
              <a:solidFill>
                <a:prstClr val="white"/>
              </a:solidFill>
              <a:highlight>
                <a:srgbClr val="000000"/>
              </a:highlight>
              <a:latin typeface="Metrophobic" panose="020B0604020202020204" charset="0"/>
              <a:cs typeface="Arial"/>
              <a:sym typeface="Arial"/>
            </a:endParaRPr>
          </a:p>
          <a:p>
            <a:pPr defTabSz="914384">
              <a:defRPr/>
            </a:pPr>
            <a:endParaRPr lang="en-US" dirty="0">
              <a:solidFill>
                <a:prstClr val="white"/>
              </a:solidFill>
              <a:sym typeface="Arial"/>
            </a:endParaRPr>
          </a:p>
          <a:p>
            <a:pPr defTabSz="914384">
              <a:defRPr/>
            </a:pPr>
            <a:endParaRPr lang="en-US" dirty="0">
              <a:solidFill>
                <a:prstClr val="white"/>
              </a:solidFill>
              <a:sym typeface="Arial"/>
            </a:endParaRPr>
          </a:p>
        </p:txBody>
      </p:sp>
      <p:graphicFrame>
        <p:nvGraphicFramePr>
          <p:cNvPr id="163" name="Diagram 162">
            <a:extLst>
              <a:ext uri="{FF2B5EF4-FFF2-40B4-BE49-F238E27FC236}">
                <a16:creationId xmlns:a16="http://schemas.microsoft.com/office/drawing/2014/main" id="{C21A2781-ED4C-4A0E-85F0-6B164897928F}"/>
              </a:ext>
            </a:extLst>
          </p:cNvPr>
          <p:cNvGraphicFramePr/>
          <p:nvPr/>
        </p:nvGraphicFramePr>
        <p:xfrm>
          <a:off x="9421006" y="3694336"/>
          <a:ext cx="2770995" cy="1563231"/>
        </p:xfrm>
        <a:graphic>
          <a:graphicData uri="http://schemas.openxmlformats.org/drawingml/2006/diagram">
            <dgm:relIds xmlns:dgm="http://schemas.openxmlformats.org/drawingml/2006/diagram" xmlns:r="http://schemas.openxmlformats.org/officeDocument/2006/relationships" r:dm="rId18" r:lo="rId19" r:qs="rId20" r:cs="rId21"/>
          </a:graphicData>
        </a:graphic>
      </p:graphicFrame>
      <p:pic>
        <p:nvPicPr>
          <p:cNvPr id="3" name="Picture 2">
            <a:extLst>
              <a:ext uri="{FF2B5EF4-FFF2-40B4-BE49-F238E27FC236}">
                <a16:creationId xmlns:a16="http://schemas.microsoft.com/office/drawing/2014/main" id="{BFA09F6A-F480-CDF0-6206-3AB973FE458D}"/>
              </a:ext>
            </a:extLst>
          </p:cNvPr>
          <p:cNvPicPr>
            <a:picLocks noChangeAspect="1"/>
          </p:cNvPicPr>
          <p:nvPr/>
        </p:nvPicPr>
        <p:blipFill>
          <a:blip r:embed="rId23"/>
          <a:stretch>
            <a:fillRect/>
          </a:stretch>
        </p:blipFill>
        <p:spPr>
          <a:xfrm>
            <a:off x="8285285" y="32910"/>
            <a:ext cx="960829" cy="1085830"/>
          </a:xfrm>
          <a:prstGeom prst="rect">
            <a:avLst/>
          </a:prstGeom>
        </p:spPr>
      </p:pic>
      <p:sp>
        <p:nvSpPr>
          <p:cNvPr id="5" name="Text Placeholder 32">
            <a:extLst>
              <a:ext uri="{FF2B5EF4-FFF2-40B4-BE49-F238E27FC236}">
                <a16:creationId xmlns:a16="http://schemas.microsoft.com/office/drawing/2014/main" id="{40277BD2-187A-4E98-BAC5-DE88605E7A12}"/>
              </a:ext>
            </a:extLst>
          </p:cNvPr>
          <p:cNvSpPr txBox="1">
            <a:spLocks/>
          </p:cNvSpPr>
          <p:nvPr/>
        </p:nvSpPr>
        <p:spPr>
          <a:xfrm>
            <a:off x="8234467" y="1706300"/>
            <a:ext cx="962446" cy="837037"/>
          </a:xfrm>
          <a:prstGeom prst="rect">
            <a:avLst/>
          </a:prstGeom>
          <a:ln w="6350">
            <a:noFill/>
          </a:ln>
        </p:spPr>
        <p:txBody>
          <a:bodyPr vert="horz" lIns="91440" tIns="45720" rIns="91440" bIns="45720" rtlCol="0">
            <a:noAutofit/>
          </a:bodyPr>
          <a:lstStyle>
            <a:lvl1pPr marL="0" indent="0" algn="ctr" defTabSz="914400" rtl="0" eaLnBrk="1" latinLnBrk="0" hangingPunct="1">
              <a:lnSpc>
                <a:spcPct val="90000"/>
              </a:lnSpc>
              <a:spcBef>
                <a:spcPts val="1000"/>
              </a:spcBef>
              <a:buFontTx/>
              <a:buNone/>
              <a:defRPr sz="1200" b="0" i="0" kern="1200">
                <a:solidFill>
                  <a:schemeClr val="tx1"/>
                </a:solidFill>
                <a:latin typeface="Duplicate Sans Light"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Duplicate Sans Light"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Duplicate Sans Light"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914384">
              <a:defRPr/>
            </a:pPr>
            <a:r>
              <a:rPr lang="en-US" dirty="0">
                <a:solidFill>
                  <a:prstClr val="white"/>
                </a:solidFill>
                <a:sym typeface="Arial"/>
              </a:rPr>
              <a:t>2022 USAF Contract for Hypersonic Reusable Launch Vehicle</a:t>
            </a:r>
            <a:endParaRPr lang="en-US" dirty="0">
              <a:solidFill>
                <a:prstClr val="white"/>
              </a:solidFill>
              <a:latin typeface="Duplicate Sans Medium" pitchFamily="2" charset="77"/>
              <a:sym typeface="Arial"/>
            </a:endParaRPr>
          </a:p>
          <a:p>
            <a:pPr defTabSz="914384">
              <a:defRPr/>
            </a:pPr>
            <a:endParaRPr lang="en-US" dirty="0">
              <a:solidFill>
                <a:prstClr val="white"/>
              </a:solidFill>
              <a:sym typeface="Arial"/>
            </a:endParaRPr>
          </a:p>
        </p:txBody>
      </p:sp>
      <p:sp>
        <p:nvSpPr>
          <p:cNvPr id="6" name="TextBox 5">
            <a:extLst>
              <a:ext uri="{FF2B5EF4-FFF2-40B4-BE49-F238E27FC236}">
                <a16:creationId xmlns:a16="http://schemas.microsoft.com/office/drawing/2014/main" id="{A9118035-92F0-DE36-0AF3-1DB24D9EEB4F}"/>
              </a:ext>
            </a:extLst>
          </p:cNvPr>
          <p:cNvSpPr txBox="1"/>
          <p:nvPr/>
        </p:nvSpPr>
        <p:spPr>
          <a:xfrm>
            <a:off x="9344841" y="6387362"/>
            <a:ext cx="2781660" cy="461665"/>
          </a:xfrm>
          <a:prstGeom prst="rect">
            <a:avLst/>
          </a:prstGeom>
          <a:noFill/>
        </p:spPr>
        <p:txBody>
          <a:bodyPr wrap="none" rtlCol="0">
            <a:spAutoFit/>
          </a:bodyPr>
          <a:lstStyle/>
          <a:p>
            <a:pPr defTabSz="914384">
              <a:defRPr/>
            </a:pPr>
            <a:r>
              <a:rPr lang="en-US" sz="1200" dirty="0">
                <a:solidFill>
                  <a:prstClr val="white"/>
                </a:solidFill>
                <a:latin typeface="Calibri" panose="020F0502020204030204"/>
                <a:cs typeface="Arial"/>
                <a:sym typeface="Arial"/>
              </a:rPr>
              <a:t>Working with companies like Vaya Space </a:t>
            </a:r>
          </a:p>
          <a:p>
            <a:pPr algn="ctr" defTabSz="914384">
              <a:defRPr/>
            </a:pPr>
            <a:r>
              <a:rPr lang="en-US" sz="1200" dirty="0">
                <a:solidFill>
                  <a:prstClr val="white"/>
                </a:solidFill>
                <a:latin typeface="Calibri" panose="020F0502020204030204"/>
                <a:cs typeface="Arial"/>
                <a:sym typeface="Arial"/>
              </a:rPr>
              <a:t>and others Derisking Orbital access.</a:t>
            </a:r>
          </a:p>
        </p:txBody>
      </p:sp>
      <p:sp>
        <p:nvSpPr>
          <p:cNvPr id="7" name="TextBox 6">
            <a:extLst>
              <a:ext uri="{FF2B5EF4-FFF2-40B4-BE49-F238E27FC236}">
                <a16:creationId xmlns:a16="http://schemas.microsoft.com/office/drawing/2014/main" id="{8CEE4A3B-D5AA-4F4B-A889-F56EFE3A7470}"/>
              </a:ext>
            </a:extLst>
          </p:cNvPr>
          <p:cNvSpPr txBox="1"/>
          <p:nvPr/>
        </p:nvSpPr>
        <p:spPr>
          <a:xfrm>
            <a:off x="58713" y="4973180"/>
            <a:ext cx="8319644" cy="369332"/>
          </a:xfrm>
          <a:prstGeom prst="rect">
            <a:avLst/>
          </a:prstGeom>
          <a:noFill/>
        </p:spPr>
        <p:txBody>
          <a:bodyPr wrap="square" rtlCol="0">
            <a:spAutoFit/>
          </a:bodyPr>
          <a:lstStyle/>
          <a:p>
            <a:pPr defTabSz="914384">
              <a:defRPr/>
            </a:pPr>
            <a:r>
              <a:rPr lang="en-US" b="1" i="1" dirty="0">
                <a:solidFill>
                  <a:schemeClr val="accent4"/>
                </a:solidFill>
                <a:latin typeface="Calibri" panose="020F0502020204030204"/>
                <a:cs typeface="Arial"/>
                <a:sym typeface="Arial"/>
              </a:rPr>
              <a:t>Our Competitive Advantage is demonstrated by what our team has already done: </a:t>
            </a:r>
          </a:p>
        </p:txBody>
      </p:sp>
      <p:pic>
        <p:nvPicPr>
          <p:cNvPr id="24" name="Picture 23">
            <a:extLst>
              <a:ext uri="{FF2B5EF4-FFF2-40B4-BE49-F238E27FC236}">
                <a16:creationId xmlns:a16="http://schemas.microsoft.com/office/drawing/2014/main" id="{AC6D4545-A6A0-F897-B145-AE8C73F5B6A6}"/>
              </a:ext>
            </a:extLst>
          </p:cNvPr>
          <p:cNvPicPr>
            <a:picLocks noChangeAspect="1"/>
          </p:cNvPicPr>
          <p:nvPr/>
        </p:nvPicPr>
        <p:blipFill>
          <a:blip r:embed="rId24"/>
          <a:stretch>
            <a:fillRect/>
          </a:stretch>
        </p:blipFill>
        <p:spPr>
          <a:xfrm>
            <a:off x="9752463" y="10630"/>
            <a:ext cx="759043" cy="1503300"/>
          </a:xfrm>
          <a:prstGeom prst="rect">
            <a:avLst/>
          </a:prstGeom>
        </p:spPr>
      </p:pic>
      <p:pic>
        <p:nvPicPr>
          <p:cNvPr id="26" name="Picture 25">
            <a:extLst>
              <a:ext uri="{FF2B5EF4-FFF2-40B4-BE49-F238E27FC236}">
                <a16:creationId xmlns:a16="http://schemas.microsoft.com/office/drawing/2014/main" id="{555E2522-B5B3-E9FC-1806-6635BB414FA4}"/>
              </a:ext>
            </a:extLst>
          </p:cNvPr>
          <p:cNvPicPr>
            <a:picLocks noChangeAspect="1"/>
          </p:cNvPicPr>
          <p:nvPr/>
        </p:nvPicPr>
        <p:blipFill>
          <a:blip r:embed="rId25"/>
          <a:stretch>
            <a:fillRect/>
          </a:stretch>
        </p:blipFill>
        <p:spPr>
          <a:xfrm>
            <a:off x="8477178" y="5618110"/>
            <a:ext cx="798392" cy="1206981"/>
          </a:xfrm>
          <a:prstGeom prst="rect">
            <a:avLst/>
          </a:prstGeom>
        </p:spPr>
      </p:pic>
      <p:pic>
        <p:nvPicPr>
          <p:cNvPr id="33" name="Picture 32">
            <a:extLst>
              <a:ext uri="{FF2B5EF4-FFF2-40B4-BE49-F238E27FC236}">
                <a16:creationId xmlns:a16="http://schemas.microsoft.com/office/drawing/2014/main" id="{6A86C673-172A-47AC-79A0-C3126C51D997}"/>
              </a:ext>
            </a:extLst>
          </p:cNvPr>
          <p:cNvPicPr>
            <a:picLocks noChangeAspect="1"/>
          </p:cNvPicPr>
          <p:nvPr/>
        </p:nvPicPr>
        <p:blipFill>
          <a:blip r:embed="rId26"/>
          <a:stretch>
            <a:fillRect/>
          </a:stretch>
        </p:blipFill>
        <p:spPr>
          <a:xfrm rot="5400000">
            <a:off x="10881057" y="512031"/>
            <a:ext cx="1503300" cy="463880"/>
          </a:xfrm>
          <a:prstGeom prst="rect">
            <a:avLst/>
          </a:prstGeom>
        </p:spPr>
      </p:pic>
      <p:pic>
        <p:nvPicPr>
          <p:cNvPr id="8" name="Picture 7" descr="A person standing next to a large machine&#10;&#10;AI-generated content may be incorrect.">
            <a:extLst>
              <a:ext uri="{FF2B5EF4-FFF2-40B4-BE49-F238E27FC236}">
                <a16:creationId xmlns:a16="http://schemas.microsoft.com/office/drawing/2014/main" id="{14B418F9-FD1A-F95A-143D-CF5E11B9C6F3}"/>
              </a:ext>
            </a:extLst>
          </p:cNvPr>
          <p:cNvPicPr>
            <a:picLocks noChangeAspect="1"/>
          </p:cNvPicPr>
          <p:nvPr/>
        </p:nvPicPr>
        <p:blipFill>
          <a:blip r:embed="rId27"/>
          <a:stretch>
            <a:fillRect/>
          </a:stretch>
        </p:blipFill>
        <p:spPr>
          <a:xfrm>
            <a:off x="9738741" y="5078258"/>
            <a:ext cx="1745471" cy="1309104"/>
          </a:xfrm>
          <a:prstGeom prst="rect">
            <a:avLst/>
          </a:prstGeom>
        </p:spPr>
      </p:pic>
    </p:spTree>
    <p:extLst>
      <p:ext uri="{BB962C8B-B14F-4D97-AF65-F5344CB8AC3E}">
        <p14:creationId xmlns:p14="http://schemas.microsoft.com/office/powerpoint/2010/main" val="3544984704"/>
      </p:ext>
    </p:extLst>
  </p:cSld>
  <p:clrMapOvr>
    <a:masterClrMapping/>
  </p:clrMapOvr>
  <mc:AlternateContent xmlns:mc="http://schemas.openxmlformats.org/markup-compatibility/2006" xmlns:p14="http://schemas.microsoft.com/office/powerpoint/2010/main">
    <mc:Choice Requires="p14">
      <p:transition p14:dur="10" advTm="0"/>
    </mc:Choice>
    <mc:Fallback xmlns="">
      <p:transition advTm="0"/>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3200" b="1">
                <a:solidFill>
                  <a:srgbClr val="FFFFFF"/>
                </a:solidFill>
                <a:latin typeface="Calibri"/>
              </a:rPr>
              <a:t>RISK FACTORS &amp; MITIGATION</a:t>
            </a:r>
          </a:p>
        </p:txBody>
      </p:sp>
      <p:sp>
        <p:nvSpPr>
          <p:cNvPr id="5" name="Rectangle 4"/>
          <p:cNvSpPr/>
          <p:nvPr/>
        </p:nvSpPr>
        <p:spPr>
          <a:xfrm>
            <a:off x="731520" y="109728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p:cNvGraphicFramePr>
            <a:graphicFrameLocks noGrp="1"/>
          </p:cNvGraphicFramePr>
          <p:nvPr/>
        </p:nvGraphicFramePr>
        <p:xfrm>
          <a:off x="731520" y="1371600"/>
          <a:ext cx="10515600" cy="2926080"/>
        </p:xfrm>
        <a:graphic>
          <a:graphicData uri="http://schemas.openxmlformats.org/drawingml/2006/table">
            <a:tbl>
              <a:tblPr firstRow="1" bandRow="1">
                <a:tableStyleId>{5C22544A-7EE6-4342-B048-85BDC9FD1C3A}</a:tableStyleId>
              </a:tblPr>
              <a:tblGrid>
                <a:gridCol w="3200400">
                  <a:extLst>
                    <a:ext uri="{9D8B030D-6E8A-4147-A177-3AD203B41FA5}">
                      <a16:colId xmlns:a16="http://schemas.microsoft.com/office/drawing/2014/main" val="20000"/>
                    </a:ext>
                  </a:extLst>
                </a:gridCol>
                <a:gridCol w="7315200">
                  <a:extLst>
                    <a:ext uri="{9D8B030D-6E8A-4147-A177-3AD203B41FA5}">
                      <a16:colId xmlns:a16="http://schemas.microsoft.com/office/drawing/2014/main" val="20001"/>
                    </a:ext>
                  </a:extLst>
                </a:gridCol>
              </a:tblGrid>
              <a:tr h="365760">
                <a:tc>
                  <a:txBody>
                    <a:bodyPr/>
                    <a:lstStyle/>
                    <a:p>
                      <a:r>
                        <a:rPr sz="1100" b="1">
                          <a:solidFill>
                            <a:srgbClr val="009ED9"/>
                          </a:solidFill>
                          <a:latin typeface="Calibri"/>
                        </a:rPr>
                        <a:t>Risk</a:t>
                      </a:r>
                    </a:p>
                  </a:txBody>
                  <a:tcPr>
                    <a:solidFill>
                      <a:srgbClr val="0A142A"/>
                    </a:solidFill>
                  </a:tcPr>
                </a:tc>
                <a:tc>
                  <a:txBody>
                    <a:bodyPr/>
                    <a:lstStyle/>
                    <a:p>
                      <a:r>
                        <a:rPr sz="1100" b="1">
                          <a:solidFill>
                            <a:srgbClr val="009ED9"/>
                          </a:solidFill>
                          <a:latin typeface="Calibri"/>
                        </a:rPr>
                        <a:t>Mitigation</a:t>
                      </a:r>
                    </a:p>
                  </a:txBody>
                  <a:tcPr>
                    <a:solidFill>
                      <a:srgbClr val="0A142A"/>
                    </a:solidFill>
                  </a:tcPr>
                </a:tc>
                <a:extLst>
                  <a:ext uri="{0D108BD9-81ED-4DB2-BD59-A6C34878D82A}">
                    <a16:rowId xmlns:a16="http://schemas.microsoft.com/office/drawing/2014/main" val="10000"/>
                  </a:ext>
                </a:extLst>
              </a:tr>
              <a:tr h="365760">
                <a:tc>
                  <a:txBody>
                    <a:bodyPr/>
                    <a:lstStyle/>
                    <a:p>
                      <a:r>
                        <a:rPr sz="1100">
                          <a:solidFill>
                            <a:srgbClr val="FFFFFF"/>
                          </a:solidFill>
                          <a:latin typeface="Calibri"/>
                        </a:rPr>
                        <a:t>Regulatory (ITAR, FAA)</a:t>
                      </a:r>
                    </a:p>
                  </a:txBody>
                  <a:tcPr>
                    <a:solidFill>
                      <a:srgbClr val="0D1220"/>
                    </a:solidFill>
                  </a:tcPr>
                </a:tc>
                <a:tc>
                  <a:txBody>
                    <a:bodyPr/>
                    <a:lstStyle/>
                    <a:p>
                      <a:r>
                        <a:rPr sz="1100">
                          <a:solidFill>
                            <a:srgbClr val="FFFFFF"/>
                          </a:solidFill>
                          <a:latin typeface="Calibri"/>
                        </a:rPr>
                        <a:t>15+ year compliance track record; ITAR counsel; clean domestic (Texas) corporate structure</a:t>
                      </a:r>
                    </a:p>
                  </a:txBody>
                  <a:tcPr>
                    <a:solidFill>
                      <a:srgbClr val="0D1220"/>
                    </a:solidFill>
                  </a:tcPr>
                </a:tc>
                <a:extLst>
                  <a:ext uri="{0D108BD9-81ED-4DB2-BD59-A6C34878D82A}">
                    <a16:rowId xmlns:a16="http://schemas.microsoft.com/office/drawing/2014/main" val="10001"/>
                  </a:ext>
                </a:extLst>
              </a:tr>
              <a:tr h="365760">
                <a:tc>
                  <a:txBody>
                    <a:bodyPr/>
                    <a:lstStyle/>
                    <a:p>
                      <a:r>
                        <a:rPr sz="1100">
                          <a:solidFill>
                            <a:srgbClr val="FFFFFF"/>
                          </a:solidFill>
                          <a:latin typeface="Calibri"/>
                        </a:rPr>
                        <a:t>Scorpius integration</a:t>
                      </a:r>
                    </a:p>
                  </a:txBody>
                  <a:tcPr>
                    <a:solidFill>
                      <a:srgbClr val="101626"/>
                    </a:solidFill>
                  </a:tcPr>
                </a:tc>
                <a:tc>
                  <a:txBody>
                    <a:bodyPr/>
                    <a:lstStyle/>
                    <a:p>
                      <a:r>
                        <a:rPr sz="1100">
                          <a:solidFill>
                            <a:srgbClr val="FFFFFF"/>
                          </a:solidFill>
                          <a:latin typeface="Calibri"/>
                        </a:rPr>
                        <a:t>Exos is existing 18% owner; team/operations already familiar</a:t>
                      </a:r>
                    </a:p>
                  </a:txBody>
                  <a:tcPr>
                    <a:solidFill>
                      <a:srgbClr val="101626"/>
                    </a:solidFill>
                  </a:tcPr>
                </a:tc>
                <a:extLst>
                  <a:ext uri="{0D108BD9-81ED-4DB2-BD59-A6C34878D82A}">
                    <a16:rowId xmlns:a16="http://schemas.microsoft.com/office/drawing/2014/main" val="10002"/>
                  </a:ext>
                </a:extLst>
              </a:tr>
              <a:tr h="365760">
                <a:tc>
                  <a:txBody>
                    <a:bodyPr/>
                    <a:lstStyle/>
                    <a:p>
                      <a:r>
                        <a:rPr sz="1100">
                          <a:solidFill>
                            <a:srgbClr val="FFFFFF"/>
                          </a:solidFill>
                          <a:latin typeface="Calibri"/>
                        </a:rPr>
                        <a:t>Technology (RDRE)</a:t>
                      </a:r>
                    </a:p>
                  </a:txBody>
                  <a:tcPr>
                    <a:solidFill>
                      <a:srgbClr val="0D1220"/>
                    </a:solidFill>
                  </a:tcPr>
                </a:tc>
                <a:tc>
                  <a:txBody>
                    <a:bodyPr/>
                    <a:lstStyle/>
                    <a:p>
                      <a:r>
                        <a:rPr sz="1100">
                          <a:solidFill>
                            <a:srgbClr val="FFFFFF"/>
                          </a:solidFill>
                          <a:latin typeface="Calibri"/>
                        </a:rPr>
                        <a:t>SBIR Phase II funded; failure doesn't affect core business</a:t>
                      </a:r>
                    </a:p>
                  </a:txBody>
                  <a:tcPr>
                    <a:solidFill>
                      <a:srgbClr val="0D1220"/>
                    </a:solidFill>
                  </a:tcPr>
                </a:tc>
                <a:extLst>
                  <a:ext uri="{0D108BD9-81ED-4DB2-BD59-A6C34878D82A}">
                    <a16:rowId xmlns:a16="http://schemas.microsoft.com/office/drawing/2014/main" val="10003"/>
                  </a:ext>
                </a:extLst>
              </a:tr>
              <a:tr h="365760">
                <a:tc>
                  <a:txBody>
                    <a:bodyPr/>
                    <a:lstStyle/>
                    <a:p>
                      <a:r>
                        <a:rPr sz="1100">
                          <a:solidFill>
                            <a:srgbClr val="FFFFFF"/>
                          </a:solidFill>
                          <a:latin typeface="Calibri"/>
                        </a:rPr>
                        <a:t>Market liquidity post-listing</a:t>
                      </a:r>
                    </a:p>
                  </a:txBody>
                  <a:tcPr>
                    <a:solidFill>
                      <a:srgbClr val="101626"/>
                    </a:solidFill>
                  </a:tcPr>
                </a:tc>
                <a:tc>
                  <a:txBody>
                    <a:bodyPr/>
                    <a:lstStyle/>
                    <a:p>
                      <a:r>
                        <a:rPr sz="1100">
                          <a:solidFill>
                            <a:srgbClr val="FFFFFF"/>
                          </a:solidFill>
                          <a:latin typeface="Calibri"/>
                        </a:rPr>
                        <a:t>Market maker appointed; EAI sell-down provides volume</a:t>
                      </a:r>
                    </a:p>
                  </a:txBody>
                  <a:tcPr>
                    <a:solidFill>
                      <a:srgbClr val="101626"/>
                    </a:solidFill>
                  </a:tcPr>
                </a:tc>
                <a:extLst>
                  <a:ext uri="{0D108BD9-81ED-4DB2-BD59-A6C34878D82A}">
                    <a16:rowId xmlns:a16="http://schemas.microsoft.com/office/drawing/2014/main" val="10004"/>
                  </a:ext>
                </a:extLst>
              </a:tr>
              <a:tr h="365760">
                <a:tc>
                  <a:txBody>
                    <a:bodyPr/>
                    <a:lstStyle/>
                    <a:p>
                      <a:r>
                        <a:rPr sz="1100">
                          <a:solidFill>
                            <a:srgbClr val="FFFFFF"/>
                          </a:solidFill>
                          <a:latin typeface="Calibri"/>
                        </a:rPr>
                        <a:t>Single customer dependency</a:t>
                      </a:r>
                    </a:p>
                  </a:txBody>
                  <a:tcPr>
                    <a:solidFill>
                      <a:srgbClr val="0D1220"/>
                    </a:solidFill>
                  </a:tcPr>
                </a:tc>
                <a:tc>
                  <a:txBody>
                    <a:bodyPr/>
                    <a:lstStyle/>
                    <a:p>
                      <a:r>
                        <a:rPr sz="1100">
                          <a:solidFill>
                            <a:srgbClr val="FFFFFF"/>
                          </a:solidFill>
                          <a:latin typeface="Calibri"/>
                        </a:rPr>
                        <a:t>Diversified: DoD, NASA, 3 defense primes, commercial, university</a:t>
                      </a:r>
                    </a:p>
                  </a:txBody>
                  <a:tcPr>
                    <a:solidFill>
                      <a:srgbClr val="0D1220"/>
                    </a:solidFill>
                  </a:tcPr>
                </a:tc>
                <a:extLst>
                  <a:ext uri="{0D108BD9-81ED-4DB2-BD59-A6C34878D82A}">
                    <a16:rowId xmlns:a16="http://schemas.microsoft.com/office/drawing/2014/main" val="10005"/>
                  </a:ext>
                </a:extLst>
              </a:tr>
              <a:tr h="365760">
                <a:tc>
                  <a:txBody>
                    <a:bodyPr/>
                    <a:lstStyle/>
                    <a:p>
                      <a:r>
                        <a:rPr sz="1100">
                          <a:solidFill>
                            <a:srgbClr val="FFFFFF"/>
                          </a:solidFill>
                          <a:latin typeface="Calibri"/>
                        </a:rPr>
                        <a:t>Key person risk</a:t>
                      </a:r>
                    </a:p>
                  </a:txBody>
                  <a:tcPr>
                    <a:solidFill>
                      <a:srgbClr val="101626"/>
                    </a:solidFill>
                  </a:tcPr>
                </a:tc>
                <a:tc>
                  <a:txBody>
                    <a:bodyPr/>
                    <a:lstStyle/>
                    <a:p>
                      <a:r>
                        <a:rPr sz="1100">
                          <a:solidFill>
                            <a:srgbClr val="FFFFFF"/>
                          </a:solidFill>
                          <a:latin typeface="Calibri"/>
                        </a:rPr>
                        <a:t>D&amp;O insurance; COO operational; 50+ years combined exec experience</a:t>
                      </a:r>
                    </a:p>
                  </a:txBody>
                  <a:tcPr>
                    <a:solidFill>
                      <a:srgbClr val="101626"/>
                    </a:solidFill>
                  </a:tcPr>
                </a:tc>
                <a:extLst>
                  <a:ext uri="{0D108BD9-81ED-4DB2-BD59-A6C34878D82A}">
                    <a16:rowId xmlns:a16="http://schemas.microsoft.com/office/drawing/2014/main" val="10006"/>
                  </a:ext>
                </a:extLst>
              </a:tr>
              <a:tr h="365760">
                <a:tc>
                  <a:txBody>
                    <a:bodyPr/>
                    <a:lstStyle/>
                    <a:p>
                      <a:r>
                        <a:rPr sz="1100">
                          <a:solidFill>
                            <a:srgbClr val="FFFFFF"/>
                          </a:solidFill>
                          <a:latin typeface="Calibri"/>
                        </a:rPr>
                        <a:t>BLK4 timeline</a:t>
                      </a:r>
                    </a:p>
                  </a:txBody>
                  <a:tcPr>
                    <a:solidFill>
                      <a:srgbClr val="0D1220"/>
                    </a:solidFill>
                  </a:tcPr>
                </a:tc>
                <a:tc>
                  <a:txBody>
                    <a:bodyPr/>
                    <a:lstStyle/>
                    <a:p>
                      <a:r>
                        <a:rPr sz="1100">
                          <a:solidFill>
                            <a:srgbClr val="FFFFFF"/>
                          </a:solidFill>
                          <a:latin typeface="Calibri"/>
                        </a:rPr>
                        <a:t>18–24 mo. development in projections; CY2026–2027 revenue not BLK4 dependent</a:t>
                      </a:r>
                    </a:p>
                  </a:txBody>
                  <a:tcPr>
                    <a:solidFill>
                      <a:srgbClr val="0D1220"/>
                    </a:solidFill>
                  </a:tcPr>
                </a:tc>
                <a:extLst>
                  <a:ext uri="{0D108BD9-81ED-4DB2-BD59-A6C34878D82A}">
                    <a16:rowId xmlns:a16="http://schemas.microsoft.com/office/drawing/2014/main" val="10007"/>
                  </a:ext>
                </a:extLst>
              </a:tr>
            </a:tbl>
          </a:graphicData>
        </a:graphic>
      </p:graphicFrame>
      <p:sp>
        <p:nvSpPr>
          <p:cNvPr id="7" name="Rectangle 6"/>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145472"/>
            <a:ext cx="10058400" cy="731520"/>
          </a:xfrm>
          <a:prstGeom prst="rect">
            <a:avLst/>
          </a:prstGeom>
          <a:noFill/>
        </p:spPr>
        <p:txBody>
          <a:bodyPr wrap="square">
            <a:spAutoFit/>
          </a:bodyPr>
          <a:lstStyle/>
          <a:p>
            <a:pPr algn="l">
              <a:spcAft>
                <a:spcPts val="400"/>
              </a:spcAft>
            </a:pPr>
            <a:r>
              <a:rPr sz="4000" b="1">
                <a:solidFill>
                  <a:srgbClr val="FFFFFF"/>
                </a:solidFill>
                <a:latin typeface="Calibri"/>
              </a:rPr>
              <a:t>THE ASK — TITLE III PRIMARY</a:t>
            </a:r>
          </a:p>
        </p:txBody>
      </p:sp>
      <p:sp>
        <p:nvSpPr>
          <p:cNvPr id="5" name="Rectangle 4"/>
          <p:cNvSpPr/>
          <p:nvPr/>
        </p:nvSpPr>
        <p:spPr>
          <a:xfrm>
            <a:off x="731520" y="955617"/>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242752"/>
            <a:ext cx="10058400" cy="457200"/>
          </a:xfrm>
          <a:prstGeom prst="rect">
            <a:avLst/>
          </a:prstGeom>
          <a:noFill/>
        </p:spPr>
        <p:txBody>
          <a:bodyPr wrap="square">
            <a:spAutoFit/>
          </a:bodyPr>
          <a:lstStyle/>
          <a:p>
            <a:pPr algn="l">
              <a:spcAft>
                <a:spcPts val="400"/>
              </a:spcAft>
            </a:pPr>
            <a:r>
              <a:rPr sz="1600" b="1">
                <a:solidFill>
                  <a:srgbClr val="009ED9"/>
                </a:solidFill>
                <a:latin typeface="Calibri"/>
              </a:rPr>
              <a:t>EXOS AEROSPACE — Licensed Reusable Launch | Lunar-Proven Technology | Profitable</a:t>
            </a:r>
          </a:p>
        </p:txBody>
      </p:sp>
      <p:graphicFrame>
        <p:nvGraphicFramePr>
          <p:cNvPr id="7" name="Table 6"/>
          <p:cNvGraphicFramePr>
            <a:graphicFrameLocks noGrp="1"/>
          </p:cNvGraphicFramePr>
          <p:nvPr>
            <p:extLst>
              <p:ext uri="{D42A27DB-BD31-4B8C-83A1-F6EECF244321}">
                <p14:modId xmlns:p14="http://schemas.microsoft.com/office/powerpoint/2010/main" val="2578401430"/>
              </p:ext>
            </p:extLst>
          </p:nvPr>
        </p:nvGraphicFramePr>
        <p:xfrm>
          <a:off x="731520" y="1791392"/>
          <a:ext cx="10515600" cy="2560320"/>
        </p:xfrm>
        <a:graphic>
          <a:graphicData uri="http://schemas.openxmlformats.org/drawingml/2006/table">
            <a:tbl>
              <a:tblPr firstRow="1" bandRow="1">
                <a:tableStyleId>{5C22544A-7EE6-4342-B048-85BDC9FD1C3A}</a:tableStyleId>
              </a:tblPr>
              <a:tblGrid>
                <a:gridCol w="3200400">
                  <a:extLst>
                    <a:ext uri="{9D8B030D-6E8A-4147-A177-3AD203B41FA5}">
                      <a16:colId xmlns:a16="http://schemas.microsoft.com/office/drawing/2014/main" val="20000"/>
                    </a:ext>
                  </a:extLst>
                </a:gridCol>
                <a:gridCol w="7315200">
                  <a:extLst>
                    <a:ext uri="{9D8B030D-6E8A-4147-A177-3AD203B41FA5}">
                      <a16:colId xmlns:a16="http://schemas.microsoft.com/office/drawing/2014/main" val="20001"/>
                    </a:ext>
                  </a:extLst>
                </a:gridCol>
              </a:tblGrid>
              <a:tr h="365760">
                <a:tc>
                  <a:txBody>
                    <a:bodyPr/>
                    <a:lstStyle/>
                    <a:p>
                      <a:endParaRPr/>
                    </a:p>
                  </a:txBody>
                  <a:tcPr>
                    <a:solidFill>
                      <a:srgbClr val="0A142A"/>
                    </a:solidFill>
                  </a:tcPr>
                </a:tc>
                <a:tc>
                  <a:txBody>
                    <a:bodyPr/>
                    <a:lstStyle/>
                    <a:p>
                      <a:endParaRPr/>
                    </a:p>
                  </a:txBody>
                  <a:tcPr>
                    <a:solidFill>
                      <a:srgbClr val="0A142A"/>
                    </a:solidFill>
                  </a:tcPr>
                </a:tc>
                <a:extLst>
                  <a:ext uri="{0D108BD9-81ED-4DB2-BD59-A6C34878D82A}">
                    <a16:rowId xmlns:a16="http://schemas.microsoft.com/office/drawing/2014/main" val="10000"/>
                  </a:ext>
                </a:extLst>
              </a:tr>
              <a:tr h="365760">
                <a:tc>
                  <a:txBody>
                    <a:bodyPr/>
                    <a:lstStyle/>
                    <a:p>
                      <a:r>
                        <a:rPr sz="1100">
                          <a:solidFill>
                            <a:srgbClr val="FFFFFF"/>
                          </a:solidFill>
                          <a:latin typeface="Calibri"/>
                        </a:rPr>
                        <a:t>Raising</a:t>
                      </a:r>
                    </a:p>
                  </a:txBody>
                  <a:tcPr>
                    <a:solidFill>
                      <a:srgbClr val="0D1220"/>
                    </a:solidFill>
                  </a:tcPr>
                </a:tc>
                <a:tc>
                  <a:txBody>
                    <a:bodyPr/>
                    <a:lstStyle/>
                    <a:p>
                      <a:r>
                        <a:rPr sz="1100">
                          <a:solidFill>
                            <a:srgbClr val="FFFFFF"/>
                          </a:solidFill>
                          <a:latin typeface="Calibri"/>
                        </a:rPr>
                        <a:t>$10M Tranche 1 (of $40–50M over 5 years)</a:t>
                      </a:r>
                    </a:p>
                  </a:txBody>
                  <a:tcPr>
                    <a:solidFill>
                      <a:srgbClr val="0D1220"/>
                    </a:solidFill>
                  </a:tcPr>
                </a:tc>
                <a:extLst>
                  <a:ext uri="{0D108BD9-81ED-4DB2-BD59-A6C34878D82A}">
                    <a16:rowId xmlns:a16="http://schemas.microsoft.com/office/drawing/2014/main" val="10001"/>
                  </a:ext>
                </a:extLst>
              </a:tr>
              <a:tr h="365760">
                <a:tc>
                  <a:txBody>
                    <a:bodyPr/>
                    <a:lstStyle/>
                    <a:p>
                      <a:r>
                        <a:rPr sz="1100">
                          <a:solidFill>
                            <a:srgbClr val="FFFFFF"/>
                          </a:solidFill>
                          <a:latin typeface="Calibri"/>
                        </a:rPr>
                        <a:t>Revenue Trajectory</a:t>
                      </a:r>
                    </a:p>
                  </a:txBody>
                  <a:tcPr>
                    <a:solidFill>
                      <a:srgbClr val="101626"/>
                    </a:solidFill>
                  </a:tcPr>
                </a:tc>
                <a:tc>
                  <a:txBody>
                    <a:bodyPr/>
                    <a:lstStyle/>
                    <a:p>
                      <a:r>
                        <a:rPr sz="1100">
                          <a:solidFill>
                            <a:srgbClr val="FFFFFF"/>
                          </a:solidFill>
                          <a:latin typeface="Calibri"/>
                        </a:rPr>
                        <a:t>$4.4M (2026) → $6.2M → $25M → $55M → $120M (2030)</a:t>
                      </a:r>
                    </a:p>
                  </a:txBody>
                  <a:tcPr>
                    <a:solidFill>
                      <a:srgbClr val="101626"/>
                    </a:solidFill>
                  </a:tcPr>
                </a:tc>
                <a:extLst>
                  <a:ext uri="{0D108BD9-81ED-4DB2-BD59-A6C34878D82A}">
                    <a16:rowId xmlns:a16="http://schemas.microsoft.com/office/drawing/2014/main" val="10002"/>
                  </a:ext>
                </a:extLst>
              </a:tr>
              <a:tr h="365760">
                <a:tc>
                  <a:txBody>
                    <a:bodyPr/>
                    <a:lstStyle/>
                    <a:p>
                      <a:r>
                        <a:rPr sz="1100">
                          <a:solidFill>
                            <a:srgbClr val="FFFFFF"/>
                          </a:solidFill>
                          <a:latin typeface="Calibri"/>
                        </a:rPr>
                        <a:t>Reusable Launch License</a:t>
                      </a:r>
                    </a:p>
                  </a:txBody>
                  <a:tcPr>
                    <a:solidFill>
                      <a:srgbClr val="0D1220"/>
                    </a:solidFill>
                  </a:tcPr>
                </a:tc>
                <a:tc>
                  <a:txBody>
                    <a:bodyPr/>
                    <a:lstStyle/>
                    <a:p>
                      <a:r>
                        <a:rPr sz="1100">
                          <a:solidFill>
                            <a:srgbClr val="FFFFFF"/>
                          </a:solidFill>
                          <a:latin typeface="Calibri"/>
                        </a:rPr>
                        <a:t>One of only three U.S. companies</a:t>
                      </a:r>
                    </a:p>
                  </a:txBody>
                  <a:tcPr>
                    <a:solidFill>
                      <a:srgbClr val="0D1220"/>
                    </a:solidFill>
                  </a:tcPr>
                </a:tc>
                <a:extLst>
                  <a:ext uri="{0D108BD9-81ED-4DB2-BD59-A6C34878D82A}">
                    <a16:rowId xmlns:a16="http://schemas.microsoft.com/office/drawing/2014/main" val="10003"/>
                  </a:ext>
                </a:extLst>
              </a:tr>
              <a:tr h="365760">
                <a:tc>
                  <a:txBody>
                    <a:bodyPr/>
                    <a:lstStyle/>
                    <a:p>
                      <a:r>
                        <a:rPr sz="1100">
                          <a:solidFill>
                            <a:srgbClr val="FFFFFF"/>
                          </a:solidFill>
                          <a:latin typeface="Calibri"/>
                        </a:rPr>
                        <a:t>TRL-9 Technology</a:t>
                      </a:r>
                    </a:p>
                  </a:txBody>
                  <a:tcPr>
                    <a:solidFill>
                      <a:srgbClr val="101626"/>
                    </a:solidFill>
                  </a:tcPr>
                </a:tc>
                <a:tc>
                  <a:txBody>
                    <a:bodyPr/>
                    <a:lstStyle/>
                    <a:p>
                      <a:r>
                        <a:rPr sz="1100">
                          <a:solidFill>
                            <a:srgbClr val="FFFFFF"/>
                          </a:solidFill>
                          <a:latin typeface="Calibri"/>
                        </a:rPr>
                        <a:t>Scorpius fuel tanks operating on the Moon</a:t>
                      </a:r>
                    </a:p>
                  </a:txBody>
                  <a:tcPr>
                    <a:solidFill>
                      <a:srgbClr val="101626"/>
                    </a:solidFill>
                  </a:tcPr>
                </a:tc>
                <a:extLst>
                  <a:ext uri="{0D108BD9-81ED-4DB2-BD59-A6C34878D82A}">
                    <a16:rowId xmlns:a16="http://schemas.microsoft.com/office/drawing/2014/main" val="10004"/>
                  </a:ext>
                </a:extLst>
              </a:tr>
              <a:tr h="365760">
                <a:tc>
                  <a:txBody>
                    <a:bodyPr/>
                    <a:lstStyle/>
                    <a:p>
                      <a:r>
                        <a:rPr sz="1100">
                          <a:solidFill>
                            <a:srgbClr val="FFFFFF"/>
                          </a:solidFill>
                          <a:latin typeface="Calibri"/>
                        </a:rPr>
                        <a:t>Gov't Co-Investment</a:t>
                      </a:r>
                    </a:p>
                  </a:txBody>
                  <a:tcPr>
                    <a:solidFill>
                      <a:srgbClr val="0D1220"/>
                    </a:solidFill>
                  </a:tcPr>
                </a:tc>
                <a:tc>
                  <a:txBody>
                    <a:bodyPr/>
                    <a:lstStyle/>
                    <a:p>
                      <a:r>
                        <a:rPr sz="1100">
                          <a:solidFill>
                            <a:srgbClr val="FFFFFF"/>
                          </a:solidFill>
                          <a:latin typeface="Calibri"/>
                        </a:rPr>
                        <a:t>$34M TACFI/STRATFI pipeline — 3.4x multiplier</a:t>
                      </a:r>
                    </a:p>
                  </a:txBody>
                  <a:tcPr>
                    <a:solidFill>
                      <a:srgbClr val="0D1220"/>
                    </a:solidFill>
                  </a:tcPr>
                </a:tc>
                <a:extLst>
                  <a:ext uri="{0D108BD9-81ED-4DB2-BD59-A6C34878D82A}">
                    <a16:rowId xmlns:a16="http://schemas.microsoft.com/office/drawing/2014/main" val="10005"/>
                  </a:ext>
                </a:extLst>
              </a:tr>
              <a:tr h="365760">
                <a:tc>
                  <a:txBody>
                    <a:bodyPr/>
                    <a:lstStyle/>
                    <a:p>
                      <a:r>
                        <a:rPr sz="1100">
                          <a:solidFill>
                            <a:srgbClr val="FFFFFF"/>
                          </a:solidFill>
                          <a:latin typeface="Calibri"/>
                        </a:rPr>
                        <a:t>Profitability</a:t>
                      </a:r>
                    </a:p>
                  </a:txBody>
                  <a:tcPr>
                    <a:solidFill>
                      <a:srgbClr val="101626"/>
                    </a:solidFill>
                  </a:tcPr>
                </a:tc>
                <a:tc>
                  <a:txBody>
                    <a:bodyPr/>
                    <a:lstStyle/>
                    <a:p>
                      <a:r>
                        <a:rPr sz="1100">
                          <a:solidFill>
                            <a:srgbClr val="FFFFFF"/>
                          </a:solidFill>
                          <a:latin typeface="Calibri"/>
                        </a:rPr>
                        <a:t>EBITDA-positive since 2025 — 17% margin</a:t>
                      </a:r>
                    </a:p>
                  </a:txBody>
                  <a:tcPr>
                    <a:solidFill>
                      <a:srgbClr val="101626"/>
                    </a:solidFill>
                  </a:tcPr>
                </a:tc>
                <a:extLst>
                  <a:ext uri="{0D108BD9-81ED-4DB2-BD59-A6C34878D82A}">
                    <a16:rowId xmlns:a16="http://schemas.microsoft.com/office/drawing/2014/main" val="10006"/>
                  </a:ext>
                </a:extLst>
              </a:tr>
            </a:tbl>
          </a:graphicData>
        </a:graphic>
      </p:graphicFrame>
      <p:sp>
        <p:nvSpPr>
          <p:cNvPr id="8" name="TextBox 7"/>
          <p:cNvSpPr txBox="1"/>
          <p:nvPr/>
        </p:nvSpPr>
        <p:spPr>
          <a:xfrm>
            <a:off x="731520" y="4351712"/>
            <a:ext cx="5029200" cy="365760"/>
          </a:xfrm>
          <a:prstGeom prst="rect">
            <a:avLst/>
          </a:prstGeom>
          <a:noFill/>
        </p:spPr>
        <p:txBody>
          <a:bodyPr wrap="square">
            <a:spAutoFit/>
          </a:bodyPr>
          <a:lstStyle/>
          <a:p>
            <a:pPr algn="l">
              <a:spcAft>
                <a:spcPts val="400"/>
              </a:spcAft>
            </a:pPr>
            <a:r>
              <a:rPr sz="1400" b="1">
                <a:solidFill>
                  <a:srgbClr val="FFB800"/>
                </a:solidFill>
                <a:latin typeface="Calibri"/>
              </a:rPr>
              <a:t>$10M ENABLES:</a:t>
            </a:r>
          </a:p>
        </p:txBody>
      </p:sp>
      <p:sp>
        <p:nvSpPr>
          <p:cNvPr id="9" name="TextBox 8"/>
          <p:cNvSpPr txBox="1"/>
          <p:nvPr/>
        </p:nvSpPr>
        <p:spPr>
          <a:xfrm>
            <a:off x="731520" y="4709160"/>
            <a:ext cx="5029200" cy="1371600"/>
          </a:xfrm>
          <a:prstGeom prst="rect">
            <a:avLst/>
          </a:prstGeom>
          <a:noFill/>
        </p:spPr>
        <p:txBody>
          <a:bodyPr wrap="square">
            <a:spAutoFit/>
          </a:bodyPr>
          <a:lstStyle/>
          <a:p>
            <a:pPr algn="l">
              <a:spcBef>
                <a:spcPts val="0"/>
              </a:spcBef>
              <a:spcAft>
                <a:spcPts val="300"/>
              </a:spcAft>
            </a:pPr>
            <a:r>
              <a:rPr lang="en-US" sz="1200" b="0" dirty="0">
                <a:solidFill>
                  <a:srgbClr val="CCCCCC"/>
                </a:solidFill>
              </a:rPr>
              <a:t>•  Scorpius acquisition ($3.4M — Right of First Refusal)</a:t>
            </a:r>
          </a:p>
          <a:p>
            <a:pPr algn="l">
              <a:spcBef>
                <a:spcPts val="0"/>
              </a:spcBef>
              <a:spcAft>
                <a:spcPts val="300"/>
              </a:spcAft>
            </a:pPr>
            <a:r>
              <a:rPr lang="en-US" sz="1200" b="0" dirty="0">
                <a:solidFill>
                  <a:srgbClr val="CCCCCC"/>
                </a:solidFill>
              </a:rPr>
              <a:t>•  TACFI match → unlocks $30M STRATFI</a:t>
            </a:r>
          </a:p>
          <a:p>
            <a:pPr algn="l">
              <a:spcBef>
                <a:spcPts val="0"/>
              </a:spcBef>
              <a:spcAft>
                <a:spcPts val="300"/>
              </a:spcAft>
            </a:pPr>
            <a:r>
              <a:rPr lang="en-US" sz="1200" b="0" dirty="0">
                <a:solidFill>
                  <a:srgbClr val="CCCCCC"/>
                </a:solidFill>
              </a:rPr>
              <a:t>•  BLK4 commercial fleet development</a:t>
            </a:r>
          </a:p>
          <a:p>
            <a:pPr algn="l">
              <a:spcBef>
                <a:spcPts val="0"/>
              </a:spcBef>
              <a:spcAft>
                <a:spcPts val="300"/>
              </a:spcAft>
            </a:pPr>
            <a:r>
              <a:rPr lang="en-US" sz="1200" b="0" dirty="0">
                <a:solidFill>
                  <a:srgbClr val="CCCCCC"/>
                </a:solidFill>
              </a:rPr>
              <a:t>•  Public listing — Texas Stock Exchange (TXSE), ~18–24 mo</a:t>
            </a:r>
          </a:p>
        </p:txBody>
      </p:sp>
      <p:sp>
        <p:nvSpPr>
          <p:cNvPr id="10" name="TextBox 9"/>
          <p:cNvSpPr txBox="1"/>
          <p:nvPr/>
        </p:nvSpPr>
        <p:spPr>
          <a:xfrm>
            <a:off x="6400800" y="4351712"/>
            <a:ext cx="5029200" cy="365760"/>
          </a:xfrm>
          <a:prstGeom prst="rect">
            <a:avLst/>
          </a:prstGeom>
          <a:noFill/>
        </p:spPr>
        <p:txBody>
          <a:bodyPr wrap="square">
            <a:spAutoFit/>
          </a:bodyPr>
          <a:lstStyle/>
          <a:p>
            <a:pPr algn="l">
              <a:spcAft>
                <a:spcPts val="400"/>
              </a:spcAft>
            </a:pPr>
            <a:r>
              <a:rPr sz="1400" b="1">
                <a:solidFill>
                  <a:srgbClr val="FFB800"/>
                </a:solidFill>
                <a:latin typeface="Calibri"/>
              </a:rPr>
              <a:t>NEXT STEPS:</a:t>
            </a:r>
          </a:p>
        </p:txBody>
      </p:sp>
      <p:sp>
        <p:nvSpPr>
          <p:cNvPr id="11" name="TextBox 10"/>
          <p:cNvSpPr txBox="1"/>
          <p:nvPr/>
        </p:nvSpPr>
        <p:spPr>
          <a:xfrm>
            <a:off x="6400800" y="4717472"/>
            <a:ext cx="5029200" cy="1371600"/>
          </a:xfrm>
          <a:prstGeom prst="rect">
            <a:avLst/>
          </a:prstGeom>
          <a:noFill/>
        </p:spPr>
        <p:txBody>
          <a:bodyPr wrap="square">
            <a:spAutoFit/>
          </a:bodyPr>
          <a:lstStyle/>
          <a:p>
            <a:pPr algn="l">
              <a:spcBef>
                <a:spcPts val="0"/>
              </a:spcBef>
              <a:spcAft>
                <a:spcPts val="300"/>
              </a:spcAft>
            </a:pPr>
            <a:r>
              <a:rPr sz="1200" b="0">
                <a:solidFill>
                  <a:srgbClr val="CCCCCC"/>
                </a:solidFill>
                <a:latin typeface="Calibri"/>
              </a:rPr>
              <a:t>1.  Review this materials package and financial model</a:t>
            </a:r>
          </a:p>
          <a:p>
            <a:pPr algn="l">
              <a:spcBef>
                <a:spcPts val="0"/>
              </a:spcBef>
              <a:spcAft>
                <a:spcPts val="300"/>
              </a:spcAft>
            </a:pPr>
            <a:r>
              <a:rPr sz="1200" b="0">
                <a:solidFill>
                  <a:srgbClr val="CCCCCC"/>
                </a:solidFill>
                <a:latin typeface="Calibri"/>
              </a:rPr>
              <a:t>2.  Sign NDA for data room access</a:t>
            </a:r>
          </a:p>
          <a:p>
            <a:pPr algn="l">
              <a:spcBef>
                <a:spcPts val="0"/>
              </a:spcBef>
              <a:spcAft>
                <a:spcPts val="300"/>
              </a:spcAft>
            </a:pPr>
            <a:r>
              <a:rPr sz="1200" b="0">
                <a:solidFill>
                  <a:srgbClr val="CCCCCC"/>
                </a:solidFill>
                <a:latin typeface="Calibri"/>
              </a:rPr>
              <a:t>3.  Management presentation (in person or virtual)</a:t>
            </a:r>
          </a:p>
          <a:p>
            <a:pPr algn="l">
              <a:spcBef>
                <a:spcPts val="0"/>
              </a:spcBef>
              <a:spcAft>
                <a:spcPts val="300"/>
              </a:spcAft>
            </a:pPr>
            <a:r>
              <a:rPr sz="1200" b="0">
                <a:solidFill>
                  <a:srgbClr val="CCCCCC"/>
                </a:solidFill>
                <a:latin typeface="Calibri"/>
              </a:rPr>
              <a:t>4.  Confirm investment structure and timeline</a:t>
            </a:r>
          </a:p>
        </p:txBody>
      </p:sp>
      <p:sp>
        <p:nvSpPr>
          <p:cNvPr id="12" name="Rounded Rectangle 11"/>
          <p:cNvSpPr/>
          <p:nvPr/>
        </p:nvSpPr>
        <p:spPr>
          <a:xfrm>
            <a:off x="3200400" y="5760720"/>
            <a:ext cx="5486400" cy="54864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dirty="0">
                <a:solidFill>
                  <a:srgbClr val="009ED9"/>
                </a:solidFill>
                <a:latin typeface="Calibri"/>
              </a:rPr>
              <a:t>John Quinn, CEO  |  jquinn@</a:t>
            </a:r>
            <a:r>
              <a:rPr lang="en-US" sz="1300" b="1" dirty="0">
                <a:solidFill>
                  <a:srgbClr val="009ED9"/>
                </a:solidFill>
                <a:latin typeface="Calibri"/>
              </a:rPr>
              <a:t>exosaero.com</a:t>
            </a:r>
            <a:r>
              <a:rPr sz="1300" b="1" dirty="0">
                <a:solidFill>
                  <a:srgbClr val="009ED9"/>
                </a:solidFill>
                <a:latin typeface="Calibri"/>
              </a:rPr>
              <a:t> |  </a:t>
            </a:r>
            <a:r>
              <a:rPr lang="en-US" sz="1300" b="1" dirty="0">
                <a:solidFill>
                  <a:srgbClr val="009ED9"/>
                </a:solidFill>
                <a:latin typeface="Calibri"/>
              </a:rPr>
              <a:t>Mobile 972-740-8355 </a:t>
            </a:r>
          </a:p>
          <a:p>
            <a:pPr algn="ctr"/>
            <a:r>
              <a:rPr sz="1300" b="1" dirty="0">
                <a:solidFill>
                  <a:srgbClr val="009ED9"/>
                </a:solidFill>
                <a:latin typeface="Calibri"/>
              </a:rPr>
              <a:t>Exos Aerospace Systems &amp; Technologies, Inc.</a:t>
            </a:r>
          </a:p>
          <a:p>
            <a:pPr>
              <a:spcBef>
                <a:spcPts val="600"/>
              </a:spcBef>
            </a:pPr>
            <a:endParaRPr sz="1300" b="1" dirty="0">
              <a:solidFill>
                <a:srgbClr val="009ED9"/>
              </a:solidFill>
              <a:latin typeface="Calibri"/>
            </a:endParaRPr>
          </a:p>
        </p:txBody>
      </p:sp>
      <p:sp>
        <p:nvSpPr>
          <p:cNvPr id="13" name="Rectangle 12"/>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2800" b="1">
                <a:solidFill>
                  <a:srgbClr val="FFFFFF"/>
                </a:solidFill>
                <a:latin typeface="Calibri"/>
              </a:rPr>
              <a:t>IMPORTANT DISCLAIMERS</a:t>
            </a:r>
          </a:p>
        </p:txBody>
      </p:sp>
      <p:sp>
        <p:nvSpPr>
          <p:cNvPr id="5" name="Rectangle 4"/>
          <p:cNvSpPr/>
          <p:nvPr/>
        </p:nvSpPr>
        <p:spPr>
          <a:xfrm>
            <a:off x="731520" y="109728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371600"/>
            <a:ext cx="10515600" cy="5029200"/>
          </a:xfrm>
          <a:prstGeom prst="rect">
            <a:avLst/>
          </a:prstGeom>
          <a:noFill/>
        </p:spPr>
        <p:txBody>
          <a:bodyPr wrap="square">
            <a:spAutoFit/>
          </a:bodyPr>
          <a:lstStyle/>
          <a:p>
            <a:pPr algn="l">
              <a:spcBef>
                <a:spcPts val="0"/>
              </a:spcBef>
              <a:spcAft>
                <a:spcPts val="400"/>
              </a:spcAft>
            </a:pPr>
            <a:r>
              <a:rPr sz="1200" b="1">
                <a:solidFill>
                  <a:srgbClr val="009ED9"/>
                </a:solidFill>
                <a:latin typeface="Calibri"/>
              </a:rPr>
              <a:t>PRIVATE &amp; CONFIDENTIAL</a:t>
            </a:r>
          </a:p>
          <a:p>
            <a:pPr algn="l">
              <a:spcBef>
                <a:spcPts val="0"/>
              </a:spcBef>
              <a:spcAft>
                <a:spcPts val="1200"/>
              </a:spcAft>
            </a:pPr>
            <a:r>
              <a:rPr sz="900" b="0">
                <a:solidFill>
                  <a:srgbClr val="CCCCCC"/>
                </a:solidFill>
                <a:latin typeface="Calibri"/>
              </a:rPr>
              <a:t>This presentation is provided for informational purposes only to selected potential investors and does not constitute an offer to sell or a solicitation of an offer to buy any securities of Exos Aerospace Systems &amp; Technologies, Inc. or any affiliated entity.</a:t>
            </a:r>
          </a:p>
          <a:p>
            <a:pPr algn="l">
              <a:spcBef>
                <a:spcPts val="0"/>
              </a:spcBef>
              <a:spcAft>
                <a:spcPts val="400"/>
              </a:spcAft>
            </a:pPr>
            <a:r>
              <a:rPr sz="1200" b="1">
                <a:solidFill>
                  <a:srgbClr val="009ED9"/>
                </a:solidFill>
                <a:latin typeface="Calibri"/>
              </a:rPr>
              <a:t>FORWARD-LOOKING STATEMENTS</a:t>
            </a:r>
          </a:p>
          <a:p>
            <a:pPr algn="l">
              <a:spcBef>
                <a:spcPts val="0"/>
              </a:spcBef>
              <a:spcAft>
                <a:spcPts val="1200"/>
              </a:spcAft>
            </a:pPr>
            <a:r>
              <a:rPr sz="900" b="0">
                <a:solidFill>
                  <a:srgbClr val="CCCCCC"/>
                </a:solidFill>
                <a:latin typeface="Calibri"/>
              </a:rPr>
              <a:t>This presentation contains forward-looking statements within the meaning of applicable securities laws. These statements involve known and unknown risks, uncertainties, and other factors that may cause actual results to differ materially. Forward-looking statements include projections of revenue, earnings, capital expenditures, market size, product development timelines, and business strategy. Risk factors include: delays in vehicle development; failure to close the Scorpius acquisition; loss of government contracts; regulatory changes; competition; inability to raise additional capital; technology risks; and general economic conditions.</a:t>
            </a:r>
          </a:p>
          <a:p>
            <a:pPr algn="l">
              <a:spcBef>
                <a:spcPts val="0"/>
              </a:spcBef>
              <a:spcAft>
                <a:spcPts val="400"/>
              </a:spcAft>
            </a:pPr>
            <a:r>
              <a:rPr sz="1200" b="1">
                <a:solidFill>
                  <a:srgbClr val="009ED9"/>
                </a:solidFill>
                <a:latin typeface="Calibri"/>
              </a:rPr>
              <a:t>NO ASSURANCE</a:t>
            </a:r>
          </a:p>
          <a:p>
            <a:pPr algn="l">
              <a:spcBef>
                <a:spcPts val="0"/>
              </a:spcBef>
              <a:spcAft>
                <a:spcPts val="1200"/>
              </a:spcAft>
            </a:pPr>
            <a:r>
              <a:rPr sz="900" b="0">
                <a:solidFill>
                  <a:srgbClr val="CCCCCC"/>
                </a:solidFill>
                <a:latin typeface="Calibri"/>
              </a:rPr>
              <a:t>There can be no assurance that any projections or forward-looking statements will be realized. Past performance is not indicative of future results. Investors should conduct their own due diligence.</a:t>
            </a:r>
          </a:p>
          <a:p>
            <a:pPr algn="l">
              <a:spcBef>
                <a:spcPts val="0"/>
              </a:spcBef>
              <a:spcAft>
                <a:spcPts val="400"/>
              </a:spcAft>
            </a:pPr>
            <a:r>
              <a:rPr sz="1200" b="1">
                <a:solidFill>
                  <a:srgbClr val="009ED9"/>
                </a:solidFill>
                <a:latin typeface="Calibri"/>
              </a:rPr>
              <a:t>EXPORT CONTROL NOTICE</a:t>
            </a:r>
          </a:p>
          <a:p>
            <a:pPr algn="l">
              <a:spcBef>
                <a:spcPts val="0"/>
              </a:spcBef>
              <a:spcAft>
                <a:spcPts val="1200"/>
              </a:spcAft>
            </a:pPr>
            <a:r>
              <a:rPr sz="900" b="0">
                <a:solidFill>
                  <a:srgbClr val="CCCCCC"/>
                </a:solidFill>
                <a:latin typeface="Calibri"/>
              </a:rPr>
              <a:t>Exos Aerospace maintains full compliance with ITAR and EAR. All controlled technical data and government contract work are performed exclusively by U.S. persons within U.S. facilities. This presentation does not contain controlled technical data. Any international structure maintains full compliance with appropriate isolation.</a:t>
            </a:r>
          </a:p>
          <a:p>
            <a:pPr algn="l">
              <a:spcBef>
                <a:spcPts val="0"/>
              </a:spcBef>
              <a:spcAft>
                <a:spcPts val="400"/>
              </a:spcAft>
            </a:pPr>
            <a:r>
              <a:rPr sz="1200" b="1">
                <a:solidFill>
                  <a:srgbClr val="009ED9"/>
                </a:solidFill>
                <a:latin typeface="Calibri"/>
              </a:rPr>
              <a:t>CONFIDENTIALITY</a:t>
            </a:r>
          </a:p>
          <a:p>
            <a:pPr algn="l">
              <a:spcBef>
                <a:spcPts val="0"/>
              </a:spcBef>
              <a:spcAft>
                <a:spcPts val="800"/>
              </a:spcAft>
            </a:pPr>
            <a:r>
              <a:rPr sz="900" b="0">
                <a:solidFill>
                  <a:srgbClr val="CCCCCC"/>
                </a:solidFill>
                <a:latin typeface="Calibri"/>
              </a:rPr>
              <a:t>This presentation and its contents are strictly confidential. Recipients may not reproduce, distribute, or disclose without prior written consent. All financial figures are management estimates unless otherwise noted. Audited statements will be prepared in connection with the listing process.</a:t>
            </a:r>
          </a:p>
          <a:p>
            <a:pPr algn="l">
              <a:spcBef>
                <a:spcPts val="0"/>
              </a:spcBef>
              <a:spcAft>
                <a:spcPts val="0"/>
              </a:spcAft>
            </a:pPr>
            <a:r>
              <a:rPr sz="1000" b="0" i="1">
                <a:solidFill>
                  <a:srgbClr val="999999"/>
                </a:solidFill>
                <a:latin typeface="Calibri"/>
              </a:rPr>
              <a:t>Exos Aerospace Systems &amp; Technologies, Inc. | Greenville, TX | July 2026</a:t>
            </a:r>
          </a:p>
        </p:txBody>
      </p:sp>
      <p:sp>
        <p:nvSpPr>
          <p:cNvPr id="7" name="Rectangle 6"/>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2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917a3f04-5547-4e83-a675-a0677bb25779" xsi:nil="true"/>
    <lcf76f155ced4ddcb4097134ff3c332f xmlns="e1558a10-1879-455f-b4fa-cfdedf85505e">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B93BA222B086F94CB80A831AC79560FC" ma:contentTypeVersion="13" ma:contentTypeDescription="Create a new document." ma:contentTypeScope="" ma:versionID="0bab313ac1c95545756a4347c05cb29b">
  <xsd:schema xmlns:xsd="http://www.w3.org/2001/XMLSchema" xmlns:xs="http://www.w3.org/2001/XMLSchema" xmlns:p="http://schemas.microsoft.com/office/2006/metadata/properties" xmlns:ns2="e1558a10-1879-455f-b4fa-cfdedf85505e" xmlns:ns3="917a3f04-5547-4e83-a675-a0677bb25779" targetNamespace="http://schemas.microsoft.com/office/2006/metadata/properties" ma:root="true" ma:fieldsID="deb4a5854e9b2c9944a7ea5d825dfb20" ns2:_="" ns3:_="">
    <xsd:import namespace="e1558a10-1879-455f-b4fa-cfdedf85505e"/>
    <xsd:import namespace="917a3f04-5547-4e83-a675-a0677bb25779"/>
    <xsd:element name="properties">
      <xsd:complexType>
        <xsd:sequence>
          <xsd:element name="documentManagement">
            <xsd:complexType>
              <xsd:all>
                <xsd:element ref="ns2:MediaServiceBillingMetadata" minOccurs="0"/>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LengthInSecond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1558a10-1879-455f-b4fa-cfdedf85505e" elementFormDefault="qualified">
    <xsd:import namespace="http://schemas.microsoft.com/office/2006/documentManagement/types"/>
    <xsd:import namespace="http://schemas.microsoft.com/office/infopath/2007/PartnerControls"/>
    <xsd:element name="MediaServiceBillingMetadata" ma:index="8" nillable="true" ma:displayName="MediaServiceBillingMetadata" ma:hidden="true" ma:internalName="MediaServiceBillingMetadata" ma:readOnly="true">
      <xsd:simpleType>
        <xsd:restriction base="dms:Note"/>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bbbd00b4-2324-4224-9886-28f0fa24cb44" ma:termSetId="09814cd3-568e-fe90-9814-8d621ff8fb84" ma:anchorId="fba54fb3-c3e1-fe81-a776-ca4b69148c4d" ma:open="true" ma:isKeyword="false">
      <xsd:complexType>
        <xsd:sequence>
          <xsd:element ref="pc:Terms" minOccurs="0" maxOccurs="1"/>
        </xsd:sequence>
      </xsd:complex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Location" ma:index="2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17a3f04-5547-4e83-a675-a0677bb25779"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c23b004f-eaae-4f4e-933c-a06b1c0d22f7}" ma:internalName="TaxCatchAll" ma:showField="CatchAllData" ma:web="917a3f04-5547-4e83-a675-a0677bb2577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C4E1208-CA5A-4667-8C4D-84041752A3EA}">
  <ds:schemaRefs>
    <ds:schemaRef ds:uri="http://schemas.microsoft.com/office/2006/metadata/properties"/>
    <ds:schemaRef ds:uri="http://schemas.microsoft.com/office/infopath/2007/PartnerControls"/>
    <ds:schemaRef ds:uri="917a3f04-5547-4e83-a675-a0677bb25779"/>
    <ds:schemaRef ds:uri="e1558a10-1879-455f-b4fa-cfdedf85505e"/>
  </ds:schemaRefs>
</ds:datastoreItem>
</file>

<file path=customXml/itemProps2.xml><?xml version="1.0" encoding="utf-8"?>
<ds:datastoreItem xmlns:ds="http://schemas.openxmlformats.org/officeDocument/2006/customXml" ds:itemID="{40B2AEEC-7AED-4D24-8C5B-8FFFCA181FBC}">
  <ds:schemaRefs>
    <ds:schemaRef ds:uri="http://schemas.microsoft.com/sharepoint/v3/contenttype/forms"/>
  </ds:schemaRefs>
</ds:datastoreItem>
</file>

<file path=customXml/itemProps3.xml><?xml version="1.0" encoding="utf-8"?>
<ds:datastoreItem xmlns:ds="http://schemas.openxmlformats.org/officeDocument/2006/customXml" ds:itemID="{FE184F27-8675-4087-9492-10C0F2B368B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1558a10-1879-455f-b4fa-cfdedf85505e"/>
    <ds:schemaRef ds:uri="917a3f04-5547-4e83-a675-a0677bb2577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25</TotalTime>
  <Words>2962</Words>
  <Application>Microsoft Office PowerPoint</Application>
  <PresentationFormat>Widescreen</PresentationFormat>
  <Paragraphs>467</Paragraphs>
  <Slides>19</Slides>
  <Notes>0</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19</vt:i4>
      </vt:variant>
    </vt:vector>
  </HeadingPairs>
  <TitlesOfParts>
    <vt:vector size="27" baseType="lpstr">
      <vt:lpstr>Arial</vt:lpstr>
      <vt:lpstr>Calibri</vt:lpstr>
      <vt:lpstr>Duplicate Sans Light</vt:lpstr>
      <vt:lpstr>Duplicate Sans Medium</vt:lpstr>
      <vt:lpstr>Duplicate Sans Regular</vt:lpstr>
      <vt:lpstr>Metrophobic</vt:lpstr>
      <vt:lpstr>Office Theme</vt:lpstr>
      <vt:lpstr>2_Custom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John Quinn</cp:lastModifiedBy>
  <cp:revision>1</cp:revision>
  <dcterms:created xsi:type="dcterms:W3CDTF">2013-01-27T09:14:16Z</dcterms:created>
  <dcterms:modified xsi:type="dcterms:W3CDTF">2026-05-29T14:45:54Z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0x010100B93BA222B086F94CB80A831AC79560FC</vt:lpwstr>
  </property>
  <property fmtid="{D5CDD505-2E9C-101B-9397-08002B2CF9AE}" pid="3" name="MediaServiceImageTags">
    <vt:lpwstr/>
  </property>
</Properties>
</file>