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66" r:id="rId5"/>
    <p:sldId id="272" r:id="rId6"/>
    <p:sldId id="273" r:id="rId7"/>
    <p:sldId id="269" r:id="rId8"/>
    <p:sldId id="271" r:id="rId9"/>
    <p:sldId id="259" r:id="rId10"/>
    <p:sldId id="260" r:id="rId11"/>
    <p:sldId id="261" r:id="rId12"/>
    <p:sldId id="262" r:id="rId13"/>
    <p:sldId id="263" r:id="rId14"/>
    <p:sldId id="264" r:id="rId15"/>
    <p:sldId id="268" r:id="rId16"/>
    <p:sldId id="267" r:id="rId17"/>
    <p:sldId id="270" r:id="rId18"/>
    <p:sldId id="265"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31" autoAdjust="0"/>
    <p:restoredTop sz="94610"/>
  </p:normalViewPr>
  <p:slideViewPr>
    <p:cSldViewPr snapToGrid="0" snapToObjects="1">
      <p:cViewPr>
        <p:scale>
          <a:sx n="122" d="100"/>
          <a:sy n="122" d="100"/>
        </p:scale>
        <p:origin x="45" y="-2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8735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draft offer overview for the SSLC board. All figures are from the Option B Offer Summary (2026-10-07). The offer is subject to negotiation and board acceptance. Not a final or binding offer.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actions requested of the SSLC board:</a:t>
            </a:r>
            <a:br/>
            <a:r>
              <a:t>  Motion 1: Confirm §3 exclusivity. 90-day period begins on approval.</a:t>
            </a:r>
            <a:br/>
            <a:r>
              <a:t>  Motion 2: Grant full read-only QB Online access (Oct 15 deadline). §1602 + AAA §4. NDA.</a:t>
            </a:r>
            <a:br/>
            <a:r>
              <a:t>  Motion 3: Direct A La Carte Solutions + outside CPAs to reconcile and correct AR Unbilled ($942K) and Deposits ($120K) within 5 days.</a:t>
            </a:r>
            <a:br/>
            <a:r>
              <a:t>  Motion 4: Consent to ERP/MRP &amp; inventory evaluation using QB data. NDA.</a:t>
            </a:r>
            <a:br/>
            <a:r>
              <a:t>Governance: John Quinn abstains as interested director.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SSLC QuickBooks Balance Sheet 10/11/2026 (data-room/SSLC/qb-2026-10-11/SSLC_Balance_Sheet.xlsx).</a:t>
            </a:r>
            <a:br/>
            <a:r>
              <a:t>Cash $590,344 — almost entirely from one IM payment $421,421 on 10/7 for invoices 109-86/87/88 booked 9/25–9/30.</a:t>
            </a:r>
            <a:br/>
            <a:r>
              <a:t>$713K last quarter from offer summary (unchanged).</a:t>
            </a:r>
            <a:br/>
            <a:r>
              <a:t>$5.1M M1 milestone requires ~2× quarterly pace starting Oct 1st.</a:t>
            </a:r>
            <a:br/>
            <a:r>
              <a:t>$1.03M loans &amp; notes (unchanged by lender); equity −$1,443,882.</a:t>
            </a:r>
            <a:br/>
            <a:r>
              <a:t>Physical-space and single-winder constraints are SSLC's own reported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SSLC Capital &amp; Debt — Sources (10/11/2026 QB)</a:t>
            </a:r>
            <a:br/>
            <a:br/>
            <a:r>
              <a:t>Left: Equity per QB — Common stock $1,010,423 (Acct 3010); APIC $4,042 (Acct 3020); Exos 18.06% → ~$789,572 (~78% of total paid-in); Accum. deficit −$2,571,013 (thru FY26); FY27 YTD NI +$112,666; Total equity −$1,443,882.</a:t>
            </a:r>
            <a:br/>
            <a:br/>
            <a:r>
              <a:t>Right: Loans &amp; notes $1,027,783 — Microcosm $451,429 (Acct 2385); Notes Payable Bookstore $320,582; SBA EIDL $132,072 (Acct 2712); Wertz $92,500 (Acct 2714); Exos $31,200 (11%; past due 1+ yr).</a:t>
            </a:r>
            <a:br/>
            <a:br/>
            <a:r>
              <a:t>EXOS LOAN DETAIL:</a:t>
            </a:r>
            <a:br/>
            <a:r>
              <a:t>  $60,000 originated 10/10/2024.</a:t>
            </a:r>
            <a:br/>
            <a:r>
              <a:t>  $15,000 repaid 3/19/2025; $13,800 repaid 5/2/2025 → $31,200 balance.</a:t>
            </a:r>
            <a:br/>
            <a:r>
              <a:t>  11% interest; total with interest ~$38K. Past due over 1 year. Still owed.</a:t>
            </a:r>
            <a:br/>
            <a:r>
              <a:t>  SSLC and Exos records match on this loan.</a:t>
            </a:r>
            <a:br/>
            <a:r>
              <a:t>  (Note: on the Exos side, the ledger may show a different balance; that is an Exos bookkeeping</a:t>
            </a:r>
            <a:br/>
            <a:r>
              <a:t>  timing issue only — SSLC's $31,200 balance is the correct, agreed amount.)</a:t>
            </a:r>
            <a:br/>
            <a:br/>
            <a:r>
              <a:t>SEPARATE CONVERTED LOAN:</a:t>
            </a:r>
            <a:br/>
            <a:r>
              <a:t>  $30,000 loan made 5/9/2024.</a:t>
            </a:r>
            <a:br/>
            <a:r>
              <a:t>  Converted to 5,464 SSLC shares on 7/24/2024.</a:t>
            </a:r>
            <a:br/>
            <a:r>
              <a:t>  Included in Exos's $790K paid-in capital; no longer a liability.</a:t>
            </a:r>
            <a:br/>
            <a:br/>
            <a:r>
              <a:t>Open items: AR Unbilled $942,177 (Acct 1110) and Deposits $120,000 (Acct 2380) under reconciliation per Motion 3. Facility costs ~$805K (Jan 2024–Oct 2026) never charged to Microcosm.</a:t>
            </a:r>
          </a:p>
          <a:p>
            <a:r>
              <a:rPr lang="en-US"/>
              <a:t>SPEAKER NOTES — SLIDE 4 (Exos-adjusted comparison):
Per SSLC's GL, the 'Notes Payable – Bookstore' ($320,582) is owed to Microcosm Astronautics Books (the Bookstore).
Key 4/30/2026 journal entries:
  $426,687  AP→Due to Microcosm (re-classing payables to Microcosm)
  $97,302   Interest capitalized into Bookstore note (not separately disclosed on 4/30)
  $812,699  SSLC loans-to-Microcosm fully netted vs. Microcosm balances:
              $294,499 vs. Loan Payable–Microcosm
              $423,965 vs. pre-6/2025 Microcosm reimbursables
              $61,290 vs. 'Judy's time'
              $32,946 reimbursable
            After netting: $451,429 'Due to Microcosm' remains.
Exos adjustments (not yet on SSLC books):
  - Microcosm 50% facility share Jul 2024–Aug 2026: ~$351K (rent ~$316K + utilities ~$35K)
    → reduces 'Due to Microcosm' $451K→~$100K
  - Bookstore $97K interest: Exos requests supporting amortization schedule
  - Billed-ahead: start-billings booked at tank start, not cleared at IM shipment
    → est. genuine billed-ahead ~$100K–$250K (Motion 3 directs correction)
  - Equity: base improvement −$1.44M→~−$1.09M (facility credit only); further improvement if billed-ahead reconciled.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scenarios (Low/Base/High) have identical at-close values: ① $3.86M, ② $4.86M with stock. The $3.86M breaks down as: $2.51M cash + $60K transaction costs + $790K stake credit (non-cash) + $500K WC bridge. The $1.0M EAI units are issued at financing close, not at board acceptance, and count toward the Rule 504 $10M rolling cap.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Tank earn-out: single 5% rate applied to the revenue SSLC achieves each year FY27–FY31, capped at $300K/yr. Low $3.0M/yr → $150K/yr → $750K total; Base $5.0M/yr → $250K/yr → $1.25M; High $6.0M+/yr → $300K/yr (cap) → $1.5M. M1 (all scenarios): FY27 rev ≥$5.1M → $200K, pays FY28 Q1. M2 (Base/High): Nebula OTV flight tank set delivered and accepted by Intuitive Machines → $200K, pays at acceptance. M3 (Base/High): rev ≥$10M → $250K. M4 (High): rev ≥$20M → $250K. M5 (High): 50% reduction in tank build cost via dome automation and build-process automation proven → $200K. Stock earn-out: 0.0%/0.25%/0.50% additional EAI units issued at RTO listing, with the same post-listing lockup as Exos principals. $0/$625K/$1,500K at 409A listing value. Total earn-outs: Low $950K / Base $2,525K / High $4,100K (each = ③ minus ②).</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③ 5-yr total is ② ($4.86M) + earn-outs. Low = $5.81M / Base = $7.385M (shown as $7.4M) / High = $8.96M (shown as $9.0M). These are rounded for board presentation. ④ TOTAL IF STOCK HELD TO 2031: Low $11.5M / Base $15.3M / High $18.9M — this replaces and is not additive to ③. It assumes RTO completion, ~30% dilution, and management-projected valuations. Forward-looking statements subject to SEC Rule 10b-5. The chart shows the year-by-year compensation build from close through FY31.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$1.0M EAI units are issued at financing close (not at board acceptance). At the 409A valuation of ~$169.7M, this represents ~0.59% fully diluted. Earn-out stock (0.0%/0.25%/0.50% additional) issued post-RTO brings total equity to ~0.59%–1.09%. The Japan round EAI units are Reg S and must remain separate from the Rule 504 domestic offering. See model EAI Lockup &amp; Liquidity sheet for full detail.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language is verbatim from the offer email (Exos_SSLC_Offer_Briefing_Email_DRAFT_2026-10-09.docx) and the Key Terms section of the offer summary PDF. The exact terms — option pool size, vesting schedule — will be negotiated in the Definitive Agreement. IM program continuity: Exos-SSLC continues the Intuitive Machines contract with no delivery interruption.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every dollar and commitment Exos is making to close this transaction. Funding is committed at financing close — we are not representing that financing is already secured, but we are committed to delivering it. The Feb 15th target drives our 90-day exclusivity window. Capital for physical space and a second winder is committed at financing close; the amount will be agreed in the Definitive Agreement. The one action today is confirming §3 exclusivity, which starts the clock.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Projected Shareholder Payout — Sources and Ranges</a:t>
            </a:r>
            <a:br/>
            <a:br/>
            <a:r>
              <a:t>BASE CASE:</a:t>
            </a:r>
            <a:br/>
            <a:r>
              <a:t>  Exos cash price: $2,510,000 (Offer ①)</a:t>
            </a:r>
            <a:br/>
            <a:r>
              <a:t>  SSLC cash at close: ~$675,000 (est. from $590K on 10/11 + IM pace through Jan 2027)</a:t>
            </a:r>
            <a:br/>
            <a:r>
              <a:t>  Less: loans &amp; notes $1,027,783 (Microcosm $451K, Bookstore $321K, EIDL $132K, Wertz $92.5K, Exos $31.2K)</a:t>
            </a:r>
            <a:br/>
            <a:r>
              <a:t>  Less: Exos loan interest ~$8K (11% to 1/15/27)</a:t>
            </a:r>
            <a:br/>
            <a:r>
              <a:t>  Less: other current liabilities $148,738 (10/11 QB)</a:t>
            </a:r>
            <a:br/>
            <a:r>
              <a:t>  Less: customer deposits $120,000 (IM; buyer assumes performance)</a:t>
            </a:r>
            <a:br/>
            <a:r>
              <a:t>  Less: billed-ahead work $250,000 (Exos assessment: base; range $100K–$390K)</a:t>
            </a:r>
            <a:br/>
            <a:r>
              <a:t>  Less: 5% escrow $125,500 (AAA §7; released at 12 months barring claims)</a:t>
            </a:r>
            <a:br/>
            <a:r>
              <a:t>  Net cash at close: ~$1.51M</a:t>
            </a:r>
            <a:br/>
            <a:r>
              <a:t>  Plus: Exos stock $1.0M (EAI units, Rule 504, 409A)</a:t>
            </a:r>
            <a:br/>
            <a:r>
              <a:t>  Plus: escrow release $126K</a:t>
            </a:r>
            <a:br/>
            <a:r>
              <a:t>  Plus: earn-outs $2.525M base (FY27–FY31 tank milestones + stock)</a:t>
            </a:r>
            <a:br/>
            <a:r>
              <a:t>  Total: ~$5.16M</a:t>
            </a:r>
            <a:br/>
            <a:br/>
            <a:r>
              <a:t>LOW CASE (net cash $1.28M / 5-yr $3.4M): billed-ahead $390K; SSLC cash stays at $590K; earn-outs $950K</a:t>
            </a:r>
            <a:br/>
            <a:r>
              <a:t>HIGH CASE (net cash $1.74M / 5-yr $7.0M): billed-ahead $100K; SSLC cash $761K; earn-outs $4.1M</a:t>
            </a:r>
            <a:br/>
            <a:br/>
            <a:r>
              <a:t>RETURN RATE CONTEXT:</a:t>
            </a:r>
            <a:br/>
            <a:r>
              <a:t>Over a 25-year hold, ~11× is roughly 10%/yr (CAGR) and ~23× roughly 13%/yr. Solid but not outsized — comparable to a long-term equity index. Stock ledger confirms investment dates; without it the precise CAGR can't be stated.</a:t>
            </a:r>
            <a:br/>
            <a:br/>
            <a:r>
              <a:t>EXOS LOAN DETAIL (for presenter):</a:t>
            </a:r>
            <a:br/>
            <a:r>
              <a:t>  $60,000 loan originated 10/10/2024.</a:t>
            </a:r>
            <a:br/>
            <a:r>
              <a:t>  $15,000 repaid 3/19/2025; $13,800 repaid 5/2/2025 → $31,200 balance.</a:t>
            </a:r>
            <a:br/>
            <a:r>
              <a:t>  11% interest; ~$38K total with interest. Past due over 1 year. Still owed.</a:t>
            </a:r>
            <a:br/>
            <a:r>
              <a:t>  SSLC and Exos records match on this loan.</a:t>
            </a:r>
            <a:br/>
            <a:r>
              <a:t>  Separate $30K loan (5/9/2024) converted to 5,464 SSLC shares on 7/24/2024 — included in Exos's $790K paid-in capital; no longer a liability.</a:t>
            </a:r>
            <a:br/>
            <a:br/>
            <a:r>
              <a:t>Stock ledger: Exos's 18.06% credited via $790K in price. Other holders' per-share payout can't be confirmed without ledger. Per John Quinn, most other holders invested 25+ years ago; Exos invested 2021–2024.</a:t>
            </a:r>
          </a:p>
          <a:p>
            <a:r>
              <a:rPr lang="en-US"/>
              <a:t>
--- MICROCOSM RENT CREDIT (Robert Conger question, 10/12) ---
Source: SSLC GL per John Quinn. All figures approximate pending stock ledger / full diligence.
Jan–Jun 2024: SSLC paid Microcosm $11,470/mo (~50% of $23,647 total rent).
Jul 2024 onward: SSLC paid 100% of rent:
  - Jul–Dec 2024: $23,647/mo (paid to Microcosm or sub-landlord)
  - Jan–Dec 2025: $24,238/mo
  - Jan–Aug 2026: $24,844/mo (paid directly to landlords Izadi/Vahidi)
Microcosm continues to occupy the building and is named on the lease.
Microcosm's 50% share Jul 2024–Aug 2026 (14 months): ~$316K (rent only; utilities billed separately).
Microcosm loan history (for context):
  - SSLC lent Microcosm $812,699 total (2019–Oct 2025, booked 4/30/2026).
  - On 4/30/2026, fully netted against Microcosm balances:
      $294,499 vs. Loan Payable–Microcosm
      $423,965 vs. pre-6/2025 Microcosm reimbursables
      $61,290 vs. 'Judy's time'
      $32,946 reimbursable
  - After netting: $451,429 still 'Due to Microcosm' on SSLC's books.
  - This ~$316K rent credit has NOT been netted against the $451K balance.
If the board asserts this credit before close, net cash to holders increases by ~$316K:
  ~$1.51M (base case) → ~$1.82M at close. 5-yr total: ~$5.16M → ~$5.47M.</a:t>
            </a:r>
          </a:p>
          <a:p>
            <a:r>
              <a:rPr lang="en-US"/>
              <a:t>
--- MICROCOSM UTILITIES UPDATE (John 06:43) ---
Source: SSLC GL account 6195 (utilities). All figures approximate.
Utilities (Acct 6195):
  - Jan–Jun 2024 (50% split period): avg ~$1,059/mo → Microcosm's 50% share ~$530/mo
  - Jul 2024–Aug 2026 (SSLC paying 100%): avg ~$2,727/mo (~2.6× jump; some summer seasonality)
  - Jul 2024–Aug 2026 = 14 months; total utilities paid = ~$38,178
  - Microcosm's 50% share of that period: $70,048 / 2 = $35,024 (~$35K)
Updated totals:
  - Rent credit (Jul 2024–Aug 2026): ~$316K
  - Utilities credit (Jul 2024–Aug 2026, 50%): ~$35K
  - Total facility cost credit: ~$351K
Impact if recognized before close:
  - Net cash at close: ~$1.51M → ~$1.86M (+$351K on $1.51M; ~$1.86M = $1.51M + $0.35M)
  - 'Due to Microcosm' (currently $451K): $451K − $351K = ~$100K remaining
  - Total equity: currently ~−$1.44M; improves by $351K → ~−$1.09M
  - 5-yr total: ~$5.16M → ~$5.51M
Note: Microcosm continues to occupy the building and is named on the lease.
This credit has not been asserted or netted on SSLC's books as of 10/11/2026.</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motions for the SSLC Board:</a:t>
            </a:r>
            <a:br/>
            <a:br/>
            <a:r>
              <a:t>Motion 1: §3 exclusivity — 90-day period begins on board approval (May 2025 AAA).</a:t>
            </a:r>
            <a:br/>
            <a:br/>
            <a:r>
              <a:t>Motion 2: Full read-only QB Online access for John Quinn + one Exos finance reviewer. Cal. Corp. Code §1602 + AAA §4. NDA-confidential. Oct 15, 2026 deadline.</a:t>
            </a:r>
            <a:br/>
            <a:br/>
            <a:r>
              <a:t>Motion 3: Direct A La Carte Solutions (bookkeeper) + Singer Lewak / Welch &amp; Co. to reconcile and correct Acct 1110 AR Unbilled ($942,177) and Acct 2380 Deposits ($120,000) within 5 days. Must clear completed/shipped tank billings, post missing Jul–Sep 2026 revenue-recognition entries, tank-by-tank reconciliation (IM-109/122/134, EXOS-133), corrected balance sheet delivered to all directors.</a:t>
            </a:r>
            <a:br/>
            <a:br/>
            <a:r>
              <a:t>Motion 4 (separate): Consent to Exos using QB data to evaluate ERP/MRP and inventory systems for combined operation. Evaluation only; NDA-confidential.</a:t>
            </a:r>
            <a:br/>
            <a:br/>
            <a:r>
              <a:t>Governance: John Quinn abstains as interested director (Exos is offeror; Quinn holds Exos loan to SSLC).</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actions needed today: (1) confirm §3 exclusivity — starts 90-day window; (2) grant full read-only QB access (Oct 15 deadline); (3) direct accounting firm to correct AR Unbilled + Deposits within 5 days; (4) consent to ERP/MRP evaluation. All confidential under the 7/27/2021 NDA. Financing close target: Feb 15th.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pic>
        <p:nvPicPr>
          <p:cNvPr id="2" name="Image 0" descr="/Users/exomac/.openclaw/workspace/drafts/_exos_hero_bg.png"/>
          <p:cNvPicPr>
            <a:picLocks noChangeAspect="1"/>
          </p:cNvPicPr>
          <p:nvPr/>
        </p:nvPicPr>
        <p:blipFill>
          <a:blip r:embed="rId3">
            <a:alphaModFix amt="70000"/>
          </a:blip>
          <a:stretch>
            <a:fillRect/>
          </a:stretch>
        </p:blipFill>
        <p:spPr>
          <a:xfrm>
            <a:off x="0" y="0"/>
            <a:ext cx="9144000" cy="5143500"/>
          </a:xfrm>
          <a:prstGeom prst="rect">
            <a:avLst/>
          </a:prstGeom>
        </p:spPr>
      </p:pic>
      <p:sp>
        <p:nvSpPr>
          <p:cNvPr id="3" name="Shape 0"/>
          <p:cNvSpPr/>
          <p:nvPr/>
        </p:nvSpPr>
        <p:spPr>
          <a:xfrm>
            <a:off x="0" y="0"/>
            <a:ext cx="9144000" cy="54864"/>
          </a:xfrm>
          <a:prstGeom prst="rect">
            <a:avLst/>
          </a:prstGeom>
          <a:solidFill>
            <a:srgbClr val="F26A21"/>
          </a:solidFill>
          <a:ln/>
        </p:spPr>
        <p:txBody>
          <a:bodyPr/>
          <a:lstStyle/>
          <a:p>
            <a:endParaRPr/>
          </a:p>
        </p:txBody>
      </p:sp>
      <p:sp>
        <p:nvSpPr>
          <p:cNvPr id="4" name="Text 1"/>
          <p:cNvSpPr txBox="1"/>
          <p:nvPr/>
        </p:nvSpPr>
        <p:spPr>
          <a:xfrm>
            <a:off x="548640" y="502920"/>
            <a:ext cx="8046720" cy="182880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EXOS OFFER TO</a:t>
            </a:r>
            <a:endParaRPr lang="en-US" sz="3800" dirty="0"/>
          </a:p>
          <a:p>
            <a:pPr marL="0" indent="0" algn="ctr">
              <a:buNone/>
            </a:pPr>
            <a:r>
              <a:rPr lang="en-US" sz="3800" b="1" dirty="0">
                <a:solidFill>
                  <a:srgbClr val="FFFFFF"/>
                </a:solidFill>
                <a:latin typeface="Cambria" pitchFamily="34" charset="0"/>
                <a:ea typeface="Cambria" pitchFamily="34" charset="-122"/>
                <a:cs typeface="Cambria" pitchFamily="34" charset="-120"/>
              </a:rPr>
              <a:t>SCORPIUS SPACE LAUNCH COMPANY</a:t>
            </a:r>
            <a:endParaRPr lang="en-US" sz="3800" dirty="0"/>
          </a:p>
        </p:txBody>
      </p:sp>
      <p:sp>
        <p:nvSpPr>
          <p:cNvPr id="5" name="Text 2"/>
          <p:cNvSpPr txBox="1"/>
          <p:nvPr/>
        </p:nvSpPr>
        <p:spPr>
          <a:xfrm>
            <a:off x="548640" y="2240280"/>
            <a:ext cx="8046720" cy="502920"/>
          </a:xfrm>
          <a:prstGeom prst="rect">
            <a:avLst/>
          </a:prstGeom>
          <a:noFill/>
          <a:ln/>
        </p:spPr>
        <p:txBody>
          <a:bodyPr wrap="square" rtlCol="0" anchor="ctr"/>
          <a:lstStyle/>
          <a:p>
            <a:pPr marL="0" indent="0" algn="ctr">
              <a:buNone/>
            </a:pPr>
            <a:r>
              <a:rPr lang="en-US" sz="2200" dirty="0">
                <a:solidFill>
                  <a:srgbClr val="F26A21"/>
                </a:solidFill>
                <a:latin typeface="Calibri" pitchFamily="34" charset="0"/>
                <a:ea typeface="Calibri" pitchFamily="34" charset="-122"/>
                <a:cs typeface="Calibri" pitchFamily="34" charset="-120"/>
              </a:rPr>
              <a:t>Board Overview</a:t>
            </a:r>
            <a:endParaRPr lang="en-US" sz="2200" dirty="0"/>
          </a:p>
        </p:txBody>
      </p:sp>
      <p:sp>
        <p:nvSpPr>
          <p:cNvPr id="6" name="Shape 3"/>
          <p:cNvSpPr/>
          <p:nvPr/>
        </p:nvSpPr>
        <p:spPr>
          <a:xfrm>
            <a:off x="3200400" y="2834640"/>
            <a:ext cx="2743200" cy="36576"/>
          </a:xfrm>
          <a:prstGeom prst="rect">
            <a:avLst/>
          </a:prstGeom>
          <a:solidFill>
            <a:srgbClr val="F26A21"/>
          </a:solidFill>
          <a:ln/>
        </p:spPr>
        <p:txBody>
          <a:bodyPr/>
          <a:lstStyle/>
          <a:p>
            <a:endParaRPr/>
          </a:p>
        </p:txBody>
      </p:sp>
      <p:sp>
        <p:nvSpPr>
          <p:cNvPr id="7" name="Text 4"/>
          <p:cNvSpPr txBox="1"/>
          <p:nvPr/>
        </p:nvSpPr>
        <p:spPr>
          <a:xfrm>
            <a:off x="548640" y="2971800"/>
            <a:ext cx="8046720" cy="347472"/>
          </a:xfrm>
          <a:prstGeom prst="rect">
            <a:avLst/>
          </a:prstGeom>
          <a:noFill/>
          <a:ln/>
        </p:spPr>
        <p:txBody>
          <a:bodyPr wrap="square" rtlCol="0" anchor="ctr"/>
          <a:lstStyle/>
          <a:p>
            <a:pPr marL="0" indent="0" algn="ctr">
              <a:buNone/>
            </a:pPr>
            <a:r>
              <a:rPr lang="en-US" sz="1400" dirty="0">
                <a:solidFill>
                  <a:srgbClr val="CCCCCC"/>
                </a:solidFill>
              </a:rPr>
              <a:t>John M. Quinn  |  Cofounder &amp; CEO, Exos Aerospace</a:t>
            </a:r>
            <a:endParaRPr lang="en-US" sz="1400" dirty="0"/>
          </a:p>
        </p:txBody>
      </p:sp>
      <p:sp>
        <p:nvSpPr>
          <p:cNvPr id="8" name="Text 5"/>
          <p:cNvSpPr txBox="1"/>
          <p:nvPr/>
        </p:nvSpPr>
        <p:spPr>
          <a:xfrm>
            <a:off x="548640" y="3310128"/>
            <a:ext cx="8046720" cy="274320"/>
          </a:xfrm>
          <a:prstGeom prst="rect">
            <a:avLst/>
          </a:prstGeom>
          <a:noFill/>
          <a:ln/>
        </p:spPr>
        <p:txBody>
          <a:bodyPr wrap="square" rtlCol="0" anchor="ctr"/>
          <a:lstStyle/>
          <a:p>
            <a:pPr marL="0" indent="0" algn="ctr">
              <a:buNone/>
            </a:pPr>
            <a:r>
              <a:rPr lang="en-US" sz="1300" dirty="0">
                <a:solidFill>
                  <a:srgbClr val="888888"/>
                </a:solidFill>
              </a:rPr>
              <a:t>October 10, 2026</a:t>
            </a:r>
            <a:endParaRPr lang="en-US" sz="1300" dirty="0"/>
          </a:p>
        </p:txBody>
      </p:sp>
      <p:sp>
        <p:nvSpPr>
          <p:cNvPr id="9" name="Text 6"/>
          <p:cNvSpPr txBox="1"/>
          <p:nvPr/>
        </p:nvSpPr>
        <p:spPr>
          <a:xfrm>
            <a:off x="548640" y="3703320"/>
            <a:ext cx="8046720" cy="256032"/>
          </a:xfrm>
          <a:prstGeom prst="rect">
            <a:avLst/>
          </a:prstGeom>
          <a:noFill/>
          <a:ln/>
        </p:spPr>
        <p:txBody>
          <a:bodyPr wrap="square" rtlCol="0" anchor="ctr"/>
          <a:lstStyle/>
          <a:p>
            <a:pPr marL="0" indent="0" algn="ctr">
              <a:buNone/>
            </a:pPr>
            <a:r>
              <a:rPr lang="en-US" sz="1000" i="1" dirty="0">
                <a:solidFill>
                  <a:srgbClr val="F26A21"/>
                </a:solidFill>
              </a:rPr>
              <a:t>CONFIDENTIAL — DRAFT — NEGOTIATING TERMS</a:t>
            </a:r>
            <a:endParaRPr lang="en-US" sz="1000" dirty="0"/>
          </a:p>
        </p:txBody>
      </p:sp>
      <p:pic>
        <p:nvPicPr>
          <p:cNvPr id="10" name="Image 1" descr="/Users/exomac/.openclaw/workspace/drafts/_exos_white_official.png"/>
          <p:cNvPicPr>
            <a:picLocks noChangeAspect="1"/>
          </p:cNvPicPr>
          <p:nvPr/>
        </p:nvPicPr>
        <p:blipFill>
          <a:blip r:embed="rId4"/>
          <a:stretch>
            <a:fillRect/>
          </a:stretch>
        </p:blipFill>
        <p:spPr>
          <a:xfrm>
            <a:off x="3749040" y="4206240"/>
            <a:ext cx="1645920" cy="3474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02920"/>
          </a:xfrm>
          <a:prstGeom prst="rect">
            <a:avLst/>
          </a:prstGeom>
          <a:noFill/>
          <a:ln/>
        </p:spPr>
        <p:txBody>
          <a:bodyPr wrap="square" rtlCol="0" anchor="ctr"/>
          <a:lstStyle/>
          <a:p>
            <a:pPr marL="0" indent="0">
              <a:buNone/>
            </a:pPr>
            <a:r>
              <a:rPr lang="en-US" sz="1300" b="1" dirty="0">
                <a:solidFill>
                  <a:srgbClr val="F26A21"/>
                </a:solidFill>
                <a:latin typeface="Calibri" pitchFamily="34" charset="0"/>
                <a:ea typeface="Calibri" pitchFamily="34" charset="-122"/>
                <a:cs typeface="Calibri" pitchFamily="34" charset="-120"/>
              </a:rPr>
              <a:t>The Decision</a:t>
            </a:r>
            <a:endParaRPr lang="en-US" sz="1300" dirty="0"/>
          </a:p>
        </p:txBody>
      </p:sp>
      <p:sp>
        <p:nvSpPr>
          <p:cNvPr id="3" name="Text 1"/>
          <p:cNvSpPr txBox="1"/>
          <p:nvPr/>
        </p:nvSpPr>
        <p:spPr>
          <a:xfrm>
            <a:off x="457200" y="868680"/>
            <a:ext cx="8229600" cy="1645920"/>
          </a:xfrm>
          <a:prstGeom prst="rect">
            <a:avLst/>
          </a:prstGeom>
          <a:noFill/>
          <a:ln/>
        </p:spPr>
        <p:txBody>
          <a:bodyPr wrap="square" rtlCol="0" anchor="t"/>
          <a:lstStyle/>
          <a:p>
            <a:pPr marL="0" indent="0" algn="l">
              <a:buNone/>
            </a:pPr>
            <a:r>
              <a:rPr lang="en-US" sz="3400" b="1" dirty="0">
                <a:solidFill>
                  <a:srgbClr val="FFFFFF"/>
                </a:solidFill>
                <a:latin typeface="Cambria" pitchFamily="34" charset="0"/>
                <a:ea typeface="Cambria" pitchFamily="34" charset="-122"/>
                <a:cs typeface="Cambria" pitchFamily="34" charset="-120"/>
              </a:rPr>
              <a:t>The Board is asked to vote on five motions today.</a:t>
            </a:r>
            <a:endParaRPr lang="en-US" sz="3400" dirty="0"/>
          </a:p>
        </p:txBody>
      </p:sp>
      <p:sp>
        <p:nvSpPr>
          <p:cNvPr id="4" name="Text 2"/>
          <p:cNvSpPr txBox="1"/>
          <p:nvPr/>
        </p:nvSpPr>
        <p:spPr>
          <a:xfrm>
            <a:off x="457200" y="2633472"/>
            <a:ext cx="8229600" cy="274320"/>
          </a:xfrm>
          <a:prstGeom prst="rect">
            <a:avLst/>
          </a:prstGeom>
          <a:noFill/>
          <a:ln/>
        </p:spPr>
        <p:txBody>
          <a:bodyPr wrap="square" rtlCol="0" anchor="ctr"/>
          <a:lstStyle/>
          <a:p>
            <a:pPr marL="0" indent="0" algn="l">
              <a:buNone/>
            </a:pPr>
            <a:r>
              <a:rPr lang="en-US" sz="1200" i="1" dirty="0">
                <a:solidFill>
                  <a:srgbClr val="CCCCCC"/>
                </a:solidFill>
              </a:rPr>
              <a:t>That's why Exos has stayed committed to funding this acquisition: fair value for SSLC holders, stability for SSLC's team, and real growth for investors. Together we're stronger than apart.</a:t>
            </a:r>
            <a:endParaRPr lang="en-US" sz="1200" dirty="0"/>
          </a:p>
        </p:txBody>
      </p:sp>
      <p:sp>
        <p:nvSpPr>
          <p:cNvPr id="5" name="Shape 3"/>
          <p:cNvSpPr/>
          <p:nvPr/>
        </p:nvSpPr>
        <p:spPr>
          <a:xfrm>
            <a:off x="457200" y="2944368"/>
            <a:ext cx="8229600" cy="1417320"/>
          </a:xfrm>
          <a:prstGeom prst="rect">
            <a:avLst/>
          </a:prstGeom>
          <a:solidFill>
            <a:srgbClr val="1E1E1E"/>
          </a:solidFill>
          <a:ln w="12700">
            <a:solidFill>
              <a:srgbClr val="333333"/>
            </a:solidFill>
            <a:prstDash val="solid"/>
          </a:ln>
        </p:spPr>
        <p:txBody>
          <a:bodyPr/>
          <a:lstStyle/>
          <a:p>
            <a:endParaRPr/>
          </a:p>
        </p:txBody>
      </p:sp>
      <p:sp>
        <p:nvSpPr>
          <p:cNvPr id="6" name="Text 4"/>
          <p:cNvSpPr txBox="1"/>
          <p:nvPr/>
        </p:nvSpPr>
        <p:spPr>
          <a:xfrm>
            <a:off x="640080" y="2944368"/>
            <a:ext cx="7863840" cy="1508760"/>
          </a:xfrm>
          <a:prstGeom prst="rect">
            <a:avLst/>
          </a:prstGeom>
          <a:noFill/>
          <a:ln/>
        </p:spPr>
        <p:txBody>
          <a:bodyPr wrap="square" rtlCol="0" anchor="t"/>
          <a:lstStyle/>
          <a:p>
            <a:pPr marL="0" indent="0">
              <a:buNone/>
            </a:pPr>
            <a:r>
              <a:rPr lang="en-US" sz="1200" b="1" dirty="0">
                <a:solidFill>
                  <a:srgbClr val="F26A21"/>
                </a:solidFill>
              </a:rPr>
              <a:t>Motion 1: </a:t>
            </a:r>
            <a:r>
              <a:rPr lang="en-US" sz="1200" dirty="0">
                <a:solidFill>
                  <a:srgbClr val="CCCCCC"/>
                </a:solidFill>
              </a:rPr>
              <a:t>Approve Exos offer (Option B) + §3 exclusivity (90-day; 60-day ext. if progress)
</a:t>
            </a:r>
            <a:r>
              <a:rPr lang="en-US" sz="1200" b="1" dirty="0">
                <a:solidFill>
                  <a:srgbClr val="F26A21"/>
                </a:solidFill>
              </a:rPr>
              <a:t>Motion 2: </a:t>
            </a:r>
            <a:r>
              <a:rPr lang="en-US" sz="1200" dirty="0">
                <a:solidFill>
                  <a:srgbClr val="CCCCCC"/>
                </a:solidFill>
              </a:rPr>
              <a:t>Full read-only QB Online access for diligence (Cal. Corp. Code §1602 + AAA §4; under 7/27/2021 NDA)
</a:t>
            </a:r>
            <a:r>
              <a:rPr lang="en-US" sz="1200" b="1" dirty="0">
                <a:solidFill>
                  <a:srgbClr val="F26A21"/>
                </a:solidFill>
              </a:rPr>
              <a:t>Motion 3: </a:t>
            </a:r>
            <a:r>
              <a:rPr lang="en-US" sz="1200" b="0" dirty="0">
                <a:solidFill>
                  <a:srgbClr val="CCCCCC"/>
                </a:solidFill>
              </a:rPr>
              <a:t>Correct AR Unbilled &amp; Deposits accounting within 5 days (A La Carte + outside CPAs)
</a:t>
            </a:r>
            <a:r>
              <a:rPr lang="en-US" sz="1200" b="1" dirty="0">
                <a:solidFill>
                  <a:srgbClr val="F26A21"/>
                </a:solidFill>
              </a:rPr>
              <a:t>Motion 4: </a:t>
            </a:r>
            <a:r>
              <a:rPr lang="en-US" sz="1200" dirty="0">
                <a:solidFill>
                  <a:srgbClr val="CCCCCC"/>
                </a:solidFill>
              </a:rPr>
              <a:t>Consent to ERP/MRP &amp; inventory evaluation using QB data (confidential under NDA)</a:t>
            </a:r>
            <a:endParaRPr lang="en-US" sz="1400" dirty="0"/>
          </a:p>
          <a:p>
            <a:r>
              <a:rPr lang="en-US" sz="1200" b="1" dirty="0">
                <a:solidFill>
                  <a:srgbClr val="F26A21"/>
                </a:solidFill>
              </a:rPr>
              <a:t>Motion 5: </a:t>
            </a:r>
            <a:r>
              <a:rPr lang="en-US" sz="1200" dirty="0">
                <a:solidFill>
                  <a:srgbClr val="CCCCCC"/>
                </a:solidFill>
              </a:rPr>
              <a:t>Resolve related-party balances (4/30/2026 entries) — independent accountant; Microcosm/Wertz directors                    	abstain</a:t>
            </a:r>
          </a:p>
        </p:txBody>
      </p:sp>
      <p:pic>
        <p:nvPicPr>
          <p:cNvPr id="7" name="Image 0"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8" name="Text 5"/>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888888"/>
                </a:solidFill>
              </a:rPr>
              <a:t>DRAFT — NEGOTIATING TERMS</a:t>
            </a:r>
            <a:endParaRPr lang="en-US" sz="700" dirty="0"/>
          </a:p>
        </p:txBody>
      </p:sp>
      <p:sp>
        <p:nvSpPr>
          <p:cNvPr id="9" name="Text 6"/>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888888"/>
                </a:solidFill>
              </a:rPr>
              <a:t>CONFIDENTIAL</a:t>
            </a:r>
            <a:endParaRPr lang="en-US" sz="700" dirty="0"/>
          </a:p>
        </p:txBody>
      </p:sp>
      <p:sp>
        <p:nvSpPr>
          <p:cNvPr id="10" name="TextBox 9"/>
          <p:cNvSpPr txBox="1"/>
          <p:nvPr/>
        </p:nvSpPr>
        <p:spPr>
          <a:xfrm>
            <a:off x="411480" y="4325112"/>
            <a:ext cx="8321040" cy="256032"/>
          </a:xfrm>
          <a:prstGeom prst="rect">
            <a:avLst/>
          </a:prstGeom>
          <a:noFill/>
        </p:spPr>
        <p:txBody>
          <a:bodyPr wrap="square">
            <a:spAutoFit/>
          </a:bodyPr>
          <a:lstStyle/>
          <a:p>
            <a:pPr algn="l"/>
            <a:r>
              <a:rPr sz="1000" b="1" i="0">
                <a:solidFill>
                  <a:srgbClr val="F26A21"/>
                </a:solidFill>
                <a:latin typeface="Calibri"/>
              </a:rPr>
              <a:t>These motions protect every SSLC holder outside the Microcosm/Wertz group, including Exos (18.06%), by correcting the books before any payout.</a:t>
            </a:r>
          </a:p>
        </p:txBody>
      </p:sp>
      <p:sp>
        <p:nvSpPr>
          <p:cNvPr id="11" name="TextBox 10"/>
          <p:cNvSpPr txBox="1"/>
          <p:nvPr/>
        </p:nvSpPr>
        <p:spPr>
          <a:xfrm>
            <a:off x="411480" y="4590288"/>
            <a:ext cx="8321040" cy="173736"/>
          </a:xfrm>
          <a:prstGeom prst="rect">
            <a:avLst/>
          </a:prstGeom>
          <a:noFill/>
        </p:spPr>
        <p:txBody>
          <a:bodyPr wrap="square">
            <a:spAutoFit/>
          </a:bodyPr>
          <a:lstStyle/>
          <a:p>
            <a:r>
              <a:rPr lang="en-US" sz="1000" i="1" dirty="0">
                <a:solidFill>
                  <a:srgbClr val="888888"/>
                </a:solidFill>
                <a:latin typeface="Calibri"/>
              </a:rPr>
              <a:t>Share register (08-2024): Microcosm 32.09% + Wertz 11.80% = 43.90% group (53.6% of non-Exos pool). Exos: 18.06% (157,553 of 872,525 shares). Non-Microcosm/Wertz: 56.1%.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47548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Where SSLC Stands Today</a:t>
            </a:r>
            <a:endParaRPr lang="en-US" sz="2200" dirty="0"/>
          </a:p>
        </p:txBody>
      </p:sp>
      <p:sp>
        <p:nvSpPr>
          <p:cNvPr id="3" name="Shape 1"/>
          <p:cNvSpPr/>
          <p:nvPr/>
        </p:nvSpPr>
        <p:spPr>
          <a:xfrm>
            <a:off x="457200" y="804672"/>
            <a:ext cx="1371600" cy="36576"/>
          </a:xfrm>
          <a:prstGeom prst="rect">
            <a:avLst/>
          </a:prstGeom>
          <a:solidFill>
            <a:srgbClr val="F26A21"/>
          </a:solidFill>
          <a:ln/>
        </p:spPr>
        <p:txBody>
          <a:bodyPr/>
          <a:lstStyle/>
          <a:p>
            <a:endParaRPr/>
          </a:p>
        </p:txBody>
      </p:sp>
      <p:sp>
        <p:nvSpPr>
          <p:cNvPr id="4" name="Shape 2"/>
          <p:cNvSpPr/>
          <p:nvPr/>
        </p:nvSpPr>
        <p:spPr>
          <a:xfrm>
            <a:off x="365760" y="1097280"/>
            <a:ext cx="2560320" cy="2011680"/>
          </a:xfrm>
          <a:prstGeom prst="rect">
            <a:avLst/>
          </a:prstGeom>
          <a:solidFill>
            <a:srgbClr val="1E1E1E"/>
          </a:solidFill>
          <a:ln w="12700">
            <a:solidFill>
              <a:srgbClr val="333333"/>
            </a:solidFill>
            <a:prstDash val="solid"/>
          </a:ln>
        </p:spPr>
        <p:txBody>
          <a:bodyPr/>
          <a:lstStyle/>
          <a:p>
            <a:endParaRPr/>
          </a:p>
        </p:txBody>
      </p:sp>
      <p:sp>
        <p:nvSpPr>
          <p:cNvPr id="5" name="Text 3"/>
          <p:cNvSpPr txBox="1"/>
          <p:nvPr/>
        </p:nvSpPr>
        <p:spPr>
          <a:xfrm>
            <a:off x="457200" y="1234440"/>
            <a:ext cx="2377440" cy="868680"/>
          </a:xfrm>
          <a:prstGeom prst="rect">
            <a:avLst/>
          </a:prstGeom>
          <a:noFill/>
          <a:ln/>
        </p:spPr>
        <p:txBody>
          <a:bodyPr wrap="square" rtlCol="0" anchor="ctr"/>
          <a:lstStyle/>
          <a:p>
            <a:pPr marL="0" indent="0" algn="ctr">
              <a:buNone/>
            </a:pPr>
            <a:r>
              <a:rPr lang="en-US" sz="3400" b="1" dirty="0">
                <a:solidFill>
                  <a:srgbClr val="FFFFFF"/>
                </a:solidFill>
              </a:rPr>
              <a:t>$590K</a:t>
            </a:r>
            <a:endParaRPr lang="en-US" sz="3400" dirty="0"/>
          </a:p>
        </p:txBody>
      </p:sp>
      <p:sp>
        <p:nvSpPr>
          <p:cNvPr id="6" name="Text 4"/>
          <p:cNvSpPr txBox="1"/>
          <p:nvPr/>
        </p:nvSpPr>
        <p:spPr>
          <a:xfrm>
            <a:off x="457200" y="2103120"/>
            <a:ext cx="2377440" cy="411480"/>
          </a:xfrm>
          <a:prstGeom prst="rect">
            <a:avLst/>
          </a:prstGeom>
          <a:noFill/>
          <a:ln/>
        </p:spPr>
        <p:txBody>
          <a:bodyPr wrap="square" rtlCol="0" anchor="ctr"/>
          <a:lstStyle/>
          <a:p>
            <a:pPr marL="0" indent="0" algn="ctr">
              <a:buNone/>
            </a:pPr>
            <a:r>
              <a:rPr lang="en-US" sz="1300" b="1" dirty="0">
                <a:solidFill>
                  <a:srgbClr val="CCCCCC"/>
                </a:solidFill>
              </a:rPr>
              <a:t>Cash at 10/11</a:t>
            </a:r>
            <a:endParaRPr lang="en-US" sz="1300" dirty="0"/>
          </a:p>
        </p:txBody>
      </p:sp>
      <p:sp>
        <p:nvSpPr>
          <p:cNvPr id="7" name="Text 5"/>
          <p:cNvSpPr txBox="1"/>
          <p:nvPr/>
        </p:nvSpPr>
        <p:spPr>
          <a:xfrm>
            <a:off x="457200" y="2514600"/>
            <a:ext cx="2377440" cy="411480"/>
          </a:xfrm>
          <a:prstGeom prst="rect">
            <a:avLst/>
          </a:prstGeom>
          <a:noFill/>
          <a:ln/>
        </p:spPr>
        <p:txBody>
          <a:bodyPr wrap="square" rtlCol="0" anchor="ctr"/>
          <a:lstStyle/>
          <a:p>
            <a:pPr marL="0" indent="0" algn="ctr">
              <a:buNone/>
            </a:pPr>
            <a:r>
              <a:rPr lang="en-US" sz="1100" dirty="0">
                <a:solidFill>
                  <a:srgbClr val="888888"/>
                </a:solidFill>
              </a:rPr>
              <a:t>One IM payment 10/7</a:t>
            </a:r>
            <a:endParaRPr lang="en-US" sz="1100" dirty="0"/>
          </a:p>
        </p:txBody>
      </p:sp>
      <p:sp>
        <p:nvSpPr>
          <p:cNvPr id="8" name="Shape 6"/>
          <p:cNvSpPr/>
          <p:nvPr/>
        </p:nvSpPr>
        <p:spPr>
          <a:xfrm>
            <a:off x="3200400" y="1097280"/>
            <a:ext cx="2560320" cy="2011680"/>
          </a:xfrm>
          <a:prstGeom prst="rect">
            <a:avLst/>
          </a:prstGeom>
          <a:solidFill>
            <a:srgbClr val="1E1E1E"/>
          </a:solidFill>
          <a:ln w="12700">
            <a:solidFill>
              <a:srgbClr val="333333"/>
            </a:solidFill>
            <a:prstDash val="solid"/>
          </a:ln>
        </p:spPr>
        <p:txBody>
          <a:bodyPr/>
          <a:lstStyle/>
          <a:p>
            <a:endParaRPr/>
          </a:p>
        </p:txBody>
      </p:sp>
      <p:sp>
        <p:nvSpPr>
          <p:cNvPr id="9" name="Text 7"/>
          <p:cNvSpPr txBox="1"/>
          <p:nvPr/>
        </p:nvSpPr>
        <p:spPr>
          <a:xfrm>
            <a:off x="3291840" y="1234440"/>
            <a:ext cx="2377440" cy="868680"/>
          </a:xfrm>
          <a:prstGeom prst="rect">
            <a:avLst/>
          </a:prstGeom>
          <a:noFill/>
          <a:ln/>
        </p:spPr>
        <p:txBody>
          <a:bodyPr wrap="square" rtlCol="0" anchor="ctr"/>
          <a:lstStyle/>
          <a:p>
            <a:pPr marL="0" indent="0" algn="ctr">
              <a:buNone/>
            </a:pPr>
            <a:r>
              <a:rPr lang="en-US" sz="3400" b="1" dirty="0">
                <a:solidFill>
                  <a:srgbClr val="FFFFFF"/>
                </a:solidFill>
              </a:rPr>
              <a:t>$713K</a:t>
            </a:r>
            <a:endParaRPr lang="en-US" sz="3400" dirty="0"/>
          </a:p>
        </p:txBody>
      </p:sp>
      <p:sp>
        <p:nvSpPr>
          <p:cNvPr id="10" name="Text 8"/>
          <p:cNvSpPr txBox="1"/>
          <p:nvPr/>
        </p:nvSpPr>
        <p:spPr>
          <a:xfrm>
            <a:off x="3291840" y="2103120"/>
            <a:ext cx="2377440" cy="411480"/>
          </a:xfrm>
          <a:prstGeom prst="rect">
            <a:avLst/>
          </a:prstGeom>
          <a:noFill/>
          <a:ln/>
        </p:spPr>
        <p:txBody>
          <a:bodyPr wrap="square" rtlCol="0" anchor="ctr"/>
          <a:lstStyle/>
          <a:p>
            <a:pPr marL="0" indent="0" algn="ctr">
              <a:buNone/>
            </a:pPr>
            <a:r>
              <a:rPr lang="en-US" sz="1300" b="1" dirty="0">
                <a:solidFill>
                  <a:srgbClr val="CCCCCC"/>
                </a:solidFill>
              </a:rPr>
              <a:t>Last quarter revenue</a:t>
            </a:r>
            <a:endParaRPr lang="en-US" sz="1300" dirty="0"/>
          </a:p>
        </p:txBody>
      </p:sp>
      <p:sp>
        <p:nvSpPr>
          <p:cNvPr id="11" name="Text 9"/>
          <p:cNvSpPr txBox="1"/>
          <p:nvPr/>
        </p:nvSpPr>
        <p:spPr>
          <a:xfrm>
            <a:off x="3291840" y="2514600"/>
            <a:ext cx="2377440" cy="411480"/>
          </a:xfrm>
          <a:prstGeom prst="rect">
            <a:avLst/>
          </a:prstGeom>
          <a:noFill/>
          <a:ln/>
        </p:spPr>
        <p:txBody>
          <a:bodyPr wrap="square" rtlCol="0" anchor="ctr"/>
          <a:lstStyle/>
          <a:p>
            <a:pPr marL="0" indent="0" algn="ctr">
              <a:buNone/>
            </a:pPr>
            <a:r>
              <a:rPr lang="en-US" sz="1100" dirty="0">
                <a:solidFill>
                  <a:srgbClr val="888888"/>
                </a:solidFill>
              </a:rPr>
              <a:t>Most recent reported quarter</a:t>
            </a:r>
            <a:endParaRPr lang="en-US" sz="1100" dirty="0"/>
          </a:p>
        </p:txBody>
      </p:sp>
      <p:sp>
        <p:nvSpPr>
          <p:cNvPr id="12" name="Shape 10"/>
          <p:cNvSpPr/>
          <p:nvPr/>
        </p:nvSpPr>
        <p:spPr>
          <a:xfrm>
            <a:off x="6035040" y="1097280"/>
            <a:ext cx="2560320" cy="2011680"/>
          </a:xfrm>
          <a:prstGeom prst="rect">
            <a:avLst/>
          </a:prstGeom>
          <a:solidFill>
            <a:srgbClr val="1E1E1E"/>
          </a:solidFill>
          <a:ln w="12700">
            <a:solidFill>
              <a:srgbClr val="333333"/>
            </a:solidFill>
            <a:prstDash val="solid"/>
          </a:ln>
        </p:spPr>
        <p:txBody>
          <a:bodyPr/>
          <a:lstStyle/>
          <a:p>
            <a:endParaRPr/>
          </a:p>
        </p:txBody>
      </p:sp>
      <p:sp>
        <p:nvSpPr>
          <p:cNvPr id="13" name="Text 11"/>
          <p:cNvSpPr txBox="1"/>
          <p:nvPr/>
        </p:nvSpPr>
        <p:spPr>
          <a:xfrm>
            <a:off x="6126480" y="1234440"/>
            <a:ext cx="2377440" cy="868680"/>
          </a:xfrm>
          <a:prstGeom prst="rect">
            <a:avLst/>
          </a:prstGeom>
          <a:noFill/>
          <a:ln/>
        </p:spPr>
        <p:txBody>
          <a:bodyPr wrap="square" rtlCol="0" anchor="ctr"/>
          <a:lstStyle/>
          <a:p>
            <a:pPr marL="0" indent="0" algn="ctr">
              <a:buNone/>
            </a:pPr>
            <a:r>
              <a:rPr lang="en-US" sz="2600" b="1" dirty="0">
                <a:solidFill>
                  <a:srgbClr val="F26A21"/>
                </a:solidFill>
              </a:rPr>
              <a:t>~$1.46M/qtr</a:t>
            </a:r>
            <a:endParaRPr lang="en-US" sz="2600" dirty="0"/>
          </a:p>
        </p:txBody>
      </p:sp>
      <p:sp>
        <p:nvSpPr>
          <p:cNvPr id="14" name="Text 12"/>
          <p:cNvSpPr txBox="1"/>
          <p:nvPr/>
        </p:nvSpPr>
        <p:spPr>
          <a:xfrm>
            <a:off x="6126480" y="2103120"/>
            <a:ext cx="2377440" cy="411480"/>
          </a:xfrm>
          <a:prstGeom prst="rect">
            <a:avLst/>
          </a:prstGeom>
          <a:noFill/>
          <a:ln/>
        </p:spPr>
        <p:txBody>
          <a:bodyPr wrap="square" rtlCol="0" anchor="ctr"/>
          <a:lstStyle/>
          <a:p>
            <a:pPr marL="0" indent="0" algn="ctr">
              <a:buNone/>
            </a:pPr>
            <a:r>
              <a:rPr lang="en-US" sz="1300" b="1" dirty="0">
                <a:solidFill>
                  <a:srgbClr val="CCCCCC"/>
                </a:solidFill>
              </a:rPr>
              <a:t>Required to hit $5.1M</a:t>
            </a:r>
            <a:endParaRPr lang="en-US" sz="1300" dirty="0"/>
          </a:p>
        </p:txBody>
      </p:sp>
      <p:sp>
        <p:nvSpPr>
          <p:cNvPr id="15" name="Text 13"/>
          <p:cNvSpPr txBox="1"/>
          <p:nvPr/>
        </p:nvSpPr>
        <p:spPr>
          <a:xfrm>
            <a:off x="6126480" y="2514600"/>
            <a:ext cx="2377440" cy="411480"/>
          </a:xfrm>
          <a:prstGeom prst="rect">
            <a:avLst/>
          </a:prstGeom>
          <a:noFill/>
          <a:ln/>
        </p:spPr>
        <p:txBody>
          <a:bodyPr wrap="square" rtlCol="0" anchor="ctr"/>
          <a:lstStyle/>
          <a:p>
            <a:pPr marL="0" indent="0" algn="ctr">
              <a:buNone/>
            </a:pPr>
            <a:r>
              <a:rPr lang="en-US" sz="1100" dirty="0">
                <a:solidFill>
                  <a:srgbClr val="888888"/>
                </a:solidFill>
              </a:rPr>
              <a:t>M1 milestone threshold</a:t>
            </a:r>
            <a:endParaRPr lang="en-US" sz="1100" dirty="0"/>
          </a:p>
        </p:txBody>
      </p:sp>
      <p:sp>
        <p:nvSpPr>
          <p:cNvPr id="16" name="Shape 14"/>
          <p:cNvSpPr/>
          <p:nvPr/>
        </p:nvSpPr>
        <p:spPr>
          <a:xfrm>
            <a:off x="457200" y="3337560"/>
            <a:ext cx="8229600" cy="1051560"/>
          </a:xfrm>
          <a:prstGeom prst="rect">
            <a:avLst/>
          </a:prstGeom>
          <a:solidFill>
            <a:srgbClr val="1A1200"/>
          </a:solidFill>
          <a:ln w="12700">
            <a:solidFill>
              <a:srgbClr val="F26A21"/>
            </a:solidFill>
            <a:prstDash val="solid"/>
          </a:ln>
        </p:spPr>
        <p:txBody>
          <a:bodyPr/>
          <a:lstStyle/>
          <a:p>
            <a:endParaRPr/>
          </a:p>
        </p:txBody>
      </p:sp>
      <p:sp>
        <p:nvSpPr>
          <p:cNvPr id="17" name="Text 15"/>
          <p:cNvSpPr txBox="1"/>
          <p:nvPr/>
        </p:nvSpPr>
        <p:spPr>
          <a:xfrm>
            <a:off x="640080" y="3429000"/>
            <a:ext cx="7863840" cy="868680"/>
          </a:xfrm>
          <a:prstGeom prst="rect">
            <a:avLst/>
          </a:prstGeom>
          <a:noFill/>
          <a:ln/>
        </p:spPr>
        <p:txBody>
          <a:bodyPr wrap="square" rtlCol="0" anchor="ctr"/>
          <a:lstStyle/>
          <a:p>
            <a:pPr marL="0" indent="0" algn="l">
              <a:buNone/>
            </a:pPr>
            <a:r>
              <a:rPr lang="en-US" sz="1300" i="1" dirty="0">
                <a:solidFill>
                  <a:srgbClr val="CCCCCC"/>
                </a:solidFill>
              </a:rPr>
              <a:t>$590K cash at 10/11 came largely from one Intuitive Machines payment on 10/7 for start-billed tanks; a $5.1M year still requires ~2× last quarter's pace starting now. With $1.03M of debt, equity of −$1.44M, and physical-space and single-winder constraints, Exos's offer removes the funding risk and gives SSLC holders direct upside.</a:t>
            </a:r>
            <a:endParaRPr lang="en-US" sz="1300" dirty="0"/>
          </a:p>
        </p:txBody>
      </p:sp>
      <p:pic>
        <p:nvPicPr>
          <p:cNvPr id="18" name="Image 0"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19" name="Text 16"/>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888888"/>
                </a:solidFill>
              </a:rPr>
              <a:t>DRAFT — NEGOTIATING TERMS</a:t>
            </a:r>
            <a:endParaRPr lang="en-US" sz="700" dirty="0"/>
          </a:p>
        </p:txBody>
      </p:sp>
      <p:sp>
        <p:nvSpPr>
          <p:cNvPr id="20" name="Text 17"/>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888888"/>
                </a:solidFill>
              </a:rPr>
              <a:t>CONFIDENTIAL</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64008"/>
            <a:ext cx="8686800" cy="457200"/>
          </a:xfrm>
          <a:prstGeom prst="rect">
            <a:avLst/>
          </a:prstGeom>
          <a:noFill/>
        </p:spPr>
        <p:txBody>
          <a:bodyPr wrap="square">
            <a:spAutoFit/>
          </a:bodyPr>
          <a:lstStyle/>
          <a:p>
            <a:pPr algn="l"/>
            <a:r>
              <a:rPr sz="2000" b="1" i="0">
                <a:solidFill>
                  <a:srgbClr val="FFFFFF"/>
                </a:solidFill>
                <a:latin typeface="Cambria"/>
              </a:rPr>
              <a:t>SSLC Capital &amp; Debt: What's on the Books</a:t>
            </a:r>
          </a:p>
        </p:txBody>
      </p:sp>
      <p:sp>
        <p:nvSpPr>
          <p:cNvPr id="4" name="Rectangle 3"/>
          <p:cNvSpPr/>
          <p:nvPr/>
        </p:nvSpPr>
        <p:spPr>
          <a:xfrm>
            <a:off x="109728" y="594360"/>
            <a:ext cx="4160520" cy="29992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407408" y="594360"/>
            <a:ext cx="4617720" cy="29992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9728" y="594360"/>
            <a:ext cx="4160520" cy="2468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407408" y="594360"/>
            <a:ext cx="4617720" cy="2468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9728" y="594360"/>
            <a:ext cx="36576" cy="24688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407408" y="594360"/>
            <a:ext cx="36576" cy="24688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1168" y="640080"/>
            <a:ext cx="4023359" cy="182880"/>
          </a:xfrm>
          <a:prstGeom prst="rect">
            <a:avLst/>
          </a:prstGeom>
          <a:noFill/>
        </p:spPr>
        <p:txBody>
          <a:bodyPr wrap="square">
            <a:spAutoFit/>
          </a:bodyPr>
          <a:lstStyle/>
          <a:p>
            <a:pPr algn="l"/>
            <a:r>
              <a:rPr sz="1000" b="1" i="0">
                <a:solidFill>
                  <a:srgbClr val="F26A21"/>
                </a:solidFill>
                <a:latin typeface="Calibri"/>
              </a:rPr>
              <a:t>WHAT INVESTORS PAID IN</a:t>
            </a:r>
          </a:p>
        </p:txBody>
      </p:sp>
      <p:sp>
        <p:nvSpPr>
          <p:cNvPr id="11" name="TextBox 10"/>
          <p:cNvSpPr txBox="1"/>
          <p:nvPr/>
        </p:nvSpPr>
        <p:spPr>
          <a:xfrm>
            <a:off x="4498848" y="640080"/>
            <a:ext cx="4480559" cy="182880"/>
          </a:xfrm>
          <a:prstGeom prst="rect">
            <a:avLst/>
          </a:prstGeom>
          <a:noFill/>
        </p:spPr>
        <p:txBody>
          <a:bodyPr wrap="square">
            <a:spAutoFit/>
          </a:bodyPr>
          <a:lstStyle/>
          <a:p>
            <a:pPr algn="l"/>
            <a:r>
              <a:rPr sz="1000" b="1" i="0">
                <a:solidFill>
                  <a:srgbClr val="F26A21"/>
                </a:solidFill>
                <a:latin typeface="Calibri"/>
              </a:rPr>
              <a:t>WHAT SSLC OWES  (10/11/2026)</a:t>
            </a:r>
          </a:p>
        </p:txBody>
      </p:sp>
      <p:sp>
        <p:nvSpPr>
          <p:cNvPr id="12" name="TextBox 11"/>
          <p:cNvSpPr txBox="1"/>
          <p:nvPr/>
        </p:nvSpPr>
        <p:spPr>
          <a:xfrm>
            <a:off x="219456" y="914400"/>
            <a:ext cx="2514600" cy="205740"/>
          </a:xfrm>
          <a:prstGeom prst="rect">
            <a:avLst/>
          </a:prstGeom>
          <a:noFill/>
        </p:spPr>
        <p:txBody>
          <a:bodyPr wrap="square">
            <a:spAutoFit/>
          </a:bodyPr>
          <a:lstStyle/>
          <a:p>
            <a:pPr algn="l"/>
            <a:r>
              <a:rPr sz="1000" b="0" i="0">
                <a:solidFill>
                  <a:srgbClr val="CCCCCC"/>
                </a:solidFill>
                <a:latin typeface="Calibri"/>
              </a:rPr>
              <a:t>Common stock (Acct 3010)</a:t>
            </a:r>
          </a:p>
        </p:txBody>
      </p:sp>
      <p:sp>
        <p:nvSpPr>
          <p:cNvPr id="13" name="TextBox 12"/>
          <p:cNvSpPr txBox="1"/>
          <p:nvPr/>
        </p:nvSpPr>
        <p:spPr>
          <a:xfrm>
            <a:off x="2642616" y="914400"/>
            <a:ext cx="1481328" cy="205740"/>
          </a:xfrm>
          <a:prstGeom prst="rect">
            <a:avLst/>
          </a:prstGeom>
          <a:noFill/>
        </p:spPr>
        <p:txBody>
          <a:bodyPr wrap="square">
            <a:spAutoFit/>
          </a:bodyPr>
          <a:lstStyle/>
          <a:p>
            <a:pPr algn="r"/>
            <a:r>
              <a:rPr sz="1000" b="0" i="0">
                <a:solidFill>
                  <a:srgbClr val="CCCCCC"/>
                </a:solidFill>
                <a:latin typeface="Calibri"/>
              </a:rPr>
              <a:t>$1,010,423</a:t>
            </a:r>
          </a:p>
        </p:txBody>
      </p:sp>
      <p:sp>
        <p:nvSpPr>
          <p:cNvPr id="14" name="TextBox 13"/>
          <p:cNvSpPr txBox="1"/>
          <p:nvPr/>
        </p:nvSpPr>
        <p:spPr>
          <a:xfrm>
            <a:off x="219456" y="1138428"/>
            <a:ext cx="2514600" cy="205740"/>
          </a:xfrm>
          <a:prstGeom prst="rect">
            <a:avLst/>
          </a:prstGeom>
          <a:noFill/>
        </p:spPr>
        <p:txBody>
          <a:bodyPr wrap="square">
            <a:spAutoFit/>
          </a:bodyPr>
          <a:lstStyle/>
          <a:p>
            <a:pPr algn="l"/>
            <a:r>
              <a:rPr sz="1000" b="0" i="0">
                <a:solidFill>
                  <a:srgbClr val="CCCCCC"/>
                </a:solidFill>
                <a:latin typeface="Calibri"/>
              </a:rPr>
              <a:t>APIC (Acct 3020)</a:t>
            </a:r>
          </a:p>
        </p:txBody>
      </p:sp>
      <p:sp>
        <p:nvSpPr>
          <p:cNvPr id="15" name="TextBox 14"/>
          <p:cNvSpPr txBox="1"/>
          <p:nvPr/>
        </p:nvSpPr>
        <p:spPr>
          <a:xfrm>
            <a:off x="2642616" y="1138428"/>
            <a:ext cx="1481328" cy="205740"/>
          </a:xfrm>
          <a:prstGeom prst="rect">
            <a:avLst/>
          </a:prstGeom>
          <a:noFill/>
        </p:spPr>
        <p:txBody>
          <a:bodyPr wrap="square">
            <a:spAutoFit/>
          </a:bodyPr>
          <a:lstStyle/>
          <a:p>
            <a:pPr algn="r"/>
            <a:r>
              <a:rPr sz="1000" b="0" i="0">
                <a:solidFill>
                  <a:srgbClr val="CCCCCC"/>
                </a:solidFill>
                <a:latin typeface="Calibri"/>
              </a:rPr>
              <a:t>$4,042</a:t>
            </a:r>
          </a:p>
        </p:txBody>
      </p:sp>
      <p:sp>
        <p:nvSpPr>
          <p:cNvPr id="16" name="Rectangle 15"/>
          <p:cNvSpPr/>
          <p:nvPr/>
        </p:nvSpPr>
        <p:spPr>
          <a:xfrm>
            <a:off x="219456" y="1435608"/>
            <a:ext cx="3931920" cy="1371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9456" y="1586484"/>
            <a:ext cx="2514600" cy="205740"/>
          </a:xfrm>
          <a:prstGeom prst="rect">
            <a:avLst/>
          </a:prstGeom>
          <a:noFill/>
        </p:spPr>
        <p:txBody>
          <a:bodyPr wrap="square">
            <a:spAutoFit/>
          </a:bodyPr>
          <a:lstStyle/>
          <a:p>
            <a:pPr algn="l"/>
            <a:r>
              <a:rPr sz="1000" b="0" i="0">
                <a:solidFill>
                  <a:srgbClr val="CCCCCC"/>
                </a:solidFill>
                <a:latin typeface="Calibri"/>
              </a:rPr>
              <a:t>Total paid-in capital</a:t>
            </a:r>
          </a:p>
        </p:txBody>
      </p:sp>
      <p:sp>
        <p:nvSpPr>
          <p:cNvPr id="18" name="TextBox 17"/>
          <p:cNvSpPr txBox="1"/>
          <p:nvPr/>
        </p:nvSpPr>
        <p:spPr>
          <a:xfrm>
            <a:off x="2642616" y="1586484"/>
            <a:ext cx="1481328" cy="205740"/>
          </a:xfrm>
          <a:prstGeom prst="rect">
            <a:avLst/>
          </a:prstGeom>
          <a:noFill/>
        </p:spPr>
        <p:txBody>
          <a:bodyPr wrap="square">
            <a:spAutoFit/>
          </a:bodyPr>
          <a:lstStyle/>
          <a:p>
            <a:pPr algn="r"/>
            <a:r>
              <a:rPr sz="1000" b="1" i="0">
                <a:solidFill>
                  <a:srgbClr val="FFFFFF"/>
                </a:solidFill>
                <a:latin typeface="Calibri"/>
              </a:rPr>
              <a:t>$1,014,465</a:t>
            </a:r>
          </a:p>
        </p:txBody>
      </p:sp>
      <p:sp>
        <p:nvSpPr>
          <p:cNvPr id="19" name="TextBox 18"/>
          <p:cNvSpPr txBox="1"/>
          <p:nvPr/>
        </p:nvSpPr>
        <p:spPr>
          <a:xfrm>
            <a:off x="219456" y="1810512"/>
            <a:ext cx="2514600" cy="205740"/>
          </a:xfrm>
          <a:prstGeom prst="rect">
            <a:avLst/>
          </a:prstGeom>
          <a:noFill/>
        </p:spPr>
        <p:txBody>
          <a:bodyPr wrap="square">
            <a:spAutoFit/>
          </a:bodyPr>
          <a:lstStyle/>
          <a:p>
            <a:pPr algn="l"/>
            <a:r>
              <a:rPr sz="1000" b="0" i="0">
                <a:solidFill>
                  <a:srgbClr val="CCCCCC"/>
                </a:solidFill>
                <a:latin typeface="Calibri"/>
              </a:rPr>
              <a:t>Exos: 18.06% → $790,000</a:t>
            </a:r>
          </a:p>
        </p:txBody>
      </p:sp>
      <p:sp>
        <p:nvSpPr>
          <p:cNvPr id="20" name="TextBox 19"/>
          <p:cNvSpPr txBox="1"/>
          <p:nvPr/>
        </p:nvSpPr>
        <p:spPr>
          <a:xfrm>
            <a:off x="2642616" y="1810512"/>
            <a:ext cx="1481328" cy="205740"/>
          </a:xfrm>
          <a:prstGeom prst="rect">
            <a:avLst/>
          </a:prstGeom>
          <a:noFill/>
        </p:spPr>
        <p:txBody>
          <a:bodyPr wrap="square">
            <a:spAutoFit/>
          </a:bodyPr>
          <a:lstStyle/>
          <a:p>
            <a:pPr algn="r"/>
            <a:r>
              <a:rPr sz="1000" b="1" i="0">
                <a:solidFill>
                  <a:srgbClr val="F26A21"/>
                </a:solidFill>
                <a:latin typeface="Calibri"/>
              </a:rPr>
              <a:t>~78% of above</a:t>
            </a:r>
          </a:p>
        </p:txBody>
      </p:sp>
      <p:sp>
        <p:nvSpPr>
          <p:cNvPr id="21" name="Rectangle 20"/>
          <p:cNvSpPr/>
          <p:nvPr/>
        </p:nvSpPr>
        <p:spPr>
          <a:xfrm>
            <a:off x="219456" y="2107692"/>
            <a:ext cx="3931920" cy="1371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19456" y="2258568"/>
            <a:ext cx="2514600" cy="205740"/>
          </a:xfrm>
          <a:prstGeom prst="rect">
            <a:avLst/>
          </a:prstGeom>
          <a:noFill/>
        </p:spPr>
        <p:txBody>
          <a:bodyPr wrap="square">
            <a:spAutoFit/>
          </a:bodyPr>
          <a:lstStyle/>
          <a:p>
            <a:pPr algn="l"/>
            <a:r>
              <a:rPr sz="1000" b="0" i="0">
                <a:solidFill>
                  <a:srgbClr val="CCCCCC"/>
                </a:solidFill>
                <a:latin typeface="Calibri"/>
              </a:rPr>
              <a:t>Accum. deficit (thru FY26)</a:t>
            </a:r>
          </a:p>
        </p:txBody>
      </p:sp>
      <p:sp>
        <p:nvSpPr>
          <p:cNvPr id="23" name="TextBox 22"/>
          <p:cNvSpPr txBox="1"/>
          <p:nvPr/>
        </p:nvSpPr>
        <p:spPr>
          <a:xfrm>
            <a:off x="2642616" y="2258568"/>
            <a:ext cx="1481328" cy="205740"/>
          </a:xfrm>
          <a:prstGeom prst="rect">
            <a:avLst/>
          </a:prstGeom>
          <a:noFill/>
        </p:spPr>
        <p:txBody>
          <a:bodyPr wrap="square">
            <a:spAutoFit/>
          </a:bodyPr>
          <a:lstStyle/>
          <a:p>
            <a:pPr algn="r"/>
            <a:r>
              <a:rPr sz="1000" b="1" i="0">
                <a:solidFill>
                  <a:srgbClr val="FF6666"/>
                </a:solidFill>
                <a:latin typeface="Calibri"/>
              </a:rPr>
              <a:t>−$2,571,013</a:t>
            </a:r>
          </a:p>
        </p:txBody>
      </p:sp>
      <p:sp>
        <p:nvSpPr>
          <p:cNvPr id="24" name="TextBox 23"/>
          <p:cNvSpPr txBox="1"/>
          <p:nvPr/>
        </p:nvSpPr>
        <p:spPr>
          <a:xfrm>
            <a:off x="219456" y="2482596"/>
            <a:ext cx="2514600" cy="205740"/>
          </a:xfrm>
          <a:prstGeom prst="rect">
            <a:avLst/>
          </a:prstGeom>
          <a:noFill/>
        </p:spPr>
        <p:txBody>
          <a:bodyPr wrap="square">
            <a:spAutoFit/>
          </a:bodyPr>
          <a:lstStyle/>
          <a:p>
            <a:pPr algn="l"/>
            <a:r>
              <a:rPr sz="1000" b="0" i="0">
                <a:solidFill>
                  <a:srgbClr val="CCCCCC"/>
                </a:solidFill>
                <a:latin typeface="Calibri"/>
              </a:rPr>
              <a:t>FY27 YTD net income (10/11)</a:t>
            </a:r>
          </a:p>
        </p:txBody>
      </p:sp>
      <p:sp>
        <p:nvSpPr>
          <p:cNvPr id="25" name="TextBox 24"/>
          <p:cNvSpPr txBox="1"/>
          <p:nvPr/>
        </p:nvSpPr>
        <p:spPr>
          <a:xfrm>
            <a:off x="2642616" y="2482596"/>
            <a:ext cx="1481328" cy="205740"/>
          </a:xfrm>
          <a:prstGeom prst="rect">
            <a:avLst/>
          </a:prstGeom>
          <a:noFill/>
        </p:spPr>
        <p:txBody>
          <a:bodyPr wrap="square">
            <a:spAutoFit/>
          </a:bodyPr>
          <a:lstStyle/>
          <a:p>
            <a:pPr algn="r"/>
            <a:r>
              <a:rPr sz="1000" b="1" i="0">
                <a:solidFill>
                  <a:srgbClr val="44BB44"/>
                </a:solidFill>
                <a:latin typeface="Calibri"/>
              </a:rPr>
              <a:t>+$112,666</a:t>
            </a:r>
          </a:p>
        </p:txBody>
      </p:sp>
      <p:sp>
        <p:nvSpPr>
          <p:cNvPr id="26" name="TextBox 25"/>
          <p:cNvSpPr txBox="1"/>
          <p:nvPr/>
        </p:nvSpPr>
        <p:spPr>
          <a:xfrm>
            <a:off x="4517136" y="914400"/>
            <a:ext cx="2926080" cy="205740"/>
          </a:xfrm>
          <a:prstGeom prst="rect">
            <a:avLst/>
          </a:prstGeom>
          <a:noFill/>
        </p:spPr>
        <p:txBody>
          <a:bodyPr wrap="square">
            <a:spAutoFit/>
          </a:bodyPr>
          <a:lstStyle/>
          <a:p>
            <a:pPr algn="l"/>
            <a:r>
              <a:rPr sz="1000" b="0" i="0">
                <a:solidFill>
                  <a:srgbClr val="CCCCCC"/>
                </a:solidFill>
                <a:latin typeface="Calibri"/>
              </a:rPr>
              <a:t>Loans &amp; notes (total)</a:t>
            </a:r>
          </a:p>
        </p:txBody>
      </p:sp>
      <p:sp>
        <p:nvSpPr>
          <p:cNvPr id="27" name="TextBox 26"/>
          <p:cNvSpPr txBox="1"/>
          <p:nvPr/>
        </p:nvSpPr>
        <p:spPr>
          <a:xfrm>
            <a:off x="7351775" y="914400"/>
            <a:ext cx="1527047" cy="205740"/>
          </a:xfrm>
          <a:prstGeom prst="rect">
            <a:avLst/>
          </a:prstGeom>
          <a:noFill/>
        </p:spPr>
        <p:txBody>
          <a:bodyPr wrap="square">
            <a:spAutoFit/>
          </a:bodyPr>
          <a:lstStyle/>
          <a:p>
            <a:pPr algn="r"/>
            <a:r>
              <a:rPr sz="1000" b="1" i="0">
                <a:solidFill>
                  <a:srgbClr val="FFFFFF"/>
                </a:solidFill>
                <a:latin typeface="Calibri"/>
              </a:rPr>
              <a:t>$1,027,783</a:t>
            </a:r>
          </a:p>
        </p:txBody>
      </p:sp>
      <p:sp>
        <p:nvSpPr>
          <p:cNvPr id="28" name="Rectangle 27"/>
          <p:cNvSpPr/>
          <p:nvPr/>
        </p:nvSpPr>
        <p:spPr>
          <a:xfrm>
            <a:off x="4517136" y="1211580"/>
            <a:ext cx="4389120" cy="1371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17136" y="1362456"/>
            <a:ext cx="2926080" cy="205740"/>
          </a:xfrm>
          <a:prstGeom prst="rect">
            <a:avLst/>
          </a:prstGeom>
          <a:noFill/>
        </p:spPr>
        <p:txBody>
          <a:bodyPr wrap="square">
            <a:spAutoFit/>
          </a:bodyPr>
          <a:lstStyle/>
          <a:p>
            <a:pPr algn="l"/>
            <a:r>
              <a:rPr sz="1000" b="0" i="0">
                <a:solidFill>
                  <a:srgbClr val="CCCCCC"/>
                </a:solidFill>
                <a:latin typeface="Calibri"/>
              </a:rPr>
              <a:t>Due to Microcosm (Acct 2385)</a:t>
            </a:r>
          </a:p>
        </p:txBody>
      </p:sp>
      <p:sp>
        <p:nvSpPr>
          <p:cNvPr id="30" name="TextBox 29"/>
          <p:cNvSpPr txBox="1"/>
          <p:nvPr/>
        </p:nvSpPr>
        <p:spPr>
          <a:xfrm>
            <a:off x="7351775" y="1362456"/>
            <a:ext cx="1527047" cy="205740"/>
          </a:xfrm>
          <a:prstGeom prst="rect">
            <a:avLst/>
          </a:prstGeom>
          <a:noFill/>
        </p:spPr>
        <p:txBody>
          <a:bodyPr wrap="square">
            <a:spAutoFit/>
          </a:bodyPr>
          <a:lstStyle/>
          <a:p>
            <a:pPr algn="r"/>
            <a:r>
              <a:rPr sz="1000" b="1" i="0">
                <a:solidFill>
                  <a:srgbClr val="FF6666"/>
                </a:solidFill>
                <a:latin typeface="Calibri"/>
              </a:rPr>
              <a:t>$451,429</a:t>
            </a:r>
          </a:p>
        </p:txBody>
      </p:sp>
      <p:sp>
        <p:nvSpPr>
          <p:cNvPr id="31" name="TextBox 30"/>
          <p:cNvSpPr txBox="1"/>
          <p:nvPr/>
        </p:nvSpPr>
        <p:spPr>
          <a:xfrm>
            <a:off x="4517136" y="1586484"/>
            <a:ext cx="2926080" cy="205740"/>
          </a:xfrm>
          <a:prstGeom prst="rect">
            <a:avLst/>
          </a:prstGeom>
          <a:noFill/>
        </p:spPr>
        <p:txBody>
          <a:bodyPr wrap="square">
            <a:spAutoFit/>
          </a:bodyPr>
          <a:lstStyle/>
          <a:p>
            <a:pPr algn="l"/>
            <a:r>
              <a:rPr sz="1000" b="0" i="0">
                <a:solidFill>
                  <a:srgbClr val="CCCCCC"/>
                </a:solidFill>
                <a:latin typeface="Calibri"/>
              </a:rPr>
              <a:t>Notes Payable – Bookstore</a:t>
            </a:r>
          </a:p>
        </p:txBody>
      </p:sp>
      <p:sp>
        <p:nvSpPr>
          <p:cNvPr id="32" name="TextBox 31"/>
          <p:cNvSpPr txBox="1"/>
          <p:nvPr/>
        </p:nvSpPr>
        <p:spPr>
          <a:xfrm>
            <a:off x="7351775" y="1586484"/>
            <a:ext cx="1527047" cy="205740"/>
          </a:xfrm>
          <a:prstGeom prst="rect">
            <a:avLst/>
          </a:prstGeom>
          <a:noFill/>
        </p:spPr>
        <p:txBody>
          <a:bodyPr wrap="square">
            <a:spAutoFit/>
          </a:bodyPr>
          <a:lstStyle/>
          <a:p>
            <a:pPr algn="r"/>
            <a:r>
              <a:rPr sz="1000" b="1" i="0">
                <a:solidFill>
                  <a:srgbClr val="FF6666"/>
                </a:solidFill>
                <a:latin typeface="Calibri"/>
              </a:rPr>
              <a:t>$320,582</a:t>
            </a:r>
          </a:p>
        </p:txBody>
      </p:sp>
      <p:sp>
        <p:nvSpPr>
          <p:cNvPr id="33" name="TextBox 32"/>
          <p:cNvSpPr txBox="1"/>
          <p:nvPr/>
        </p:nvSpPr>
        <p:spPr>
          <a:xfrm>
            <a:off x="4517136" y="1810512"/>
            <a:ext cx="2926080" cy="205740"/>
          </a:xfrm>
          <a:prstGeom prst="rect">
            <a:avLst/>
          </a:prstGeom>
          <a:noFill/>
        </p:spPr>
        <p:txBody>
          <a:bodyPr wrap="square">
            <a:spAutoFit/>
          </a:bodyPr>
          <a:lstStyle/>
          <a:p>
            <a:pPr algn="l"/>
            <a:r>
              <a:rPr sz="1000" b="0" i="0">
                <a:solidFill>
                  <a:srgbClr val="CCCCCC"/>
                </a:solidFill>
                <a:latin typeface="Calibri"/>
              </a:rPr>
              <a:t>SBA EIDL (Acct 2712)</a:t>
            </a:r>
          </a:p>
        </p:txBody>
      </p:sp>
      <p:sp>
        <p:nvSpPr>
          <p:cNvPr id="34" name="TextBox 33"/>
          <p:cNvSpPr txBox="1"/>
          <p:nvPr/>
        </p:nvSpPr>
        <p:spPr>
          <a:xfrm>
            <a:off x="7351775" y="1810512"/>
            <a:ext cx="1527047" cy="205740"/>
          </a:xfrm>
          <a:prstGeom prst="rect">
            <a:avLst/>
          </a:prstGeom>
          <a:noFill/>
        </p:spPr>
        <p:txBody>
          <a:bodyPr wrap="square">
            <a:spAutoFit/>
          </a:bodyPr>
          <a:lstStyle/>
          <a:p>
            <a:pPr algn="r"/>
            <a:r>
              <a:rPr sz="1000" b="1" i="0">
                <a:solidFill>
                  <a:srgbClr val="FF6666"/>
                </a:solidFill>
                <a:latin typeface="Calibri"/>
              </a:rPr>
              <a:t>$132,072</a:t>
            </a:r>
          </a:p>
        </p:txBody>
      </p:sp>
      <p:sp>
        <p:nvSpPr>
          <p:cNvPr id="35" name="TextBox 34"/>
          <p:cNvSpPr txBox="1"/>
          <p:nvPr/>
        </p:nvSpPr>
        <p:spPr>
          <a:xfrm>
            <a:off x="4517136" y="2034540"/>
            <a:ext cx="2926080" cy="205740"/>
          </a:xfrm>
          <a:prstGeom prst="rect">
            <a:avLst/>
          </a:prstGeom>
          <a:noFill/>
        </p:spPr>
        <p:txBody>
          <a:bodyPr wrap="square">
            <a:spAutoFit/>
          </a:bodyPr>
          <a:lstStyle/>
          <a:p>
            <a:pPr algn="l"/>
            <a:r>
              <a:rPr sz="1000" b="0" i="0">
                <a:solidFill>
                  <a:srgbClr val="CCCCCC"/>
                </a:solidFill>
                <a:latin typeface="Calibri"/>
              </a:rPr>
              <a:t>Wertz loan (Acct 2714)</a:t>
            </a:r>
          </a:p>
        </p:txBody>
      </p:sp>
      <p:sp>
        <p:nvSpPr>
          <p:cNvPr id="36" name="TextBox 35"/>
          <p:cNvSpPr txBox="1"/>
          <p:nvPr/>
        </p:nvSpPr>
        <p:spPr>
          <a:xfrm>
            <a:off x="7351775" y="2034540"/>
            <a:ext cx="1527047" cy="205740"/>
          </a:xfrm>
          <a:prstGeom prst="rect">
            <a:avLst/>
          </a:prstGeom>
          <a:noFill/>
        </p:spPr>
        <p:txBody>
          <a:bodyPr wrap="square">
            <a:spAutoFit/>
          </a:bodyPr>
          <a:lstStyle/>
          <a:p>
            <a:pPr algn="r"/>
            <a:r>
              <a:rPr sz="1000" b="1" i="0">
                <a:solidFill>
                  <a:srgbClr val="FF6666"/>
                </a:solidFill>
                <a:latin typeface="Calibri"/>
              </a:rPr>
              <a:t>$92,500</a:t>
            </a:r>
          </a:p>
        </p:txBody>
      </p:sp>
      <p:sp>
        <p:nvSpPr>
          <p:cNvPr id="37" name="TextBox 36"/>
          <p:cNvSpPr txBox="1"/>
          <p:nvPr/>
        </p:nvSpPr>
        <p:spPr>
          <a:xfrm>
            <a:off x="4517136" y="2258568"/>
            <a:ext cx="2926080" cy="205740"/>
          </a:xfrm>
          <a:prstGeom prst="rect">
            <a:avLst/>
          </a:prstGeom>
          <a:noFill/>
        </p:spPr>
        <p:txBody>
          <a:bodyPr wrap="square">
            <a:spAutoFit/>
          </a:bodyPr>
          <a:lstStyle/>
          <a:p>
            <a:pPr algn="l"/>
            <a:r>
              <a:rPr sz="1000" b="0" i="0">
                <a:solidFill>
                  <a:srgbClr val="CCCCCC"/>
                </a:solidFill>
                <a:latin typeface="Calibri"/>
              </a:rPr>
              <a:t>Exos loan (11%; stands)</a:t>
            </a:r>
          </a:p>
        </p:txBody>
      </p:sp>
      <p:sp>
        <p:nvSpPr>
          <p:cNvPr id="38" name="TextBox 37"/>
          <p:cNvSpPr txBox="1"/>
          <p:nvPr/>
        </p:nvSpPr>
        <p:spPr>
          <a:xfrm>
            <a:off x="7351775" y="2258568"/>
            <a:ext cx="1527047" cy="205740"/>
          </a:xfrm>
          <a:prstGeom prst="rect">
            <a:avLst/>
          </a:prstGeom>
          <a:noFill/>
        </p:spPr>
        <p:txBody>
          <a:bodyPr wrap="square">
            <a:spAutoFit/>
          </a:bodyPr>
          <a:lstStyle/>
          <a:p>
            <a:pPr algn="r"/>
            <a:r>
              <a:rPr sz="1000" b="1" i="0">
                <a:solidFill>
                  <a:srgbClr val="F26A21"/>
                </a:solidFill>
                <a:latin typeface="Calibri"/>
              </a:rPr>
              <a:t>$31,200 (~$38K+int)</a:t>
            </a:r>
          </a:p>
        </p:txBody>
      </p:sp>
      <p:sp>
        <p:nvSpPr>
          <p:cNvPr id="39" name="Rectangle 38"/>
          <p:cNvSpPr/>
          <p:nvPr/>
        </p:nvSpPr>
        <p:spPr>
          <a:xfrm>
            <a:off x="4517136" y="2555748"/>
            <a:ext cx="4389120" cy="1371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498848" y="2539746"/>
            <a:ext cx="2926080" cy="205740"/>
          </a:xfrm>
          <a:prstGeom prst="rect">
            <a:avLst/>
          </a:prstGeom>
          <a:noFill/>
        </p:spPr>
        <p:txBody>
          <a:bodyPr wrap="square">
            <a:spAutoFit/>
          </a:bodyPr>
          <a:lstStyle/>
          <a:p>
            <a:pPr algn="l"/>
            <a:r>
              <a:rPr sz="1000" b="0" i="0" dirty="0">
                <a:solidFill>
                  <a:srgbClr val="CCCCCC"/>
                </a:solidFill>
                <a:latin typeface="Calibri"/>
              </a:rPr>
              <a:t>Total liabilities (10/11)</a:t>
            </a:r>
          </a:p>
        </p:txBody>
      </p:sp>
      <p:sp>
        <p:nvSpPr>
          <p:cNvPr id="41" name="TextBox 40"/>
          <p:cNvSpPr txBox="1"/>
          <p:nvPr/>
        </p:nvSpPr>
        <p:spPr>
          <a:xfrm>
            <a:off x="7379209" y="2526577"/>
            <a:ext cx="1527047" cy="205740"/>
          </a:xfrm>
          <a:prstGeom prst="rect">
            <a:avLst/>
          </a:prstGeom>
          <a:noFill/>
        </p:spPr>
        <p:txBody>
          <a:bodyPr wrap="square">
            <a:spAutoFit/>
          </a:bodyPr>
          <a:lstStyle/>
          <a:p>
            <a:pPr algn="r"/>
            <a:r>
              <a:rPr sz="1000" b="1" i="0" dirty="0">
                <a:solidFill>
                  <a:srgbClr val="FF6666"/>
                </a:solidFill>
                <a:latin typeface="Calibri"/>
              </a:rPr>
              <a:t>$1,296,521</a:t>
            </a:r>
          </a:p>
        </p:txBody>
      </p:sp>
      <p:sp>
        <p:nvSpPr>
          <p:cNvPr id="47" name="TextBox 46"/>
          <p:cNvSpPr txBox="1"/>
          <p:nvPr/>
        </p:nvSpPr>
        <p:spPr>
          <a:xfrm>
            <a:off x="1554480" y="4809744"/>
            <a:ext cx="6035040" cy="201168"/>
          </a:xfrm>
          <a:prstGeom prst="rect">
            <a:avLst/>
          </a:prstGeom>
          <a:noFill/>
        </p:spPr>
        <p:txBody>
          <a:bodyPr wrap="square">
            <a:spAutoFit/>
          </a:bodyPr>
          <a:lstStyle/>
          <a:p>
            <a:pPr algn="ctr"/>
            <a:r>
              <a:rPr sz="1000" b="0" i="1">
                <a:solidFill>
                  <a:srgbClr val="888888"/>
                </a:solidFill>
                <a:latin typeface="Calibri"/>
              </a:rPr>
              <a:t>DRAFT — NEGOTIATING TERMS</a:t>
            </a:r>
          </a:p>
        </p:txBody>
      </p:sp>
      <p:sp>
        <p:nvSpPr>
          <p:cNvPr id="48" name="TextBox 47"/>
          <p:cNvSpPr txBox="1"/>
          <p:nvPr/>
        </p:nvSpPr>
        <p:spPr>
          <a:xfrm>
            <a:off x="7772400" y="4809744"/>
            <a:ext cx="1143000" cy="201168"/>
          </a:xfrm>
          <a:prstGeom prst="rect">
            <a:avLst/>
          </a:prstGeom>
          <a:noFill/>
        </p:spPr>
        <p:txBody>
          <a:bodyPr wrap="square">
            <a:spAutoFit/>
          </a:bodyPr>
          <a:lstStyle/>
          <a:p>
            <a:pPr algn="r"/>
            <a:r>
              <a:rPr sz="1000" b="0" i="1">
                <a:solidFill>
                  <a:srgbClr val="888888"/>
                </a:solidFill>
                <a:latin typeface="Calibri"/>
              </a:rPr>
              <a:t>CONFIDENTIAL</a:t>
            </a:r>
          </a:p>
        </p:txBody>
      </p:sp>
      <p:sp>
        <p:nvSpPr>
          <p:cNvPr id="49" name="Rectangle 48"/>
          <p:cNvSpPr/>
          <p:nvPr/>
        </p:nvSpPr>
        <p:spPr>
          <a:xfrm>
            <a:off x="329184" y="2679191"/>
            <a:ext cx="2459736" cy="1371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19456" y="2697479"/>
            <a:ext cx="2514600" cy="205740"/>
          </a:xfrm>
          <a:prstGeom prst="rect">
            <a:avLst/>
          </a:prstGeom>
          <a:noFill/>
        </p:spPr>
        <p:txBody>
          <a:bodyPr wrap="none">
            <a:spAutoFit/>
          </a:bodyPr>
          <a:lstStyle/>
          <a:p>
            <a:r>
              <a:rPr sz="1000" b="0">
                <a:solidFill>
                  <a:srgbClr val="CCCCCC"/>
                </a:solidFill>
                <a:latin typeface="Calibri"/>
              </a:rPr>
              <a:t>Total equity (10/11/2026)</a:t>
            </a:r>
          </a:p>
        </p:txBody>
      </p:sp>
      <p:sp>
        <p:nvSpPr>
          <p:cNvPr id="51" name="TextBox 50"/>
          <p:cNvSpPr txBox="1"/>
          <p:nvPr/>
        </p:nvSpPr>
        <p:spPr>
          <a:xfrm>
            <a:off x="2752344" y="2697479"/>
            <a:ext cx="1481328" cy="205740"/>
          </a:xfrm>
          <a:prstGeom prst="rect">
            <a:avLst/>
          </a:prstGeom>
          <a:noFill/>
        </p:spPr>
        <p:txBody>
          <a:bodyPr wrap="none">
            <a:spAutoFit/>
          </a:bodyPr>
          <a:lstStyle/>
          <a:p>
            <a:pPr algn="r"/>
            <a:r>
              <a:rPr sz="1000" b="1">
                <a:solidFill>
                  <a:srgbClr val="FF6666"/>
                </a:solidFill>
                <a:latin typeface="Calibri"/>
              </a:rPr>
              <a:t>−$1,443,882</a:t>
            </a:r>
          </a:p>
        </p:txBody>
      </p:sp>
      <p:sp>
        <p:nvSpPr>
          <p:cNvPr id="52" name="TextBox 51"/>
          <p:cNvSpPr txBox="1"/>
          <p:nvPr/>
        </p:nvSpPr>
        <p:spPr>
          <a:xfrm>
            <a:off x="4517136" y="2720340"/>
            <a:ext cx="4224528" cy="160020"/>
          </a:xfrm>
          <a:prstGeom prst="rect">
            <a:avLst/>
          </a:prstGeom>
          <a:noFill/>
        </p:spPr>
        <p:txBody>
          <a:bodyPr wrap="square">
            <a:spAutoFit/>
          </a:bodyPr>
          <a:lstStyle/>
          <a:p>
            <a:r>
              <a:rPr lang="en-US" sz="1000" i="1" dirty="0">
                <a:solidFill>
                  <a:srgbClr val="888888"/>
                </a:solidFill>
                <a:latin typeface="Calibri"/>
              </a:rPr>
              <a:t>Exos loan: $31,200 at 11%; board denied cancellation — loan stands. Total invested: $790,000 for 18.06% (157,553 shares).</a:t>
            </a:r>
          </a:p>
        </p:txBody>
      </p:sp>
      <p:sp>
        <p:nvSpPr>
          <p:cNvPr id="53" name="TextBox 52"/>
          <p:cNvSpPr txBox="1"/>
          <p:nvPr/>
        </p:nvSpPr>
        <p:spPr>
          <a:xfrm>
            <a:off x="292608" y="3630168"/>
            <a:ext cx="8229600" cy="201168"/>
          </a:xfrm>
          <a:prstGeom prst="rect">
            <a:avLst/>
          </a:prstGeom>
          <a:noFill/>
        </p:spPr>
        <p:txBody>
          <a:bodyPr wrap="none" anchor="ctr">
            <a:spAutoFit/>
          </a:bodyPr>
          <a:lstStyle/>
          <a:p>
            <a:r>
              <a:rPr lang="en-US" sz="1000" dirty="0">
                <a:solidFill>
                  <a:srgbClr val="F26A21"/>
                </a:solidFill>
                <a:latin typeface="Calibri"/>
              </a:rPr>
              <a:t>Exos reconciliation of SSLC's books (Motions 2 &amp; 3)  —  see next slide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0292"/>
            <a:ext cx="9144000" cy="4572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6032" y="73152"/>
            <a:ext cx="8631936" cy="402336"/>
          </a:xfrm>
          <a:prstGeom prst="rect">
            <a:avLst/>
          </a:prstGeom>
          <a:noFill/>
        </p:spPr>
        <p:txBody>
          <a:bodyPr wrap="none" anchor="ctr">
            <a:spAutoFit/>
          </a:bodyPr>
          <a:lstStyle/>
          <a:p>
            <a:r>
              <a:rPr lang="en-US" sz="1800" b="1" dirty="0">
                <a:solidFill>
                  <a:srgbClr val="FFFFFF"/>
                </a:solidFill>
                <a:latin typeface="Calibri"/>
              </a:rPr>
              <a:t>Exos Reconciliation of SSLC’s Books: As Booked vs. Adjusted</a:t>
            </a:r>
          </a:p>
        </p:txBody>
      </p:sp>
      <p:sp>
        <p:nvSpPr>
          <p:cNvPr id="6" name="TextBox 5"/>
          <p:cNvSpPr txBox="1"/>
          <p:nvPr/>
        </p:nvSpPr>
        <p:spPr>
          <a:xfrm>
            <a:off x="1554480" y="4956048"/>
            <a:ext cx="6035040" cy="164592"/>
          </a:xfrm>
          <a:prstGeom prst="rect">
            <a:avLst/>
          </a:prstGeom>
          <a:noFill/>
        </p:spPr>
        <p:txBody>
          <a:bodyPr wrap="none" anchor="ctr">
            <a:spAutoFit/>
          </a:bodyPr>
          <a:lstStyle/>
          <a:p>
            <a:r>
              <a:rPr lang="en-US" sz="1000" b="1" dirty="0">
                <a:solidFill>
                  <a:srgbClr val="F26A21"/>
                </a:solidFill>
                <a:latin typeface="Calibri"/>
              </a:rPr>
              <a:t>DRAFT — NEGOTIATING TERMS</a:t>
            </a:r>
          </a:p>
        </p:txBody>
      </p:sp>
      <p:sp>
        <p:nvSpPr>
          <p:cNvPr id="7" name="TextBox 6"/>
          <p:cNvSpPr txBox="1"/>
          <p:nvPr/>
        </p:nvSpPr>
        <p:spPr>
          <a:xfrm>
            <a:off x="7772400" y="4956048"/>
            <a:ext cx="1143000" cy="164592"/>
          </a:xfrm>
          <a:prstGeom prst="rect">
            <a:avLst/>
          </a:prstGeom>
          <a:noFill/>
        </p:spPr>
        <p:txBody>
          <a:bodyPr wrap="none" anchor="ctr">
            <a:spAutoFit/>
          </a:bodyPr>
          <a:lstStyle/>
          <a:p>
            <a:r>
              <a:rPr lang="en-US" sz="1000" dirty="0">
                <a:solidFill>
                  <a:srgbClr val="888888"/>
                </a:solidFill>
                <a:latin typeface="Calibri"/>
              </a:rPr>
              <a:t>CONFIDENTIAL</a:t>
            </a:r>
          </a:p>
        </p:txBody>
      </p:sp>
      <p:sp>
        <p:nvSpPr>
          <p:cNvPr id="8" name="TextBox 7"/>
          <p:cNvSpPr txBox="1"/>
          <p:nvPr/>
        </p:nvSpPr>
        <p:spPr>
          <a:xfrm>
            <a:off x="256032" y="566928"/>
            <a:ext cx="1737360" cy="292608"/>
          </a:xfrm>
          <a:prstGeom prst="rect">
            <a:avLst/>
          </a:prstGeom>
          <a:noFill/>
        </p:spPr>
        <p:txBody>
          <a:bodyPr wrap="none" anchor="ctr">
            <a:spAutoFit/>
          </a:bodyPr>
          <a:lstStyle/>
          <a:p>
            <a:r>
              <a:rPr lang="en-US" sz="1000" b="1" dirty="0">
                <a:solidFill>
                  <a:srgbClr val="F26A21"/>
                </a:solidFill>
                <a:latin typeface="Calibri"/>
              </a:rPr>
              <a:t>Account</a:t>
            </a:r>
          </a:p>
        </p:txBody>
      </p:sp>
      <p:sp>
        <p:nvSpPr>
          <p:cNvPr id="9" name="TextBox 8"/>
          <p:cNvSpPr txBox="1"/>
          <p:nvPr/>
        </p:nvSpPr>
        <p:spPr>
          <a:xfrm>
            <a:off x="2057400" y="566928"/>
            <a:ext cx="1280160" cy="292608"/>
          </a:xfrm>
          <a:prstGeom prst="rect">
            <a:avLst/>
          </a:prstGeom>
          <a:noFill/>
        </p:spPr>
        <p:txBody>
          <a:bodyPr wrap="none" anchor="ctr">
            <a:spAutoFit/>
          </a:bodyPr>
          <a:lstStyle/>
          <a:p>
            <a:r>
              <a:rPr lang="en-US" sz="1000" b="1" dirty="0">
                <a:solidFill>
                  <a:srgbClr val="F26A21"/>
                </a:solidFill>
                <a:latin typeface="Calibri"/>
              </a:rPr>
              <a:t>As Booked
10/11/26</a:t>
            </a:r>
          </a:p>
        </p:txBody>
      </p:sp>
      <p:sp>
        <p:nvSpPr>
          <p:cNvPr id="10" name="TextBox 9"/>
          <p:cNvSpPr txBox="1"/>
          <p:nvPr/>
        </p:nvSpPr>
        <p:spPr>
          <a:xfrm>
            <a:off x="3429000" y="566928"/>
            <a:ext cx="1143000" cy="292608"/>
          </a:xfrm>
          <a:prstGeom prst="rect">
            <a:avLst/>
          </a:prstGeom>
          <a:noFill/>
        </p:spPr>
        <p:txBody>
          <a:bodyPr wrap="none" anchor="ctr">
            <a:spAutoFit/>
          </a:bodyPr>
          <a:lstStyle/>
          <a:p>
            <a:r>
              <a:rPr lang="en-US" sz="1000" b="1" dirty="0">
                <a:solidFill>
                  <a:srgbClr val="F26A21"/>
                </a:solidFill>
                <a:latin typeface="Calibri"/>
              </a:rPr>
              <a:t>Exos
Adjusted</a:t>
            </a:r>
          </a:p>
        </p:txBody>
      </p:sp>
      <p:sp>
        <p:nvSpPr>
          <p:cNvPr id="11" name="TextBox 10"/>
          <p:cNvSpPr txBox="1"/>
          <p:nvPr/>
        </p:nvSpPr>
        <p:spPr>
          <a:xfrm>
            <a:off x="4663440" y="566928"/>
            <a:ext cx="1143000" cy="292608"/>
          </a:xfrm>
          <a:prstGeom prst="rect">
            <a:avLst/>
          </a:prstGeom>
          <a:noFill/>
        </p:spPr>
        <p:txBody>
          <a:bodyPr wrap="none" anchor="ctr">
            <a:spAutoFit/>
          </a:bodyPr>
          <a:lstStyle/>
          <a:p>
            <a:r>
              <a:rPr lang="en-US" sz="1000" b="1" dirty="0">
                <a:solidFill>
                  <a:srgbClr val="F26A21"/>
                </a:solidFill>
                <a:latin typeface="Calibri"/>
              </a:rPr>
              <a:t>Equity
Impact</a:t>
            </a:r>
          </a:p>
        </p:txBody>
      </p:sp>
      <p:sp>
        <p:nvSpPr>
          <p:cNvPr id="12" name="TextBox 11"/>
          <p:cNvSpPr txBox="1"/>
          <p:nvPr/>
        </p:nvSpPr>
        <p:spPr>
          <a:xfrm>
            <a:off x="5897880" y="566928"/>
            <a:ext cx="3108960" cy="292608"/>
          </a:xfrm>
          <a:prstGeom prst="rect">
            <a:avLst/>
          </a:prstGeom>
          <a:noFill/>
        </p:spPr>
        <p:txBody>
          <a:bodyPr wrap="none" anchor="ctr">
            <a:spAutoFit/>
          </a:bodyPr>
          <a:lstStyle/>
          <a:p>
            <a:r>
              <a:rPr lang="en-US" sz="1000" b="1" dirty="0">
                <a:solidFill>
                  <a:srgbClr val="F26A21"/>
                </a:solidFill>
                <a:latin typeface="Calibri"/>
              </a:rPr>
              <a:t>Basis</a:t>
            </a:r>
          </a:p>
        </p:txBody>
      </p:sp>
      <p:sp>
        <p:nvSpPr>
          <p:cNvPr id="13" name="Rectangle 12"/>
          <p:cNvSpPr/>
          <p:nvPr/>
        </p:nvSpPr>
        <p:spPr>
          <a:xfrm>
            <a:off x="256032" y="859536"/>
            <a:ext cx="8796528" cy="64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6032" y="877824"/>
            <a:ext cx="1737360" cy="155448"/>
          </a:xfrm>
          <a:prstGeom prst="rect">
            <a:avLst/>
          </a:prstGeom>
          <a:noFill/>
        </p:spPr>
        <p:txBody>
          <a:bodyPr wrap="none" anchor="ctr">
            <a:spAutoFit/>
          </a:bodyPr>
          <a:lstStyle/>
          <a:p>
            <a:r>
              <a:rPr lang="en-US" sz="1000" dirty="0">
                <a:solidFill>
                  <a:srgbClr val="CCCCCC"/>
                </a:solidFill>
                <a:latin typeface="Calibri"/>
              </a:rPr>
              <a:t>1110 AR Unbilled</a:t>
            </a:r>
          </a:p>
        </p:txBody>
      </p:sp>
      <p:sp>
        <p:nvSpPr>
          <p:cNvPr id="15" name="TextBox 14"/>
          <p:cNvSpPr txBox="1"/>
          <p:nvPr/>
        </p:nvSpPr>
        <p:spPr>
          <a:xfrm>
            <a:off x="2057400" y="877824"/>
            <a:ext cx="1280160" cy="155448"/>
          </a:xfrm>
          <a:prstGeom prst="rect">
            <a:avLst/>
          </a:prstGeom>
          <a:noFill/>
        </p:spPr>
        <p:txBody>
          <a:bodyPr wrap="none" anchor="ctr">
            <a:spAutoFit/>
          </a:bodyPr>
          <a:lstStyle/>
          <a:p>
            <a:r>
              <a:rPr lang="en-US" sz="1000" dirty="0">
                <a:solidFill>
                  <a:srgbClr val="CCCCCC"/>
                </a:solidFill>
                <a:latin typeface="Calibri"/>
              </a:rPr>
              <a:t>$942,177</a:t>
            </a:r>
          </a:p>
        </p:txBody>
      </p:sp>
      <p:sp>
        <p:nvSpPr>
          <p:cNvPr id="16" name="TextBox 15"/>
          <p:cNvSpPr txBox="1"/>
          <p:nvPr/>
        </p:nvSpPr>
        <p:spPr>
          <a:xfrm>
            <a:off x="3429000" y="877824"/>
            <a:ext cx="1143000" cy="155448"/>
          </a:xfrm>
          <a:prstGeom prst="rect">
            <a:avLst/>
          </a:prstGeom>
          <a:noFill/>
        </p:spPr>
        <p:txBody>
          <a:bodyPr wrap="none" anchor="ctr">
            <a:spAutoFit/>
          </a:bodyPr>
          <a:lstStyle/>
          <a:p>
            <a:r>
              <a:rPr lang="en-US" sz="1000" dirty="0">
                <a:solidFill>
                  <a:srgbClr val="CCCCCC"/>
                </a:solidFill>
                <a:latin typeface="Calibri"/>
              </a:rPr>
              <a:t>$100K–$250K</a:t>
            </a:r>
          </a:p>
        </p:txBody>
      </p:sp>
      <p:sp>
        <p:nvSpPr>
          <p:cNvPr id="17" name="TextBox 16"/>
          <p:cNvSpPr txBox="1"/>
          <p:nvPr/>
        </p:nvSpPr>
        <p:spPr>
          <a:xfrm>
            <a:off x="4663440" y="877824"/>
            <a:ext cx="1143000" cy="155448"/>
          </a:xfrm>
          <a:prstGeom prst="rect">
            <a:avLst/>
          </a:prstGeom>
          <a:noFill/>
        </p:spPr>
        <p:txBody>
          <a:bodyPr wrap="none" anchor="ctr">
            <a:spAutoFit/>
          </a:bodyPr>
          <a:lstStyle/>
          <a:p>
            <a:r>
              <a:rPr lang="en-US" sz="1000" dirty="0">
                <a:solidFill>
                  <a:srgbClr val="44BB44"/>
                </a:solidFill>
                <a:latin typeface="Calibri"/>
              </a:rPr>
              <a:t>+$692K–+$842K</a:t>
            </a:r>
          </a:p>
        </p:txBody>
      </p:sp>
      <p:sp>
        <p:nvSpPr>
          <p:cNvPr id="18" name="TextBox 17"/>
          <p:cNvSpPr txBox="1"/>
          <p:nvPr/>
        </p:nvSpPr>
        <p:spPr>
          <a:xfrm>
            <a:off x="5897880" y="877824"/>
            <a:ext cx="3108960" cy="155448"/>
          </a:xfrm>
          <a:prstGeom prst="rect">
            <a:avLst/>
          </a:prstGeom>
          <a:noFill/>
        </p:spPr>
        <p:txBody>
          <a:bodyPr wrap="none" anchor="ctr">
            <a:spAutoFit/>
          </a:bodyPr>
          <a:lstStyle/>
          <a:p>
            <a:r>
              <a:rPr lang="en-US" sz="1000" dirty="0">
                <a:solidFill>
                  <a:srgbClr val="CCCCCC"/>
                </a:solidFill>
                <a:latin typeface="Calibri"/>
              </a:rPr>
              <a:t>Undocumented / unsubstantiated billings (Motion 3)</a:t>
            </a:r>
          </a:p>
        </p:txBody>
      </p:sp>
      <p:sp>
        <p:nvSpPr>
          <p:cNvPr id="19" name="TextBox 18"/>
          <p:cNvSpPr txBox="1"/>
          <p:nvPr/>
        </p:nvSpPr>
        <p:spPr>
          <a:xfrm>
            <a:off x="91440" y="1042415"/>
            <a:ext cx="137160" cy="155448"/>
          </a:xfrm>
          <a:prstGeom prst="rect">
            <a:avLst/>
          </a:prstGeom>
          <a:noFill/>
        </p:spPr>
        <p:txBody>
          <a:bodyPr wrap="none" anchor="ctr">
            <a:spAutoFit/>
          </a:bodyPr>
          <a:lstStyle/>
          <a:p>
            <a:r>
              <a:rPr lang="en-US" sz="1000" b="1" dirty="0">
                <a:solidFill>
                  <a:srgbClr val="F26A21"/>
                </a:solidFill>
                <a:latin typeface="Calibri"/>
              </a:rPr>
              <a:t>M3</a:t>
            </a:r>
          </a:p>
        </p:txBody>
      </p:sp>
      <p:sp>
        <p:nvSpPr>
          <p:cNvPr id="20" name="TextBox 19"/>
          <p:cNvSpPr txBox="1"/>
          <p:nvPr/>
        </p:nvSpPr>
        <p:spPr>
          <a:xfrm>
            <a:off x="256032" y="1042415"/>
            <a:ext cx="1737360" cy="155448"/>
          </a:xfrm>
          <a:prstGeom prst="rect">
            <a:avLst/>
          </a:prstGeom>
          <a:noFill/>
        </p:spPr>
        <p:txBody>
          <a:bodyPr wrap="none" anchor="ctr">
            <a:spAutoFit/>
          </a:bodyPr>
          <a:lstStyle/>
          <a:p>
            <a:r>
              <a:rPr lang="en-US" sz="1000" dirty="0">
                <a:solidFill>
                  <a:srgbClr val="FFFFFF"/>
                </a:solidFill>
                <a:latin typeface="Calibri"/>
              </a:rPr>
              <a:t>2385 Due to Microcosm</a:t>
            </a:r>
          </a:p>
        </p:txBody>
      </p:sp>
      <p:sp>
        <p:nvSpPr>
          <p:cNvPr id="21" name="TextBox 20"/>
          <p:cNvSpPr txBox="1"/>
          <p:nvPr/>
        </p:nvSpPr>
        <p:spPr>
          <a:xfrm>
            <a:off x="2057400" y="1042415"/>
            <a:ext cx="1280160" cy="155448"/>
          </a:xfrm>
          <a:prstGeom prst="rect">
            <a:avLst/>
          </a:prstGeom>
          <a:noFill/>
        </p:spPr>
        <p:txBody>
          <a:bodyPr wrap="none" anchor="ctr">
            <a:spAutoFit/>
          </a:bodyPr>
          <a:lstStyle/>
          <a:p>
            <a:r>
              <a:rPr lang="en-US" sz="1000" dirty="0">
                <a:solidFill>
                  <a:srgbClr val="FFFFFF"/>
                </a:solidFill>
                <a:latin typeface="Calibri"/>
              </a:rPr>
              <a:t>$451,429</a:t>
            </a:r>
          </a:p>
        </p:txBody>
      </p:sp>
      <p:sp>
        <p:nvSpPr>
          <p:cNvPr id="22" name="TextBox 21"/>
          <p:cNvSpPr txBox="1"/>
          <p:nvPr/>
        </p:nvSpPr>
        <p:spPr>
          <a:xfrm>
            <a:off x="3429000" y="1042415"/>
            <a:ext cx="1143000" cy="155448"/>
          </a:xfrm>
          <a:prstGeom prst="rect">
            <a:avLst/>
          </a:prstGeom>
          <a:noFill/>
        </p:spPr>
        <p:txBody>
          <a:bodyPr wrap="none" anchor="ctr">
            <a:spAutoFit/>
          </a:bodyPr>
          <a:lstStyle/>
          <a:p>
            <a:r>
              <a:rPr lang="en-US" sz="1000" dirty="0">
                <a:solidFill>
                  <a:srgbClr val="FFFFFF"/>
                </a:solidFill>
                <a:latin typeface="Calibri"/>
              </a:rPr>
              <a:t>~$100,429</a:t>
            </a:r>
          </a:p>
        </p:txBody>
      </p:sp>
      <p:sp>
        <p:nvSpPr>
          <p:cNvPr id="23" name="TextBox 22"/>
          <p:cNvSpPr txBox="1"/>
          <p:nvPr/>
        </p:nvSpPr>
        <p:spPr>
          <a:xfrm>
            <a:off x="4663440" y="1042415"/>
            <a:ext cx="1143000" cy="155448"/>
          </a:xfrm>
          <a:prstGeom prst="rect">
            <a:avLst/>
          </a:prstGeom>
          <a:noFill/>
        </p:spPr>
        <p:txBody>
          <a:bodyPr wrap="none" anchor="ctr">
            <a:spAutoFit/>
          </a:bodyPr>
          <a:lstStyle/>
          <a:p>
            <a:r>
              <a:rPr lang="en-US" sz="1000" dirty="0">
                <a:solidFill>
                  <a:srgbClr val="44BB44"/>
                </a:solidFill>
                <a:latin typeface="Calibri"/>
              </a:rPr>
              <a:t>+$351,000</a:t>
            </a:r>
          </a:p>
        </p:txBody>
      </p:sp>
      <p:sp>
        <p:nvSpPr>
          <p:cNvPr id="24" name="TextBox 23"/>
          <p:cNvSpPr txBox="1"/>
          <p:nvPr/>
        </p:nvSpPr>
        <p:spPr>
          <a:xfrm>
            <a:off x="5897880" y="1042415"/>
            <a:ext cx="3108960" cy="155448"/>
          </a:xfrm>
          <a:prstGeom prst="rect">
            <a:avLst/>
          </a:prstGeom>
          <a:noFill/>
        </p:spPr>
        <p:txBody>
          <a:bodyPr wrap="none" anchor="ctr">
            <a:spAutoFit/>
          </a:bodyPr>
          <a:lstStyle/>
          <a:p>
            <a:r>
              <a:rPr lang="en-US" sz="1000" dirty="0">
                <a:solidFill>
                  <a:srgbClr val="FFFFFF"/>
                </a:solidFill>
                <a:latin typeface="Calibri"/>
              </a:rPr>
              <a:t>Rent+util credit 50%, Jul ’24–Aug ’26</a:t>
            </a:r>
          </a:p>
        </p:txBody>
      </p:sp>
      <p:sp>
        <p:nvSpPr>
          <p:cNvPr id="25" name="TextBox 24"/>
          <p:cNvSpPr txBox="1"/>
          <p:nvPr/>
        </p:nvSpPr>
        <p:spPr>
          <a:xfrm>
            <a:off x="91440" y="1207008"/>
            <a:ext cx="137160" cy="155448"/>
          </a:xfrm>
          <a:prstGeom prst="rect">
            <a:avLst/>
          </a:prstGeom>
          <a:noFill/>
        </p:spPr>
        <p:txBody>
          <a:bodyPr wrap="none" anchor="ctr">
            <a:spAutoFit/>
          </a:bodyPr>
          <a:lstStyle/>
          <a:p>
            <a:r>
              <a:rPr lang="en-US" sz="1000" b="1" dirty="0">
                <a:solidFill>
                  <a:srgbClr val="F26A21"/>
                </a:solidFill>
                <a:latin typeface="Calibri"/>
              </a:rPr>
              <a:t>S1</a:t>
            </a:r>
          </a:p>
        </p:txBody>
      </p:sp>
      <p:sp>
        <p:nvSpPr>
          <p:cNvPr id="26" name="TextBox 25"/>
          <p:cNvSpPr txBox="1"/>
          <p:nvPr/>
        </p:nvSpPr>
        <p:spPr>
          <a:xfrm>
            <a:off x="256032" y="1207008"/>
            <a:ext cx="1737360" cy="155448"/>
          </a:xfrm>
          <a:prstGeom prst="rect">
            <a:avLst/>
          </a:prstGeom>
          <a:noFill/>
        </p:spPr>
        <p:txBody>
          <a:bodyPr wrap="none" anchor="ctr">
            <a:spAutoFit/>
          </a:bodyPr>
          <a:lstStyle/>
          <a:p>
            <a:r>
              <a:rPr lang="en-US" sz="1000" dirty="0">
                <a:solidFill>
                  <a:srgbClr val="FFFFFF"/>
                </a:solidFill>
                <a:latin typeface="Calibri"/>
              </a:rPr>
              <a:t>2700 Bookstore note</a:t>
            </a:r>
          </a:p>
        </p:txBody>
      </p:sp>
      <p:sp>
        <p:nvSpPr>
          <p:cNvPr id="27" name="TextBox 26"/>
          <p:cNvSpPr txBox="1"/>
          <p:nvPr/>
        </p:nvSpPr>
        <p:spPr>
          <a:xfrm>
            <a:off x="2057400" y="1207008"/>
            <a:ext cx="1280160" cy="155448"/>
          </a:xfrm>
          <a:prstGeom prst="rect">
            <a:avLst/>
          </a:prstGeom>
          <a:noFill/>
        </p:spPr>
        <p:txBody>
          <a:bodyPr wrap="none" anchor="ctr">
            <a:spAutoFit/>
          </a:bodyPr>
          <a:lstStyle/>
          <a:p>
            <a:r>
              <a:rPr lang="en-US" sz="1000" dirty="0">
                <a:solidFill>
                  <a:srgbClr val="FFFFFF"/>
                </a:solidFill>
                <a:latin typeface="Calibri"/>
              </a:rPr>
              <a:t>$320,582</a:t>
            </a:r>
          </a:p>
        </p:txBody>
      </p:sp>
      <p:sp>
        <p:nvSpPr>
          <p:cNvPr id="28" name="TextBox 27"/>
          <p:cNvSpPr txBox="1"/>
          <p:nvPr/>
        </p:nvSpPr>
        <p:spPr>
          <a:xfrm>
            <a:off x="3429000" y="1207008"/>
            <a:ext cx="1143000" cy="155448"/>
          </a:xfrm>
          <a:prstGeom prst="rect">
            <a:avLst/>
          </a:prstGeom>
          <a:noFill/>
        </p:spPr>
        <p:txBody>
          <a:bodyPr wrap="none" anchor="ctr">
            <a:spAutoFit/>
          </a:bodyPr>
          <a:lstStyle/>
          <a:p>
            <a:r>
              <a:rPr lang="en-US" sz="1000" dirty="0">
                <a:solidFill>
                  <a:srgbClr val="FFFFFF"/>
                </a:solidFill>
                <a:latin typeface="Calibri"/>
              </a:rPr>
              <a:t>$223,280</a:t>
            </a:r>
          </a:p>
        </p:txBody>
      </p:sp>
      <p:sp>
        <p:nvSpPr>
          <p:cNvPr id="29" name="TextBox 28"/>
          <p:cNvSpPr txBox="1"/>
          <p:nvPr/>
        </p:nvSpPr>
        <p:spPr>
          <a:xfrm>
            <a:off x="4663440" y="1207008"/>
            <a:ext cx="1143000" cy="155448"/>
          </a:xfrm>
          <a:prstGeom prst="rect">
            <a:avLst/>
          </a:prstGeom>
          <a:noFill/>
        </p:spPr>
        <p:txBody>
          <a:bodyPr wrap="none" anchor="ctr">
            <a:spAutoFit/>
          </a:bodyPr>
          <a:lstStyle/>
          <a:p>
            <a:r>
              <a:rPr lang="en-US" sz="1000" dirty="0">
                <a:solidFill>
                  <a:srgbClr val="44BB44"/>
                </a:solidFill>
                <a:latin typeface="Calibri"/>
              </a:rPr>
              <a:t>+$97,302</a:t>
            </a:r>
          </a:p>
        </p:txBody>
      </p:sp>
      <p:sp>
        <p:nvSpPr>
          <p:cNvPr id="30" name="TextBox 29"/>
          <p:cNvSpPr txBox="1"/>
          <p:nvPr/>
        </p:nvSpPr>
        <p:spPr>
          <a:xfrm>
            <a:off x="5897880" y="1207008"/>
            <a:ext cx="3108960" cy="155448"/>
          </a:xfrm>
          <a:prstGeom prst="rect">
            <a:avLst/>
          </a:prstGeom>
          <a:noFill/>
        </p:spPr>
        <p:txBody>
          <a:bodyPr wrap="none" anchor="ctr">
            <a:spAutoFit/>
          </a:bodyPr>
          <a:lstStyle/>
          <a:p>
            <a:r>
              <a:rPr lang="en-US" sz="1000" dirty="0">
                <a:solidFill>
                  <a:srgbClr val="FFFFFF"/>
                </a:solidFill>
                <a:latin typeface="Calibri"/>
              </a:rPr>
              <a:t>Interest capitalized 4/30/26; no approval</a:t>
            </a:r>
          </a:p>
        </p:txBody>
      </p:sp>
      <p:sp>
        <p:nvSpPr>
          <p:cNvPr id="31" name="TextBox 30"/>
          <p:cNvSpPr txBox="1"/>
          <p:nvPr/>
        </p:nvSpPr>
        <p:spPr>
          <a:xfrm>
            <a:off x="91440" y="1371600"/>
            <a:ext cx="137160" cy="155448"/>
          </a:xfrm>
          <a:prstGeom prst="rect">
            <a:avLst/>
          </a:prstGeom>
          <a:noFill/>
        </p:spPr>
        <p:txBody>
          <a:bodyPr wrap="none" anchor="ctr">
            <a:spAutoFit/>
          </a:bodyPr>
          <a:lstStyle/>
          <a:p>
            <a:r>
              <a:rPr lang="en-US" sz="1000" b="1" dirty="0">
                <a:solidFill>
                  <a:srgbClr val="F26A21"/>
                </a:solidFill>
                <a:latin typeface="Calibri"/>
              </a:rPr>
              <a:t>S1</a:t>
            </a:r>
          </a:p>
        </p:txBody>
      </p:sp>
      <p:sp>
        <p:nvSpPr>
          <p:cNvPr id="32" name="TextBox 31"/>
          <p:cNvSpPr txBox="1"/>
          <p:nvPr/>
        </p:nvSpPr>
        <p:spPr>
          <a:xfrm>
            <a:off x="256032" y="1371600"/>
            <a:ext cx="1737360" cy="155448"/>
          </a:xfrm>
          <a:prstGeom prst="rect">
            <a:avLst/>
          </a:prstGeom>
          <a:noFill/>
        </p:spPr>
        <p:txBody>
          <a:bodyPr wrap="none" anchor="ctr">
            <a:spAutoFit/>
          </a:bodyPr>
          <a:lstStyle/>
          <a:p>
            <a:r>
              <a:rPr lang="en-US" sz="1000" dirty="0">
                <a:solidFill>
                  <a:srgbClr val="CCCCCC"/>
                </a:solidFill>
                <a:latin typeface="Calibri"/>
              </a:rPr>
              <a:t>1481 Loan to Microcosm</a:t>
            </a:r>
          </a:p>
        </p:txBody>
      </p:sp>
      <p:sp>
        <p:nvSpPr>
          <p:cNvPr id="33" name="TextBox 32"/>
          <p:cNvSpPr txBox="1"/>
          <p:nvPr/>
        </p:nvSpPr>
        <p:spPr>
          <a:xfrm>
            <a:off x="2057400" y="1371600"/>
            <a:ext cx="1280160" cy="155448"/>
          </a:xfrm>
          <a:prstGeom prst="rect">
            <a:avLst/>
          </a:prstGeom>
          <a:noFill/>
        </p:spPr>
        <p:txBody>
          <a:bodyPr wrap="none" anchor="ctr">
            <a:spAutoFit/>
          </a:bodyPr>
          <a:lstStyle/>
          <a:p>
            <a:r>
              <a:rPr lang="en-US" sz="1000" dirty="0">
                <a:solidFill>
                  <a:srgbClr val="CCCCCC"/>
                </a:solidFill>
                <a:latin typeface="Calibri"/>
              </a:rPr>
              <a:t>$0</a:t>
            </a:r>
          </a:p>
        </p:txBody>
      </p:sp>
      <p:sp>
        <p:nvSpPr>
          <p:cNvPr id="34" name="TextBox 33"/>
          <p:cNvSpPr txBox="1"/>
          <p:nvPr/>
        </p:nvSpPr>
        <p:spPr>
          <a:xfrm>
            <a:off x="3429000" y="1371600"/>
            <a:ext cx="1143000" cy="155448"/>
          </a:xfrm>
          <a:prstGeom prst="rect">
            <a:avLst/>
          </a:prstGeom>
          <a:noFill/>
        </p:spPr>
        <p:txBody>
          <a:bodyPr wrap="none" anchor="ctr">
            <a:spAutoFit/>
          </a:bodyPr>
          <a:lstStyle/>
          <a:p>
            <a:r>
              <a:rPr lang="en-US" sz="1000" dirty="0">
                <a:solidFill>
                  <a:srgbClr val="CCCCCC"/>
                </a:solidFill>
                <a:latin typeface="Calibri"/>
              </a:rPr>
              <a:t>up to $518,201</a:t>
            </a:r>
          </a:p>
        </p:txBody>
      </p:sp>
      <p:sp>
        <p:nvSpPr>
          <p:cNvPr id="35" name="TextBox 34"/>
          <p:cNvSpPr txBox="1"/>
          <p:nvPr/>
        </p:nvSpPr>
        <p:spPr>
          <a:xfrm>
            <a:off x="4663440" y="1371600"/>
            <a:ext cx="1143000" cy="155448"/>
          </a:xfrm>
          <a:prstGeom prst="rect">
            <a:avLst/>
          </a:prstGeom>
          <a:noFill/>
        </p:spPr>
        <p:txBody>
          <a:bodyPr wrap="none" anchor="ctr">
            <a:spAutoFit/>
          </a:bodyPr>
          <a:lstStyle/>
          <a:p>
            <a:r>
              <a:rPr lang="en-US" sz="1000" dirty="0">
                <a:solidFill>
                  <a:srgbClr val="FFCC44"/>
                </a:solidFill>
                <a:latin typeface="Calibri"/>
              </a:rPr>
              <a:t>+$518K (if unsup.)</a:t>
            </a:r>
          </a:p>
        </p:txBody>
      </p:sp>
      <p:sp>
        <p:nvSpPr>
          <p:cNvPr id="36" name="TextBox 35"/>
          <p:cNvSpPr txBox="1"/>
          <p:nvPr/>
        </p:nvSpPr>
        <p:spPr>
          <a:xfrm>
            <a:off x="5897880" y="1371600"/>
            <a:ext cx="3108960" cy="155448"/>
          </a:xfrm>
          <a:prstGeom prst="rect">
            <a:avLst/>
          </a:prstGeom>
          <a:noFill/>
        </p:spPr>
        <p:txBody>
          <a:bodyPr wrap="none" anchor="ctr">
            <a:spAutoFit/>
          </a:bodyPr>
          <a:lstStyle/>
          <a:p>
            <a:r>
              <a:rPr lang="en-US" sz="1000" dirty="0">
                <a:solidFill>
                  <a:srgbClr val="CCCCCC"/>
                </a:solidFill>
                <a:latin typeface="Calibri"/>
              </a:rPr>
              <a:t>Acct 1480; netted 6/30/25 (JEs #25925-26)</a:t>
            </a:r>
          </a:p>
        </p:txBody>
      </p:sp>
      <p:sp>
        <p:nvSpPr>
          <p:cNvPr id="37" name="TextBox 36"/>
          <p:cNvSpPr txBox="1"/>
          <p:nvPr/>
        </p:nvSpPr>
        <p:spPr>
          <a:xfrm>
            <a:off x="91440" y="1536192"/>
            <a:ext cx="137160" cy="155448"/>
          </a:xfrm>
          <a:prstGeom prst="rect">
            <a:avLst/>
          </a:prstGeom>
          <a:noFill/>
        </p:spPr>
        <p:txBody>
          <a:bodyPr wrap="none" anchor="ctr">
            <a:spAutoFit/>
          </a:bodyPr>
          <a:lstStyle/>
          <a:p>
            <a:r>
              <a:rPr lang="en-US" sz="1000" b="1" dirty="0">
                <a:solidFill>
                  <a:srgbClr val="F26A21"/>
                </a:solidFill>
                <a:latin typeface="Calibri"/>
              </a:rPr>
              <a:t>S2</a:t>
            </a:r>
          </a:p>
        </p:txBody>
      </p:sp>
      <p:sp>
        <p:nvSpPr>
          <p:cNvPr id="38" name="TextBox 37"/>
          <p:cNvSpPr txBox="1"/>
          <p:nvPr/>
        </p:nvSpPr>
        <p:spPr>
          <a:xfrm>
            <a:off x="256032" y="1536192"/>
            <a:ext cx="1737360" cy="155448"/>
          </a:xfrm>
          <a:prstGeom prst="rect">
            <a:avLst/>
          </a:prstGeom>
          <a:noFill/>
        </p:spPr>
        <p:txBody>
          <a:bodyPr wrap="none" anchor="ctr">
            <a:spAutoFit/>
          </a:bodyPr>
          <a:lstStyle/>
          <a:p>
            <a:r>
              <a:rPr lang="en-US" sz="1000" dirty="0">
                <a:solidFill>
                  <a:srgbClr val="CCCCCC"/>
                </a:solidFill>
                <a:latin typeface="Calibri"/>
              </a:rPr>
              <a:t>2701 Microcosm loan (pre-24)</a:t>
            </a:r>
          </a:p>
        </p:txBody>
      </p:sp>
      <p:sp>
        <p:nvSpPr>
          <p:cNvPr id="39" name="TextBox 38"/>
          <p:cNvSpPr txBox="1"/>
          <p:nvPr/>
        </p:nvSpPr>
        <p:spPr>
          <a:xfrm>
            <a:off x="2057400" y="1536192"/>
            <a:ext cx="1280160" cy="155448"/>
          </a:xfrm>
          <a:prstGeom prst="rect">
            <a:avLst/>
          </a:prstGeom>
          <a:noFill/>
        </p:spPr>
        <p:txBody>
          <a:bodyPr wrap="none" anchor="ctr">
            <a:spAutoFit/>
          </a:bodyPr>
          <a:lstStyle/>
          <a:p>
            <a:r>
              <a:rPr lang="en-US" sz="1000" dirty="0">
                <a:solidFill>
                  <a:srgbClr val="CCCCCC"/>
                </a:solidFill>
                <a:latin typeface="Calibri"/>
              </a:rPr>
              <a:t>$0</a:t>
            </a:r>
          </a:p>
        </p:txBody>
      </p:sp>
      <p:sp>
        <p:nvSpPr>
          <p:cNvPr id="40" name="TextBox 39"/>
          <p:cNvSpPr txBox="1"/>
          <p:nvPr/>
        </p:nvSpPr>
        <p:spPr>
          <a:xfrm>
            <a:off x="3429000" y="1536192"/>
            <a:ext cx="1143000" cy="155448"/>
          </a:xfrm>
          <a:prstGeom prst="rect">
            <a:avLst/>
          </a:prstGeom>
          <a:noFill/>
        </p:spPr>
        <p:txBody>
          <a:bodyPr wrap="none" anchor="ctr">
            <a:spAutoFit/>
          </a:bodyPr>
          <a:lstStyle/>
          <a:p>
            <a:r>
              <a:rPr lang="en-US" sz="1000" dirty="0">
                <a:solidFill>
                  <a:srgbClr val="CCCCCC"/>
                </a:solidFill>
                <a:latin typeface="Calibri"/>
              </a:rPr>
              <a:t>up to $294,499</a:t>
            </a:r>
          </a:p>
        </p:txBody>
      </p:sp>
      <p:sp>
        <p:nvSpPr>
          <p:cNvPr id="41" name="TextBox 40"/>
          <p:cNvSpPr txBox="1"/>
          <p:nvPr/>
        </p:nvSpPr>
        <p:spPr>
          <a:xfrm>
            <a:off x="4663440" y="1536192"/>
            <a:ext cx="1143000" cy="155448"/>
          </a:xfrm>
          <a:prstGeom prst="rect">
            <a:avLst/>
          </a:prstGeom>
          <a:noFill/>
        </p:spPr>
        <p:txBody>
          <a:bodyPr wrap="none" anchor="ctr">
            <a:spAutoFit/>
          </a:bodyPr>
          <a:lstStyle/>
          <a:p>
            <a:r>
              <a:rPr lang="en-US" sz="1000" dirty="0">
                <a:solidFill>
                  <a:srgbClr val="FFCC44"/>
                </a:solidFill>
                <a:latin typeface="Calibri"/>
              </a:rPr>
              <a:t>+$294K (if undoc.)</a:t>
            </a:r>
          </a:p>
        </p:txBody>
      </p:sp>
      <p:sp>
        <p:nvSpPr>
          <p:cNvPr id="42" name="TextBox 41"/>
          <p:cNvSpPr txBox="1"/>
          <p:nvPr/>
        </p:nvSpPr>
        <p:spPr>
          <a:xfrm>
            <a:off x="5897880" y="1536192"/>
            <a:ext cx="3108960" cy="155448"/>
          </a:xfrm>
          <a:prstGeom prst="rect">
            <a:avLst/>
          </a:prstGeom>
          <a:noFill/>
        </p:spPr>
        <p:txBody>
          <a:bodyPr wrap="none" anchor="ctr">
            <a:spAutoFit/>
          </a:bodyPr>
          <a:lstStyle/>
          <a:p>
            <a:r>
              <a:rPr lang="en-US" sz="1000" dirty="0">
                <a:solidFill>
                  <a:srgbClr val="CCCCCC"/>
                </a:solidFill>
                <a:latin typeface="Calibri"/>
              </a:rPr>
              <a:t>Support not provided (Q14; Motion 5)</a:t>
            </a:r>
          </a:p>
        </p:txBody>
      </p:sp>
      <p:sp>
        <p:nvSpPr>
          <p:cNvPr id="43" name="TextBox 42"/>
          <p:cNvSpPr txBox="1"/>
          <p:nvPr/>
        </p:nvSpPr>
        <p:spPr>
          <a:xfrm>
            <a:off x="256032" y="1700784"/>
            <a:ext cx="1737360" cy="155448"/>
          </a:xfrm>
          <a:prstGeom prst="rect">
            <a:avLst/>
          </a:prstGeom>
          <a:noFill/>
        </p:spPr>
        <p:txBody>
          <a:bodyPr wrap="none" anchor="ctr">
            <a:spAutoFit/>
          </a:bodyPr>
          <a:lstStyle/>
          <a:p>
            <a:r>
              <a:rPr lang="en-US" sz="1000" dirty="0">
                <a:solidFill>
                  <a:srgbClr val="888888"/>
                </a:solidFill>
                <a:latin typeface="Calibri"/>
              </a:rPr>
              <a:t>2714 Wertz loan</a:t>
            </a:r>
          </a:p>
        </p:txBody>
      </p:sp>
      <p:sp>
        <p:nvSpPr>
          <p:cNvPr id="44" name="TextBox 43"/>
          <p:cNvSpPr txBox="1"/>
          <p:nvPr/>
        </p:nvSpPr>
        <p:spPr>
          <a:xfrm>
            <a:off x="2057400" y="1700784"/>
            <a:ext cx="1280160" cy="155448"/>
          </a:xfrm>
          <a:prstGeom prst="rect">
            <a:avLst/>
          </a:prstGeom>
          <a:noFill/>
        </p:spPr>
        <p:txBody>
          <a:bodyPr wrap="none" anchor="ctr">
            <a:spAutoFit/>
          </a:bodyPr>
          <a:lstStyle/>
          <a:p>
            <a:r>
              <a:rPr lang="en-US" sz="1000" dirty="0">
                <a:solidFill>
                  <a:srgbClr val="888888"/>
                </a:solidFill>
                <a:latin typeface="Calibri"/>
              </a:rPr>
              <a:t>$92,500</a:t>
            </a:r>
          </a:p>
        </p:txBody>
      </p:sp>
      <p:sp>
        <p:nvSpPr>
          <p:cNvPr id="45" name="TextBox 44"/>
          <p:cNvSpPr txBox="1"/>
          <p:nvPr/>
        </p:nvSpPr>
        <p:spPr>
          <a:xfrm>
            <a:off x="3429000" y="1700784"/>
            <a:ext cx="1143000" cy="155448"/>
          </a:xfrm>
          <a:prstGeom prst="rect">
            <a:avLst/>
          </a:prstGeom>
          <a:noFill/>
        </p:spPr>
        <p:txBody>
          <a:bodyPr wrap="none" anchor="ctr">
            <a:spAutoFit/>
          </a:bodyPr>
          <a:lstStyle/>
          <a:p>
            <a:r>
              <a:rPr lang="en-US" sz="1000" dirty="0">
                <a:solidFill>
                  <a:srgbClr val="888888"/>
                </a:solidFill>
                <a:latin typeface="Calibri"/>
              </a:rPr>
              <a:t>$92,500 pending</a:t>
            </a:r>
          </a:p>
        </p:txBody>
      </p:sp>
      <p:sp>
        <p:nvSpPr>
          <p:cNvPr id="46" name="TextBox 45"/>
          <p:cNvSpPr txBox="1"/>
          <p:nvPr/>
        </p:nvSpPr>
        <p:spPr>
          <a:xfrm>
            <a:off x="4663440" y="1700784"/>
            <a:ext cx="1143000" cy="155448"/>
          </a:xfrm>
          <a:prstGeom prst="rect">
            <a:avLst/>
          </a:prstGeom>
          <a:noFill/>
        </p:spPr>
        <p:txBody>
          <a:bodyPr wrap="none" anchor="ctr">
            <a:spAutoFit/>
          </a:bodyPr>
          <a:lstStyle/>
          <a:p>
            <a:r>
              <a:rPr lang="en-US" sz="1000" dirty="0">
                <a:solidFill>
                  <a:srgbClr val="888888"/>
                </a:solidFill>
                <a:latin typeface="Calibri"/>
              </a:rPr>
              <a:t>—</a:t>
            </a:r>
          </a:p>
        </p:txBody>
      </p:sp>
      <p:sp>
        <p:nvSpPr>
          <p:cNvPr id="47" name="TextBox 46"/>
          <p:cNvSpPr txBox="1"/>
          <p:nvPr/>
        </p:nvSpPr>
        <p:spPr>
          <a:xfrm>
            <a:off x="5897880" y="1700784"/>
            <a:ext cx="3108960" cy="155448"/>
          </a:xfrm>
          <a:prstGeom prst="rect">
            <a:avLst/>
          </a:prstGeom>
          <a:noFill/>
        </p:spPr>
        <p:txBody>
          <a:bodyPr wrap="none" anchor="ctr">
            <a:spAutoFit/>
          </a:bodyPr>
          <a:lstStyle/>
          <a:p>
            <a:r>
              <a:rPr lang="en-US" sz="1000" dirty="0">
                <a:solidFill>
                  <a:srgbClr val="888888"/>
                </a:solidFill>
                <a:latin typeface="Calibri"/>
              </a:rPr>
              <a:t>Promissory note pending</a:t>
            </a:r>
          </a:p>
        </p:txBody>
      </p:sp>
      <p:sp>
        <p:nvSpPr>
          <p:cNvPr id="48" name="TextBox 47"/>
          <p:cNvSpPr txBox="1"/>
          <p:nvPr/>
        </p:nvSpPr>
        <p:spPr>
          <a:xfrm>
            <a:off x="256032" y="1865376"/>
            <a:ext cx="1737360" cy="155448"/>
          </a:xfrm>
          <a:prstGeom prst="rect">
            <a:avLst/>
          </a:prstGeom>
          <a:noFill/>
        </p:spPr>
        <p:txBody>
          <a:bodyPr wrap="none" anchor="ctr">
            <a:spAutoFit/>
          </a:bodyPr>
          <a:lstStyle/>
          <a:p>
            <a:r>
              <a:rPr lang="en-US" sz="1000" dirty="0">
                <a:solidFill>
                  <a:srgbClr val="888888"/>
                </a:solidFill>
                <a:latin typeface="Calibri"/>
              </a:rPr>
              <a:t>2720 Exos loan</a:t>
            </a:r>
          </a:p>
        </p:txBody>
      </p:sp>
      <p:sp>
        <p:nvSpPr>
          <p:cNvPr id="49" name="TextBox 48"/>
          <p:cNvSpPr txBox="1"/>
          <p:nvPr/>
        </p:nvSpPr>
        <p:spPr>
          <a:xfrm>
            <a:off x="2057400" y="1865376"/>
            <a:ext cx="1280160" cy="155448"/>
          </a:xfrm>
          <a:prstGeom prst="rect">
            <a:avLst/>
          </a:prstGeom>
          <a:noFill/>
        </p:spPr>
        <p:txBody>
          <a:bodyPr wrap="none" anchor="ctr">
            <a:spAutoFit/>
          </a:bodyPr>
          <a:lstStyle/>
          <a:p>
            <a:r>
              <a:rPr lang="en-US" sz="1000" dirty="0">
                <a:solidFill>
                  <a:srgbClr val="888888"/>
                </a:solidFill>
                <a:latin typeface="Calibri"/>
              </a:rPr>
              <a:t>$31,200</a:t>
            </a:r>
          </a:p>
        </p:txBody>
      </p:sp>
      <p:sp>
        <p:nvSpPr>
          <p:cNvPr id="50" name="TextBox 49"/>
          <p:cNvSpPr txBox="1"/>
          <p:nvPr/>
        </p:nvSpPr>
        <p:spPr>
          <a:xfrm>
            <a:off x="3429000" y="1865376"/>
            <a:ext cx="1143000" cy="155448"/>
          </a:xfrm>
          <a:prstGeom prst="rect">
            <a:avLst/>
          </a:prstGeom>
          <a:noFill/>
        </p:spPr>
        <p:txBody>
          <a:bodyPr wrap="none" anchor="ctr">
            <a:spAutoFit/>
          </a:bodyPr>
          <a:lstStyle/>
          <a:p>
            <a:r>
              <a:rPr lang="en-US" sz="1000" dirty="0">
                <a:solidFill>
                  <a:srgbClr val="888888"/>
                </a:solidFill>
                <a:latin typeface="Calibri"/>
              </a:rPr>
              <a:t>$31,200</a:t>
            </a:r>
          </a:p>
        </p:txBody>
      </p:sp>
      <p:sp>
        <p:nvSpPr>
          <p:cNvPr id="51" name="TextBox 50"/>
          <p:cNvSpPr txBox="1"/>
          <p:nvPr/>
        </p:nvSpPr>
        <p:spPr>
          <a:xfrm>
            <a:off x="4663440" y="1865376"/>
            <a:ext cx="1143000" cy="155448"/>
          </a:xfrm>
          <a:prstGeom prst="rect">
            <a:avLst/>
          </a:prstGeom>
          <a:noFill/>
        </p:spPr>
        <p:txBody>
          <a:bodyPr wrap="none" anchor="ctr">
            <a:spAutoFit/>
          </a:bodyPr>
          <a:lstStyle/>
          <a:p>
            <a:r>
              <a:rPr lang="en-US" sz="1000" dirty="0">
                <a:solidFill>
                  <a:srgbClr val="888888"/>
                </a:solidFill>
                <a:latin typeface="Calibri"/>
              </a:rPr>
              <a:t>—</a:t>
            </a:r>
          </a:p>
        </p:txBody>
      </p:sp>
      <p:sp>
        <p:nvSpPr>
          <p:cNvPr id="52" name="TextBox 51"/>
          <p:cNvSpPr txBox="1"/>
          <p:nvPr/>
        </p:nvSpPr>
        <p:spPr>
          <a:xfrm>
            <a:off x="5897880" y="1865376"/>
            <a:ext cx="3108960" cy="155448"/>
          </a:xfrm>
          <a:prstGeom prst="rect">
            <a:avLst/>
          </a:prstGeom>
          <a:noFill/>
        </p:spPr>
        <p:txBody>
          <a:bodyPr wrap="none" anchor="ctr">
            <a:spAutoFit/>
          </a:bodyPr>
          <a:lstStyle/>
          <a:p>
            <a:r>
              <a:rPr lang="en-US" sz="1000" dirty="0">
                <a:solidFill>
                  <a:srgbClr val="888888"/>
                </a:solidFill>
                <a:latin typeface="Calibri"/>
              </a:rPr>
              <a:t>Board denied cancellation; 11% stands</a:t>
            </a:r>
          </a:p>
        </p:txBody>
      </p:sp>
      <p:sp>
        <p:nvSpPr>
          <p:cNvPr id="53" name="Rectangle 52"/>
          <p:cNvSpPr/>
          <p:nvPr/>
        </p:nvSpPr>
        <p:spPr>
          <a:xfrm>
            <a:off x="256032" y="2048256"/>
            <a:ext cx="8796528" cy="64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56032" y="2066543"/>
            <a:ext cx="1828800" cy="182880"/>
          </a:xfrm>
          <a:prstGeom prst="rect">
            <a:avLst/>
          </a:prstGeom>
          <a:noFill/>
        </p:spPr>
        <p:txBody>
          <a:bodyPr wrap="none" anchor="ctr">
            <a:spAutoFit/>
          </a:bodyPr>
          <a:lstStyle/>
          <a:p>
            <a:r>
              <a:rPr lang="en-US" sz="1000" b="1" dirty="0">
                <a:solidFill>
                  <a:srgbClr val="CCCCCC"/>
                </a:solidFill>
                <a:latin typeface="Calibri"/>
              </a:rPr>
              <a:t>Total equity as booked:</a:t>
            </a:r>
          </a:p>
        </p:txBody>
      </p:sp>
      <p:sp>
        <p:nvSpPr>
          <p:cNvPr id="55" name="TextBox 54"/>
          <p:cNvSpPr txBox="1"/>
          <p:nvPr/>
        </p:nvSpPr>
        <p:spPr>
          <a:xfrm>
            <a:off x="2148840" y="2066543"/>
            <a:ext cx="1371600" cy="182880"/>
          </a:xfrm>
          <a:prstGeom prst="rect">
            <a:avLst/>
          </a:prstGeom>
          <a:noFill/>
        </p:spPr>
        <p:txBody>
          <a:bodyPr wrap="none" anchor="ctr">
            <a:spAutoFit/>
          </a:bodyPr>
          <a:lstStyle/>
          <a:p>
            <a:r>
              <a:rPr lang="en-US" sz="1000" b="1" dirty="0">
                <a:solidFill>
                  <a:srgbClr val="DD4444"/>
                </a:solidFill>
                <a:latin typeface="Calibri"/>
              </a:rPr>
              <a:t>-$1,443,882</a:t>
            </a:r>
          </a:p>
        </p:txBody>
      </p:sp>
      <p:sp>
        <p:nvSpPr>
          <p:cNvPr id="56" name="TextBox 55"/>
          <p:cNvSpPr txBox="1"/>
          <p:nvPr/>
        </p:nvSpPr>
        <p:spPr>
          <a:xfrm>
            <a:off x="256032" y="2286000"/>
            <a:ext cx="2651760" cy="164592"/>
          </a:xfrm>
          <a:prstGeom prst="rect">
            <a:avLst/>
          </a:prstGeom>
          <a:noFill/>
        </p:spPr>
        <p:txBody>
          <a:bodyPr wrap="none" anchor="ctr">
            <a:spAutoFit/>
          </a:bodyPr>
          <a:lstStyle/>
          <a:p>
            <a:r>
              <a:rPr lang="en-US" sz="1000" dirty="0">
                <a:solidFill>
                  <a:srgbClr val="CCCCCC"/>
                </a:solidFill>
                <a:latin typeface="Calibri"/>
              </a:rPr>
              <a:t>Step 1 credits (+$448K):</a:t>
            </a:r>
          </a:p>
        </p:txBody>
      </p:sp>
      <p:sp>
        <p:nvSpPr>
          <p:cNvPr id="57" name="TextBox 56"/>
          <p:cNvSpPr txBox="1"/>
          <p:nvPr/>
        </p:nvSpPr>
        <p:spPr>
          <a:xfrm>
            <a:off x="2926080" y="2286000"/>
            <a:ext cx="2011680" cy="164592"/>
          </a:xfrm>
          <a:prstGeom prst="rect">
            <a:avLst/>
          </a:prstGeom>
          <a:noFill/>
        </p:spPr>
        <p:txBody>
          <a:bodyPr wrap="none" anchor="ctr">
            <a:spAutoFit/>
          </a:bodyPr>
          <a:lstStyle/>
          <a:p>
            <a:r>
              <a:rPr lang="en-US" sz="1000" b="1" dirty="0">
                <a:solidFill>
                  <a:srgbClr val="F26A21"/>
                </a:solidFill>
                <a:latin typeface="Calibri"/>
              </a:rPr>
              <a:t>-$1,443,882 + $448K ≈ -$996K</a:t>
            </a:r>
          </a:p>
        </p:txBody>
      </p:sp>
      <p:sp>
        <p:nvSpPr>
          <p:cNvPr id="58" name="TextBox 57"/>
          <p:cNvSpPr txBox="1"/>
          <p:nvPr/>
        </p:nvSpPr>
        <p:spPr>
          <a:xfrm>
            <a:off x="256032" y="2468880"/>
            <a:ext cx="2651760" cy="164592"/>
          </a:xfrm>
          <a:prstGeom prst="rect">
            <a:avLst/>
          </a:prstGeom>
          <a:noFill/>
        </p:spPr>
        <p:txBody>
          <a:bodyPr wrap="none" anchor="ctr">
            <a:spAutoFit/>
          </a:bodyPr>
          <a:lstStyle/>
          <a:p>
            <a:r>
              <a:rPr lang="en-US" sz="1000" dirty="0">
                <a:solidFill>
                  <a:srgbClr val="CCCCCC"/>
                </a:solidFill>
                <a:latin typeface="Calibri"/>
              </a:rPr>
              <a:t>Steps 1+2 (+$967K):</a:t>
            </a:r>
          </a:p>
        </p:txBody>
      </p:sp>
      <p:sp>
        <p:nvSpPr>
          <p:cNvPr id="59" name="TextBox 58"/>
          <p:cNvSpPr txBox="1"/>
          <p:nvPr/>
        </p:nvSpPr>
        <p:spPr>
          <a:xfrm>
            <a:off x="2926080" y="2468880"/>
            <a:ext cx="2011680" cy="164592"/>
          </a:xfrm>
          <a:prstGeom prst="rect">
            <a:avLst/>
          </a:prstGeom>
          <a:noFill/>
        </p:spPr>
        <p:txBody>
          <a:bodyPr wrap="none" anchor="ctr">
            <a:spAutoFit/>
          </a:bodyPr>
          <a:lstStyle/>
          <a:p>
            <a:r>
              <a:rPr lang="en-US" sz="1000" b="1" dirty="0">
                <a:solidFill>
                  <a:srgbClr val="F26A21"/>
                </a:solidFill>
                <a:latin typeface="Calibri"/>
              </a:rPr>
              <a:t>-$1,443,882 + $967K ≈ -$477K</a:t>
            </a:r>
          </a:p>
        </p:txBody>
      </p:sp>
      <p:sp>
        <p:nvSpPr>
          <p:cNvPr id="60" name="TextBox 59"/>
          <p:cNvSpPr txBox="1"/>
          <p:nvPr/>
        </p:nvSpPr>
        <p:spPr>
          <a:xfrm>
            <a:off x="256032" y="2651760"/>
            <a:ext cx="2651760" cy="164592"/>
          </a:xfrm>
          <a:prstGeom prst="rect">
            <a:avLst/>
          </a:prstGeom>
          <a:noFill/>
        </p:spPr>
        <p:txBody>
          <a:bodyPr wrap="none" anchor="ctr">
            <a:spAutoFit/>
          </a:bodyPr>
          <a:lstStyle/>
          <a:p>
            <a:r>
              <a:rPr lang="en-US" sz="1000" dirty="0">
                <a:solidFill>
                  <a:srgbClr val="CCCCCC"/>
                </a:solidFill>
                <a:latin typeface="Calibri"/>
              </a:rPr>
              <a:t>Steps 1+2+3 (+$1,261K):</a:t>
            </a:r>
          </a:p>
        </p:txBody>
      </p:sp>
      <p:sp>
        <p:nvSpPr>
          <p:cNvPr id="61" name="TextBox 60"/>
          <p:cNvSpPr txBox="1"/>
          <p:nvPr/>
        </p:nvSpPr>
        <p:spPr>
          <a:xfrm>
            <a:off x="2926080" y="2651760"/>
            <a:ext cx="2011680" cy="164592"/>
          </a:xfrm>
          <a:prstGeom prst="rect">
            <a:avLst/>
          </a:prstGeom>
          <a:noFill/>
        </p:spPr>
        <p:txBody>
          <a:bodyPr wrap="none" anchor="ctr">
            <a:spAutoFit/>
          </a:bodyPr>
          <a:lstStyle/>
          <a:p>
            <a:r>
              <a:rPr lang="en-US" sz="1000" b="1" dirty="0">
                <a:solidFill>
                  <a:srgbClr val="44BB44"/>
                </a:solidFill>
                <a:latin typeface="Calibri"/>
              </a:rPr>
              <a:t>-$1,443,882 + $1,261K ≈ -$183K</a:t>
            </a:r>
          </a:p>
        </p:txBody>
      </p:sp>
      <p:sp>
        <p:nvSpPr>
          <p:cNvPr id="62" name="TextBox 61"/>
          <p:cNvSpPr txBox="1"/>
          <p:nvPr/>
        </p:nvSpPr>
        <p:spPr>
          <a:xfrm>
            <a:off x="256032" y="2862072"/>
            <a:ext cx="8796528" cy="164592"/>
          </a:xfrm>
          <a:prstGeom prst="rect">
            <a:avLst/>
          </a:prstGeom>
          <a:noFill/>
        </p:spPr>
        <p:txBody>
          <a:bodyPr wrap="none" anchor="ctr">
            <a:spAutoFit/>
          </a:bodyPr>
          <a:lstStyle/>
          <a:p>
            <a:r>
              <a:rPr lang="en-US" sz="1000" i="1" dirty="0">
                <a:solidFill>
                  <a:srgbClr val="888888"/>
                </a:solidFill>
                <a:latin typeface="Calibri"/>
              </a:rPr>
              <a:t>AR correction (1110) tracked separately under Motion 3; range $692K–$842K additional equity improvement if resolved.</a:t>
            </a:r>
          </a:p>
        </p:txBody>
      </p:sp>
      <p:sp>
        <p:nvSpPr>
          <p:cNvPr id="63" name="Rectangle 62"/>
          <p:cNvSpPr/>
          <p:nvPr/>
        </p:nvSpPr>
        <p:spPr>
          <a:xfrm>
            <a:off x="0" y="3072384"/>
            <a:ext cx="9144000" cy="16459"/>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0" y="3090672"/>
            <a:ext cx="9144000" cy="80467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56032" y="3172968"/>
            <a:ext cx="8631936" cy="182880"/>
          </a:xfrm>
          <a:prstGeom prst="rect">
            <a:avLst/>
          </a:prstGeom>
          <a:noFill/>
        </p:spPr>
        <p:txBody>
          <a:bodyPr wrap="none" anchor="ctr">
            <a:spAutoFit/>
          </a:bodyPr>
          <a:lstStyle/>
          <a:p>
            <a:r>
              <a:rPr lang="en-US" sz="1050" dirty="0" b="1">
                <a:solidFill>
                  <a:srgbClr val="FFFFFF"/>
                </a:solidFill>
                <a:latin typeface="Calibri"/>
              </a:rPr>
              <a:t>WHAT THIS MEANS FOR SHAREHOLDERS OUTSIDE MICROCOSM/WERTZ: cash at a Jan 15, 2027 close per 1% of SSLC (8,725 sh.)</a:t>
            </a:r>
          </a:p>
          <a:p>
            <a:r>
              <a:rPr lang="en-US" sz="1050" dirty="0">
                <a:solidFill>
                  <a:srgbClr val="CCCCCC"/>
                </a:solidFill>
                <a:latin typeface="Calibri"/>
              </a:rPr>
              <a:t/>
            </a:r>
          </a:p>
        </p:txBody>
      </p:sp>
      <p:sp>
        <p:nvSpPr>
          <p:cNvPr id="66" name="TextBox 65"/>
          <p:cNvSpPr txBox="1"/>
          <p:nvPr/>
        </p:nvSpPr>
        <p:spPr>
          <a:xfrm>
            <a:off x="256032" y="3392424"/>
            <a:ext cx="3749039" cy="164592"/>
          </a:xfrm>
          <a:prstGeom prst="rect">
            <a:avLst/>
          </a:prstGeom>
          <a:noFill/>
        </p:spPr>
        <p:txBody>
          <a:bodyPr wrap="none" anchor="ctr">
            <a:spAutoFit/>
          </a:bodyPr>
          <a:lstStyle/>
          <a:p>
            <a:r>
              <a:rPr lang="en-US" sz="1000" dirty="0">
                <a:solidFill>
                  <a:srgbClr val="888888"/>
                </a:solidFill>
                <a:latin typeface="Calibri"/>
              </a:rPr>
              <a:t>As booked (no corrections applied):</a:t>
            </a:r>
          </a:p>
        </p:txBody>
      </p:sp>
      <p:sp>
        <p:nvSpPr>
          <p:cNvPr id="67" name="TextBox 66"/>
          <p:cNvSpPr txBox="1"/>
          <p:nvPr/>
        </p:nvSpPr>
        <p:spPr>
          <a:xfrm>
            <a:off x="4114800" y="3392424"/>
            <a:ext cx="2194560" cy="164592"/>
          </a:xfrm>
          <a:prstGeom prst="rect">
            <a:avLst/>
          </a:prstGeom>
          <a:noFill/>
        </p:spPr>
        <p:txBody>
          <a:bodyPr wrap="none" anchor="ctr">
            <a:spAutoFit/>
          </a:bodyPr>
          <a:lstStyle/>
          <a:p>
            <a:r>
              <a:rPr lang="en-US" sz="1000" dirty="0">
                <a:solidFill>
                  <a:srgbClr val="888888"/>
                </a:solidFill>
                <a:latin typeface="Calibri"/>
              </a:rPr>
              <a:t>$1,388,000 / 82 =</a:t>
            </a:r>
          </a:p>
        </p:txBody>
      </p:sp>
      <p:sp>
        <p:nvSpPr>
          <p:cNvPr id="68" name="TextBox 67"/>
          <p:cNvSpPr txBox="1"/>
          <p:nvPr/>
        </p:nvSpPr>
        <p:spPr>
          <a:xfrm>
            <a:off x="6400800" y="3392424"/>
            <a:ext cx="2560320" cy="164592"/>
          </a:xfrm>
          <a:prstGeom prst="rect">
            <a:avLst/>
          </a:prstGeom>
          <a:noFill/>
        </p:spPr>
        <p:txBody>
          <a:bodyPr wrap="none" anchor="ctr">
            <a:spAutoFit/>
          </a:bodyPr>
          <a:lstStyle/>
          <a:p>
            <a:r>
              <a:rPr lang="en-US" sz="1000" b="1" dirty="0">
                <a:solidFill>
                  <a:srgbClr val="888888"/>
                </a:solidFill>
                <a:latin typeface="Calibri"/>
              </a:rPr>
              <a:t>$16.9K</a:t>
            </a:r>
          </a:p>
        </p:txBody>
      </p:sp>
      <p:sp>
        <p:nvSpPr>
          <p:cNvPr id="69" name="TextBox 68"/>
          <p:cNvSpPr txBox="1"/>
          <p:nvPr/>
        </p:nvSpPr>
        <p:spPr>
          <a:xfrm>
            <a:off x="256032" y="3579876"/>
            <a:ext cx="3749039" cy="164592"/>
          </a:xfrm>
          <a:prstGeom prst="rect">
            <a:avLst/>
          </a:prstGeom>
          <a:noFill/>
        </p:spPr>
        <p:txBody>
          <a:bodyPr wrap="none" anchor="ctr">
            <a:spAutoFit/>
          </a:bodyPr>
          <a:lstStyle/>
          <a:p>
            <a:r>
              <a:rPr lang="en-US" sz="1000" dirty="0">
                <a:solidFill>
                  <a:srgbClr val="F26A21"/>
                </a:solidFill>
                <a:latin typeface="Calibri"/>
              </a:rPr>
              <a:t>Step 1 applied (+$448K — facility credit + capitalized interest):</a:t>
            </a:r>
          </a:p>
        </p:txBody>
      </p:sp>
      <p:sp>
        <p:nvSpPr>
          <p:cNvPr id="70" name="TextBox 69"/>
          <p:cNvSpPr txBox="1"/>
          <p:nvPr/>
        </p:nvSpPr>
        <p:spPr>
          <a:xfrm>
            <a:off x="4114800" y="3579876"/>
            <a:ext cx="2194560" cy="164592"/>
          </a:xfrm>
          <a:prstGeom prst="rect">
            <a:avLst/>
          </a:prstGeom>
          <a:noFill/>
        </p:spPr>
        <p:txBody>
          <a:bodyPr wrap="none" anchor="ctr">
            <a:spAutoFit/>
          </a:bodyPr>
          <a:lstStyle/>
          <a:p>
            <a:r>
              <a:rPr lang="en-US" sz="1000" dirty="0">
                <a:solidFill>
                  <a:srgbClr val="888888"/>
                </a:solidFill>
                <a:latin typeface="Calibri"/>
              </a:rPr>
              <a:t>$1,836,000 / 82 =</a:t>
            </a:r>
          </a:p>
        </p:txBody>
      </p:sp>
      <p:sp>
        <p:nvSpPr>
          <p:cNvPr id="71" name="TextBox 70"/>
          <p:cNvSpPr txBox="1"/>
          <p:nvPr/>
        </p:nvSpPr>
        <p:spPr>
          <a:xfrm>
            <a:off x="6400800" y="3579876"/>
            <a:ext cx="2560320" cy="164592"/>
          </a:xfrm>
          <a:prstGeom prst="rect">
            <a:avLst/>
          </a:prstGeom>
          <a:noFill/>
        </p:spPr>
        <p:txBody>
          <a:bodyPr wrap="none" anchor="ctr">
            <a:spAutoFit/>
          </a:bodyPr>
          <a:lstStyle/>
          <a:p>
            <a:r>
              <a:rPr lang="en-US" sz="1000" b="1" dirty="0">
                <a:solidFill>
                  <a:srgbClr val="F26A21"/>
                </a:solidFill>
                <a:latin typeface="Calibri"/>
              </a:rPr>
              <a:t>$22.4K</a:t>
            </a:r>
          </a:p>
        </p:txBody>
      </p:sp>
      <p:sp>
        <p:nvSpPr>
          <p:cNvPr id="72" name="TextBox 71"/>
          <p:cNvSpPr txBox="1"/>
          <p:nvPr/>
        </p:nvSpPr>
        <p:spPr>
          <a:xfrm>
            <a:off x="256032" y="3767328"/>
            <a:ext cx="3749039" cy="164592"/>
          </a:xfrm>
          <a:prstGeom prst="rect">
            <a:avLst/>
          </a:prstGeom>
          <a:noFill/>
        </p:spPr>
        <p:txBody>
          <a:bodyPr wrap="none" anchor="ctr">
            <a:spAutoFit/>
          </a:bodyPr>
          <a:lstStyle/>
          <a:p>
            <a:r>
              <a:rPr lang="en-US" sz="1000" dirty="0">
                <a:solidFill>
                  <a:srgbClr val="F26A21"/>
                </a:solidFill>
                <a:latin typeface="Calibri"/>
              </a:rPr>
              <a:t>Steps 1+2 (+$967K — + unsupported offsets corrected):</a:t>
            </a:r>
          </a:p>
        </p:txBody>
      </p:sp>
      <p:sp>
        <p:nvSpPr>
          <p:cNvPr id="73" name="TextBox 72"/>
          <p:cNvSpPr txBox="1"/>
          <p:nvPr/>
        </p:nvSpPr>
        <p:spPr>
          <a:xfrm>
            <a:off x="4114800" y="3767328"/>
            <a:ext cx="2194560" cy="164592"/>
          </a:xfrm>
          <a:prstGeom prst="rect">
            <a:avLst/>
          </a:prstGeom>
          <a:noFill/>
        </p:spPr>
        <p:txBody>
          <a:bodyPr wrap="none" anchor="ctr">
            <a:spAutoFit/>
          </a:bodyPr>
          <a:lstStyle/>
          <a:p>
            <a:r>
              <a:rPr lang="en-US" sz="1000" dirty="0">
                <a:solidFill>
                  <a:srgbClr val="888888"/>
                </a:solidFill>
                <a:latin typeface="Calibri"/>
              </a:rPr>
              <a:t>$2,355,000 / 82 =</a:t>
            </a:r>
          </a:p>
        </p:txBody>
      </p:sp>
      <p:sp>
        <p:nvSpPr>
          <p:cNvPr id="74" name="TextBox 73"/>
          <p:cNvSpPr txBox="1"/>
          <p:nvPr/>
        </p:nvSpPr>
        <p:spPr>
          <a:xfrm>
            <a:off x="6400800" y="3767328"/>
            <a:ext cx="2560320" cy="164592"/>
          </a:xfrm>
          <a:prstGeom prst="rect">
            <a:avLst/>
          </a:prstGeom>
          <a:noFill/>
        </p:spPr>
        <p:txBody>
          <a:bodyPr wrap="none" anchor="ctr">
            <a:spAutoFit/>
          </a:bodyPr>
          <a:lstStyle/>
          <a:p>
            <a:r>
              <a:rPr lang="en-US" sz="1000" b="1" dirty="0">
                <a:solidFill>
                  <a:srgbClr val="F26A21"/>
                </a:solidFill>
                <a:latin typeface="Calibri"/>
              </a:rPr>
              <a:t>$28.7K</a:t>
            </a:r>
          </a:p>
        </p:txBody>
      </p:sp>
      <p:sp>
        <p:nvSpPr>
          <p:cNvPr id="75" name="TextBox 74"/>
          <p:cNvSpPr txBox="1"/>
          <p:nvPr/>
        </p:nvSpPr>
        <p:spPr>
          <a:xfrm>
            <a:off x="256032" y="3954780"/>
            <a:ext cx="3749039" cy="164592"/>
          </a:xfrm>
          <a:prstGeom prst="rect">
            <a:avLst/>
          </a:prstGeom>
          <a:noFill/>
        </p:spPr>
        <p:txBody>
          <a:bodyPr wrap="none" anchor="ctr">
            <a:spAutoFit/>
          </a:bodyPr>
          <a:lstStyle/>
          <a:p>
            <a:r>
              <a:rPr lang="en-US" sz="1000" dirty="0">
                <a:solidFill>
                  <a:srgbClr val="44BB44"/>
                </a:solidFill>
                <a:latin typeface="Calibri"/>
              </a:rPr>
              <a:t>Steps 1+2+3 (+$1,261K — all three corrections applied):</a:t>
            </a:r>
          </a:p>
        </p:txBody>
      </p:sp>
      <p:sp>
        <p:nvSpPr>
          <p:cNvPr id="76" name="TextBox 75"/>
          <p:cNvSpPr txBox="1"/>
          <p:nvPr/>
        </p:nvSpPr>
        <p:spPr>
          <a:xfrm>
            <a:off x="4114800" y="3954780"/>
            <a:ext cx="2194560" cy="164592"/>
          </a:xfrm>
          <a:prstGeom prst="rect">
            <a:avLst/>
          </a:prstGeom>
          <a:noFill/>
        </p:spPr>
        <p:txBody>
          <a:bodyPr wrap="none" anchor="ctr">
            <a:spAutoFit/>
          </a:bodyPr>
          <a:lstStyle/>
          <a:p>
            <a:r>
              <a:rPr lang="en-US" sz="1000" dirty="0">
                <a:solidFill>
                  <a:srgbClr val="888888"/>
                </a:solidFill>
                <a:latin typeface="Calibri"/>
              </a:rPr>
              <a:t>$2,649,000 / 82 =</a:t>
            </a:r>
          </a:p>
        </p:txBody>
      </p:sp>
      <p:sp>
        <p:nvSpPr>
          <p:cNvPr id="77" name="TextBox 76"/>
          <p:cNvSpPr txBox="1"/>
          <p:nvPr/>
        </p:nvSpPr>
        <p:spPr>
          <a:xfrm>
            <a:off x="6400800" y="3954780"/>
            <a:ext cx="2560320" cy="164592"/>
          </a:xfrm>
          <a:prstGeom prst="rect">
            <a:avLst/>
          </a:prstGeom>
          <a:noFill/>
        </p:spPr>
        <p:txBody>
          <a:bodyPr wrap="none" anchor="ctr">
            <a:spAutoFit/>
          </a:bodyPr>
          <a:lstStyle/>
          <a:p>
            <a:r>
              <a:rPr lang="en-US" sz="1000" b="1" dirty="0">
                <a:solidFill>
                  <a:srgbClr val="44BB44"/>
                </a:solidFill>
                <a:latin typeface="Calibri"/>
              </a:rPr>
              <a:t>$32.3K</a:t>
            </a:r>
          </a:p>
        </p:txBody>
      </p:sp>
      <p:sp>
        <p:nvSpPr>
          <p:cNvPr id="78" name="TextBox 36"/>
          <p:cNvSpPr txBox="1"/>
          <p:nvPr/>
        </p:nvSpPr>
        <p:spPr>
          <a:xfrm>
            <a:off x="91440" y="1700784"/>
            <a:ext cx="137160" cy="155448"/>
          </a:xfrm>
          <a:prstGeom prst="rect">
            <a:avLst/>
          </a:prstGeom>
          <a:noFill/>
        </p:spPr>
        <p:txBody>
          <a:bodyPr wrap="none" anchor="ctr">
            <a:spAutoFit/>
          </a:bodyPr>
          <a:lstStyle/>
          <a:p>
            <a:r>
              <a:rPr lang="en-US" sz="1000" b="1" dirty="0">
                <a:solidFill>
                  <a:srgbClr val="F26A21"/>
                </a:solidFill>
                <a:latin typeface="Calibri"/>
              </a:rPr>
              <a:t>S3</a:t>
            </a:r>
          </a:p>
        </p:txBody>
      </p:sp>
      <p:sp>
        <p:nvSpPr>
          <p:cNvPr id="57" name="TextBox 56"/>
          <p:cNvSpPr txBox="1"/>
          <p:nvPr/>
        </p:nvSpPr>
        <p:spPr>
          <a:xfrm>
            <a:off x="4983480" y="2286000"/>
            <a:ext cx="3977639" cy="164592"/>
          </a:xfrm>
          <a:prstGeom prst="rect">
            <a:avLst/>
          </a:prstGeom>
          <a:noFill/>
        </p:spPr>
        <p:txBody>
          <a:bodyPr wrap="none" anchor="ctr">
            <a:spAutoFit/>
          </a:bodyPr>
          <a:lstStyle/>
          <a:p>
            <a:r>
              <a:rPr lang="en-US" sz="1000" b="0" dirty="0" i="1">
                <a:solidFill>
                  <a:srgbClr val="CCCCCC"/>
                </a:solidFill>
                <a:latin typeface="Calibri"/>
              </a:rPr>
              <a:t>Facility credit + no Bookstore interest: holders recover $448K.</a:t>
            </a:r>
          </a:p>
        </p:txBody>
      </p:sp>
      <p:sp>
        <p:nvSpPr>
          <p:cNvPr id="59" name="TextBox 58"/>
          <p:cNvSpPr txBox="1"/>
          <p:nvPr/>
        </p:nvSpPr>
        <p:spPr>
          <a:xfrm>
            <a:off x="4983480" y="2468880"/>
            <a:ext cx="3977639" cy="164592"/>
          </a:xfrm>
          <a:prstGeom prst="rect">
            <a:avLst/>
          </a:prstGeom>
          <a:noFill/>
        </p:spPr>
        <p:txBody>
          <a:bodyPr wrap="none" anchor="ctr">
            <a:spAutoFit/>
          </a:bodyPr>
          <a:lstStyle/>
          <a:p>
            <a:r>
              <a:rPr lang="en-US" sz="1000" b="0" dirty="0" i="1">
                <a:solidFill>
                  <a:srgbClr val="CCCCCC"/>
                </a:solidFill>
                <a:latin typeface="Calibri"/>
              </a:rPr>
              <a:t>Also reverse $518K of netting offsets with no invoices.</a:t>
            </a:r>
          </a:p>
        </p:txBody>
      </p:sp>
      <p:sp>
        <p:nvSpPr>
          <p:cNvPr id="61" name="TextBox 60"/>
          <p:cNvSpPr txBox="1"/>
          <p:nvPr/>
        </p:nvSpPr>
        <p:spPr>
          <a:xfrm>
            <a:off x="4983480" y="2651760"/>
            <a:ext cx="3977639" cy="164592"/>
          </a:xfrm>
          <a:prstGeom prst="rect">
            <a:avLst/>
          </a:prstGeom>
          <a:noFill/>
        </p:spPr>
        <p:txBody>
          <a:bodyPr wrap="none" anchor="ctr">
            <a:spAutoFit/>
          </a:bodyPr>
          <a:lstStyle/>
          <a:p>
            <a:r>
              <a:rPr lang="en-US" sz="1000" b="0" dirty="0" i="1">
                <a:solidFill>
                  <a:srgbClr val="CCCCCC"/>
                </a:solidFill>
                <a:latin typeface="Calibri"/>
              </a:rPr>
              <a:t>Also reverse the undocumented pre-2024 $294K Microcosm loan.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3152"/>
            <a:ext cx="9144000" cy="51435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ectangle 148"/>
          <p:cNvSpPr/>
          <p:nvPr/>
        </p:nvSpPr>
        <p:spPr>
          <a:xfrm>
            <a:off x="256032" y="1645920"/>
            <a:ext cx="4480560" cy="155448"/>
          </a:xfrm>
          <a:prstGeom prst="rect">
            <a:avLst/>
          </a:prstGeom>
          <a:solidFill>
            <a:srgbClr val="7A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256032" y="1481328"/>
            <a:ext cx="4480560" cy="155448"/>
          </a:xfrm>
          <a:prstGeom prst="rect">
            <a:avLst/>
          </a:prstGeom>
          <a:solidFill>
            <a:srgbClr val="7A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0292"/>
            <a:ext cx="9144000" cy="4572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6032" y="73152"/>
            <a:ext cx="8631936" cy="402336"/>
          </a:xfrm>
          <a:prstGeom prst="rect">
            <a:avLst/>
          </a:prstGeom>
          <a:noFill/>
        </p:spPr>
        <p:txBody>
          <a:bodyPr wrap="none" anchor="ctr">
            <a:spAutoFit/>
          </a:bodyPr>
          <a:lstStyle/>
          <a:p>
            <a:r>
              <a:rPr lang="en-US" sz="1800" b="1" dirty="0">
                <a:solidFill>
                  <a:srgbClr val="FFFFFF"/>
                </a:solidFill>
                <a:latin typeface="Calibri"/>
              </a:rPr>
              <a:t>Share Register Check: 08-2024 Register vs. 6/3/2026 Ledger</a:t>
            </a:r>
          </a:p>
        </p:txBody>
      </p:sp>
      <p:sp>
        <p:nvSpPr>
          <p:cNvPr id="6" name="TextBox 5"/>
          <p:cNvSpPr txBox="1"/>
          <p:nvPr/>
        </p:nvSpPr>
        <p:spPr>
          <a:xfrm>
            <a:off x="1554480" y="4956048"/>
            <a:ext cx="6035040" cy="164592"/>
          </a:xfrm>
          <a:prstGeom prst="rect">
            <a:avLst/>
          </a:prstGeom>
          <a:noFill/>
        </p:spPr>
        <p:txBody>
          <a:bodyPr wrap="none" anchor="ctr">
            <a:spAutoFit/>
          </a:bodyPr>
          <a:lstStyle/>
          <a:p>
            <a:r>
              <a:rPr lang="en-US" sz="1000" b="1" dirty="0">
                <a:solidFill>
                  <a:srgbClr val="F26A21"/>
                </a:solidFill>
                <a:latin typeface="Calibri"/>
              </a:rPr>
              <a:t>DRAFT — NEGOTIATING TERMS</a:t>
            </a:r>
          </a:p>
        </p:txBody>
      </p:sp>
      <p:sp>
        <p:nvSpPr>
          <p:cNvPr id="7" name="TextBox 6"/>
          <p:cNvSpPr txBox="1"/>
          <p:nvPr/>
        </p:nvSpPr>
        <p:spPr>
          <a:xfrm>
            <a:off x="7772400" y="4956048"/>
            <a:ext cx="1143000" cy="164592"/>
          </a:xfrm>
          <a:prstGeom prst="rect">
            <a:avLst/>
          </a:prstGeom>
          <a:noFill/>
        </p:spPr>
        <p:txBody>
          <a:bodyPr wrap="none" anchor="ctr">
            <a:spAutoFit/>
          </a:bodyPr>
          <a:lstStyle/>
          <a:p>
            <a:r>
              <a:rPr lang="en-US" sz="1000" dirty="0">
                <a:solidFill>
                  <a:srgbClr val="888888"/>
                </a:solidFill>
                <a:latin typeface="Calibri"/>
              </a:rPr>
              <a:t>CONFIDENTIAL</a:t>
            </a:r>
          </a:p>
        </p:txBody>
      </p:sp>
      <p:sp>
        <p:nvSpPr>
          <p:cNvPr id="8" name="TextBox 7"/>
          <p:cNvSpPr txBox="1"/>
          <p:nvPr/>
        </p:nvSpPr>
        <p:spPr>
          <a:xfrm>
            <a:off x="256032" y="566928"/>
            <a:ext cx="8631936" cy="164592"/>
          </a:xfrm>
          <a:prstGeom prst="rect">
            <a:avLst/>
          </a:prstGeom>
          <a:noFill/>
        </p:spPr>
        <p:txBody>
          <a:bodyPr wrap="none" anchor="ctr">
            <a:spAutoFit/>
          </a:bodyPr>
          <a:lstStyle/>
          <a:p>
            <a:r>
              <a:rPr lang="en-US" sz="1000" i="1" dirty="0">
                <a:solidFill>
                  <a:srgbClr val="888888"/>
                </a:solidFill>
                <a:latin typeface="Calibri"/>
              </a:rPr>
              <a:t>Only two holdings differ (Exos and Conger) between the Aug 2024 share register and the 6/3/2026 QB stock ledger. Motion 2 corrects both.</a:t>
            </a:r>
          </a:p>
        </p:txBody>
      </p:sp>
      <p:sp>
        <p:nvSpPr>
          <p:cNvPr id="9" name="Rectangle 8"/>
          <p:cNvSpPr/>
          <p:nvPr/>
        </p:nvSpPr>
        <p:spPr>
          <a:xfrm>
            <a:off x="4832226" y="756666"/>
            <a:ext cx="10972" cy="43434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6032" y="758952"/>
            <a:ext cx="4206240" cy="182880"/>
          </a:xfrm>
          <a:prstGeom prst="rect">
            <a:avLst/>
          </a:prstGeom>
          <a:noFill/>
        </p:spPr>
        <p:txBody>
          <a:bodyPr wrap="none" anchor="ctr">
            <a:spAutoFit/>
          </a:bodyPr>
          <a:lstStyle/>
          <a:p>
            <a:r>
              <a:rPr lang="en-US" sz="1000" b="1" dirty="0">
                <a:solidFill>
                  <a:srgbClr val="CCCCCC"/>
                </a:solidFill>
                <a:latin typeface="Calibri"/>
              </a:rPr>
              <a:t>Register (08-2024) vs. Ledger (6/3/2026)</a:t>
            </a:r>
          </a:p>
        </p:txBody>
      </p:sp>
      <p:sp>
        <p:nvSpPr>
          <p:cNvPr id="61" name="TextBox 60"/>
          <p:cNvSpPr txBox="1"/>
          <p:nvPr/>
        </p:nvSpPr>
        <p:spPr>
          <a:xfrm>
            <a:off x="256032" y="2377440"/>
            <a:ext cx="4206240" cy="164592"/>
          </a:xfrm>
          <a:prstGeom prst="rect">
            <a:avLst/>
          </a:prstGeom>
          <a:noFill/>
        </p:spPr>
        <p:txBody>
          <a:bodyPr wrap="none" anchor="ctr">
            <a:spAutoFit/>
          </a:bodyPr>
          <a:lstStyle/>
          <a:p>
            <a:r>
              <a:rPr lang="en-US" sz="1000" dirty="0">
                <a:solidFill>
                  <a:srgbClr val="DD4444"/>
                </a:solidFill>
                <a:latin typeface="Calibri"/>
              </a:rPr>
              <a:t>⚠  Exos: 24,581 shares not in 6/3/26 ledger (2021-2024 issuances).</a:t>
            </a:r>
          </a:p>
        </p:txBody>
      </p:sp>
      <p:sp>
        <p:nvSpPr>
          <p:cNvPr id="62" name="TextBox 61"/>
          <p:cNvSpPr txBox="1"/>
          <p:nvPr/>
        </p:nvSpPr>
        <p:spPr>
          <a:xfrm>
            <a:off x="256032" y="2560320"/>
            <a:ext cx="4206240" cy="246888"/>
          </a:xfrm>
          <a:prstGeom prst="rect">
            <a:avLst/>
          </a:prstGeom>
          <a:noFill/>
        </p:spPr>
        <p:txBody>
          <a:bodyPr wrap="none" anchor="ctr">
            <a:spAutoFit/>
          </a:bodyPr>
          <a:lstStyle/>
          <a:p>
            <a:r>
              <a:rPr lang="en-US" sz="1000" dirty="0">
                <a:solidFill>
                  <a:srgbClr val="DD4444"/>
                </a:solidFill>
                <a:latin typeface="Calibri"/>
              </a:rPr>
              <a:t>⚠  Conger: cert #3 (44,000 sh.) not listed by name on the ledger (folded into 'other'). Motion 2 corrects both.</a:t>
            </a:r>
          </a:p>
        </p:txBody>
      </p:sp>
      <p:sp>
        <p:nvSpPr>
          <p:cNvPr id="63" name="TextBox 62"/>
          <p:cNvSpPr txBox="1"/>
          <p:nvPr/>
        </p:nvSpPr>
        <p:spPr>
          <a:xfrm>
            <a:off x="256032" y="2898648"/>
            <a:ext cx="4206240" cy="201168"/>
          </a:xfrm>
          <a:prstGeom prst="rect">
            <a:avLst/>
          </a:prstGeom>
          <a:noFill/>
        </p:spPr>
        <p:txBody>
          <a:bodyPr wrap="none" anchor="ctr">
            <a:spAutoFit/>
          </a:bodyPr>
          <a:lstStyle/>
          <a:p>
            <a:r>
              <a:rPr lang="en-US" sz="1100" b="1" dirty="0">
                <a:solidFill>
                  <a:srgbClr val="44BB44"/>
                </a:solidFill>
                <a:latin typeface="Calibri"/>
              </a:rPr>
              <a:t>Non-Microcosm/Wertz (489,525 sh.) = 56.1% of votes.</a:t>
            </a:r>
          </a:p>
        </p:txBody>
      </p:sp>
      <p:sp>
        <p:nvSpPr>
          <p:cNvPr id="64" name="TextBox 63"/>
          <p:cNvSpPr txBox="1"/>
          <p:nvPr/>
        </p:nvSpPr>
        <p:spPr>
          <a:xfrm>
            <a:off x="256032" y="3108960"/>
            <a:ext cx="4206240" cy="164592"/>
          </a:xfrm>
          <a:prstGeom prst="rect">
            <a:avLst/>
          </a:prstGeom>
          <a:noFill/>
        </p:spPr>
        <p:txBody>
          <a:bodyPr wrap="none" anchor="ctr">
            <a:spAutoFit/>
          </a:bodyPr>
          <a:lstStyle/>
          <a:p>
            <a:r>
              <a:rPr lang="en-US" sz="1000" dirty="0">
                <a:solidFill>
                  <a:srgbClr val="F26A21"/>
                </a:solidFill>
                <a:latin typeface="Calibri"/>
              </a:rPr>
              <a:t>Microcosm/Wertz group 43.9% — cannot unilaterally pass Motion 5.</a:t>
            </a:r>
          </a:p>
        </p:txBody>
      </p:sp>
      <p:sp>
        <p:nvSpPr>
          <p:cNvPr id="65" name="TextBox 64"/>
          <p:cNvSpPr txBox="1"/>
          <p:nvPr/>
        </p:nvSpPr>
        <p:spPr>
          <a:xfrm>
            <a:off x="4782312" y="770088"/>
            <a:ext cx="4114800" cy="182880"/>
          </a:xfrm>
          <a:prstGeom prst="rect">
            <a:avLst/>
          </a:prstGeom>
          <a:noFill/>
        </p:spPr>
        <p:txBody>
          <a:bodyPr wrap="none" anchor="ctr">
            <a:spAutoFit/>
          </a:bodyPr>
          <a:lstStyle/>
          <a:p>
            <a:r>
              <a:rPr lang="en-US" sz="1000" b="1" dirty="0">
                <a:solidFill>
                  <a:srgbClr val="CCCCCC"/>
                </a:solidFill>
                <a:latin typeface="Calibri"/>
              </a:rPr>
              <a:t>Exos $790K Invested — How Accumulated</a:t>
            </a:r>
          </a:p>
        </p:txBody>
      </p:sp>
      <p:sp>
        <p:nvSpPr>
          <p:cNvPr id="68" name="TextBox 67"/>
          <p:cNvSpPr txBox="1"/>
          <p:nvPr/>
        </p:nvSpPr>
        <p:spPr>
          <a:xfrm>
            <a:off x="4800600" y="1142882"/>
            <a:ext cx="2560320" cy="155448"/>
          </a:xfrm>
          <a:prstGeom prst="rect">
            <a:avLst/>
          </a:prstGeom>
          <a:noFill/>
        </p:spPr>
        <p:txBody>
          <a:bodyPr wrap="none" anchor="ctr">
            <a:spAutoFit/>
          </a:bodyPr>
          <a:lstStyle/>
          <a:p>
            <a:r>
              <a:rPr lang="en-US" sz="1000" dirty="0">
                <a:solidFill>
                  <a:srgbClr val="CCCCCC"/>
                </a:solidFill>
                <a:latin typeface="Calibri"/>
              </a:rPr>
              <a:t>12/21/2023: follow-on</a:t>
            </a:r>
          </a:p>
        </p:txBody>
      </p:sp>
      <p:sp>
        <p:nvSpPr>
          <p:cNvPr id="69" name="TextBox 68"/>
          <p:cNvSpPr txBox="1"/>
          <p:nvPr/>
        </p:nvSpPr>
        <p:spPr>
          <a:xfrm>
            <a:off x="7406640" y="1133856"/>
            <a:ext cx="1463040" cy="155448"/>
          </a:xfrm>
          <a:prstGeom prst="rect">
            <a:avLst/>
          </a:prstGeom>
          <a:noFill/>
        </p:spPr>
        <p:txBody>
          <a:bodyPr wrap="none" anchor="ctr">
            <a:spAutoFit/>
          </a:bodyPr>
          <a:lstStyle/>
          <a:p>
            <a:r>
              <a:rPr lang="en-US" sz="1000" dirty="0">
                <a:solidFill>
                  <a:srgbClr val="F26A21"/>
                </a:solidFill>
                <a:latin typeface="Calibri"/>
              </a:rPr>
              <a:t> $60,000</a:t>
            </a:r>
          </a:p>
        </p:txBody>
      </p:sp>
      <p:sp>
        <p:nvSpPr>
          <p:cNvPr id="70" name="TextBox 69"/>
          <p:cNvSpPr txBox="1"/>
          <p:nvPr/>
        </p:nvSpPr>
        <p:spPr>
          <a:xfrm>
            <a:off x="4800600" y="1303010"/>
            <a:ext cx="2560320" cy="155448"/>
          </a:xfrm>
          <a:prstGeom prst="rect">
            <a:avLst/>
          </a:prstGeom>
          <a:noFill/>
        </p:spPr>
        <p:txBody>
          <a:bodyPr wrap="none" anchor="ctr">
            <a:spAutoFit/>
          </a:bodyPr>
          <a:lstStyle/>
          <a:p>
            <a:r>
              <a:rPr lang="en-US" sz="1000" dirty="0">
                <a:solidFill>
                  <a:srgbClr val="CCCCCC"/>
                </a:solidFill>
                <a:latin typeface="Calibri"/>
              </a:rPr>
              <a:t>Mar–Apr 2024: follow-on</a:t>
            </a:r>
          </a:p>
        </p:txBody>
      </p:sp>
      <p:sp>
        <p:nvSpPr>
          <p:cNvPr id="71" name="TextBox 70"/>
          <p:cNvSpPr txBox="1"/>
          <p:nvPr/>
        </p:nvSpPr>
        <p:spPr>
          <a:xfrm>
            <a:off x="7406640" y="1298448"/>
            <a:ext cx="1463040" cy="155448"/>
          </a:xfrm>
          <a:prstGeom prst="rect">
            <a:avLst/>
          </a:prstGeom>
          <a:noFill/>
        </p:spPr>
        <p:txBody>
          <a:bodyPr wrap="none" anchor="ctr">
            <a:spAutoFit/>
          </a:bodyPr>
          <a:lstStyle/>
          <a:p>
            <a:r>
              <a:rPr lang="en-US" sz="1000" dirty="0">
                <a:solidFill>
                  <a:srgbClr val="F26A21"/>
                </a:solidFill>
                <a:latin typeface="Calibri"/>
              </a:rPr>
              <a:t>$250,000</a:t>
            </a:r>
          </a:p>
        </p:txBody>
      </p:sp>
      <p:sp>
        <p:nvSpPr>
          <p:cNvPr id="72" name="TextBox 71"/>
          <p:cNvSpPr txBox="1"/>
          <p:nvPr/>
        </p:nvSpPr>
        <p:spPr>
          <a:xfrm>
            <a:off x="4800600" y="1463040"/>
            <a:ext cx="2560320" cy="155448"/>
          </a:xfrm>
          <a:prstGeom prst="rect">
            <a:avLst/>
          </a:prstGeom>
          <a:noFill/>
        </p:spPr>
        <p:txBody>
          <a:bodyPr wrap="none" anchor="ctr">
            <a:spAutoFit/>
          </a:bodyPr>
          <a:lstStyle/>
          <a:p>
            <a:r>
              <a:rPr lang="en-US" sz="1000" dirty="0">
                <a:solidFill>
                  <a:srgbClr val="CCCCCC"/>
                </a:solidFill>
                <a:latin typeface="Calibri"/>
              </a:rPr>
              <a:t>7/24/2024: $30K loan → equity</a:t>
            </a:r>
          </a:p>
        </p:txBody>
      </p:sp>
      <p:sp>
        <p:nvSpPr>
          <p:cNvPr id="73" name="TextBox 72"/>
          <p:cNvSpPr txBox="1"/>
          <p:nvPr/>
        </p:nvSpPr>
        <p:spPr>
          <a:xfrm>
            <a:off x="7406640" y="1463040"/>
            <a:ext cx="1463040" cy="155448"/>
          </a:xfrm>
          <a:prstGeom prst="rect">
            <a:avLst/>
          </a:prstGeom>
          <a:noFill/>
        </p:spPr>
        <p:txBody>
          <a:bodyPr wrap="none" anchor="ctr">
            <a:spAutoFit/>
          </a:bodyPr>
          <a:lstStyle/>
          <a:p>
            <a:r>
              <a:rPr lang="en-US" sz="1000" dirty="0">
                <a:solidFill>
                  <a:srgbClr val="F26A21"/>
                </a:solidFill>
                <a:latin typeface="Calibri"/>
              </a:rPr>
              <a:t> $30,000</a:t>
            </a:r>
          </a:p>
        </p:txBody>
      </p:sp>
      <p:sp>
        <p:nvSpPr>
          <p:cNvPr id="74" name="TextBox 73"/>
          <p:cNvSpPr txBox="1"/>
          <p:nvPr/>
        </p:nvSpPr>
        <p:spPr>
          <a:xfrm>
            <a:off x="4800600" y="1664208"/>
            <a:ext cx="2560320" cy="155448"/>
          </a:xfrm>
          <a:prstGeom prst="rect">
            <a:avLst/>
          </a:prstGeom>
          <a:noFill/>
        </p:spPr>
        <p:txBody>
          <a:bodyPr wrap="none" anchor="ctr">
            <a:spAutoFit/>
          </a:bodyPr>
          <a:lstStyle/>
          <a:p>
            <a:r>
              <a:rPr lang="en-US" sz="1000" b="1" dirty="0">
                <a:solidFill>
                  <a:srgbClr val="FFFFFF"/>
                </a:solidFill>
                <a:latin typeface="Calibri"/>
              </a:rPr>
              <a:t>Total</a:t>
            </a:r>
          </a:p>
        </p:txBody>
      </p:sp>
      <p:sp>
        <p:nvSpPr>
          <p:cNvPr id="75" name="TextBox 74"/>
          <p:cNvSpPr txBox="1"/>
          <p:nvPr/>
        </p:nvSpPr>
        <p:spPr>
          <a:xfrm>
            <a:off x="7406640" y="1664208"/>
            <a:ext cx="1463040" cy="155448"/>
          </a:xfrm>
          <a:prstGeom prst="rect">
            <a:avLst/>
          </a:prstGeom>
          <a:noFill/>
        </p:spPr>
        <p:txBody>
          <a:bodyPr wrap="none" anchor="ctr">
            <a:spAutoFit/>
          </a:bodyPr>
          <a:lstStyle/>
          <a:p>
            <a:r>
              <a:rPr lang="en-US" sz="1000" b="1" dirty="0">
                <a:solidFill>
                  <a:srgbClr val="44BB44"/>
                </a:solidFill>
                <a:latin typeface="Calibri"/>
              </a:rPr>
              <a:t>$790,000</a:t>
            </a:r>
          </a:p>
        </p:txBody>
      </p:sp>
      <p:sp>
        <p:nvSpPr>
          <p:cNvPr id="76" name="Rectangle 75"/>
          <p:cNvSpPr/>
          <p:nvPr/>
        </p:nvSpPr>
        <p:spPr>
          <a:xfrm>
            <a:off x="4736592" y="1856231"/>
            <a:ext cx="4206240" cy="548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800677" y="1917895"/>
            <a:ext cx="4114800" cy="182880"/>
          </a:xfrm>
          <a:prstGeom prst="rect">
            <a:avLst/>
          </a:prstGeom>
          <a:noFill/>
        </p:spPr>
        <p:txBody>
          <a:bodyPr wrap="none" anchor="ctr">
            <a:spAutoFit/>
          </a:bodyPr>
          <a:lstStyle/>
          <a:p>
            <a:r>
              <a:rPr lang="en-US" sz="1000" b="1" dirty="0">
                <a:solidFill>
                  <a:srgbClr val="CCCCCC"/>
                </a:solidFill>
                <a:latin typeface="Calibri"/>
              </a:rPr>
              <a:t>PAID-IN CAPITAL (SSLC Books vs. Register)</a:t>
            </a:r>
          </a:p>
        </p:txBody>
      </p:sp>
      <p:sp>
        <p:nvSpPr>
          <p:cNvPr id="78" name="TextBox 77"/>
          <p:cNvSpPr txBox="1"/>
          <p:nvPr/>
        </p:nvSpPr>
        <p:spPr>
          <a:xfrm>
            <a:off x="4800677" y="2137116"/>
            <a:ext cx="2743200" cy="155448"/>
          </a:xfrm>
          <a:prstGeom prst="rect">
            <a:avLst/>
          </a:prstGeom>
          <a:noFill/>
        </p:spPr>
        <p:txBody>
          <a:bodyPr wrap="none" anchor="ctr">
            <a:spAutoFit/>
          </a:bodyPr>
          <a:lstStyle/>
          <a:p>
            <a:r>
              <a:rPr lang="en-US" sz="1000" dirty="0">
                <a:solidFill>
                  <a:srgbClr val="CCCCCC"/>
                </a:solidFill>
                <a:latin typeface="Calibri"/>
              </a:rPr>
              <a:t>Common stock (Acct 3010)</a:t>
            </a:r>
          </a:p>
        </p:txBody>
      </p:sp>
      <p:sp>
        <p:nvSpPr>
          <p:cNvPr id="79" name="TextBox 78"/>
          <p:cNvSpPr txBox="1"/>
          <p:nvPr/>
        </p:nvSpPr>
        <p:spPr>
          <a:xfrm>
            <a:off x="7571231" y="2121408"/>
            <a:ext cx="1371600" cy="155448"/>
          </a:xfrm>
          <a:prstGeom prst="rect">
            <a:avLst/>
          </a:prstGeom>
          <a:noFill/>
        </p:spPr>
        <p:txBody>
          <a:bodyPr wrap="none" anchor="ctr">
            <a:spAutoFit/>
          </a:bodyPr>
          <a:lstStyle/>
          <a:p>
            <a:r>
              <a:rPr lang="en-US" sz="1000" dirty="0">
                <a:solidFill>
                  <a:srgbClr val="CCCCCC"/>
                </a:solidFill>
                <a:latin typeface="Calibri"/>
              </a:rPr>
              <a:t>$1,010,423</a:t>
            </a:r>
          </a:p>
        </p:txBody>
      </p:sp>
      <p:sp>
        <p:nvSpPr>
          <p:cNvPr id="80" name="TextBox 79"/>
          <p:cNvSpPr txBox="1"/>
          <p:nvPr/>
        </p:nvSpPr>
        <p:spPr>
          <a:xfrm>
            <a:off x="4800677" y="2325548"/>
            <a:ext cx="2743200" cy="155448"/>
          </a:xfrm>
          <a:prstGeom prst="rect">
            <a:avLst/>
          </a:prstGeom>
          <a:noFill/>
        </p:spPr>
        <p:txBody>
          <a:bodyPr wrap="none" anchor="ctr">
            <a:spAutoFit/>
          </a:bodyPr>
          <a:lstStyle/>
          <a:p>
            <a:r>
              <a:rPr lang="en-US" sz="1000" dirty="0">
                <a:solidFill>
                  <a:srgbClr val="CCCCCC"/>
                </a:solidFill>
                <a:latin typeface="Calibri"/>
              </a:rPr>
              <a:t>APIC (Acct 3020)</a:t>
            </a:r>
          </a:p>
        </p:txBody>
      </p:sp>
      <p:sp>
        <p:nvSpPr>
          <p:cNvPr id="81" name="TextBox 80"/>
          <p:cNvSpPr txBox="1"/>
          <p:nvPr/>
        </p:nvSpPr>
        <p:spPr>
          <a:xfrm>
            <a:off x="7571231" y="2286000"/>
            <a:ext cx="1371600" cy="155448"/>
          </a:xfrm>
          <a:prstGeom prst="rect">
            <a:avLst/>
          </a:prstGeom>
          <a:noFill/>
        </p:spPr>
        <p:txBody>
          <a:bodyPr wrap="none" anchor="ctr">
            <a:spAutoFit/>
          </a:bodyPr>
          <a:lstStyle/>
          <a:p>
            <a:r>
              <a:rPr lang="en-US" sz="1000" dirty="0">
                <a:solidFill>
                  <a:srgbClr val="CCCCCC"/>
                </a:solidFill>
                <a:latin typeface="Calibri"/>
              </a:rPr>
              <a:t>$4,042</a:t>
            </a:r>
          </a:p>
        </p:txBody>
      </p:sp>
      <p:sp>
        <p:nvSpPr>
          <p:cNvPr id="82" name="TextBox 81"/>
          <p:cNvSpPr txBox="1"/>
          <p:nvPr/>
        </p:nvSpPr>
        <p:spPr>
          <a:xfrm>
            <a:off x="4800677" y="2473442"/>
            <a:ext cx="2743200" cy="155448"/>
          </a:xfrm>
          <a:prstGeom prst="rect">
            <a:avLst/>
          </a:prstGeom>
          <a:noFill/>
        </p:spPr>
        <p:txBody>
          <a:bodyPr wrap="none" anchor="ctr">
            <a:spAutoFit/>
          </a:bodyPr>
          <a:lstStyle/>
          <a:p>
            <a:r>
              <a:rPr lang="en-US" sz="1000" b="1" dirty="0">
                <a:solidFill>
                  <a:srgbClr val="CCCCCC"/>
                </a:solidFill>
                <a:latin typeface="Calibri"/>
              </a:rPr>
              <a:t>Total paid-in (books)</a:t>
            </a:r>
          </a:p>
        </p:txBody>
      </p:sp>
      <p:sp>
        <p:nvSpPr>
          <p:cNvPr id="83" name="TextBox 82"/>
          <p:cNvSpPr txBox="1"/>
          <p:nvPr/>
        </p:nvSpPr>
        <p:spPr>
          <a:xfrm>
            <a:off x="7571231" y="2468880"/>
            <a:ext cx="1371600" cy="155448"/>
          </a:xfrm>
          <a:prstGeom prst="rect">
            <a:avLst/>
          </a:prstGeom>
          <a:noFill/>
        </p:spPr>
        <p:txBody>
          <a:bodyPr wrap="none" anchor="ctr">
            <a:spAutoFit/>
          </a:bodyPr>
          <a:lstStyle/>
          <a:p>
            <a:r>
              <a:rPr lang="en-US" sz="1000" b="1" dirty="0">
                <a:solidFill>
                  <a:srgbClr val="FFFFFF"/>
                </a:solidFill>
                <a:latin typeface="Calibri"/>
              </a:rPr>
              <a:t>$1,014,465</a:t>
            </a:r>
          </a:p>
        </p:txBody>
      </p:sp>
      <p:sp>
        <p:nvSpPr>
          <p:cNvPr id="84" name="TextBox 83"/>
          <p:cNvSpPr txBox="1"/>
          <p:nvPr/>
        </p:nvSpPr>
        <p:spPr>
          <a:xfrm>
            <a:off x="4736592" y="2633472"/>
            <a:ext cx="2743200" cy="155448"/>
          </a:xfrm>
          <a:prstGeom prst="rect">
            <a:avLst/>
          </a:prstGeom>
          <a:noFill/>
        </p:spPr>
        <p:txBody>
          <a:bodyPr wrap="none" anchor="ctr">
            <a:spAutoFit/>
          </a:bodyPr>
          <a:lstStyle/>
          <a:p>
            <a:r>
              <a:rPr lang="en-US" sz="1000" dirty="0">
                <a:solidFill>
                  <a:srgbClr val="CCCCCC"/>
                </a:solidFill>
                <a:latin typeface="Calibri"/>
              </a:rPr>
              <a:t>  Exos portion (books=register)</a:t>
            </a:r>
          </a:p>
        </p:txBody>
      </p:sp>
      <p:sp>
        <p:nvSpPr>
          <p:cNvPr id="85" name="TextBox 84"/>
          <p:cNvSpPr txBox="1"/>
          <p:nvPr/>
        </p:nvSpPr>
        <p:spPr>
          <a:xfrm>
            <a:off x="7571231" y="2633472"/>
            <a:ext cx="1371600" cy="155448"/>
          </a:xfrm>
          <a:prstGeom prst="rect">
            <a:avLst/>
          </a:prstGeom>
          <a:noFill/>
        </p:spPr>
        <p:txBody>
          <a:bodyPr wrap="none" anchor="ctr">
            <a:spAutoFit/>
          </a:bodyPr>
          <a:lstStyle/>
          <a:p>
            <a:r>
              <a:rPr lang="en-US" sz="1000" dirty="0">
                <a:solidFill>
                  <a:srgbClr val="F26A21"/>
                </a:solidFill>
                <a:latin typeface="Calibri"/>
              </a:rPr>
              <a:t>$790,000</a:t>
            </a:r>
          </a:p>
        </p:txBody>
      </p:sp>
      <p:sp>
        <p:nvSpPr>
          <p:cNvPr id="86" name="TextBox 85"/>
          <p:cNvSpPr txBox="1"/>
          <p:nvPr/>
        </p:nvSpPr>
        <p:spPr>
          <a:xfrm>
            <a:off x="4736592" y="2798064"/>
            <a:ext cx="2743200" cy="155448"/>
          </a:xfrm>
          <a:prstGeom prst="rect">
            <a:avLst/>
          </a:prstGeom>
          <a:noFill/>
        </p:spPr>
        <p:txBody>
          <a:bodyPr wrap="none" anchor="ctr">
            <a:spAutoFit/>
          </a:bodyPr>
          <a:lstStyle/>
          <a:p>
            <a:r>
              <a:rPr lang="en-US" sz="1000" dirty="0">
                <a:solidFill>
                  <a:srgbClr val="CCCCCC"/>
                </a:solidFill>
                <a:latin typeface="Calibri"/>
              </a:rPr>
              <a:t>  All other holders (books)</a:t>
            </a:r>
          </a:p>
        </p:txBody>
      </p:sp>
      <p:sp>
        <p:nvSpPr>
          <p:cNvPr id="87" name="TextBox 86"/>
          <p:cNvSpPr txBox="1"/>
          <p:nvPr/>
        </p:nvSpPr>
        <p:spPr>
          <a:xfrm>
            <a:off x="7571231" y="2798064"/>
            <a:ext cx="1371600" cy="155448"/>
          </a:xfrm>
          <a:prstGeom prst="rect">
            <a:avLst/>
          </a:prstGeom>
          <a:noFill/>
        </p:spPr>
        <p:txBody>
          <a:bodyPr wrap="none" anchor="ctr">
            <a:spAutoFit/>
          </a:bodyPr>
          <a:lstStyle/>
          <a:p>
            <a:r>
              <a:rPr lang="en-US" sz="1000" dirty="0">
                <a:solidFill>
                  <a:srgbClr val="CCCCCC"/>
                </a:solidFill>
                <a:latin typeface="Calibri"/>
              </a:rPr>
              <a:t>$224,465</a:t>
            </a:r>
          </a:p>
        </p:txBody>
      </p:sp>
      <p:sp>
        <p:nvSpPr>
          <p:cNvPr id="88" name="TextBox 87"/>
          <p:cNvSpPr txBox="1"/>
          <p:nvPr/>
        </p:nvSpPr>
        <p:spPr>
          <a:xfrm>
            <a:off x="4800677" y="2969798"/>
            <a:ext cx="2743200" cy="155448"/>
          </a:xfrm>
          <a:prstGeom prst="rect">
            <a:avLst/>
          </a:prstGeom>
          <a:noFill/>
        </p:spPr>
        <p:txBody>
          <a:bodyPr wrap="none" anchor="ctr">
            <a:spAutoFit/>
          </a:bodyPr>
          <a:lstStyle/>
          <a:p>
            <a:r>
              <a:rPr lang="en-US" sz="1000" b="1" dirty="0">
                <a:solidFill>
                  <a:srgbClr val="CCCCCC"/>
                </a:solidFill>
                <a:latin typeface="Calibri"/>
              </a:rPr>
              <a:t>Non-Exos at register basis</a:t>
            </a:r>
          </a:p>
        </p:txBody>
      </p:sp>
      <p:sp>
        <p:nvSpPr>
          <p:cNvPr id="89" name="TextBox 88"/>
          <p:cNvSpPr txBox="1"/>
          <p:nvPr/>
        </p:nvSpPr>
        <p:spPr>
          <a:xfrm>
            <a:off x="7571231" y="2980944"/>
            <a:ext cx="1371600" cy="155448"/>
          </a:xfrm>
          <a:prstGeom prst="rect">
            <a:avLst/>
          </a:prstGeom>
          <a:noFill/>
        </p:spPr>
        <p:txBody>
          <a:bodyPr wrap="none" anchor="ctr">
            <a:spAutoFit/>
          </a:bodyPr>
          <a:lstStyle/>
          <a:p>
            <a:r>
              <a:rPr lang="en-US" sz="1000" b="1" dirty="0">
                <a:solidFill>
                  <a:srgbClr val="FFCC44"/>
                </a:solidFill>
                <a:latin typeface="Calibri"/>
              </a:rPr>
              <a:t>$460,752</a:t>
            </a:r>
          </a:p>
        </p:txBody>
      </p:sp>
      <p:sp>
        <p:nvSpPr>
          <p:cNvPr id="90" name="TextBox 89"/>
          <p:cNvSpPr txBox="1"/>
          <p:nvPr/>
        </p:nvSpPr>
        <p:spPr>
          <a:xfrm>
            <a:off x="4828031" y="3184398"/>
            <a:ext cx="4114800" cy="164592"/>
          </a:xfrm>
          <a:prstGeom prst="rect">
            <a:avLst/>
          </a:prstGeom>
          <a:noFill/>
        </p:spPr>
        <p:txBody>
          <a:bodyPr wrap="none" anchor="ctr">
            <a:spAutoFit/>
          </a:bodyPr>
          <a:lstStyle/>
          <a:p>
            <a:r>
              <a:rPr lang="en-US" sz="1000" i="1" dirty="0">
                <a:solidFill>
                  <a:srgbClr val="FFCC44"/>
                </a:solidFill>
                <a:latin typeface="Calibri"/>
              </a:rPr>
              <a:t>Register basis ($461K) exceeds books ($224K). Motion 2 reconciles.</a:t>
            </a:r>
          </a:p>
        </p:txBody>
      </p:sp>
      <p:sp>
        <p:nvSpPr>
          <p:cNvPr id="91" name="Rectangle 90"/>
          <p:cNvSpPr/>
          <p:nvPr/>
        </p:nvSpPr>
        <p:spPr>
          <a:xfrm>
            <a:off x="0" y="3383280"/>
            <a:ext cx="9144000" cy="16459"/>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0" y="3401568"/>
            <a:ext cx="9144000" cy="48463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56032" y="3419856"/>
            <a:ext cx="8631936" cy="182880"/>
          </a:xfrm>
          <a:prstGeom prst="rect">
            <a:avLst/>
          </a:prstGeom>
          <a:noFill/>
        </p:spPr>
        <p:txBody>
          <a:bodyPr wrap="none" anchor="ctr">
            <a:spAutoFit/>
          </a:bodyPr>
          <a:lstStyle/>
          <a:p>
            <a:r>
              <a:rPr lang="en-US" sz="1000" b="1" dirty="0">
                <a:solidFill>
                  <a:srgbClr val="CCCCCC"/>
                </a:solidFill>
                <a:latin typeface="Calibri"/>
              </a:rPr>
              <a:t>VOTING POWER  (non-Microcosm/Wertz: Exos 18.06% + Conger 8.37% + Rufer 10.43% + Other 19.25%)</a:t>
            </a:r>
          </a:p>
        </p:txBody>
      </p:sp>
      <p:sp>
        <p:nvSpPr>
          <p:cNvPr id="94" name="TextBox 93"/>
          <p:cNvSpPr txBox="1"/>
          <p:nvPr/>
        </p:nvSpPr>
        <p:spPr>
          <a:xfrm>
            <a:off x="256032" y="3621024"/>
            <a:ext cx="3657600" cy="201168"/>
          </a:xfrm>
          <a:prstGeom prst="rect">
            <a:avLst/>
          </a:prstGeom>
          <a:noFill/>
        </p:spPr>
        <p:txBody>
          <a:bodyPr wrap="none" anchor="ctr">
            <a:spAutoFit/>
          </a:bodyPr>
          <a:lstStyle/>
          <a:p>
            <a:r>
              <a:rPr lang="en-US" sz="1200" b="1" dirty="0">
                <a:solidFill>
                  <a:srgbClr val="44BB44"/>
                </a:solidFill>
                <a:latin typeface="Calibri"/>
              </a:rPr>
              <a:t>489,525 / 872,525 = 56.1% of all votes</a:t>
            </a:r>
          </a:p>
        </p:txBody>
      </p:sp>
      <p:sp>
        <p:nvSpPr>
          <p:cNvPr id="95" name="TextBox 94"/>
          <p:cNvSpPr txBox="1"/>
          <p:nvPr/>
        </p:nvSpPr>
        <p:spPr>
          <a:xfrm>
            <a:off x="4023360" y="3621024"/>
            <a:ext cx="4846320" cy="201168"/>
          </a:xfrm>
          <a:prstGeom prst="rect">
            <a:avLst/>
          </a:prstGeom>
          <a:noFill/>
        </p:spPr>
        <p:txBody>
          <a:bodyPr wrap="none" anchor="ctr">
            <a:spAutoFit/>
          </a:bodyPr>
          <a:lstStyle/>
          <a:p>
            <a:r>
              <a:rPr lang="en-US" sz="1000" dirty="0">
                <a:solidFill>
                  <a:srgbClr val="F26A21"/>
                </a:solidFill>
                <a:latin typeface="Calibri"/>
              </a:rPr>
              <a:t>Microcosm/Wertz 43.9% — cannot pass Motion 5 alone.</a:t>
            </a:r>
          </a:p>
        </p:txBody>
      </p:sp>
      <p:sp>
        <p:nvSpPr>
          <p:cNvPr id="96" name="TextBox 95"/>
          <p:cNvSpPr txBox="1"/>
          <p:nvPr/>
        </p:nvSpPr>
        <p:spPr>
          <a:xfrm>
            <a:off x="256032" y="969264"/>
            <a:ext cx="914400" cy="164592"/>
          </a:xfrm>
          <a:prstGeom prst="rect">
            <a:avLst/>
          </a:prstGeom>
          <a:noFill/>
        </p:spPr>
        <p:txBody>
          <a:bodyPr wrap="none">
            <a:spAutoFit/>
          </a:bodyPr>
          <a:lstStyle/>
          <a:p>
            <a:r>
              <a:rPr lang="en-US" sz="1000" b="1" dirty="0">
                <a:solidFill>
                  <a:srgbClr val="F26A21"/>
                </a:solidFill>
                <a:latin typeface="Calibri"/>
              </a:rPr>
              <a:t>Holder</a:t>
            </a:r>
          </a:p>
        </p:txBody>
      </p:sp>
      <p:sp>
        <p:nvSpPr>
          <p:cNvPr id="97" name="TextBox 96"/>
          <p:cNvSpPr txBox="1"/>
          <p:nvPr/>
        </p:nvSpPr>
        <p:spPr>
          <a:xfrm>
            <a:off x="1188720" y="969264"/>
            <a:ext cx="685800" cy="164592"/>
          </a:xfrm>
          <a:prstGeom prst="rect">
            <a:avLst/>
          </a:prstGeom>
          <a:noFill/>
        </p:spPr>
        <p:txBody>
          <a:bodyPr wrap="none">
            <a:spAutoFit/>
          </a:bodyPr>
          <a:lstStyle/>
          <a:p>
            <a:pPr algn="r"/>
            <a:r>
              <a:rPr lang="en-US" sz="1000" b="1" dirty="0">
                <a:solidFill>
                  <a:srgbClr val="F26A21"/>
                </a:solidFill>
                <a:latin typeface="Calibri"/>
              </a:rPr>
              <a:t>Register</a:t>
            </a:r>
          </a:p>
        </p:txBody>
      </p:sp>
      <p:sp>
        <p:nvSpPr>
          <p:cNvPr id="98" name="TextBox 97"/>
          <p:cNvSpPr txBox="1"/>
          <p:nvPr/>
        </p:nvSpPr>
        <p:spPr>
          <a:xfrm>
            <a:off x="1901952" y="969264"/>
            <a:ext cx="594360" cy="164592"/>
          </a:xfrm>
          <a:prstGeom prst="rect">
            <a:avLst/>
          </a:prstGeom>
          <a:noFill/>
        </p:spPr>
        <p:txBody>
          <a:bodyPr wrap="none">
            <a:spAutoFit/>
          </a:bodyPr>
          <a:lstStyle/>
          <a:p>
            <a:pPr algn="r"/>
            <a:r>
              <a:rPr lang="en-US" sz="1000" b="1" dirty="0">
                <a:solidFill>
                  <a:srgbClr val="F26A21"/>
                </a:solidFill>
                <a:latin typeface="Calibri"/>
              </a:rPr>
              <a:t>Reg %</a:t>
            </a:r>
          </a:p>
        </p:txBody>
      </p:sp>
      <p:sp>
        <p:nvSpPr>
          <p:cNvPr id="99" name="TextBox 98"/>
          <p:cNvSpPr txBox="1"/>
          <p:nvPr/>
        </p:nvSpPr>
        <p:spPr>
          <a:xfrm>
            <a:off x="2523744" y="969264"/>
            <a:ext cx="685800" cy="164592"/>
          </a:xfrm>
          <a:prstGeom prst="rect">
            <a:avLst/>
          </a:prstGeom>
          <a:noFill/>
        </p:spPr>
        <p:txBody>
          <a:bodyPr wrap="none">
            <a:spAutoFit/>
          </a:bodyPr>
          <a:lstStyle/>
          <a:p>
            <a:pPr algn="r"/>
            <a:r>
              <a:rPr lang="en-US" sz="1000" b="1" dirty="0">
                <a:solidFill>
                  <a:srgbClr val="F26A21"/>
                </a:solidFill>
                <a:latin typeface="Calibri"/>
              </a:rPr>
              <a:t>Ledger</a:t>
            </a:r>
          </a:p>
        </p:txBody>
      </p:sp>
      <p:sp>
        <p:nvSpPr>
          <p:cNvPr id="100" name="TextBox 99"/>
          <p:cNvSpPr txBox="1"/>
          <p:nvPr/>
        </p:nvSpPr>
        <p:spPr>
          <a:xfrm>
            <a:off x="3236976" y="969264"/>
            <a:ext cx="594360" cy="164592"/>
          </a:xfrm>
          <a:prstGeom prst="rect">
            <a:avLst/>
          </a:prstGeom>
          <a:noFill/>
        </p:spPr>
        <p:txBody>
          <a:bodyPr wrap="none">
            <a:spAutoFit/>
          </a:bodyPr>
          <a:lstStyle/>
          <a:p>
            <a:pPr algn="r"/>
            <a:r>
              <a:rPr lang="en-US" sz="1000" b="1" dirty="0">
                <a:solidFill>
                  <a:srgbClr val="F26A21"/>
                </a:solidFill>
                <a:latin typeface="Calibri"/>
              </a:rPr>
              <a:t>Ldgr %</a:t>
            </a:r>
          </a:p>
        </p:txBody>
      </p:sp>
      <p:sp>
        <p:nvSpPr>
          <p:cNvPr id="101" name="TextBox 100"/>
          <p:cNvSpPr txBox="1"/>
          <p:nvPr/>
        </p:nvSpPr>
        <p:spPr>
          <a:xfrm>
            <a:off x="3858768" y="969264"/>
            <a:ext cx="822960" cy="164592"/>
          </a:xfrm>
          <a:prstGeom prst="rect">
            <a:avLst/>
          </a:prstGeom>
          <a:noFill/>
        </p:spPr>
        <p:txBody>
          <a:bodyPr wrap="none">
            <a:spAutoFit/>
          </a:bodyPr>
          <a:lstStyle/>
          <a:p>
            <a:pPr algn="r"/>
            <a:r>
              <a:rPr lang="en-US" sz="1000" b="1" dirty="0">
                <a:solidFill>
                  <a:srgbClr val="F26A21"/>
                </a:solidFill>
                <a:latin typeface="Calibri"/>
              </a:rPr>
              <a:t>Diff</a:t>
            </a:r>
          </a:p>
        </p:txBody>
      </p:sp>
      <p:sp>
        <p:nvSpPr>
          <p:cNvPr id="102" name="Rectangle 101"/>
          <p:cNvSpPr/>
          <p:nvPr/>
        </p:nvSpPr>
        <p:spPr>
          <a:xfrm>
            <a:off x="256032" y="1143000"/>
            <a:ext cx="4206240" cy="548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256032" y="1152144"/>
            <a:ext cx="914400" cy="155448"/>
          </a:xfrm>
          <a:prstGeom prst="rect">
            <a:avLst/>
          </a:prstGeom>
          <a:noFill/>
        </p:spPr>
        <p:txBody>
          <a:bodyPr wrap="none">
            <a:spAutoFit/>
          </a:bodyPr>
          <a:lstStyle/>
          <a:p>
            <a:r>
              <a:rPr lang="en-US" sz="1000" dirty="0">
                <a:solidFill>
                  <a:srgbClr val="CCCCCC"/>
                </a:solidFill>
                <a:latin typeface="Calibri"/>
              </a:rPr>
              <a:t>Microcosm</a:t>
            </a:r>
          </a:p>
        </p:txBody>
      </p:sp>
      <p:sp>
        <p:nvSpPr>
          <p:cNvPr id="104" name="TextBox 103"/>
          <p:cNvSpPr txBox="1"/>
          <p:nvPr/>
        </p:nvSpPr>
        <p:spPr>
          <a:xfrm>
            <a:off x="1188720" y="1152144"/>
            <a:ext cx="685800" cy="155448"/>
          </a:xfrm>
          <a:prstGeom prst="rect">
            <a:avLst/>
          </a:prstGeom>
          <a:noFill/>
        </p:spPr>
        <p:txBody>
          <a:bodyPr wrap="none">
            <a:spAutoFit/>
          </a:bodyPr>
          <a:lstStyle/>
          <a:p>
            <a:pPr algn="r"/>
            <a:r>
              <a:rPr lang="en-US" sz="1000" dirty="0">
                <a:solidFill>
                  <a:srgbClr val="CCCCCC"/>
                </a:solidFill>
                <a:latin typeface="Calibri"/>
              </a:rPr>
              <a:t>280,000</a:t>
            </a:r>
          </a:p>
        </p:txBody>
      </p:sp>
      <p:sp>
        <p:nvSpPr>
          <p:cNvPr id="105" name="TextBox 104"/>
          <p:cNvSpPr txBox="1"/>
          <p:nvPr/>
        </p:nvSpPr>
        <p:spPr>
          <a:xfrm>
            <a:off x="1901952" y="1152144"/>
            <a:ext cx="594360" cy="155448"/>
          </a:xfrm>
          <a:prstGeom prst="rect">
            <a:avLst/>
          </a:prstGeom>
          <a:noFill/>
        </p:spPr>
        <p:txBody>
          <a:bodyPr wrap="none">
            <a:spAutoFit/>
          </a:bodyPr>
          <a:lstStyle/>
          <a:p>
            <a:pPr algn="r"/>
            <a:r>
              <a:rPr lang="en-US" sz="1000" dirty="0">
                <a:solidFill>
                  <a:srgbClr val="CCCCCC"/>
                </a:solidFill>
                <a:latin typeface="Calibri"/>
              </a:rPr>
              <a:t>32.09%</a:t>
            </a:r>
          </a:p>
        </p:txBody>
      </p:sp>
      <p:sp>
        <p:nvSpPr>
          <p:cNvPr id="106" name="TextBox 105"/>
          <p:cNvSpPr txBox="1"/>
          <p:nvPr/>
        </p:nvSpPr>
        <p:spPr>
          <a:xfrm>
            <a:off x="2523744" y="1152144"/>
            <a:ext cx="685800" cy="155448"/>
          </a:xfrm>
          <a:prstGeom prst="rect">
            <a:avLst/>
          </a:prstGeom>
          <a:noFill/>
        </p:spPr>
        <p:txBody>
          <a:bodyPr wrap="none">
            <a:spAutoFit/>
          </a:bodyPr>
          <a:lstStyle/>
          <a:p>
            <a:pPr algn="r"/>
            <a:r>
              <a:rPr lang="en-US" sz="1000" dirty="0">
                <a:solidFill>
                  <a:srgbClr val="CCCCCC"/>
                </a:solidFill>
                <a:latin typeface="Calibri"/>
              </a:rPr>
              <a:t>280,000</a:t>
            </a:r>
          </a:p>
        </p:txBody>
      </p:sp>
      <p:sp>
        <p:nvSpPr>
          <p:cNvPr id="107" name="TextBox 106"/>
          <p:cNvSpPr txBox="1"/>
          <p:nvPr/>
        </p:nvSpPr>
        <p:spPr>
          <a:xfrm>
            <a:off x="3236976" y="1152144"/>
            <a:ext cx="594360" cy="155448"/>
          </a:xfrm>
          <a:prstGeom prst="rect">
            <a:avLst/>
          </a:prstGeom>
          <a:noFill/>
        </p:spPr>
        <p:txBody>
          <a:bodyPr wrap="none">
            <a:spAutoFit/>
          </a:bodyPr>
          <a:lstStyle/>
          <a:p>
            <a:pPr algn="r"/>
            <a:r>
              <a:rPr lang="en-US" sz="1000" dirty="0">
                <a:solidFill>
                  <a:srgbClr val="CCCCCC"/>
                </a:solidFill>
                <a:latin typeface="Calibri"/>
              </a:rPr>
              <a:t>33.02%</a:t>
            </a:r>
          </a:p>
        </p:txBody>
      </p:sp>
      <p:sp>
        <p:nvSpPr>
          <p:cNvPr id="108" name="TextBox 107"/>
          <p:cNvSpPr txBox="1"/>
          <p:nvPr/>
        </p:nvSpPr>
        <p:spPr>
          <a:xfrm>
            <a:off x="3858768" y="1152144"/>
            <a:ext cx="822960" cy="155448"/>
          </a:xfrm>
          <a:prstGeom prst="rect">
            <a:avLst/>
          </a:prstGeom>
          <a:noFill/>
        </p:spPr>
        <p:txBody>
          <a:bodyPr wrap="none">
            <a:spAutoFit/>
          </a:bodyPr>
          <a:lstStyle/>
          <a:p>
            <a:pPr algn="r"/>
            <a:r>
              <a:rPr lang="en-US" sz="1000" dirty="0">
                <a:solidFill>
                  <a:srgbClr val="CCCCCC"/>
                </a:solidFill>
                <a:latin typeface="Calibri"/>
              </a:rPr>
              <a:t>0</a:t>
            </a:r>
          </a:p>
        </p:txBody>
      </p:sp>
      <p:sp>
        <p:nvSpPr>
          <p:cNvPr id="109" name="TextBox 108"/>
          <p:cNvSpPr txBox="1"/>
          <p:nvPr/>
        </p:nvSpPr>
        <p:spPr>
          <a:xfrm>
            <a:off x="256032" y="1316736"/>
            <a:ext cx="914400" cy="155448"/>
          </a:xfrm>
          <a:prstGeom prst="rect">
            <a:avLst/>
          </a:prstGeom>
          <a:noFill/>
        </p:spPr>
        <p:txBody>
          <a:bodyPr wrap="none">
            <a:spAutoFit/>
          </a:bodyPr>
          <a:lstStyle/>
          <a:p>
            <a:r>
              <a:rPr lang="en-US" sz="1000" dirty="0">
                <a:solidFill>
                  <a:srgbClr val="CCCCCC"/>
                </a:solidFill>
                <a:latin typeface="Calibri"/>
              </a:rPr>
              <a:t>Wertz family</a:t>
            </a:r>
          </a:p>
        </p:txBody>
      </p:sp>
      <p:sp>
        <p:nvSpPr>
          <p:cNvPr id="110" name="TextBox 109"/>
          <p:cNvSpPr txBox="1"/>
          <p:nvPr/>
        </p:nvSpPr>
        <p:spPr>
          <a:xfrm>
            <a:off x="1188720" y="1316736"/>
            <a:ext cx="685800" cy="155448"/>
          </a:xfrm>
          <a:prstGeom prst="rect">
            <a:avLst/>
          </a:prstGeom>
          <a:noFill/>
        </p:spPr>
        <p:txBody>
          <a:bodyPr wrap="none">
            <a:spAutoFit/>
          </a:bodyPr>
          <a:lstStyle/>
          <a:p>
            <a:pPr algn="r"/>
            <a:r>
              <a:rPr lang="en-US" sz="1000" dirty="0">
                <a:solidFill>
                  <a:srgbClr val="CCCCCC"/>
                </a:solidFill>
                <a:latin typeface="Calibri"/>
              </a:rPr>
              <a:t>103,000</a:t>
            </a:r>
          </a:p>
        </p:txBody>
      </p:sp>
      <p:sp>
        <p:nvSpPr>
          <p:cNvPr id="111" name="TextBox 110"/>
          <p:cNvSpPr txBox="1"/>
          <p:nvPr/>
        </p:nvSpPr>
        <p:spPr>
          <a:xfrm>
            <a:off x="1901952" y="1316736"/>
            <a:ext cx="594360" cy="155448"/>
          </a:xfrm>
          <a:prstGeom prst="rect">
            <a:avLst/>
          </a:prstGeom>
          <a:noFill/>
        </p:spPr>
        <p:txBody>
          <a:bodyPr wrap="none">
            <a:spAutoFit/>
          </a:bodyPr>
          <a:lstStyle/>
          <a:p>
            <a:pPr algn="r"/>
            <a:r>
              <a:rPr lang="en-US" sz="1000" dirty="0">
                <a:solidFill>
                  <a:srgbClr val="CCCCCC"/>
                </a:solidFill>
                <a:latin typeface="Calibri"/>
              </a:rPr>
              <a:t>11.80%</a:t>
            </a:r>
          </a:p>
        </p:txBody>
      </p:sp>
      <p:sp>
        <p:nvSpPr>
          <p:cNvPr id="112" name="TextBox 111"/>
          <p:cNvSpPr txBox="1"/>
          <p:nvPr/>
        </p:nvSpPr>
        <p:spPr>
          <a:xfrm>
            <a:off x="2523744" y="1316736"/>
            <a:ext cx="685800" cy="155448"/>
          </a:xfrm>
          <a:prstGeom prst="rect">
            <a:avLst/>
          </a:prstGeom>
          <a:noFill/>
        </p:spPr>
        <p:txBody>
          <a:bodyPr wrap="none">
            <a:spAutoFit/>
          </a:bodyPr>
          <a:lstStyle/>
          <a:p>
            <a:pPr algn="r"/>
            <a:r>
              <a:rPr lang="en-US" sz="1000" dirty="0">
                <a:solidFill>
                  <a:srgbClr val="CCCCCC"/>
                </a:solidFill>
                <a:latin typeface="Calibri"/>
              </a:rPr>
              <a:t>103,000</a:t>
            </a:r>
          </a:p>
        </p:txBody>
      </p:sp>
      <p:sp>
        <p:nvSpPr>
          <p:cNvPr id="113" name="TextBox 112"/>
          <p:cNvSpPr txBox="1"/>
          <p:nvPr/>
        </p:nvSpPr>
        <p:spPr>
          <a:xfrm>
            <a:off x="3236976" y="1316736"/>
            <a:ext cx="594360" cy="155448"/>
          </a:xfrm>
          <a:prstGeom prst="rect">
            <a:avLst/>
          </a:prstGeom>
          <a:noFill/>
        </p:spPr>
        <p:txBody>
          <a:bodyPr wrap="none">
            <a:spAutoFit/>
          </a:bodyPr>
          <a:lstStyle/>
          <a:p>
            <a:pPr algn="r"/>
            <a:r>
              <a:rPr lang="en-US" sz="1000" dirty="0">
                <a:solidFill>
                  <a:srgbClr val="CCCCCC"/>
                </a:solidFill>
                <a:latin typeface="Calibri"/>
              </a:rPr>
              <a:t>12.15%</a:t>
            </a:r>
          </a:p>
        </p:txBody>
      </p:sp>
      <p:sp>
        <p:nvSpPr>
          <p:cNvPr id="114" name="TextBox 113"/>
          <p:cNvSpPr txBox="1"/>
          <p:nvPr/>
        </p:nvSpPr>
        <p:spPr>
          <a:xfrm>
            <a:off x="3858768" y="1316736"/>
            <a:ext cx="822960" cy="155448"/>
          </a:xfrm>
          <a:prstGeom prst="rect">
            <a:avLst/>
          </a:prstGeom>
          <a:noFill/>
        </p:spPr>
        <p:txBody>
          <a:bodyPr wrap="none">
            <a:spAutoFit/>
          </a:bodyPr>
          <a:lstStyle/>
          <a:p>
            <a:pPr algn="r"/>
            <a:r>
              <a:rPr lang="en-US" sz="1000" dirty="0">
                <a:solidFill>
                  <a:srgbClr val="CCCCCC"/>
                </a:solidFill>
                <a:latin typeface="Calibri"/>
              </a:rPr>
              <a:t>0</a:t>
            </a:r>
          </a:p>
        </p:txBody>
      </p:sp>
      <p:sp>
        <p:nvSpPr>
          <p:cNvPr id="115" name="TextBox 114"/>
          <p:cNvSpPr txBox="1"/>
          <p:nvPr/>
        </p:nvSpPr>
        <p:spPr>
          <a:xfrm>
            <a:off x="256032" y="1481328"/>
            <a:ext cx="914400" cy="155448"/>
          </a:xfrm>
          <a:prstGeom prst="rect">
            <a:avLst/>
          </a:prstGeom>
          <a:noFill/>
        </p:spPr>
        <p:txBody>
          <a:bodyPr wrap="none">
            <a:spAutoFit/>
          </a:bodyPr>
          <a:lstStyle/>
          <a:p>
            <a:r>
              <a:rPr lang="en-US" sz="1000" dirty="0" b="1">
                <a:solidFill>
                  <a:srgbClr val="FFFFFF"/>
                </a:solidFill>
                <a:latin typeface="Calibri"/>
              </a:rPr>
              <a:t>Exos</a:t>
            </a:r>
          </a:p>
        </p:txBody>
      </p:sp>
      <p:sp>
        <p:nvSpPr>
          <p:cNvPr id="116" name="TextBox 115"/>
          <p:cNvSpPr txBox="1"/>
          <p:nvPr/>
        </p:nvSpPr>
        <p:spPr>
          <a:xfrm>
            <a:off x="1188720" y="1481328"/>
            <a:ext cx="685800" cy="155448"/>
          </a:xfrm>
          <a:prstGeom prst="rect">
            <a:avLst/>
          </a:prstGeom>
          <a:noFill/>
        </p:spPr>
        <p:txBody>
          <a:bodyPr wrap="none">
            <a:spAutoFit/>
          </a:bodyPr>
          <a:lstStyle/>
          <a:p>
            <a:pPr algn="r"/>
            <a:r>
              <a:rPr lang="en-US" sz="1000" dirty="0" b="1">
                <a:solidFill>
                  <a:srgbClr val="FFFFFF"/>
                </a:solidFill>
                <a:latin typeface="Calibri"/>
              </a:rPr>
              <a:t>157,553</a:t>
            </a:r>
          </a:p>
        </p:txBody>
      </p:sp>
      <p:sp>
        <p:nvSpPr>
          <p:cNvPr id="117" name="TextBox 116"/>
          <p:cNvSpPr txBox="1"/>
          <p:nvPr/>
        </p:nvSpPr>
        <p:spPr>
          <a:xfrm>
            <a:off x="1901952" y="1481328"/>
            <a:ext cx="594360" cy="155448"/>
          </a:xfrm>
          <a:prstGeom prst="rect">
            <a:avLst/>
          </a:prstGeom>
          <a:noFill/>
        </p:spPr>
        <p:txBody>
          <a:bodyPr wrap="none">
            <a:spAutoFit/>
          </a:bodyPr>
          <a:lstStyle/>
          <a:p>
            <a:pPr algn="r"/>
            <a:r>
              <a:rPr lang="en-US" sz="1000" dirty="0" b="1">
                <a:solidFill>
                  <a:srgbClr val="FFFFFF"/>
                </a:solidFill>
                <a:latin typeface="Calibri"/>
              </a:rPr>
              <a:t>18.06%</a:t>
            </a:r>
          </a:p>
        </p:txBody>
      </p:sp>
      <p:sp>
        <p:nvSpPr>
          <p:cNvPr id="118" name="TextBox 117"/>
          <p:cNvSpPr txBox="1"/>
          <p:nvPr/>
        </p:nvSpPr>
        <p:spPr>
          <a:xfrm>
            <a:off x="2523744" y="1481328"/>
            <a:ext cx="685800" cy="155448"/>
          </a:xfrm>
          <a:prstGeom prst="rect">
            <a:avLst/>
          </a:prstGeom>
          <a:noFill/>
        </p:spPr>
        <p:txBody>
          <a:bodyPr wrap="none">
            <a:spAutoFit/>
          </a:bodyPr>
          <a:lstStyle/>
          <a:p>
            <a:pPr algn="r"/>
            <a:r>
              <a:rPr lang="en-US" sz="1000" dirty="0" b="1">
                <a:solidFill>
                  <a:srgbClr val="FFFFFF"/>
                </a:solidFill>
                <a:latin typeface="Calibri"/>
              </a:rPr>
              <a:t>132,972</a:t>
            </a:r>
          </a:p>
        </p:txBody>
      </p:sp>
      <p:sp>
        <p:nvSpPr>
          <p:cNvPr id="119" name="TextBox 118"/>
          <p:cNvSpPr txBox="1"/>
          <p:nvPr/>
        </p:nvSpPr>
        <p:spPr>
          <a:xfrm>
            <a:off x="3236976" y="1481328"/>
            <a:ext cx="594360" cy="155448"/>
          </a:xfrm>
          <a:prstGeom prst="rect">
            <a:avLst/>
          </a:prstGeom>
          <a:noFill/>
        </p:spPr>
        <p:txBody>
          <a:bodyPr wrap="none">
            <a:spAutoFit/>
          </a:bodyPr>
          <a:lstStyle/>
          <a:p>
            <a:pPr algn="r"/>
            <a:r>
              <a:rPr lang="en-US" sz="1000" dirty="0" b="1">
                <a:solidFill>
                  <a:srgbClr val="FFFFFF"/>
                </a:solidFill>
                <a:latin typeface="Calibri"/>
              </a:rPr>
              <a:t>15.68%</a:t>
            </a:r>
          </a:p>
        </p:txBody>
      </p:sp>
      <p:sp>
        <p:nvSpPr>
          <p:cNvPr id="120" name="TextBox 119"/>
          <p:cNvSpPr txBox="1"/>
          <p:nvPr/>
        </p:nvSpPr>
        <p:spPr>
          <a:xfrm>
            <a:off x="3858768" y="1481328"/>
            <a:ext cx="822960" cy="155448"/>
          </a:xfrm>
          <a:prstGeom prst="rect">
            <a:avLst/>
          </a:prstGeom>
          <a:noFill/>
        </p:spPr>
        <p:txBody>
          <a:bodyPr wrap="none">
            <a:spAutoFit/>
          </a:bodyPr>
          <a:lstStyle/>
          <a:p>
            <a:pPr algn="r"/>
            <a:r>
              <a:rPr lang="en-US" sz="1000" dirty="0" b="1">
                <a:solidFill>
                  <a:srgbClr val="FFFFFF"/>
                </a:solidFill>
                <a:latin typeface="Calibri"/>
              </a:rPr>
              <a:t>-24,581</a:t>
            </a:r>
          </a:p>
        </p:txBody>
      </p:sp>
      <p:sp>
        <p:nvSpPr>
          <p:cNvPr id="121" name="TextBox 120"/>
          <p:cNvSpPr txBox="1"/>
          <p:nvPr/>
        </p:nvSpPr>
        <p:spPr>
          <a:xfrm>
            <a:off x="256032" y="1645920"/>
            <a:ext cx="914400" cy="155448"/>
          </a:xfrm>
          <a:prstGeom prst="rect">
            <a:avLst/>
          </a:prstGeom>
          <a:noFill/>
        </p:spPr>
        <p:txBody>
          <a:bodyPr wrap="none">
            <a:spAutoFit/>
          </a:bodyPr>
          <a:lstStyle/>
          <a:p>
            <a:r>
              <a:rPr lang="en-US" sz="1000" dirty="0" b="1">
                <a:solidFill>
                  <a:srgbClr val="FFFFFF"/>
                </a:solidFill>
                <a:latin typeface="Calibri"/>
              </a:rPr>
              <a:t>Conger</a:t>
            </a:r>
          </a:p>
        </p:txBody>
      </p:sp>
      <p:sp>
        <p:nvSpPr>
          <p:cNvPr id="122" name="TextBox 121"/>
          <p:cNvSpPr txBox="1"/>
          <p:nvPr/>
        </p:nvSpPr>
        <p:spPr>
          <a:xfrm>
            <a:off x="1188720" y="1645920"/>
            <a:ext cx="685800" cy="155448"/>
          </a:xfrm>
          <a:prstGeom prst="rect">
            <a:avLst/>
          </a:prstGeom>
          <a:noFill/>
        </p:spPr>
        <p:txBody>
          <a:bodyPr wrap="none">
            <a:spAutoFit/>
          </a:bodyPr>
          <a:lstStyle/>
          <a:p>
            <a:pPr algn="r"/>
            <a:r>
              <a:rPr lang="en-US" sz="1000" dirty="0" b="1">
                <a:solidFill>
                  <a:srgbClr val="FFFFFF"/>
                </a:solidFill>
                <a:latin typeface="Calibri"/>
              </a:rPr>
              <a:t>73,000</a:t>
            </a:r>
          </a:p>
        </p:txBody>
      </p:sp>
      <p:sp>
        <p:nvSpPr>
          <p:cNvPr id="123" name="TextBox 122"/>
          <p:cNvSpPr txBox="1"/>
          <p:nvPr/>
        </p:nvSpPr>
        <p:spPr>
          <a:xfrm>
            <a:off x="1901952" y="1645920"/>
            <a:ext cx="594360" cy="155448"/>
          </a:xfrm>
          <a:prstGeom prst="rect">
            <a:avLst/>
          </a:prstGeom>
          <a:noFill/>
        </p:spPr>
        <p:txBody>
          <a:bodyPr wrap="none">
            <a:spAutoFit/>
          </a:bodyPr>
          <a:lstStyle/>
          <a:p>
            <a:pPr algn="r"/>
            <a:r>
              <a:rPr lang="en-US" sz="1000" dirty="0" b="1">
                <a:solidFill>
                  <a:srgbClr val="FFFFFF"/>
                </a:solidFill>
                <a:latin typeface="Calibri"/>
              </a:rPr>
              <a:t> 8.37%</a:t>
            </a:r>
          </a:p>
        </p:txBody>
      </p:sp>
      <p:sp>
        <p:nvSpPr>
          <p:cNvPr id="124" name="TextBox 123"/>
          <p:cNvSpPr txBox="1"/>
          <p:nvPr/>
        </p:nvSpPr>
        <p:spPr>
          <a:xfrm>
            <a:off x="2523744" y="1645920"/>
            <a:ext cx="685800" cy="155448"/>
          </a:xfrm>
          <a:prstGeom prst="rect">
            <a:avLst/>
          </a:prstGeom>
          <a:noFill/>
        </p:spPr>
        <p:txBody>
          <a:bodyPr wrap="none">
            <a:spAutoFit/>
          </a:bodyPr>
          <a:lstStyle/>
          <a:p>
            <a:pPr algn="r"/>
            <a:r>
              <a:rPr lang="en-US" sz="1000" dirty="0" b="1">
                <a:solidFill>
                  <a:srgbClr val="FFFFFF"/>
                </a:solidFill>
                <a:latin typeface="Calibri"/>
              </a:rPr>
              <a:t>29,000</a:t>
            </a:r>
          </a:p>
        </p:txBody>
      </p:sp>
      <p:sp>
        <p:nvSpPr>
          <p:cNvPr id="125" name="TextBox 124"/>
          <p:cNvSpPr txBox="1"/>
          <p:nvPr/>
        </p:nvSpPr>
        <p:spPr>
          <a:xfrm>
            <a:off x="3236976" y="1645920"/>
            <a:ext cx="594360" cy="155448"/>
          </a:xfrm>
          <a:prstGeom prst="rect">
            <a:avLst/>
          </a:prstGeom>
          <a:noFill/>
        </p:spPr>
        <p:txBody>
          <a:bodyPr wrap="none">
            <a:spAutoFit/>
          </a:bodyPr>
          <a:lstStyle/>
          <a:p>
            <a:pPr algn="r"/>
            <a:r>
              <a:rPr lang="en-US" sz="1000" dirty="0" b="1">
                <a:solidFill>
                  <a:srgbClr val="FFFFFF"/>
                </a:solidFill>
                <a:latin typeface="Calibri"/>
              </a:rPr>
              <a:t> 3.42%</a:t>
            </a:r>
          </a:p>
        </p:txBody>
      </p:sp>
      <p:sp>
        <p:nvSpPr>
          <p:cNvPr id="126" name="TextBox 125"/>
          <p:cNvSpPr txBox="1"/>
          <p:nvPr/>
        </p:nvSpPr>
        <p:spPr>
          <a:xfrm>
            <a:off x="3858768" y="1645920"/>
            <a:ext cx="822960" cy="155448"/>
          </a:xfrm>
          <a:prstGeom prst="rect">
            <a:avLst/>
          </a:prstGeom>
          <a:noFill/>
        </p:spPr>
        <p:txBody>
          <a:bodyPr wrap="none">
            <a:spAutoFit/>
          </a:bodyPr>
          <a:lstStyle/>
          <a:p>
            <a:pPr algn="r"/>
            <a:r>
              <a:rPr lang="en-US" sz="1000" dirty="0" b="1">
                <a:solidFill>
                  <a:srgbClr val="FFFFFF"/>
                </a:solidFill>
                <a:latin typeface="Calibri"/>
              </a:rPr>
              <a:t>-44,000</a:t>
            </a:r>
          </a:p>
        </p:txBody>
      </p:sp>
      <p:sp>
        <p:nvSpPr>
          <p:cNvPr id="127" name="TextBox 126"/>
          <p:cNvSpPr txBox="1"/>
          <p:nvPr/>
        </p:nvSpPr>
        <p:spPr>
          <a:xfrm>
            <a:off x="256032" y="1810512"/>
            <a:ext cx="914400" cy="155448"/>
          </a:xfrm>
          <a:prstGeom prst="rect">
            <a:avLst/>
          </a:prstGeom>
          <a:noFill/>
        </p:spPr>
        <p:txBody>
          <a:bodyPr wrap="none">
            <a:spAutoFit/>
          </a:bodyPr>
          <a:lstStyle/>
          <a:p>
            <a:r>
              <a:rPr lang="en-US" sz="1000" dirty="0">
                <a:solidFill>
                  <a:srgbClr val="CCCCCC"/>
                </a:solidFill>
                <a:latin typeface="Calibri"/>
              </a:rPr>
              <a:t>Rufer</a:t>
            </a:r>
          </a:p>
        </p:txBody>
      </p:sp>
      <p:sp>
        <p:nvSpPr>
          <p:cNvPr id="128" name="TextBox 127"/>
          <p:cNvSpPr txBox="1"/>
          <p:nvPr/>
        </p:nvSpPr>
        <p:spPr>
          <a:xfrm>
            <a:off x="1188720" y="1810512"/>
            <a:ext cx="685800" cy="155448"/>
          </a:xfrm>
          <a:prstGeom prst="rect">
            <a:avLst/>
          </a:prstGeom>
          <a:noFill/>
        </p:spPr>
        <p:txBody>
          <a:bodyPr wrap="none">
            <a:spAutoFit/>
          </a:bodyPr>
          <a:lstStyle/>
          <a:p>
            <a:pPr algn="r"/>
            <a:r>
              <a:rPr lang="en-US" sz="1000" dirty="0">
                <a:solidFill>
                  <a:srgbClr val="CCCCCC"/>
                </a:solidFill>
                <a:latin typeface="Calibri"/>
              </a:rPr>
              <a:t>91,000</a:t>
            </a:r>
          </a:p>
        </p:txBody>
      </p:sp>
      <p:sp>
        <p:nvSpPr>
          <p:cNvPr id="129" name="TextBox 128"/>
          <p:cNvSpPr txBox="1"/>
          <p:nvPr/>
        </p:nvSpPr>
        <p:spPr>
          <a:xfrm>
            <a:off x="1901952" y="1810512"/>
            <a:ext cx="594360" cy="155448"/>
          </a:xfrm>
          <a:prstGeom prst="rect">
            <a:avLst/>
          </a:prstGeom>
          <a:noFill/>
        </p:spPr>
        <p:txBody>
          <a:bodyPr wrap="none">
            <a:spAutoFit/>
          </a:bodyPr>
          <a:lstStyle/>
          <a:p>
            <a:pPr algn="r"/>
            <a:r>
              <a:rPr lang="en-US" sz="1000" dirty="0">
                <a:solidFill>
                  <a:srgbClr val="CCCCCC"/>
                </a:solidFill>
                <a:latin typeface="Calibri"/>
              </a:rPr>
              <a:t>10.43%</a:t>
            </a:r>
          </a:p>
        </p:txBody>
      </p:sp>
      <p:sp>
        <p:nvSpPr>
          <p:cNvPr id="130" name="TextBox 129"/>
          <p:cNvSpPr txBox="1"/>
          <p:nvPr/>
        </p:nvSpPr>
        <p:spPr>
          <a:xfrm>
            <a:off x="2523744" y="1810512"/>
            <a:ext cx="685800" cy="155448"/>
          </a:xfrm>
          <a:prstGeom prst="rect">
            <a:avLst/>
          </a:prstGeom>
          <a:noFill/>
        </p:spPr>
        <p:txBody>
          <a:bodyPr wrap="none">
            <a:spAutoFit/>
          </a:bodyPr>
          <a:lstStyle/>
          <a:p>
            <a:pPr algn="r"/>
            <a:r>
              <a:rPr lang="en-US" sz="1000" dirty="0">
                <a:solidFill>
                  <a:srgbClr val="CCCCCC"/>
                </a:solidFill>
                <a:latin typeface="Calibri"/>
              </a:rPr>
              <a:t>91,000</a:t>
            </a:r>
          </a:p>
        </p:txBody>
      </p:sp>
      <p:sp>
        <p:nvSpPr>
          <p:cNvPr id="131" name="TextBox 130"/>
          <p:cNvSpPr txBox="1"/>
          <p:nvPr/>
        </p:nvSpPr>
        <p:spPr>
          <a:xfrm>
            <a:off x="3236976" y="1810512"/>
            <a:ext cx="594360" cy="155448"/>
          </a:xfrm>
          <a:prstGeom prst="rect">
            <a:avLst/>
          </a:prstGeom>
          <a:noFill/>
        </p:spPr>
        <p:txBody>
          <a:bodyPr wrap="none">
            <a:spAutoFit/>
          </a:bodyPr>
          <a:lstStyle/>
          <a:p>
            <a:pPr algn="r"/>
            <a:r>
              <a:rPr lang="en-US" sz="1000" dirty="0">
                <a:solidFill>
                  <a:srgbClr val="CCCCCC"/>
                </a:solidFill>
                <a:latin typeface="Calibri"/>
              </a:rPr>
              <a:t>10.73%</a:t>
            </a:r>
          </a:p>
        </p:txBody>
      </p:sp>
      <p:sp>
        <p:nvSpPr>
          <p:cNvPr id="132" name="TextBox 131"/>
          <p:cNvSpPr txBox="1"/>
          <p:nvPr/>
        </p:nvSpPr>
        <p:spPr>
          <a:xfrm>
            <a:off x="3858768" y="1810512"/>
            <a:ext cx="822960" cy="155448"/>
          </a:xfrm>
          <a:prstGeom prst="rect">
            <a:avLst/>
          </a:prstGeom>
          <a:noFill/>
        </p:spPr>
        <p:txBody>
          <a:bodyPr wrap="none">
            <a:spAutoFit/>
          </a:bodyPr>
          <a:lstStyle/>
          <a:p>
            <a:pPr algn="r"/>
            <a:r>
              <a:rPr lang="en-US" sz="1000" dirty="0">
                <a:solidFill>
                  <a:srgbClr val="CCCCCC"/>
                </a:solidFill>
                <a:latin typeface="Calibri"/>
              </a:rPr>
              <a:t>0</a:t>
            </a:r>
          </a:p>
        </p:txBody>
      </p:sp>
      <p:sp>
        <p:nvSpPr>
          <p:cNvPr id="133" name="TextBox 132"/>
          <p:cNvSpPr txBox="1"/>
          <p:nvPr/>
        </p:nvSpPr>
        <p:spPr>
          <a:xfrm>
            <a:off x="256032" y="1975104"/>
            <a:ext cx="914400" cy="155448"/>
          </a:xfrm>
          <a:prstGeom prst="rect">
            <a:avLst/>
          </a:prstGeom>
          <a:noFill/>
        </p:spPr>
        <p:txBody>
          <a:bodyPr wrap="none">
            <a:spAutoFit/>
          </a:bodyPr>
          <a:lstStyle/>
          <a:p>
            <a:r>
              <a:rPr lang="en-US" sz="1000" dirty="0">
                <a:solidFill>
                  <a:srgbClr val="CCCCCC"/>
                </a:solidFill>
                <a:latin typeface="Calibri"/>
              </a:rPr>
              <a:t>Other</a:t>
            </a:r>
          </a:p>
        </p:txBody>
      </p:sp>
      <p:sp>
        <p:nvSpPr>
          <p:cNvPr id="134" name="TextBox 133"/>
          <p:cNvSpPr txBox="1"/>
          <p:nvPr/>
        </p:nvSpPr>
        <p:spPr>
          <a:xfrm>
            <a:off x="1188720" y="1975104"/>
            <a:ext cx="685800" cy="155448"/>
          </a:xfrm>
          <a:prstGeom prst="rect">
            <a:avLst/>
          </a:prstGeom>
          <a:noFill/>
        </p:spPr>
        <p:txBody>
          <a:bodyPr wrap="none">
            <a:spAutoFit/>
          </a:bodyPr>
          <a:lstStyle/>
          <a:p>
            <a:pPr algn="r"/>
            <a:r>
              <a:rPr lang="en-US" sz="1000" dirty="0">
                <a:solidFill>
                  <a:srgbClr val="CCCCCC"/>
                </a:solidFill>
                <a:latin typeface="Calibri"/>
              </a:rPr>
              <a:t>167,972</a:t>
            </a:r>
          </a:p>
        </p:txBody>
      </p:sp>
      <p:sp>
        <p:nvSpPr>
          <p:cNvPr id="135" name="TextBox 134"/>
          <p:cNvSpPr txBox="1"/>
          <p:nvPr/>
        </p:nvSpPr>
        <p:spPr>
          <a:xfrm>
            <a:off x="1901952" y="1975104"/>
            <a:ext cx="594360" cy="155448"/>
          </a:xfrm>
          <a:prstGeom prst="rect">
            <a:avLst/>
          </a:prstGeom>
          <a:noFill/>
        </p:spPr>
        <p:txBody>
          <a:bodyPr wrap="none">
            <a:spAutoFit/>
          </a:bodyPr>
          <a:lstStyle/>
          <a:p>
            <a:pPr algn="r"/>
            <a:r>
              <a:rPr lang="en-US" sz="1000" dirty="0">
                <a:solidFill>
                  <a:srgbClr val="CCCCCC"/>
                </a:solidFill>
                <a:latin typeface="Calibri"/>
              </a:rPr>
              <a:t>19.25%</a:t>
            </a:r>
          </a:p>
        </p:txBody>
      </p:sp>
      <p:sp>
        <p:nvSpPr>
          <p:cNvPr id="136" name="TextBox 135"/>
          <p:cNvSpPr txBox="1"/>
          <p:nvPr/>
        </p:nvSpPr>
        <p:spPr>
          <a:xfrm>
            <a:off x="2523744" y="1975104"/>
            <a:ext cx="685800" cy="155448"/>
          </a:xfrm>
          <a:prstGeom prst="rect">
            <a:avLst/>
          </a:prstGeom>
          <a:noFill/>
        </p:spPr>
        <p:txBody>
          <a:bodyPr wrap="none">
            <a:spAutoFit/>
          </a:bodyPr>
          <a:lstStyle/>
          <a:p>
            <a:pPr algn="r"/>
            <a:r>
              <a:rPr lang="en-US" sz="1000" dirty="0">
                <a:solidFill>
                  <a:srgbClr val="CCCCCC"/>
                </a:solidFill>
                <a:latin typeface="Calibri"/>
              </a:rPr>
              <a:t>211,972</a:t>
            </a:r>
          </a:p>
        </p:txBody>
      </p:sp>
      <p:sp>
        <p:nvSpPr>
          <p:cNvPr id="137" name="TextBox 136"/>
          <p:cNvSpPr txBox="1"/>
          <p:nvPr/>
        </p:nvSpPr>
        <p:spPr>
          <a:xfrm>
            <a:off x="3236976" y="1975104"/>
            <a:ext cx="594360" cy="155448"/>
          </a:xfrm>
          <a:prstGeom prst="rect">
            <a:avLst/>
          </a:prstGeom>
          <a:noFill/>
        </p:spPr>
        <p:txBody>
          <a:bodyPr wrap="none">
            <a:spAutoFit/>
          </a:bodyPr>
          <a:lstStyle/>
          <a:p>
            <a:pPr algn="r"/>
            <a:r>
              <a:rPr lang="en-US" sz="1000" dirty="0">
                <a:solidFill>
                  <a:srgbClr val="CCCCCC"/>
                </a:solidFill>
                <a:latin typeface="Calibri"/>
              </a:rPr>
              <a:t>25.00%</a:t>
            </a:r>
          </a:p>
        </p:txBody>
      </p:sp>
      <p:sp>
        <p:nvSpPr>
          <p:cNvPr id="138" name="TextBox 137"/>
          <p:cNvSpPr txBox="1"/>
          <p:nvPr/>
        </p:nvSpPr>
        <p:spPr>
          <a:xfrm>
            <a:off x="3858768" y="1975104"/>
            <a:ext cx="822960" cy="155448"/>
          </a:xfrm>
          <a:prstGeom prst="rect">
            <a:avLst/>
          </a:prstGeom>
          <a:noFill/>
        </p:spPr>
        <p:txBody>
          <a:bodyPr wrap="none">
            <a:spAutoFit/>
          </a:bodyPr>
          <a:lstStyle/>
          <a:p>
            <a:pPr algn="r"/>
            <a:r>
              <a:rPr lang="en-US" sz="1000" dirty="0">
                <a:solidFill>
                  <a:srgbClr val="CCCCCC"/>
                </a:solidFill>
                <a:latin typeface="Calibri"/>
              </a:rPr>
              <a:t>+44,000</a:t>
            </a:r>
          </a:p>
        </p:txBody>
      </p:sp>
      <p:sp>
        <p:nvSpPr>
          <p:cNvPr id="139" name="TextBox 138"/>
          <p:cNvSpPr txBox="1"/>
          <p:nvPr/>
        </p:nvSpPr>
        <p:spPr>
          <a:xfrm>
            <a:off x="256032" y="2176272"/>
            <a:ext cx="914400" cy="155448"/>
          </a:xfrm>
          <a:prstGeom prst="rect">
            <a:avLst/>
          </a:prstGeom>
          <a:noFill/>
        </p:spPr>
        <p:txBody>
          <a:bodyPr wrap="none">
            <a:spAutoFit/>
          </a:bodyPr>
          <a:lstStyle/>
          <a:p>
            <a:r>
              <a:rPr lang="en-US" sz="1000" b="1" dirty="0">
                <a:solidFill>
                  <a:srgbClr val="FFFFFF"/>
                </a:solidFill>
                <a:latin typeface="Calibri"/>
              </a:rPr>
              <a:t>TOTAL</a:t>
            </a:r>
          </a:p>
        </p:txBody>
      </p:sp>
      <p:sp>
        <p:nvSpPr>
          <p:cNvPr id="140" name="TextBox 139"/>
          <p:cNvSpPr txBox="1"/>
          <p:nvPr/>
        </p:nvSpPr>
        <p:spPr>
          <a:xfrm>
            <a:off x="1188720" y="2176272"/>
            <a:ext cx="685800" cy="155448"/>
          </a:xfrm>
          <a:prstGeom prst="rect">
            <a:avLst/>
          </a:prstGeom>
          <a:noFill/>
        </p:spPr>
        <p:txBody>
          <a:bodyPr wrap="none">
            <a:spAutoFit/>
          </a:bodyPr>
          <a:lstStyle/>
          <a:p>
            <a:pPr algn="r"/>
            <a:r>
              <a:rPr lang="en-US" sz="1000" b="1" dirty="0">
                <a:solidFill>
                  <a:srgbClr val="FFFFFF"/>
                </a:solidFill>
                <a:latin typeface="Calibri"/>
              </a:rPr>
              <a:t>872,525</a:t>
            </a:r>
          </a:p>
        </p:txBody>
      </p:sp>
      <p:sp>
        <p:nvSpPr>
          <p:cNvPr id="141" name="TextBox 140"/>
          <p:cNvSpPr txBox="1"/>
          <p:nvPr/>
        </p:nvSpPr>
        <p:spPr>
          <a:xfrm>
            <a:off x="1901952" y="2176272"/>
            <a:ext cx="594360" cy="155448"/>
          </a:xfrm>
          <a:prstGeom prst="rect">
            <a:avLst/>
          </a:prstGeom>
          <a:noFill/>
        </p:spPr>
        <p:txBody>
          <a:bodyPr wrap="none">
            <a:spAutoFit/>
          </a:bodyPr>
          <a:lstStyle/>
          <a:p>
            <a:pPr algn="r"/>
            <a:r>
              <a:rPr lang="en-US" sz="1000" b="1" dirty="0">
                <a:solidFill>
                  <a:srgbClr val="FFFFFF"/>
                </a:solidFill>
                <a:latin typeface="Calibri"/>
              </a:rPr>
              <a:t>100.0%</a:t>
            </a:r>
          </a:p>
        </p:txBody>
      </p:sp>
      <p:sp>
        <p:nvSpPr>
          <p:cNvPr id="142" name="TextBox 141"/>
          <p:cNvSpPr txBox="1"/>
          <p:nvPr/>
        </p:nvSpPr>
        <p:spPr>
          <a:xfrm>
            <a:off x="2523744" y="2176272"/>
            <a:ext cx="685800" cy="155448"/>
          </a:xfrm>
          <a:prstGeom prst="rect">
            <a:avLst/>
          </a:prstGeom>
          <a:noFill/>
        </p:spPr>
        <p:txBody>
          <a:bodyPr wrap="none">
            <a:spAutoFit/>
          </a:bodyPr>
          <a:lstStyle/>
          <a:p>
            <a:pPr algn="r"/>
            <a:r>
              <a:rPr lang="en-US" sz="1000" b="1" dirty="0">
                <a:solidFill>
                  <a:srgbClr val="FFFFFF"/>
                </a:solidFill>
                <a:latin typeface="Calibri"/>
              </a:rPr>
              <a:t>847,944</a:t>
            </a:r>
          </a:p>
        </p:txBody>
      </p:sp>
      <p:sp>
        <p:nvSpPr>
          <p:cNvPr id="143" name="TextBox 142"/>
          <p:cNvSpPr txBox="1"/>
          <p:nvPr/>
        </p:nvSpPr>
        <p:spPr>
          <a:xfrm>
            <a:off x="3236976" y="2176272"/>
            <a:ext cx="594360" cy="155448"/>
          </a:xfrm>
          <a:prstGeom prst="rect">
            <a:avLst/>
          </a:prstGeom>
          <a:noFill/>
        </p:spPr>
        <p:txBody>
          <a:bodyPr wrap="none">
            <a:spAutoFit/>
          </a:bodyPr>
          <a:lstStyle/>
          <a:p>
            <a:pPr algn="r"/>
            <a:r>
              <a:rPr lang="en-US" sz="1000" b="1" dirty="0">
                <a:solidFill>
                  <a:srgbClr val="FFFFFF"/>
                </a:solidFill>
                <a:latin typeface="Calibri"/>
              </a:rPr>
              <a:t>100.0%</a:t>
            </a:r>
          </a:p>
        </p:txBody>
      </p:sp>
      <p:sp>
        <p:nvSpPr>
          <p:cNvPr id="144" name="TextBox 143"/>
          <p:cNvSpPr txBox="1"/>
          <p:nvPr/>
        </p:nvSpPr>
        <p:spPr>
          <a:xfrm>
            <a:off x="3858768" y="2176272"/>
            <a:ext cx="822960" cy="155448"/>
          </a:xfrm>
          <a:prstGeom prst="rect">
            <a:avLst/>
          </a:prstGeom>
          <a:noFill/>
        </p:spPr>
        <p:txBody>
          <a:bodyPr wrap="none">
            <a:spAutoFit/>
          </a:bodyPr>
          <a:lstStyle/>
          <a:p>
            <a:pPr algn="r"/>
            <a:r>
              <a:rPr lang="en-US" sz="1000" b="1" dirty="0">
                <a:solidFill>
                  <a:srgbClr val="F26A21"/>
                </a:solidFill>
                <a:latin typeface="Calibri"/>
              </a:rPr>
              <a:t>-24,581</a:t>
            </a:r>
          </a:p>
        </p:txBody>
      </p:sp>
      <p:sp>
        <p:nvSpPr>
          <p:cNvPr id="145" name="Rectangle 144"/>
          <p:cNvSpPr/>
          <p:nvPr/>
        </p:nvSpPr>
        <p:spPr>
          <a:xfrm>
            <a:off x="256032" y="2340864"/>
            <a:ext cx="4206240" cy="548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4795520" y="941832"/>
            <a:ext cx="2560320" cy="155448"/>
          </a:xfrm>
          <a:prstGeom prst="rect">
            <a:avLst/>
          </a:prstGeom>
          <a:noFill/>
        </p:spPr>
        <p:txBody>
          <a:bodyPr wrap="none">
            <a:spAutoFit/>
          </a:bodyPr>
          <a:lstStyle/>
          <a:p>
            <a:r>
              <a:rPr lang="en-US" sz="1000" dirty="0">
                <a:solidFill>
                  <a:srgbClr val="CCCCCC"/>
                </a:solidFill>
                <a:latin typeface="Calibri"/>
              </a:rPr>
              <a:t>Nov 2021: initial investment</a:t>
            </a:r>
          </a:p>
        </p:txBody>
      </p:sp>
      <p:sp>
        <p:nvSpPr>
          <p:cNvPr id="147" name="TextBox 146"/>
          <p:cNvSpPr txBox="1"/>
          <p:nvPr/>
        </p:nvSpPr>
        <p:spPr>
          <a:xfrm>
            <a:off x="7406640" y="969264"/>
            <a:ext cx="1463040" cy="155448"/>
          </a:xfrm>
          <a:prstGeom prst="rect">
            <a:avLst/>
          </a:prstGeom>
          <a:noFill/>
        </p:spPr>
        <p:txBody>
          <a:bodyPr wrap="none">
            <a:spAutoFit/>
          </a:bodyPr>
          <a:lstStyle/>
          <a:p>
            <a:r>
              <a:rPr lang="en-US" sz="1000" dirty="0">
                <a:solidFill>
                  <a:srgbClr val="F26A21"/>
                </a:solidFill>
                <a:latin typeface="Calibri"/>
              </a:rPr>
              <a:t>$450,000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1435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0292"/>
            <a:ext cx="9144000" cy="4572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6032" y="73152"/>
            <a:ext cx="8631936" cy="411480"/>
          </a:xfrm>
          <a:prstGeom prst="rect">
            <a:avLst/>
          </a:prstGeom>
          <a:noFill/>
        </p:spPr>
        <p:txBody>
          <a:bodyPr wrap="square">
            <a:spAutoFit/>
          </a:bodyPr>
          <a:lstStyle/>
          <a:p>
            <a:pPr algn="l"/>
            <a:r>
              <a:rPr sz="1400" b="1" i="0">
                <a:solidFill>
                  <a:srgbClr val="FFFFFF"/>
                </a:solidFill>
                <a:latin typeface="Calibri"/>
              </a:rPr>
              <a:t>The April 30, 2026 Entries: As Found and What They Cost Holders</a:t>
            </a:r>
          </a:p>
        </p:txBody>
      </p:sp>
      <p:sp>
        <p:nvSpPr>
          <p:cNvPr id="7" name="Rectangle 6"/>
          <p:cNvSpPr/>
          <p:nvPr/>
        </p:nvSpPr>
        <p:spPr>
          <a:xfrm>
            <a:off x="4572000" y="530352"/>
            <a:ext cx="10972" cy="2487168"/>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6032" y="566928"/>
            <a:ext cx="4160520" cy="210312"/>
          </a:xfrm>
          <a:prstGeom prst="rect">
            <a:avLst/>
          </a:prstGeom>
          <a:noFill/>
        </p:spPr>
        <p:txBody>
          <a:bodyPr wrap="square">
            <a:spAutoFit/>
          </a:bodyPr>
          <a:lstStyle/>
          <a:p>
            <a:pPr algn="l"/>
            <a:r>
              <a:rPr sz="1100" b="1" i="0">
                <a:solidFill>
                  <a:srgbClr val="F26A21"/>
                </a:solidFill>
                <a:latin typeface="Calibri"/>
              </a:rPr>
              <a:t>Per SSLC's QuickBooks, 4/30/2026</a:t>
            </a:r>
          </a:p>
        </p:txBody>
      </p:sp>
      <p:sp>
        <p:nvSpPr>
          <p:cNvPr id="9" name="TextBox 8"/>
          <p:cNvSpPr txBox="1"/>
          <p:nvPr/>
        </p:nvSpPr>
        <p:spPr>
          <a:xfrm>
            <a:off x="256032" y="804672"/>
            <a:ext cx="868680" cy="182880"/>
          </a:xfrm>
          <a:prstGeom prst="rect">
            <a:avLst/>
          </a:prstGeom>
          <a:noFill/>
        </p:spPr>
        <p:txBody>
          <a:bodyPr wrap="square">
            <a:spAutoFit/>
          </a:bodyPr>
          <a:lstStyle/>
          <a:p>
            <a:pPr algn="l"/>
            <a:r>
              <a:rPr sz="1000" b="1" i="0">
                <a:solidFill>
                  <a:srgbClr val="FFCC44"/>
                </a:solidFill>
                <a:latin typeface="Calibri"/>
              </a:rPr>
              <a:t>$426,687</a:t>
            </a:r>
          </a:p>
        </p:txBody>
      </p:sp>
      <p:sp>
        <p:nvSpPr>
          <p:cNvPr id="10" name="TextBox 9"/>
          <p:cNvSpPr txBox="1"/>
          <p:nvPr/>
        </p:nvSpPr>
        <p:spPr>
          <a:xfrm>
            <a:off x="1152144" y="804672"/>
            <a:ext cx="3246120" cy="182880"/>
          </a:xfrm>
          <a:prstGeom prst="rect">
            <a:avLst/>
          </a:prstGeom>
          <a:noFill/>
        </p:spPr>
        <p:txBody>
          <a:bodyPr wrap="square">
            <a:spAutoFit/>
          </a:bodyPr>
          <a:lstStyle/>
          <a:p>
            <a:pPr algn="l"/>
            <a:r>
              <a:rPr sz="1000" b="1" i="0">
                <a:solidFill>
                  <a:srgbClr val="FFFFFF"/>
                </a:solidFill>
                <a:latin typeface="Calibri"/>
              </a:rPr>
              <a:t>Microcosm A/P reclassified to Due to Microcosm</a:t>
            </a:r>
          </a:p>
        </p:txBody>
      </p:sp>
      <p:sp>
        <p:nvSpPr>
          <p:cNvPr id="11" name="TextBox 10"/>
          <p:cNvSpPr txBox="1"/>
          <p:nvPr/>
        </p:nvSpPr>
        <p:spPr>
          <a:xfrm>
            <a:off x="1152144" y="1005840"/>
            <a:ext cx="3246120" cy="178308"/>
          </a:xfrm>
          <a:prstGeom prst="rect">
            <a:avLst/>
          </a:prstGeom>
          <a:noFill/>
        </p:spPr>
        <p:txBody>
          <a:bodyPr wrap="square">
            <a:spAutoFit/>
          </a:bodyPr>
          <a:lstStyle/>
          <a:p>
            <a:pPr algn="l"/>
            <a:r>
              <a:rPr sz="1000" b="0" i="1">
                <a:solidFill>
                  <a:srgbClr val="CCCCCC"/>
                </a:solidFill>
                <a:latin typeface="Calibri"/>
              </a:rPr>
              <a:t>Vendor invoices become a fixed insider balance due at close</a:t>
            </a:r>
          </a:p>
        </p:txBody>
      </p:sp>
      <p:sp>
        <p:nvSpPr>
          <p:cNvPr id="12" name="TextBox 11"/>
          <p:cNvSpPr txBox="1"/>
          <p:nvPr/>
        </p:nvSpPr>
        <p:spPr>
          <a:xfrm>
            <a:off x="256032" y="1275588"/>
            <a:ext cx="868680" cy="182880"/>
          </a:xfrm>
          <a:prstGeom prst="rect">
            <a:avLst/>
          </a:prstGeom>
          <a:noFill/>
        </p:spPr>
        <p:txBody>
          <a:bodyPr wrap="square">
            <a:spAutoFit/>
          </a:bodyPr>
          <a:lstStyle/>
          <a:p>
            <a:pPr algn="l"/>
            <a:r>
              <a:rPr sz="1000" b="1" i="0">
                <a:solidFill>
                  <a:srgbClr val="FFCC44"/>
                </a:solidFill>
                <a:latin typeface="Calibri"/>
              </a:rPr>
              <a:t>$97,302</a:t>
            </a:r>
          </a:p>
        </p:txBody>
      </p:sp>
      <p:sp>
        <p:nvSpPr>
          <p:cNvPr id="13" name="TextBox 12"/>
          <p:cNvSpPr txBox="1"/>
          <p:nvPr/>
        </p:nvSpPr>
        <p:spPr>
          <a:xfrm>
            <a:off x="1152144" y="1275588"/>
            <a:ext cx="3246120" cy="182880"/>
          </a:xfrm>
          <a:prstGeom prst="rect">
            <a:avLst/>
          </a:prstGeom>
          <a:noFill/>
        </p:spPr>
        <p:txBody>
          <a:bodyPr wrap="square">
            <a:spAutoFit/>
          </a:bodyPr>
          <a:lstStyle/>
          <a:p>
            <a:pPr algn="l"/>
            <a:r>
              <a:rPr sz="1000" b="1" i="0">
                <a:solidFill>
                  <a:srgbClr val="FFFFFF"/>
                </a:solidFill>
                <a:latin typeface="Calibri"/>
              </a:rPr>
              <a:t>Interest capitalized into the Bookstore note</a:t>
            </a:r>
          </a:p>
        </p:txBody>
      </p:sp>
      <p:sp>
        <p:nvSpPr>
          <p:cNvPr id="14" name="TextBox 13"/>
          <p:cNvSpPr txBox="1"/>
          <p:nvPr/>
        </p:nvSpPr>
        <p:spPr>
          <a:xfrm>
            <a:off x="1152144" y="1476756"/>
            <a:ext cx="3246120" cy="178308"/>
          </a:xfrm>
          <a:prstGeom prst="rect">
            <a:avLst/>
          </a:prstGeom>
          <a:noFill/>
        </p:spPr>
        <p:txBody>
          <a:bodyPr wrap="square">
            <a:spAutoFit/>
          </a:bodyPr>
          <a:lstStyle/>
          <a:p>
            <a:pPr algn="l"/>
            <a:r>
              <a:rPr sz="1000" b="0" i="1">
                <a:solidFill>
                  <a:srgbClr val="CCCCCC"/>
                </a:solidFill>
                <a:latin typeface="Calibri"/>
              </a:rPr>
              <a:t>Increases the payout to Microcosm Astronautics Books</a:t>
            </a:r>
          </a:p>
        </p:txBody>
      </p:sp>
      <p:sp>
        <p:nvSpPr>
          <p:cNvPr id="15" name="TextBox 14"/>
          <p:cNvSpPr txBox="1"/>
          <p:nvPr/>
        </p:nvSpPr>
        <p:spPr>
          <a:xfrm>
            <a:off x="256032" y="1746504"/>
            <a:ext cx="868680" cy="182880"/>
          </a:xfrm>
          <a:prstGeom prst="rect">
            <a:avLst/>
          </a:prstGeom>
          <a:noFill/>
        </p:spPr>
        <p:txBody>
          <a:bodyPr wrap="square">
            <a:spAutoFit/>
          </a:bodyPr>
          <a:lstStyle/>
          <a:p>
            <a:pPr algn="l"/>
            <a:r>
              <a:rPr sz="1000" b="1" i="0">
                <a:solidFill>
                  <a:srgbClr val="FFCC44"/>
                </a:solidFill>
                <a:latin typeface="Calibri"/>
              </a:rPr>
              <a:t>$812,699</a:t>
            </a:r>
          </a:p>
        </p:txBody>
      </p:sp>
      <p:sp>
        <p:nvSpPr>
          <p:cNvPr id="16" name="TextBox 15"/>
          <p:cNvSpPr txBox="1"/>
          <p:nvPr/>
        </p:nvSpPr>
        <p:spPr>
          <a:xfrm>
            <a:off x="1152144" y="1746504"/>
            <a:ext cx="3246120" cy="182880"/>
          </a:xfrm>
          <a:prstGeom prst="rect">
            <a:avLst/>
          </a:prstGeom>
          <a:noFill/>
        </p:spPr>
        <p:txBody>
          <a:bodyPr wrap="none">
            <a:spAutoFit/>
          </a:bodyPr>
          <a:lstStyle/>
          <a:p>
            <a:r>
              <a:rPr lang="en-US" sz="1000" b="1">
                <a:solidFill>
                  <a:srgbClr val="FFFFFF"/>
                </a:solidFill>
                <a:latin typeface="Calibri"/>
              </a:rPr>
              <a:t>Loans to Microcosm, booked in workers’-comp acct 1480</a:t>
            </a:r>
          </a:p>
        </p:txBody>
      </p:sp>
      <p:sp>
        <p:nvSpPr>
          <p:cNvPr id="17" name="TextBox 16"/>
          <p:cNvSpPr txBox="1"/>
          <p:nvPr/>
        </p:nvSpPr>
        <p:spPr>
          <a:xfrm>
            <a:off x="1152144" y="1947672"/>
            <a:ext cx="3246120" cy="594360"/>
          </a:xfrm>
          <a:prstGeom prst="rect">
            <a:avLst/>
          </a:prstGeom>
          <a:noFill/>
        </p:spPr>
        <p:txBody>
          <a:bodyPr wrap="none">
            <a:spAutoFit/>
          </a:bodyPr>
          <a:lstStyle/>
          <a:p>
            <a:r>
              <a:rPr lang="en-US" sz="1000" i="1">
                <a:solidFill>
                  <a:srgbClr val="CCCCCC"/>
                </a:solidFill>
                <a:latin typeface="Calibri"/>
              </a:rPr>
              <a:t>Not a receivable. Netted 6/30/2025 (#25925-26):</a:t>
            </a:r>
          </a:p>
          <a:p>
            <a:r>
              <a:rPr lang="en-US" sz="1000" i="1">
                <a:solidFill>
                  <a:srgbClr val="CCCCCC"/>
                </a:solidFill>
                <a:latin typeface="Calibri"/>
              </a:rPr>
              <a:t>$294,499 loan payable + $518,201 no invoices</a:t>
            </a:r>
          </a:p>
          <a:p>
            <a:r>
              <a:rPr lang="en-US" sz="1000" i="1">
                <a:solidFill>
                  <a:srgbClr val="CCCCCC"/>
                </a:solidFill>
                <a:latin typeface="Calibri"/>
              </a:rPr>
              <a:t>Reclassified to acct 1481 on 4/30/2026; now $0</a:t>
            </a:r>
          </a:p>
        </p:txBody>
      </p:sp>
      <p:sp>
        <p:nvSpPr>
          <p:cNvPr id="18" name="Rectangle 17"/>
          <p:cNvSpPr/>
          <p:nvPr/>
        </p:nvSpPr>
        <p:spPr>
          <a:xfrm>
            <a:off x="256032" y="2606040"/>
            <a:ext cx="50292" cy="182880"/>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2606040"/>
            <a:ext cx="4023360" cy="182880"/>
          </a:xfrm>
          <a:prstGeom prst="rect">
            <a:avLst/>
          </a:prstGeom>
          <a:noFill/>
        </p:spPr>
        <p:txBody>
          <a:bodyPr wrap="square">
            <a:spAutoFit/>
          </a:bodyPr>
          <a:lstStyle/>
          <a:p>
            <a:pPr algn="l"/>
            <a:r>
              <a:rPr sz="1000" b="1" i="0">
                <a:solidFill>
                  <a:srgbClr val="FFFFFF"/>
                </a:solidFill>
                <a:latin typeface="Calibri"/>
              </a:rPr>
              <a:t>Since Jul 2024: SSLC pays 100% of facility costs</a:t>
            </a:r>
          </a:p>
        </p:txBody>
      </p:sp>
      <p:sp>
        <p:nvSpPr>
          <p:cNvPr id="20" name="TextBox 19"/>
          <p:cNvSpPr txBox="1"/>
          <p:nvPr/>
        </p:nvSpPr>
        <p:spPr>
          <a:xfrm>
            <a:off x="1152144" y="2807208"/>
            <a:ext cx="3246120" cy="178308"/>
          </a:xfrm>
          <a:prstGeom prst="rect">
            <a:avLst/>
          </a:prstGeom>
          <a:noFill/>
        </p:spPr>
        <p:txBody>
          <a:bodyPr wrap="square">
            <a:spAutoFit/>
          </a:bodyPr>
          <a:lstStyle/>
          <a:p>
            <a:pPr algn="l"/>
            <a:r>
              <a:rPr sz="1000" b="0" i="1">
                <a:solidFill>
                  <a:srgbClr val="CCCCCC"/>
                </a:solidFill>
                <a:latin typeface="Calibri"/>
              </a:rPr>
              <a:t>Microcosm’s ~$351K share (rent + utilities) has never been credited</a:t>
            </a:r>
          </a:p>
        </p:txBody>
      </p:sp>
      <p:sp>
        <p:nvSpPr>
          <p:cNvPr id="21" name="TextBox 20"/>
          <p:cNvSpPr txBox="1"/>
          <p:nvPr/>
        </p:nvSpPr>
        <p:spPr>
          <a:xfrm>
            <a:off x="4736592" y="566928"/>
            <a:ext cx="4160520" cy="210312"/>
          </a:xfrm>
          <a:prstGeom prst="rect">
            <a:avLst/>
          </a:prstGeom>
          <a:noFill/>
        </p:spPr>
        <p:txBody>
          <a:bodyPr wrap="square">
            <a:spAutoFit/>
          </a:bodyPr>
          <a:lstStyle/>
          <a:p>
            <a:pPr algn="l"/>
            <a:r>
              <a:rPr sz="1100" b="1" i="0">
                <a:solidFill>
                  <a:srgbClr val="F26A21"/>
                </a:solidFill>
                <a:latin typeface="Calibri"/>
              </a:rPr>
              <a:t>Why the Board must review</a:t>
            </a:r>
          </a:p>
        </p:txBody>
      </p:sp>
      <p:sp>
        <p:nvSpPr>
          <p:cNvPr id="22" name="TextBox 21"/>
          <p:cNvSpPr txBox="1"/>
          <p:nvPr/>
        </p:nvSpPr>
        <p:spPr>
          <a:xfrm>
            <a:off x="6675120" y="576072"/>
            <a:ext cx="2240280" cy="182880"/>
          </a:xfrm>
          <a:prstGeom prst="rect">
            <a:avLst/>
          </a:prstGeom>
          <a:noFill/>
        </p:spPr>
        <p:txBody>
          <a:bodyPr wrap="square">
            <a:spAutoFit/>
          </a:bodyPr>
          <a:lstStyle/>
          <a:p>
            <a:pPr algn="l"/>
            <a:r>
              <a:rPr sz="1000" b="0" i="1">
                <a:solidFill>
                  <a:srgbClr val="888888"/>
                </a:solidFill>
                <a:latin typeface="Calibri"/>
              </a:rPr>
              <a:t>(appearance, not intent)</a:t>
            </a:r>
          </a:p>
        </p:txBody>
      </p:sp>
      <p:sp>
        <p:nvSpPr>
          <p:cNvPr id="23" name="Rectangle 22"/>
          <p:cNvSpPr/>
          <p:nvPr/>
        </p:nvSpPr>
        <p:spPr>
          <a:xfrm>
            <a:off x="4736592" y="850392"/>
            <a:ext cx="50292" cy="10972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804672"/>
            <a:ext cx="4023360" cy="384048"/>
          </a:xfrm>
          <a:prstGeom prst="rect">
            <a:avLst/>
          </a:prstGeom>
          <a:noFill/>
        </p:spPr>
        <p:txBody>
          <a:bodyPr wrap="square">
            <a:spAutoFit/>
          </a:bodyPr>
          <a:lstStyle/>
          <a:p>
            <a:pPr algn="l"/>
            <a:r>
              <a:rPr sz="1000" b="0" i="0">
                <a:solidFill>
                  <a:srgbClr val="FFFFFF"/>
                </a:solidFill>
                <a:latin typeface="Calibri"/>
              </a:rPr>
              <a:t>Every entry favors Microcosm/Wertz-controlled entities and increases what they are paid at close.</a:t>
            </a:r>
          </a:p>
        </p:txBody>
      </p:sp>
      <p:sp>
        <p:nvSpPr>
          <p:cNvPr id="25" name="Rectangle 24"/>
          <p:cNvSpPr/>
          <p:nvPr/>
        </p:nvSpPr>
        <p:spPr>
          <a:xfrm>
            <a:off x="4736592" y="1289304"/>
            <a:ext cx="50292" cy="10972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92040" y="1243584"/>
            <a:ext cx="4023360" cy="384048"/>
          </a:xfrm>
          <a:prstGeom prst="rect">
            <a:avLst/>
          </a:prstGeom>
          <a:noFill/>
        </p:spPr>
        <p:txBody>
          <a:bodyPr wrap="square">
            <a:spAutoFit/>
          </a:bodyPr>
          <a:lstStyle/>
          <a:p>
            <a:pPr algn="l"/>
            <a:r>
              <a:rPr sz="1000" b="0" i="0" dirty="0">
                <a:solidFill>
                  <a:srgbClr val="FFFFFF"/>
                </a:solidFill>
                <a:latin typeface="Calibri"/>
              </a:rPr>
              <a:t>The entries were made under the direction of interested officers and were not approved by disinterested directors (Cal. Corp. Code §310).</a:t>
            </a:r>
          </a:p>
        </p:txBody>
      </p:sp>
      <p:sp>
        <p:nvSpPr>
          <p:cNvPr id="27" name="Rectangle 26"/>
          <p:cNvSpPr/>
          <p:nvPr/>
        </p:nvSpPr>
        <p:spPr>
          <a:xfrm>
            <a:off x="4736592" y="1728216"/>
            <a:ext cx="50292" cy="10972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92040" y="1682495"/>
            <a:ext cx="4023360" cy="384048"/>
          </a:xfrm>
          <a:prstGeom prst="rect">
            <a:avLst/>
          </a:prstGeom>
          <a:noFill/>
        </p:spPr>
        <p:txBody>
          <a:bodyPr wrap="square">
            <a:spAutoFit/>
          </a:bodyPr>
          <a:lstStyle/>
          <a:p>
            <a:pPr algn="l"/>
            <a:r>
              <a:rPr sz="1000" b="0" i="0">
                <a:solidFill>
                  <a:srgbClr val="FFFFFF"/>
                </a:solidFill>
                <a:latin typeface="Calibri"/>
              </a:rPr>
              <a:t>They were made while a director’s right to inspect the books was outstanding (Bylaws Art. VII §4).</a:t>
            </a:r>
          </a:p>
        </p:txBody>
      </p:sp>
      <p:sp>
        <p:nvSpPr>
          <p:cNvPr id="29" name="Rectangle 28"/>
          <p:cNvSpPr/>
          <p:nvPr/>
        </p:nvSpPr>
        <p:spPr>
          <a:xfrm>
            <a:off x="4736592" y="2167127"/>
            <a:ext cx="50292" cy="10972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2121408"/>
            <a:ext cx="4023360" cy="384048"/>
          </a:xfrm>
          <a:prstGeom prst="rect">
            <a:avLst/>
          </a:prstGeom>
          <a:noFill/>
        </p:spPr>
        <p:txBody>
          <a:bodyPr wrap="square">
            <a:spAutoFit/>
          </a:bodyPr>
          <a:lstStyle/>
          <a:p>
            <a:pPr algn="l"/>
            <a:r>
              <a:rPr sz="1000" b="0" i="0">
                <a:solidFill>
                  <a:srgbClr val="FFFFFF"/>
                </a:solidFill>
                <a:latin typeface="Calibri"/>
              </a:rPr>
              <a:t>They were booked while the acquisition was pending.</a:t>
            </a:r>
          </a:p>
        </p:txBody>
      </p:sp>
      <p:sp>
        <p:nvSpPr>
          <p:cNvPr id="31" name="Rectangle 30"/>
          <p:cNvSpPr/>
          <p:nvPr/>
        </p:nvSpPr>
        <p:spPr>
          <a:xfrm>
            <a:off x="4736592" y="2606039"/>
            <a:ext cx="50292" cy="10972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892040" y="2560320"/>
            <a:ext cx="4023360" cy="530352"/>
          </a:xfrm>
          <a:prstGeom prst="rect">
            <a:avLst/>
          </a:prstGeom>
          <a:noFill/>
        </p:spPr>
        <p:txBody>
          <a:bodyPr wrap="none">
            <a:spAutoFit/>
          </a:bodyPr>
          <a:lstStyle/>
          <a:p>
            <a:r>
              <a:rPr lang="en-US" sz="1000">
                <a:solidFill>
                  <a:srgbClr val="FFFFFF"/>
                </a:solidFill>
                <a:latin typeface="Calibri"/>
              </a:rPr>
              <a:t>Insider interest was capitalized while Exos, the one outside lender, went unpaid — Microcosm’s 2026 short-term loans ($150K) were repaid within months; Exos’s $31K loan remains past due.</a:t>
            </a:r>
          </a:p>
        </p:txBody>
      </p:sp>
      <p:sp>
        <p:nvSpPr>
          <p:cNvPr id="33" name="TextBox 32"/>
          <p:cNvSpPr txBox="1"/>
          <p:nvPr/>
        </p:nvSpPr>
        <p:spPr>
          <a:xfrm>
            <a:off x="4736592" y="3090672"/>
            <a:ext cx="4160520" cy="411480"/>
          </a:xfrm>
          <a:prstGeom prst="rect">
            <a:avLst/>
          </a:prstGeom>
          <a:noFill/>
        </p:spPr>
        <p:txBody>
          <a:bodyPr wrap="square">
            <a:spAutoFit/>
          </a:bodyPr>
          <a:lstStyle/>
          <a:p>
            <a:pPr algn="l"/>
            <a:r>
              <a:rPr sz="1000" b="1" i="1">
                <a:solidFill>
                  <a:srgbClr val="FFCC44"/>
                </a:solidFill>
                <a:latin typeface="Calibri"/>
              </a:rPr>
              <a:t>Together: the appearance of self-dealing. Found by MTB Capital; these issues have held up Exos's independent Eqvista fairness opinion.</a:t>
            </a:r>
          </a:p>
        </p:txBody>
      </p:sp>
      <p:sp>
        <p:nvSpPr>
          <p:cNvPr id="34" name="Rectangle 33"/>
          <p:cNvSpPr/>
          <p:nvPr/>
        </p:nvSpPr>
        <p:spPr>
          <a:xfrm>
            <a:off x="0" y="3529584"/>
            <a:ext cx="9144000" cy="1362455"/>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3529584"/>
            <a:ext cx="9144000" cy="18288"/>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56032" y="3557015"/>
            <a:ext cx="3200400" cy="182880"/>
          </a:xfrm>
          <a:prstGeom prst="rect">
            <a:avLst/>
          </a:prstGeom>
          <a:noFill/>
        </p:spPr>
        <p:txBody>
          <a:bodyPr wrap="square">
            <a:spAutoFit/>
          </a:bodyPr>
          <a:lstStyle/>
          <a:p>
            <a:pPr algn="l"/>
            <a:r>
              <a:rPr sz="1000" b="1" i="0">
                <a:solidFill>
                  <a:srgbClr val="F26A21"/>
                </a:solidFill>
                <a:latin typeface="Calibri"/>
              </a:rPr>
              <a:t>IMPACT ON SSLC HOLDERS</a:t>
            </a:r>
          </a:p>
        </p:txBody>
      </p:sp>
      <p:sp>
        <p:nvSpPr>
          <p:cNvPr id="37" name="TextBox 36"/>
          <p:cNvSpPr txBox="1"/>
          <p:nvPr/>
        </p:nvSpPr>
        <p:spPr>
          <a:xfrm>
            <a:off x="256032" y="3739896"/>
            <a:ext cx="8631936" cy="201168"/>
          </a:xfrm>
          <a:prstGeom prst="rect">
            <a:avLst/>
          </a:prstGeom>
          <a:noFill/>
        </p:spPr>
        <p:txBody>
          <a:bodyPr wrap="none">
            <a:spAutoFit/>
          </a:bodyPr>
          <a:lstStyle/>
          <a:p>
            <a:pPr algn="l"/>
            <a:r>
              <a:rPr sz="1000" b="1" i="0">
                <a:solidFill>
                  <a:srgbClr val="CCCCCC"/>
                </a:solidFill>
                <a:latin typeface="Calibri"/>
              </a:rPr>
              <a:t>Of every $1 paid to Microcosm/Wertz at close, 46¢ comes from holders outside that group (they own 46% of the non-Exos pool).</a:t>
            </a:r>
          </a:p>
        </p:txBody>
      </p:sp>
      <p:sp>
        <p:nvSpPr>
          <p:cNvPr id="38" name="TextBox 37"/>
          <p:cNvSpPr txBox="1"/>
          <p:nvPr/>
        </p:nvSpPr>
        <p:spPr>
          <a:xfrm>
            <a:off x="256032" y="3931920"/>
            <a:ext cx="3749039" cy="201168"/>
          </a:xfrm>
          <a:prstGeom prst="rect">
            <a:avLst/>
          </a:prstGeom>
          <a:noFill/>
        </p:spPr>
        <p:txBody>
          <a:bodyPr wrap="none">
            <a:spAutoFit/>
          </a:bodyPr>
          <a:lstStyle/>
          <a:p>
            <a:pPr algn="l"/>
            <a:r>
              <a:rPr sz="1000" b="0" i="0">
                <a:solidFill>
                  <a:srgbClr val="FFFFFF"/>
                </a:solidFill>
                <a:latin typeface="Calibri"/>
              </a:rPr>
              <a:t>Step 1  —  Facility credit + capitalized interest:</a:t>
            </a:r>
          </a:p>
        </p:txBody>
      </p:sp>
      <p:sp>
        <p:nvSpPr>
          <p:cNvPr id="39" name="TextBox 38"/>
          <p:cNvSpPr txBox="1"/>
          <p:nvPr/>
        </p:nvSpPr>
        <p:spPr>
          <a:xfrm>
            <a:off x="4069080" y="3931920"/>
            <a:ext cx="4818888" cy="201168"/>
          </a:xfrm>
          <a:prstGeom prst="rect">
            <a:avLst/>
          </a:prstGeom>
          <a:noFill/>
        </p:spPr>
        <p:txBody>
          <a:bodyPr wrap="none">
            <a:spAutoFit/>
          </a:bodyPr>
          <a:lstStyle/>
          <a:p>
            <a:pPr algn="l"/>
            <a:r>
              <a:rPr sz="1000" b="1" i="0">
                <a:solidFill>
                  <a:srgbClr val="44BB44"/>
                </a:solidFill>
                <a:latin typeface="Calibri"/>
              </a:rPr>
              <a:t>$448K total  ·  Non-Wertz holders lose ~$208K  (Conger ~$46K, Rufer ~$57K)</a:t>
            </a:r>
          </a:p>
        </p:txBody>
      </p:sp>
      <p:sp>
        <p:nvSpPr>
          <p:cNvPr id="40" name="TextBox 39"/>
          <p:cNvSpPr txBox="1"/>
          <p:nvPr/>
        </p:nvSpPr>
        <p:spPr>
          <a:xfrm>
            <a:off x="256032" y="4123944"/>
            <a:ext cx="3749039" cy="182880"/>
          </a:xfrm>
          <a:prstGeom prst="rect">
            <a:avLst/>
          </a:prstGeom>
          <a:noFill/>
        </p:spPr>
        <p:txBody>
          <a:bodyPr wrap="none">
            <a:spAutoFit/>
          </a:bodyPr>
          <a:lstStyle/>
          <a:p>
            <a:r>
              <a:rPr lang="en-US" sz="1000">
                <a:solidFill>
                  <a:srgbClr val="FFFFFF"/>
                </a:solidFill>
                <a:latin typeface="Calibri"/>
              </a:rPr>
              <a:t>Step 2  —  + Unsupported offsets ($967K total):</a:t>
            </a:r>
          </a:p>
        </p:txBody>
      </p:sp>
      <p:sp>
        <p:nvSpPr>
          <p:cNvPr id="41" name="Rectangle 40"/>
          <p:cNvSpPr/>
          <p:nvPr/>
        </p:nvSpPr>
        <p:spPr>
          <a:xfrm>
            <a:off x="256032" y="4517136"/>
            <a:ext cx="8631936" cy="265176"/>
          </a:xfrm>
          <a:prstGeom prst="rect">
            <a:avLst/>
          </a:prstGeom>
          <a:solidFill>
            <a:srgbClr val="2A1800"/>
          </a:solidFill>
          <a:ln w="9525">
            <a:solidFill>
              <a:srgbClr val="CC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57200" y="4562856"/>
            <a:ext cx="8229600" cy="182880"/>
          </a:xfrm>
          <a:prstGeom prst="rect">
            <a:avLst/>
          </a:prstGeom>
          <a:noFill/>
        </p:spPr>
        <p:txBody>
          <a:bodyPr wrap="none">
            <a:spAutoFit/>
          </a:bodyPr>
          <a:lstStyle/>
          <a:p>
            <a:pPr algn="l"/>
            <a:r>
              <a:rPr sz="1000" b="1" i="0">
                <a:solidFill>
                  <a:srgbClr val="FFCC44"/>
                </a:solidFill>
                <a:latin typeface="Calibri"/>
              </a:rPr>
              <a:t>Microcosm can resolve this before the vote by providing invoices and agreeing to the corrections. Motion 5 is decided by Quinn, Rufer and Conger.</a:t>
            </a:r>
          </a:p>
        </p:txBody>
      </p:sp>
      <p:sp>
        <p:nvSpPr>
          <p:cNvPr id="43" name="TextBox 42"/>
          <p:cNvSpPr txBox="1"/>
          <p:nvPr/>
        </p:nvSpPr>
        <p:spPr>
          <a:xfrm>
            <a:off x="3200400" y="4910328"/>
            <a:ext cx="2743200" cy="201168"/>
          </a:xfrm>
          <a:prstGeom prst="rect">
            <a:avLst/>
          </a:prstGeom>
          <a:noFill/>
        </p:spPr>
        <p:txBody>
          <a:bodyPr wrap="square">
            <a:spAutoFit/>
          </a:bodyPr>
          <a:lstStyle/>
          <a:p>
            <a:pPr algn="ctr"/>
            <a:r>
              <a:rPr sz="1000" b="0" i="0">
                <a:solidFill>
                  <a:srgbClr val="888888"/>
                </a:solidFill>
                <a:latin typeface="Calibri"/>
              </a:rPr>
              <a:t>DRAFT — NEGOTIATING TERMS</a:t>
            </a:r>
          </a:p>
        </p:txBody>
      </p:sp>
      <p:sp>
        <p:nvSpPr>
          <p:cNvPr id="44" name="TextBox 43"/>
          <p:cNvSpPr txBox="1"/>
          <p:nvPr/>
        </p:nvSpPr>
        <p:spPr>
          <a:xfrm>
            <a:off x="7863840" y="4910328"/>
            <a:ext cx="1188720" cy="201168"/>
          </a:xfrm>
          <a:prstGeom prst="rect">
            <a:avLst/>
          </a:prstGeom>
          <a:noFill/>
        </p:spPr>
        <p:txBody>
          <a:bodyPr wrap="square">
            <a:spAutoFit/>
          </a:bodyPr>
          <a:lstStyle/>
          <a:p>
            <a:pPr algn="r"/>
            <a:r>
              <a:rPr sz="1000" b="0" i="0">
                <a:solidFill>
                  <a:srgbClr val="888888"/>
                </a:solidFill>
                <a:latin typeface="Calibri"/>
              </a:rPr>
              <a:t>CONFIDENTIAL</a:t>
            </a:r>
          </a:p>
        </p:txBody>
      </p:sp>
      <p:sp>
        <p:nvSpPr>
          <p:cNvPr id="45" name="TextBox 44"/>
          <p:cNvSpPr txBox="1"/>
          <p:nvPr/>
        </p:nvSpPr>
        <p:spPr>
          <a:xfrm>
            <a:off x="4069080" y="4123944"/>
            <a:ext cx="4818888" cy="182880"/>
          </a:xfrm>
          <a:prstGeom prst="rect">
            <a:avLst/>
          </a:prstGeom>
          <a:noFill/>
        </p:spPr>
        <p:txBody>
          <a:bodyPr wrap="none">
            <a:spAutoFit/>
          </a:bodyPr>
          <a:lstStyle/>
          <a:p>
            <a:r>
              <a:rPr lang="en-US" sz="1000" b="1">
                <a:solidFill>
                  <a:srgbClr val="FFCC44"/>
                </a:solidFill>
                <a:latin typeface="Calibri"/>
              </a:rPr>
              <a:t>Non-Wertz lose ~$449K  ·  Conger ~$99K  ·  Rufer ~$123K  ·  Microcosm would owe SSLC</a:t>
            </a:r>
          </a:p>
        </p:txBody>
      </p:sp>
      <p:sp>
        <p:nvSpPr>
          <p:cNvPr id="46" name="TextBox 45"/>
          <p:cNvSpPr txBox="1"/>
          <p:nvPr/>
        </p:nvSpPr>
        <p:spPr>
          <a:xfrm>
            <a:off x="256032" y="4315968"/>
            <a:ext cx="3749039" cy="182880"/>
          </a:xfrm>
          <a:prstGeom prst="rect">
            <a:avLst/>
          </a:prstGeom>
          <a:noFill/>
        </p:spPr>
        <p:txBody>
          <a:bodyPr wrap="none">
            <a:spAutoFit/>
          </a:bodyPr>
          <a:lstStyle/>
          <a:p>
            <a:r>
              <a:rPr lang="en-US" sz="1000">
                <a:solidFill>
                  <a:srgbClr val="FFFFFF"/>
                </a:solidFill>
                <a:latin typeface="Calibri"/>
              </a:rPr>
              <a:t>Step 3  —  Full $812K Microcosm loan undocumented ($1.26M):</a:t>
            </a:r>
          </a:p>
        </p:txBody>
      </p:sp>
      <p:sp>
        <p:nvSpPr>
          <p:cNvPr id="47" name="TextBox 46"/>
          <p:cNvSpPr txBox="1"/>
          <p:nvPr/>
        </p:nvSpPr>
        <p:spPr>
          <a:xfrm>
            <a:off x="4069080" y="4315968"/>
            <a:ext cx="4818888" cy="182880"/>
          </a:xfrm>
          <a:prstGeom prst="rect">
            <a:avLst/>
          </a:prstGeom>
          <a:noFill/>
        </p:spPr>
        <p:txBody>
          <a:bodyPr wrap="none">
            <a:spAutoFit/>
          </a:bodyPr>
          <a:lstStyle/>
          <a:p>
            <a:r>
              <a:rPr lang="en-US" sz="1000" b="1">
                <a:solidFill>
                  <a:srgbClr val="DD4444"/>
                </a:solidFill>
                <a:latin typeface="Calibri"/>
              </a:rPr>
              <a:t>Non-Wertz lose ~$585K  ·  Conger ~$129K  ·  Rufer ~$160K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0292"/>
            <a:ext cx="9144000" cy="4572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6032" y="73152"/>
            <a:ext cx="8631936" cy="402336"/>
          </a:xfrm>
          <a:prstGeom prst="rect">
            <a:avLst/>
          </a:prstGeom>
          <a:noFill/>
        </p:spPr>
        <p:txBody>
          <a:bodyPr wrap="none">
            <a:spAutoFit/>
          </a:bodyPr>
          <a:lstStyle/>
          <a:p>
            <a:pPr algn="l"/>
            <a:r>
              <a:rPr sz="1500" b="1" i="0">
                <a:solidFill>
                  <a:srgbClr val="FFFFFF"/>
                </a:solidFill>
                <a:latin typeface="Calibri"/>
              </a:rPr>
              <a:t>What SSLC Shareholders Get: Conger &amp; Rufer Example</a:t>
            </a:r>
          </a:p>
        </p:txBody>
      </p:sp>
      <p:sp>
        <p:nvSpPr>
          <p:cNvPr id="6" name="Rectangle 5"/>
          <p:cNvSpPr/>
          <p:nvPr/>
        </p:nvSpPr>
        <p:spPr>
          <a:xfrm>
            <a:off x="4617720" y="548640"/>
            <a:ext cx="10972" cy="178308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6032" y="566928"/>
            <a:ext cx="4206240" cy="201168"/>
          </a:xfrm>
          <a:prstGeom prst="rect">
            <a:avLst/>
          </a:prstGeom>
          <a:noFill/>
        </p:spPr>
        <p:txBody>
          <a:bodyPr wrap="none">
            <a:spAutoFit/>
          </a:bodyPr>
          <a:lstStyle/>
          <a:p>
            <a:pPr algn="l"/>
            <a:r>
              <a:rPr sz="1000" b="1" i="0">
                <a:solidFill>
                  <a:srgbClr val="F26A21"/>
                </a:solidFill>
                <a:latin typeface="Calibri"/>
              </a:rPr>
              <a:t>Value per 1% of SSLC  (= 8,725 shares; 1/82 of non-Exos pool)</a:t>
            </a:r>
          </a:p>
        </p:txBody>
      </p:sp>
      <p:sp>
        <p:nvSpPr>
          <p:cNvPr id="8" name="TextBox 7"/>
          <p:cNvSpPr txBox="1"/>
          <p:nvPr/>
        </p:nvSpPr>
        <p:spPr>
          <a:xfrm>
            <a:off x="256032" y="795528"/>
            <a:ext cx="2286000" cy="182880"/>
          </a:xfrm>
          <a:prstGeom prst="rect">
            <a:avLst/>
          </a:prstGeom>
          <a:noFill/>
        </p:spPr>
        <p:txBody>
          <a:bodyPr wrap="none">
            <a:spAutoFit/>
          </a:bodyPr>
          <a:lstStyle/>
          <a:p>
            <a:pPr algn="l"/>
            <a:r>
              <a:rPr sz="1000" b="1" i="0">
                <a:solidFill>
                  <a:srgbClr val="CCCCCC"/>
                </a:solidFill>
                <a:latin typeface="Calibri"/>
              </a:rPr>
              <a:t>Scenario</a:t>
            </a:r>
          </a:p>
        </p:txBody>
      </p:sp>
      <p:sp>
        <p:nvSpPr>
          <p:cNvPr id="9" name="TextBox 8"/>
          <p:cNvSpPr txBox="1"/>
          <p:nvPr/>
        </p:nvSpPr>
        <p:spPr>
          <a:xfrm>
            <a:off x="2606040" y="795528"/>
            <a:ext cx="713232" cy="182880"/>
          </a:xfrm>
          <a:prstGeom prst="rect">
            <a:avLst/>
          </a:prstGeom>
          <a:noFill/>
        </p:spPr>
        <p:txBody>
          <a:bodyPr wrap="none">
            <a:spAutoFit/>
          </a:bodyPr>
          <a:lstStyle/>
          <a:p>
            <a:pPr algn="r"/>
            <a:r>
              <a:rPr sz="1000" b="1" i="0">
                <a:solidFill>
                  <a:srgbClr val="F26A21"/>
                </a:solidFill>
                <a:latin typeface="Calibri"/>
              </a:rPr>
              <a:t>Low</a:t>
            </a:r>
          </a:p>
        </p:txBody>
      </p:sp>
      <p:sp>
        <p:nvSpPr>
          <p:cNvPr id="10" name="TextBox 9"/>
          <p:cNvSpPr txBox="1"/>
          <p:nvPr/>
        </p:nvSpPr>
        <p:spPr>
          <a:xfrm>
            <a:off x="3383280" y="795528"/>
            <a:ext cx="694944" cy="182880"/>
          </a:xfrm>
          <a:prstGeom prst="rect">
            <a:avLst/>
          </a:prstGeom>
          <a:noFill/>
        </p:spPr>
        <p:txBody>
          <a:bodyPr wrap="none">
            <a:spAutoFit/>
          </a:bodyPr>
          <a:lstStyle/>
          <a:p>
            <a:pPr algn="r"/>
            <a:r>
              <a:rPr sz="1000" b="1" i="0">
                <a:solidFill>
                  <a:srgbClr val="F26A21"/>
                </a:solidFill>
                <a:latin typeface="Calibri"/>
              </a:rPr>
              <a:t>Base</a:t>
            </a:r>
          </a:p>
        </p:txBody>
      </p:sp>
      <p:sp>
        <p:nvSpPr>
          <p:cNvPr id="11" name="TextBox 10"/>
          <p:cNvSpPr txBox="1"/>
          <p:nvPr/>
        </p:nvSpPr>
        <p:spPr>
          <a:xfrm>
            <a:off x="4050791" y="795528"/>
            <a:ext cx="548640" cy="182880"/>
          </a:xfrm>
          <a:prstGeom prst="rect">
            <a:avLst/>
          </a:prstGeom>
          <a:noFill/>
        </p:spPr>
        <p:txBody>
          <a:bodyPr wrap="none">
            <a:spAutoFit/>
          </a:bodyPr>
          <a:lstStyle/>
          <a:p>
            <a:pPr algn="r"/>
            <a:r>
              <a:rPr sz="1000" b="1" i="0">
                <a:solidFill>
                  <a:srgbClr val="F26A21"/>
                </a:solidFill>
                <a:latin typeface="Calibri"/>
              </a:rPr>
              <a:t>High</a:t>
            </a:r>
          </a:p>
        </p:txBody>
      </p:sp>
      <p:sp>
        <p:nvSpPr>
          <p:cNvPr id="12" name="Rectangle 11"/>
          <p:cNvSpPr/>
          <p:nvPr/>
        </p:nvSpPr>
        <p:spPr>
          <a:xfrm>
            <a:off x="256032" y="987552"/>
            <a:ext cx="4251960" cy="7315"/>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6032" y="1005840"/>
            <a:ext cx="2286000" cy="246888"/>
          </a:xfrm>
          <a:prstGeom prst="rect">
            <a:avLst/>
          </a:prstGeom>
          <a:noFill/>
        </p:spPr>
        <p:txBody>
          <a:bodyPr wrap="none">
            <a:spAutoFit/>
          </a:bodyPr>
          <a:lstStyle/>
          <a:p>
            <a:pPr algn="l"/>
            <a:r>
              <a:rPr sz="1000" b="0" i="0">
                <a:solidFill>
                  <a:srgbClr val="FFFFFF"/>
                </a:solidFill>
                <a:latin typeface="Calibri"/>
              </a:rPr>
              <a:t>Net at close (as booked)</a:t>
            </a:r>
          </a:p>
        </p:txBody>
      </p:sp>
      <p:sp>
        <p:nvSpPr>
          <p:cNvPr id="14" name="TextBox 13"/>
          <p:cNvSpPr txBox="1"/>
          <p:nvPr/>
        </p:nvSpPr>
        <p:spPr>
          <a:xfrm>
            <a:off x="2606040" y="1005840"/>
            <a:ext cx="713232" cy="246888"/>
          </a:xfrm>
          <a:prstGeom prst="rect">
            <a:avLst/>
          </a:prstGeom>
          <a:noFill/>
        </p:spPr>
        <p:txBody>
          <a:bodyPr wrap="none">
            <a:spAutoFit/>
          </a:bodyPr>
          <a:lstStyle/>
          <a:p>
            <a:pPr algn="r"/>
            <a:r>
              <a:rPr sz="1000" b="0" i="0">
                <a:solidFill>
                  <a:srgbClr val="FFFFFF"/>
                </a:solidFill>
                <a:latin typeface="Calibri"/>
              </a:rPr>
              <a:t>$14.2K</a:t>
            </a:r>
          </a:p>
        </p:txBody>
      </p:sp>
      <p:sp>
        <p:nvSpPr>
          <p:cNvPr id="15" name="TextBox 14"/>
          <p:cNvSpPr txBox="1"/>
          <p:nvPr/>
        </p:nvSpPr>
        <p:spPr>
          <a:xfrm>
            <a:off x="3383280" y="1005840"/>
            <a:ext cx="694944" cy="246888"/>
          </a:xfrm>
          <a:prstGeom prst="rect">
            <a:avLst/>
          </a:prstGeom>
          <a:noFill/>
        </p:spPr>
        <p:txBody>
          <a:bodyPr wrap="none">
            <a:spAutoFit/>
          </a:bodyPr>
          <a:lstStyle/>
          <a:p>
            <a:pPr algn="r"/>
            <a:r>
              <a:rPr sz="1000" b="1" i="0">
                <a:solidFill>
                  <a:srgbClr val="44BB44"/>
                </a:solidFill>
                <a:latin typeface="Calibri"/>
              </a:rPr>
              <a:t>$16.9K</a:t>
            </a:r>
          </a:p>
        </p:txBody>
      </p:sp>
      <p:sp>
        <p:nvSpPr>
          <p:cNvPr id="16" name="TextBox 15"/>
          <p:cNvSpPr txBox="1"/>
          <p:nvPr/>
        </p:nvSpPr>
        <p:spPr>
          <a:xfrm>
            <a:off x="4050791" y="1005840"/>
            <a:ext cx="548640" cy="246888"/>
          </a:xfrm>
          <a:prstGeom prst="rect">
            <a:avLst/>
          </a:prstGeom>
          <a:noFill/>
        </p:spPr>
        <p:txBody>
          <a:bodyPr wrap="none">
            <a:spAutoFit/>
          </a:bodyPr>
          <a:lstStyle/>
          <a:p>
            <a:pPr algn="r"/>
            <a:r>
              <a:rPr sz="1000" b="0" i="0">
                <a:solidFill>
                  <a:srgbClr val="FFFFFF"/>
                </a:solidFill>
                <a:latin typeface="Calibri"/>
              </a:rPr>
              <a:t>$19.6K</a:t>
            </a:r>
          </a:p>
        </p:txBody>
      </p:sp>
      <p:sp>
        <p:nvSpPr>
          <p:cNvPr id="17" name="TextBox 16"/>
          <p:cNvSpPr txBox="1"/>
          <p:nvPr/>
        </p:nvSpPr>
        <p:spPr>
          <a:xfrm>
            <a:off x="256032" y="1252728"/>
            <a:ext cx="2286000" cy="246888"/>
          </a:xfrm>
          <a:prstGeom prst="rect">
            <a:avLst/>
          </a:prstGeom>
          <a:noFill/>
        </p:spPr>
        <p:txBody>
          <a:bodyPr wrap="none">
            <a:spAutoFit/>
          </a:bodyPr>
          <a:lstStyle/>
          <a:p>
            <a:pPr algn="l"/>
            <a:r>
              <a:rPr sz="1000" b="0" i="0">
                <a:solidFill>
                  <a:srgbClr val="CCCCCC"/>
                </a:solidFill>
                <a:latin typeface="Calibri"/>
              </a:rPr>
              <a:t>Net at close (Step 1, +$448K)</a:t>
            </a:r>
          </a:p>
        </p:txBody>
      </p:sp>
      <p:sp>
        <p:nvSpPr>
          <p:cNvPr id="18" name="TextBox 17"/>
          <p:cNvSpPr txBox="1"/>
          <p:nvPr/>
        </p:nvSpPr>
        <p:spPr>
          <a:xfrm>
            <a:off x="2606040" y="1252728"/>
            <a:ext cx="713232" cy="246888"/>
          </a:xfrm>
          <a:prstGeom prst="rect">
            <a:avLst/>
          </a:prstGeom>
          <a:noFill/>
        </p:spPr>
        <p:txBody>
          <a:bodyPr wrap="none">
            <a:spAutoFit/>
          </a:bodyPr>
          <a:lstStyle/>
          <a:p>
            <a:pPr algn="r"/>
            <a:r>
              <a:rPr sz="1000" b="0" i="0">
                <a:solidFill>
                  <a:srgbClr val="CCCCCC"/>
                </a:solidFill>
                <a:latin typeface="Calibri"/>
              </a:rPr>
              <a:t>$19.7K</a:t>
            </a:r>
          </a:p>
        </p:txBody>
      </p:sp>
      <p:sp>
        <p:nvSpPr>
          <p:cNvPr id="19" name="TextBox 18"/>
          <p:cNvSpPr txBox="1"/>
          <p:nvPr/>
        </p:nvSpPr>
        <p:spPr>
          <a:xfrm>
            <a:off x="3383280" y="1252728"/>
            <a:ext cx="694944" cy="246888"/>
          </a:xfrm>
          <a:prstGeom prst="rect">
            <a:avLst/>
          </a:prstGeom>
          <a:noFill/>
        </p:spPr>
        <p:txBody>
          <a:bodyPr wrap="none">
            <a:spAutoFit/>
          </a:bodyPr>
          <a:lstStyle/>
          <a:p>
            <a:pPr algn="r"/>
            <a:r>
              <a:rPr sz="1000" b="1" i="0">
                <a:solidFill>
                  <a:srgbClr val="FFCC44"/>
                </a:solidFill>
                <a:latin typeface="Calibri"/>
              </a:rPr>
              <a:t>$22.4K</a:t>
            </a:r>
          </a:p>
        </p:txBody>
      </p:sp>
      <p:sp>
        <p:nvSpPr>
          <p:cNvPr id="20" name="TextBox 19"/>
          <p:cNvSpPr txBox="1"/>
          <p:nvPr/>
        </p:nvSpPr>
        <p:spPr>
          <a:xfrm>
            <a:off x="4050791" y="1252728"/>
            <a:ext cx="548640" cy="246888"/>
          </a:xfrm>
          <a:prstGeom prst="rect">
            <a:avLst/>
          </a:prstGeom>
          <a:noFill/>
        </p:spPr>
        <p:txBody>
          <a:bodyPr wrap="none">
            <a:spAutoFit/>
          </a:bodyPr>
          <a:lstStyle/>
          <a:p>
            <a:pPr algn="r"/>
            <a:r>
              <a:rPr sz="1000" b="0" i="0">
                <a:solidFill>
                  <a:srgbClr val="CCCCCC"/>
                </a:solidFill>
                <a:latin typeface="Calibri"/>
              </a:rPr>
              <a:t>$25.1K</a:t>
            </a:r>
          </a:p>
        </p:txBody>
      </p:sp>
      <p:sp>
        <p:nvSpPr>
          <p:cNvPr id="21" name="TextBox 20"/>
          <p:cNvSpPr txBox="1"/>
          <p:nvPr/>
        </p:nvSpPr>
        <p:spPr>
          <a:xfrm>
            <a:off x="256032" y="1499616"/>
            <a:ext cx="2286000" cy="246888"/>
          </a:xfrm>
          <a:prstGeom prst="rect">
            <a:avLst/>
          </a:prstGeom>
          <a:noFill/>
        </p:spPr>
        <p:txBody>
          <a:bodyPr wrap="none">
            <a:spAutoFit/>
          </a:bodyPr>
          <a:lstStyle/>
          <a:p>
            <a:pPr algn="l"/>
            <a:r>
              <a:rPr sz="1000" b="0" i="0">
                <a:solidFill>
                  <a:srgbClr val="FFFFFF"/>
                </a:solidFill>
                <a:latin typeface="Calibri"/>
              </a:rPr>
              <a:t>Net at close (Steps 1+2, +$967K)</a:t>
            </a:r>
          </a:p>
        </p:txBody>
      </p:sp>
      <p:sp>
        <p:nvSpPr>
          <p:cNvPr id="22" name="TextBox 21"/>
          <p:cNvSpPr txBox="1"/>
          <p:nvPr/>
        </p:nvSpPr>
        <p:spPr>
          <a:xfrm>
            <a:off x="2606040" y="1499616"/>
            <a:ext cx="713232" cy="246888"/>
          </a:xfrm>
          <a:prstGeom prst="rect">
            <a:avLst/>
          </a:prstGeom>
          <a:noFill/>
        </p:spPr>
        <p:txBody>
          <a:bodyPr wrap="none">
            <a:spAutoFit/>
          </a:bodyPr>
          <a:lstStyle/>
          <a:p>
            <a:pPr algn="r"/>
            <a:r>
              <a:rPr sz="1000" b="0" i="0">
                <a:solidFill>
                  <a:srgbClr val="FFFFFF"/>
                </a:solidFill>
                <a:latin typeface="Calibri"/>
              </a:rPr>
              <a:t>$26.0K</a:t>
            </a:r>
          </a:p>
        </p:txBody>
      </p:sp>
      <p:sp>
        <p:nvSpPr>
          <p:cNvPr id="23" name="TextBox 22"/>
          <p:cNvSpPr txBox="1"/>
          <p:nvPr/>
        </p:nvSpPr>
        <p:spPr>
          <a:xfrm>
            <a:off x="3383280" y="1499616"/>
            <a:ext cx="694944" cy="246888"/>
          </a:xfrm>
          <a:prstGeom prst="rect">
            <a:avLst/>
          </a:prstGeom>
          <a:noFill/>
        </p:spPr>
        <p:txBody>
          <a:bodyPr wrap="none">
            <a:spAutoFit/>
          </a:bodyPr>
          <a:lstStyle/>
          <a:p>
            <a:pPr algn="r"/>
            <a:r>
              <a:rPr sz="1000" b="1" i="0">
                <a:solidFill>
                  <a:srgbClr val="44BB44"/>
                </a:solidFill>
                <a:latin typeface="Calibri"/>
              </a:rPr>
              <a:t>$28.7K</a:t>
            </a:r>
          </a:p>
        </p:txBody>
      </p:sp>
      <p:sp>
        <p:nvSpPr>
          <p:cNvPr id="24" name="TextBox 23"/>
          <p:cNvSpPr txBox="1"/>
          <p:nvPr/>
        </p:nvSpPr>
        <p:spPr>
          <a:xfrm>
            <a:off x="4050791" y="1499616"/>
            <a:ext cx="548640" cy="246888"/>
          </a:xfrm>
          <a:prstGeom prst="rect">
            <a:avLst/>
          </a:prstGeom>
          <a:noFill/>
        </p:spPr>
        <p:txBody>
          <a:bodyPr wrap="none">
            <a:spAutoFit/>
          </a:bodyPr>
          <a:lstStyle/>
          <a:p>
            <a:pPr algn="r"/>
            <a:r>
              <a:rPr sz="1000" b="0" i="0">
                <a:solidFill>
                  <a:srgbClr val="FFFFFF"/>
                </a:solidFill>
                <a:latin typeface="Calibri"/>
              </a:rPr>
              <a:t>$31.4K</a:t>
            </a:r>
          </a:p>
        </p:txBody>
      </p:sp>
      <p:sp>
        <p:nvSpPr>
          <p:cNvPr id="25" name="TextBox 24"/>
          <p:cNvSpPr txBox="1"/>
          <p:nvPr/>
        </p:nvSpPr>
        <p:spPr>
          <a:xfrm>
            <a:off x="256032" y="1746504"/>
            <a:ext cx="2286000" cy="246888"/>
          </a:xfrm>
          <a:prstGeom prst="rect">
            <a:avLst/>
          </a:prstGeom>
          <a:noFill/>
        </p:spPr>
        <p:txBody>
          <a:bodyPr wrap="none">
            <a:spAutoFit/>
          </a:bodyPr>
          <a:lstStyle/>
          <a:p>
            <a:pPr algn="l"/>
            <a:r>
              <a:rPr sz="1000" b="0" i="0">
                <a:solidFill>
                  <a:srgbClr val="DD4444"/>
                </a:solidFill>
                <a:latin typeface="Calibri"/>
              </a:rPr>
              <a:t>Net at close (Step 3, +$1.26M)</a:t>
            </a:r>
          </a:p>
        </p:txBody>
      </p:sp>
      <p:sp>
        <p:nvSpPr>
          <p:cNvPr id="26" name="TextBox 25"/>
          <p:cNvSpPr txBox="1"/>
          <p:nvPr/>
        </p:nvSpPr>
        <p:spPr>
          <a:xfrm>
            <a:off x="2606040" y="1746504"/>
            <a:ext cx="713232" cy="246888"/>
          </a:xfrm>
          <a:prstGeom prst="rect">
            <a:avLst/>
          </a:prstGeom>
          <a:noFill/>
        </p:spPr>
        <p:txBody>
          <a:bodyPr wrap="none">
            <a:spAutoFit/>
          </a:bodyPr>
          <a:lstStyle/>
          <a:p>
            <a:pPr algn="r"/>
            <a:r>
              <a:rPr sz="1000" b="0" i="0">
                <a:solidFill>
                  <a:srgbClr val="DD4444"/>
                </a:solidFill>
                <a:latin typeface="Calibri"/>
              </a:rPr>
              <a:t>$29.6K</a:t>
            </a:r>
          </a:p>
        </p:txBody>
      </p:sp>
      <p:sp>
        <p:nvSpPr>
          <p:cNvPr id="27" name="TextBox 26"/>
          <p:cNvSpPr txBox="1"/>
          <p:nvPr/>
        </p:nvSpPr>
        <p:spPr>
          <a:xfrm>
            <a:off x="3383280" y="1746504"/>
            <a:ext cx="694944" cy="246888"/>
          </a:xfrm>
          <a:prstGeom prst="rect">
            <a:avLst/>
          </a:prstGeom>
          <a:noFill/>
        </p:spPr>
        <p:txBody>
          <a:bodyPr wrap="none">
            <a:spAutoFit/>
          </a:bodyPr>
          <a:lstStyle/>
          <a:p>
            <a:pPr algn="r"/>
            <a:r>
              <a:rPr sz="1000" b="0" i="0">
                <a:solidFill>
                  <a:srgbClr val="DD4444"/>
                </a:solidFill>
                <a:latin typeface="Calibri"/>
              </a:rPr>
              <a:t>$32.3K</a:t>
            </a:r>
          </a:p>
        </p:txBody>
      </p:sp>
      <p:sp>
        <p:nvSpPr>
          <p:cNvPr id="28" name="TextBox 27"/>
          <p:cNvSpPr txBox="1"/>
          <p:nvPr/>
        </p:nvSpPr>
        <p:spPr>
          <a:xfrm>
            <a:off x="4050791" y="1746504"/>
            <a:ext cx="548640" cy="246888"/>
          </a:xfrm>
          <a:prstGeom prst="rect">
            <a:avLst/>
          </a:prstGeom>
          <a:noFill/>
        </p:spPr>
        <p:txBody>
          <a:bodyPr wrap="none">
            <a:spAutoFit/>
          </a:bodyPr>
          <a:lstStyle/>
          <a:p>
            <a:pPr algn="r"/>
            <a:r>
              <a:rPr sz="1000" b="0" i="0">
                <a:solidFill>
                  <a:srgbClr val="DD4444"/>
                </a:solidFill>
                <a:latin typeface="Calibri"/>
              </a:rPr>
              <a:t>$35.0K</a:t>
            </a:r>
          </a:p>
        </p:txBody>
      </p:sp>
      <p:sp>
        <p:nvSpPr>
          <p:cNvPr id="29" name="TextBox 28"/>
          <p:cNvSpPr txBox="1"/>
          <p:nvPr/>
        </p:nvSpPr>
        <p:spPr>
          <a:xfrm>
            <a:off x="256032" y="2029968"/>
            <a:ext cx="4251960" cy="182880"/>
          </a:xfrm>
          <a:prstGeom prst="rect">
            <a:avLst/>
          </a:prstGeom>
          <a:noFill/>
        </p:spPr>
        <p:txBody>
          <a:bodyPr wrap="none">
            <a:spAutoFit/>
          </a:bodyPr>
          <a:lstStyle/>
          <a:p>
            <a:pPr algn="l"/>
            <a:r>
              <a:rPr sz="1000" b="0" i="1">
                <a:solidFill>
                  <a:srgbClr val="CCCCCC"/>
                </a:solidFill>
                <a:latin typeface="Calibri"/>
              </a:rPr>
              <a:t>Per share (base):  $1.94 at close  ·  $5.51 over 5 years</a:t>
            </a:r>
          </a:p>
        </p:txBody>
      </p:sp>
      <p:sp>
        <p:nvSpPr>
          <p:cNvPr id="30" name="TextBox 29"/>
          <p:cNvSpPr txBox="1"/>
          <p:nvPr/>
        </p:nvSpPr>
        <p:spPr>
          <a:xfrm>
            <a:off x="4736592" y="566928"/>
            <a:ext cx="1920240" cy="201168"/>
          </a:xfrm>
          <a:prstGeom prst="rect">
            <a:avLst/>
          </a:prstGeom>
          <a:noFill/>
        </p:spPr>
        <p:txBody>
          <a:bodyPr wrap="none">
            <a:spAutoFit/>
          </a:bodyPr>
          <a:lstStyle/>
          <a:p>
            <a:pPr algn="l"/>
            <a:r>
              <a:rPr sz="1100" b="1" i="0">
                <a:solidFill>
                  <a:srgbClr val="F26A21"/>
                </a:solidFill>
                <a:latin typeface="Calibri"/>
              </a:rPr>
              <a:t>Bob Conger — 73,000 shares</a:t>
            </a:r>
          </a:p>
        </p:txBody>
      </p:sp>
      <p:sp>
        <p:nvSpPr>
          <p:cNvPr id="31" name="TextBox 30"/>
          <p:cNvSpPr txBox="1"/>
          <p:nvPr/>
        </p:nvSpPr>
        <p:spPr>
          <a:xfrm>
            <a:off x="4736592" y="795528"/>
            <a:ext cx="1965960" cy="201168"/>
          </a:xfrm>
          <a:prstGeom prst="rect">
            <a:avLst/>
          </a:prstGeom>
          <a:noFill/>
        </p:spPr>
        <p:txBody>
          <a:bodyPr wrap="none">
            <a:spAutoFit/>
          </a:bodyPr>
          <a:lstStyle/>
          <a:p>
            <a:pPr algn="l"/>
            <a:r>
              <a:rPr sz="1000" b="0" i="0">
                <a:solidFill>
                  <a:srgbClr val="CCCCCC"/>
                </a:solidFill>
                <a:latin typeface="Calibri"/>
              </a:rPr>
              <a:t>8.37% of SSLC · 10.21% of payout</a:t>
            </a:r>
          </a:p>
        </p:txBody>
      </p:sp>
      <p:sp>
        <p:nvSpPr>
          <p:cNvPr id="32" name="TextBox 31"/>
          <p:cNvSpPr txBox="1"/>
          <p:nvPr/>
        </p:nvSpPr>
        <p:spPr>
          <a:xfrm>
            <a:off x="4736592" y="932688"/>
            <a:ext cx="1920240" cy="182880"/>
          </a:xfrm>
          <a:prstGeom prst="rect">
            <a:avLst/>
          </a:prstGeom>
          <a:noFill/>
        </p:spPr>
        <p:txBody>
          <a:bodyPr wrap="none">
            <a:spAutoFit/>
          </a:bodyPr>
          <a:lstStyle/>
          <a:p>
            <a:pPr algn="l"/>
            <a:r>
              <a:rPr sz="1000" b="0" i="1">
                <a:solidFill>
                  <a:srgbClr val="888888"/>
                </a:solidFill>
                <a:latin typeface="Calibri"/>
              </a:rPr>
              <a:t>Certs #3 (44K) + #43 (29K)</a:t>
            </a:r>
          </a:p>
        </p:txBody>
      </p:sp>
      <p:sp>
        <p:nvSpPr>
          <p:cNvPr id="33" name="TextBox 32"/>
          <p:cNvSpPr txBox="1"/>
          <p:nvPr/>
        </p:nvSpPr>
        <p:spPr>
          <a:xfrm>
            <a:off x="4736592" y="1170432"/>
            <a:ext cx="1188720" cy="219456"/>
          </a:xfrm>
          <a:prstGeom prst="rect">
            <a:avLst/>
          </a:prstGeom>
          <a:noFill/>
        </p:spPr>
        <p:txBody>
          <a:bodyPr wrap="none">
            <a:spAutoFit/>
          </a:bodyPr>
          <a:lstStyle/>
          <a:p>
            <a:pPr algn="l"/>
            <a:r>
              <a:rPr sz="1000" b="0" i="0">
                <a:solidFill>
                  <a:srgbClr val="CCCCCC"/>
                </a:solidFill>
                <a:latin typeface="Calibri"/>
              </a:rPr>
              <a:t>Close, as booked</a:t>
            </a:r>
          </a:p>
        </p:txBody>
      </p:sp>
      <p:sp>
        <p:nvSpPr>
          <p:cNvPr id="34" name="TextBox 33"/>
          <p:cNvSpPr txBox="1"/>
          <p:nvPr/>
        </p:nvSpPr>
        <p:spPr>
          <a:xfrm>
            <a:off x="5897880" y="1170432"/>
            <a:ext cx="777240" cy="219456"/>
          </a:xfrm>
          <a:prstGeom prst="rect">
            <a:avLst/>
          </a:prstGeom>
          <a:noFill/>
        </p:spPr>
        <p:txBody>
          <a:bodyPr wrap="none">
            <a:spAutoFit/>
          </a:bodyPr>
          <a:lstStyle/>
          <a:p>
            <a:pPr algn="r"/>
            <a:r>
              <a:rPr sz="1000" b="1" i="0">
                <a:solidFill>
                  <a:srgbClr val="44BB44"/>
                </a:solidFill>
                <a:latin typeface="Calibri"/>
              </a:rPr>
              <a:t>~$141.7K</a:t>
            </a:r>
          </a:p>
        </p:txBody>
      </p:sp>
      <p:sp>
        <p:nvSpPr>
          <p:cNvPr id="35" name="TextBox 34"/>
          <p:cNvSpPr txBox="1"/>
          <p:nvPr/>
        </p:nvSpPr>
        <p:spPr>
          <a:xfrm>
            <a:off x="4736592" y="1399032"/>
            <a:ext cx="1188720" cy="219456"/>
          </a:xfrm>
          <a:prstGeom prst="rect">
            <a:avLst/>
          </a:prstGeom>
          <a:noFill/>
        </p:spPr>
        <p:txBody>
          <a:bodyPr wrap="none">
            <a:spAutoFit/>
          </a:bodyPr>
          <a:lstStyle/>
          <a:p>
            <a:pPr algn="l"/>
            <a:r>
              <a:rPr sz="1000" b="0" i="0">
                <a:solidFill>
                  <a:srgbClr val="CCCCCC"/>
                </a:solidFill>
                <a:latin typeface="Calibri"/>
              </a:rPr>
              <a:t>Close, Step 1</a:t>
            </a:r>
          </a:p>
        </p:txBody>
      </p:sp>
      <p:sp>
        <p:nvSpPr>
          <p:cNvPr id="36" name="TextBox 35"/>
          <p:cNvSpPr txBox="1"/>
          <p:nvPr/>
        </p:nvSpPr>
        <p:spPr>
          <a:xfrm>
            <a:off x="5897880" y="1399032"/>
            <a:ext cx="777240" cy="219456"/>
          </a:xfrm>
          <a:prstGeom prst="rect">
            <a:avLst/>
          </a:prstGeom>
          <a:noFill/>
        </p:spPr>
        <p:txBody>
          <a:bodyPr wrap="none">
            <a:spAutoFit/>
          </a:bodyPr>
          <a:lstStyle/>
          <a:p>
            <a:pPr algn="r"/>
            <a:r>
              <a:rPr sz="1000" b="1" i="0">
                <a:solidFill>
                  <a:srgbClr val="FFCC44"/>
                </a:solidFill>
                <a:latin typeface="Calibri"/>
              </a:rPr>
              <a:t>~$187.5K</a:t>
            </a:r>
          </a:p>
        </p:txBody>
      </p:sp>
      <p:sp>
        <p:nvSpPr>
          <p:cNvPr id="37" name="TextBox 36"/>
          <p:cNvSpPr txBox="1"/>
          <p:nvPr/>
        </p:nvSpPr>
        <p:spPr>
          <a:xfrm>
            <a:off x="4736592" y="1627632"/>
            <a:ext cx="1188720" cy="219456"/>
          </a:xfrm>
          <a:prstGeom prst="rect">
            <a:avLst/>
          </a:prstGeom>
          <a:noFill/>
        </p:spPr>
        <p:txBody>
          <a:bodyPr wrap="none">
            <a:spAutoFit/>
          </a:bodyPr>
          <a:lstStyle/>
          <a:p>
            <a:pPr algn="l"/>
            <a:r>
              <a:rPr sz="1000" b="0" i="0">
                <a:solidFill>
                  <a:srgbClr val="CCCCCC"/>
                </a:solidFill>
                <a:latin typeface="Calibri"/>
              </a:rPr>
              <a:t>Close, Step 1+2</a:t>
            </a:r>
          </a:p>
        </p:txBody>
      </p:sp>
      <p:sp>
        <p:nvSpPr>
          <p:cNvPr id="38" name="TextBox 37"/>
          <p:cNvSpPr txBox="1"/>
          <p:nvPr/>
        </p:nvSpPr>
        <p:spPr>
          <a:xfrm>
            <a:off x="5897880" y="1627632"/>
            <a:ext cx="777240" cy="219456"/>
          </a:xfrm>
          <a:prstGeom prst="rect">
            <a:avLst/>
          </a:prstGeom>
          <a:noFill/>
        </p:spPr>
        <p:txBody>
          <a:bodyPr wrap="none">
            <a:spAutoFit/>
          </a:bodyPr>
          <a:lstStyle/>
          <a:p>
            <a:pPr algn="r"/>
            <a:r>
              <a:rPr sz="1000" b="1" i="0">
                <a:solidFill>
                  <a:srgbClr val="FFCC44"/>
                </a:solidFill>
                <a:latin typeface="Calibri"/>
              </a:rPr>
              <a:t>~$240.5K</a:t>
            </a:r>
          </a:p>
        </p:txBody>
      </p:sp>
      <p:sp>
        <p:nvSpPr>
          <p:cNvPr id="39" name="TextBox 38"/>
          <p:cNvSpPr txBox="1"/>
          <p:nvPr/>
        </p:nvSpPr>
        <p:spPr>
          <a:xfrm>
            <a:off x="4736592" y="1856231"/>
            <a:ext cx="1188720" cy="219456"/>
          </a:xfrm>
          <a:prstGeom prst="rect">
            <a:avLst/>
          </a:prstGeom>
          <a:noFill/>
        </p:spPr>
        <p:txBody>
          <a:bodyPr wrap="none">
            <a:spAutoFit/>
          </a:bodyPr>
          <a:lstStyle/>
          <a:p>
            <a:pPr algn="l"/>
            <a:r>
              <a:rPr sz="1000" b="0" i="0">
                <a:solidFill>
                  <a:srgbClr val="CCCCCC"/>
                </a:solidFill>
                <a:latin typeface="Calibri"/>
              </a:rPr>
              <a:t>Close, Step 3</a:t>
            </a:r>
          </a:p>
        </p:txBody>
      </p:sp>
      <p:sp>
        <p:nvSpPr>
          <p:cNvPr id="40" name="TextBox 39"/>
          <p:cNvSpPr txBox="1"/>
          <p:nvPr/>
        </p:nvSpPr>
        <p:spPr>
          <a:xfrm>
            <a:off x="5897880" y="1856231"/>
            <a:ext cx="777240" cy="219456"/>
          </a:xfrm>
          <a:prstGeom prst="rect">
            <a:avLst/>
          </a:prstGeom>
          <a:noFill/>
        </p:spPr>
        <p:txBody>
          <a:bodyPr wrap="none">
            <a:spAutoFit/>
          </a:bodyPr>
          <a:lstStyle/>
          <a:p>
            <a:pPr algn="r"/>
            <a:r>
              <a:rPr sz="1000" b="1" i="0">
                <a:solidFill>
                  <a:srgbClr val="CCCCCC"/>
                </a:solidFill>
                <a:latin typeface="Calibri"/>
              </a:rPr>
              <a:t>~$270.5K</a:t>
            </a:r>
          </a:p>
        </p:txBody>
      </p:sp>
      <p:sp>
        <p:nvSpPr>
          <p:cNvPr id="41" name="TextBox 40"/>
          <p:cNvSpPr txBox="1"/>
          <p:nvPr/>
        </p:nvSpPr>
        <p:spPr>
          <a:xfrm>
            <a:off x="4736592" y="2103120"/>
            <a:ext cx="1965960" cy="411480"/>
          </a:xfrm>
          <a:prstGeom prst="rect">
            <a:avLst/>
          </a:prstGeom>
          <a:noFill/>
        </p:spPr>
        <p:txBody>
          <a:bodyPr wrap="square">
            <a:spAutoFit/>
          </a:bodyPr>
          <a:lstStyle/>
          <a:p>
            <a:pPr algn="l"/>
            <a:r>
              <a:rPr sz="1000" b="0" i="1">
                <a:solidFill>
                  <a:srgbClr val="FFCC44"/>
                </a:solidFill>
                <a:latin typeface="Calibri"/>
              </a:rPr>
              <a:t>5-yr ≈ $403K (8.2× paid-in). 6/3 ledger omits cert #3.</a:t>
            </a:r>
          </a:p>
        </p:txBody>
      </p:sp>
      <p:sp>
        <p:nvSpPr>
          <p:cNvPr id="42" name="Rectangle 41"/>
          <p:cNvSpPr/>
          <p:nvPr/>
        </p:nvSpPr>
        <p:spPr>
          <a:xfrm>
            <a:off x="0" y="2596896"/>
            <a:ext cx="9144000" cy="932688"/>
          </a:xfrm>
          <a:prstGeom prst="rect">
            <a:avLst/>
          </a:prstGeom>
          <a:solidFill>
            <a:srgbClr val="2A1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0" y="2596896"/>
            <a:ext cx="9144000" cy="18288"/>
          </a:xfrm>
          <a:prstGeom prst="rect">
            <a:avLst/>
          </a:prstGeom>
          <a:solidFill>
            <a:srgbClr val="CC8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56032" y="2624327"/>
            <a:ext cx="3931920" cy="182880"/>
          </a:xfrm>
          <a:prstGeom prst="rect">
            <a:avLst/>
          </a:prstGeom>
          <a:noFill/>
        </p:spPr>
        <p:txBody>
          <a:bodyPr wrap="none">
            <a:spAutoFit/>
          </a:bodyPr>
          <a:lstStyle/>
          <a:p>
            <a:pPr algn="l"/>
            <a:r>
              <a:rPr sz="1000" b="1" i="0">
                <a:solidFill>
                  <a:srgbClr val="CC8800"/>
                </a:solidFill>
                <a:latin typeface="Calibri"/>
              </a:rPr>
              <a:t>IF THE APRIL 30 ENTRIES ARE NOT CORRECTED</a:t>
            </a:r>
          </a:p>
        </p:txBody>
      </p:sp>
      <p:sp>
        <p:nvSpPr>
          <p:cNvPr id="45" name="TextBox 44"/>
          <p:cNvSpPr txBox="1"/>
          <p:nvPr/>
        </p:nvSpPr>
        <p:spPr>
          <a:xfrm>
            <a:off x="256032" y="2834640"/>
            <a:ext cx="3840480" cy="201168"/>
          </a:xfrm>
          <a:prstGeom prst="rect">
            <a:avLst/>
          </a:prstGeom>
          <a:noFill/>
        </p:spPr>
        <p:txBody>
          <a:bodyPr wrap="none">
            <a:spAutoFit/>
          </a:bodyPr>
          <a:lstStyle/>
          <a:p>
            <a:pPr algn="l"/>
            <a:r>
              <a:rPr sz="1000" b="0" i="0">
                <a:solidFill>
                  <a:srgbClr val="CCCCCC"/>
                </a:solidFill>
                <a:latin typeface="Calibri"/>
              </a:rPr>
              <a:t>Step 1: facility credit + interest ($448K)</a:t>
            </a:r>
          </a:p>
        </p:txBody>
      </p:sp>
      <p:sp>
        <p:nvSpPr>
          <p:cNvPr id="46" name="TextBox 45"/>
          <p:cNvSpPr txBox="1"/>
          <p:nvPr/>
        </p:nvSpPr>
        <p:spPr>
          <a:xfrm>
            <a:off x="4206240" y="2834640"/>
            <a:ext cx="1371600" cy="201168"/>
          </a:xfrm>
          <a:prstGeom prst="rect">
            <a:avLst/>
          </a:prstGeom>
          <a:noFill/>
        </p:spPr>
        <p:txBody>
          <a:bodyPr wrap="none">
            <a:spAutoFit/>
          </a:bodyPr>
          <a:lstStyle/>
          <a:p>
            <a:pPr algn="r"/>
            <a:r>
              <a:rPr sz="1000" b="1" i="0" dirty="0">
                <a:solidFill>
                  <a:srgbClr val="DD4444"/>
                </a:solidFill>
                <a:latin typeface="Calibri"/>
              </a:rPr>
              <a:t>−$5.5K</a:t>
            </a:r>
          </a:p>
        </p:txBody>
      </p:sp>
      <p:sp>
        <p:nvSpPr>
          <p:cNvPr id="47" name="TextBox 46"/>
          <p:cNvSpPr txBox="1"/>
          <p:nvPr/>
        </p:nvSpPr>
        <p:spPr>
          <a:xfrm>
            <a:off x="7205472" y="2834639"/>
            <a:ext cx="164592" cy="201168"/>
          </a:xfrm>
          <a:prstGeom prst="rect">
            <a:avLst/>
          </a:prstGeom>
          <a:noFill/>
        </p:spPr>
        <p:txBody>
          <a:bodyPr wrap="none">
            <a:spAutoFit/>
          </a:bodyPr>
          <a:lstStyle/>
          <a:p>
            <a:pPr algn="ctr"/>
            <a:r>
              <a:rPr sz="1000" b="0" i="0">
                <a:solidFill>
                  <a:srgbClr val="888888"/>
                </a:solidFill>
                <a:latin typeface="Calibri"/>
              </a:rPr>
              <a:t/>
            </a:r>
          </a:p>
        </p:txBody>
      </p:sp>
      <p:sp>
        <p:nvSpPr>
          <p:cNvPr id="48" name="TextBox 47"/>
          <p:cNvSpPr txBox="1"/>
          <p:nvPr/>
        </p:nvSpPr>
        <p:spPr>
          <a:xfrm>
            <a:off x="5669280" y="2834640"/>
            <a:ext cx="1463040" cy="201168"/>
          </a:xfrm>
          <a:prstGeom prst="rect">
            <a:avLst/>
          </a:prstGeom>
          <a:noFill/>
        </p:spPr>
        <p:txBody>
          <a:bodyPr wrap="none">
            <a:spAutoFit/>
          </a:bodyPr>
          <a:lstStyle/>
          <a:p>
            <a:pPr algn="r"/>
            <a:r>
              <a:rPr sz="1000" b="1" i="0" dirty="0">
                <a:solidFill>
                  <a:srgbClr val="DD4444"/>
                </a:solidFill>
                <a:latin typeface="Calibri"/>
              </a:rPr>
              <a:t>−$45.8K</a:t>
            </a:r>
          </a:p>
        </p:txBody>
      </p:sp>
      <p:sp>
        <p:nvSpPr>
          <p:cNvPr id="49" name="TextBox 48"/>
          <p:cNvSpPr txBox="1"/>
          <p:nvPr/>
        </p:nvSpPr>
        <p:spPr>
          <a:xfrm>
            <a:off x="256032" y="3072384"/>
            <a:ext cx="3840480" cy="201168"/>
          </a:xfrm>
          <a:prstGeom prst="rect">
            <a:avLst/>
          </a:prstGeom>
          <a:noFill/>
        </p:spPr>
        <p:txBody>
          <a:bodyPr wrap="none">
            <a:spAutoFit/>
          </a:bodyPr>
          <a:lstStyle/>
          <a:p>
            <a:pPr algn="l"/>
            <a:r>
              <a:rPr sz="1000" b="0" i="0">
                <a:solidFill>
                  <a:srgbClr val="CCCCCC"/>
                </a:solidFill>
                <a:latin typeface="Calibri"/>
              </a:rPr>
              <a:t>Steps 1+2: + unsupported offsets ($967K)</a:t>
            </a:r>
          </a:p>
        </p:txBody>
      </p:sp>
      <p:sp>
        <p:nvSpPr>
          <p:cNvPr id="50" name="TextBox 49"/>
          <p:cNvSpPr txBox="1"/>
          <p:nvPr/>
        </p:nvSpPr>
        <p:spPr>
          <a:xfrm>
            <a:off x="4206240" y="3072384"/>
            <a:ext cx="1371600" cy="201168"/>
          </a:xfrm>
          <a:prstGeom prst="rect">
            <a:avLst/>
          </a:prstGeom>
          <a:noFill/>
        </p:spPr>
        <p:txBody>
          <a:bodyPr wrap="none">
            <a:spAutoFit/>
          </a:bodyPr>
          <a:lstStyle/>
          <a:p>
            <a:pPr algn="r"/>
            <a:r>
              <a:rPr sz="1000" b="1" i="0" dirty="0">
                <a:solidFill>
                  <a:srgbClr val="DD4444"/>
                </a:solidFill>
                <a:latin typeface="Calibri"/>
              </a:rPr>
              <a:t>−$11.8K</a:t>
            </a:r>
          </a:p>
        </p:txBody>
      </p:sp>
      <p:sp>
        <p:nvSpPr>
          <p:cNvPr id="51" name="TextBox 50"/>
          <p:cNvSpPr txBox="1"/>
          <p:nvPr/>
        </p:nvSpPr>
        <p:spPr>
          <a:xfrm>
            <a:off x="7205472" y="3090672"/>
            <a:ext cx="164592" cy="201168"/>
          </a:xfrm>
          <a:prstGeom prst="rect">
            <a:avLst/>
          </a:prstGeom>
          <a:noFill/>
        </p:spPr>
        <p:txBody>
          <a:bodyPr wrap="none">
            <a:spAutoFit/>
          </a:bodyPr>
          <a:lstStyle/>
          <a:p>
            <a:pPr algn="ctr"/>
            <a:r>
              <a:rPr sz="1000" b="0" i="0">
                <a:solidFill>
                  <a:srgbClr val="888888"/>
                </a:solidFill>
                <a:latin typeface="Calibri"/>
              </a:rPr>
              <a:t/>
            </a:r>
          </a:p>
        </p:txBody>
      </p:sp>
      <p:sp>
        <p:nvSpPr>
          <p:cNvPr id="52" name="TextBox 51"/>
          <p:cNvSpPr txBox="1"/>
          <p:nvPr/>
        </p:nvSpPr>
        <p:spPr>
          <a:xfrm>
            <a:off x="5669280" y="3072384"/>
            <a:ext cx="1463040" cy="201168"/>
          </a:xfrm>
          <a:prstGeom prst="rect">
            <a:avLst/>
          </a:prstGeom>
          <a:noFill/>
        </p:spPr>
        <p:txBody>
          <a:bodyPr wrap="none">
            <a:spAutoFit/>
          </a:bodyPr>
          <a:lstStyle/>
          <a:p>
            <a:pPr algn="r"/>
            <a:r>
              <a:rPr sz="1000" b="1" i="0" dirty="0">
                <a:solidFill>
                  <a:srgbClr val="DD4444"/>
                </a:solidFill>
                <a:latin typeface="Calibri"/>
              </a:rPr>
              <a:t>−$98.7K</a:t>
            </a:r>
            <a:r>
              <a:rPr lang="en-US" sz="1000" b="1" i="0" dirty="0">
                <a:solidFill>
                  <a:srgbClr val="DD4444"/>
                </a:solidFill>
                <a:latin typeface="Calibri"/>
              </a:rPr>
              <a:t/>
            </a:r>
            <a:endParaRPr sz="1000" b="1" i="0" dirty="0">
              <a:solidFill>
                <a:srgbClr val="DD4444"/>
              </a:solidFill>
              <a:latin typeface="Calibri"/>
            </a:endParaRPr>
          </a:p>
        </p:txBody>
      </p:sp>
      <p:sp>
        <p:nvSpPr>
          <p:cNvPr id="53" name="Rectangle 52"/>
          <p:cNvSpPr/>
          <p:nvPr/>
        </p:nvSpPr>
        <p:spPr>
          <a:xfrm>
            <a:off x="0" y="3529584"/>
            <a:ext cx="4572000" cy="1207007"/>
          </a:xfrm>
          <a:prstGeom prst="rect">
            <a:avLst/>
          </a:prstGeom>
          <a:solidFill>
            <a:srgbClr val="0A1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4572000" y="3529584"/>
            <a:ext cx="4572000" cy="1207007"/>
          </a:xfrm>
          <a:prstGeom prst="rect">
            <a:avLst/>
          </a:prstGeom>
          <a:solidFill>
            <a:srgbClr val="1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0" y="3529584"/>
            <a:ext cx="9144000" cy="16459"/>
          </a:xfrm>
          <a:prstGeom prst="rect">
            <a:avLst/>
          </a:prstGeom>
          <a:solidFill>
            <a:srgbClr val="337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4572000" y="3529584"/>
            <a:ext cx="10972" cy="1207007"/>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6032" y="3566160"/>
            <a:ext cx="4114800" cy="201168"/>
          </a:xfrm>
          <a:prstGeom prst="rect">
            <a:avLst/>
          </a:prstGeom>
          <a:noFill/>
        </p:spPr>
        <p:txBody>
          <a:bodyPr wrap="none">
            <a:spAutoFit/>
          </a:bodyPr>
          <a:lstStyle/>
          <a:p>
            <a:pPr algn="l"/>
            <a:r>
              <a:rPr sz="1100" b="1" i="0">
                <a:solidFill>
                  <a:srgbClr val="44BB44"/>
                </a:solidFill>
                <a:latin typeface="Calibri"/>
              </a:rPr>
              <a:t>✔  SELL TO EXOS: offered value creation</a:t>
            </a:r>
          </a:p>
        </p:txBody>
      </p:sp>
      <p:sp>
        <p:nvSpPr>
          <p:cNvPr id="58" name="TextBox 57"/>
          <p:cNvSpPr txBox="1"/>
          <p:nvPr/>
        </p:nvSpPr>
        <p:spPr>
          <a:xfrm>
            <a:off x="4736592" y="3566160"/>
            <a:ext cx="4114800" cy="201168"/>
          </a:xfrm>
          <a:prstGeom prst="rect">
            <a:avLst/>
          </a:prstGeom>
          <a:noFill/>
        </p:spPr>
        <p:txBody>
          <a:bodyPr wrap="none">
            <a:spAutoFit/>
          </a:bodyPr>
          <a:lstStyle/>
          <a:p>
            <a:pPr algn="l"/>
            <a:r>
              <a:rPr sz="1100" b="1" i="0">
                <a:solidFill>
                  <a:srgbClr val="DD4444"/>
                </a:solidFill>
                <a:latin typeface="Calibri"/>
              </a:rPr>
              <a:t>✘  REFUSAL TO SELL: today's value and the standalone path</a:t>
            </a:r>
          </a:p>
        </p:txBody>
      </p:sp>
      <p:sp>
        <p:nvSpPr>
          <p:cNvPr id="59" name="TextBox 58"/>
          <p:cNvSpPr txBox="1"/>
          <p:nvPr/>
        </p:nvSpPr>
        <p:spPr>
          <a:xfrm>
            <a:off x="457200" y="3785615"/>
            <a:ext cx="3977639" cy="201168"/>
          </a:xfrm>
          <a:prstGeom prst="rect">
            <a:avLst/>
          </a:prstGeom>
          <a:noFill/>
        </p:spPr>
        <p:txBody>
          <a:bodyPr wrap="none">
            <a:spAutoFit/>
          </a:bodyPr>
          <a:lstStyle/>
          <a:p>
            <a:pPr algn="l"/>
            <a:r>
              <a:rPr sz="1000" b="0" i="0">
                <a:solidFill>
                  <a:srgbClr val="44BB44"/>
                </a:solidFill>
                <a:latin typeface="Calibri"/>
              </a:rPr>
              <a:t>~$14–20K per 1% in cash at close</a:t>
            </a:r>
          </a:p>
        </p:txBody>
      </p:sp>
      <p:sp>
        <p:nvSpPr>
          <p:cNvPr id="60" name="TextBox 59"/>
          <p:cNvSpPr txBox="1"/>
          <p:nvPr/>
        </p:nvSpPr>
        <p:spPr>
          <a:xfrm>
            <a:off x="4736592" y="3785615"/>
            <a:ext cx="4160520" cy="201168"/>
          </a:xfrm>
          <a:prstGeom prst="rect">
            <a:avLst/>
          </a:prstGeom>
          <a:noFill/>
        </p:spPr>
        <p:txBody>
          <a:bodyPr wrap="none">
            <a:spAutoFit/>
          </a:bodyPr>
          <a:lstStyle/>
          <a:p>
            <a:pPr algn="l"/>
            <a:r>
              <a:rPr sz="1000" b="0" i="0">
                <a:solidFill>
                  <a:srgbClr val="DD4444"/>
                </a:solidFill>
                <a:latin typeface="Calibri"/>
              </a:rPr>
              <a:t>Today: book equity −$1.44M, so no cash to holders without a sale</a:t>
            </a:r>
          </a:p>
        </p:txBody>
      </p:sp>
      <p:sp>
        <p:nvSpPr>
          <p:cNvPr id="61" name="TextBox 60"/>
          <p:cNvSpPr txBox="1"/>
          <p:nvPr/>
        </p:nvSpPr>
        <p:spPr>
          <a:xfrm>
            <a:off x="457200" y="4005072"/>
            <a:ext cx="3977639" cy="201168"/>
          </a:xfrm>
          <a:prstGeom prst="rect">
            <a:avLst/>
          </a:prstGeom>
          <a:noFill/>
        </p:spPr>
        <p:txBody>
          <a:bodyPr wrap="none">
            <a:spAutoFit/>
          </a:bodyPr>
          <a:lstStyle/>
          <a:p>
            <a:pPr algn="l"/>
            <a:r>
              <a:rPr sz="1000" b="0" i="0">
                <a:solidFill>
                  <a:srgbClr val="44BB44"/>
                </a:solidFill>
                <a:latin typeface="Calibri"/>
              </a:rPr>
              <a:t>~$48K per 1% over 5 years</a:t>
            </a:r>
          </a:p>
        </p:txBody>
      </p:sp>
      <p:sp>
        <p:nvSpPr>
          <p:cNvPr id="62" name="TextBox 61"/>
          <p:cNvSpPr txBox="1"/>
          <p:nvPr/>
        </p:nvSpPr>
        <p:spPr>
          <a:xfrm>
            <a:off x="4736592" y="4005072"/>
            <a:ext cx="4160520" cy="201168"/>
          </a:xfrm>
          <a:prstGeom prst="rect">
            <a:avLst/>
          </a:prstGeom>
          <a:noFill/>
        </p:spPr>
        <p:txBody>
          <a:bodyPr wrap="none">
            <a:spAutoFit/>
          </a:bodyPr>
          <a:lstStyle/>
          <a:p>
            <a:pPr algn="l"/>
            <a:r>
              <a:rPr sz="1000" b="0" i="0">
                <a:solidFill>
                  <a:srgbClr val="DD4444"/>
                </a:solidFill>
                <a:latin typeface="Calibri"/>
              </a:rPr>
              <a:t>Future: SSLC alone must double revenue to $5.1M+, with no new capital</a:t>
            </a:r>
          </a:p>
        </p:txBody>
      </p:sp>
      <p:sp>
        <p:nvSpPr>
          <p:cNvPr id="63" name="TextBox 62"/>
          <p:cNvSpPr txBox="1"/>
          <p:nvPr/>
        </p:nvSpPr>
        <p:spPr>
          <a:xfrm>
            <a:off x="457200" y="4224528"/>
            <a:ext cx="3977639" cy="201168"/>
          </a:xfrm>
          <a:prstGeom prst="rect">
            <a:avLst/>
          </a:prstGeom>
          <a:noFill/>
        </p:spPr>
        <p:txBody>
          <a:bodyPr wrap="none">
            <a:spAutoFit/>
          </a:bodyPr>
          <a:lstStyle/>
          <a:p>
            <a:pPr algn="l"/>
            <a:r>
              <a:rPr sz="1000" b="0" i="0">
                <a:solidFill>
                  <a:srgbClr val="44BB44"/>
                </a:solidFill>
                <a:latin typeface="Calibri"/>
              </a:rPr>
              <a:t>Books corrected (Step 3)  ·  risk removed</a:t>
            </a:r>
          </a:p>
        </p:txBody>
      </p:sp>
      <p:sp>
        <p:nvSpPr>
          <p:cNvPr id="64" name="TextBox 63"/>
          <p:cNvSpPr txBox="1"/>
          <p:nvPr/>
        </p:nvSpPr>
        <p:spPr>
          <a:xfrm>
            <a:off x="4736592" y="4224528"/>
            <a:ext cx="4160520" cy="201168"/>
          </a:xfrm>
          <a:prstGeom prst="rect">
            <a:avLst/>
          </a:prstGeom>
          <a:noFill/>
        </p:spPr>
        <p:txBody>
          <a:bodyPr wrap="none">
            <a:spAutoFit/>
          </a:bodyPr>
          <a:lstStyle/>
          <a:p>
            <a:pPr algn="l"/>
            <a:r>
              <a:rPr sz="1000" b="0" i="0">
                <a:solidFill>
                  <a:srgbClr val="DD4444"/>
                </a:solidFill>
                <a:latin typeface="Calibri"/>
              </a:rPr>
              <a:t>Insider balances ($864K as booked) are paid first</a:t>
            </a:r>
          </a:p>
        </p:txBody>
      </p:sp>
      <p:sp>
        <p:nvSpPr>
          <p:cNvPr id="65" name="TextBox 64"/>
          <p:cNvSpPr txBox="1"/>
          <p:nvPr/>
        </p:nvSpPr>
        <p:spPr>
          <a:xfrm>
            <a:off x="256032" y="4480560"/>
            <a:ext cx="8631936" cy="182880"/>
          </a:xfrm>
          <a:prstGeom prst="rect">
            <a:avLst/>
          </a:prstGeom>
          <a:noFill/>
        </p:spPr>
        <p:txBody>
          <a:bodyPr wrap="none">
            <a:spAutoFit/>
          </a:bodyPr>
          <a:lstStyle/>
          <a:p>
            <a:pPr algn="l"/>
            <a:r>
              <a:rPr sz="1000" b="0" i="1">
                <a:solidFill>
                  <a:srgbClr val="CCCCCC"/>
                </a:solidFill>
                <a:latin typeface="Calibri"/>
              </a:rPr>
              <a:t>Declining means believing SSLC alone beats this without new capital.</a:t>
            </a:r>
          </a:p>
        </p:txBody>
      </p:sp>
      <p:sp>
        <p:nvSpPr>
          <p:cNvPr id="66" name="TextBox 65"/>
          <p:cNvSpPr txBox="1"/>
          <p:nvPr/>
        </p:nvSpPr>
        <p:spPr>
          <a:xfrm>
            <a:off x="256032" y="4736592"/>
            <a:ext cx="8631936" cy="137160"/>
          </a:xfrm>
          <a:prstGeom prst="rect">
            <a:avLst/>
          </a:prstGeom>
          <a:noFill/>
        </p:spPr>
        <p:txBody>
          <a:bodyPr wrap="none">
            <a:spAutoFit/>
          </a:bodyPr>
          <a:lstStyle/>
          <a:p>
            <a:pPr algn="l"/>
            <a:r>
              <a:rPr sz="1000" b="0" i="1">
                <a:solidFill>
                  <a:srgbClr val="888888"/>
                </a:solidFill>
                <a:latin typeface="Calibri"/>
              </a:rPr>
              <a:t>Projection, not a guarantee. Amounts estimated from SSLC QuickBooks (10/11/2026) and the 08-2024 share register.</a:t>
            </a:r>
          </a:p>
        </p:txBody>
      </p:sp>
      <p:sp>
        <p:nvSpPr>
          <p:cNvPr id="67" name="TextBox 66"/>
          <p:cNvSpPr txBox="1"/>
          <p:nvPr/>
        </p:nvSpPr>
        <p:spPr>
          <a:xfrm>
            <a:off x="3200400" y="4910328"/>
            <a:ext cx="2743200" cy="201168"/>
          </a:xfrm>
          <a:prstGeom prst="rect">
            <a:avLst/>
          </a:prstGeom>
          <a:noFill/>
        </p:spPr>
        <p:txBody>
          <a:bodyPr wrap="none">
            <a:spAutoFit/>
          </a:bodyPr>
          <a:lstStyle/>
          <a:p>
            <a:pPr algn="ctr"/>
            <a:r>
              <a:rPr sz="1000" b="0" i="0">
                <a:solidFill>
                  <a:srgbClr val="888888"/>
                </a:solidFill>
                <a:latin typeface="Calibri"/>
              </a:rPr>
              <a:t>DRAFT — NEGOTIATING TERMS</a:t>
            </a:r>
          </a:p>
        </p:txBody>
      </p:sp>
      <p:sp>
        <p:nvSpPr>
          <p:cNvPr id="68" name="TextBox 67"/>
          <p:cNvSpPr txBox="1"/>
          <p:nvPr/>
        </p:nvSpPr>
        <p:spPr>
          <a:xfrm>
            <a:off x="7863840" y="4910328"/>
            <a:ext cx="1188720" cy="201168"/>
          </a:xfrm>
          <a:prstGeom prst="rect">
            <a:avLst/>
          </a:prstGeom>
          <a:noFill/>
        </p:spPr>
        <p:txBody>
          <a:bodyPr wrap="none">
            <a:spAutoFit/>
          </a:bodyPr>
          <a:lstStyle/>
          <a:p>
            <a:pPr algn="r"/>
            <a:r>
              <a:rPr sz="1000" b="0" i="0">
                <a:solidFill>
                  <a:srgbClr val="888888"/>
                </a:solidFill>
                <a:latin typeface="Calibri"/>
              </a:rPr>
              <a:t>CONFIDENTIAL</a:t>
            </a:r>
          </a:p>
        </p:txBody>
      </p:sp>
      <p:sp>
        <p:nvSpPr>
          <p:cNvPr id="69" name="TextBox 68"/>
          <p:cNvSpPr txBox="1"/>
          <p:nvPr/>
        </p:nvSpPr>
        <p:spPr>
          <a:xfrm>
            <a:off x="256032" y="3291840"/>
            <a:ext cx="3840480" cy="201168"/>
          </a:xfrm>
          <a:prstGeom prst="rect">
            <a:avLst/>
          </a:prstGeom>
          <a:noFill/>
        </p:spPr>
        <p:txBody>
          <a:bodyPr wrap="none">
            <a:spAutoFit/>
          </a:bodyPr>
          <a:lstStyle/>
          <a:p>
            <a:r>
              <a:rPr lang="en-US" sz="1000">
                <a:solidFill>
                  <a:srgbClr val="CCCCCC"/>
                </a:solidFill>
                <a:latin typeface="Calibri"/>
              </a:rPr>
              <a:t>Steps 1–3: + full $812K loan ($1.26M)</a:t>
            </a:r>
          </a:p>
        </p:txBody>
      </p:sp>
      <p:sp>
        <p:nvSpPr>
          <p:cNvPr id="70" name="TextBox 69"/>
          <p:cNvSpPr txBox="1"/>
          <p:nvPr/>
        </p:nvSpPr>
        <p:spPr>
          <a:xfrm>
            <a:off x="4206240" y="3291840"/>
            <a:ext cx="1371600" cy="201168"/>
          </a:xfrm>
          <a:prstGeom prst="rect">
            <a:avLst/>
          </a:prstGeom>
          <a:noFill/>
        </p:spPr>
        <p:txBody>
          <a:bodyPr wrap="none">
            <a:spAutoFit/>
          </a:bodyPr>
          <a:lstStyle/>
          <a:p>
            <a:pPr algn="r"/>
            <a:r>
              <a:rPr lang="en-US" sz="1000" b="1">
                <a:solidFill>
                  <a:srgbClr val="DD4444"/>
                </a:solidFill>
                <a:latin typeface="Calibri"/>
              </a:rPr>
              <a:t>−$15.4K</a:t>
            </a:r>
          </a:p>
        </p:txBody>
      </p:sp>
      <p:sp>
        <p:nvSpPr>
          <p:cNvPr id="71" name="TextBox 70"/>
          <p:cNvSpPr txBox="1"/>
          <p:nvPr/>
        </p:nvSpPr>
        <p:spPr>
          <a:xfrm>
            <a:off x="7205472" y="3310128"/>
            <a:ext cx="164592" cy="201168"/>
          </a:xfrm>
          <a:prstGeom prst="rect">
            <a:avLst/>
          </a:prstGeom>
          <a:noFill/>
        </p:spPr>
        <p:txBody>
          <a:bodyPr wrap="none">
            <a:spAutoFit/>
          </a:bodyPr>
          <a:lstStyle/>
          <a:p>
            <a:r>
              <a:rPr lang="en-US" sz="1000">
                <a:solidFill>
                  <a:srgbClr val="CCCCCC"/>
                </a:solidFill>
                <a:latin typeface="Calibri"/>
              </a:rPr>
              <a:t/>
            </a:r>
          </a:p>
        </p:txBody>
      </p:sp>
      <p:sp>
        <p:nvSpPr>
          <p:cNvPr id="72" name="TextBox 71"/>
          <p:cNvSpPr txBox="1"/>
          <p:nvPr/>
        </p:nvSpPr>
        <p:spPr>
          <a:xfrm>
            <a:off x="5669280" y="3291840"/>
            <a:ext cx="1463040" cy="201168"/>
          </a:xfrm>
          <a:prstGeom prst="rect">
            <a:avLst/>
          </a:prstGeom>
          <a:noFill/>
        </p:spPr>
        <p:txBody>
          <a:bodyPr wrap="none">
            <a:spAutoFit/>
          </a:bodyPr>
          <a:lstStyle/>
          <a:p>
            <a:pPr algn="r"/>
            <a:r>
              <a:rPr lang="en-US" sz="1000" b="1" dirty="0">
                <a:solidFill>
                  <a:srgbClr val="DD4444"/>
                </a:solidFill>
                <a:latin typeface="Calibri"/>
              </a:rPr>
              <a:t>−$128.7K</a:t>
            </a:r>
          </a:p>
        </p:txBody>
      </p:sp>
      <p:sp>
        <p:nvSpPr>
          <p:cNvPr id="73" name="TextBox 72"/>
          <p:cNvSpPr txBox="1"/>
          <p:nvPr/>
        </p:nvSpPr>
        <p:spPr>
          <a:xfrm>
            <a:off x="6812280" y="566928"/>
            <a:ext cx="2103120" cy="201168"/>
          </a:xfrm>
          <a:prstGeom prst="rect">
            <a:avLst/>
          </a:prstGeom>
          <a:noFill/>
        </p:spPr>
        <p:txBody>
          <a:bodyPr wrap="none" anchor="t">
            <a:spAutoFit/>
          </a:bodyPr>
          <a:lstStyle/>
          <a:p>
            <a:r>
              <a:rPr lang="en-US" sz="1100" dirty="0" b="1">
                <a:solidFill>
                  <a:srgbClr val="FFFFFF"/>
                </a:solidFill>
                <a:latin typeface="Calibri"/>
              </a:rPr>
              <a:t>Rufer — 91,000 shares</a:t>
            </a:r>
          </a:p>
        </p:txBody>
      </p:sp>
      <p:sp>
        <p:nvSpPr>
          <p:cNvPr id="74" name="TextBox 73"/>
          <p:cNvSpPr txBox="1"/>
          <p:nvPr/>
        </p:nvSpPr>
        <p:spPr>
          <a:xfrm>
            <a:off x="6812280" y="795528"/>
            <a:ext cx="2194560" cy="201168"/>
          </a:xfrm>
          <a:prstGeom prst="rect">
            <a:avLst/>
          </a:prstGeom>
          <a:noFill/>
        </p:spPr>
        <p:txBody>
          <a:bodyPr wrap="none" anchor="t">
            <a:spAutoFit/>
          </a:bodyPr>
          <a:lstStyle/>
          <a:p>
            <a:r>
              <a:rPr lang="en-US" sz="1000" dirty="0">
                <a:solidFill>
                  <a:srgbClr val="CCCCCC"/>
                </a:solidFill>
                <a:latin typeface="Calibri"/>
              </a:rPr>
              <a:t>10.43% of SSLC · 12.73% of payout</a:t>
            </a:r>
          </a:p>
        </p:txBody>
      </p:sp>
      <p:sp>
        <p:nvSpPr>
          <p:cNvPr id="75" name="TextBox 74"/>
          <p:cNvSpPr txBox="1"/>
          <p:nvPr/>
        </p:nvSpPr>
        <p:spPr>
          <a:xfrm>
            <a:off x="6812280" y="932688"/>
            <a:ext cx="2103120" cy="182880"/>
          </a:xfrm>
          <a:prstGeom prst="rect">
            <a:avLst/>
          </a:prstGeom>
          <a:noFill/>
        </p:spPr>
        <p:txBody>
          <a:bodyPr wrap="none" anchor="t">
            <a:spAutoFit/>
          </a:bodyPr>
          <a:lstStyle/>
          <a:p>
            <a:r>
              <a:rPr lang="en-US" sz="1000" dirty="0" i="1">
                <a:solidFill>
                  <a:srgbClr val="CCCCCC"/>
                </a:solidFill>
                <a:latin typeface="Calibri"/>
              </a:rPr>
              <a:t>~$31.4K paid-in (register)</a:t>
            </a:r>
          </a:p>
        </p:txBody>
      </p:sp>
      <p:sp>
        <p:nvSpPr>
          <p:cNvPr id="76" name="Rectangle 75"/>
          <p:cNvSpPr/>
          <p:nvPr/>
        </p:nvSpPr>
        <p:spPr>
          <a:xfrm>
            <a:off x="6812280" y="1143000"/>
            <a:ext cx="2103120" cy="7315"/>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812280" y="1170432"/>
            <a:ext cx="1234440" cy="219456"/>
          </a:xfrm>
          <a:prstGeom prst="rect">
            <a:avLst/>
          </a:prstGeom>
          <a:noFill/>
        </p:spPr>
        <p:txBody>
          <a:bodyPr wrap="none" anchor="t">
            <a:spAutoFit/>
          </a:bodyPr>
          <a:lstStyle/>
          <a:p>
            <a:r>
              <a:rPr lang="en-US" sz="1000" dirty="0">
                <a:solidFill>
                  <a:srgbClr val="CCCCCC"/>
                </a:solidFill>
                <a:latin typeface="Calibri"/>
              </a:rPr>
              <a:t>Close, as booked</a:t>
            </a:r>
          </a:p>
        </p:txBody>
      </p:sp>
      <p:sp>
        <p:nvSpPr>
          <p:cNvPr id="78" name="TextBox 77"/>
          <p:cNvSpPr txBox="1"/>
          <p:nvPr/>
        </p:nvSpPr>
        <p:spPr>
          <a:xfrm>
            <a:off x="8138160" y="1170432"/>
            <a:ext cx="822960" cy="219456"/>
          </a:xfrm>
          <a:prstGeom prst="rect">
            <a:avLst/>
          </a:prstGeom>
          <a:noFill/>
        </p:spPr>
        <p:txBody>
          <a:bodyPr wrap="none" anchor="t">
            <a:spAutoFit/>
          </a:bodyPr>
          <a:lstStyle/>
          <a:p>
            <a:pPr algn="r"/>
            <a:r>
              <a:rPr lang="en-US" sz="1100" dirty="0" b="1">
                <a:solidFill>
                  <a:srgbClr val="FFCC44"/>
                </a:solidFill>
                <a:latin typeface="Calibri"/>
              </a:rPr>
              <a:t>~$176.7K</a:t>
            </a:r>
          </a:p>
        </p:txBody>
      </p:sp>
      <p:sp>
        <p:nvSpPr>
          <p:cNvPr id="79" name="TextBox 78"/>
          <p:cNvSpPr txBox="1"/>
          <p:nvPr/>
        </p:nvSpPr>
        <p:spPr>
          <a:xfrm>
            <a:off x="6812280" y="1399032"/>
            <a:ext cx="1234440" cy="219456"/>
          </a:xfrm>
          <a:prstGeom prst="rect">
            <a:avLst/>
          </a:prstGeom>
          <a:noFill/>
        </p:spPr>
        <p:txBody>
          <a:bodyPr wrap="none" anchor="t">
            <a:spAutoFit/>
          </a:bodyPr>
          <a:lstStyle/>
          <a:p>
            <a:r>
              <a:rPr lang="en-US" sz="1000" dirty="0">
                <a:solidFill>
                  <a:srgbClr val="CCCCCC"/>
                </a:solidFill>
                <a:latin typeface="Calibri"/>
              </a:rPr>
              <a:t>Close, Step 1</a:t>
            </a:r>
          </a:p>
        </p:txBody>
      </p:sp>
      <p:sp>
        <p:nvSpPr>
          <p:cNvPr id="80" name="TextBox 79"/>
          <p:cNvSpPr txBox="1"/>
          <p:nvPr/>
        </p:nvSpPr>
        <p:spPr>
          <a:xfrm>
            <a:off x="8138160" y="1399032"/>
            <a:ext cx="822960" cy="219456"/>
          </a:xfrm>
          <a:prstGeom prst="rect">
            <a:avLst/>
          </a:prstGeom>
          <a:noFill/>
        </p:spPr>
        <p:txBody>
          <a:bodyPr wrap="none" anchor="t">
            <a:spAutoFit/>
          </a:bodyPr>
          <a:lstStyle/>
          <a:p>
            <a:pPr algn="r"/>
            <a:r>
              <a:rPr lang="en-US" sz="1100" dirty="0" b="1">
                <a:solidFill>
                  <a:srgbClr val="FFCC44"/>
                </a:solidFill>
                <a:latin typeface="Calibri"/>
              </a:rPr>
              <a:t>~$233.7K</a:t>
            </a:r>
          </a:p>
        </p:txBody>
      </p:sp>
      <p:sp>
        <p:nvSpPr>
          <p:cNvPr id="81" name="TextBox 80"/>
          <p:cNvSpPr txBox="1"/>
          <p:nvPr/>
        </p:nvSpPr>
        <p:spPr>
          <a:xfrm>
            <a:off x="6812280" y="1627632"/>
            <a:ext cx="1234440" cy="219456"/>
          </a:xfrm>
          <a:prstGeom prst="rect">
            <a:avLst/>
          </a:prstGeom>
          <a:noFill/>
        </p:spPr>
        <p:txBody>
          <a:bodyPr wrap="none" anchor="t">
            <a:spAutoFit/>
          </a:bodyPr>
          <a:lstStyle/>
          <a:p>
            <a:r>
              <a:rPr lang="en-US" sz="1000" dirty="0">
                <a:solidFill>
                  <a:srgbClr val="CCCCCC"/>
                </a:solidFill>
                <a:latin typeface="Calibri"/>
              </a:rPr>
              <a:t>Close, Step 1+2</a:t>
            </a:r>
          </a:p>
        </p:txBody>
      </p:sp>
      <p:sp>
        <p:nvSpPr>
          <p:cNvPr id="82" name="TextBox 81"/>
          <p:cNvSpPr txBox="1"/>
          <p:nvPr/>
        </p:nvSpPr>
        <p:spPr>
          <a:xfrm>
            <a:off x="8138160" y="1627632"/>
            <a:ext cx="822960" cy="219456"/>
          </a:xfrm>
          <a:prstGeom prst="rect">
            <a:avLst/>
          </a:prstGeom>
          <a:noFill/>
        </p:spPr>
        <p:txBody>
          <a:bodyPr wrap="none" anchor="t">
            <a:spAutoFit/>
          </a:bodyPr>
          <a:lstStyle/>
          <a:p>
            <a:pPr algn="r"/>
            <a:r>
              <a:rPr lang="en-US" sz="1100" dirty="0" b="1">
                <a:solidFill>
                  <a:srgbClr val="FFCC44"/>
                </a:solidFill>
                <a:latin typeface="Calibri"/>
              </a:rPr>
              <a:t>~$299.7K</a:t>
            </a:r>
          </a:p>
        </p:txBody>
      </p:sp>
      <p:sp>
        <p:nvSpPr>
          <p:cNvPr id="83" name="TextBox 82"/>
          <p:cNvSpPr txBox="1"/>
          <p:nvPr/>
        </p:nvSpPr>
        <p:spPr>
          <a:xfrm>
            <a:off x="6812280" y="1856231"/>
            <a:ext cx="1234440" cy="219456"/>
          </a:xfrm>
          <a:prstGeom prst="rect">
            <a:avLst/>
          </a:prstGeom>
          <a:noFill/>
        </p:spPr>
        <p:txBody>
          <a:bodyPr wrap="none" anchor="t">
            <a:spAutoFit/>
          </a:bodyPr>
          <a:lstStyle/>
          <a:p>
            <a:r>
              <a:rPr lang="en-US" sz="1000" dirty="0">
                <a:solidFill>
                  <a:srgbClr val="CCCCCC"/>
                </a:solidFill>
                <a:latin typeface="Calibri"/>
              </a:rPr>
              <a:t>Close, Step 3</a:t>
            </a:r>
          </a:p>
        </p:txBody>
      </p:sp>
      <p:sp>
        <p:nvSpPr>
          <p:cNvPr id="84" name="TextBox 83"/>
          <p:cNvSpPr txBox="1"/>
          <p:nvPr/>
        </p:nvSpPr>
        <p:spPr>
          <a:xfrm>
            <a:off x="8138160" y="1856231"/>
            <a:ext cx="822960" cy="219456"/>
          </a:xfrm>
          <a:prstGeom prst="rect">
            <a:avLst/>
          </a:prstGeom>
          <a:noFill/>
        </p:spPr>
        <p:txBody>
          <a:bodyPr wrap="none" anchor="t">
            <a:spAutoFit/>
          </a:bodyPr>
          <a:lstStyle/>
          <a:p>
            <a:pPr algn="r"/>
            <a:r>
              <a:rPr lang="en-US" sz="1100" dirty="0" b="1">
                <a:solidFill>
                  <a:srgbClr val="FFCC44"/>
                </a:solidFill>
                <a:latin typeface="Calibri"/>
              </a:rPr>
              <a:t>~$337.1K</a:t>
            </a:r>
          </a:p>
        </p:txBody>
      </p:sp>
      <p:sp>
        <p:nvSpPr>
          <p:cNvPr id="85" name="TextBox 84"/>
          <p:cNvSpPr txBox="1"/>
          <p:nvPr/>
        </p:nvSpPr>
        <p:spPr>
          <a:xfrm>
            <a:off x="6812280" y="2103120"/>
            <a:ext cx="2194560" cy="411480"/>
          </a:xfrm>
          <a:prstGeom prst="rect">
            <a:avLst/>
          </a:prstGeom>
          <a:noFill/>
        </p:spPr>
        <p:txBody>
          <a:bodyPr wrap="square" anchor="t">
            <a:spAutoFit/>
          </a:bodyPr>
          <a:lstStyle/>
          <a:p>
            <a:r>
              <a:rPr lang="en-US" sz="1000" dirty="0" i="1">
                <a:solidFill>
                  <a:srgbClr val="888888"/>
                </a:solidFill>
                <a:latin typeface="Calibri"/>
              </a:rPr>
              <a:t>5-yr ≈ $502K (16× paid-in). Ledger matches register.</a:t>
            </a:r>
          </a:p>
        </p:txBody>
      </p:sp>
      <p:sp>
        <p:nvSpPr>
          <p:cNvPr id="86" name="TextBox 85"/>
          <p:cNvSpPr txBox="1"/>
          <p:nvPr/>
        </p:nvSpPr>
        <p:spPr>
          <a:xfrm>
            <a:off x="4206240" y="2624328"/>
            <a:ext cx="1371600" cy="182880"/>
          </a:xfrm>
          <a:prstGeom prst="rect">
            <a:avLst/>
          </a:prstGeom>
          <a:noFill/>
        </p:spPr>
        <p:txBody>
          <a:bodyPr wrap="none" anchor="t">
            <a:spAutoFit/>
          </a:bodyPr>
          <a:lstStyle/>
          <a:p>
            <a:pPr algn="r"/>
            <a:r>
              <a:rPr lang="en-US" sz="1000" dirty="0" b="1">
                <a:solidFill>
                  <a:srgbClr val="CCCCCC"/>
                </a:solidFill>
                <a:latin typeface="Calibri"/>
              </a:rPr>
              <a:t>Lost per 1% of SSLC</a:t>
            </a:r>
          </a:p>
        </p:txBody>
      </p:sp>
      <p:sp>
        <p:nvSpPr>
          <p:cNvPr id="87" name="TextBox 86"/>
          <p:cNvSpPr txBox="1"/>
          <p:nvPr/>
        </p:nvSpPr>
        <p:spPr>
          <a:xfrm>
            <a:off x="5669280" y="2624328"/>
            <a:ext cx="1463040" cy="182880"/>
          </a:xfrm>
          <a:prstGeom prst="rect">
            <a:avLst/>
          </a:prstGeom>
          <a:noFill/>
        </p:spPr>
        <p:txBody>
          <a:bodyPr wrap="none" anchor="t">
            <a:spAutoFit/>
          </a:bodyPr>
          <a:lstStyle/>
          <a:p>
            <a:pPr algn="r"/>
            <a:r>
              <a:rPr lang="en-US" sz="1000" dirty="0" b="1">
                <a:solidFill>
                  <a:srgbClr val="CCCCCC"/>
                </a:solidFill>
                <a:latin typeface="Calibri"/>
              </a:rPr>
              <a:t>Conger (73K sh.)</a:t>
            </a:r>
          </a:p>
        </p:txBody>
      </p:sp>
      <p:sp>
        <p:nvSpPr>
          <p:cNvPr id="88" name="TextBox 87"/>
          <p:cNvSpPr txBox="1"/>
          <p:nvPr/>
        </p:nvSpPr>
        <p:spPr>
          <a:xfrm>
            <a:off x="7269480" y="2624328"/>
            <a:ext cx="1600200" cy="182880"/>
          </a:xfrm>
          <a:prstGeom prst="rect">
            <a:avLst/>
          </a:prstGeom>
          <a:noFill/>
        </p:spPr>
        <p:txBody>
          <a:bodyPr wrap="none" anchor="t">
            <a:spAutoFit/>
          </a:bodyPr>
          <a:lstStyle/>
          <a:p>
            <a:pPr algn="r"/>
            <a:r>
              <a:rPr lang="en-US" sz="1000" dirty="0" b="1">
                <a:solidFill>
                  <a:srgbClr val="CCCCCC"/>
                </a:solidFill>
                <a:latin typeface="Calibri"/>
              </a:rPr>
              <a:t>Rufer (91K sh.)</a:t>
            </a:r>
          </a:p>
        </p:txBody>
      </p:sp>
      <p:sp>
        <p:nvSpPr>
          <p:cNvPr id="89" name="TextBox 88"/>
          <p:cNvSpPr txBox="1"/>
          <p:nvPr/>
        </p:nvSpPr>
        <p:spPr>
          <a:xfrm>
            <a:off x="7269480" y="2834640"/>
            <a:ext cx="1600200" cy="201168"/>
          </a:xfrm>
          <a:prstGeom prst="rect">
            <a:avLst/>
          </a:prstGeom>
          <a:noFill/>
        </p:spPr>
        <p:txBody>
          <a:bodyPr wrap="none" anchor="t">
            <a:spAutoFit/>
          </a:bodyPr>
          <a:lstStyle/>
          <a:p>
            <a:pPr algn="r"/>
            <a:r>
              <a:rPr lang="en-US" sz="1000" dirty="0">
                <a:solidFill>
                  <a:srgbClr val="F26A21"/>
                </a:solidFill>
                <a:latin typeface="Calibri"/>
              </a:rPr>
              <a:t>−$57.1K</a:t>
            </a:r>
          </a:p>
        </p:txBody>
      </p:sp>
      <p:sp>
        <p:nvSpPr>
          <p:cNvPr id="90" name="TextBox 89"/>
          <p:cNvSpPr txBox="1"/>
          <p:nvPr/>
        </p:nvSpPr>
        <p:spPr>
          <a:xfrm>
            <a:off x="7269480" y="3072384"/>
            <a:ext cx="1600200" cy="201168"/>
          </a:xfrm>
          <a:prstGeom prst="rect">
            <a:avLst/>
          </a:prstGeom>
          <a:noFill/>
        </p:spPr>
        <p:txBody>
          <a:bodyPr wrap="none" anchor="t">
            <a:spAutoFit/>
          </a:bodyPr>
          <a:lstStyle/>
          <a:p>
            <a:pPr algn="r"/>
            <a:r>
              <a:rPr lang="en-US" sz="1000" dirty="0">
                <a:solidFill>
                  <a:srgbClr val="F26A21"/>
                </a:solidFill>
                <a:latin typeface="Calibri"/>
              </a:rPr>
              <a:t>−$123.0K</a:t>
            </a:r>
          </a:p>
        </p:txBody>
      </p:sp>
      <p:sp>
        <p:nvSpPr>
          <p:cNvPr id="91" name="TextBox 90"/>
          <p:cNvSpPr txBox="1"/>
          <p:nvPr/>
        </p:nvSpPr>
        <p:spPr>
          <a:xfrm>
            <a:off x="7269480" y="3291840"/>
            <a:ext cx="1600200" cy="201168"/>
          </a:xfrm>
          <a:prstGeom prst="rect">
            <a:avLst/>
          </a:prstGeom>
          <a:noFill/>
        </p:spPr>
        <p:txBody>
          <a:bodyPr wrap="none" anchor="t">
            <a:spAutoFit/>
          </a:bodyPr>
          <a:lstStyle/>
          <a:p>
            <a:pPr algn="r"/>
            <a:r>
              <a:rPr lang="en-US" sz="1000" dirty="0">
                <a:solidFill>
                  <a:srgbClr val="F26A21"/>
                </a:solidFill>
                <a:latin typeface="Calibri"/>
              </a:rPr>
              <a:t>−$160.5K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111111"/>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47548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What SSLC Holders Receive</a:t>
            </a:r>
            <a:endParaRPr lang="en-US" sz="2200" dirty="0"/>
          </a:p>
        </p:txBody>
      </p:sp>
      <p:sp>
        <p:nvSpPr>
          <p:cNvPr id="3" name="Shape 1"/>
          <p:cNvSpPr/>
          <p:nvPr/>
        </p:nvSpPr>
        <p:spPr>
          <a:xfrm>
            <a:off x="457200" y="804672"/>
            <a:ext cx="1371600" cy="36576"/>
          </a:xfrm>
          <a:prstGeom prst="rect">
            <a:avLst/>
          </a:prstGeom>
          <a:solidFill>
            <a:srgbClr val="F26A21"/>
          </a:solidFill>
          <a:ln/>
        </p:spPr>
        <p:txBody>
          <a:bodyPr/>
          <a:lstStyle/>
          <a:p>
            <a:endParaRPr/>
          </a:p>
        </p:txBody>
      </p:sp>
      <p:sp>
        <p:nvSpPr>
          <p:cNvPr id="4" name="Shape 2"/>
          <p:cNvSpPr/>
          <p:nvPr/>
        </p:nvSpPr>
        <p:spPr>
          <a:xfrm>
            <a:off x="914400" y="1005840"/>
            <a:ext cx="5669280" cy="393192"/>
          </a:xfrm>
          <a:prstGeom prst="rect">
            <a:avLst/>
          </a:prstGeom>
          <a:solidFill>
            <a:srgbClr val="2A2A2A"/>
          </a:solidFill>
          <a:ln w="12700">
            <a:solidFill>
              <a:srgbClr val="333333"/>
            </a:solidFill>
            <a:prstDash val="solid"/>
          </a:ln>
        </p:spPr>
        <p:txBody>
          <a:bodyPr/>
          <a:lstStyle/>
          <a:p>
            <a:endParaRPr/>
          </a:p>
        </p:txBody>
      </p:sp>
      <p:sp>
        <p:nvSpPr>
          <p:cNvPr id="5" name="Text 3"/>
          <p:cNvSpPr txBox="1"/>
          <p:nvPr/>
        </p:nvSpPr>
        <p:spPr>
          <a:xfrm>
            <a:off x="1005840" y="1042416"/>
            <a:ext cx="3657600" cy="347472"/>
          </a:xfrm>
          <a:prstGeom prst="rect">
            <a:avLst/>
          </a:prstGeom>
          <a:noFill/>
          <a:ln/>
        </p:spPr>
        <p:txBody>
          <a:bodyPr wrap="square" rtlCol="0" anchor="ctr"/>
          <a:lstStyle/>
          <a:p>
            <a:pPr marL="0" indent="0">
              <a:buNone/>
            </a:pPr>
            <a:r>
              <a:rPr lang="en-US" sz="1300" dirty="0">
                <a:solidFill>
                  <a:srgbClr val="CCCCCC"/>
                </a:solidFill>
              </a:rPr>
              <a:t>Cash at close</a:t>
            </a:r>
            <a:endParaRPr lang="en-US" sz="1300" dirty="0"/>
          </a:p>
        </p:txBody>
      </p:sp>
      <p:sp>
        <p:nvSpPr>
          <p:cNvPr id="6" name="Text 4"/>
          <p:cNvSpPr txBox="1"/>
          <p:nvPr/>
        </p:nvSpPr>
        <p:spPr>
          <a:xfrm>
            <a:off x="5486400" y="1042416"/>
            <a:ext cx="1005840" cy="347472"/>
          </a:xfrm>
          <a:prstGeom prst="rect">
            <a:avLst/>
          </a:prstGeom>
          <a:noFill/>
          <a:ln/>
        </p:spPr>
        <p:txBody>
          <a:bodyPr wrap="square" rtlCol="0" anchor="ctr"/>
          <a:lstStyle/>
          <a:p>
            <a:pPr marL="0" indent="0" algn="r">
              <a:buNone/>
            </a:pPr>
            <a:r>
              <a:rPr lang="en-US" sz="1300" b="1" dirty="0">
                <a:solidFill>
                  <a:srgbClr val="FFFFFF"/>
                </a:solidFill>
              </a:rPr>
              <a:t>$2.51M</a:t>
            </a:r>
            <a:endParaRPr lang="en-US" sz="1300" dirty="0"/>
          </a:p>
        </p:txBody>
      </p:sp>
      <p:sp>
        <p:nvSpPr>
          <p:cNvPr id="7" name="Shape 5"/>
          <p:cNvSpPr/>
          <p:nvPr/>
        </p:nvSpPr>
        <p:spPr>
          <a:xfrm>
            <a:off x="914400" y="1426464"/>
            <a:ext cx="5669280" cy="393192"/>
          </a:xfrm>
          <a:prstGeom prst="rect">
            <a:avLst/>
          </a:prstGeom>
          <a:solidFill>
            <a:srgbClr val="222222"/>
          </a:solidFill>
          <a:ln w="12700">
            <a:solidFill>
              <a:srgbClr val="333333"/>
            </a:solidFill>
            <a:prstDash val="solid"/>
          </a:ln>
        </p:spPr>
        <p:txBody>
          <a:bodyPr/>
          <a:lstStyle/>
          <a:p>
            <a:endParaRPr/>
          </a:p>
        </p:txBody>
      </p:sp>
      <p:sp>
        <p:nvSpPr>
          <p:cNvPr id="8" name="Text 6"/>
          <p:cNvSpPr txBox="1"/>
          <p:nvPr/>
        </p:nvSpPr>
        <p:spPr>
          <a:xfrm>
            <a:off x="1005840" y="1463040"/>
            <a:ext cx="3657600" cy="347472"/>
          </a:xfrm>
          <a:prstGeom prst="rect">
            <a:avLst/>
          </a:prstGeom>
          <a:noFill/>
          <a:ln/>
        </p:spPr>
        <p:txBody>
          <a:bodyPr wrap="square" rtlCol="0" anchor="ctr"/>
          <a:lstStyle/>
          <a:p>
            <a:pPr marL="0" indent="0">
              <a:buNone/>
            </a:pPr>
            <a:r>
              <a:rPr lang="en-US" sz="1300" dirty="0">
                <a:solidFill>
                  <a:srgbClr val="CCCCCC"/>
                </a:solidFill>
              </a:rPr>
              <a:t>SSLC transaction costs</a:t>
            </a:r>
            <a:endParaRPr lang="en-US" sz="1300" dirty="0"/>
          </a:p>
        </p:txBody>
      </p:sp>
      <p:sp>
        <p:nvSpPr>
          <p:cNvPr id="9" name="Text 7"/>
          <p:cNvSpPr txBox="1"/>
          <p:nvPr/>
        </p:nvSpPr>
        <p:spPr>
          <a:xfrm>
            <a:off x="5486400" y="1463040"/>
            <a:ext cx="1005840" cy="347472"/>
          </a:xfrm>
          <a:prstGeom prst="rect">
            <a:avLst/>
          </a:prstGeom>
          <a:noFill/>
          <a:ln/>
        </p:spPr>
        <p:txBody>
          <a:bodyPr wrap="square" rtlCol="0" anchor="ctr"/>
          <a:lstStyle/>
          <a:p>
            <a:pPr marL="0" indent="0" algn="r">
              <a:buNone/>
            </a:pPr>
            <a:r>
              <a:rPr lang="en-US" sz="1300" b="1" dirty="0">
                <a:solidFill>
                  <a:srgbClr val="FFFFFF"/>
                </a:solidFill>
              </a:rPr>
              <a:t>$60K</a:t>
            </a:r>
            <a:endParaRPr lang="en-US" sz="1300" dirty="0"/>
          </a:p>
        </p:txBody>
      </p:sp>
      <p:sp>
        <p:nvSpPr>
          <p:cNvPr id="10" name="Shape 8"/>
          <p:cNvSpPr/>
          <p:nvPr/>
        </p:nvSpPr>
        <p:spPr>
          <a:xfrm>
            <a:off x="914400" y="1847088"/>
            <a:ext cx="5669280" cy="393192"/>
          </a:xfrm>
          <a:prstGeom prst="rect">
            <a:avLst/>
          </a:prstGeom>
          <a:solidFill>
            <a:srgbClr val="222222"/>
          </a:solidFill>
          <a:ln w="12700">
            <a:solidFill>
              <a:srgbClr val="333333"/>
            </a:solidFill>
            <a:prstDash val="solid"/>
          </a:ln>
        </p:spPr>
        <p:txBody>
          <a:bodyPr/>
          <a:lstStyle/>
          <a:p>
            <a:endParaRPr/>
          </a:p>
        </p:txBody>
      </p:sp>
      <p:sp>
        <p:nvSpPr>
          <p:cNvPr id="11" name="Text 9"/>
          <p:cNvSpPr txBox="1"/>
          <p:nvPr/>
        </p:nvSpPr>
        <p:spPr>
          <a:xfrm>
            <a:off x="1005840" y="1883664"/>
            <a:ext cx="3657600" cy="347472"/>
          </a:xfrm>
          <a:prstGeom prst="rect">
            <a:avLst/>
          </a:prstGeom>
          <a:noFill/>
          <a:ln/>
        </p:spPr>
        <p:txBody>
          <a:bodyPr wrap="square" rtlCol="0" anchor="ctr"/>
          <a:lstStyle/>
          <a:p>
            <a:pPr marL="0" indent="0">
              <a:buNone/>
            </a:pPr>
            <a:r>
              <a:rPr lang="en-US" sz="1300" dirty="0">
                <a:solidFill>
                  <a:srgbClr val="CCCCCC"/>
                </a:solidFill>
              </a:rPr>
              <a:t>Exos stake credit (non-cash)</a:t>
            </a:r>
            <a:endParaRPr lang="en-US" sz="1300" dirty="0"/>
          </a:p>
        </p:txBody>
      </p:sp>
      <p:sp>
        <p:nvSpPr>
          <p:cNvPr id="12" name="Text 10"/>
          <p:cNvSpPr txBox="1"/>
          <p:nvPr/>
        </p:nvSpPr>
        <p:spPr>
          <a:xfrm>
            <a:off x="5486400" y="1883664"/>
            <a:ext cx="1005840" cy="347472"/>
          </a:xfrm>
          <a:prstGeom prst="rect">
            <a:avLst/>
          </a:prstGeom>
          <a:noFill/>
          <a:ln/>
        </p:spPr>
        <p:txBody>
          <a:bodyPr wrap="square" rtlCol="0" anchor="ctr"/>
          <a:lstStyle/>
          <a:p>
            <a:pPr marL="0" indent="0" algn="r">
              <a:buNone/>
            </a:pPr>
            <a:r>
              <a:rPr lang="en-US" sz="1300" b="1" dirty="0">
                <a:solidFill>
                  <a:srgbClr val="FFFFFF"/>
                </a:solidFill>
              </a:rPr>
              <a:t>$790K</a:t>
            </a:r>
            <a:endParaRPr lang="en-US" sz="1300" dirty="0"/>
          </a:p>
        </p:txBody>
      </p:sp>
      <p:sp>
        <p:nvSpPr>
          <p:cNvPr id="19" name="Shape 17"/>
          <p:cNvSpPr/>
          <p:nvPr/>
        </p:nvSpPr>
        <p:spPr>
          <a:xfrm>
            <a:off x="731520" y="3145536"/>
            <a:ext cx="6035040" cy="475488"/>
          </a:xfrm>
          <a:prstGeom prst="rect">
            <a:avLst/>
          </a:prstGeom>
          <a:solidFill>
            <a:srgbClr val="2A1800"/>
          </a:solidFill>
          <a:ln w="12700">
            <a:solidFill>
              <a:srgbClr val="F26A21"/>
            </a:solidFill>
            <a:prstDash val="solid"/>
          </a:ln>
        </p:spPr>
        <p:txBody>
          <a:bodyPr/>
          <a:lstStyle/>
          <a:p>
            <a:endParaRPr/>
          </a:p>
        </p:txBody>
      </p:sp>
      <p:sp>
        <p:nvSpPr>
          <p:cNvPr id="20" name="Text 18"/>
          <p:cNvSpPr txBox="1"/>
          <p:nvPr/>
        </p:nvSpPr>
        <p:spPr>
          <a:xfrm>
            <a:off x="868680" y="3200400"/>
            <a:ext cx="3840480" cy="365760"/>
          </a:xfrm>
          <a:prstGeom prst="rect">
            <a:avLst/>
          </a:prstGeom>
          <a:noFill/>
          <a:ln/>
        </p:spPr>
        <p:txBody>
          <a:bodyPr wrap="square" rtlCol="0" anchor="ctr"/>
          <a:lstStyle/>
          <a:p>
            <a:pPr marL="0" indent="0">
              <a:buNone/>
            </a:pPr>
            <a:r>
              <a:rPr lang="en-US" sz="1300" b="1" dirty="0">
                <a:solidFill>
                  <a:srgbClr val="F26A21"/>
                </a:solidFill>
              </a:rPr>
              <a:t>① Cash at close — target Jan 15, 2027</a:t>
            </a:r>
            <a:endParaRPr lang="en-US" sz="1300" dirty="0"/>
          </a:p>
        </p:txBody>
      </p:sp>
      <p:sp>
        <p:nvSpPr>
          <p:cNvPr id="21" name="Text 19"/>
          <p:cNvSpPr txBox="1"/>
          <p:nvPr/>
        </p:nvSpPr>
        <p:spPr>
          <a:xfrm>
            <a:off x="5394960" y="3200400"/>
            <a:ext cx="1188720" cy="365760"/>
          </a:xfrm>
          <a:prstGeom prst="rect">
            <a:avLst/>
          </a:prstGeom>
          <a:noFill/>
          <a:ln/>
        </p:spPr>
        <p:txBody>
          <a:bodyPr wrap="square" rtlCol="0" anchor="ctr"/>
          <a:lstStyle/>
          <a:p>
            <a:pPr marL="0" indent="0" algn="r">
              <a:buNone/>
            </a:pPr>
            <a:r>
              <a:rPr lang="en-US" sz="1800" b="1" dirty="0">
                <a:solidFill>
                  <a:srgbClr val="F26A21"/>
                </a:solidFill>
              </a:rPr>
              <a:t>$3.36M</a:t>
            </a:r>
            <a:endParaRPr lang="en-US" sz="1800" dirty="0"/>
          </a:p>
        </p:txBody>
      </p:sp>
      <p:sp>
        <p:nvSpPr>
          <p:cNvPr id="22" name="Shape 20"/>
          <p:cNvSpPr/>
          <p:nvPr/>
        </p:nvSpPr>
        <p:spPr>
          <a:xfrm>
            <a:off x="914400" y="3675888"/>
            <a:ext cx="5669280" cy="402336"/>
          </a:xfrm>
          <a:prstGeom prst="rect">
            <a:avLst/>
          </a:prstGeom>
          <a:solidFill>
            <a:srgbClr val="202020"/>
          </a:solidFill>
          <a:ln w="12700">
            <a:solidFill>
              <a:srgbClr val="444444"/>
            </a:solidFill>
            <a:prstDash val="solid"/>
          </a:ln>
        </p:spPr>
        <p:txBody>
          <a:bodyPr/>
          <a:lstStyle/>
          <a:p>
            <a:endParaRPr/>
          </a:p>
        </p:txBody>
      </p:sp>
      <p:sp>
        <p:nvSpPr>
          <p:cNvPr id="23" name="Text 21"/>
          <p:cNvSpPr txBox="1"/>
          <p:nvPr/>
        </p:nvSpPr>
        <p:spPr>
          <a:xfrm>
            <a:off x="1005839" y="3712464"/>
            <a:ext cx="4695483" cy="329184"/>
          </a:xfrm>
          <a:prstGeom prst="rect">
            <a:avLst/>
          </a:prstGeom>
          <a:noFill/>
          <a:ln/>
        </p:spPr>
        <p:txBody>
          <a:bodyPr wrap="square" rtlCol="0" anchor="ctr"/>
          <a:lstStyle/>
          <a:p>
            <a:pPr marL="0" indent="0">
              <a:buNone/>
            </a:pPr>
            <a:r>
              <a:rPr lang="en-US" sz="1300" dirty="0">
                <a:solidFill>
                  <a:srgbClr val="CCCCCC"/>
                </a:solidFill>
              </a:rPr>
              <a:t>+ EAI stock — key SSLC personnel (Rule 504, ~0.59%, not pro-rata)</a:t>
            </a:r>
            <a:endParaRPr lang="en-US" sz="1300" dirty="0"/>
          </a:p>
        </p:txBody>
      </p:sp>
      <p:sp>
        <p:nvSpPr>
          <p:cNvPr id="24" name="Text 22"/>
          <p:cNvSpPr txBox="1"/>
          <p:nvPr/>
        </p:nvSpPr>
        <p:spPr>
          <a:xfrm>
            <a:off x="5486400" y="3712464"/>
            <a:ext cx="1005840" cy="329184"/>
          </a:xfrm>
          <a:prstGeom prst="rect">
            <a:avLst/>
          </a:prstGeom>
          <a:noFill/>
          <a:ln/>
        </p:spPr>
        <p:txBody>
          <a:bodyPr wrap="square" rtlCol="0" anchor="ctr"/>
          <a:lstStyle/>
          <a:p>
            <a:pPr marL="0" indent="0" algn="r">
              <a:buNone/>
            </a:pPr>
            <a:r>
              <a:rPr lang="en-US" sz="1400" b="1" dirty="0">
                <a:solidFill>
                  <a:srgbClr val="FFFFFF"/>
                </a:solidFill>
              </a:rPr>
              <a:t>$1.0M</a:t>
            </a:r>
            <a:endParaRPr lang="en-US" sz="1400" dirty="0"/>
          </a:p>
        </p:txBody>
      </p:sp>
      <p:sp>
        <p:nvSpPr>
          <p:cNvPr id="25" name="Shape 23"/>
          <p:cNvSpPr/>
          <p:nvPr/>
        </p:nvSpPr>
        <p:spPr>
          <a:xfrm>
            <a:off x="731520" y="4151376"/>
            <a:ext cx="6035040" cy="530352"/>
          </a:xfrm>
          <a:prstGeom prst="rect">
            <a:avLst/>
          </a:prstGeom>
          <a:solidFill>
            <a:srgbClr val="0A2800"/>
          </a:solidFill>
          <a:ln w="12700">
            <a:solidFill>
              <a:srgbClr val="2ECC71"/>
            </a:solidFill>
            <a:prstDash val="solid"/>
          </a:ln>
        </p:spPr>
        <p:txBody>
          <a:bodyPr/>
          <a:lstStyle/>
          <a:p>
            <a:endParaRPr/>
          </a:p>
        </p:txBody>
      </p:sp>
      <p:sp>
        <p:nvSpPr>
          <p:cNvPr id="26" name="Text 24"/>
          <p:cNvSpPr txBox="1"/>
          <p:nvPr/>
        </p:nvSpPr>
        <p:spPr>
          <a:xfrm>
            <a:off x="868680" y="4233672"/>
            <a:ext cx="4389120" cy="365760"/>
          </a:xfrm>
          <a:prstGeom prst="rect">
            <a:avLst/>
          </a:prstGeom>
          <a:noFill/>
          <a:ln/>
        </p:spPr>
        <p:txBody>
          <a:bodyPr wrap="square" rtlCol="0" anchor="ctr"/>
          <a:lstStyle/>
          <a:p>
            <a:pPr marL="0" indent="0">
              <a:buNone/>
            </a:pPr>
            <a:r>
              <a:rPr lang="en-US" sz="1300" b="1" dirty="0">
                <a:solidFill>
                  <a:srgbClr val="2ECC71"/>
                </a:solidFill>
              </a:rPr>
              <a:t>② Total at financing close (SSLC asset acquisition)</a:t>
            </a:r>
            <a:endParaRPr lang="en-US" sz="1300" dirty="0"/>
          </a:p>
        </p:txBody>
      </p:sp>
      <p:sp>
        <p:nvSpPr>
          <p:cNvPr id="27" name="Text 25"/>
          <p:cNvSpPr txBox="1"/>
          <p:nvPr/>
        </p:nvSpPr>
        <p:spPr>
          <a:xfrm>
            <a:off x="5303520" y="4233672"/>
            <a:ext cx="1280160" cy="365760"/>
          </a:xfrm>
          <a:prstGeom prst="rect">
            <a:avLst/>
          </a:prstGeom>
          <a:noFill/>
          <a:ln/>
        </p:spPr>
        <p:txBody>
          <a:bodyPr wrap="square" rtlCol="0" anchor="ctr"/>
          <a:lstStyle/>
          <a:p>
            <a:pPr marL="0" indent="0" algn="r">
              <a:buNone/>
            </a:pPr>
            <a:r>
              <a:rPr lang="en-US" sz="2000" b="1" dirty="0">
                <a:solidFill>
                  <a:srgbClr val="2ECC71"/>
                </a:solidFill>
              </a:rPr>
              <a:t>$4.36M</a:t>
            </a:r>
            <a:endParaRPr lang="en-US" sz="2000" dirty="0"/>
          </a:p>
        </p:txBody>
      </p:sp>
      <p:sp>
        <p:nvSpPr>
          <p:cNvPr id="28" name="Text 26"/>
          <p:cNvSpPr txBox="1"/>
          <p:nvPr/>
        </p:nvSpPr>
        <p:spPr>
          <a:xfrm>
            <a:off x="6903720" y="1051560"/>
            <a:ext cx="2011680" cy="3474720"/>
          </a:xfrm>
          <a:prstGeom prst="rect">
            <a:avLst/>
          </a:prstGeom>
          <a:noFill/>
          <a:ln/>
        </p:spPr>
        <p:txBody>
          <a:bodyPr wrap="square" rtlCol="0" anchor="t"/>
          <a:lstStyle/>
          <a:p>
            <a:pPr marL="0" indent="0">
              <a:buNone/>
            </a:pPr>
            <a:r>
              <a:rPr lang="en-US" sz="1100" dirty="0">
                <a:solidFill>
                  <a:srgbClr val="888888"/>
                </a:solidFill>
              </a:rPr>
              <a:t>Issued at financing close</a:t>
            </a:r>
            <a:endParaRPr lang="en-US" sz="1100" dirty="0"/>
          </a:p>
          <a:p>
            <a:pPr marL="0" indent="0">
              <a:buNone/>
            </a:pPr>
            <a:r>
              <a:rPr lang="en-US" sz="1100" dirty="0">
                <a:solidFill>
                  <a:srgbClr val="888888"/>
                </a:solidFill>
              </a:rPr>
              <a:t>Restricted at issuance (Rule 504)</a:t>
            </a:r>
            <a:endParaRPr lang="en-US" sz="1100" dirty="0"/>
          </a:p>
          <a:p>
            <a:pPr marL="0" indent="0">
              <a:buNone/>
            </a:pPr>
            <a:r>
              <a:rPr lang="en-US" sz="1100" dirty="0">
                <a:solidFill>
                  <a:srgbClr val="888888"/>
                </a:solidFill>
              </a:rPr>
              <a:t>Part of RTO public float</a:t>
            </a:r>
            <a:endParaRPr lang="en-US" sz="1100" dirty="0"/>
          </a:p>
          <a:p>
            <a:pPr marL="0" indent="0">
              <a:buNone/>
            </a:pPr>
            <a:r>
              <a:rPr lang="en-US" sz="1100" dirty="0">
                <a:solidFill>
                  <a:srgbClr val="888888"/>
                </a:solidFill>
              </a:rPr>
              <a:t>Freely tradeable at listing</a:t>
            </a:r>
            <a:endParaRPr lang="en-US" sz="1100" dirty="0"/>
          </a:p>
        </p:txBody>
      </p:sp>
      <p:pic>
        <p:nvPicPr>
          <p:cNvPr id="29" name="Image 0"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30" name="Text 27"/>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888888"/>
                </a:solidFill>
              </a:rPr>
              <a:t>DRAFT — NEGOTIATING TERMS</a:t>
            </a:r>
            <a:endParaRPr lang="en-US" sz="700" dirty="0"/>
          </a:p>
        </p:txBody>
      </p:sp>
      <p:sp>
        <p:nvSpPr>
          <p:cNvPr id="31" name="Text 28"/>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888888"/>
                </a:solidFill>
              </a:rPr>
              <a:t>CONFIDENTIAL</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111111"/>
        </a:solidFill>
        <a:effectLst/>
      </p:bgPr>
    </p:bg>
    <p:spTree>
      <p:nvGrpSpPr>
        <p:cNvPr id="1" name=""/>
        <p:cNvGrpSpPr/>
        <p:nvPr/>
      </p:nvGrpSpPr>
      <p:grpSpPr>
        <a:xfrm>
          <a:off x="0" y="0"/>
          <a:ext cx="0" cy="0"/>
          <a:chOff x="0" y="0"/>
          <a:chExt cx="0" cy="0"/>
        </a:xfrm>
      </p:grpSpPr>
      <p:sp>
        <p:nvSpPr>
          <p:cNvPr id="2" name="Text 0"/>
          <p:cNvSpPr txBox="1"/>
          <p:nvPr/>
        </p:nvSpPr>
        <p:spPr>
          <a:xfrm>
            <a:off x="320040" y="128016"/>
            <a:ext cx="8503920" cy="420624"/>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How Value Grows: Earn-Outs &amp; Milestones</a:t>
            </a:r>
            <a:endParaRPr lang="en-US" sz="2000" dirty="0"/>
          </a:p>
        </p:txBody>
      </p:sp>
      <p:sp>
        <p:nvSpPr>
          <p:cNvPr id="3" name="Shape 1"/>
          <p:cNvSpPr/>
          <p:nvPr/>
        </p:nvSpPr>
        <p:spPr>
          <a:xfrm>
            <a:off x="320040" y="566928"/>
            <a:ext cx="1371600" cy="36576"/>
          </a:xfrm>
          <a:prstGeom prst="rect">
            <a:avLst/>
          </a:prstGeom>
          <a:solidFill>
            <a:srgbClr val="F26A21"/>
          </a:solidFill>
          <a:ln/>
        </p:spPr>
        <p:txBody>
          <a:bodyPr/>
          <a:lstStyle/>
          <a:p>
            <a:endParaRPr/>
          </a:p>
        </p:txBody>
      </p:sp>
      <p:sp>
        <p:nvSpPr>
          <p:cNvPr id="4" name="Shape 2"/>
          <p:cNvSpPr/>
          <p:nvPr/>
        </p:nvSpPr>
        <p:spPr>
          <a:xfrm>
            <a:off x="274320" y="640080"/>
            <a:ext cx="2011680" cy="365760"/>
          </a:xfrm>
          <a:prstGeom prst="rect">
            <a:avLst/>
          </a:prstGeom>
          <a:solidFill>
            <a:srgbClr val="2A1000"/>
          </a:solidFill>
          <a:ln w="12700">
            <a:solidFill>
              <a:srgbClr val="F26A21"/>
            </a:solidFill>
            <a:prstDash val="solid"/>
          </a:ln>
        </p:spPr>
        <p:txBody>
          <a:bodyPr/>
          <a:lstStyle/>
          <a:p>
            <a:endParaRPr/>
          </a:p>
        </p:txBody>
      </p:sp>
      <p:sp>
        <p:nvSpPr>
          <p:cNvPr id="5" name="Text 3"/>
          <p:cNvSpPr txBox="1"/>
          <p:nvPr/>
        </p:nvSpPr>
        <p:spPr>
          <a:xfrm>
            <a:off x="320040" y="676656"/>
            <a:ext cx="1938528" cy="310896"/>
          </a:xfrm>
          <a:prstGeom prst="rect">
            <a:avLst/>
          </a:prstGeom>
          <a:noFill/>
          <a:ln/>
        </p:spPr>
        <p:txBody>
          <a:bodyPr wrap="square" rtlCol="0" anchor="ctr"/>
          <a:lstStyle/>
          <a:p>
            <a:pPr marL="0" indent="0" algn="l">
              <a:buNone/>
            </a:pPr>
            <a:r>
              <a:rPr lang="en-US" sz="1000" b="1" dirty="0">
                <a:solidFill>
                  <a:srgbClr val="F26A21"/>
                </a:solidFill>
              </a:rPr>
              <a:t>Earn-Out</a:t>
            </a:r>
            <a:endParaRPr lang="en-US" sz="1000" dirty="0"/>
          </a:p>
        </p:txBody>
      </p:sp>
      <p:sp>
        <p:nvSpPr>
          <p:cNvPr id="6" name="Shape 4"/>
          <p:cNvSpPr/>
          <p:nvPr/>
        </p:nvSpPr>
        <p:spPr>
          <a:xfrm>
            <a:off x="2331720" y="640080"/>
            <a:ext cx="1874520" cy="365760"/>
          </a:xfrm>
          <a:prstGeom prst="rect">
            <a:avLst/>
          </a:prstGeom>
          <a:solidFill>
            <a:srgbClr val="2A1000"/>
          </a:solidFill>
          <a:ln w="12700">
            <a:solidFill>
              <a:srgbClr val="F26A21"/>
            </a:solidFill>
            <a:prstDash val="solid"/>
          </a:ln>
        </p:spPr>
        <p:txBody>
          <a:bodyPr/>
          <a:lstStyle/>
          <a:p>
            <a:endParaRPr/>
          </a:p>
        </p:txBody>
      </p:sp>
      <p:sp>
        <p:nvSpPr>
          <p:cNvPr id="7" name="Text 5"/>
          <p:cNvSpPr txBox="1"/>
          <p:nvPr/>
        </p:nvSpPr>
        <p:spPr>
          <a:xfrm>
            <a:off x="2377440" y="676656"/>
            <a:ext cx="1801368" cy="310896"/>
          </a:xfrm>
          <a:prstGeom prst="rect">
            <a:avLst/>
          </a:prstGeom>
          <a:noFill/>
          <a:ln/>
        </p:spPr>
        <p:txBody>
          <a:bodyPr wrap="square" rtlCol="0" anchor="ctr"/>
          <a:lstStyle/>
          <a:p>
            <a:pPr marL="0" indent="0" algn="l">
              <a:buNone/>
            </a:pPr>
            <a:r>
              <a:rPr lang="en-US" sz="1000" b="1" dirty="0">
                <a:solidFill>
                  <a:srgbClr val="F26A21"/>
                </a:solidFill>
              </a:rPr>
              <a:t>Target SSLC Must Hit</a:t>
            </a:r>
            <a:endParaRPr lang="en-US" sz="1000" dirty="0"/>
          </a:p>
        </p:txBody>
      </p:sp>
      <p:sp>
        <p:nvSpPr>
          <p:cNvPr id="8" name="Shape 6"/>
          <p:cNvSpPr/>
          <p:nvPr/>
        </p:nvSpPr>
        <p:spPr>
          <a:xfrm>
            <a:off x="4251960" y="640080"/>
            <a:ext cx="1051560" cy="365760"/>
          </a:xfrm>
          <a:prstGeom prst="rect">
            <a:avLst/>
          </a:prstGeom>
          <a:solidFill>
            <a:srgbClr val="2A1000"/>
          </a:solidFill>
          <a:ln w="12700">
            <a:solidFill>
              <a:srgbClr val="F26A21"/>
            </a:solidFill>
            <a:prstDash val="solid"/>
          </a:ln>
        </p:spPr>
        <p:txBody>
          <a:bodyPr/>
          <a:lstStyle/>
          <a:p>
            <a:endParaRPr/>
          </a:p>
        </p:txBody>
      </p:sp>
      <p:sp>
        <p:nvSpPr>
          <p:cNvPr id="9" name="Text 7"/>
          <p:cNvSpPr txBox="1"/>
          <p:nvPr/>
        </p:nvSpPr>
        <p:spPr>
          <a:xfrm>
            <a:off x="4297680" y="676656"/>
            <a:ext cx="978408" cy="310896"/>
          </a:xfrm>
          <a:prstGeom prst="rect">
            <a:avLst/>
          </a:prstGeom>
          <a:noFill/>
          <a:ln/>
        </p:spPr>
        <p:txBody>
          <a:bodyPr wrap="square" rtlCol="0" anchor="ctr"/>
          <a:lstStyle/>
          <a:p>
            <a:pPr marL="0" indent="0" algn="ctr">
              <a:buNone/>
            </a:pPr>
            <a:r>
              <a:rPr lang="en-US" sz="1000" b="1" dirty="0">
                <a:solidFill>
                  <a:srgbClr val="F26A21"/>
                </a:solidFill>
              </a:rPr>
              <a:t>Low</a:t>
            </a:r>
            <a:endParaRPr lang="en-US" sz="1000" dirty="0"/>
          </a:p>
        </p:txBody>
      </p:sp>
      <p:sp>
        <p:nvSpPr>
          <p:cNvPr id="10" name="Shape 8"/>
          <p:cNvSpPr/>
          <p:nvPr/>
        </p:nvSpPr>
        <p:spPr>
          <a:xfrm>
            <a:off x="5349240" y="640080"/>
            <a:ext cx="1051560" cy="365760"/>
          </a:xfrm>
          <a:prstGeom prst="rect">
            <a:avLst/>
          </a:prstGeom>
          <a:solidFill>
            <a:srgbClr val="2A1000"/>
          </a:solidFill>
          <a:ln w="12700">
            <a:solidFill>
              <a:srgbClr val="F26A21"/>
            </a:solidFill>
            <a:prstDash val="solid"/>
          </a:ln>
        </p:spPr>
        <p:txBody>
          <a:bodyPr/>
          <a:lstStyle/>
          <a:p>
            <a:endParaRPr/>
          </a:p>
        </p:txBody>
      </p:sp>
      <p:sp>
        <p:nvSpPr>
          <p:cNvPr id="11" name="Text 9"/>
          <p:cNvSpPr txBox="1"/>
          <p:nvPr/>
        </p:nvSpPr>
        <p:spPr>
          <a:xfrm>
            <a:off x="5394960" y="676656"/>
            <a:ext cx="978408" cy="310896"/>
          </a:xfrm>
          <a:prstGeom prst="rect">
            <a:avLst/>
          </a:prstGeom>
          <a:noFill/>
          <a:ln/>
        </p:spPr>
        <p:txBody>
          <a:bodyPr wrap="square" rtlCol="0" anchor="ctr"/>
          <a:lstStyle/>
          <a:p>
            <a:pPr marL="0" indent="0" algn="ctr">
              <a:buNone/>
            </a:pPr>
            <a:r>
              <a:rPr lang="en-US" sz="1000" b="1" dirty="0">
                <a:solidFill>
                  <a:srgbClr val="F26A21"/>
                </a:solidFill>
              </a:rPr>
              <a:t>Base</a:t>
            </a:r>
            <a:endParaRPr lang="en-US" sz="1000" dirty="0"/>
          </a:p>
        </p:txBody>
      </p:sp>
      <p:sp>
        <p:nvSpPr>
          <p:cNvPr id="12" name="Shape 10"/>
          <p:cNvSpPr/>
          <p:nvPr/>
        </p:nvSpPr>
        <p:spPr>
          <a:xfrm>
            <a:off x="6446520" y="640080"/>
            <a:ext cx="1051560" cy="365760"/>
          </a:xfrm>
          <a:prstGeom prst="rect">
            <a:avLst/>
          </a:prstGeom>
          <a:solidFill>
            <a:srgbClr val="2A1000"/>
          </a:solidFill>
          <a:ln w="12700">
            <a:solidFill>
              <a:srgbClr val="F26A21"/>
            </a:solidFill>
            <a:prstDash val="solid"/>
          </a:ln>
        </p:spPr>
        <p:txBody>
          <a:bodyPr/>
          <a:lstStyle/>
          <a:p>
            <a:endParaRPr/>
          </a:p>
        </p:txBody>
      </p:sp>
      <p:sp>
        <p:nvSpPr>
          <p:cNvPr id="13" name="Text 11"/>
          <p:cNvSpPr txBox="1"/>
          <p:nvPr/>
        </p:nvSpPr>
        <p:spPr>
          <a:xfrm>
            <a:off x="6492240" y="676656"/>
            <a:ext cx="978408" cy="310896"/>
          </a:xfrm>
          <a:prstGeom prst="rect">
            <a:avLst/>
          </a:prstGeom>
          <a:noFill/>
          <a:ln/>
        </p:spPr>
        <p:txBody>
          <a:bodyPr wrap="square" rtlCol="0" anchor="ctr"/>
          <a:lstStyle/>
          <a:p>
            <a:pPr marL="0" indent="0" algn="ctr">
              <a:buNone/>
            </a:pPr>
            <a:r>
              <a:rPr lang="en-US" sz="1000" b="1" dirty="0">
                <a:solidFill>
                  <a:srgbClr val="F26A21"/>
                </a:solidFill>
              </a:rPr>
              <a:t>High</a:t>
            </a:r>
            <a:endParaRPr lang="en-US" sz="1000" dirty="0"/>
          </a:p>
        </p:txBody>
      </p:sp>
      <p:sp>
        <p:nvSpPr>
          <p:cNvPr id="14" name="Shape 12"/>
          <p:cNvSpPr/>
          <p:nvPr/>
        </p:nvSpPr>
        <p:spPr>
          <a:xfrm>
            <a:off x="7543800" y="640080"/>
            <a:ext cx="1005840" cy="365760"/>
          </a:xfrm>
          <a:prstGeom prst="rect">
            <a:avLst/>
          </a:prstGeom>
          <a:solidFill>
            <a:srgbClr val="2A1000"/>
          </a:solidFill>
          <a:ln w="12700">
            <a:solidFill>
              <a:srgbClr val="F26A21"/>
            </a:solidFill>
            <a:prstDash val="solid"/>
          </a:ln>
        </p:spPr>
        <p:txBody>
          <a:bodyPr/>
          <a:lstStyle/>
          <a:p>
            <a:endParaRPr/>
          </a:p>
        </p:txBody>
      </p:sp>
      <p:sp>
        <p:nvSpPr>
          <p:cNvPr id="15" name="Text 13"/>
          <p:cNvSpPr txBox="1"/>
          <p:nvPr/>
        </p:nvSpPr>
        <p:spPr>
          <a:xfrm>
            <a:off x="7589520" y="676656"/>
            <a:ext cx="932688" cy="310896"/>
          </a:xfrm>
          <a:prstGeom prst="rect">
            <a:avLst/>
          </a:prstGeom>
          <a:noFill/>
          <a:ln/>
        </p:spPr>
        <p:txBody>
          <a:bodyPr wrap="square" rtlCol="0" anchor="ctr"/>
          <a:lstStyle/>
          <a:p>
            <a:pPr marL="0" indent="0" algn="ctr">
              <a:buNone/>
            </a:pPr>
            <a:r>
              <a:rPr lang="en-US" sz="1000" b="1" dirty="0">
                <a:solidFill>
                  <a:srgbClr val="F26A21"/>
                </a:solidFill>
              </a:rPr>
              <a:t>Pays</a:t>
            </a:r>
            <a:endParaRPr lang="en-US" sz="1000" dirty="0"/>
          </a:p>
        </p:txBody>
      </p:sp>
      <p:sp>
        <p:nvSpPr>
          <p:cNvPr id="16" name="Shape 14"/>
          <p:cNvSpPr/>
          <p:nvPr/>
        </p:nvSpPr>
        <p:spPr>
          <a:xfrm>
            <a:off x="274320" y="1005840"/>
            <a:ext cx="2011680" cy="548640"/>
          </a:xfrm>
          <a:prstGeom prst="rect">
            <a:avLst/>
          </a:prstGeom>
          <a:solidFill>
            <a:srgbClr val="1C1C1C"/>
          </a:solidFill>
          <a:ln w="12700">
            <a:solidFill>
              <a:srgbClr val="2A2A2A"/>
            </a:solidFill>
            <a:prstDash val="solid"/>
          </a:ln>
        </p:spPr>
        <p:txBody>
          <a:bodyPr/>
          <a:lstStyle/>
          <a:p>
            <a:endParaRPr/>
          </a:p>
        </p:txBody>
      </p:sp>
      <p:sp>
        <p:nvSpPr>
          <p:cNvPr id="17" name="Text 15"/>
          <p:cNvSpPr txBox="1"/>
          <p:nvPr/>
        </p:nvSpPr>
        <p:spPr>
          <a:xfrm>
            <a:off x="329184" y="1024128"/>
            <a:ext cx="1920240" cy="512064"/>
          </a:xfrm>
          <a:prstGeom prst="rect">
            <a:avLst/>
          </a:prstGeom>
          <a:noFill/>
          <a:ln/>
        </p:spPr>
        <p:txBody>
          <a:bodyPr wrap="square" rtlCol="0" anchor="ctr"/>
          <a:lstStyle/>
          <a:p>
            <a:pPr marL="0" indent="0" algn="l">
              <a:buNone/>
            </a:pPr>
            <a:r>
              <a:rPr lang="en-US" sz="1000" dirty="0">
                <a:solidFill>
                  <a:srgbClr val="CCCCCC"/>
                </a:solidFill>
              </a:rPr>
              <a:t>5% of IM tank revenue/yr</a:t>
            </a:r>
            <a:endParaRPr lang="en-US" sz="900" dirty="0"/>
          </a:p>
          <a:p>
            <a:pPr marL="0" indent="0" algn="l">
              <a:buNone/>
            </a:pPr>
            <a:r>
              <a:rPr lang="en-US" sz="1000" dirty="0">
                <a:solidFill>
                  <a:srgbClr val="CCCCCC"/>
                </a:solidFill>
              </a:rPr>
              <a:t>cap $300K/yr, FY27–FY31</a:t>
            </a:r>
            <a:endParaRPr lang="en-US" sz="900" dirty="0"/>
          </a:p>
        </p:txBody>
      </p:sp>
      <p:sp>
        <p:nvSpPr>
          <p:cNvPr id="18" name="Shape 16"/>
          <p:cNvSpPr/>
          <p:nvPr/>
        </p:nvSpPr>
        <p:spPr>
          <a:xfrm>
            <a:off x="2331720" y="1005840"/>
            <a:ext cx="1874520" cy="548640"/>
          </a:xfrm>
          <a:prstGeom prst="rect">
            <a:avLst/>
          </a:prstGeom>
          <a:solidFill>
            <a:srgbClr val="1C1C1C"/>
          </a:solidFill>
          <a:ln w="12700">
            <a:solidFill>
              <a:srgbClr val="2A2A2A"/>
            </a:solidFill>
            <a:prstDash val="solid"/>
          </a:ln>
        </p:spPr>
        <p:txBody>
          <a:bodyPr/>
          <a:lstStyle/>
          <a:p>
            <a:endParaRPr/>
          </a:p>
        </p:txBody>
      </p:sp>
      <p:sp>
        <p:nvSpPr>
          <p:cNvPr id="19" name="Text 17"/>
          <p:cNvSpPr txBox="1"/>
          <p:nvPr/>
        </p:nvSpPr>
        <p:spPr>
          <a:xfrm>
            <a:off x="2386584" y="1024128"/>
            <a:ext cx="1783080" cy="512064"/>
          </a:xfrm>
          <a:prstGeom prst="rect">
            <a:avLst/>
          </a:prstGeom>
          <a:noFill/>
          <a:ln/>
        </p:spPr>
        <p:txBody>
          <a:bodyPr wrap="square" rtlCol="0" anchor="ctr"/>
          <a:lstStyle/>
          <a:p>
            <a:pPr marL="0" indent="0" algn="l">
              <a:buNone/>
            </a:pPr>
            <a:r>
              <a:rPr lang="en-US" sz="1000" dirty="0">
                <a:solidFill>
                  <a:srgbClr val="CCCCCC"/>
                </a:solidFill>
              </a:rPr>
              <a:t>Revenue SSLC achieves</a:t>
            </a:r>
            <a:endParaRPr lang="en-US" sz="900" dirty="0"/>
          </a:p>
          <a:p>
            <a:pPr marL="0" indent="0" algn="l">
              <a:buNone/>
            </a:pPr>
            <a:r>
              <a:rPr lang="en-US" sz="1000" dirty="0">
                <a:solidFill>
                  <a:srgbClr val="CCCCCC"/>
                </a:solidFill>
              </a:rPr>
              <a:t>each year FY27–FY31</a:t>
            </a:r>
            <a:endParaRPr lang="en-US" sz="900" dirty="0"/>
          </a:p>
        </p:txBody>
      </p:sp>
      <p:sp>
        <p:nvSpPr>
          <p:cNvPr id="20" name="Shape 18"/>
          <p:cNvSpPr/>
          <p:nvPr/>
        </p:nvSpPr>
        <p:spPr>
          <a:xfrm>
            <a:off x="4251960" y="1005840"/>
            <a:ext cx="1051560" cy="548640"/>
          </a:xfrm>
          <a:prstGeom prst="rect">
            <a:avLst/>
          </a:prstGeom>
          <a:solidFill>
            <a:srgbClr val="1C1C1C"/>
          </a:solidFill>
          <a:ln w="12700">
            <a:solidFill>
              <a:srgbClr val="2A2A2A"/>
            </a:solidFill>
            <a:prstDash val="solid"/>
          </a:ln>
        </p:spPr>
        <p:txBody>
          <a:bodyPr/>
          <a:lstStyle/>
          <a:p>
            <a:endParaRPr/>
          </a:p>
        </p:txBody>
      </p:sp>
      <p:sp>
        <p:nvSpPr>
          <p:cNvPr id="21" name="Text 19"/>
          <p:cNvSpPr txBox="1"/>
          <p:nvPr/>
        </p:nvSpPr>
        <p:spPr>
          <a:xfrm>
            <a:off x="4306824" y="1024128"/>
            <a:ext cx="960120" cy="512064"/>
          </a:xfrm>
          <a:prstGeom prst="rect">
            <a:avLst/>
          </a:prstGeom>
          <a:noFill/>
          <a:ln/>
        </p:spPr>
        <p:txBody>
          <a:bodyPr wrap="square" rtlCol="0" anchor="ctr"/>
          <a:lstStyle/>
          <a:p>
            <a:pPr marL="0" indent="0" algn="ctr">
              <a:buNone/>
            </a:pPr>
            <a:r>
              <a:rPr lang="en-US" sz="1000" dirty="0">
                <a:solidFill>
                  <a:srgbClr val="F26A21"/>
                </a:solidFill>
              </a:rPr>
              <a:t>$3M/yr → $150K/yr → $750K</a:t>
            </a:r>
            <a:endParaRPr lang="en-US" sz="900" dirty="0"/>
          </a:p>
          <a:p>
            <a:pPr marL="0" indent="0" algn="ctr">
              <a:buNone/>
            </a:pPr>
            <a:r>
              <a:rPr lang="en-US" sz="1000" dirty="0">
                <a:solidFill>
                  <a:srgbClr val="F26A21"/>
                </a:solidFill>
              </a:rPr>
              <a:t/>
            </a:r>
            <a:endParaRPr lang="en-US" sz="900" dirty="0"/>
          </a:p>
          <a:p>
            <a:pPr marL="0" indent="0" algn="ctr">
              <a:buNone/>
            </a:pPr>
            <a:r>
              <a:rPr lang="en-US" sz="1000" dirty="0">
                <a:solidFill>
                  <a:srgbClr val="F26A21"/>
                </a:solidFill>
              </a:rPr>
              <a:t/>
            </a:r>
            <a:endParaRPr lang="en-US" sz="900" dirty="0"/>
          </a:p>
        </p:txBody>
      </p:sp>
      <p:sp>
        <p:nvSpPr>
          <p:cNvPr id="22" name="Shape 20"/>
          <p:cNvSpPr/>
          <p:nvPr/>
        </p:nvSpPr>
        <p:spPr>
          <a:xfrm>
            <a:off x="5349240" y="1005840"/>
            <a:ext cx="1051560" cy="548640"/>
          </a:xfrm>
          <a:prstGeom prst="rect">
            <a:avLst/>
          </a:prstGeom>
          <a:solidFill>
            <a:srgbClr val="1C1C1C"/>
          </a:solidFill>
          <a:ln w="12700">
            <a:solidFill>
              <a:srgbClr val="2A2A2A"/>
            </a:solidFill>
            <a:prstDash val="solid"/>
          </a:ln>
        </p:spPr>
        <p:txBody>
          <a:bodyPr/>
          <a:lstStyle/>
          <a:p>
            <a:endParaRPr/>
          </a:p>
        </p:txBody>
      </p:sp>
      <p:sp>
        <p:nvSpPr>
          <p:cNvPr id="23" name="Text 21"/>
          <p:cNvSpPr txBox="1"/>
          <p:nvPr/>
        </p:nvSpPr>
        <p:spPr>
          <a:xfrm>
            <a:off x="5404104" y="1024128"/>
            <a:ext cx="960120" cy="512064"/>
          </a:xfrm>
          <a:prstGeom prst="rect">
            <a:avLst/>
          </a:prstGeom>
          <a:noFill/>
          <a:ln/>
        </p:spPr>
        <p:txBody>
          <a:bodyPr wrap="square" rtlCol="0" anchor="ctr"/>
          <a:lstStyle/>
          <a:p>
            <a:pPr marL="0" indent="0" algn="ctr">
              <a:buNone/>
            </a:pPr>
            <a:r>
              <a:rPr lang="en-US" sz="1000" dirty="0">
                <a:solidFill>
                  <a:srgbClr val="F26A21"/>
                </a:solidFill>
              </a:rPr>
              <a:t>$5M/yr → $250K/yr → $1.25M</a:t>
            </a:r>
            <a:endParaRPr lang="en-US" sz="900" dirty="0"/>
          </a:p>
          <a:p>
            <a:pPr marL="0" indent="0" algn="ctr">
              <a:buNone/>
            </a:pPr>
            <a:r>
              <a:rPr lang="en-US" sz="1000" dirty="0">
                <a:solidFill>
                  <a:srgbClr val="F26A21"/>
                </a:solidFill>
              </a:rPr>
              <a:t/>
            </a:r>
            <a:endParaRPr lang="en-US" sz="900" dirty="0"/>
          </a:p>
          <a:p>
            <a:pPr marL="0" indent="0" algn="ctr">
              <a:buNone/>
            </a:pPr>
            <a:r>
              <a:rPr lang="en-US" sz="1000" dirty="0">
                <a:solidFill>
                  <a:srgbClr val="F26A21"/>
                </a:solidFill>
              </a:rPr>
              <a:t/>
            </a:r>
            <a:endParaRPr lang="en-US" sz="900" dirty="0"/>
          </a:p>
        </p:txBody>
      </p:sp>
      <p:sp>
        <p:nvSpPr>
          <p:cNvPr id="24" name="Shape 22"/>
          <p:cNvSpPr/>
          <p:nvPr/>
        </p:nvSpPr>
        <p:spPr>
          <a:xfrm>
            <a:off x="6446520" y="1005840"/>
            <a:ext cx="1051560" cy="548640"/>
          </a:xfrm>
          <a:prstGeom prst="rect">
            <a:avLst/>
          </a:prstGeom>
          <a:solidFill>
            <a:srgbClr val="1C1C1C"/>
          </a:solidFill>
          <a:ln w="12700">
            <a:solidFill>
              <a:srgbClr val="2A2A2A"/>
            </a:solidFill>
            <a:prstDash val="solid"/>
          </a:ln>
        </p:spPr>
        <p:txBody>
          <a:bodyPr/>
          <a:lstStyle/>
          <a:p>
            <a:endParaRPr/>
          </a:p>
        </p:txBody>
      </p:sp>
      <p:sp>
        <p:nvSpPr>
          <p:cNvPr id="25" name="Text 23"/>
          <p:cNvSpPr txBox="1"/>
          <p:nvPr/>
        </p:nvSpPr>
        <p:spPr>
          <a:xfrm>
            <a:off x="6501384" y="1024128"/>
            <a:ext cx="960120" cy="512064"/>
          </a:xfrm>
          <a:prstGeom prst="rect">
            <a:avLst/>
          </a:prstGeom>
          <a:noFill/>
          <a:ln/>
        </p:spPr>
        <p:txBody>
          <a:bodyPr wrap="square" rtlCol="0" anchor="ctr"/>
          <a:lstStyle/>
          <a:p>
            <a:pPr marL="0" indent="0" algn="ctr">
              <a:buNone/>
            </a:pPr>
            <a:r>
              <a:rPr lang="en-US" sz="1000" dirty="0">
                <a:solidFill>
                  <a:srgbClr val="F26A21"/>
                </a:solidFill>
              </a:rPr>
              <a:t>$6M+/yr → $300K/yr cap → $1.5M</a:t>
            </a:r>
            <a:endParaRPr lang="en-US" sz="900" dirty="0"/>
          </a:p>
          <a:p>
            <a:pPr marL="0" indent="0" algn="ctr">
              <a:buNone/>
            </a:pPr>
            <a:r>
              <a:rPr lang="en-US" sz="1000" dirty="0">
                <a:solidFill>
                  <a:srgbClr val="F26A21"/>
                </a:solidFill>
              </a:rPr>
              <a:t/>
            </a:r>
            <a:endParaRPr lang="en-US" sz="900" dirty="0"/>
          </a:p>
          <a:p>
            <a:pPr marL="0" indent="0" algn="ctr">
              <a:buNone/>
            </a:pPr>
            <a:r>
              <a:rPr lang="en-US" sz="1000" dirty="0">
                <a:solidFill>
                  <a:srgbClr val="F26A21"/>
                </a:solidFill>
              </a:rPr>
              <a:t/>
            </a:r>
            <a:endParaRPr lang="en-US" sz="900" dirty="0"/>
          </a:p>
        </p:txBody>
      </p:sp>
      <p:sp>
        <p:nvSpPr>
          <p:cNvPr id="26" name="Shape 24"/>
          <p:cNvSpPr/>
          <p:nvPr/>
        </p:nvSpPr>
        <p:spPr>
          <a:xfrm>
            <a:off x="7543800" y="1005840"/>
            <a:ext cx="1005840" cy="548640"/>
          </a:xfrm>
          <a:prstGeom prst="rect">
            <a:avLst/>
          </a:prstGeom>
          <a:solidFill>
            <a:srgbClr val="1C1C1C"/>
          </a:solidFill>
          <a:ln w="12700">
            <a:solidFill>
              <a:srgbClr val="2A2A2A"/>
            </a:solidFill>
            <a:prstDash val="solid"/>
          </a:ln>
        </p:spPr>
        <p:txBody>
          <a:bodyPr/>
          <a:lstStyle/>
          <a:p>
            <a:endParaRPr/>
          </a:p>
        </p:txBody>
      </p:sp>
      <p:sp>
        <p:nvSpPr>
          <p:cNvPr id="27" name="Text 25"/>
          <p:cNvSpPr txBox="1"/>
          <p:nvPr/>
        </p:nvSpPr>
        <p:spPr>
          <a:xfrm>
            <a:off x="7598664" y="1024128"/>
            <a:ext cx="914400" cy="512064"/>
          </a:xfrm>
          <a:prstGeom prst="rect">
            <a:avLst/>
          </a:prstGeom>
          <a:noFill/>
          <a:ln/>
        </p:spPr>
        <p:txBody>
          <a:bodyPr wrap="square" rtlCol="0" anchor="ctr"/>
          <a:lstStyle/>
          <a:p>
            <a:pPr marL="0" indent="0" algn="ctr">
              <a:buNone/>
            </a:pPr>
            <a:r>
              <a:rPr lang="en-US" sz="1000" dirty="0">
                <a:solidFill>
                  <a:srgbClr val="F26A21"/>
                </a:solidFill>
              </a:rPr>
              <a:t>Annual</a:t>
            </a:r>
            <a:endParaRPr lang="en-US" sz="900" dirty="0"/>
          </a:p>
          <a:p>
            <a:pPr marL="0" indent="0" algn="ctr">
              <a:buNone/>
            </a:pPr>
            <a:r>
              <a:rPr lang="en-US" sz="1000" dirty="0">
                <a:solidFill>
                  <a:srgbClr val="F26A21"/>
                </a:solidFill>
              </a:rPr>
              <a:t>FY27–FY31</a:t>
            </a:r>
            <a:endParaRPr lang="en-US" sz="900" dirty="0"/>
          </a:p>
        </p:txBody>
      </p:sp>
      <p:sp>
        <p:nvSpPr>
          <p:cNvPr id="28" name="Shape 26"/>
          <p:cNvSpPr/>
          <p:nvPr/>
        </p:nvSpPr>
        <p:spPr>
          <a:xfrm>
            <a:off x="274320" y="1554480"/>
            <a:ext cx="2011680" cy="365760"/>
          </a:xfrm>
          <a:prstGeom prst="rect">
            <a:avLst/>
          </a:prstGeom>
          <a:solidFill>
            <a:srgbClr val="1A2035"/>
          </a:solidFill>
          <a:ln w="12700">
            <a:solidFill>
              <a:srgbClr val="2A2A2A"/>
            </a:solidFill>
            <a:prstDash val="solid"/>
          </a:ln>
        </p:spPr>
        <p:txBody>
          <a:bodyPr/>
          <a:lstStyle/>
          <a:p>
            <a:endParaRPr/>
          </a:p>
        </p:txBody>
      </p:sp>
      <p:sp>
        <p:nvSpPr>
          <p:cNvPr id="29" name="Text 27"/>
          <p:cNvSpPr txBox="1"/>
          <p:nvPr/>
        </p:nvSpPr>
        <p:spPr>
          <a:xfrm>
            <a:off x="329184" y="1572768"/>
            <a:ext cx="1920240" cy="329184"/>
          </a:xfrm>
          <a:prstGeom prst="rect">
            <a:avLst/>
          </a:prstGeom>
          <a:noFill/>
          <a:ln/>
        </p:spPr>
        <p:txBody>
          <a:bodyPr wrap="square" rtlCol="0" anchor="ctr"/>
          <a:lstStyle/>
          <a:p>
            <a:pPr marL="0" indent="0" algn="l">
              <a:buNone/>
            </a:pPr>
            <a:r>
              <a:rPr lang="en-US" sz="1000" dirty="0">
                <a:solidFill>
                  <a:srgbClr val="CCCCCC"/>
                </a:solidFill>
              </a:rPr>
              <a:t>M1  FY27 revenue ≥$5.1M → $200K</a:t>
            </a:r>
            <a:endParaRPr lang="en-US" sz="900" dirty="0"/>
          </a:p>
        </p:txBody>
      </p:sp>
      <p:sp>
        <p:nvSpPr>
          <p:cNvPr id="30" name="Shape 28"/>
          <p:cNvSpPr/>
          <p:nvPr/>
        </p:nvSpPr>
        <p:spPr>
          <a:xfrm>
            <a:off x="2331720" y="1554480"/>
            <a:ext cx="1874520" cy="365760"/>
          </a:xfrm>
          <a:prstGeom prst="rect">
            <a:avLst/>
          </a:prstGeom>
          <a:solidFill>
            <a:srgbClr val="1A2035"/>
          </a:solidFill>
          <a:ln w="12700">
            <a:solidFill>
              <a:srgbClr val="2A2A2A"/>
            </a:solidFill>
            <a:prstDash val="solid"/>
          </a:ln>
        </p:spPr>
        <p:txBody>
          <a:bodyPr/>
          <a:lstStyle/>
          <a:p>
            <a:endParaRPr/>
          </a:p>
        </p:txBody>
      </p:sp>
      <p:sp>
        <p:nvSpPr>
          <p:cNvPr id="31" name="Text 29"/>
          <p:cNvSpPr txBox="1"/>
          <p:nvPr/>
        </p:nvSpPr>
        <p:spPr>
          <a:xfrm>
            <a:off x="2386584" y="1572768"/>
            <a:ext cx="1783080" cy="329184"/>
          </a:xfrm>
          <a:prstGeom prst="rect">
            <a:avLst/>
          </a:prstGeom>
          <a:noFill/>
          <a:ln/>
        </p:spPr>
        <p:txBody>
          <a:bodyPr wrap="square" rtlCol="0" anchor="ctr"/>
          <a:lstStyle/>
          <a:p>
            <a:pPr marL="0" indent="0" algn="l">
              <a:buNone/>
            </a:pPr>
            <a:r>
              <a:rPr lang="en-US" sz="1000" dirty="0">
                <a:solidFill>
                  <a:srgbClr val="CCCCCC"/>
                </a:solidFill>
              </a:rPr>
              <a:t>Annual rev ≥$5.1M in FY27</a:t>
            </a:r>
            <a:endParaRPr lang="en-US" sz="900" dirty="0"/>
          </a:p>
        </p:txBody>
      </p:sp>
      <p:sp>
        <p:nvSpPr>
          <p:cNvPr id="32" name="Shape 30"/>
          <p:cNvSpPr/>
          <p:nvPr/>
        </p:nvSpPr>
        <p:spPr>
          <a:xfrm>
            <a:off x="4251960" y="1554480"/>
            <a:ext cx="1051560" cy="365760"/>
          </a:xfrm>
          <a:prstGeom prst="rect">
            <a:avLst/>
          </a:prstGeom>
          <a:solidFill>
            <a:srgbClr val="1A2035"/>
          </a:solidFill>
          <a:ln w="12700">
            <a:solidFill>
              <a:srgbClr val="2A2A2A"/>
            </a:solidFill>
            <a:prstDash val="solid"/>
          </a:ln>
        </p:spPr>
        <p:txBody>
          <a:bodyPr/>
          <a:lstStyle/>
          <a:p>
            <a:endParaRPr/>
          </a:p>
        </p:txBody>
      </p:sp>
      <p:sp>
        <p:nvSpPr>
          <p:cNvPr id="33" name="Text 31"/>
          <p:cNvSpPr txBox="1"/>
          <p:nvPr/>
        </p:nvSpPr>
        <p:spPr>
          <a:xfrm>
            <a:off x="4306824" y="157276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34" name="Shape 32"/>
          <p:cNvSpPr/>
          <p:nvPr/>
        </p:nvSpPr>
        <p:spPr>
          <a:xfrm>
            <a:off x="5349240" y="1554480"/>
            <a:ext cx="1051560" cy="365760"/>
          </a:xfrm>
          <a:prstGeom prst="rect">
            <a:avLst/>
          </a:prstGeom>
          <a:solidFill>
            <a:srgbClr val="1A2035"/>
          </a:solidFill>
          <a:ln w="12700">
            <a:solidFill>
              <a:srgbClr val="2A2A2A"/>
            </a:solidFill>
            <a:prstDash val="solid"/>
          </a:ln>
        </p:spPr>
        <p:txBody>
          <a:bodyPr/>
          <a:lstStyle/>
          <a:p>
            <a:endParaRPr/>
          </a:p>
        </p:txBody>
      </p:sp>
      <p:sp>
        <p:nvSpPr>
          <p:cNvPr id="35" name="Text 33"/>
          <p:cNvSpPr txBox="1"/>
          <p:nvPr/>
        </p:nvSpPr>
        <p:spPr>
          <a:xfrm>
            <a:off x="5404104" y="157276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36" name="Shape 34"/>
          <p:cNvSpPr/>
          <p:nvPr/>
        </p:nvSpPr>
        <p:spPr>
          <a:xfrm>
            <a:off x="6446520" y="1554480"/>
            <a:ext cx="1051560" cy="365760"/>
          </a:xfrm>
          <a:prstGeom prst="rect">
            <a:avLst/>
          </a:prstGeom>
          <a:solidFill>
            <a:srgbClr val="1A2035"/>
          </a:solidFill>
          <a:ln w="12700">
            <a:solidFill>
              <a:srgbClr val="2A2A2A"/>
            </a:solidFill>
            <a:prstDash val="solid"/>
          </a:ln>
        </p:spPr>
        <p:txBody>
          <a:bodyPr/>
          <a:lstStyle/>
          <a:p>
            <a:endParaRPr/>
          </a:p>
        </p:txBody>
      </p:sp>
      <p:sp>
        <p:nvSpPr>
          <p:cNvPr id="37" name="Text 35"/>
          <p:cNvSpPr txBox="1"/>
          <p:nvPr/>
        </p:nvSpPr>
        <p:spPr>
          <a:xfrm>
            <a:off x="6501384" y="157276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38" name="Shape 36"/>
          <p:cNvSpPr/>
          <p:nvPr/>
        </p:nvSpPr>
        <p:spPr>
          <a:xfrm>
            <a:off x="7543800" y="1554480"/>
            <a:ext cx="1005840" cy="365760"/>
          </a:xfrm>
          <a:prstGeom prst="rect">
            <a:avLst/>
          </a:prstGeom>
          <a:solidFill>
            <a:srgbClr val="1A2035"/>
          </a:solidFill>
          <a:ln w="12700">
            <a:solidFill>
              <a:srgbClr val="2A2A2A"/>
            </a:solidFill>
            <a:prstDash val="solid"/>
          </a:ln>
        </p:spPr>
        <p:txBody>
          <a:bodyPr/>
          <a:lstStyle/>
          <a:p>
            <a:endParaRPr/>
          </a:p>
        </p:txBody>
      </p:sp>
      <p:sp>
        <p:nvSpPr>
          <p:cNvPr id="39" name="Text 37"/>
          <p:cNvSpPr txBox="1"/>
          <p:nvPr/>
        </p:nvSpPr>
        <p:spPr>
          <a:xfrm>
            <a:off x="7598664" y="1572768"/>
            <a:ext cx="914400" cy="329184"/>
          </a:xfrm>
          <a:prstGeom prst="rect">
            <a:avLst/>
          </a:prstGeom>
          <a:noFill/>
          <a:ln/>
        </p:spPr>
        <p:txBody>
          <a:bodyPr wrap="square" rtlCol="0" anchor="ctr"/>
          <a:lstStyle/>
          <a:p>
            <a:pPr marL="0" indent="0" algn="ctr">
              <a:buNone/>
            </a:pPr>
            <a:r>
              <a:rPr lang="en-US" sz="1100" dirty="0">
                <a:solidFill>
                  <a:srgbClr val="FFFFFF"/>
                </a:solidFill>
              </a:rPr>
              <a:t>FY28 Q1</a:t>
            </a:r>
            <a:endParaRPr lang="en-US" sz="1100" dirty="0"/>
          </a:p>
        </p:txBody>
      </p:sp>
      <p:sp>
        <p:nvSpPr>
          <p:cNvPr id="40" name="Shape 38"/>
          <p:cNvSpPr/>
          <p:nvPr/>
        </p:nvSpPr>
        <p:spPr>
          <a:xfrm>
            <a:off x="274320" y="1920240"/>
            <a:ext cx="2011680" cy="365760"/>
          </a:xfrm>
          <a:prstGeom prst="rect">
            <a:avLst/>
          </a:prstGeom>
          <a:solidFill>
            <a:srgbClr val="1C1C1C"/>
          </a:solidFill>
          <a:ln w="12700">
            <a:solidFill>
              <a:srgbClr val="2A2A2A"/>
            </a:solidFill>
            <a:prstDash val="solid"/>
          </a:ln>
        </p:spPr>
        <p:txBody>
          <a:bodyPr/>
          <a:lstStyle/>
          <a:p>
            <a:endParaRPr/>
          </a:p>
        </p:txBody>
      </p:sp>
      <p:sp>
        <p:nvSpPr>
          <p:cNvPr id="41" name="Text 39"/>
          <p:cNvSpPr txBox="1"/>
          <p:nvPr/>
        </p:nvSpPr>
        <p:spPr>
          <a:xfrm>
            <a:off x="329184" y="1938528"/>
            <a:ext cx="1920240" cy="329184"/>
          </a:xfrm>
          <a:prstGeom prst="rect">
            <a:avLst/>
          </a:prstGeom>
          <a:noFill/>
          <a:ln/>
        </p:spPr>
        <p:txBody>
          <a:bodyPr wrap="square" rtlCol="0" anchor="ctr"/>
          <a:lstStyle/>
          <a:p>
            <a:pPr marL="0" indent="0" algn="l">
              <a:buNone/>
            </a:pPr>
            <a:r>
              <a:rPr lang="en-US" sz="1000" dirty="0">
                <a:solidFill>
                  <a:srgbClr val="CCCCCC"/>
                </a:solidFill>
              </a:rPr>
              <a:t>M2  Nebula OTV tank set accepted → $200K</a:t>
            </a:r>
            <a:endParaRPr lang="en-US" sz="900" dirty="0"/>
          </a:p>
        </p:txBody>
      </p:sp>
      <p:sp>
        <p:nvSpPr>
          <p:cNvPr id="42" name="Shape 40"/>
          <p:cNvSpPr/>
          <p:nvPr/>
        </p:nvSpPr>
        <p:spPr>
          <a:xfrm>
            <a:off x="2331720" y="1920240"/>
            <a:ext cx="1874520" cy="365760"/>
          </a:xfrm>
          <a:prstGeom prst="rect">
            <a:avLst/>
          </a:prstGeom>
          <a:solidFill>
            <a:srgbClr val="1C1C1C"/>
          </a:solidFill>
          <a:ln w="12700">
            <a:solidFill>
              <a:srgbClr val="2A2A2A"/>
            </a:solidFill>
            <a:prstDash val="solid"/>
          </a:ln>
        </p:spPr>
        <p:txBody>
          <a:bodyPr/>
          <a:lstStyle/>
          <a:p>
            <a:endParaRPr/>
          </a:p>
        </p:txBody>
      </p:sp>
      <p:sp>
        <p:nvSpPr>
          <p:cNvPr id="43" name="Text 41"/>
          <p:cNvSpPr txBox="1"/>
          <p:nvPr/>
        </p:nvSpPr>
        <p:spPr>
          <a:xfrm>
            <a:off x="2386584" y="1938528"/>
            <a:ext cx="1783080" cy="329184"/>
          </a:xfrm>
          <a:prstGeom prst="rect">
            <a:avLst/>
          </a:prstGeom>
          <a:noFill/>
          <a:ln/>
        </p:spPr>
        <p:txBody>
          <a:bodyPr wrap="square" rtlCol="0" anchor="ctr"/>
          <a:lstStyle/>
          <a:p>
            <a:pPr marL="0" indent="0" algn="l">
              <a:buNone/>
            </a:pPr>
            <a:r>
              <a:rPr lang="en-US" sz="1000" dirty="0">
                <a:solidFill>
                  <a:srgbClr val="CCCCCC"/>
                </a:solidFill>
              </a:rPr>
              <a:t>Tank set delivered and accepted by Intuitive Machines</a:t>
            </a:r>
            <a:endParaRPr lang="en-US" sz="900" dirty="0"/>
          </a:p>
        </p:txBody>
      </p:sp>
      <p:sp>
        <p:nvSpPr>
          <p:cNvPr id="44" name="Shape 42"/>
          <p:cNvSpPr/>
          <p:nvPr/>
        </p:nvSpPr>
        <p:spPr>
          <a:xfrm>
            <a:off x="4251960" y="1920240"/>
            <a:ext cx="1051560" cy="365760"/>
          </a:xfrm>
          <a:prstGeom prst="rect">
            <a:avLst/>
          </a:prstGeom>
          <a:solidFill>
            <a:srgbClr val="1C1C1C"/>
          </a:solidFill>
          <a:ln w="12700">
            <a:solidFill>
              <a:srgbClr val="2A2A2A"/>
            </a:solidFill>
            <a:prstDash val="solid"/>
          </a:ln>
        </p:spPr>
        <p:txBody>
          <a:bodyPr/>
          <a:lstStyle/>
          <a:p>
            <a:endParaRPr/>
          </a:p>
        </p:txBody>
      </p:sp>
      <p:sp>
        <p:nvSpPr>
          <p:cNvPr id="45" name="Text 43"/>
          <p:cNvSpPr txBox="1"/>
          <p:nvPr/>
        </p:nvSpPr>
        <p:spPr>
          <a:xfrm>
            <a:off x="4306824" y="1938528"/>
            <a:ext cx="960120" cy="329184"/>
          </a:xfrm>
          <a:prstGeom prst="rect">
            <a:avLst/>
          </a:prstGeom>
          <a:noFill/>
          <a:ln/>
        </p:spPr>
        <p:txBody>
          <a:bodyPr wrap="square" rtlCol="0" anchor="ctr"/>
          <a:lstStyle/>
          <a:p>
            <a:pPr marL="0" indent="0" algn="ctr">
              <a:buNone/>
            </a:pPr>
            <a:r>
              <a:rPr lang="en-US" sz="1100" dirty="0">
                <a:solidFill>
                  <a:srgbClr val="555555"/>
                </a:solidFill>
              </a:rPr>
              <a:t>—</a:t>
            </a:r>
            <a:endParaRPr lang="en-US" sz="1100" dirty="0"/>
          </a:p>
        </p:txBody>
      </p:sp>
      <p:sp>
        <p:nvSpPr>
          <p:cNvPr id="46" name="Shape 44"/>
          <p:cNvSpPr/>
          <p:nvPr/>
        </p:nvSpPr>
        <p:spPr>
          <a:xfrm>
            <a:off x="5349240" y="1920240"/>
            <a:ext cx="1051560" cy="365760"/>
          </a:xfrm>
          <a:prstGeom prst="rect">
            <a:avLst/>
          </a:prstGeom>
          <a:solidFill>
            <a:srgbClr val="1C1C1C"/>
          </a:solidFill>
          <a:ln w="12700">
            <a:solidFill>
              <a:srgbClr val="2A2A2A"/>
            </a:solidFill>
            <a:prstDash val="solid"/>
          </a:ln>
        </p:spPr>
        <p:txBody>
          <a:bodyPr/>
          <a:lstStyle/>
          <a:p>
            <a:endParaRPr/>
          </a:p>
        </p:txBody>
      </p:sp>
      <p:sp>
        <p:nvSpPr>
          <p:cNvPr id="47" name="Text 45"/>
          <p:cNvSpPr txBox="1"/>
          <p:nvPr/>
        </p:nvSpPr>
        <p:spPr>
          <a:xfrm>
            <a:off x="5404104" y="193852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48" name="Shape 46"/>
          <p:cNvSpPr/>
          <p:nvPr/>
        </p:nvSpPr>
        <p:spPr>
          <a:xfrm>
            <a:off x="6446520" y="1920240"/>
            <a:ext cx="1051560" cy="365760"/>
          </a:xfrm>
          <a:prstGeom prst="rect">
            <a:avLst/>
          </a:prstGeom>
          <a:solidFill>
            <a:srgbClr val="1C1C1C"/>
          </a:solidFill>
          <a:ln w="12700">
            <a:solidFill>
              <a:srgbClr val="2A2A2A"/>
            </a:solidFill>
            <a:prstDash val="solid"/>
          </a:ln>
        </p:spPr>
        <p:txBody>
          <a:bodyPr/>
          <a:lstStyle/>
          <a:p>
            <a:endParaRPr/>
          </a:p>
        </p:txBody>
      </p:sp>
      <p:sp>
        <p:nvSpPr>
          <p:cNvPr id="49" name="Text 47"/>
          <p:cNvSpPr txBox="1"/>
          <p:nvPr/>
        </p:nvSpPr>
        <p:spPr>
          <a:xfrm>
            <a:off x="6501384" y="193852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50" name="Shape 48"/>
          <p:cNvSpPr/>
          <p:nvPr/>
        </p:nvSpPr>
        <p:spPr>
          <a:xfrm>
            <a:off x="7543800" y="1920240"/>
            <a:ext cx="1005840" cy="365760"/>
          </a:xfrm>
          <a:prstGeom prst="rect">
            <a:avLst/>
          </a:prstGeom>
          <a:solidFill>
            <a:srgbClr val="1C1C1C"/>
          </a:solidFill>
          <a:ln w="12700">
            <a:solidFill>
              <a:srgbClr val="2A2A2A"/>
            </a:solidFill>
            <a:prstDash val="solid"/>
          </a:ln>
        </p:spPr>
        <p:txBody>
          <a:bodyPr/>
          <a:lstStyle/>
          <a:p>
            <a:endParaRPr/>
          </a:p>
        </p:txBody>
      </p:sp>
      <p:sp>
        <p:nvSpPr>
          <p:cNvPr id="51" name="Text 49"/>
          <p:cNvSpPr txBox="1"/>
          <p:nvPr/>
        </p:nvSpPr>
        <p:spPr>
          <a:xfrm>
            <a:off x="7598664" y="1938528"/>
            <a:ext cx="914400" cy="329184"/>
          </a:xfrm>
          <a:prstGeom prst="rect">
            <a:avLst/>
          </a:prstGeom>
          <a:noFill/>
          <a:ln/>
        </p:spPr>
        <p:txBody>
          <a:bodyPr wrap="square" rtlCol="0" anchor="ctr"/>
          <a:lstStyle/>
          <a:p>
            <a:pPr marL="0" indent="0" algn="ctr">
              <a:buNone/>
            </a:pPr>
            <a:r>
              <a:rPr lang="en-US" sz="1100" dirty="0">
                <a:solidFill>
                  <a:srgbClr val="FFFFFF"/>
                </a:solidFill>
              </a:rPr>
              <a:t>At acceptance</a:t>
            </a:r>
            <a:endParaRPr lang="en-US" sz="1100" dirty="0"/>
          </a:p>
        </p:txBody>
      </p:sp>
      <p:sp>
        <p:nvSpPr>
          <p:cNvPr id="52" name="Shape 50"/>
          <p:cNvSpPr/>
          <p:nvPr/>
        </p:nvSpPr>
        <p:spPr>
          <a:xfrm>
            <a:off x="274320" y="2286000"/>
            <a:ext cx="2011680" cy="365760"/>
          </a:xfrm>
          <a:prstGeom prst="rect">
            <a:avLst/>
          </a:prstGeom>
          <a:solidFill>
            <a:srgbClr val="1A2035"/>
          </a:solidFill>
          <a:ln w="12700">
            <a:solidFill>
              <a:srgbClr val="2A2A2A"/>
            </a:solidFill>
            <a:prstDash val="solid"/>
          </a:ln>
        </p:spPr>
        <p:txBody>
          <a:bodyPr/>
          <a:lstStyle/>
          <a:p>
            <a:endParaRPr/>
          </a:p>
        </p:txBody>
      </p:sp>
      <p:sp>
        <p:nvSpPr>
          <p:cNvPr id="53" name="Text 51"/>
          <p:cNvSpPr txBox="1"/>
          <p:nvPr/>
        </p:nvSpPr>
        <p:spPr>
          <a:xfrm>
            <a:off x="329184" y="2304288"/>
            <a:ext cx="1920240" cy="329184"/>
          </a:xfrm>
          <a:prstGeom prst="rect">
            <a:avLst/>
          </a:prstGeom>
          <a:noFill/>
          <a:ln/>
        </p:spPr>
        <p:txBody>
          <a:bodyPr wrap="square" rtlCol="0" anchor="ctr"/>
          <a:lstStyle/>
          <a:p>
            <a:pPr marL="0" indent="0" algn="l">
              <a:buNone/>
            </a:pPr>
            <a:r>
              <a:rPr lang="en-US" sz="1000" dirty="0">
                <a:solidFill>
                  <a:srgbClr val="CCCCCC"/>
                </a:solidFill>
              </a:rPr>
              <a:t>M3  Revenue ≥$10M year → $250K</a:t>
            </a:r>
            <a:endParaRPr lang="en-US" sz="900" dirty="0"/>
          </a:p>
        </p:txBody>
      </p:sp>
      <p:sp>
        <p:nvSpPr>
          <p:cNvPr id="54" name="Shape 52"/>
          <p:cNvSpPr/>
          <p:nvPr/>
        </p:nvSpPr>
        <p:spPr>
          <a:xfrm>
            <a:off x="2331720" y="2286000"/>
            <a:ext cx="1874520" cy="365760"/>
          </a:xfrm>
          <a:prstGeom prst="rect">
            <a:avLst/>
          </a:prstGeom>
          <a:solidFill>
            <a:srgbClr val="1A2035"/>
          </a:solidFill>
          <a:ln w="12700">
            <a:solidFill>
              <a:srgbClr val="2A2A2A"/>
            </a:solidFill>
            <a:prstDash val="solid"/>
          </a:ln>
        </p:spPr>
        <p:txBody>
          <a:bodyPr/>
          <a:lstStyle/>
          <a:p>
            <a:endParaRPr/>
          </a:p>
        </p:txBody>
      </p:sp>
      <p:sp>
        <p:nvSpPr>
          <p:cNvPr id="55" name="Text 53"/>
          <p:cNvSpPr txBox="1"/>
          <p:nvPr/>
        </p:nvSpPr>
        <p:spPr>
          <a:xfrm>
            <a:off x="2386584" y="2304288"/>
            <a:ext cx="1783080" cy="329184"/>
          </a:xfrm>
          <a:prstGeom prst="rect">
            <a:avLst/>
          </a:prstGeom>
          <a:noFill/>
          <a:ln/>
        </p:spPr>
        <p:txBody>
          <a:bodyPr wrap="square" rtlCol="0" anchor="ctr"/>
          <a:lstStyle/>
          <a:p>
            <a:pPr marL="0" indent="0" algn="l">
              <a:buNone/>
            </a:pPr>
            <a:r>
              <a:rPr lang="en-US" sz="1000" dirty="0">
                <a:solidFill>
                  <a:srgbClr val="CCCCCC"/>
                </a:solidFill>
              </a:rPr>
              <a:t>Annual rev ≥$10M</a:t>
            </a:r>
            <a:endParaRPr lang="en-US" sz="900" dirty="0"/>
          </a:p>
        </p:txBody>
      </p:sp>
      <p:sp>
        <p:nvSpPr>
          <p:cNvPr id="56" name="Shape 54"/>
          <p:cNvSpPr/>
          <p:nvPr/>
        </p:nvSpPr>
        <p:spPr>
          <a:xfrm>
            <a:off x="4251960" y="2286000"/>
            <a:ext cx="1051560" cy="365760"/>
          </a:xfrm>
          <a:prstGeom prst="rect">
            <a:avLst/>
          </a:prstGeom>
          <a:solidFill>
            <a:srgbClr val="1A2035"/>
          </a:solidFill>
          <a:ln w="12700">
            <a:solidFill>
              <a:srgbClr val="2A2A2A"/>
            </a:solidFill>
            <a:prstDash val="solid"/>
          </a:ln>
        </p:spPr>
        <p:txBody>
          <a:bodyPr/>
          <a:lstStyle/>
          <a:p>
            <a:endParaRPr/>
          </a:p>
        </p:txBody>
      </p:sp>
      <p:sp>
        <p:nvSpPr>
          <p:cNvPr id="57" name="Text 55"/>
          <p:cNvSpPr txBox="1"/>
          <p:nvPr/>
        </p:nvSpPr>
        <p:spPr>
          <a:xfrm>
            <a:off x="4306824" y="2304288"/>
            <a:ext cx="960120" cy="329184"/>
          </a:xfrm>
          <a:prstGeom prst="rect">
            <a:avLst/>
          </a:prstGeom>
          <a:noFill/>
          <a:ln/>
        </p:spPr>
        <p:txBody>
          <a:bodyPr wrap="square" rtlCol="0" anchor="ctr"/>
          <a:lstStyle/>
          <a:p>
            <a:pPr marL="0" indent="0" algn="ctr">
              <a:buNone/>
            </a:pPr>
            <a:r>
              <a:rPr lang="en-US" sz="1100" dirty="0">
                <a:solidFill>
                  <a:srgbClr val="555555"/>
                </a:solidFill>
              </a:rPr>
              <a:t>—</a:t>
            </a:r>
            <a:endParaRPr lang="en-US" sz="1100" dirty="0"/>
          </a:p>
        </p:txBody>
      </p:sp>
      <p:sp>
        <p:nvSpPr>
          <p:cNvPr id="58" name="Shape 56"/>
          <p:cNvSpPr/>
          <p:nvPr/>
        </p:nvSpPr>
        <p:spPr>
          <a:xfrm>
            <a:off x="5349240" y="2286000"/>
            <a:ext cx="1051560" cy="365760"/>
          </a:xfrm>
          <a:prstGeom prst="rect">
            <a:avLst/>
          </a:prstGeom>
          <a:solidFill>
            <a:srgbClr val="1A2035"/>
          </a:solidFill>
          <a:ln w="12700">
            <a:solidFill>
              <a:srgbClr val="2A2A2A"/>
            </a:solidFill>
            <a:prstDash val="solid"/>
          </a:ln>
        </p:spPr>
        <p:txBody>
          <a:bodyPr/>
          <a:lstStyle/>
          <a:p>
            <a:endParaRPr/>
          </a:p>
        </p:txBody>
      </p:sp>
      <p:sp>
        <p:nvSpPr>
          <p:cNvPr id="59" name="Text 57"/>
          <p:cNvSpPr txBox="1"/>
          <p:nvPr/>
        </p:nvSpPr>
        <p:spPr>
          <a:xfrm>
            <a:off x="5404104" y="230428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60" name="Shape 58"/>
          <p:cNvSpPr/>
          <p:nvPr/>
        </p:nvSpPr>
        <p:spPr>
          <a:xfrm>
            <a:off x="6446520" y="2286000"/>
            <a:ext cx="1051560" cy="365760"/>
          </a:xfrm>
          <a:prstGeom prst="rect">
            <a:avLst/>
          </a:prstGeom>
          <a:solidFill>
            <a:srgbClr val="1A2035"/>
          </a:solidFill>
          <a:ln w="12700">
            <a:solidFill>
              <a:srgbClr val="2A2A2A"/>
            </a:solidFill>
            <a:prstDash val="solid"/>
          </a:ln>
        </p:spPr>
        <p:txBody>
          <a:bodyPr/>
          <a:lstStyle/>
          <a:p>
            <a:endParaRPr/>
          </a:p>
        </p:txBody>
      </p:sp>
      <p:sp>
        <p:nvSpPr>
          <p:cNvPr id="61" name="Text 59"/>
          <p:cNvSpPr txBox="1"/>
          <p:nvPr/>
        </p:nvSpPr>
        <p:spPr>
          <a:xfrm>
            <a:off x="6501384" y="230428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62" name="Shape 60"/>
          <p:cNvSpPr/>
          <p:nvPr/>
        </p:nvSpPr>
        <p:spPr>
          <a:xfrm>
            <a:off x="7543800" y="2286000"/>
            <a:ext cx="1005840" cy="365760"/>
          </a:xfrm>
          <a:prstGeom prst="rect">
            <a:avLst/>
          </a:prstGeom>
          <a:solidFill>
            <a:srgbClr val="1A2035"/>
          </a:solidFill>
          <a:ln w="12700">
            <a:solidFill>
              <a:srgbClr val="2A2A2A"/>
            </a:solidFill>
            <a:prstDash val="solid"/>
          </a:ln>
        </p:spPr>
        <p:txBody>
          <a:bodyPr/>
          <a:lstStyle/>
          <a:p>
            <a:endParaRPr/>
          </a:p>
        </p:txBody>
      </p:sp>
      <p:sp>
        <p:nvSpPr>
          <p:cNvPr id="63" name="Text 61"/>
          <p:cNvSpPr txBox="1"/>
          <p:nvPr/>
        </p:nvSpPr>
        <p:spPr>
          <a:xfrm>
            <a:off x="7598664" y="2304288"/>
            <a:ext cx="914400" cy="329184"/>
          </a:xfrm>
          <a:prstGeom prst="rect">
            <a:avLst/>
          </a:prstGeom>
          <a:noFill/>
          <a:ln/>
        </p:spPr>
        <p:txBody>
          <a:bodyPr wrap="square" rtlCol="0" anchor="ctr"/>
          <a:lstStyle/>
          <a:p>
            <a:pPr marL="0" indent="0" algn="ctr">
              <a:buNone/>
            </a:pPr>
            <a:r>
              <a:rPr lang="en-US" sz="1100" dirty="0">
                <a:solidFill>
                  <a:srgbClr val="FFFFFF"/>
                </a:solidFill>
              </a:rPr>
              <a:t>Est. FY29</a:t>
            </a:r>
            <a:endParaRPr lang="en-US" sz="1100" dirty="0"/>
          </a:p>
        </p:txBody>
      </p:sp>
      <p:sp>
        <p:nvSpPr>
          <p:cNvPr id="64" name="Shape 62"/>
          <p:cNvSpPr/>
          <p:nvPr/>
        </p:nvSpPr>
        <p:spPr>
          <a:xfrm>
            <a:off x="274320" y="2651760"/>
            <a:ext cx="2011680" cy="365760"/>
          </a:xfrm>
          <a:prstGeom prst="rect">
            <a:avLst/>
          </a:prstGeom>
          <a:solidFill>
            <a:srgbClr val="1C1C1C"/>
          </a:solidFill>
          <a:ln w="12700">
            <a:solidFill>
              <a:srgbClr val="2A2A2A"/>
            </a:solidFill>
            <a:prstDash val="solid"/>
          </a:ln>
        </p:spPr>
        <p:txBody>
          <a:bodyPr/>
          <a:lstStyle/>
          <a:p>
            <a:endParaRPr/>
          </a:p>
        </p:txBody>
      </p:sp>
      <p:sp>
        <p:nvSpPr>
          <p:cNvPr id="65" name="Text 63"/>
          <p:cNvSpPr txBox="1"/>
          <p:nvPr/>
        </p:nvSpPr>
        <p:spPr>
          <a:xfrm>
            <a:off x="329184" y="2670048"/>
            <a:ext cx="1920240" cy="329184"/>
          </a:xfrm>
          <a:prstGeom prst="rect">
            <a:avLst/>
          </a:prstGeom>
          <a:noFill/>
          <a:ln/>
        </p:spPr>
        <p:txBody>
          <a:bodyPr wrap="square" rtlCol="0" anchor="ctr"/>
          <a:lstStyle/>
          <a:p>
            <a:pPr marL="0" indent="0" algn="l">
              <a:buNone/>
            </a:pPr>
            <a:r>
              <a:rPr lang="en-US" sz="1000" dirty="0">
                <a:solidFill>
                  <a:srgbClr val="CCCCCC"/>
                </a:solidFill>
              </a:rPr>
              <a:t>M4  Revenue ≥$20M year → $250K</a:t>
            </a:r>
            <a:endParaRPr lang="en-US" sz="900" dirty="0"/>
          </a:p>
        </p:txBody>
      </p:sp>
      <p:sp>
        <p:nvSpPr>
          <p:cNvPr id="66" name="Shape 64"/>
          <p:cNvSpPr/>
          <p:nvPr/>
        </p:nvSpPr>
        <p:spPr>
          <a:xfrm>
            <a:off x="2331720" y="2651760"/>
            <a:ext cx="1874520" cy="365760"/>
          </a:xfrm>
          <a:prstGeom prst="rect">
            <a:avLst/>
          </a:prstGeom>
          <a:solidFill>
            <a:srgbClr val="1C1C1C"/>
          </a:solidFill>
          <a:ln w="12700">
            <a:solidFill>
              <a:srgbClr val="2A2A2A"/>
            </a:solidFill>
            <a:prstDash val="solid"/>
          </a:ln>
        </p:spPr>
        <p:txBody>
          <a:bodyPr/>
          <a:lstStyle/>
          <a:p>
            <a:endParaRPr/>
          </a:p>
        </p:txBody>
      </p:sp>
      <p:sp>
        <p:nvSpPr>
          <p:cNvPr id="67" name="Text 65"/>
          <p:cNvSpPr txBox="1"/>
          <p:nvPr/>
        </p:nvSpPr>
        <p:spPr>
          <a:xfrm>
            <a:off x="2386584" y="2670048"/>
            <a:ext cx="1783080" cy="329184"/>
          </a:xfrm>
          <a:prstGeom prst="rect">
            <a:avLst/>
          </a:prstGeom>
          <a:noFill/>
          <a:ln/>
        </p:spPr>
        <p:txBody>
          <a:bodyPr wrap="square" rtlCol="0" anchor="ctr"/>
          <a:lstStyle/>
          <a:p>
            <a:pPr marL="0" indent="0" algn="l">
              <a:buNone/>
            </a:pPr>
            <a:r>
              <a:rPr lang="en-US" sz="1000" dirty="0">
                <a:solidFill>
                  <a:srgbClr val="CCCCCC"/>
                </a:solidFill>
              </a:rPr>
              <a:t>Annual rev ≥$20M</a:t>
            </a:r>
            <a:endParaRPr lang="en-US" sz="900" dirty="0"/>
          </a:p>
        </p:txBody>
      </p:sp>
      <p:sp>
        <p:nvSpPr>
          <p:cNvPr id="68" name="Shape 66"/>
          <p:cNvSpPr/>
          <p:nvPr/>
        </p:nvSpPr>
        <p:spPr>
          <a:xfrm>
            <a:off x="4251960" y="2651760"/>
            <a:ext cx="1051560" cy="365760"/>
          </a:xfrm>
          <a:prstGeom prst="rect">
            <a:avLst/>
          </a:prstGeom>
          <a:solidFill>
            <a:srgbClr val="1C1C1C"/>
          </a:solidFill>
          <a:ln w="12700">
            <a:solidFill>
              <a:srgbClr val="2A2A2A"/>
            </a:solidFill>
            <a:prstDash val="solid"/>
          </a:ln>
        </p:spPr>
        <p:txBody>
          <a:bodyPr/>
          <a:lstStyle/>
          <a:p>
            <a:endParaRPr/>
          </a:p>
        </p:txBody>
      </p:sp>
      <p:sp>
        <p:nvSpPr>
          <p:cNvPr id="69" name="Text 67"/>
          <p:cNvSpPr txBox="1"/>
          <p:nvPr/>
        </p:nvSpPr>
        <p:spPr>
          <a:xfrm>
            <a:off x="4306824" y="2670048"/>
            <a:ext cx="960120" cy="329184"/>
          </a:xfrm>
          <a:prstGeom prst="rect">
            <a:avLst/>
          </a:prstGeom>
          <a:noFill/>
          <a:ln/>
        </p:spPr>
        <p:txBody>
          <a:bodyPr wrap="square" rtlCol="0" anchor="ctr"/>
          <a:lstStyle/>
          <a:p>
            <a:pPr marL="0" indent="0" algn="ctr">
              <a:buNone/>
            </a:pPr>
            <a:r>
              <a:rPr lang="en-US" sz="1100" dirty="0">
                <a:solidFill>
                  <a:srgbClr val="555555"/>
                </a:solidFill>
              </a:rPr>
              <a:t>—</a:t>
            </a:r>
            <a:endParaRPr lang="en-US" sz="1100" dirty="0"/>
          </a:p>
        </p:txBody>
      </p:sp>
      <p:sp>
        <p:nvSpPr>
          <p:cNvPr id="70" name="Shape 68"/>
          <p:cNvSpPr/>
          <p:nvPr/>
        </p:nvSpPr>
        <p:spPr>
          <a:xfrm>
            <a:off x="5349240" y="2651760"/>
            <a:ext cx="1051560" cy="365760"/>
          </a:xfrm>
          <a:prstGeom prst="rect">
            <a:avLst/>
          </a:prstGeom>
          <a:solidFill>
            <a:srgbClr val="1C1C1C"/>
          </a:solidFill>
          <a:ln w="12700">
            <a:solidFill>
              <a:srgbClr val="2A2A2A"/>
            </a:solidFill>
            <a:prstDash val="solid"/>
          </a:ln>
        </p:spPr>
        <p:txBody>
          <a:bodyPr/>
          <a:lstStyle/>
          <a:p>
            <a:endParaRPr/>
          </a:p>
        </p:txBody>
      </p:sp>
      <p:sp>
        <p:nvSpPr>
          <p:cNvPr id="71" name="Text 69"/>
          <p:cNvSpPr txBox="1"/>
          <p:nvPr/>
        </p:nvSpPr>
        <p:spPr>
          <a:xfrm>
            <a:off x="5404104" y="2670048"/>
            <a:ext cx="960120" cy="329184"/>
          </a:xfrm>
          <a:prstGeom prst="rect">
            <a:avLst/>
          </a:prstGeom>
          <a:noFill/>
          <a:ln/>
        </p:spPr>
        <p:txBody>
          <a:bodyPr wrap="square" rtlCol="0" anchor="ctr"/>
          <a:lstStyle/>
          <a:p>
            <a:pPr marL="0" indent="0" algn="ctr">
              <a:buNone/>
            </a:pPr>
            <a:r>
              <a:rPr lang="en-US" sz="1100" dirty="0">
                <a:solidFill>
                  <a:srgbClr val="555555"/>
                </a:solidFill>
              </a:rPr>
              <a:t>—</a:t>
            </a:r>
            <a:endParaRPr lang="en-US" sz="1100" dirty="0"/>
          </a:p>
        </p:txBody>
      </p:sp>
      <p:sp>
        <p:nvSpPr>
          <p:cNvPr id="72" name="Shape 70"/>
          <p:cNvSpPr/>
          <p:nvPr/>
        </p:nvSpPr>
        <p:spPr>
          <a:xfrm>
            <a:off x="6446520" y="2651760"/>
            <a:ext cx="1051560" cy="365760"/>
          </a:xfrm>
          <a:prstGeom prst="rect">
            <a:avLst/>
          </a:prstGeom>
          <a:solidFill>
            <a:srgbClr val="1C1C1C"/>
          </a:solidFill>
          <a:ln w="12700">
            <a:solidFill>
              <a:srgbClr val="2A2A2A"/>
            </a:solidFill>
            <a:prstDash val="solid"/>
          </a:ln>
        </p:spPr>
        <p:txBody>
          <a:bodyPr/>
          <a:lstStyle/>
          <a:p>
            <a:endParaRPr/>
          </a:p>
        </p:txBody>
      </p:sp>
      <p:sp>
        <p:nvSpPr>
          <p:cNvPr id="73" name="Text 71"/>
          <p:cNvSpPr txBox="1"/>
          <p:nvPr/>
        </p:nvSpPr>
        <p:spPr>
          <a:xfrm>
            <a:off x="6501384" y="2670048"/>
            <a:ext cx="960120" cy="32918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74" name="Shape 72"/>
          <p:cNvSpPr/>
          <p:nvPr/>
        </p:nvSpPr>
        <p:spPr>
          <a:xfrm>
            <a:off x="7543800" y="2651760"/>
            <a:ext cx="1005840" cy="365760"/>
          </a:xfrm>
          <a:prstGeom prst="rect">
            <a:avLst/>
          </a:prstGeom>
          <a:solidFill>
            <a:srgbClr val="1C1C1C"/>
          </a:solidFill>
          <a:ln w="12700">
            <a:solidFill>
              <a:srgbClr val="2A2A2A"/>
            </a:solidFill>
            <a:prstDash val="solid"/>
          </a:ln>
        </p:spPr>
        <p:txBody>
          <a:bodyPr/>
          <a:lstStyle/>
          <a:p>
            <a:endParaRPr/>
          </a:p>
        </p:txBody>
      </p:sp>
      <p:sp>
        <p:nvSpPr>
          <p:cNvPr id="75" name="Text 73"/>
          <p:cNvSpPr txBox="1"/>
          <p:nvPr/>
        </p:nvSpPr>
        <p:spPr>
          <a:xfrm>
            <a:off x="7598664" y="2670048"/>
            <a:ext cx="914400" cy="329184"/>
          </a:xfrm>
          <a:prstGeom prst="rect">
            <a:avLst/>
          </a:prstGeom>
          <a:noFill/>
          <a:ln/>
        </p:spPr>
        <p:txBody>
          <a:bodyPr wrap="square" rtlCol="0" anchor="ctr"/>
          <a:lstStyle/>
          <a:p>
            <a:pPr marL="0" indent="0" algn="ctr">
              <a:buNone/>
            </a:pPr>
            <a:r>
              <a:rPr lang="en-US" sz="1100" dirty="0">
                <a:solidFill>
                  <a:srgbClr val="FFFFFF"/>
                </a:solidFill>
              </a:rPr>
              <a:t>Est. FY31</a:t>
            </a:r>
            <a:endParaRPr lang="en-US" sz="1100" dirty="0"/>
          </a:p>
        </p:txBody>
      </p:sp>
      <p:sp>
        <p:nvSpPr>
          <p:cNvPr id="76" name="Shape 74"/>
          <p:cNvSpPr/>
          <p:nvPr/>
        </p:nvSpPr>
        <p:spPr>
          <a:xfrm>
            <a:off x="274320" y="3017520"/>
            <a:ext cx="2011680" cy="457200"/>
          </a:xfrm>
          <a:prstGeom prst="rect">
            <a:avLst/>
          </a:prstGeom>
          <a:solidFill>
            <a:srgbClr val="1A2035"/>
          </a:solidFill>
          <a:ln w="12700">
            <a:solidFill>
              <a:srgbClr val="2A2A2A"/>
            </a:solidFill>
            <a:prstDash val="solid"/>
          </a:ln>
        </p:spPr>
        <p:txBody>
          <a:bodyPr/>
          <a:lstStyle/>
          <a:p>
            <a:endParaRPr/>
          </a:p>
        </p:txBody>
      </p:sp>
      <p:sp>
        <p:nvSpPr>
          <p:cNvPr id="77" name="Text 75"/>
          <p:cNvSpPr txBox="1"/>
          <p:nvPr/>
        </p:nvSpPr>
        <p:spPr>
          <a:xfrm>
            <a:off x="329184" y="3035808"/>
            <a:ext cx="1920240" cy="420624"/>
          </a:xfrm>
          <a:prstGeom prst="rect">
            <a:avLst/>
          </a:prstGeom>
          <a:noFill/>
          <a:ln/>
        </p:spPr>
        <p:txBody>
          <a:bodyPr wrap="square" rtlCol="0" anchor="ctr"/>
          <a:lstStyle/>
          <a:p>
            <a:pPr marL="0" indent="0" algn="l">
              <a:buNone/>
            </a:pPr>
            <a:r>
              <a:rPr lang="en-US" sz="1000" dirty="0">
                <a:solidFill>
                  <a:srgbClr val="CCCCCC"/>
                </a:solidFill>
              </a:rPr>
              <a:t>M5  50% build-cost cut → $200K</a:t>
            </a:r>
            <a:endParaRPr lang="en-US" sz="900" dirty="0"/>
          </a:p>
          <a:p>
            <a:pPr marL="0" indent="0" algn="l">
              <a:buNone/>
            </a:pPr>
            <a:r>
              <a:rPr lang="en-US" sz="1000" dirty="0">
                <a:solidFill>
                  <a:srgbClr val="CCCCCC"/>
                </a:solidFill>
              </a:rPr>
              <a:t/>
            </a:r>
            <a:endParaRPr lang="en-US" sz="900" dirty="0"/>
          </a:p>
        </p:txBody>
      </p:sp>
      <p:sp>
        <p:nvSpPr>
          <p:cNvPr id="78" name="Shape 76"/>
          <p:cNvSpPr/>
          <p:nvPr/>
        </p:nvSpPr>
        <p:spPr>
          <a:xfrm>
            <a:off x="2331720" y="3017520"/>
            <a:ext cx="1874520" cy="457200"/>
          </a:xfrm>
          <a:prstGeom prst="rect">
            <a:avLst/>
          </a:prstGeom>
          <a:solidFill>
            <a:srgbClr val="1A2035"/>
          </a:solidFill>
          <a:ln w="12700">
            <a:solidFill>
              <a:srgbClr val="2A2A2A"/>
            </a:solidFill>
            <a:prstDash val="solid"/>
          </a:ln>
        </p:spPr>
        <p:txBody>
          <a:bodyPr/>
          <a:lstStyle/>
          <a:p>
            <a:endParaRPr/>
          </a:p>
        </p:txBody>
      </p:sp>
      <p:sp>
        <p:nvSpPr>
          <p:cNvPr id="79" name="Text 77"/>
          <p:cNvSpPr txBox="1"/>
          <p:nvPr/>
        </p:nvSpPr>
        <p:spPr>
          <a:xfrm>
            <a:off x="2386584" y="3035808"/>
            <a:ext cx="1783080" cy="420624"/>
          </a:xfrm>
          <a:prstGeom prst="rect">
            <a:avLst/>
          </a:prstGeom>
          <a:noFill/>
          <a:ln/>
        </p:spPr>
        <p:txBody>
          <a:bodyPr wrap="square" rtlCol="0" anchor="ctr"/>
          <a:lstStyle/>
          <a:p>
            <a:pPr marL="0" indent="0" algn="l">
              <a:buNone/>
            </a:pPr>
            <a:r>
              <a:rPr lang="en-US" sz="1000" dirty="0">
                <a:solidFill>
                  <a:srgbClr val="CCCCCC"/>
                </a:solidFill>
              </a:rPr>
              <a:t>50% cost reduction proven</a:t>
            </a:r>
            <a:endParaRPr lang="en-US" sz="900" dirty="0"/>
          </a:p>
          <a:p>
            <a:pPr marL="0" indent="0" algn="l">
              <a:buNone/>
            </a:pPr>
            <a:r>
              <a:rPr lang="en-US" sz="1000" dirty="0">
                <a:solidFill>
                  <a:srgbClr val="CCCCCC"/>
                </a:solidFill>
              </a:rPr>
              <a:t>(dome &amp; process automation)</a:t>
            </a:r>
            <a:endParaRPr lang="en-US" sz="900" dirty="0"/>
          </a:p>
        </p:txBody>
      </p:sp>
      <p:sp>
        <p:nvSpPr>
          <p:cNvPr id="80" name="Shape 78"/>
          <p:cNvSpPr/>
          <p:nvPr/>
        </p:nvSpPr>
        <p:spPr>
          <a:xfrm>
            <a:off x="4251960" y="3017520"/>
            <a:ext cx="1051560" cy="457200"/>
          </a:xfrm>
          <a:prstGeom prst="rect">
            <a:avLst/>
          </a:prstGeom>
          <a:solidFill>
            <a:srgbClr val="1A2035"/>
          </a:solidFill>
          <a:ln w="12700">
            <a:solidFill>
              <a:srgbClr val="2A2A2A"/>
            </a:solidFill>
            <a:prstDash val="solid"/>
          </a:ln>
        </p:spPr>
        <p:txBody>
          <a:bodyPr/>
          <a:lstStyle/>
          <a:p>
            <a:endParaRPr/>
          </a:p>
        </p:txBody>
      </p:sp>
      <p:sp>
        <p:nvSpPr>
          <p:cNvPr id="81" name="Text 79"/>
          <p:cNvSpPr txBox="1"/>
          <p:nvPr/>
        </p:nvSpPr>
        <p:spPr>
          <a:xfrm>
            <a:off x="4306824" y="3035808"/>
            <a:ext cx="960120" cy="420624"/>
          </a:xfrm>
          <a:prstGeom prst="rect">
            <a:avLst/>
          </a:prstGeom>
          <a:noFill/>
          <a:ln/>
        </p:spPr>
        <p:txBody>
          <a:bodyPr wrap="square" rtlCol="0" anchor="ctr"/>
          <a:lstStyle/>
          <a:p>
            <a:pPr marL="0" indent="0" algn="ctr">
              <a:buNone/>
            </a:pPr>
            <a:r>
              <a:rPr lang="en-US" sz="1100" dirty="0">
                <a:solidFill>
                  <a:srgbClr val="555555"/>
                </a:solidFill>
              </a:rPr>
              <a:t>—</a:t>
            </a:r>
            <a:endParaRPr lang="en-US" sz="1100" dirty="0"/>
          </a:p>
        </p:txBody>
      </p:sp>
      <p:sp>
        <p:nvSpPr>
          <p:cNvPr id="82" name="Shape 80"/>
          <p:cNvSpPr/>
          <p:nvPr/>
        </p:nvSpPr>
        <p:spPr>
          <a:xfrm>
            <a:off x="5349240" y="3017520"/>
            <a:ext cx="1051560" cy="457200"/>
          </a:xfrm>
          <a:prstGeom prst="rect">
            <a:avLst/>
          </a:prstGeom>
          <a:solidFill>
            <a:srgbClr val="1A2035"/>
          </a:solidFill>
          <a:ln w="12700">
            <a:solidFill>
              <a:srgbClr val="2A2A2A"/>
            </a:solidFill>
            <a:prstDash val="solid"/>
          </a:ln>
        </p:spPr>
        <p:txBody>
          <a:bodyPr/>
          <a:lstStyle/>
          <a:p>
            <a:endParaRPr/>
          </a:p>
        </p:txBody>
      </p:sp>
      <p:sp>
        <p:nvSpPr>
          <p:cNvPr id="83" name="Text 81"/>
          <p:cNvSpPr txBox="1"/>
          <p:nvPr/>
        </p:nvSpPr>
        <p:spPr>
          <a:xfrm>
            <a:off x="5404104" y="3035808"/>
            <a:ext cx="960120" cy="420624"/>
          </a:xfrm>
          <a:prstGeom prst="rect">
            <a:avLst/>
          </a:prstGeom>
          <a:noFill/>
          <a:ln/>
        </p:spPr>
        <p:txBody>
          <a:bodyPr wrap="square" rtlCol="0" anchor="ctr"/>
          <a:lstStyle/>
          <a:p>
            <a:pPr marL="0" indent="0" algn="ctr">
              <a:buNone/>
            </a:pPr>
            <a:r>
              <a:rPr lang="en-US" sz="1100" dirty="0">
                <a:solidFill>
                  <a:srgbClr val="555555"/>
                </a:solidFill>
              </a:rPr>
              <a:t>—</a:t>
            </a:r>
            <a:endParaRPr lang="en-US" sz="1100" dirty="0"/>
          </a:p>
        </p:txBody>
      </p:sp>
      <p:sp>
        <p:nvSpPr>
          <p:cNvPr id="84" name="Shape 82"/>
          <p:cNvSpPr/>
          <p:nvPr/>
        </p:nvSpPr>
        <p:spPr>
          <a:xfrm>
            <a:off x="6446520" y="3017520"/>
            <a:ext cx="1051560" cy="457200"/>
          </a:xfrm>
          <a:prstGeom prst="rect">
            <a:avLst/>
          </a:prstGeom>
          <a:solidFill>
            <a:srgbClr val="1A2035"/>
          </a:solidFill>
          <a:ln w="12700">
            <a:solidFill>
              <a:srgbClr val="2A2A2A"/>
            </a:solidFill>
            <a:prstDash val="solid"/>
          </a:ln>
        </p:spPr>
        <p:txBody>
          <a:bodyPr/>
          <a:lstStyle/>
          <a:p>
            <a:endParaRPr/>
          </a:p>
        </p:txBody>
      </p:sp>
      <p:sp>
        <p:nvSpPr>
          <p:cNvPr id="85" name="Text 83"/>
          <p:cNvSpPr txBox="1"/>
          <p:nvPr/>
        </p:nvSpPr>
        <p:spPr>
          <a:xfrm>
            <a:off x="6501384" y="3035808"/>
            <a:ext cx="960120" cy="420624"/>
          </a:xfrm>
          <a:prstGeom prst="rect">
            <a:avLst/>
          </a:prstGeom>
          <a:noFill/>
          <a:ln/>
        </p:spPr>
        <p:txBody>
          <a:bodyPr wrap="square" rtlCol="0" anchor="ctr"/>
          <a:lstStyle/>
          <a:p>
            <a:pPr marL="0" indent="0" algn="ctr">
              <a:buNone/>
            </a:pPr>
            <a:r>
              <a:rPr lang="en-US" sz="1100" dirty="0">
                <a:solidFill>
                  <a:srgbClr val="2ECC71"/>
                </a:solidFill>
              </a:rPr>
              <a:t>✓</a:t>
            </a:r>
            <a:endParaRPr lang="en-US" sz="1100" dirty="0"/>
          </a:p>
        </p:txBody>
      </p:sp>
      <p:sp>
        <p:nvSpPr>
          <p:cNvPr id="86" name="Shape 84"/>
          <p:cNvSpPr/>
          <p:nvPr/>
        </p:nvSpPr>
        <p:spPr>
          <a:xfrm>
            <a:off x="7543800" y="3017520"/>
            <a:ext cx="1005840" cy="457200"/>
          </a:xfrm>
          <a:prstGeom prst="rect">
            <a:avLst/>
          </a:prstGeom>
          <a:solidFill>
            <a:srgbClr val="1A2035"/>
          </a:solidFill>
          <a:ln w="12700">
            <a:solidFill>
              <a:srgbClr val="2A2A2A"/>
            </a:solidFill>
            <a:prstDash val="solid"/>
          </a:ln>
        </p:spPr>
        <p:txBody>
          <a:bodyPr/>
          <a:lstStyle/>
          <a:p>
            <a:endParaRPr/>
          </a:p>
        </p:txBody>
      </p:sp>
      <p:sp>
        <p:nvSpPr>
          <p:cNvPr id="87" name="Text 85"/>
          <p:cNvSpPr txBox="1"/>
          <p:nvPr/>
        </p:nvSpPr>
        <p:spPr>
          <a:xfrm>
            <a:off x="7598664" y="3035808"/>
            <a:ext cx="914400" cy="420624"/>
          </a:xfrm>
          <a:prstGeom prst="rect">
            <a:avLst/>
          </a:prstGeom>
          <a:noFill/>
          <a:ln/>
        </p:spPr>
        <p:txBody>
          <a:bodyPr wrap="square" rtlCol="0" anchor="ctr"/>
          <a:lstStyle/>
          <a:p>
            <a:pPr marL="0" indent="0" algn="ctr">
              <a:buNone/>
            </a:pPr>
            <a:r>
              <a:rPr lang="en-US" sz="1100" dirty="0">
                <a:solidFill>
                  <a:srgbClr val="FFFFFF"/>
                </a:solidFill>
              </a:rPr>
              <a:t>Est. FY27–28</a:t>
            </a:r>
            <a:endParaRPr lang="en-US" sz="1100" dirty="0"/>
          </a:p>
        </p:txBody>
      </p:sp>
      <p:sp>
        <p:nvSpPr>
          <p:cNvPr id="88" name="Shape 86"/>
          <p:cNvSpPr/>
          <p:nvPr/>
        </p:nvSpPr>
        <p:spPr>
          <a:xfrm>
            <a:off x="274320" y="3474720"/>
            <a:ext cx="2011680" cy="457200"/>
          </a:xfrm>
          <a:prstGeom prst="rect">
            <a:avLst/>
          </a:prstGeom>
          <a:solidFill>
            <a:srgbClr val="1C1C1C"/>
          </a:solidFill>
          <a:ln w="12700">
            <a:solidFill>
              <a:srgbClr val="2A2A2A"/>
            </a:solidFill>
            <a:prstDash val="solid"/>
          </a:ln>
        </p:spPr>
        <p:txBody>
          <a:bodyPr/>
          <a:lstStyle/>
          <a:p>
            <a:endParaRPr/>
          </a:p>
        </p:txBody>
      </p:sp>
      <p:sp>
        <p:nvSpPr>
          <p:cNvPr id="89" name="Text 87"/>
          <p:cNvSpPr txBox="1"/>
          <p:nvPr/>
        </p:nvSpPr>
        <p:spPr>
          <a:xfrm>
            <a:off x="329184" y="3493008"/>
            <a:ext cx="1920240" cy="420624"/>
          </a:xfrm>
          <a:prstGeom prst="rect">
            <a:avLst/>
          </a:prstGeom>
          <a:noFill/>
          <a:ln/>
        </p:spPr>
        <p:txBody>
          <a:bodyPr wrap="square" rtlCol="0" anchor="ctr"/>
          <a:lstStyle/>
          <a:p>
            <a:pPr marL="0" indent="0" algn="l">
              <a:buNone/>
            </a:pPr>
            <a:r>
              <a:rPr lang="en-US" sz="1000" dirty="0">
                <a:solidFill>
                  <a:srgbClr val="CCCCCC"/>
                </a:solidFill>
              </a:rPr>
              <a:t>Exos stock earn-out at RTO listing</a:t>
            </a:r>
            <a:endParaRPr lang="en-US" sz="900" dirty="0"/>
          </a:p>
          <a:p>
            <a:pPr marL="0" indent="0" algn="l">
              <a:buNone/>
            </a:pPr>
            <a:r>
              <a:rPr lang="en-US" sz="1000" dirty="0">
                <a:solidFill>
                  <a:srgbClr val="CCCCCC"/>
                </a:solidFill>
              </a:rPr>
              <a:t/>
            </a:r>
            <a:endParaRPr lang="en-US" sz="900" dirty="0"/>
          </a:p>
        </p:txBody>
      </p:sp>
      <p:sp>
        <p:nvSpPr>
          <p:cNvPr id="90" name="Shape 88"/>
          <p:cNvSpPr/>
          <p:nvPr/>
        </p:nvSpPr>
        <p:spPr>
          <a:xfrm>
            <a:off x="2331720" y="3474720"/>
            <a:ext cx="1874520" cy="457200"/>
          </a:xfrm>
          <a:prstGeom prst="rect">
            <a:avLst/>
          </a:prstGeom>
          <a:solidFill>
            <a:srgbClr val="1C1C1C"/>
          </a:solidFill>
          <a:ln w="12700">
            <a:solidFill>
              <a:srgbClr val="2A2A2A"/>
            </a:solidFill>
            <a:prstDash val="solid"/>
          </a:ln>
        </p:spPr>
        <p:txBody>
          <a:bodyPr/>
          <a:lstStyle/>
          <a:p>
            <a:endParaRPr/>
          </a:p>
        </p:txBody>
      </p:sp>
      <p:sp>
        <p:nvSpPr>
          <p:cNvPr id="91" name="Text 89"/>
          <p:cNvSpPr txBox="1"/>
          <p:nvPr/>
        </p:nvSpPr>
        <p:spPr>
          <a:xfrm>
            <a:off x="2386584" y="3493008"/>
            <a:ext cx="1783080" cy="420624"/>
          </a:xfrm>
          <a:prstGeom prst="rect">
            <a:avLst/>
          </a:prstGeom>
          <a:noFill/>
          <a:ln/>
        </p:spPr>
        <p:txBody>
          <a:bodyPr wrap="square" rtlCol="0" anchor="ctr"/>
          <a:lstStyle/>
          <a:p>
            <a:pPr marL="0" indent="0" algn="l">
              <a:buNone/>
            </a:pPr>
            <a:r>
              <a:rPr lang="en-US" sz="1000" dirty="0">
                <a:solidFill>
                  <a:srgbClr val="CCCCCC"/>
                </a:solidFill>
              </a:rPr>
              <a:t>Issued at RTO listing</a:t>
            </a:r>
            <a:endParaRPr lang="en-US" sz="900" dirty="0"/>
          </a:p>
        </p:txBody>
      </p:sp>
      <p:sp>
        <p:nvSpPr>
          <p:cNvPr id="92" name="Shape 90"/>
          <p:cNvSpPr/>
          <p:nvPr/>
        </p:nvSpPr>
        <p:spPr>
          <a:xfrm>
            <a:off x="4251960" y="3474720"/>
            <a:ext cx="1051560" cy="457200"/>
          </a:xfrm>
          <a:prstGeom prst="rect">
            <a:avLst/>
          </a:prstGeom>
          <a:solidFill>
            <a:srgbClr val="1C1C1C"/>
          </a:solidFill>
          <a:ln w="12700">
            <a:solidFill>
              <a:srgbClr val="2A2A2A"/>
            </a:solidFill>
            <a:prstDash val="solid"/>
          </a:ln>
        </p:spPr>
        <p:txBody>
          <a:bodyPr/>
          <a:lstStyle/>
          <a:p>
            <a:endParaRPr/>
          </a:p>
        </p:txBody>
      </p:sp>
      <p:sp>
        <p:nvSpPr>
          <p:cNvPr id="93" name="Text 91"/>
          <p:cNvSpPr txBox="1"/>
          <p:nvPr/>
        </p:nvSpPr>
        <p:spPr>
          <a:xfrm>
            <a:off x="4306824" y="3493008"/>
            <a:ext cx="960120" cy="420624"/>
          </a:xfrm>
          <a:prstGeom prst="rect">
            <a:avLst/>
          </a:prstGeom>
          <a:noFill/>
          <a:ln/>
        </p:spPr>
        <p:txBody>
          <a:bodyPr wrap="square" rtlCol="0" anchor="ctr"/>
          <a:lstStyle/>
          <a:p>
            <a:pPr marL="0" indent="0" algn="ctr">
              <a:buNone/>
            </a:pPr>
            <a:r>
              <a:rPr lang="en-US" sz="1100" dirty="0">
                <a:solidFill>
                  <a:srgbClr val="FFFFFF"/>
                </a:solidFill>
              </a:rPr>
              <a:t>$0</a:t>
            </a:r>
            <a:endParaRPr lang="en-US" sz="1100" dirty="0"/>
          </a:p>
          <a:p>
            <a:pPr marL="0" indent="0" algn="ctr">
              <a:buNone/>
            </a:pPr>
            <a:r>
              <a:rPr lang="en-US" sz="1100" dirty="0">
                <a:solidFill>
                  <a:srgbClr val="FFFFFF"/>
                </a:solidFill>
              </a:rPr>
              <a:t>(0.0%)</a:t>
            </a:r>
            <a:endParaRPr lang="en-US" sz="1100" dirty="0"/>
          </a:p>
        </p:txBody>
      </p:sp>
      <p:sp>
        <p:nvSpPr>
          <p:cNvPr id="94" name="Shape 92"/>
          <p:cNvSpPr/>
          <p:nvPr/>
        </p:nvSpPr>
        <p:spPr>
          <a:xfrm>
            <a:off x="5349240" y="3474720"/>
            <a:ext cx="1051560" cy="457200"/>
          </a:xfrm>
          <a:prstGeom prst="rect">
            <a:avLst/>
          </a:prstGeom>
          <a:solidFill>
            <a:srgbClr val="1C1C1C"/>
          </a:solidFill>
          <a:ln w="12700">
            <a:solidFill>
              <a:srgbClr val="2A2A2A"/>
            </a:solidFill>
            <a:prstDash val="solid"/>
          </a:ln>
        </p:spPr>
        <p:txBody>
          <a:bodyPr/>
          <a:lstStyle/>
          <a:p>
            <a:endParaRPr/>
          </a:p>
        </p:txBody>
      </p:sp>
      <p:sp>
        <p:nvSpPr>
          <p:cNvPr id="95" name="Text 93"/>
          <p:cNvSpPr txBox="1"/>
          <p:nvPr/>
        </p:nvSpPr>
        <p:spPr>
          <a:xfrm>
            <a:off x="5404104" y="3493008"/>
            <a:ext cx="960120" cy="420624"/>
          </a:xfrm>
          <a:prstGeom prst="rect">
            <a:avLst/>
          </a:prstGeom>
          <a:noFill/>
          <a:ln/>
        </p:spPr>
        <p:txBody>
          <a:bodyPr wrap="square" rtlCol="0" anchor="ctr"/>
          <a:lstStyle/>
          <a:p>
            <a:pPr marL="0" indent="0" algn="ctr">
              <a:buNone/>
            </a:pPr>
            <a:r>
              <a:rPr lang="en-US" sz="1100" dirty="0">
                <a:solidFill>
                  <a:srgbClr val="FFFFFF"/>
                </a:solidFill>
              </a:rPr>
              <a:t>$625K</a:t>
            </a:r>
            <a:endParaRPr lang="en-US" sz="1100" dirty="0"/>
          </a:p>
          <a:p>
            <a:pPr marL="0" indent="0" algn="ctr">
              <a:buNone/>
            </a:pPr>
            <a:r>
              <a:rPr lang="en-US" sz="1100" dirty="0">
                <a:solidFill>
                  <a:srgbClr val="FFFFFF"/>
                </a:solidFill>
              </a:rPr>
              <a:t>(0.25%)</a:t>
            </a:r>
            <a:endParaRPr lang="en-US" sz="1100" dirty="0"/>
          </a:p>
        </p:txBody>
      </p:sp>
      <p:sp>
        <p:nvSpPr>
          <p:cNvPr id="96" name="Shape 94"/>
          <p:cNvSpPr/>
          <p:nvPr/>
        </p:nvSpPr>
        <p:spPr>
          <a:xfrm>
            <a:off x="6446520" y="3474720"/>
            <a:ext cx="1051560" cy="457200"/>
          </a:xfrm>
          <a:prstGeom prst="rect">
            <a:avLst/>
          </a:prstGeom>
          <a:solidFill>
            <a:srgbClr val="1C1C1C"/>
          </a:solidFill>
          <a:ln w="12700">
            <a:solidFill>
              <a:srgbClr val="2A2A2A"/>
            </a:solidFill>
            <a:prstDash val="solid"/>
          </a:ln>
        </p:spPr>
        <p:txBody>
          <a:bodyPr/>
          <a:lstStyle/>
          <a:p>
            <a:endParaRPr/>
          </a:p>
        </p:txBody>
      </p:sp>
      <p:sp>
        <p:nvSpPr>
          <p:cNvPr id="97" name="Text 95"/>
          <p:cNvSpPr txBox="1"/>
          <p:nvPr/>
        </p:nvSpPr>
        <p:spPr>
          <a:xfrm>
            <a:off x="6501384" y="3493008"/>
            <a:ext cx="960120" cy="420624"/>
          </a:xfrm>
          <a:prstGeom prst="rect">
            <a:avLst/>
          </a:prstGeom>
          <a:noFill/>
          <a:ln/>
        </p:spPr>
        <p:txBody>
          <a:bodyPr wrap="square" rtlCol="0" anchor="ctr"/>
          <a:lstStyle/>
          <a:p>
            <a:pPr marL="0" indent="0" algn="ctr">
              <a:buNone/>
            </a:pPr>
            <a:r>
              <a:rPr lang="en-US" sz="1100" dirty="0">
                <a:solidFill>
                  <a:srgbClr val="FFFFFF"/>
                </a:solidFill>
              </a:rPr>
              <a:t>$1,500K</a:t>
            </a:r>
            <a:endParaRPr lang="en-US" sz="1100" dirty="0"/>
          </a:p>
          <a:p>
            <a:pPr marL="0" indent="0" algn="ctr">
              <a:buNone/>
            </a:pPr>
            <a:r>
              <a:rPr lang="en-US" sz="1100" dirty="0">
                <a:solidFill>
                  <a:srgbClr val="FFFFFF"/>
                </a:solidFill>
              </a:rPr>
              <a:t>(0.50%)</a:t>
            </a:r>
            <a:endParaRPr lang="en-US" sz="1100" dirty="0"/>
          </a:p>
        </p:txBody>
      </p:sp>
      <p:sp>
        <p:nvSpPr>
          <p:cNvPr id="98" name="Shape 96"/>
          <p:cNvSpPr/>
          <p:nvPr/>
        </p:nvSpPr>
        <p:spPr>
          <a:xfrm>
            <a:off x="7543800" y="3474720"/>
            <a:ext cx="1005840" cy="457200"/>
          </a:xfrm>
          <a:prstGeom prst="rect">
            <a:avLst/>
          </a:prstGeom>
          <a:solidFill>
            <a:srgbClr val="1C1C1C"/>
          </a:solidFill>
          <a:ln w="12700">
            <a:solidFill>
              <a:srgbClr val="2A2A2A"/>
            </a:solidFill>
            <a:prstDash val="solid"/>
          </a:ln>
        </p:spPr>
        <p:txBody>
          <a:bodyPr/>
          <a:lstStyle/>
          <a:p>
            <a:endParaRPr/>
          </a:p>
        </p:txBody>
      </p:sp>
      <p:sp>
        <p:nvSpPr>
          <p:cNvPr id="99" name="Text 97"/>
          <p:cNvSpPr txBox="1"/>
          <p:nvPr/>
        </p:nvSpPr>
        <p:spPr>
          <a:xfrm>
            <a:off x="7598664" y="3493008"/>
            <a:ext cx="914400" cy="420624"/>
          </a:xfrm>
          <a:prstGeom prst="rect">
            <a:avLst/>
          </a:prstGeom>
          <a:noFill/>
          <a:ln/>
        </p:spPr>
        <p:txBody>
          <a:bodyPr wrap="square" rtlCol="0" anchor="ctr"/>
          <a:lstStyle/>
          <a:p>
            <a:pPr marL="0" indent="0" algn="ctr">
              <a:buNone/>
            </a:pPr>
            <a:r>
              <a:rPr lang="en-US" sz="1100" dirty="0">
                <a:solidFill>
                  <a:srgbClr val="FFFFFF"/>
                </a:solidFill>
              </a:rPr>
              <a:t>Post-RTO</a:t>
            </a:r>
            <a:endParaRPr lang="en-US" sz="1100" dirty="0"/>
          </a:p>
          <a:p>
            <a:pPr marL="0" indent="0" algn="ctr">
              <a:buNone/>
            </a:pPr>
            <a:r>
              <a:rPr lang="en-US" sz="1100" dirty="0">
                <a:solidFill>
                  <a:srgbClr val="FFFFFF"/>
                </a:solidFill>
              </a:rPr>
              <a:t>~FY29</a:t>
            </a:r>
            <a:endParaRPr lang="en-US" sz="1100" dirty="0"/>
          </a:p>
        </p:txBody>
      </p:sp>
      <p:sp>
        <p:nvSpPr>
          <p:cNvPr id="100" name="Shape 98"/>
          <p:cNvSpPr/>
          <p:nvPr/>
        </p:nvSpPr>
        <p:spPr>
          <a:xfrm>
            <a:off x="274320" y="3931920"/>
            <a:ext cx="2011680" cy="384048"/>
          </a:xfrm>
          <a:prstGeom prst="rect">
            <a:avLst/>
          </a:prstGeom>
          <a:solidFill>
            <a:srgbClr val="0A2800"/>
          </a:solidFill>
          <a:ln w="12700">
            <a:solidFill>
              <a:srgbClr val="2A2A2A"/>
            </a:solidFill>
            <a:prstDash val="solid"/>
          </a:ln>
        </p:spPr>
        <p:txBody>
          <a:bodyPr/>
          <a:lstStyle/>
          <a:p>
            <a:endParaRPr/>
          </a:p>
        </p:txBody>
      </p:sp>
      <p:sp>
        <p:nvSpPr>
          <p:cNvPr id="101" name="Text 99"/>
          <p:cNvSpPr txBox="1"/>
          <p:nvPr/>
        </p:nvSpPr>
        <p:spPr>
          <a:xfrm>
            <a:off x="329184" y="3950208"/>
            <a:ext cx="1920240" cy="347472"/>
          </a:xfrm>
          <a:prstGeom prst="rect">
            <a:avLst/>
          </a:prstGeom>
          <a:noFill/>
          <a:ln/>
        </p:spPr>
        <p:txBody>
          <a:bodyPr wrap="square" rtlCol="0" anchor="ctr"/>
          <a:lstStyle/>
          <a:p>
            <a:pPr marL="0" indent="0" algn="l">
              <a:buNone/>
            </a:pPr>
            <a:r>
              <a:rPr lang="en-US" sz="1000" b="1" dirty="0">
                <a:solidFill>
                  <a:srgbClr val="CCCCCC"/>
                </a:solidFill>
              </a:rPr>
              <a:t>TOTAL EARN-OUTS (③ − ②)</a:t>
            </a:r>
            <a:endParaRPr lang="en-US" sz="900" dirty="0"/>
          </a:p>
        </p:txBody>
      </p:sp>
      <p:sp>
        <p:nvSpPr>
          <p:cNvPr id="102" name="Shape 100"/>
          <p:cNvSpPr/>
          <p:nvPr/>
        </p:nvSpPr>
        <p:spPr>
          <a:xfrm>
            <a:off x="2331720" y="3931920"/>
            <a:ext cx="1874520" cy="384048"/>
          </a:xfrm>
          <a:prstGeom prst="rect">
            <a:avLst/>
          </a:prstGeom>
          <a:solidFill>
            <a:srgbClr val="0A2800"/>
          </a:solidFill>
          <a:ln w="12700">
            <a:solidFill>
              <a:srgbClr val="2A2A2A"/>
            </a:solidFill>
            <a:prstDash val="solid"/>
          </a:ln>
        </p:spPr>
        <p:txBody>
          <a:bodyPr/>
          <a:lstStyle/>
          <a:p>
            <a:endParaRPr/>
          </a:p>
        </p:txBody>
      </p:sp>
      <p:sp>
        <p:nvSpPr>
          <p:cNvPr id="103" name="Text 101"/>
          <p:cNvSpPr txBox="1"/>
          <p:nvPr/>
        </p:nvSpPr>
        <p:spPr>
          <a:xfrm>
            <a:off x="2386584" y="3950208"/>
            <a:ext cx="1783080" cy="347472"/>
          </a:xfrm>
          <a:prstGeom prst="rect">
            <a:avLst/>
          </a:prstGeom>
          <a:noFill/>
          <a:ln/>
        </p:spPr>
        <p:txBody>
          <a:bodyPr wrap="square" rtlCol="0" anchor="ctr"/>
          <a:lstStyle/>
          <a:p>
            <a:pPr marL="0" indent="0" algn="l">
              <a:buNone/>
            </a:pPr>
            <a:endParaRPr lang="en-US" sz="900" dirty="0"/>
          </a:p>
        </p:txBody>
      </p:sp>
      <p:sp>
        <p:nvSpPr>
          <p:cNvPr id="104" name="Shape 102"/>
          <p:cNvSpPr/>
          <p:nvPr/>
        </p:nvSpPr>
        <p:spPr>
          <a:xfrm>
            <a:off x="4251960" y="3931920"/>
            <a:ext cx="1051560" cy="384048"/>
          </a:xfrm>
          <a:prstGeom prst="rect">
            <a:avLst/>
          </a:prstGeom>
          <a:solidFill>
            <a:srgbClr val="0A2800"/>
          </a:solidFill>
          <a:ln w="12700">
            <a:solidFill>
              <a:srgbClr val="2A2A2A"/>
            </a:solidFill>
            <a:prstDash val="solid"/>
          </a:ln>
        </p:spPr>
        <p:txBody>
          <a:bodyPr/>
          <a:lstStyle/>
          <a:p>
            <a:endParaRPr/>
          </a:p>
        </p:txBody>
      </p:sp>
      <p:sp>
        <p:nvSpPr>
          <p:cNvPr id="105" name="Text 103"/>
          <p:cNvSpPr txBox="1"/>
          <p:nvPr/>
        </p:nvSpPr>
        <p:spPr>
          <a:xfrm>
            <a:off x="4306824" y="3950208"/>
            <a:ext cx="960120" cy="347472"/>
          </a:xfrm>
          <a:prstGeom prst="rect">
            <a:avLst/>
          </a:prstGeom>
          <a:noFill/>
          <a:ln/>
        </p:spPr>
        <p:txBody>
          <a:bodyPr wrap="square" rtlCol="0" anchor="ctr"/>
          <a:lstStyle/>
          <a:p>
            <a:pPr marL="0" indent="0" algn="ctr">
              <a:buNone/>
            </a:pPr>
            <a:r>
              <a:rPr lang="en-US" sz="1100" b="1" dirty="0">
                <a:solidFill>
                  <a:srgbClr val="2ECC71"/>
                </a:solidFill>
              </a:rPr>
              <a:t>$950K</a:t>
            </a:r>
            <a:endParaRPr lang="en-US" sz="1100" dirty="0"/>
          </a:p>
        </p:txBody>
      </p:sp>
      <p:sp>
        <p:nvSpPr>
          <p:cNvPr id="106" name="Shape 104"/>
          <p:cNvSpPr/>
          <p:nvPr/>
        </p:nvSpPr>
        <p:spPr>
          <a:xfrm>
            <a:off x="5349240" y="3931920"/>
            <a:ext cx="1051560" cy="384048"/>
          </a:xfrm>
          <a:prstGeom prst="rect">
            <a:avLst/>
          </a:prstGeom>
          <a:solidFill>
            <a:srgbClr val="0A2800"/>
          </a:solidFill>
          <a:ln w="12700">
            <a:solidFill>
              <a:srgbClr val="2A2A2A"/>
            </a:solidFill>
            <a:prstDash val="solid"/>
          </a:ln>
        </p:spPr>
        <p:txBody>
          <a:bodyPr/>
          <a:lstStyle/>
          <a:p>
            <a:endParaRPr/>
          </a:p>
        </p:txBody>
      </p:sp>
      <p:sp>
        <p:nvSpPr>
          <p:cNvPr id="107" name="Text 105"/>
          <p:cNvSpPr txBox="1"/>
          <p:nvPr/>
        </p:nvSpPr>
        <p:spPr>
          <a:xfrm>
            <a:off x="5404104" y="3950208"/>
            <a:ext cx="960120" cy="347472"/>
          </a:xfrm>
          <a:prstGeom prst="rect">
            <a:avLst/>
          </a:prstGeom>
          <a:noFill/>
          <a:ln/>
        </p:spPr>
        <p:txBody>
          <a:bodyPr wrap="square" rtlCol="0" anchor="ctr"/>
          <a:lstStyle/>
          <a:p>
            <a:pPr marL="0" indent="0" algn="ctr">
              <a:buNone/>
            </a:pPr>
            <a:r>
              <a:rPr lang="en-US" sz="1100" b="1" dirty="0">
                <a:solidFill>
                  <a:srgbClr val="2ECC71"/>
                </a:solidFill>
              </a:rPr>
              <a:t>$2,525K</a:t>
            </a:r>
            <a:endParaRPr lang="en-US" sz="1100" dirty="0"/>
          </a:p>
        </p:txBody>
      </p:sp>
      <p:sp>
        <p:nvSpPr>
          <p:cNvPr id="108" name="Shape 106"/>
          <p:cNvSpPr/>
          <p:nvPr/>
        </p:nvSpPr>
        <p:spPr>
          <a:xfrm>
            <a:off x="6446520" y="3931920"/>
            <a:ext cx="1051560" cy="384048"/>
          </a:xfrm>
          <a:prstGeom prst="rect">
            <a:avLst/>
          </a:prstGeom>
          <a:solidFill>
            <a:srgbClr val="0A2800"/>
          </a:solidFill>
          <a:ln w="12700">
            <a:solidFill>
              <a:srgbClr val="2A2A2A"/>
            </a:solidFill>
            <a:prstDash val="solid"/>
          </a:ln>
        </p:spPr>
        <p:txBody>
          <a:bodyPr/>
          <a:lstStyle/>
          <a:p>
            <a:endParaRPr/>
          </a:p>
        </p:txBody>
      </p:sp>
      <p:sp>
        <p:nvSpPr>
          <p:cNvPr id="109" name="Text 107"/>
          <p:cNvSpPr txBox="1"/>
          <p:nvPr/>
        </p:nvSpPr>
        <p:spPr>
          <a:xfrm>
            <a:off x="6501384" y="3950208"/>
            <a:ext cx="960120" cy="347472"/>
          </a:xfrm>
          <a:prstGeom prst="rect">
            <a:avLst/>
          </a:prstGeom>
          <a:noFill/>
          <a:ln/>
        </p:spPr>
        <p:txBody>
          <a:bodyPr wrap="square" rtlCol="0" anchor="ctr"/>
          <a:lstStyle/>
          <a:p>
            <a:pPr marL="0" indent="0" algn="ctr">
              <a:buNone/>
            </a:pPr>
            <a:r>
              <a:rPr lang="en-US" sz="1100" b="1" dirty="0">
                <a:solidFill>
                  <a:srgbClr val="2ECC71"/>
                </a:solidFill>
              </a:rPr>
              <a:t>$4,100K</a:t>
            </a:r>
            <a:endParaRPr lang="en-US" sz="1100" dirty="0"/>
          </a:p>
        </p:txBody>
      </p:sp>
      <p:sp>
        <p:nvSpPr>
          <p:cNvPr id="110" name="Shape 108"/>
          <p:cNvSpPr/>
          <p:nvPr/>
        </p:nvSpPr>
        <p:spPr>
          <a:xfrm>
            <a:off x="7543800" y="3931920"/>
            <a:ext cx="1005840" cy="384048"/>
          </a:xfrm>
          <a:prstGeom prst="rect">
            <a:avLst/>
          </a:prstGeom>
          <a:solidFill>
            <a:srgbClr val="0A2800"/>
          </a:solidFill>
          <a:ln w="12700">
            <a:solidFill>
              <a:srgbClr val="2A2A2A"/>
            </a:solidFill>
            <a:prstDash val="solid"/>
          </a:ln>
        </p:spPr>
        <p:txBody>
          <a:bodyPr/>
          <a:lstStyle/>
          <a:p>
            <a:endParaRPr/>
          </a:p>
        </p:txBody>
      </p:sp>
      <p:sp>
        <p:nvSpPr>
          <p:cNvPr id="111" name="Text 109"/>
          <p:cNvSpPr txBox="1"/>
          <p:nvPr/>
        </p:nvSpPr>
        <p:spPr>
          <a:xfrm>
            <a:off x="7598664" y="3950208"/>
            <a:ext cx="914400" cy="347472"/>
          </a:xfrm>
          <a:prstGeom prst="rect">
            <a:avLst/>
          </a:prstGeom>
          <a:noFill/>
          <a:ln/>
        </p:spPr>
        <p:txBody>
          <a:bodyPr wrap="square" rtlCol="0" anchor="ctr"/>
          <a:lstStyle/>
          <a:p>
            <a:pPr marL="0" indent="0" algn="ctr">
              <a:buNone/>
            </a:pPr>
            <a:r>
              <a:rPr lang="en-US" sz="1100" b="1" dirty="0">
                <a:solidFill>
                  <a:srgbClr val="2ECC71"/>
                </a:solidFill>
              </a:rPr>
              <a:t>5-yr total</a:t>
            </a:r>
            <a:endParaRPr lang="en-US" sz="1100" dirty="0"/>
          </a:p>
        </p:txBody>
      </p:sp>
      <p:pic>
        <p:nvPicPr>
          <p:cNvPr id="112" name="Image 0"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113" name="Text 110"/>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888888"/>
                </a:solidFill>
              </a:rPr>
              <a:t>DRAFT — NEGOTIATING TERMS</a:t>
            </a:r>
            <a:endParaRPr lang="en-US" sz="700" dirty="0"/>
          </a:p>
        </p:txBody>
      </p:sp>
      <p:sp>
        <p:nvSpPr>
          <p:cNvPr id="114" name="Text 111"/>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888888"/>
                </a:solidFill>
              </a:rPr>
              <a:t>CONFIDENTIAL</a:t>
            </a:r>
            <a:endParaRPr lang="en-US" sz="700" dirty="0"/>
          </a:p>
        </p:txBody>
      </p:sp>
      <p:sp>
        <p:nvSpPr>
          <p:cNvPr id="115" name="TextBox 114"/>
          <p:cNvSpPr txBox="1"/>
          <p:nvPr/>
        </p:nvSpPr>
        <p:spPr>
          <a:xfrm>
            <a:off x="320040" y="4315968"/>
            <a:ext cx="8503920" cy="411480"/>
          </a:xfrm>
          <a:prstGeom prst="rect">
            <a:avLst/>
          </a:prstGeom>
          <a:noFill/>
        </p:spPr>
        <p:txBody>
          <a:bodyPr wrap="sq" anchor="t">
            <a:spAutoFit/>
          </a:bodyPr>
          <a:lstStyle/>
          <a:p>
            <a:r>
              <a:rPr lang="en-US" sz="1000" dirty="0">
                <a:solidFill>
                  <a:srgbClr val="CCCCCC"/>
                </a:solidFill>
                <a:latin typeface="Calibri"/>
              </a:rPr>
              <a:t>How it pays SSLC holders: (1) milestone cash M1–M5 at each trigger; (2) 5% of IM tank revenue every year FY27–FY31 (a $5M year pays $250K; cap $300K/yr); (3) Exos stock at the RTO listing. All on top of cash at close.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111111"/>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Total Offer Value</a:t>
            </a:r>
            <a:endParaRPr lang="en-US" sz="2200" dirty="0"/>
          </a:p>
        </p:txBody>
      </p:sp>
      <p:sp>
        <p:nvSpPr>
          <p:cNvPr id="3" name="Shape 1"/>
          <p:cNvSpPr/>
          <p:nvPr/>
        </p:nvSpPr>
        <p:spPr>
          <a:xfrm>
            <a:off x="457200" y="749808"/>
            <a:ext cx="1371600" cy="36576"/>
          </a:xfrm>
          <a:prstGeom prst="rect">
            <a:avLst/>
          </a:prstGeom>
          <a:solidFill>
            <a:srgbClr val="F26A21"/>
          </a:solidFill>
          <a:ln/>
        </p:spPr>
        <p:txBody>
          <a:bodyPr/>
          <a:lstStyle/>
          <a:p>
            <a:endParaRPr/>
          </a:p>
        </p:txBody>
      </p:sp>
      <p:sp>
        <p:nvSpPr>
          <p:cNvPr id="4" name="Text 2"/>
          <p:cNvSpPr txBox="1"/>
          <p:nvPr/>
        </p:nvSpPr>
        <p:spPr>
          <a:xfrm>
            <a:off x="457200" y="914400"/>
            <a:ext cx="4389120" cy="320040"/>
          </a:xfrm>
          <a:prstGeom prst="rect">
            <a:avLst/>
          </a:prstGeom>
          <a:noFill/>
          <a:ln/>
        </p:spPr>
        <p:txBody>
          <a:bodyPr wrap="square" rtlCol="0" anchor="ctr"/>
          <a:lstStyle/>
          <a:p>
            <a:pPr marL="0" indent="0">
              <a:buNone/>
            </a:pPr>
            <a:r>
              <a:rPr lang="en-US" sz="1300" b="1" dirty="0">
                <a:solidFill>
                  <a:srgbClr val="2ECC71"/>
                </a:solidFill>
              </a:rPr>
              <a:t>③  5-Year Total (earn-outs realized)</a:t>
            </a:r>
            <a:endParaRPr lang="en-US" sz="1300" dirty="0"/>
          </a:p>
        </p:txBody>
      </p:sp>
      <p:sp>
        <p:nvSpPr>
          <p:cNvPr id="5" name="Shape 3"/>
          <p:cNvSpPr/>
          <p:nvPr/>
        </p:nvSpPr>
        <p:spPr>
          <a:xfrm>
            <a:off x="457200" y="1261872"/>
            <a:ext cx="1325880" cy="1234440"/>
          </a:xfrm>
          <a:prstGeom prst="rect">
            <a:avLst/>
          </a:prstGeom>
          <a:solidFill>
            <a:srgbClr val="0A2800"/>
          </a:solidFill>
          <a:ln w="12700">
            <a:solidFill>
              <a:srgbClr val="2ECC71"/>
            </a:solidFill>
            <a:prstDash val="solid"/>
          </a:ln>
        </p:spPr>
        <p:txBody>
          <a:bodyPr/>
          <a:lstStyle/>
          <a:p>
            <a:endParaRPr/>
          </a:p>
        </p:txBody>
      </p:sp>
      <p:sp>
        <p:nvSpPr>
          <p:cNvPr id="6" name="Text 4"/>
          <p:cNvSpPr txBox="1"/>
          <p:nvPr/>
        </p:nvSpPr>
        <p:spPr>
          <a:xfrm>
            <a:off x="457200" y="1298448"/>
            <a:ext cx="1325880" cy="292608"/>
          </a:xfrm>
          <a:prstGeom prst="rect">
            <a:avLst/>
          </a:prstGeom>
          <a:noFill/>
          <a:ln/>
        </p:spPr>
        <p:txBody>
          <a:bodyPr wrap="square" rtlCol="0" anchor="ctr"/>
          <a:lstStyle/>
          <a:p>
            <a:pPr marL="0" indent="0" algn="ctr">
              <a:buNone/>
            </a:pPr>
            <a:r>
              <a:rPr lang="en-US" sz="1200" b="1" dirty="0">
                <a:solidFill>
                  <a:srgbClr val="2ECC71"/>
                </a:solidFill>
              </a:rPr>
              <a:t>Low</a:t>
            </a:r>
            <a:endParaRPr lang="en-US" sz="1200" dirty="0"/>
          </a:p>
        </p:txBody>
      </p:sp>
      <p:sp>
        <p:nvSpPr>
          <p:cNvPr id="7" name="Text 5"/>
          <p:cNvSpPr txBox="1"/>
          <p:nvPr/>
        </p:nvSpPr>
        <p:spPr>
          <a:xfrm>
            <a:off x="457200" y="1581912"/>
            <a:ext cx="1325880" cy="594360"/>
          </a:xfrm>
          <a:prstGeom prst="rect">
            <a:avLst/>
          </a:prstGeom>
          <a:noFill/>
          <a:ln/>
        </p:spPr>
        <p:txBody>
          <a:bodyPr wrap="square" rtlCol="0" anchor="ctr"/>
          <a:lstStyle/>
          <a:p>
            <a:pPr marL="0" indent="0" algn="ctr">
              <a:buNone/>
            </a:pPr>
            <a:r>
              <a:rPr lang="en-US" sz="2600" b="1" dirty="0">
                <a:solidFill>
                  <a:srgbClr val="2ECC71"/>
                </a:solidFill>
              </a:rPr>
              <a:t>$5.3M</a:t>
            </a:r>
            <a:endParaRPr lang="en-US" sz="2600" dirty="0"/>
          </a:p>
        </p:txBody>
      </p:sp>
      <p:sp>
        <p:nvSpPr>
          <p:cNvPr id="8" name="Shape 6"/>
          <p:cNvSpPr/>
          <p:nvPr/>
        </p:nvSpPr>
        <p:spPr>
          <a:xfrm>
            <a:off x="548640" y="2176272"/>
            <a:ext cx="1143000" cy="256032"/>
          </a:xfrm>
          <a:prstGeom prst="rect">
            <a:avLst/>
          </a:prstGeom>
          <a:solidFill>
            <a:srgbClr val="143000"/>
          </a:solidFill>
          <a:ln/>
        </p:spPr>
        <p:txBody>
          <a:bodyPr/>
          <a:lstStyle/>
          <a:p>
            <a:endParaRPr/>
          </a:p>
        </p:txBody>
      </p:sp>
      <p:sp>
        <p:nvSpPr>
          <p:cNvPr id="9" name="Text 7"/>
          <p:cNvSpPr txBox="1"/>
          <p:nvPr/>
        </p:nvSpPr>
        <p:spPr>
          <a:xfrm>
            <a:off x="457200" y="2194560"/>
            <a:ext cx="1325880" cy="219456"/>
          </a:xfrm>
          <a:prstGeom prst="rect">
            <a:avLst/>
          </a:prstGeom>
          <a:noFill/>
          <a:ln/>
        </p:spPr>
        <p:txBody>
          <a:bodyPr wrap="square" rtlCol="0" anchor="ctr"/>
          <a:lstStyle/>
          <a:p>
            <a:pPr marL="0" indent="0" algn="ctr">
              <a:buNone/>
            </a:pPr>
            <a:r>
              <a:rPr lang="en-US" sz="1000" dirty="0">
                <a:solidFill>
                  <a:srgbClr val="888888"/>
                </a:solidFill>
              </a:rPr>
              <a:t>5-yr realized</a:t>
            </a:r>
            <a:endParaRPr lang="en-US" sz="900" dirty="0"/>
          </a:p>
        </p:txBody>
      </p:sp>
      <p:sp>
        <p:nvSpPr>
          <p:cNvPr id="10" name="Shape 8"/>
          <p:cNvSpPr/>
          <p:nvPr/>
        </p:nvSpPr>
        <p:spPr>
          <a:xfrm>
            <a:off x="1874520" y="1261872"/>
            <a:ext cx="1325880" cy="1234440"/>
          </a:xfrm>
          <a:prstGeom prst="rect">
            <a:avLst/>
          </a:prstGeom>
          <a:solidFill>
            <a:srgbClr val="0A2800"/>
          </a:solidFill>
          <a:ln w="12700">
            <a:solidFill>
              <a:srgbClr val="2ECC71"/>
            </a:solidFill>
            <a:prstDash val="solid"/>
          </a:ln>
        </p:spPr>
        <p:txBody>
          <a:bodyPr/>
          <a:lstStyle/>
          <a:p>
            <a:endParaRPr/>
          </a:p>
        </p:txBody>
      </p:sp>
      <p:sp>
        <p:nvSpPr>
          <p:cNvPr id="11" name="Text 9"/>
          <p:cNvSpPr txBox="1"/>
          <p:nvPr/>
        </p:nvSpPr>
        <p:spPr>
          <a:xfrm>
            <a:off x="1874520" y="1298448"/>
            <a:ext cx="1325880" cy="292608"/>
          </a:xfrm>
          <a:prstGeom prst="rect">
            <a:avLst/>
          </a:prstGeom>
          <a:noFill/>
          <a:ln/>
        </p:spPr>
        <p:txBody>
          <a:bodyPr wrap="square" rtlCol="0" anchor="ctr"/>
          <a:lstStyle/>
          <a:p>
            <a:pPr marL="0" indent="0" algn="ctr">
              <a:buNone/>
            </a:pPr>
            <a:r>
              <a:rPr lang="en-US" sz="1200" b="1" dirty="0">
                <a:solidFill>
                  <a:srgbClr val="2ECC71"/>
                </a:solidFill>
              </a:rPr>
              <a:t>Base</a:t>
            </a:r>
            <a:endParaRPr lang="en-US" sz="1200" dirty="0"/>
          </a:p>
        </p:txBody>
      </p:sp>
      <p:sp>
        <p:nvSpPr>
          <p:cNvPr id="12" name="Text 10"/>
          <p:cNvSpPr txBox="1"/>
          <p:nvPr/>
        </p:nvSpPr>
        <p:spPr>
          <a:xfrm>
            <a:off x="1874520" y="1581912"/>
            <a:ext cx="1325880" cy="594360"/>
          </a:xfrm>
          <a:prstGeom prst="rect">
            <a:avLst/>
          </a:prstGeom>
          <a:noFill/>
          <a:ln/>
        </p:spPr>
        <p:txBody>
          <a:bodyPr wrap="square" rtlCol="0" anchor="ctr"/>
          <a:lstStyle/>
          <a:p>
            <a:pPr marL="0" indent="0" algn="ctr">
              <a:buNone/>
            </a:pPr>
            <a:r>
              <a:rPr lang="en-US" sz="2600" b="1" dirty="0">
                <a:solidFill>
                  <a:srgbClr val="2ECC71"/>
                </a:solidFill>
              </a:rPr>
              <a:t>$6.9M</a:t>
            </a:r>
            <a:endParaRPr lang="en-US" sz="2600" dirty="0"/>
          </a:p>
        </p:txBody>
      </p:sp>
      <p:sp>
        <p:nvSpPr>
          <p:cNvPr id="13" name="Shape 11"/>
          <p:cNvSpPr/>
          <p:nvPr/>
        </p:nvSpPr>
        <p:spPr>
          <a:xfrm>
            <a:off x="1965960" y="2176272"/>
            <a:ext cx="1143000" cy="256032"/>
          </a:xfrm>
          <a:prstGeom prst="rect">
            <a:avLst/>
          </a:prstGeom>
          <a:solidFill>
            <a:srgbClr val="143000"/>
          </a:solidFill>
          <a:ln/>
        </p:spPr>
        <p:txBody>
          <a:bodyPr/>
          <a:lstStyle/>
          <a:p>
            <a:endParaRPr/>
          </a:p>
        </p:txBody>
      </p:sp>
      <p:sp>
        <p:nvSpPr>
          <p:cNvPr id="14" name="Text 12"/>
          <p:cNvSpPr txBox="1"/>
          <p:nvPr/>
        </p:nvSpPr>
        <p:spPr>
          <a:xfrm>
            <a:off x="1874520" y="2194560"/>
            <a:ext cx="1325880" cy="219456"/>
          </a:xfrm>
          <a:prstGeom prst="rect">
            <a:avLst/>
          </a:prstGeom>
          <a:noFill/>
          <a:ln/>
        </p:spPr>
        <p:txBody>
          <a:bodyPr wrap="square" rtlCol="0" anchor="ctr"/>
          <a:lstStyle/>
          <a:p>
            <a:pPr marL="0" indent="0" algn="ctr">
              <a:buNone/>
            </a:pPr>
            <a:r>
              <a:rPr lang="en-US" sz="1000" dirty="0">
                <a:solidFill>
                  <a:srgbClr val="888888"/>
                </a:solidFill>
              </a:rPr>
              <a:t>5-yr realized</a:t>
            </a:r>
            <a:endParaRPr lang="en-US" sz="900" dirty="0"/>
          </a:p>
        </p:txBody>
      </p:sp>
      <p:sp>
        <p:nvSpPr>
          <p:cNvPr id="15" name="Shape 13"/>
          <p:cNvSpPr/>
          <p:nvPr/>
        </p:nvSpPr>
        <p:spPr>
          <a:xfrm>
            <a:off x="3291840" y="1261872"/>
            <a:ext cx="1325880" cy="1234440"/>
          </a:xfrm>
          <a:prstGeom prst="rect">
            <a:avLst/>
          </a:prstGeom>
          <a:solidFill>
            <a:srgbClr val="0A2800"/>
          </a:solidFill>
          <a:ln w="12700">
            <a:solidFill>
              <a:srgbClr val="2ECC71"/>
            </a:solidFill>
            <a:prstDash val="solid"/>
          </a:ln>
        </p:spPr>
        <p:txBody>
          <a:bodyPr/>
          <a:lstStyle/>
          <a:p>
            <a:endParaRPr/>
          </a:p>
        </p:txBody>
      </p:sp>
      <p:sp>
        <p:nvSpPr>
          <p:cNvPr id="16" name="Text 14"/>
          <p:cNvSpPr txBox="1"/>
          <p:nvPr/>
        </p:nvSpPr>
        <p:spPr>
          <a:xfrm>
            <a:off x="3291840" y="1298448"/>
            <a:ext cx="1325880" cy="292608"/>
          </a:xfrm>
          <a:prstGeom prst="rect">
            <a:avLst/>
          </a:prstGeom>
          <a:noFill/>
          <a:ln/>
        </p:spPr>
        <p:txBody>
          <a:bodyPr wrap="square" rtlCol="0" anchor="ctr"/>
          <a:lstStyle/>
          <a:p>
            <a:pPr marL="0" indent="0" algn="ctr">
              <a:buNone/>
            </a:pPr>
            <a:r>
              <a:rPr lang="en-US" sz="1200" b="1" dirty="0">
                <a:solidFill>
                  <a:srgbClr val="2ECC71"/>
                </a:solidFill>
              </a:rPr>
              <a:t>High</a:t>
            </a:r>
            <a:endParaRPr lang="en-US" sz="1200" dirty="0"/>
          </a:p>
        </p:txBody>
      </p:sp>
      <p:sp>
        <p:nvSpPr>
          <p:cNvPr id="17" name="Text 15"/>
          <p:cNvSpPr txBox="1"/>
          <p:nvPr/>
        </p:nvSpPr>
        <p:spPr>
          <a:xfrm>
            <a:off x="3291840" y="1581912"/>
            <a:ext cx="1325880" cy="594360"/>
          </a:xfrm>
          <a:prstGeom prst="rect">
            <a:avLst/>
          </a:prstGeom>
          <a:noFill/>
          <a:ln/>
        </p:spPr>
        <p:txBody>
          <a:bodyPr wrap="square" rtlCol="0" anchor="ctr"/>
          <a:lstStyle/>
          <a:p>
            <a:pPr marL="0" indent="0" algn="ctr">
              <a:buNone/>
            </a:pPr>
            <a:r>
              <a:rPr lang="en-US" sz="2600" b="1" dirty="0">
                <a:solidFill>
                  <a:srgbClr val="2ECC71"/>
                </a:solidFill>
              </a:rPr>
              <a:t>$8.5M</a:t>
            </a:r>
            <a:endParaRPr lang="en-US" sz="2600" dirty="0"/>
          </a:p>
        </p:txBody>
      </p:sp>
      <p:sp>
        <p:nvSpPr>
          <p:cNvPr id="18" name="Shape 16"/>
          <p:cNvSpPr/>
          <p:nvPr/>
        </p:nvSpPr>
        <p:spPr>
          <a:xfrm>
            <a:off x="3383280" y="2176272"/>
            <a:ext cx="1143000" cy="256032"/>
          </a:xfrm>
          <a:prstGeom prst="rect">
            <a:avLst/>
          </a:prstGeom>
          <a:solidFill>
            <a:srgbClr val="143000"/>
          </a:solidFill>
          <a:ln/>
        </p:spPr>
        <p:txBody>
          <a:bodyPr/>
          <a:lstStyle/>
          <a:p>
            <a:endParaRPr/>
          </a:p>
        </p:txBody>
      </p:sp>
      <p:sp>
        <p:nvSpPr>
          <p:cNvPr id="19" name="Text 17"/>
          <p:cNvSpPr txBox="1"/>
          <p:nvPr/>
        </p:nvSpPr>
        <p:spPr>
          <a:xfrm>
            <a:off x="3291840" y="2194560"/>
            <a:ext cx="1325880" cy="219456"/>
          </a:xfrm>
          <a:prstGeom prst="rect">
            <a:avLst/>
          </a:prstGeom>
          <a:noFill/>
          <a:ln/>
        </p:spPr>
        <p:txBody>
          <a:bodyPr wrap="square" rtlCol="0" anchor="ctr"/>
          <a:lstStyle/>
          <a:p>
            <a:pPr marL="0" indent="0" algn="ctr">
              <a:buNone/>
            </a:pPr>
            <a:r>
              <a:rPr lang="en-US" sz="1000" dirty="0">
                <a:solidFill>
                  <a:srgbClr val="888888"/>
                </a:solidFill>
              </a:rPr>
              <a:t>5-yr realized</a:t>
            </a:r>
            <a:endParaRPr lang="en-US" sz="900" dirty="0"/>
          </a:p>
        </p:txBody>
      </p:sp>
      <p:sp>
        <p:nvSpPr>
          <p:cNvPr id="20" name="Shape 18"/>
          <p:cNvSpPr/>
          <p:nvPr/>
        </p:nvSpPr>
        <p:spPr>
          <a:xfrm>
            <a:off x="4709160" y="914400"/>
            <a:ext cx="0" cy="3291840"/>
          </a:xfrm>
          <a:prstGeom prst="line">
            <a:avLst/>
          </a:prstGeom>
          <a:noFill/>
          <a:ln w="12700">
            <a:solidFill>
              <a:srgbClr val="333333"/>
            </a:solidFill>
            <a:prstDash val="solid"/>
          </a:ln>
        </p:spPr>
        <p:txBody>
          <a:bodyPr/>
          <a:lstStyle/>
          <a:p>
            <a:endParaRPr/>
          </a:p>
        </p:txBody>
      </p:sp>
      <p:sp>
        <p:nvSpPr>
          <p:cNvPr id="21" name="Text 19"/>
          <p:cNvSpPr txBox="1"/>
          <p:nvPr/>
        </p:nvSpPr>
        <p:spPr>
          <a:xfrm>
            <a:off x="4892040" y="914400"/>
            <a:ext cx="4023360" cy="320040"/>
          </a:xfrm>
          <a:prstGeom prst="rect">
            <a:avLst/>
          </a:prstGeom>
          <a:noFill/>
          <a:ln/>
        </p:spPr>
        <p:txBody>
          <a:bodyPr wrap="square" rtlCol="0" anchor="ctr"/>
          <a:lstStyle/>
          <a:p>
            <a:pPr marL="0" indent="0">
              <a:buNone/>
            </a:pPr>
            <a:r>
              <a:rPr lang="en-US" sz="1300" b="1" dirty="0">
                <a:solidFill>
                  <a:srgbClr val="F26A21"/>
                </a:solidFill>
              </a:rPr>
              <a:t>④  If Exos Stock Held to 2031  (projection)</a:t>
            </a:r>
            <a:endParaRPr lang="en-US" sz="1300" dirty="0"/>
          </a:p>
        </p:txBody>
      </p:sp>
      <p:sp>
        <p:nvSpPr>
          <p:cNvPr id="22" name="Shape 20"/>
          <p:cNvSpPr/>
          <p:nvPr/>
        </p:nvSpPr>
        <p:spPr>
          <a:xfrm>
            <a:off x="4892040" y="1261872"/>
            <a:ext cx="1316736" cy="1234440"/>
          </a:xfrm>
          <a:prstGeom prst="rect">
            <a:avLst/>
          </a:prstGeom>
          <a:solidFill>
            <a:srgbClr val="1A0A00"/>
          </a:solidFill>
          <a:ln w="12700">
            <a:solidFill>
              <a:srgbClr val="F26A21"/>
            </a:solidFill>
            <a:prstDash val="solid"/>
          </a:ln>
        </p:spPr>
        <p:txBody>
          <a:bodyPr/>
          <a:lstStyle/>
          <a:p>
            <a:endParaRPr/>
          </a:p>
        </p:txBody>
      </p:sp>
      <p:sp>
        <p:nvSpPr>
          <p:cNvPr id="23" name="Text 21"/>
          <p:cNvSpPr txBox="1"/>
          <p:nvPr/>
        </p:nvSpPr>
        <p:spPr>
          <a:xfrm>
            <a:off x="4892040" y="1298448"/>
            <a:ext cx="1316736" cy="292608"/>
          </a:xfrm>
          <a:prstGeom prst="rect">
            <a:avLst/>
          </a:prstGeom>
          <a:noFill/>
          <a:ln/>
        </p:spPr>
        <p:txBody>
          <a:bodyPr wrap="square" rtlCol="0" anchor="ctr"/>
          <a:lstStyle/>
          <a:p>
            <a:pPr marL="0" indent="0" algn="ctr">
              <a:buNone/>
            </a:pPr>
            <a:r>
              <a:rPr lang="en-US" sz="1200" b="1" dirty="0">
                <a:solidFill>
                  <a:srgbClr val="F26A21"/>
                </a:solidFill>
              </a:rPr>
              <a:t>Low</a:t>
            </a:r>
            <a:endParaRPr lang="en-US" sz="1200" dirty="0"/>
          </a:p>
        </p:txBody>
      </p:sp>
      <p:sp>
        <p:nvSpPr>
          <p:cNvPr id="24" name="Text 22"/>
          <p:cNvSpPr txBox="1"/>
          <p:nvPr/>
        </p:nvSpPr>
        <p:spPr>
          <a:xfrm>
            <a:off x="4892040" y="1581912"/>
            <a:ext cx="1316736" cy="594360"/>
          </a:xfrm>
          <a:prstGeom prst="rect">
            <a:avLst/>
          </a:prstGeom>
          <a:noFill/>
          <a:ln/>
        </p:spPr>
        <p:txBody>
          <a:bodyPr wrap="square" rtlCol="0" anchor="ctr"/>
          <a:lstStyle/>
          <a:p>
            <a:pPr marL="0" indent="0" algn="ctr">
              <a:buNone/>
            </a:pPr>
            <a:r>
              <a:rPr lang="en-US" sz="2200" b="1" dirty="0">
                <a:solidFill>
                  <a:srgbClr val="F26A21"/>
                </a:solidFill>
              </a:rPr>
              <a:t>$11.0M</a:t>
            </a:r>
            <a:endParaRPr lang="en-US" sz="2200" dirty="0"/>
          </a:p>
        </p:txBody>
      </p:sp>
      <p:sp>
        <p:nvSpPr>
          <p:cNvPr id="25" name="Shape 23"/>
          <p:cNvSpPr/>
          <p:nvPr/>
        </p:nvSpPr>
        <p:spPr>
          <a:xfrm>
            <a:off x="4956048" y="2176272"/>
            <a:ext cx="1188720" cy="256032"/>
          </a:xfrm>
          <a:prstGeom prst="rect">
            <a:avLst/>
          </a:prstGeom>
          <a:solidFill>
            <a:srgbClr val="2A1000"/>
          </a:solidFill>
          <a:ln/>
        </p:spPr>
        <p:txBody>
          <a:bodyPr/>
          <a:lstStyle/>
          <a:p>
            <a:endParaRPr/>
          </a:p>
        </p:txBody>
      </p:sp>
      <p:sp>
        <p:nvSpPr>
          <p:cNvPr id="26" name="Text 24"/>
          <p:cNvSpPr txBox="1"/>
          <p:nvPr/>
        </p:nvSpPr>
        <p:spPr>
          <a:xfrm>
            <a:off x="4892040" y="2194560"/>
            <a:ext cx="1316736" cy="219456"/>
          </a:xfrm>
          <a:prstGeom prst="rect">
            <a:avLst/>
          </a:prstGeom>
          <a:noFill/>
          <a:ln/>
        </p:spPr>
        <p:txBody>
          <a:bodyPr wrap="square" rtlCol="0" anchor="ctr"/>
          <a:lstStyle/>
          <a:p>
            <a:pPr marL="0" indent="0" algn="ctr">
              <a:buNone/>
            </a:pPr>
            <a:r>
              <a:rPr lang="en-US" sz="1000" dirty="0">
                <a:solidFill>
                  <a:srgbClr val="888888"/>
                </a:solidFill>
              </a:rPr>
              <a:t>if held to 2031</a:t>
            </a:r>
            <a:endParaRPr lang="en-US" sz="900" dirty="0"/>
          </a:p>
        </p:txBody>
      </p:sp>
      <p:sp>
        <p:nvSpPr>
          <p:cNvPr id="27" name="Shape 25"/>
          <p:cNvSpPr/>
          <p:nvPr/>
        </p:nvSpPr>
        <p:spPr>
          <a:xfrm>
            <a:off x="6281928" y="1261872"/>
            <a:ext cx="1316736" cy="1234440"/>
          </a:xfrm>
          <a:prstGeom prst="rect">
            <a:avLst/>
          </a:prstGeom>
          <a:solidFill>
            <a:srgbClr val="1A0A00"/>
          </a:solidFill>
          <a:ln w="12700">
            <a:solidFill>
              <a:srgbClr val="F26A21"/>
            </a:solidFill>
            <a:prstDash val="solid"/>
          </a:ln>
        </p:spPr>
        <p:txBody>
          <a:bodyPr/>
          <a:lstStyle/>
          <a:p>
            <a:endParaRPr/>
          </a:p>
        </p:txBody>
      </p:sp>
      <p:sp>
        <p:nvSpPr>
          <p:cNvPr id="28" name="Text 26"/>
          <p:cNvSpPr txBox="1"/>
          <p:nvPr/>
        </p:nvSpPr>
        <p:spPr>
          <a:xfrm>
            <a:off x="6281928" y="1298448"/>
            <a:ext cx="1316736" cy="292608"/>
          </a:xfrm>
          <a:prstGeom prst="rect">
            <a:avLst/>
          </a:prstGeom>
          <a:noFill/>
          <a:ln/>
        </p:spPr>
        <p:txBody>
          <a:bodyPr wrap="square" rtlCol="0" anchor="ctr"/>
          <a:lstStyle/>
          <a:p>
            <a:pPr marL="0" indent="0" algn="ctr">
              <a:buNone/>
            </a:pPr>
            <a:r>
              <a:rPr lang="en-US" sz="1200" b="1" dirty="0">
                <a:solidFill>
                  <a:srgbClr val="F26A21"/>
                </a:solidFill>
              </a:rPr>
              <a:t>Base</a:t>
            </a:r>
            <a:endParaRPr lang="en-US" sz="1200" dirty="0"/>
          </a:p>
        </p:txBody>
      </p:sp>
      <p:sp>
        <p:nvSpPr>
          <p:cNvPr id="29" name="Text 27"/>
          <p:cNvSpPr txBox="1"/>
          <p:nvPr/>
        </p:nvSpPr>
        <p:spPr>
          <a:xfrm>
            <a:off x="6281928" y="1581912"/>
            <a:ext cx="1316736" cy="594360"/>
          </a:xfrm>
          <a:prstGeom prst="rect">
            <a:avLst/>
          </a:prstGeom>
          <a:noFill/>
          <a:ln/>
        </p:spPr>
        <p:txBody>
          <a:bodyPr wrap="square" rtlCol="0" anchor="ctr"/>
          <a:lstStyle/>
          <a:p>
            <a:pPr marL="0" indent="0" algn="ctr">
              <a:buNone/>
            </a:pPr>
            <a:r>
              <a:rPr lang="en-US" sz="2200" b="1" dirty="0">
                <a:solidFill>
                  <a:srgbClr val="F26A21"/>
                </a:solidFill>
              </a:rPr>
              <a:t>$14.8M</a:t>
            </a:r>
            <a:endParaRPr lang="en-US" sz="2200" dirty="0"/>
          </a:p>
        </p:txBody>
      </p:sp>
      <p:sp>
        <p:nvSpPr>
          <p:cNvPr id="30" name="Shape 28"/>
          <p:cNvSpPr/>
          <p:nvPr/>
        </p:nvSpPr>
        <p:spPr>
          <a:xfrm>
            <a:off x="6345936" y="2176272"/>
            <a:ext cx="1188720" cy="256032"/>
          </a:xfrm>
          <a:prstGeom prst="rect">
            <a:avLst/>
          </a:prstGeom>
          <a:solidFill>
            <a:srgbClr val="2A1000"/>
          </a:solidFill>
          <a:ln/>
        </p:spPr>
        <p:txBody>
          <a:bodyPr/>
          <a:lstStyle/>
          <a:p>
            <a:endParaRPr/>
          </a:p>
        </p:txBody>
      </p:sp>
      <p:sp>
        <p:nvSpPr>
          <p:cNvPr id="31" name="Text 29"/>
          <p:cNvSpPr txBox="1"/>
          <p:nvPr/>
        </p:nvSpPr>
        <p:spPr>
          <a:xfrm>
            <a:off x="6281928" y="2194560"/>
            <a:ext cx="1316736" cy="219456"/>
          </a:xfrm>
          <a:prstGeom prst="rect">
            <a:avLst/>
          </a:prstGeom>
          <a:noFill/>
          <a:ln/>
        </p:spPr>
        <p:txBody>
          <a:bodyPr wrap="square" rtlCol="0" anchor="ctr"/>
          <a:lstStyle/>
          <a:p>
            <a:pPr marL="0" indent="0" algn="ctr">
              <a:buNone/>
            </a:pPr>
            <a:r>
              <a:rPr lang="en-US" sz="1000" dirty="0">
                <a:solidFill>
                  <a:srgbClr val="888888"/>
                </a:solidFill>
              </a:rPr>
              <a:t>if held to 2031</a:t>
            </a:r>
            <a:endParaRPr lang="en-US" sz="900" dirty="0"/>
          </a:p>
        </p:txBody>
      </p:sp>
      <p:sp>
        <p:nvSpPr>
          <p:cNvPr id="32" name="Shape 30"/>
          <p:cNvSpPr/>
          <p:nvPr/>
        </p:nvSpPr>
        <p:spPr>
          <a:xfrm>
            <a:off x="7671816" y="1261872"/>
            <a:ext cx="1316736" cy="1234440"/>
          </a:xfrm>
          <a:prstGeom prst="rect">
            <a:avLst/>
          </a:prstGeom>
          <a:solidFill>
            <a:srgbClr val="1A0A00"/>
          </a:solidFill>
          <a:ln w="12700">
            <a:solidFill>
              <a:srgbClr val="F26A21"/>
            </a:solidFill>
            <a:prstDash val="solid"/>
          </a:ln>
        </p:spPr>
        <p:txBody>
          <a:bodyPr/>
          <a:lstStyle/>
          <a:p>
            <a:endParaRPr/>
          </a:p>
        </p:txBody>
      </p:sp>
      <p:sp>
        <p:nvSpPr>
          <p:cNvPr id="33" name="Text 31"/>
          <p:cNvSpPr txBox="1"/>
          <p:nvPr/>
        </p:nvSpPr>
        <p:spPr>
          <a:xfrm>
            <a:off x="7671816" y="1298448"/>
            <a:ext cx="1316736" cy="292608"/>
          </a:xfrm>
          <a:prstGeom prst="rect">
            <a:avLst/>
          </a:prstGeom>
          <a:noFill/>
          <a:ln/>
        </p:spPr>
        <p:txBody>
          <a:bodyPr wrap="square" rtlCol="0" anchor="ctr"/>
          <a:lstStyle/>
          <a:p>
            <a:pPr marL="0" indent="0" algn="ctr">
              <a:buNone/>
            </a:pPr>
            <a:r>
              <a:rPr lang="en-US" sz="1200" b="1" dirty="0">
                <a:solidFill>
                  <a:srgbClr val="F26A21"/>
                </a:solidFill>
              </a:rPr>
              <a:t>High</a:t>
            </a:r>
            <a:endParaRPr lang="en-US" sz="1200" dirty="0"/>
          </a:p>
        </p:txBody>
      </p:sp>
      <p:sp>
        <p:nvSpPr>
          <p:cNvPr id="34" name="Text 32"/>
          <p:cNvSpPr txBox="1"/>
          <p:nvPr/>
        </p:nvSpPr>
        <p:spPr>
          <a:xfrm>
            <a:off x="7671816" y="1581912"/>
            <a:ext cx="1316736" cy="594360"/>
          </a:xfrm>
          <a:prstGeom prst="rect">
            <a:avLst/>
          </a:prstGeom>
          <a:noFill/>
          <a:ln/>
        </p:spPr>
        <p:txBody>
          <a:bodyPr wrap="square" rtlCol="0" anchor="ctr"/>
          <a:lstStyle/>
          <a:p>
            <a:pPr marL="0" indent="0" algn="ctr">
              <a:buNone/>
            </a:pPr>
            <a:r>
              <a:rPr lang="en-US" sz="2200" b="1" dirty="0">
                <a:solidFill>
                  <a:srgbClr val="F26A21"/>
                </a:solidFill>
              </a:rPr>
              <a:t>$18.4M</a:t>
            </a:r>
            <a:endParaRPr lang="en-US" sz="2200" dirty="0"/>
          </a:p>
        </p:txBody>
      </p:sp>
      <p:sp>
        <p:nvSpPr>
          <p:cNvPr id="35" name="Shape 33"/>
          <p:cNvSpPr/>
          <p:nvPr/>
        </p:nvSpPr>
        <p:spPr>
          <a:xfrm>
            <a:off x="7735824" y="2176272"/>
            <a:ext cx="1188720" cy="256032"/>
          </a:xfrm>
          <a:prstGeom prst="rect">
            <a:avLst/>
          </a:prstGeom>
          <a:solidFill>
            <a:srgbClr val="2A1000"/>
          </a:solidFill>
          <a:ln/>
        </p:spPr>
        <p:txBody>
          <a:bodyPr/>
          <a:lstStyle/>
          <a:p>
            <a:endParaRPr/>
          </a:p>
        </p:txBody>
      </p:sp>
      <p:sp>
        <p:nvSpPr>
          <p:cNvPr id="36" name="Text 34"/>
          <p:cNvSpPr txBox="1"/>
          <p:nvPr/>
        </p:nvSpPr>
        <p:spPr>
          <a:xfrm>
            <a:off x="7671816" y="2194560"/>
            <a:ext cx="1316736" cy="219456"/>
          </a:xfrm>
          <a:prstGeom prst="rect">
            <a:avLst/>
          </a:prstGeom>
          <a:noFill/>
          <a:ln/>
        </p:spPr>
        <p:txBody>
          <a:bodyPr wrap="square" rtlCol="0" anchor="ctr"/>
          <a:lstStyle/>
          <a:p>
            <a:pPr marL="0" indent="0" algn="ctr">
              <a:buNone/>
            </a:pPr>
            <a:r>
              <a:rPr lang="en-US" sz="1000" dirty="0">
                <a:solidFill>
                  <a:srgbClr val="888888"/>
                </a:solidFill>
              </a:rPr>
              <a:t>if held to 2031</a:t>
            </a:r>
            <a:endParaRPr lang="en-US" sz="900" dirty="0"/>
          </a:p>
        </p:txBody>
      </p:sp>
      <p:sp>
        <p:nvSpPr>
          <p:cNvPr id="38" name="Shape 35"/>
          <p:cNvSpPr/>
          <p:nvPr/>
        </p:nvSpPr>
        <p:spPr>
          <a:xfrm>
            <a:off x="320040" y="2542032"/>
            <a:ext cx="8503920" cy="146304"/>
          </a:xfrm>
          <a:prstGeom prst="rect">
            <a:avLst/>
          </a:prstGeom>
          <a:solidFill>
            <a:srgbClr val="222200"/>
          </a:solidFill>
          <a:ln/>
        </p:spPr>
        <p:txBody>
          <a:bodyPr/>
          <a:lstStyle/>
          <a:p>
            <a:endParaRPr/>
          </a:p>
        </p:txBody>
      </p:sp>
      <p:sp>
        <p:nvSpPr>
          <p:cNvPr id="39" name="Text 36"/>
          <p:cNvSpPr txBox="1"/>
          <p:nvPr/>
        </p:nvSpPr>
        <p:spPr>
          <a:xfrm>
            <a:off x="365760" y="2551176"/>
            <a:ext cx="8412480" cy="118872"/>
          </a:xfrm>
          <a:prstGeom prst="rect">
            <a:avLst/>
          </a:prstGeom>
          <a:noFill/>
          <a:ln/>
        </p:spPr>
        <p:txBody>
          <a:bodyPr wrap="square" rtlCol="0" anchor="ctr"/>
          <a:lstStyle/>
          <a:p>
            <a:pPr marL="0" indent="0">
              <a:buNone/>
            </a:pPr>
            <a:r>
              <a:rPr lang="en-US" sz="1000" i="1" dirty="0">
                <a:solidFill>
                  <a:srgbClr val="888888"/>
                </a:solidFill>
              </a:rPr>
              <a:t>④ is a forward-looking projection, not a guarantee; an alternative to ③, not additive.</a:t>
            </a:r>
            <a:endParaRPr lang="en-US" sz="800" dirty="0"/>
          </a:p>
        </p:txBody>
      </p:sp>
      <p:pic>
        <p:nvPicPr>
          <p:cNvPr id="40" name="Image 1"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41" name="Text 37"/>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888888"/>
                </a:solidFill>
              </a:rPr>
              <a:t>DRAFT — NEGOTIATING TERMS</a:t>
            </a:r>
            <a:endParaRPr lang="en-US" sz="700" dirty="0"/>
          </a:p>
        </p:txBody>
      </p:sp>
      <p:sp>
        <p:nvSpPr>
          <p:cNvPr id="42" name="Text 38"/>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888888"/>
                </a:solidFill>
              </a:rPr>
              <a:t>CONFIDENTIAL</a:t>
            </a:r>
            <a:endParaRPr lang="en-US" sz="700" dirty="0"/>
          </a:p>
        </p:txBody>
      </p:sp>
      <p:sp>
        <p:nvSpPr>
          <p:cNvPr id="43" name="Rectangle 42"/>
          <p:cNvSpPr/>
          <p:nvPr/>
        </p:nvSpPr>
        <p:spPr>
          <a:xfrm>
            <a:off x="365760" y="2743200"/>
            <a:ext cx="8412480" cy="1371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65760" y="2761488"/>
            <a:ext cx="5943600" cy="219456"/>
          </a:xfrm>
          <a:prstGeom prst="rect">
            <a:avLst/>
          </a:prstGeom>
          <a:noFill/>
        </p:spPr>
        <p:txBody>
          <a:bodyPr wrap="square">
            <a:spAutoFit/>
          </a:bodyPr>
          <a:lstStyle/>
          <a:p>
            <a:pPr algn="l"/>
            <a:r>
              <a:rPr sz="1100" b="1" i="0">
                <a:solidFill>
                  <a:srgbClr val="F26A21"/>
                </a:solidFill>
                <a:latin typeface="Calibri"/>
              </a:rPr>
              <a:t>Offer Value as a Multiple of SSLC Revenue</a:t>
            </a:r>
          </a:p>
        </p:txBody>
      </p:sp>
      <p:sp>
        <p:nvSpPr>
          <p:cNvPr id="45" name="TextBox 44"/>
          <p:cNvSpPr txBox="1"/>
          <p:nvPr/>
        </p:nvSpPr>
        <p:spPr>
          <a:xfrm>
            <a:off x="6217920" y="2761488"/>
            <a:ext cx="2743200" cy="219456"/>
          </a:xfrm>
          <a:prstGeom prst="rect">
            <a:avLst/>
          </a:prstGeom>
          <a:noFill/>
        </p:spPr>
        <p:txBody>
          <a:bodyPr wrap="square">
            <a:spAutoFit/>
          </a:bodyPr>
          <a:lstStyle/>
          <a:p>
            <a:pPr algn="r"/>
            <a:r>
              <a:rPr sz="1000" b="0" i="0">
                <a:solidFill>
                  <a:srgbClr val="888888"/>
                </a:solidFill>
                <a:latin typeface="Calibri"/>
              </a:rPr>
              <a:t>FY26 actual: $1.925M  |  FY27 target: $5.1M</a:t>
            </a:r>
          </a:p>
        </p:txBody>
      </p:sp>
      <p:sp>
        <p:nvSpPr>
          <p:cNvPr id="46" name="TextBox 45"/>
          <p:cNvSpPr txBox="1"/>
          <p:nvPr/>
        </p:nvSpPr>
        <p:spPr>
          <a:xfrm>
            <a:off x="365760" y="2999232"/>
            <a:ext cx="3474720" cy="201168"/>
          </a:xfrm>
          <a:prstGeom prst="rect">
            <a:avLst/>
          </a:prstGeom>
          <a:noFill/>
        </p:spPr>
        <p:txBody>
          <a:bodyPr wrap="square">
            <a:spAutoFit/>
          </a:bodyPr>
          <a:lstStyle/>
          <a:p>
            <a:pPr algn="l"/>
            <a:endParaRPr/>
          </a:p>
        </p:txBody>
      </p:sp>
      <p:sp>
        <p:nvSpPr>
          <p:cNvPr id="47" name="TextBox 46"/>
          <p:cNvSpPr txBox="1"/>
          <p:nvPr/>
        </p:nvSpPr>
        <p:spPr>
          <a:xfrm>
            <a:off x="3931920" y="2999232"/>
            <a:ext cx="2194560" cy="201168"/>
          </a:xfrm>
          <a:prstGeom prst="rect">
            <a:avLst/>
          </a:prstGeom>
          <a:noFill/>
        </p:spPr>
        <p:txBody>
          <a:bodyPr wrap="square">
            <a:spAutoFit/>
          </a:bodyPr>
          <a:lstStyle/>
          <a:p>
            <a:pPr algn="ctr"/>
            <a:r>
              <a:rPr sz="1000" b="0" i="0">
                <a:solidFill>
                  <a:srgbClr val="CCCCCC"/>
                </a:solidFill>
                <a:latin typeface="Calibri"/>
              </a:rPr>
              <a:t>vs. FY26 actual ($1.925M)</a:t>
            </a:r>
          </a:p>
        </p:txBody>
      </p:sp>
      <p:sp>
        <p:nvSpPr>
          <p:cNvPr id="48" name="TextBox 47"/>
          <p:cNvSpPr txBox="1"/>
          <p:nvPr/>
        </p:nvSpPr>
        <p:spPr>
          <a:xfrm>
            <a:off x="6217920" y="2999232"/>
            <a:ext cx="2194560" cy="201168"/>
          </a:xfrm>
          <a:prstGeom prst="rect">
            <a:avLst/>
          </a:prstGeom>
          <a:noFill/>
        </p:spPr>
        <p:txBody>
          <a:bodyPr wrap="square">
            <a:spAutoFit/>
          </a:bodyPr>
          <a:lstStyle/>
          <a:p>
            <a:pPr algn="ctr"/>
            <a:r>
              <a:rPr sz="1000" b="0" i="0">
                <a:solidFill>
                  <a:srgbClr val="CCCCCC"/>
                </a:solidFill>
                <a:latin typeface="Calibri"/>
              </a:rPr>
              <a:t>vs. FY27 target ($5.1M)</a:t>
            </a:r>
          </a:p>
        </p:txBody>
      </p:sp>
      <p:sp>
        <p:nvSpPr>
          <p:cNvPr id="49" name="Rectangle 48"/>
          <p:cNvSpPr/>
          <p:nvPr/>
        </p:nvSpPr>
        <p:spPr>
          <a:xfrm>
            <a:off x="365760" y="3182112"/>
            <a:ext cx="8412480" cy="7315"/>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65760" y="3200400"/>
            <a:ext cx="3474720" cy="201168"/>
          </a:xfrm>
          <a:prstGeom prst="rect">
            <a:avLst/>
          </a:prstGeom>
          <a:noFill/>
        </p:spPr>
        <p:txBody>
          <a:bodyPr wrap="square">
            <a:spAutoFit/>
          </a:bodyPr>
          <a:lstStyle/>
          <a:p>
            <a:pPr algn="l"/>
            <a:r>
              <a:rPr sz="1000" b="0" i="0">
                <a:solidFill>
                  <a:srgbClr val="FFFFFF"/>
                </a:solidFill>
                <a:latin typeface="Calibri"/>
              </a:rPr>
              <a:t>② At close: $4.36M</a:t>
            </a:r>
          </a:p>
        </p:txBody>
      </p:sp>
      <p:sp>
        <p:nvSpPr>
          <p:cNvPr id="51" name="TextBox 50"/>
          <p:cNvSpPr txBox="1"/>
          <p:nvPr/>
        </p:nvSpPr>
        <p:spPr>
          <a:xfrm>
            <a:off x="3931920" y="3200400"/>
            <a:ext cx="2194560" cy="201168"/>
          </a:xfrm>
          <a:prstGeom prst="rect">
            <a:avLst/>
          </a:prstGeom>
          <a:noFill/>
        </p:spPr>
        <p:txBody>
          <a:bodyPr wrap="square">
            <a:spAutoFit/>
          </a:bodyPr>
          <a:lstStyle/>
          <a:p>
            <a:pPr algn="ctr"/>
            <a:r>
              <a:rPr sz="1000" b="1" i="0">
                <a:solidFill>
                  <a:srgbClr val="44BB44"/>
                </a:solidFill>
                <a:latin typeface="Calibri"/>
              </a:rPr>
              <a:t>~2.3×</a:t>
            </a:r>
          </a:p>
        </p:txBody>
      </p:sp>
      <p:sp>
        <p:nvSpPr>
          <p:cNvPr id="52" name="TextBox 51"/>
          <p:cNvSpPr txBox="1"/>
          <p:nvPr/>
        </p:nvSpPr>
        <p:spPr>
          <a:xfrm>
            <a:off x="6217920" y="3200400"/>
            <a:ext cx="2194560" cy="201168"/>
          </a:xfrm>
          <a:prstGeom prst="rect">
            <a:avLst/>
          </a:prstGeom>
          <a:noFill/>
        </p:spPr>
        <p:txBody>
          <a:bodyPr wrap="square">
            <a:spAutoFit/>
          </a:bodyPr>
          <a:lstStyle/>
          <a:p>
            <a:pPr algn="ctr"/>
            <a:r>
              <a:rPr sz="1000" b="1" i="0">
                <a:solidFill>
                  <a:srgbClr val="44BB44"/>
                </a:solidFill>
                <a:latin typeface="Calibri"/>
              </a:rPr>
              <a:t>~0.85×</a:t>
            </a:r>
          </a:p>
        </p:txBody>
      </p:sp>
      <p:sp>
        <p:nvSpPr>
          <p:cNvPr id="53" name="TextBox 52"/>
          <p:cNvSpPr txBox="1"/>
          <p:nvPr/>
        </p:nvSpPr>
        <p:spPr>
          <a:xfrm>
            <a:off x="365760" y="3415284"/>
            <a:ext cx="3474720" cy="201168"/>
          </a:xfrm>
          <a:prstGeom prst="rect">
            <a:avLst/>
          </a:prstGeom>
          <a:noFill/>
        </p:spPr>
        <p:txBody>
          <a:bodyPr wrap="square">
            <a:spAutoFit/>
          </a:bodyPr>
          <a:lstStyle/>
          <a:p>
            <a:pPr algn="l"/>
            <a:r>
              <a:rPr sz="1000" b="0" i="0">
                <a:solidFill>
                  <a:srgbClr val="FFFFFF"/>
                </a:solidFill>
                <a:latin typeface="Calibri"/>
              </a:rPr>
              <a:t>③ 5-year: $5.3M – $8.5M</a:t>
            </a:r>
          </a:p>
        </p:txBody>
      </p:sp>
      <p:sp>
        <p:nvSpPr>
          <p:cNvPr id="54" name="TextBox 53"/>
          <p:cNvSpPr txBox="1"/>
          <p:nvPr/>
        </p:nvSpPr>
        <p:spPr>
          <a:xfrm>
            <a:off x="3931920" y="3415284"/>
            <a:ext cx="2194560" cy="201168"/>
          </a:xfrm>
          <a:prstGeom prst="rect">
            <a:avLst/>
          </a:prstGeom>
          <a:noFill/>
        </p:spPr>
        <p:txBody>
          <a:bodyPr wrap="square">
            <a:spAutoFit/>
          </a:bodyPr>
          <a:lstStyle/>
          <a:p>
            <a:pPr algn="ctr"/>
            <a:r>
              <a:rPr sz="1000" b="1" i="0">
                <a:solidFill>
                  <a:srgbClr val="44BB44"/>
                </a:solidFill>
                <a:latin typeface="Calibri"/>
              </a:rPr>
              <a:t>~2.8–4.4×</a:t>
            </a:r>
          </a:p>
        </p:txBody>
      </p:sp>
      <p:sp>
        <p:nvSpPr>
          <p:cNvPr id="55" name="TextBox 54"/>
          <p:cNvSpPr txBox="1"/>
          <p:nvPr/>
        </p:nvSpPr>
        <p:spPr>
          <a:xfrm>
            <a:off x="6217920" y="3415284"/>
            <a:ext cx="2194560" cy="201168"/>
          </a:xfrm>
          <a:prstGeom prst="rect">
            <a:avLst/>
          </a:prstGeom>
          <a:noFill/>
        </p:spPr>
        <p:txBody>
          <a:bodyPr wrap="square">
            <a:spAutoFit/>
          </a:bodyPr>
          <a:lstStyle/>
          <a:p>
            <a:pPr algn="ctr"/>
            <a:r>
              <a:rPr sz="1000" b="1" i="0">
                <a:solidFill>
                  <a:srgbClr val="44BB44"/>
                </a:solidFill>
                <a:latin typeface="Calibri"/>
              </a:rPr>
              <a:t>~1.0–1.7×</a:t>
            </a:r>
          </a:p>
        </p:txBody>
      </p:sp>
      <p:sp>
        <p:nvSpPr>
          <p:cNvPr id="56" name="TextBox 55"/>
          <p:cNvSpPr txBox="1"/>
          <p:nvPr/>
        </p:nvSpPr>
        <p:spPr>
          <a:xfrm>
            <a:off x="365760" y="3630168"/>
            <a:ext cx="3474720" cy="201168"/>
          </a:xfrm>
          <a:prstGeom prst="rect">
            <a:avLst/>
          </a:prstGeom>
          <a:noFill/>
        </p:spPr>
        <p:txBody>
          <a:bodyPr wrap="square">
            <a:spAutoFit/>
          </a:bodyPr>
          <a:lstStyle/>
          <a:p>
            <a:pPr algn="l"/>
            <a:r>
              <a:rPr sz="1000" b="0" i="0">
                <a:solidFill>
                  <a:srgbClr val="F26A21"/>
                </a:solidFill>
                <a:latin typeface="Calibri"/>
              </a:rPr>
              <a:t>④ Max $18.4M (held to 2031)</a:t>
            </a:r>
          </a:p>
        </p:txBody>
      </p:sp>
      <p:sp>
        <p:nvSpPr>
          <p:cNvPr id="57" name="TextBox 56"/>
          <p:cNvSpPr txBox="1"/>
          <p:nvPr/>
        </p:nvSpPr>
        <p:spPr>
          <a:xfrm>
            <a:off x="3931920" y="3630168"/>
            <a:ext cx="2194560" cy="201168"/>
          </a:xfrm>
          <a:prstGeom prst="rect">
            <a:avLst/>
          </a:prstGeom>
          <a:noFill/>
        </p:spPr>
        <p:txBody>
          <a:bodyPr wrap="square">
            <a:spAutoFit/>
          </a:bodyPr>
          <a:lstStyle/>
          <a:p>
            <a:pPr algn="ctr"/>
            <a:r>
              <a:rPr sz="1000" b="1" i="0">
                <a:solidFill>
                  <a:srgbClr val="44BB44"/>
                </a:solidFill>
                <a:latin typeface="Calibri"/>
              </a:rPr>
              <a:t>~9.6×</a:t>
            </a:r>
          </a:p>
        </p:txBody>
      </p:sp>
      <p:sp>
        <p:nvSpPr>
          <p:cNvPr id="58" name="TextBox 57"/>
          <p:cNvSpPr txBox="1"/>
          <p:nvPr/>
        </p:nvSpPr>
        <p:spPr>
          <a:xfrm>
            <a:off x="6217920" y="3630168"/>
            <a:ext cx="2194560" cy="201168"/>
          </a:xfrm>
          <a:prstGeom prst="rect">
            <a:avLst/>
          </a:prstGeom>
          <a:noFill/>
        </p:spPr>
        <p:txBody>
          <a:bodyPr wrap="square">
            <a:spAutoFit/>
          </a:bodyPr>
          <a:lstStyle/>
          <a:p>
            <a:pPr algn="ctr"/>
            <a:r>
              <a:rPr sz="1000" b="1" i="0">
                <a:solidFill>
                  <a:srgbClr val="44BB44"/>
                </a:solidFill>
                <a:latin typeface="Calibri"/>
              </a:rPr>
              <a:t>~3.6×</a:t>
            </a:r>
          </a:p>
        </p:txBody>
      </p:sp>
      <p:sp>
        <p:nvSpPr>
          <p:cNvPr id="59" name="Rectangle 58"/>
          <p:cNvSpPr/>
          <p:nvPr/>
        </p:nvSpPr>
        <p:spPr>
          <a:xfrm>
            <a:off x="365760" y="4279392"/>
            <a:ext cx="8412480" cy="1097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365760" y="4297680"/>
            <a:ext cx="8412480" cy="457200"/>
          </a:xfrm>
          <a:prstGeom prst="rect">
            <a:avLst/>
          </a:prstGeom>
          <a:noFill/>
        </p:spPr>
        <p:txBody>
          <a:bodyPr wrap="square">
            <a:spAutoFit/>
          </a:bodyPr>
          <a:lstStyle/>
          <a:p>
            <a:r>
              <a:rPr lang="en-US" sz="1000" dirty="0" i="1">
                <a:solidFill>
                  <a:srgbClr val="44BB44"/>
                </a:solidFill>
                <a:latin typeface="Calibri"/>
              </a:rPr>
              <a:t>FY27 YTD credit: SSLC net income through 10/11/2026 = +$112,666 (per QuickBooks). Supports FY27 ≥$5.1M milestone trajectory.</a:t>
            </a:r>
          </a:p>
          <a:p>
            <a:pPr algn="l"/>
            <a:r>
              <a:rPr sz="1000" b="0" i="1">
                <a:solidFill>
                  <a:srgbClr val="CCCCCC"/>
                </a:solidFill>
                <a:latin typeface="Calibri"/>
              </a:rPr>
              <a:t>Declining this offer is a judgment that SSLC alone, without new capital, is more likely to create more than the $18.4M maximum this offer projects (if Exos stock is held to 2031). Not a guarantee; "projects" is the operative word.</a:t>
            </a:r>
          </a:p>
        </p:txBody>
      </p:sp>
      <p:sp>
        <p:nvSpPr>
          <p:cNvPr id="61" name="TextBox 60"/>
          <p:cNvSpPr txBox="1"/>
          <p:nvPr/>
        </p:nvSpPr>
        <p:spPr>
          <a:xfrm>
            <a:off x="365760" y="3858768"/>
            <a:ext cx="3474720" cy="201168"/>
          </a:xfrm>
          <a:prstGeom prst="rect">
            <a:avLst/>
          </a:prstGeom>
          <a:noFill/>
        </p:spPr>
        <p:txBody>
          <a:bodyPr wrap="none" anchor="t">
            <a:spAutoFit/>
          </a:bodyPr>
          <a:lstStyle/>
          <a:p>
            <a:r>
              <a:rPr lang="en-US" sz="1000" dirty="0">
                <a:solidFill>
                  <a:srgbClr val="CCCCCC"/>
                </a:solidFill>
                <a:latin typeface="Calibri"/>
              </a:rPr>
              <a:t>③ Implied SSLC 5-yr cumul. revenue</a:t>
            </a:r>
          </a:p>
        </p:txBody>
      </p:sp>
      <p:sp>
        <p:nvSpPr>
          <p:cNvPr id="62" name="TextBox 61"/>
          <p:cNvSpPr txBox="1"/>
          <p:nvPr/>
        </p:nvSpPr>
        <p:spPr>
          <a:xfrm>
            <a:off x="3931920" y="3858768"/>
            <a:ext cx="2194560" cy="201168"/>
          </a:xfrm>
          <a:prstGeom prst="rect">
            <a:avLst/>
          </a:prstGeom>
          <a:noFill/>
        </p:spPr>
        <p:txBody>
          <a:bodyPr wrap="none" anchor="t">
            <a:spAutoFit/>
          </a:bodyPr>
          <a:lstStyle/>
          <a:p>
            <a:r>
              <a:rPr lang="en-US" sz="1000" dirty="0">
                <a:solidFill>
                  <a:srgbClr val="CCCCCC"/>
                </a:solidFill>
                <a:latin typeface="Calibri"/>
              </a:rPr>
              <a:t>Low ≈$15M  |  Base ≈$25M+</a:t>
            </a:r>
          </a:p>
        </p:txBody>
      </p:sp>
      <p:sp>
        <p:nvSpPr>
          <p:cNvPr id="63" name="TextBox 62"/>
          <p:cNvSpPr txBox="1"/>
          <p:nvPr/>
        </p:nvSpPr>
        <p:spPr>
          <a:xfrm>
            <a:off x="6217920" y="3858768"/>
            <a:ext cx="2194560" cy="201168"/>
          </a:xfrm>
          <a:prstGeom prst="rect">
            <a:avLst/>
          </a:prstGeom>
          <a:noFill/>
        </p:spPr>
        <p:txBody>
          <a:bodyPr wrap="none" anchor="t">
            <a:spAutoFit/>
          </a:bodyPr>
          <a:lstStyle/>
          <a:p>
            <a:r>
              <a:rPr lang="en-US" sz="1000" dirty="0">
                <a:solidFill>
                  <a:srgbClr val="CCCCCC"/>
                </a:solidFill>
                <a:latin typeface="Calibri"/>
              </a:rPr>
              <a:t>High = est. (milestones)</a:t>
            </a:r>
          </a:p>
        </p:txBody>
      </p:sp>
      <p:sp>
        <p:nvSpPr>
          <p:cNvPr id="64" name="TextBox 63"/>
          <p:cNvSpPr txBox="1"/>
          <p:nvPr/>
        </p:nvSpPr>
        <p:spPr>
          <a:xfrm>
            <a:off x="365760" y="4078224"/>
            <a:ext cx="3474720" cy="201168"/>
          </a:xfrm>
          <a:prstGeom prst="rect">
            <a:avLst/>
          </a:prstGeom>
          <a:noFill/>
        </p:spPr>
        <p:txBody>
          <a:bodyPr wrap="none" anchor="t">
            <a:spAutoFit/>
          </a:bodyPr>
          <a:lstStyle/>
          <a:p>
            <a:r>
              <a:rPr lang="en-US" sz="1000" dirty="0" i="1">
                <a:solidFill>
                  <a:srgbClr val="CCCCCC"/>
                </a:solidFill>
                <a:latin typeface="Calibri"/>
              </a:rPr>
              <a:t>Industry rev. multiple norm</a:t>
            </a:r>
          </a:p>
        </p:txBody>
      </p:sp>
      <p:sp>
        <p:nvSpPr>
          <p:cNvPr id="65" name="TextBox 64"/>
          <p:cNvSpPr txBox="1"/>
          <p:nvPr/>
        </p:nvSpPr>
        <p:spPr>
          <a:xfrm>
            <a:off x="3931920" y="4078224"/>
            <a:ext cx="4480560" cy="201168"/>
          </a:xfrm>
          <a:prstGeom prst="rect">
            <a:avLst/>
          </a:prstGeom>
          <a:noFill/>
        </p:spPr>
        <p:txBody>
          <a:bodyPr wrap="none" anchor="t">
            <a:spAutoFit/>
          </a:bodyPr>
          <a:lstStyle/>
          <a:p>
            <a:r>
              <a:rPr lang="en-US" sz="1000" dirty="0" i="1">
                <a:solidFill>
                  <a:srgbClr val="888888"/>
                </a:solidFill>
                <a:latin typeface="Calibri"/>
              </a:rPr>
              <a:t>1.3×–3.3× revenue  (First Page Sage, Feb 2025 — SaaS/tech services comps)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111111"/>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7548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The Exos Stock</a:t>
            </a:r>
            <a:endParaRPr lang="en-US" sz="2200" dirty="0"/>
          </a:p>
        </p:txBody>
      </p:sp>
      <p:sp>
        <p:nvSpPr>
          <p:cNvPr id="3" name="Shape 1"/>
          <p:cNvSpPr/>
          <p:nvPr/>
        </p:nvSpPr>
        <p:spPr>
          <a:xfrm>
            <a:off x="457200" y="768096"/>
            <a:ext cx="1371600" cy="36576"/>
          </a:xfrm>
          <a:prstGeom prst="rect">
            <a:avLst/>
          </a:prstGeom>
          <a:solidFill>
            <a:srgbClr val="F26A21"/>
          </a:solidFill>
          <a:ln/>
        </p:spPr>
        <p:txBody>
          <a:bodyPr/>
          <a:lstStyle/>
          <a:p>
            <a:endParaRPr/>
          </a:p>
        </p:txBody>
      </p:sp>
      <p:sp>
        <p:nvSpPr>
          <p:cNvPr id="4" name="Shape 2"/>
          <p:cNvSpPr/>
          <p:nvPr/>
        </p:nvSpPr>
        <p:spPr>
          <a:xfrm>
            <a:off x="365760" y="960120"/>
            <a:ext cx="4023360" cy="1170432"/>
          </a:xfrm>
          <a:prstGeom prst="rect">
            <a:avLst/>
          </a:prstGeom>
          <a:solidFill>
            <a:srgbClr val="1C1C1C"/>
          </a:solidFill>
          <a:ln w="12700">
            <a:solidFill>
              <a:srgbClr val="333333"/>
            </a:solidFill>
            <a:prstDash val="solid"/>
          </a:ln>
        </p:spPr>
        <p:txBody>
          <a:bodyPr/>
          <a:lstStyle/>
          <a:p>
            <a:endParaRPr/>
          </a:p>
        </p:txBody>
      </p:sp>
      <p:sp>
        <p:nvSpPr>
          <p:cNvPr id="5" name="Text 3"/>
          <p:cNvSpPr txBox="1"/>
          <p:nvPr/>
        </p:nvSpPr>
        <p:spPr>
          <a:xfrm>
            <a:off x="502920" y="1033272"/>
            <a:ext cx="3749040" cy="292608"/>
          </a:xfrm>
          <a:prstGeom prst="rect">
            <a:avLst/>
          </a:prstGeom>
          <a:noFill/>
          <a:ln/>
        </p:spPr>
        <p:txBody>
          <a:bodyPr wrap="square" rtlCol="0" anchor="ctr"/>
          <a:lstStyle/>
          <a:p>
            <a:pPr marL="0" indent="0">
              <a:buNone/>
            </a:pPr>
            <a:r>
              <a:rPr lang="en-US" sz="1300" b="1" dirty="0">
                <a:solidFill>
                  <a:srgbClr val="F26A21"/>
                </a:solidFill>
              </a:rPr>
              <a:t>Instrument</a:t>
            </a:r>
            <a:endParaRPr lang="en-US" sz="1300" dirty="0"/>
          </a:p>
        </p:txBody>
      </p:sp>
      <p:sp>
        <p:nvSpPr>
          <p:cNvPr id="6" name="Text 4"/>
          <p:cNvSpPr txBox="1"/>
          <p:nvPr/>
        </p:nvSpPr>
        <p:spPr>
          <a:xfrm>
            <a:off x="502920" y="1307592"/>
            <a:ext cx="3749040" cy="749808"/>
          </a:xfrm>
          <a:prstGeom prst="rect">
            <a:avLst/>
          </a:prstGeom>
          <a:noFill/>
          <a:ln/>
        </p:spPr>
        <p:txBody>
          <a:bodyPr wrap="square" rtlCol="0" anchor="ctr"/>
          <a:lstStyle/>
          <a:p>
            <a:pPr marL="0" indent="0">
              <a:buNone/>
            </a:pPr>
            <a:r>
              <a:rPr lang="en-US" sz="1200" dirty="0">
                <a:solidFill>
                  <a:srgbClr val="CCCCCC"/>
                </a:solidFill>
              </a:rPr>
              <a:t>$1.0M Exos Aerospace Investments, LLC (EAI) units to key SSLC personnel (409A, ~$169.7M, ~0.59% FD). Not distributed pro-rata to cap table.</a:t>
            </a:r>
            <a:endParaRPr lang="en-US" sz="1200" dirty="0"/>
          </a:p>
        </p:txBody>
      </p:sp>
      <p:sp>
        <p:nvSpPr>
          <p:cNvPr id="7" name="Shape 5"/>
          <p:cNvSpPr/>
          <p:nvPr/>
        </p:nvSpPr>
        <p:spPr>
          <a:xfrm>
            <a:off x="4663440" y="960120"/>
            <a:ext cx="4023360" cy="1170432"/>
          </a:xfrm>
          <a:prstGeom prst="rect">
            <a:avLst/>
          </a:prstGeom>
          <a:solidFill>
            <a:srgbClr val="1C1C1C"/>
          </a:solidFill>
          <a:ln w="12700">
            <a:solidFill>
              <a:srgbClr val="333333"/>
            </a:solidFill>
            <a:prstDash val="solid"/>
          </a:ln>
        </p:spPr>
        <p:txBody>
          <a:bodyPr/>
          <a:lstStyle/>
          <a:p>
            <a:endParaRPr/>
          </a:p>
        </p:txBody>
      </p:sp>
      <p:sp>
        <p:nvSpPr>
          <p:cNvPr id="8" name="Text 6"/>
          <p:cNvSpPr txBox="1"/>
          <p:nvPr/>
        </p:nvSpPr>
        <p:spPr>
          <a:xfrm>
            <a:off x="4800600" y="1033272"/>
            <a:ext cx="3749040" cy="292608"/>
          </a:xfrm>
          <a:prstGeom prst="rect">
            <a:avLst/>
          </a:prstGeom>
          <a:noFill/>
          <a:ln/>
        </p:spPr>
        <p:txBody>
          <a:bodyPr wrap="square" rtlCol="0" anchor="ctr"/>
          <a:lstStyle/>
          <a:p>
            <a:pPr marL="0" indent="0">
              <a:buNone/>
            </a:pPr>
            <a:r>
              <a:rPr lang="en-US" sz="1300" b="1" dirty="0">
                <a:solidFill>
                  <a:srgbClr val="F26A21"/>
                </a:solidFill>
              </a:rPr>
              <a:t>Offering</a:t>
            </a:r>
            <a:endParaRPr lang="en-US" sz="1300" dirty="0"/>
          </a:p>
        </p:txBody>
      </p:sp>
      <p:sp>
        <p:nvSpPr>
          <p:cNvPr id="9" name="Text 7"/>
          <p:cNvSpPr txBox="1"/>
          <p:nvPr/>
        </p:nvSpPr>
        <p:spPr>
          <a:xfrm>
            <a:off x="4800600" y="1307592"/>
            <a:ext cx="3749040" cy="749808"/>
          </a:xfrm>
          <a:prstGeom prst="rect">
            <a:avLst/>
          </a:prstGeom>
          <a:noFill/>
          <a:ln/>
        </p:spPr>
        <p:txBody>
          <a:bodyPr wrap="square" rtlCol="0" anchor="ctr"/>
          <a:lstStyle/>
          <a:p>
            <a:pPr marL="0" indent="0">
              <a:buNone/>
            </a:pPr>
            <a:r>
              <a:rPr lang="en-US" sz="1200" dirty="0">
                <a:solidFill>
                  <a:srgbClr val="CCCCCC"/>
                </a:solidFill>
              </a:rPr>
              <a:t>Part of Exos's Rule 504 Regulation D offering. U.S. persons only. Counts toward the $10M rolling 12-month cap.</a:t>
            </a:r>
            <a:endParaRPr lang="en-US" sz="1200" dirty="0"/>
          </a:p>
        </p:txBody>
      </p:sp>
      <p:sp>
        <p:nvSpPr>
          <p:cNvPr id="10" name="Shape 8"/>
          <p:cNvSpPr/>
          <p:nvPr/>
        </p:nvSpPr>
        <p:spPr>
          <a:xfrm>
            <a:off x="365760" y="2240280"/>
            <a:ext cx="4023360" cy="1170432"/>
          </a:xfrm>
          <a:prstGeom prst="rect">
            <a:avLst/>
          </a:prstGeom>
          <a:solidFill>
            <a:srgbClr val="1C1C1C"/>
          </a:solidFill>
          <a:ln w="12700">
            <a:solidFill>
              <a:srgbClr val="333333"/>
            </a:solidFill>
            <a:prstDash val="solid"/>
          </a:ln>
        </p:spPr>
        <p:txBody>
          <a:bodyPr/>
          <a:lstStyle/>
          <a:p>
            <a:endParaRPr/>
          </a:p>
        </p:txBody>
      </p:sp>
      <p:sp>
        <p:nvSpPr>
          <p:cNvPr id="11" name="Text 9"/>
          <p:cNvSpPr txBox="1"/>
          <p:nvPr/>
        </p:nvSpPr>
        <p:spPr>
          <a:xfrm>
            <a:off x="502920" y="2313432"/>
            <a:ext cx="3749040" cy="292608"/>
          </a:xfrm>
          <a:prstGeom prst="rect">
            <a:avLst/>
          </a:prstGeom>
          <a:noFill/>
          <a:ln/>
        </p:spPr>
        <p:txBody>
          <a:bodyPr wrap="square" rtlCol="0" anchor="ctr"/>
          <a:lstStyle/>
          <a:p>
            <a:pPr marL="0" indent="0">
              <a:buNone/>
            </a:pPr>
            <a:r>
              <a:rPr lang="en-US" sz="1300" b="1" dirty="0">
                <a:solidFill>
                  <a:srgbClr val="F26A21"/>
                </a:solidFill>
              </a:rPr>
              <a:t>Restricted at issuance</a:t>
            </a:r>
            <a:endParaRPr lang="en-US" sz="1300" dirty="0"/>
          </a:p>
        </p:txBody>
      </p:sp>
      <p:sp>
        <p:nvSpPr>
          <p:cNvPr id="12" name="Text 10"/>
          <p:cNvSpPr txBox="1"/>
          <p:nvPr/>
        </p:nvSpPr>
        <p:spPr>
          <a:xfrm>
            <a:off x="502920" y="2587752"/>
            <a:ext cx="3749040" cy="749808"/>
          </a:xfrm>
          <a:prstGeom prst="rect">
            <a:avLst/>
          </a:prstGeom>
          <a:noFill/>
          <a:ln/>
        </p:spPr>
        <p:txBody>
          <a:bodyPr wrap="square" rtlCol="0" anchor="ctr"/>
          <a:lstStyle/>
          <a:p>
            <a:pPr marL="0" indent="0">
              <a:buNone/>
            </a:pPr>
            <a:r>
              <a:rPr lang="en-US" sz="1200" dirty="0">
                <a:solidFill>
                  <a:srgbClr val="CCCCCC"/>
                </a:solidFill>
              </a:rPr>
              <a:t>Units carry a restrictive legend at issuance (Rule 504 Reg D). Not freely tradeable prior to the RTO listing.</a:t>
            </a:r>
            <a:endParaRPr lang="en-US" sz="1200" dirty="0"/>
          </a:p>
        </p:txBody>
      </p:sp>
      <p:sp>
        <p:nvSpPr>
          <p:cNvPr id="13" name="Shape 11"/>
          <p:cNvSpPr/>
          <p:nvPr/>
        </p:nvSpPr>
        <p:spPr>
          <a:xfrm>
            <a:off x="4663440" y="2240280"/>
            <a:ext cx="4023360" cy="1170432"/>
          </a:xfrm>
          <a:prstGeom prst="rect">
            <a:avLst/>
          </a:prstGeom>
          <a:solidFill>
            <a:srgbClr val="1C1C1C"/>
          </a:solidFill>
          <a:ln w="12700">
            <a:solidFill>
              <a:srgbClr val="333333"/>
            </a:solidFill>
            <a:prstDash val="solid"/>
          </a:ln>
        </p:spPr>
        <p:txBody>
          <a:bodyPr/>
          <a:lstStyle/>
          <a:p>
            <a:endParaRPr/>
          </a:p>
        </p:txBody>
      </p:sp>
      <p:sp>
        <p:nvSpPr>
          <p:cNvPr id="14" name="Text 12"/>
          <p:cNvSpPr txBox="1"/>
          <p:nvPr/>
        </p:nvSpPr>
        <p:spPr>
          <a:xfrm>
            <a:off x="4800600" y="2313432"/>
            <a:ext cx="3749040" cy="292608"/>
          </a:xfrm>
          <a:prstGeom prst="rect">
            <a:avLst/>
          </a:prstGeom>
          <a:noFill/>
          <a:ln/>
        </p:spPr>
        <p:txBody>
          <a:bodyPr wrap="square" rtlCol="0" anchor="ctr"/>
          <a:lstStyle/>
          <a:p>
            <a:pPr marL="0" indent="0">
              <a:buNone/>
            </a:pPr>
            <a:r>
              <a:rPr lang="en-US" sz="1300" b="1" dirty="0">
                <a:solidFill>
                  <a:srgbClr val="F26A21"/>
                </a:solidFill>
              </a:rPr>
              <a:t>Public float at RTO</a:t>
            </a:r>
            <a:endParaRPr lang="en-US" sz="1300" dirty="0"/>
          </a:p>
        </p:txBody>
      </p:sp>
      <p:sp>
        <p:nvSpPr>
          <p:cNvPr id="15" name="Text 13"/>
          <p:cNvSpPr txBox="1"/>
          <p:nvPr/>
        </p:nvSpPr>
        <p:spPr>
          <a:xfrm>
            <a:off x="4800600" y="2587752"/>
            <a:ext cx="3749040" cy="749808"/>
          </a:xfrm>
          <a:prstGeom prst="rect">
            <a:avLst/>
          </a:prstGeom>
          <a:noFill/>
          <a:ln/>
        </p:spPr>
        <p:txBody>
          <a:bodyPr wrap="square" rtlCol="0" anchor="ctr"/>
          <a:lstStyle/>
          <a:p>
            <a:pPr marL="0" indent="0">
              <a:buNone/>
            </a:pPr>
            <a:r>
              <a:rPr lang="en-US" sz="1200" dirty="0">
                <a:solidFill>
                  <a:srgbClr val="CCCCCC"/>
                </a:solidFill>
              </a:rPr>
              <a:t>Structured to be part of the public float at going public. No principals' lockup applies to these units; locked-up shares would not count as float.</a:t>
            </a:r>
            <a:endParaRPr lang="en-US" sz="1200" dirty="0"/>
          </a:p>
        </p:txBody>
      </p:sp>
      <p:sp>
        <p:nvSpPr>
          <p:cNvPr id="16" name="Shape 14"/>
          <p:cNvSpPr/>
          <p:nvPr/>
        </p:nvSpPr>
        <p:spPr>
          <a:xfrm>
            <a:off x="365760" y="3520440"/>
            <a:ext cx="4023360" cy="1170432"/>
          </a:xfrm>
          <a:prstGeom prst="rect">
            <a:avLst/>
          </a:prstGeom>
          <a:solidFill>
            <a:srgbClr val="1C1C1C"/>
          </a:solidFill>
          <a:ln w="12700">
            <a:solidFill>
              <a:srgbClr val="333333"/>
            </a:solidFill>
            <a:prstDash val="solid"/>
          </a:ln>
        </p:spPr>
        <p:txBody>
          <a:bodyPr/>
          <a:lstStyle/>
          <a:p>
            <a:endParaRPr/>
          </a:p>
        </p:txBody>
      </p:sp>
      <p:sp>
        <p:nvSpPr>
          <p:cNvPr id="17" name="Text 15"/>
          <p:cNvSpPr txBox="1"/>
          <p:nvPr/>
        </p:nvSpPr>
        <p:spPr>
          <a:xfrm>
            <a:off x="502920" y="3593592"/>
            <a:ext cx="3749040" cy="292608"/>
          </a:xfrm>
          <a:prstGeom prst="rect">
            <a:avLst/>
          </a:prstGeom>
          <a:noFill/>
          <a:ln/>
        </p:spPr>
        <p:txBody>
          <a:bodyPr wrap="square" rtlCol="0" anchor="ctr"/>
          <a:lstStyle/>
          <a:p>
            <a:pPr marL="0" indent="0">
              <a:buNone/>
            </a:pPr>
            <a:r>
              <a:rPr lang="en-US" sz="1300" b="1" dirty="0">
                <a:solidFill>
                  <a:srgbClr val="F26A21"/>
                </a:solidFill>
              </a:rPr>
              <a:t>Freely tradeable at listing</a:t>
            </a:r>
            <a:endParaRPr lang="en-US" sz="1300" dirty="0"/>
          </a:p>
        </p:txBody>
      </p:sp>
      <p:sp>
        <p:nvSpPr>
          <p:cNvPr id="18" name="Text 16"/>
          <p:cNvSpPr txBox="1"/>
          <p:nvPr/>
        </p:nvSpPr>
        <p:spPr>
          <a:xfrm>
            <a:off x="502920" y="3867912"/>
            <a:ext cx="3749040" cy="749808"/>
          </a:xfrm>
          <a:prstGeom prst="rect">
            <a:avLst/>
          </a:prstGeom>
          <a:noFill/>
          <a:ln/>
        </p:spPr>
        <p:txBody>
          <a:bodyPr wrap="square" rtlCol="0" anchor="ctr"/>
          <a:lstStyle/>
          <a:p>
            <a:pPr marL="0" indent="0">
              <a:buNone/>
            </a:pPr>
            <a:r>
              <a:rPr lang="en-US" sz="1200" dirty="0">
                <a:solidFill>
                  <a:srgbClr val="CCCCCC"/>
                </a:solidFill>
              </a:rPr>
              <a:t>Becomes freely tradeable at the RTO listing (no lockup on the up-front units). Covered by the RTO resale registration.</a:t>
            </a:r>
            <a:endParaRPr lang="en-US" sz="1200" dirty="0"/>
          </a:p>
        </p:txBody>
      </p:sp>
      <p:sp>
        <p:nvSpPr>
          <p:cNvPr id="19" name="Shape 17"/>
          <p:cNvSpPr/>
          <p:nvPr/>
        </p:nvSpPr>
        <p:spPr>
          <a:xfrm>
            <a:off x="4663440" y="3520440"/>
            <a:ext cx="4023360" cy="1170432"/>
          </a:xfrm>
          <a:prstGeom prst="rect">
            <a:avLst/>
          </a:prstGeom>
          <a:solidFill>
            <a:srgbClr val="1C1C1C"/>
          </a:solidFill>
          <a:ln w="12700">
            <a:solidFill>
              <a:srgbClr val="333333"/>
            </a:solidFill>
            <a:prstDash val="solid"/>
          </a:ln>
        </p:spPr>
        <p:txBody>
          <a:bodyPr/>
          <a:lstStyle/>
          <a:p>
            <a:endParaRPr/>
          </a:p>
        </p:txBody>
      </p:sp>
      <p:sp>
        <p:nvSpPr>
          <p:cNvPr id="20" name="Text 18"/>
          <p:cNvSpPr txBox="1"/>
          <p:nvPr/>
        </p:nvSpPr>
        <p:spPr>
          <a:xfrm>
            <a:off x="4800600" y="3593592"/>
            <a:ext cx="3749040" cy="292608"/>
          </a:xfrm>
          <a:prstGeom prst="rect">
            <a:avLst/>
          </a:prstGeom>
          <a:noFill/>
          <a:ln/>
        </p:spPr>
        <p:txBody>
          <a:bodyPr wrap="square" rtlCol="0" anchor="ctr"/>
          <a:lstStyle/>
          <a:p>
            <a:pPr marL="0" indent="0">
              <a:buNone/>
            </a:pPr>
            <a:r>
              <a:rPr lang="en-US" sz="1300" b="1" dirty="0">
                <a:solidFill>
                  <a:srgbClr val="F26A21"/>
                </a:solidFill>
              </a:rPr>
              <a:t>Timeline</a:t>
            </a:r>
            <a:endParaRPr lang="en-US" sz="1300" dirty="0"/>
          </a:p>
        </p:txBody>
      </p:sp>
      <p:sp>
        <p:nvSpPr>
          <p:cNvPr id="21" name="Text 19"/>
          <p:cNvSpPr txBox="1"/>
          <p:nvPr/>
        </p:nvSpPr>
        <p:spPr>
          <a:xfrm>
            <a:off x="4800600" y="3867912"/>
            <a:ext cx="3749040" cy="749808"/>
          </a:xfrm>
          <a:prstGeom prst="rect">
            <a:avLst/>
          </a:prstGeom>
          <a:noFill/>
          <a:ln/>
        </p:spPr>
        <p:txBody>
          <a:bodyPr wrap="square" rtlCol="0" anchor="ctr"/>
          <a:lstStyle/>
          <a:p>
            <a:pPr marL="0" indent="0">
              <a:buNone/>
            </a:pPr>
            <a:r>
              <a:rPr lang="en-US" sz="1200" dirty="0">
                <a:solidFill>
                  <a:srgbClr val="CCCCCC"/>
                </a:solidFill>
              </a:rPr>
              <a:t>Units issued at financing close. Targeted RTO ~6 months post-financing. Not assured — RTO may not close. The EAI units issued to key SSLC personnel are part of Exos's California employee-retention initiative.</a:t>
            </a:r>
            <a:endParaRPr lang="en-US" sz="1200" dirty="0"/>
          </a:p>
        </p:txBody>
      </p:sp>
      <p:pic>
        <p:nvPicPr>
          <p:cNvPr id="22" name="Image 0"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23" name="Text 20"/>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888888"/>
                </a:solidFill>
              </a:rPr>
              <a:t>DRAFT — NEGOTIATING TERMS</a:t>
            </a:r>
            <a:endParaRPr lang="en-US" sz="700" dirty="0"/>
          </a:p>
        </p:txBody>
      </p:sp>
      <p:sp>
        <p:nvSpPr>
          <p:cNvPr id="24" name="Text 21"/>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888888"/>
                </a:solidFill>
              </a:rPr>
              <a:t>CONFIDENTIAL</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111111"/>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7548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SSLC Employees</a:t>
            </a:r>
            <a:endParaRPr lang="en-US" sz="2200" dirty="0"/>
          </a:p>
        </p:txBody>
      </p:sp>
      <p:sp>
        <p:nvSpPr>
          <p:cNvPr id="3" name="Shape 1"/>
          <p:cNvSpPr/>
          <p:nvPr/>
        </p:nvSpPr>
        <p:spPr>
          <a:xfrm>
            <a:off x="457200" y="768096"/>
            <a:ext cx="1371600" cy="36576"/>
          </a:xfrm>
          <a:prstGeom prst="rect">
            <a:avLst/>
          </a:prstGeom>
          <a:solidFill>
            <a:srgbClr val="F26A21"/>
          </a:solidFill>
          <a:ln/>
        </p:spPr>
        <p:txBody>
          <a:bodyPr/>
          <a:lstStyle/>
          <a:p>
            <a:endParaRPr/>
          </a:p>
        </p:txBody>
      </p:sp>
      <p:sp>
        <p:nvSpPr>
          <p:cNvPr id="4" name="Shape 2"/>
          <p:cNvSpPr/>
          <p:nvPr/>
        </p:nvSpPr>
        <p:spPr>
          <a:xfrm>
            <a:off x="365760" y="1005840"/>
            <a:ext cx="2743200" cy="2743200"/>
          </a:xfrm>
          <a:prstGeom prst="rect">
            <a:avLst/>
          </a:prstGeom>
          <a:solidFill>
            <a:srgbClr val="1C1C1C"/>
          </a:solidFill>
          <a:ln w="12700">
            <a:solidFill>
              <a:srgbClr val="333333"/>
            </a:solidFill>
            <a:prstDash val="solid"/>
          </a:ln>
        </p:spPr>
        <p:txBody>
          <a:bodyPr/>
          <a:lstStyle/>
          <a:p>
            <a:endParaRPr/>
          </a:p>
        </p:txBody>
      </p:sp>
      <p:sp>
        <p:nvSpPr>
          <p:cNvPr id="5" name="Text 3"/>
          <p:cNvSpPr txBox="1"/>
          <p:nvPr/>
        </p:nvSpPr>
        <p:spPr>
          <a:xfrm>
            <a:off x="502920" y="1078992"/>
            <a:ext cx="2560320" cy="365760"/>
          </a:xfrm>
          <a:prstGeom prst="rect">
            <a:avLst/>
          </a:prstGeom>
          <a:noFill/>
          <a:ln/>
        </p:spPr>
        <p:txBody>
          <a:bodyPr wrap="square" rtlCol="0" anchor="ctr"/>
          <a:lstStyle/>
          <a:p>
            <a:pPr marL="0" indent="0">
              <a:buNone/>
            </a:pPr>
            <a:r>
              <a:rPr lang="en-US" sz="1600" b="1" dirty="0">
                <a:solidFill>
                  <a:srgbClr val="F26A21"/>
                </a:solidFill>
              </a:rPr>
              <a:t>Employment Offer</a:t>
            </a:r>
            <a:endParaRPr lang="en-US" sz="1600" dirty="0"/>
          </a:p>
        </p:txBody>
      </p:sp>
      <p:sp>
        <p:nvSpPr>
          <p:cNvPr id="6" name="Text 4"/>
          <p:cNvSpPr txBox="1"/>
          <p:nvPr/>
        </p:nvSpPr>
        <p:spPr>
          <a:xfrm>
            <a:off x="502920" y="1481328"/>
            <a:ext cx="2560320" cy="2148840"/>
          </a:xfrm>
          <a:prstGeom prst="rect">
            <a:avLst/>
          </a:prstGeom>
          <a:noFill/>
          <a:ln/>
        </p:spPr>
        <p:txBody>
          <a:bodyPr wrap="square" rtlCol="0" anchor="t"/>
          <a:lstStyle/>
          <a:p>
            <a:pPr marL="0" indent="0">
              <a:buNone/>
            </a:pPr>
            <a:r>
              <a:rPr lang="en-US" sz="1150" dirty="0">
                <a:solidFill>
                  <a:srgbClr val="CCCCCC"/>
                </a:solidFill>
              </a:rPr>
              <a:t>Exos shall offer employment to SSLC employees — including management, support, engineering, and other technical and manufacturing employees — on terms no less favorable than their current terms with SSLC, including compensation and benefits.</a:t>
            </a:r>
            <a:endParaRPr lang="en-US" sz="1300" dirty="0"/>
          </a:p>
          <a:p>
            <a:pPr marL="0" indent="0">
              <a:buNone/>
            </a:pPr>
            <a:endParaRPr lang="en-US" sz="1300" dirty="0"/>
          </a:p>
          <a:p>
            <a:pPr marL="0" indent="0">
              <a:buNone/>
            </a:pPr>
            <a:r>
              <a:rPr lang="en-US" sz="1150" dirty="0">
                <a:solidFill>
                  <a:srgbClr val="CCCCCC"/>
                </a:solidFill>
              </a:rPr>
              <a:t>Subject to each employee satisfying Exos's standard hiring policies and Exos's completion of confirmatory due diligence.</a:t>
            </a:r>
            <a:endParaRPr lang="en-US" sz="1300" dirty="0"/>
          </a:p>
        </p:txBody>
      </p:sp>
      <p:sp>
        <p:nvSpPr>
          <p:cNvPr id="7" name="Shape 5"/>
          <p:cNvSpPr/>
          <p:nvPr/>
        </p:nvSpPr>
        <p:spPr>
          <a:xfrm>
            <a:off x="3291840" y="1005840"/>
            <a:ext cx="2743200" cy="2743200"/>
          </a:xfrm>
          <a:prstGeom prst="rect">
            <a:avLst/>
          </a:prstGeom>
          <a:solidFill>
            <a:srgbClr val="1C1C1C"/>
          </a:solidFill>
          <a:ln w="12700">
            <a:solidFill>
              <a:srgbClr val="333333"/>
            </a:solidFill>
            <a:prstDash val="solid"/>
          </a:ln>
        </p:spPr>
        <p:txBody>
          <a:bodyPr/>
          <a:lstStyle/>
          <a:p>
            <a:endParaRPr/>
          </a:p>
        </p:txBody>
      </p:sp>
      <p:sp>
        <p:nvSpPr>
          <p:cNvPr id="8" name="Text 6"/>
          <p:cNvSpPr txBox="1"/>
          <p:nvPr/>
        </p:nvSpPr>
        <p:spPr>
          <a:xfrm>
            <a:off x="3429000" y="1078992"/>
            <a:ext cx="2560320" cy="365760"/>
          </a:xfrm>
          <a:prstGeom prst="rect">
            <a:avLst/>
          </a:prstGeom>
          <a:noFill/>
          <a:ln/>
        </p:spPr>
        <p:txBody>
          <a:bodyPr wrap="square" rtlCol="0" anchor="ctr"/>
          <a:lstStyle/>
          <a:p>
            <a:pPr marL="0" indent="0">
              <a:buNone/>
            </a:pPr>
            <a:r>
              <a:rPr lang="en-US" sz="1600" b="1" dirty="0">
                <a:solidFill>
                  <a:srgbClr val="F26A21"/>
                </a:solidFill>
              </a:rPr>
              <a:t>Key-Employee Option Pool</a:t>
            </a:r>
            <a:endParaRPr lang="en-US" sz="1600" dirty="0"/>
          </a:p>
        </p:txBody>
      </p:sp>
      <p:sp>
        <p:nvSpPr>
          <p:cNvPr id="9" name="Text 7"/>
          <p:cNvSpPr txBox="1"/>
          <p:nvPr/>
        </p:nvSpPr>
        <p:spPr>
          <a:xfrm>
            <a:off x="3429000" y="1481328"/>
            <a:ext cx="2560320" cy="2148840"/>
          </a:xfrm>
          <a:prstGeom prst="rect">
            <a:avLst/>
          </a:prstGeom>
          <a:noFill/>
          <a:ln/>
        </p:spPr>
        <p:txBody>
          <a:bodyPr wrap="square" rtlCol="0" anchor="t"/>
          <a:lstStyle/>
          <a:p>
            <a:pPr marL="0" indent="0">
              <a:buNone/>
            </a:pPr>
            <a:r>
              <a:rPr lang="en-US" sz="1300" dirty="0">
                <a:solidFill>
                  <a:srgbClr val="CCCCCC"/>
                </a:solidFill>
              </a:rPr>
              <a:t>Exos has an option pool for key employees. The allocation, key-employee retention and new-hire structure will be mutually agreed post-acquisition.</a:t>
            </a:r>
            <a:endParaRPr lang="en-US" sz="1300" dirty="0"/>
          </a:p>
        </p:txBody>
      </p:sp>
      <p:pic>
        <p:nvPicPr>
          <p:cNvPr id="10" name="Image 0"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11" name="Text 8"/>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888888"/>
                </a:solidFill>
              </a:rPr>
              <a:t>DRAFT — NEGOTIATING TERMS</a:t>
            </a:r>
            <a:endParaRPr lang="en-US" sz="700" dirty="0"/>
          </a:p>
        </p:txBody>
      </p:sp>
      <p:sp>
        <p:nvSpPr>
          <p:cNvPr id="12" name="Text 9"/>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888888"/>
                </a:solidFill>
              </a:rPr>
              <a:t>CONFIDENTIAL</a:t>
            </a:r>
            <a:endParaRPr lang="en-US" sz="700" dirty="0"/>
          </a:p>
        </p:txBody>
      </p:sp>
      <p:sp>
        <p:nvSpPr>
          <p:cNvPr id="13" name="Rectangle 12"/>
          <p:cNvSpPr/>
          <p:nvPr/>
        </p:nvSpPr>
        <p:spPr>
          <a:xfrm>
            <a:off x="6217920" y="1005840"/>
            <a:ext cx="2788920" cy="27432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078992"/>
            <a:ext cx="2560320" cy="365760"/>
          </a:xfrm>
          <a:prstGeom prst="rect">
            <a:avLst/>
          </a:prstGeom>
          <a:noFill/>
        </p:spPr>
        <p:txBody>
          <a:bodyPr wrap="none" anchor="t">
            <a:spAutoFit/>
          </a:bodyPr>
          <a:lstStyle/>
          <a:p>
            <a:r>
              <a:rPr lang="en-US" sz="1150" dirty="0" b="1">
                <a:solidFill>
                  <a:srgbClr val="F26A21"/>
                </a:solidFill>
                <a:latin typeface="Calibri"/>
              </a:rPr>
              <a:t>Facilities &amp; Growth</a:t>
            </a:r>
          </a:p>
        </p:txBody>
      </p:sp>
      <p:sp>
        <p:nvSpPr>
          <p:cNvPr id="15" name="Rectangle 14"/>
          <p:cNvSpPr/>
          <p:nvPr/>
        </p:nvSpPr>
        <p:spPr>
          <a:xfrm>
            <a:off x="6355080" y="1463040"/>
            <a:ext cx="2468880" cy="10972"/>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508760"/>
            <a:ext cx="2514600" cy="2103120"/>
          </a:xfrm>
          <a:prstGeom prst="rect">
            <a:avLst/>
          </a:prstGeom>
          <a:noFill/>
        </p:spPr>
        <p:txBody>
          <a:bodyPr wrap="sq" anchor="t">
            <a:spAutoFit/>
          </a:bodyPr>
          <a:lstStyle/>
          <a:p>
            <a:r>
              <a:rPr lang="en-US" sz="1000" dirty="0">
                <a:solidFill>
                  <a:srgbClr val="CCCCCC"/>
                </a:solidFill>
                <a:latin typeface="Calibri"/>
              </a:rPr>
              <a:t>CA: New lease near the current SSLC site, 25,000–35,000 sq ft with high ceilings, to shift manufacturing and support expansion.</a:t>
            </a:r>
          </a:p>
          <a:p>
            <a:r>
              <a:rPr lang="en-US" sz="1000" dirty="0">
                <a:solidFill>
                  <a:srgbClr val="CCCCCC"/>
                </a:solidFill>
                <a:latin typeface="Calibri"/>
              </a:rPr>
              <a:t/>
            </a:r>
          </a:p>
          <a:p>
            <a:r>
              <a:rPr lang="en-US" sz="1000" dirty="0">
                <a:solidFill>
                  <a:srgbClr val="CCCCCC"/>
                </a:solidFill>
                <a:latin typeface="Calibri"/>
              </a:rPr>
              <a:t>TX: Expansion in Texas to support Exos rocket builds, funded under the same PIPE financing.</a:t>
            </a:r>
          </a:p>
          <a:p>
            <a:r>
              <a:rPr lang="en-US" sz="1000" dirty="0">
                <a:solidFill>
                  <a:srgbClr val="CCCCCC"/>
                </a:solidFill>
                <a:latin typeface="Calibri"/>
              </a:rPr>
              <a:t/>
            </a:r>
          </a:p>
          <a:p>
            <a:r>
              <a:rPr lang="en-US" sz="1000" dirty="0">
                <a:solidFill>
                  <a:srgbClr val="F26A21"/>
                </a:solidFill>
                <a:latin typeface="Calibri"/>
              </a:rPr>
              <a:t>$1.0M EAI (Exos stock) to key SSLC personnel</a:t>
            </a:r>
          </a:p>
          <a:p>
            <a:r>
              <a:rPr lang="en-US" sz="1000" dirty="0">
                <a:solidFill>
                  <a:srgbClr val="CCCCCC"/>
                </a:solidFill>
                <a:latin typeface="Calibri"/>
              </a:rPr>
              <a:t>at financing close (not pro-rata to the cap table).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111111"/>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47548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Exos Funding Commitments</a:t>
            </a:r>
            <a:endParaRPr lang="en-US" sz="2200" dirty="0"/>
          </a:p>
        </p:txBody>
      </p:sp>
      <p:sp>
        <p:nvSpPr>
          <p:cNvPr id="3" name="Shape 1"/>
          <p:cNvSpPr/>
          <p:nvPr/>
        </p:nvSpPr>
        <p:spPr>
          <a:xfrm>
            <a:off x="457200" y="768096"/>
            <a:ext cx="1371600" cy="36576"/>
          </a:xfrm>
          <a:prstGeom prst="rect">
            <a:avLst/>
          </a:prstGeom>
          <a:solidFill>
            <a:srgbClr val="F26A21"/>
          </a:solidFill>
          <a:ln/>
        </p:spPr>
        <p:txBody>
          <a:bodyPr/>
          <a:lstStyle/>
          <a:p>
            <a:endParaRPr/>
          </a:p>
        </p:txBody>
      </p:sp>
      <p:sp>
        <p:nvSpPr>
          <p:cNvPr id="4" name="Shape 2"/>
          <p:cNvSpPr/>
          <p:nvPr/>
        </p:nvSpPr>
        <p:spPr>
          <a:xfrm>
            <a:off x="411480" y="914400"/>
            <a:ext cx="8321040" cy="365760"/>
          </a:xfrm>
          <a:prstGeom prst="rect">
            <a:avLst/>
          </a:prstGeom>
          <a:solidFill>
            <a:srgbClr val="1C1C1C"/>
          </a:solidFill>
          <a:ln w="12700">
            <a:solidFill>
              <a:srgbClr val="2A2A2A"/>
            </a:solidFill>
            <a:prstDash val="solid"/>
          </a:ln>
        </p:spPr>
        <p:txBody>
          <a:bodyPr/>
          <a:lstStyle/>
          <a:p>
            <a:endParaRPr/>
          </a:p>
        </p:txBody>
      </p:sp>
      <p:sp>
        <p:nvSpPr>
          <p:cNvPr id="5" name="Text 3"/>
          <p:cNvSpPr txBox="1"/>
          <p:nvPr/>
        </p:nvSpPr>
        <p:spPr>
          <a:xfrm>
            <a:off x="548640" y="950976"/>
            <a:ext cx="5303520" cy="292608"/>
          </a:xfrm>
          <a:prstGeom prst="rect">
            <a:avLst/>
          </a:prstGeom>
          <a:noFill/>
          <a:ln/>
        </p:spPr>
        <p:txBody>
          <a:bodyPr wrap="square" rtlCol="0" anchor="ctr"/>
          <a:lstStyle/>
          <a:p>
            <a:pPr marL="0" indent="0">
              <a:buNone/>
            </a:pPr>
            <a:r>
              <a:rPr lang="en-US" sz="1200" b="1" dirty="0">
                <a:solidFill>
                  <a:srgbClr val="FFFFFF"/>
                </a:solidFill>
              </a:rPr>
              <a:t>$2.51M cash</a:t>
            </a:r>
            <a:endParaRPr lang="en-US" sz="1200" dirty="0"/>
          </a:p>
        </p:txBody>
      </p:sp>
      <p:sp>
        <p:nvSpPr>
          <p:cNvPr id="6" name="Text 4"/>
          <p:cNvSpPr txBox="1"/>
          <p:nvPr/>
        </p:nvSpPr>
        <p:spPr>
          <a:xfrm>
            <a:off x="5989320" y="950976"/>
            <a:ext cx="2606040" cy="292608"/>
          </a:xfrm>
          <a:prstGeom prst="rect">
            <a:avLst/>
          </a:prstGeom>
          <a:noFill/>
          <a:ln/>
        </p:spPr>
        <p:txBody>
          <a:bodyPr wrap="square" rtlCol="0" anchor="ctr"/>
          <a:lstStyle/>
          <a:p>
            <a:pPr marL="0" indent="0" algn="r">
              <a:buNone/>
            </a:pPr>
            <a:r>
              <a:rPr lang="en-US" sz="1000" dirty="0">
                <a:solidFill>
                  <a:srgbClr val="888888"/>
                </a:solidFill>
              </a:rPr>
              <a:t>at financing close (target Jan 15, 2027)</a:t>
            </a:r>
            <a:endParaRPr lang="en-US" sz="1000" dirty="0"/>
          </a:p>
        </p:txBody>
      </p:sp>
      <p:sp>
        <p:nvSpPr>
          <p:cNvPr id="7" name="Shape 5"/>
          <p:cNvSpPr/>
          <p:nvPr/>
        </p:nvSpPr>
        <p:spPr>
          <a:xfrm>
            <a:off x="411480" y="1298448"/>
            <a:ext cx="8321040" cy="365760"/>
          </a:xfrm>
          <a:prstGeom prst="rect">
            <a:avLst/>
          </a:prstGeom>
          <a:solidFill>
            <a:srgbClr val="212121"/>
          </a:solidFill>
          <a:ln w="12700">
            <a:solidFill>
              <a:srgbClr val="2A2A2A"/>
            </a:solidFill>
            <a:prstDash val="solid"/>
          </a:ln>
        </p:spPr>
        <p:txBody>
          <a:bodyPr/>
          <a:lstStyle/>
          <a:p>
            <a:endParaRPr/>
          </a:p>
        </p:txBody>
      </p:sp>
      <p:sp>
        <p:nvSpPr>
          <p:cNvPr id="8" name="Text 6"/>
          <p:cNvSpPr txBox="1"/>
          <p:nvPr/>
        </p:nvSpPr>
        <p:spPr>
          <a:xfrm>
            <a:off x="548640" y="1335024"/>
            <a:ext cx="5303520" cy="292608"/>
          </a:xfrm>
          <a:prstGeom prst="rect">
            <a:avLst/>
          </a:prstGeom>
          <a:noFill/>
          <a:ln/>
        </p:spPr>
        <p:txBody>
          <a:bodyPr wrap="square" rtlCol="0" anchor="ctr"/>
          <a:lstStyle/>
          <a:p>
            <a:pPr marL="0" indent="0">
              <a:buNone/>
            </a:pPr>
            <a:r>
              <a:rPr lang="en-US" sz="1200" b="1" dirty="0">
                <a:solidFill>
                  <a:srgbClr val="FFFFFF"/>
                </a:solidFill>
              </a:rPr>
              <a:t>SSLC transaction costs</a:t>
            </a:r>
            <a:endParaRPr lang="en-US" sz="1200" dirty="0"/>
          </a:p>
        </p:txBody>
      </p:sp>
      <p:sp>
        <p:nvSpPr>
          <p:cNvPr id="9" name="Text 7"/>
          <p:cNvSpPr txBox="1"/>
          <p:nvPr/>
        </p:nvSpPr>
        <p:spPr>
          <a:xfrm>
            <a:off x="5989320" y="1335024"/>
            <a:ext cx="2606040" cy="292608"/>
          </a:xfrm>
          <a:prstGeom prst="rect">
            <a:avLst/>
          </a:prstGeom>
          <a:noFill/>
          <a:ln/>
        </p:spPr>
        <p:txBody>
          <a:bodyPr wrap="square" rtlCol="0" anchor="ctr"/>
          <a:lstStyle/>
          <a:p>
            <a:pPr marL="0" indent="0" algn="r">
              <a:buNone/>
            </a:pPr>
            <a:r>
              <a:rPr lang="en-US" sz="1000" dirty="0">
                <a:solidFill>
                  <a:srgbClr val="888888"/>
                </a:solidFill>
              </a:rPr>
              <a:t>at financing close (target Jan 15, 2027)</a:t>
            </a:r>
            <a:endParaRPr lang="en-US" sz="1000" dirty="0"/>
          </a:p>
        </p:txBody>
      </p:sp>
      <p:sp>
        <p:nvSpPr>
          <p:cNvPr id="10" name="Shape 8"/>
          <p:cNvSpPr/>
          <p:nvPr/>
        </p:nvSpPr>
        <p:spPr>
          <a:xfrm>
            <a:off x="411480" y="1682496"/>
            <a:ext cx="8321040" cy="365760"/>
          </a:xfrm>
          <a:prstGeom prst="rect">
            <a:avLst/>
          </a:prstGeom>
          <a:solidFill>
            <a:srgbClr val="1C1C1C"/>
          </a:solidFill>
          <a:ln w="12700">
            <a:solidFill>
              <a:srgbClr val="2A2A2A"/>
            </a:solidFill>
            <a:prstDash val="solid"/>
          </a:ln>
        </p:spPr>
        <p:txBody>
          <a:bodyPr/>
          <a:lstStyle/>
          <a:p>
            <a:endParaRPr/>
          </a:p>
        </p:txBody>
      </p:sp>
      <p:sp>
        <p:nvSpPr>
          <p:cNvPr id="16" name="Shape 14"/>
          <p:cNvSpPr/>
          <p:nvPr/>
        </p:nvSpPr>
        <p:spPr>
          <a:xfrm>
            <a:off x="411480" y="2450592"/>
            <a:ext cx="8321040" cy="365760"/>
          </a:xfrm>
          <a:prstGeom prst="rect">
            <a:avLst/>
          </a:prstGeom>
          <a:solidFill>
            <a:srgbClr val="1C1C1C"/>
          </a:solidFill>
          <a:ln w="12700">
            <a:solidFill>
              <a:srgbClr val="2A2A2A"/>
            </a:solidFill>
            <a:prstDash val="solid"/>
          </a:ln>
        </p:spPr>
        <p:txBody>
          <a:bodyPr/>
          <a:lstStyle/>
          <a:p>
            <a:endParaRPr/>
          </a:p>
        </p:txBody>
      </p:sp>
      <p:sp>
        <p:nvSpPr>
          <p:cNvPr id="17" name="Text 15"/>
          <p:cNvSpPr txBox="1"/>
          <p:nvPr/>
        </p:nvSpPr>
        <p:spPr>
          <a:xfrm>
            <a:off x="548640" y="1719072"/>
            <a:ext cx="5303520" cy="292608"/>
          </a:xfrm>
          <a:prstGeom prst="rect">
            <a:avLst/>
          </a:prstGeom>
          <a:noFill/>
          <a:ln/>
        </p:spPr>
        <p:txBody>
          <a:bodyPr wrap="square" rtlCol="0" anchor="ctr"/>
          <a:lstStyle/>
          <a:p>
            <a:pPr marL="0" indent="0">
              <a:buNone/>
            </a:pPr>
            <a:r>
              <a:rPr lang="en-US" sz="1200" b="1" dirty="0">
                <a:solidFill>
                  <a:srgbClr val="FFFFFF"/>
                </a:solidFill>
              </a:rPr>
              <a:t>$1.0M EAI stock — key SSLC personnel (Rule 504)</a:t>
            </a:r>
            <a:endParaRPr lang="en-US" sz="1200" dirty="0"/>
          </a:p>
        </p:txBody>
      </p:sp>
      <p:sp>
        <p:nvSpPr>
          <p:cNvPr id="18" name="Text 16"/>
          <p:cNvSpPr txBox="1"/>
          <p:nvPr/>
        </p:nvSpPr>
        <p:spPr>
          <a:xfrm>
            <a:off x="5989320" y="1719072"/>
            <a:ext cx="2606040" cy="292608"/>
          </a:xfrm>
          <a:prstGeom prst="rect">
            <a:avLst/>
          </a:prstGeom>
          <a:noFill/>
          <a:ln/>
        </p:spPr>
        <p:txBody>
          <a:bodyPr wrap="square" rtlCol="0" anchor="ctr"/>
          <a:lstStyle/>
          <a:p>
            <a:pPr marL="0" indent="0" algn="r">
              <a:buNone/>
            </a:pPr>
            <a:r>
              <a:rPr lang="en-US" sz="1000" dirty="0">
                <a:solidFill>
                  <a:srgbClr val="888888"/>
                </a:solidFill>
              </a:rPr>
              <a:t>at financing close (target Jan 15, 2027)</a:t>
            </a:r>
            <a:endParaRPr lang="en-US" sz="1000" dirty="0"/>
          </a:p>
        </p:txBody>
      </p:sp>
      <p:sp>
        <p:nvSpPr>
          <p:cNvPr id="19" name="Shape 17"/>
          <p:cNvSpPr/>
          <p:nvPr/>
        </p:nvSpPr>
        <p:spPr>
          <a:xfrm>
            <a:off x="411480" y="2834640"/>
            <a:ext cx="8321040" cy="365760"/>
          </a:xfrm>
          <a:prstGeom prst="rect">
            <a:avLst/>
          </a:prstGeom>
          <a:solidFill>
            <a:srgbClr val="212121"/>
          </a:solidFill>
          <a:ln w="12700">
            <a:solidFill>
              <a:srgbClr val="2A2A2A"/>
            </a:solidFill>
            <a:prstDash val="solid"/>
          </a:ln>
        </p:spPr>
        <p:txBody>
          <a:bodyPr/>
          <a:lstStyle/>
          <a:p>
            <a:endParaRPr/>
          </a:p>
        </p:txBody>
      </p:sp>
      <p:sp>
        <p:nvSpPr>
          <p:cNvPr id="20" name="Text 18"/>
          <p:cNvSpPr txBox="1"/>
          <p:nvPr/>
        </p:nvSpPr>
        <p:spPr>
          <a:xfrm>
            <a:off x="548640" y="2871216"/>
            <a:ext cx="5303520" cy="292608"/>
          </a:xfrm>
          <a:prstGeom prst="rect">
            <a:avLst/>
          </a:prstGeom>
          <a:noFill/>
          <a:ln/>
        </p:spPr>
        <p:txBody>
          <a:bodyPr wrap="square" rtlCol="0" anchor="ctr"/>
          <a:lstStyle/>
          <a:p>
            <a:pPr marL="0" indent="0">
              <a:buNone/>
            </a:pPr>
            <a:r>
              <a:rPr lang="en-US" sz="1200" b="1" dirty="0">
                <a:solidFill>
                  <a:srgbClr val="FFFFFF"/>
                </a:solidFill>
              </a:rPr>
              <a:t>Capital in the new year — physical space and a second winder</a:t>
            </a:r>
            <a:endParaRPr lang="en-US" sz="1200" dirty="0"/>
          </a:p>
        </p:txBody>
      </p:sp>
      <p:sp>
        <p:nvSpPr>
          <p:cNvPr id="21" name="Text 19"/>
          <p:cNvSpPr txBox="1"/>
          <p:nvPr/>
        </p:nvSpPr>
        <p:spPr>
          <a:xfrm>
            <a:off x="5989320" y="2871216"/>
            <a:ext cx="2606040" cy="292608"/>
          </a:xfrm>
          <a:prstGeom prst="rect">
            <a:avLst/>
          </a:prstGeom>
          <a:noFill/>
          <a:ln/>
        </p:spPr>
        <p:txBody>
          <a:bodyPr wrap="square" rtlCol="0" anchor="ctr"/>
          <a:lstStyle/>
          <a:p>
            <a:pPr marL="0" indent="0" algn="r">
              <a:buNone/>
            </a:pPr>
            <a:r>
              <a:rPr lang="en-US" sz="1000" dirty="0">
                <a:solidFill>
                  <a:srgbClr val="888888"/>
                </a:solidFill>
              </a:rPr>
              <a:t>(amount TBD; committed at financing close)</a:t>
            </a:r>
            <a:endParaRPr lang="en-US" sz="1000" dirty="0"/>
          </a:p>
        </p:txBody>
      </p:sp>
      <p:sp>
        <p:nvSpPr>
          <p:cNvPr id="22" name="Shape 20"/>
          <p:cNvSpPr/>
          <p:nvPr/>
        </p:nvSpPr>
        <p:spPr>
          <a:xfrm>
            <a:off x="411480" y="3218688"/>
            <a:ext cx="8321040" cy="365760"/>
          </a:xfrm>
          <a:prstGeom prst="rect">
            <a:avLst/>
          </a:prstGeom>
          <a:solidFill>
            <a:srgbClr val="1C1C1C"/>
          </a:solidFill>
          <a:ln w="12700">
            <a:solidFill>
              <a:srgbClr val="2A2A2A"/>
            </a:solidFill>
            <a:prstDash val="solid"/>
          </a:ln>
        </p:spPr>
        <p:txBody>
          <a:bodyPr/>
          <a:lstStyle/>
          <a:p>
            <a:endParaRPr/>
          </a:p>
        </p:txBody>
      </p:sp>
      <p:sp>
        <p:nvSpPr>
          <p:cNvPr id="23" name="Text 21"/>
          <p:cNvSpPr txBox="1"/>
          <p:nvPr/>
        </p:nvSpPr>
        <p:spPr>
          <a:xfrm>
            <a:off x="548640" y="3255264"/>
            <a:ext cx="5303520" cy="292608"/>
          </a:xfrm>
          <a:prstGeom prst="rect">
            <a:avLst/>
          </a:prstGeom>
          <a:noFill/>
          <a:ln/>
        </p:spPr>
        <p:txBody>
          <a:bodyPr wrap="square" rtlCol="0" anchor="ctr"/>
          <a:lstStyle/>
          <a:p>
            <a:pPr marL="0" indent="0">
              <a:buNone/>
            </a:pPr>
            <a:r>
              <a:rPr lang="en-US" sz="1200" b="1" dirty="0">
                <a:solidFill>
                  <a:srgbClr val="FFFFFF"/>
                </a:solidFill>
              </a:rPr>
              <a:t>Employment offers + option pool</a:t>
            </a:r>
            <a:endParaRPr lang="en-US" sz="1200" dirty="0"/>
          </a:p>
        </p:txBody>
      </p:sp>
      <p:sp>
        <p:nvSpPr>
          <p:cNvPr id="24" name="Text 22"/>
          <p:cNvSpPr txBox="1"/>
          <p:nvPr/>
        </p:nvSpPr>
        <p:spPr>
          <a:xfrm>
            <a:off x="5989320" y="3255264"/>
            <a:ext cx="2606040" cy="292608"/>
          </a:xfrm>
          <a:prstGeom prst="rect">
            <a:avLst/>
          </a:prstGeom>
          <a:noFill/>
          <a:ln/>
        </p:spPr>
        <p:txBody>
          <a:bodyPr wrap="square" rtlCol="0" anchor="ctr"/>
          <a:lstStyle/>
          <a:p>
            <a:pPr marL="0" indent="0" algn="r">
              <a:buNone/>
            </a:pPr>
            <a:r>
              <a:rPr lang="en-US" sz="1000" dirty="0">
                <a:solidFill>
                  <a:srgbClr val="888888"/>
                </a:solidFill>
              </a:rPr>
              <a:t>at financing close (target Jan 15, 2027)</a:t>
            </a:r>
            <a:endParaRPr lang="en-US" sz="1000" dirty="0"/>
          </a:p>
        </p:txBody>
      </p:sp>
      <p:sp>
        <p:nvSpPr>
          <p:cNvPr id="25" name="Shape 23"/>
          <p:cNvSpPr/>
          <p:nvPr/>
        </p:nvSpPr>
        <p:spPr>
          <a:xfrm>
            <a:off x="411480" y="3602736"/>
            <a:ext cx="8321040" cy="365760"/>
          </a:xfrm>
          <a:prstGeom prst="rect">
            <a:avLst/>
          </a:prstGeom>
          <a:solidFill>
            <a:srgbClr val="212121"/>
          </a:solidFill>
          <a:ln w="12700">
            <a:solidFill>
              <a:srgbClr val="2A2A2A"/>
            </a:solidFill>
            <a:prstDash val="solid"/>
          </a:ln>
        </p:spPr>
        <p:txBody>
          <a:bodyPr/>
          <a:lstStyle/>
          <a:p>
            <a:endParaRPr/>
          </a:p>
        </p:txBody>
      </p:sp>
      <p:sp>
        <p:nvSpPr>
          <p:cNvPr id="26" name="Text 24"/>
          <p:cNvSpPr txBox="1"/>
          <p:nvPr/>
        </p:nvSpPr>
        <p:spPr>
          <a:xfrm>
            <a:off x="548640" y="3639312"/>
            <a:ext cx="5303520" cy="292608"/>
          </a:xfrm>
          <a:prstGeom prst="rect">
            <a:avLst/>
          </a:prstGeom>
          <a:noFill/>
          <a:ln/>
        </p:spPr>
        <p:txBody>
          <a:bodyPr wrap="square" rtlCol="0" anchor="ctr"/>
          <a:lstStyle/>
          <a:p>
            <a:pPr marL="0" indent="0">
              <a:buNone/>
            </a:pPr>
            <a:r>
              <a:rPr lang="en-US" sz="1200" b="1" dirty="0">
                <a:solidFill>
                  <a:srgbClr val="FFFFFF"/>
                </a:solidFill>
              </a:rPr>
              <a:t>Earn-outs on milestones and tank revenue</a:t>
            </a:r>
            <a:endParaRPr lang="en-US" sz="1200" dirty="0"/>
          </a:p>
        </p:txBody>
      </p:sp>
      <p:sp>
        <p:nvSpPr>
          <p:cNvPr id="27" name="Text 25"/>
          <p:cNvSpPr txBox="1"/>
          <p:nvPr/>
        </p:nvSpPr>
        <p:spPr>
          <a:xfrm>
            <a:off x="5989320" y="3639312"/>
            <a:ext cx="2606040" cy="292608"/>
          </a:xfrm>
          <a:prstGeom prst="rect">
            <a:avLst/>
          </a:prstGeom>
          <a:noFill/>
          <a:ln/>
        </p:spPr>
        <p:txBody>
          <a:bodyPr wrap="square" rtlCol="0" anchor="ctr"/>
          <a:lstStyle/>
          <a:p>
            <a:pPr marL="0" indent="0" algn="r">
              <a:buNone/>
            </a:pPr>
            <a:r>
              <a:rPr lang="en-US" sz="1000" dirty="0">
                <a:solidFill>
                  <a:srgbClr val="888888"/>
                </a:solidFill>
              </a:rPr>
              <a:t>FY27–FY31 as triggered</a:t>
            </a:r>
            <a:endParaRPr lang="en-US" sz="1000" dirty="0"/>
          </a:p>
        </p:txBody>
      </p:sp>
      <p:sp>
        <p:nvSpPr>
          <p:cNvPr id="28" name="Shape 26"/>
          <p:cNvSpPr/>
          <p:nvPr/>
        </p:nvSpPr>
        <p:spPr>
          <a:xfrm>
            <a:off x="365760" y="4078224"/>
            <a:ext cx="8412480" cy="594360"/>
          </a:xfrm>
          <a:prstGeom prst="rect">
            <a:avLst/>
          </a:prstGeom>
          <a:solidFill>
            <a:srgbClr val="2A1000"/>
          </a:solidFill>
          <a:ln w="12700">
            <a:solidFill>
              <a:srgbClr val="F26A21"/>
            </a:solidFill>
            <a:prstDash val="solid"/>
          </a:ln>
        </p:spPr>
        <p:txBody>
          <a:bodyPr/>
          <a:lstStyle/>
          <a:p>
            <a:endParaRPr/>
          </a:p>
        </p:txBody>
      </p:sp>
      <p:sp>
        <p:nvSpPr>
          <p:cNvPr id="29" name="Text 27"/>
          <p:cNvSpPr txBox="1"/>
          <p:nvPr/>
        </p:nvSpPr>
        <p:spPr>
          <a:xfrm>
            <a:off x="502920" y="4142232"/>
            <a:ext cx="8229600" cy="457200"/>
          </a:xfrm>
          <a:prstGeom prst="rect">
            <a:avLst/>
          </a:prstGeom>
          <a:noFill/>
          <a:ln/>
        </p:spPr>
        <p:txBody>
          <a:bodyPr wrap="square" rtlCol="0" anchor="ctr"/>
          <a:lstStyle/>
          <a:p>
            <a:pPr marL="0" indent="0" algn="ctr">
              <a:buNone/>
            </a:pPr>
            <a:r>
              <a:rPr lang="en-US" sz="1200" b="1" dirty="0">
                <a:solidFill>
                  <a:srgbClr val="F26A21"/>
                </a:solidFill>
              </a:rPr>
              <a:t>Five motions today: approve offer + §3 exclusivity (90-day + 60-day extension)  →  financing close target Jan 15, 2027</a:t>
            </a:r>
            <a:endParaRPr lang="en-US" sz="1500" dirty="0"/>
          </a:p>
        </p:txBody>
      </p:sp>
      <p:pic>
        <p:nvPicPr>
          <p:cNvPr id="30" name="Image 0" descr="/Users/exomac/.openclaw/workspace/drafts/_exos_white_official.png"/>
          <p:cNvPicPr>
            <a:picLocks noChangeAspect="1"/>
          </p:cNvPicPr>
          <p:nvPr/>
        </p:nvPicPr>
        <p:blipFill>
          <a:blip r:embed="rId3"/>
          <a:stretch>
            <a:fillRect/>
          </a:stretch>
        </p:blipFill>
        <p:spPr>
          <a:xfrm>
            <a:off x="228600" y="4754880"/>
            <a:ext cx="1188720" cy="256032"/>
          </a:xfrm>
          <a:prstGeom prst="rect">
            <a:avLst/>
          </a:prstGeom>
        </p:spPr>
      </p:pic>
      <p:sp>
        <p:nvSpPr>
          <p:cNvPr id="31" name="Text 28"/>
          <p:cNvSpPr txBox="1"/>
          <p:nvPr/>
        </p:nvSpPr>
        <p:spPr>
          <a:xfrm>
            <a:off x="1554480" y="4800600"/>
            <a:ext cx="6035040" cy="228600"/>
          </a:xfrm>
          <a:prstGeom prst="rect">
            <a:avLst/>
          </a:prstGeom>
          <a:noFill/>
          <a:ln/>
        </p:spPr>
        <p:txBody>
          <a:bodyPr wrap="square" rtlCol="0" anchor="ctr"/>
          <a:lstStyle/>
          <a:p>
            <a:pPr marL="0" indent="0" algn="ctr">
              <a:buNone/>
            </a:pPr>
            <a:r>
              <a:rPr lang="en-US" sz="1000" i="1" dirty="0">
                <a:solidFill>
                  <a:srgbClr val="888888"/>
                </a:solidFill>
              </a:rPr>
              <a:t>DRAFT — NEGOTIATING TERMS</a:t>
            </a:r>
            <a:endParaRPr lang="en-US" sz="700" dirty="0"/>
          </a:p>
        </p:txBody>
      </p:sp>
      <p:sp>
        <p:nvSpPr>
          <p:cNvPr id="32" name="Text 29"/>
          <p:cNvSpPr txBox="1"/>
          <p:nvPr/>
        </p:nvSpPr>
        <p:spPr>
          <a:xfrm>
            <a:off x="7772400" y="4800600"/>
            <a:ext cx="1143000" cy="228600"/>
          </a:xfrm>
          <a:prstGeom prst="rect">
            <a:avLst/>
          </a:prstGeom>
          <a:noFill/>
          <a:ln/>
        </p:spPr>
        <p:txBody>
          <a:bodyPr wrap="square" rtlCol="0" anchor="ctr"/>
          <a:lstStyle/>
          <a:p>
            <a:pPr marL="0" indent="0" algn="r">
              <a:buNone/>
            </a:pPr>
            <a:r>
              <a:rPr lang="en-US" sz="1000" i="1" dirty="0">
                <a:solidFill>
                  <a:srgbClr val="888888"/>
                </a:solidFill>
              </a:rPr>
              <a:t>CONFIDENTIAL</a:t>
            </a:r>
            <a:endParaRPr lang="en-US" sz="700" dirty="0"/>
          </a:p>
        </p:txBody>
      </p:sp>
      <p:sp>
        <p:nvSpPr>
          <p:cNvPr id="33" name="TextBox 32"/>
          <p:cNvSpPr txBox="1"/>
          <p:nvPr/>
        </p:nvSpPr>
        <p:spPr>
          <a:xfrm>
            <a:off x="548640" y="2103120"/>
            <a:ext cx="7772400" cy="292608"/>
          </a:xfrm>
          <a:prstGeom prst="rect">
            <a:avLst/>
          </a:prstGeom>
          <a:noFill/>
        </p:spPr>
        <p:txBody>
          <a:bodyPr wrap="sq" anchor="t">
            <a:spAutoFit/>
          </a:bodyPr>
          <a:lstStyle/>
          <a:p>
            <a:r>
              <a:rPr lang="en-US" sz="1000" dirty="0" i="1">
                <a:solidFill>
                  <a:srgbClr val="888888"/>
                </a:solidFill>
                <a:latin typeface="Calibri"/>
              </a:rPr>
              <a:t>Timing: financing close (target Jan 15, 2027) → ~1 month to complete asset acquisition close → ~2 months to execute move into CA facility.  Employment offers issued at financing close.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64008"/>
            <a:ext cx="8686800" cy="402336"/>
          </a:xfrm>
          <a:prstGeom prst="rect">
            <a:avLst/>
          </a:prstGeom>
          <a:noFill/>
        </p:spPr>
        <p:txBody>
          <a:bodyPr wrap="square">
            <a:spAutoFit/>
          </a:bodyPr>
          <a:lstStyle/>
          <a:p>
            <a:pPr algn="l"/>
            <a:r>
              <a:rPr sz="1500" b="1">
                <a:solidFill>
                  <a:srgbClr val="FFFFFF"/>
                </a:solidFill>
                <a:latin typeface="Cambria"/>
              </a:rPr>
              <a:t>Projected Shareholder Payout — Close Jan 15, 2027  (Base Case, Current Books)</a:t>
            </a:r>
          </a:p>
        </p:txBody>
      </p:sp>
      <p:sp>
        <p:nvSpPr>
          <p:cNvPr id="4" name="Rectangle 3"/>
          <p:cNvSpPr/>
          <p:nvPr/>
        </p:nvSpPr>
        <p:spPr>
          <a:xfrm>
            <a:off x="228600" y="466344"/>
            <a:ext cx="2011680" cy="32004"/>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64592" y="521207"/>
            <a:ext cx="4315968" cy="35112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64592" y="521207"/>
            <a:ext cx="45720" cy="351129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576071"/>
            <a:ext cx="4151376" cy="201168"/>
          </a:xfrm>
          <a:prstGeom prst="rect">
            <a:avLst/>
          </a:prstGeom>
          <a:noFill/>
        </p:spPr>
        <p:txBody>
          <a:bodyPr wrap="square">
            <a:spAutoFit/>
          </a:bodyPr>
          <a:lstStyle/>
          <a:p>
            <a:pPr algn="l"/>
            <a:r>
              <a:rPr sz="1000" b="1" i="0">
                <a:solidFill>
                  <a:srgbClr val="F26A21"/>
                </a:solidFill>
                <a:latin typeface="Calibri"/>
              </a:rPr>
              <a:t>Cash to Shareholders at Close</a:t>
            </a:r>
          </a:p>
        </p:txBody>
      </p:sp>
      <p:sp>
        <p:nvSpPr>
          <p:cNvPr id="8" name="TextBox 7"/>
          <p:cNvSpPr txBox="1"/>
          <p:nvPr/>
        </p:nvSpPr>
        <p:spPr>
          <a:xfrm>
            <a:off x="274320" y="795527"/>
            <a:ext cx="3154679" cy="169164"/>
          </a:xfrm>
          <a:prstGeom prst="rect">
            <a:avLst/>
          </a:prstGeom>
          <a:noFill/>
        </p:spPr>
        <p:txBody>
          <a:bodyPr wrap="square">
            <a:spAutoFit/>
          </a:bodyPr>
          <a:lstStyle/>
          <a:p>
            <a:pPr algn="l"/>
            <a:r>
              <a:rPr sz="1000" b="0" i="0">
                <a:solidFill>
                  <a:srgbClr val="CCCCCC"/>
                </a:solidFill>
                <a:latin typeface="Calibri"/>
              </a:rPr>
              <a:t>Exos cash purchase price</a:t>
            </a:r>
          </a:p>
        </p:txBody>
      </p:sp>
      <p:sp>
        <p:nvSpPr>
          <p:cNvPr id="9" name="TextBox 8"/>
          <p:cNvSpPr txBox="1"/>
          <p:nvPr/>
        </p:nvSpPr>
        <p:spPr>
          <a:xfrm>
            <a:off x="3474719" y="795527"/>
            <a:ext cx="914400" cy="169164"/>
          </a:xfrm>
          <a:prstGeom prst="rect">
            <a:avLst/>
          </a:prstGeom>
          <a:noFill/>
        </p:spPr>
        <p:txBody>
          <a:bodyPr wrap="square">
            <a:spAutoFit/>
          </a:bodyPr>
          <a:lstStyle/>
          <a:p>
            <a:pPr algn="r"/>
            <a:r>
              <a:rPr sz="1000" b="0" i="0">
                <a:solidFill>
                  <a:srgbClr val="FFFFFF"/>
                </a:solidFill>
                <a:latin typeface="Calibri"/>
              </a:rPr>
              <a:t>+$2,510,000</a:t>
            </a:r>
          </a:p>
        </p:txBody>
      </p:sp>
      <p:sp>
        <p:nvSpPr>
          <p:cNvPr id="10" name="TextBox 9"/>
          <p:cNvSpPr txBox="1"/>
          <p:nvPr/>
        </p:nvSpPr>
        <p:spPr>
          <a:xfrm>
            <a:off x="274320" y="955547"/>
            <a:ext cx="3154679" cy="169164"/>
          </a:xfrm>
          <a:prstGeom prst="rect">
            <a:avLst/>
          </a:prstGeom>
          <a:noFill/>
        </p:spPr>
        <p:txBody>
          <a:bodyPr wrap="square">
            <a:spAutoFit/>
          </a:bodyPr>
          <a:lstStyle/>
          <a:p>
            <a:pPr algn="l"/>
            <a:r>
              <a:rPr sz="1000" b="0" i="1">
                <a:solidFill>
                  <a:srgbClr val="888888"/>
                </a:solidFill>
                <a:latin typeface="Calibri"/>
              </a:rPr>
              <a:t>+ SSLC cash at close (est.; $590K on 10/11)</a:t>
            </a:r>
          </a:p>
        </p:txBody>
      </p:sp>
      <p:sp>
        <p:nvSpPr>
          <p:cNvPr id="11" name="TextBox 10"/>
          <p:cNvSpPr txBox="1"/>
          <p:nvPr/>
        </p:nvSpPr>
        <p:spPr>
          <a:xfrm>
            <a:off x="3474719" y="955547"/>
            <a:ext cx="914400" cy="169164"/>
          </a:xfrm>
          <a:prstGeom prst="rect">
            <a:avLst/>
          </a:prstGeom>
          <a:noFill/>
        </p:spPr>
        <p:txBody>
          <a:bodyPr wrap="square">
            <a:spAutoFit/>
          </a:bodyPr>
          <a:lstStyle/>
          <a:p>
            <a:pPr algn="r"/>
            <a:r>
              <a:rPr sz="1000" b="0" i="0">
                <a:solidFill>
                  <a:srgbClr val="888888"/>
                </a:solidFill>
                <a:latin typeface="Calibri"/>
              </a:rPr>
              <a:t>+$675,000</a:t>
            </a:r>
          </a:p>
        </p:txBody>
      </p:sp>
      <p:sp>
        <p:nvSpPr>
          <p:cNvPr id="12" name="Rectangle 11"/>
          <p:cNvSpPr/>
          <p:nvPr/>
        </p:nvSpPr>
        <p:spPr>
          <a:xfrm>
            <a:off x="274320" y="1152144"/>
            <a:ext cx="4151376" cy="9144"/>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4320" y="1115568"/>
            <a:ext cx="3154679" cy="169164"/>
          </a:xfrm>
          <a:prstGeom prst="rect">
            <a:avLst/>
          </a:prstGeom>
          <a:noFill/>
        </p:spPr>
        <p:txBody>
          <a:bodyPr wrap="square">
            <a:spAutoFit/>
          </a:bodyPr>
          <a:lstStyle/>
          <a:p>
            <a:pPr algn="l"/>
            <a:r>
              <a:rPr sz="1000" b="0" i="0">
                <a:solidFill>
                  <a:srgbClr val="CCCCCC"/>
                </a:solidFill>
                <a:latin typeface="Calibri"/>
              </a:rPr>
              <a:t>Subtotal inflows</a:t>
            </a:r>
          </a:p>
        </p:txBody>
      </p:sp>
      <p:sp>
        <p:nvSpPr>
          <p:cNvPr id="14" name="TextBox 13"/>
          <p:cNvSpPr txBox="1"/>
          <p:nvPr/>
        </p:nvSpPr>
        <p:spPr>
          <a:xfrm>
            <a:off x="3474719" y="1115568"/>
            <a:ext cx="914400" cy="169164"/>
          </a:xfrm>
          <a:prstGeom prst="rect">
            <a:avLst/>
          </a:prstGeom>
          <a:noFill/>
        </p:spPr>
        <p:txBody>
          <a:bodyPr wrap="square">
            <a:spAutoFit/>
          </a:bodyPr>
          <a:lstStyle/>
          <a:p>
            <a:pPr algn="r"/>
            <a:r>
              <a:rPr sz="1000" b="1" i="0">
                <a:solidFill>
                  <a:srgbClr val="CCCCCC"/>
                </a:solidFill>
                <a:latin typeface="Calibri"/>
              </a:rPr>
              <a:t>$3,185,000</a:t>
            </a:r>
          </a:p>
        </p:txBody>
      </p:sp>
      <p:sp>
        <p:nvSpPr>
          <p:cNvPr id="15" name="TextBox 14"/>
          <p:cNvSpPr txBox="1"/>
          <p:nvPr/>
        </p:nvSpPr>
        <p:spPr>
          <a:xfrm>
            <a:off x="274320" y="1284732"/>
            <a:ext cx="3154679" cy="169164"/>
          </a:xfrm>
          <a:prstGeom prst="rect">
            <a:avLst/>
          </a:prstGeom>
          <a:noFill/>
        </p:spPr>
        <p:txBody>
          <a:bodyPr wrap="square">
            <a:spAutoFit/>
          </a:bodyPr>
          <a:lstStyle/>
          <a:p>
            <a:pPr algn="l"/>
            <a:r>
              <a:rPr sz="1000" b="0" i="0">
                <a:solidFill>
                  <a:srgbClr val="CCCCCC"/>
                </a:solidFill>
                <a:latin typeface="Calibri"/>
              </a:rPr>
              <a:t>− SSLC loans &amp; notes</a:t>
            </a:r>
          </a:p>
        </p:txBody>
      </p:sp>
      <p:sp>
        <p:nvSpPr>
          <p:cNvPr id="16" name="TextBox 15"/>
          <p:cNvSpPr txBox="1"/>
          <p:nvPr/>
        </p:nvSpPr>
        <p:spPr>
          <a:xfrm>
            <a:off x="3474719" y="1284732"/>
            <a:ext cx="914400" cy="169164"/>
          </a:xfrm>
          <a:prstGeom prst="rect">
            <a:avLst/>
          </a:prstGeom>
          <a:noFill/>
        </p:spPr>
        <p:txBody>
          <a:bodyPr wrap="square">
            <a:spAutoFit/>
          </a:bodyPr>
          <a:lstStyle/>
          <a:p>
            <a:pPr algn="r"/>
            <a:r>
              <a:rPr sz="1000" b="0" i="0">
                <a:solidFill>
                  <a:srgbClr val="FF7755"/>
                </a:solidFill>
                <a:latin typeface="Calibri"/>
              </a:rPr>
              <a:t>($1,027,783)</a:t>
            </a:r>
          </a:p>
        </p:txBody>
      </p:sp>
      <p:sp>
        <p:nvSpPr>
          <p:cNvPr id="19" name="TextBox 18"/>
          <p:cNvSpPr txBox="1"/>
          <p:nvPr/>
        </p:nvSpPr>
        <p:spPr>
          <a:xfrm>
            <a:off x="274320" y="1701698"/>
            <a:ext cx="3154679" cy="169164"/>
          </a:xfrm>
          <a:prstGeom prst="rect">
            <a:avLst/>
          </a:prstGeom>
          <a:noFill/>
        </p:spPr>
        <p:txBody>
          <a:bodyPr wrap="square">
            <a:spAutoFit/>
          </a:bodyPr>
          <a:lstStyle/>
          <a:p>
            <a:pPr algn="l"/>
            <a:r>
              <a:rPr sz="1000" b="0" i="0">
                <a:solidFill>
                  <a:srgbClr val="CCCCCC"/>
                </a:solidFill>
                <a:latin typeface="Calibri"/>
              </a:rPr>
              <a:t>− Other current liabilities (AP, accruals)</a:t>
            </a:r>
          </a:p>
        </p:txBody>
      </p:sp>
      <p:sp>
        <p:nvSpPr>
          <p:cNvPr id="20" name="TextBox 19"/>
          <p:cNvSpPr txBox="1"/>
          <p:nvPr/>
        </p:nvSpPr>
        <p:spPr>
          <a:xfrm>
            <a:off x="3474719" y="1701698"/>
            <a:ext cx="914400" cy="169164"/>
          </a:xfrm>
          <a:prstGeom prst="rect">
            <a:avLst/>
          </a:prstGeom>
          <a:noFill/>
        </p:spPr>
        <p:txBody>
          <a:bodyPr wrap="square">
            <a:spAutoFit/>
          </a:bodyPr>
          <a:lstStyle/>
          <a:p>
            <a:pPr algn="r"/>
            <a:r>
              <a:rPr sz="1000" b="0" i="0">
                <a:solidFill>
                  <a:srgbClr val="FF7755"/>
                </a:solidFill>
                <a:latin typeface="Calibri"/>
              </a:rPr>
              <a:t>($148,738)</a:t>
            </a:r>
          </a:p>
        </p:txBody>
      </p:sp>
      <p:sp>
        <p:nvSpPr>
          <p:cNvPr id="21" name="TextBox 20"/>
          <p:cNvSpPr txBox="1"/>
          <p:nvPr/>
        </p:nvSpPr>
        <p:spPr>
          <a:xfrm>
            <a:off x="274320" y="1861718"/>
            <a:ext cx="3154679" cy="169164"/>
          </a:xfrm>
          <a:prstGeom prst="rect">
            <a:avLst/>
          </a:prstGeom>
          <a:noFill/>
        </p:spPr>
        <p:txBody>
          <a:bodyPr wrap="square">
            <a:spAutoFit/>
          </a:bodyPr>
          <a:lstStyle/>
          <a:p>
            <a:pPr algn="l"/>
            <a:r>
              <a:rPr sz="1000" b="0" i="0">
                <a:solidFill>
                  <a:srgbClr val="CCCCCC"/>
                </a:solidFill>
                <a:latin typeface="Calibri"/>
              </a:rPr>
              <a:t>− Customer deposits (IM, transferred)</a:t>
            </a:r>
          </a:p>
        </p:txBody>
      </p:sp>
      <p:sp>
        <p:nvSpPr>
          <p:cNvPr id="22" name="TextBox 21"/>
          <p:cNvSpPr txBox="1"/>
          <p:nvPr/>
        </p:nvSpPr>
        <p:spPr>
          <a:xfrm>
            <a:off x="3474719" y="1861718"/>
            <a:ext cx="914400" cy="169164"/>
          </a:xfrm>
          <a:prstGeom prst="rect">
            <a:avLst/>
          </a:prstGeom>
          <a:noFill/>
        </p:spPr>
        <p:txBody>
          <a:bodyPr wrap="square">
            <a:spAutoFit/>
          </a:bodyPr>
          <a:lstStyle/>
          <a:p>
            <a:pPr algn="r"/>
            <a:r>
              <a:rPr sz="1000" b="0" i="0">
                <a:solidFill>
                  <a:srgbClr val="FF7755"/>
                </a:solidFill>
                <a:latin typeface="Calibri"/>
              </a:rPr>
              <a:t>($120,000)</a:t>
            </a:r>
          </a:p>
        </p:txBody>
      </p:sp>
      <p:sp>
        <p:nvSpPr>
          <p:cNvPr id="23" name="TextBox 22"/>
          <p:cNvSpPr txBox="1"/>
          <p:nvPr/>
        </p:nvSpPr>
        <p:spPr>
          <a:xfrm>
            <a:off x="274320" y="2021738"/>
            <a:ext cx="3154679" cy="169164"/>
          </a:xfrm>
          <a:prstGeom prst="rect">
            <a:avLst/>
          </a:prstGeom>
          <a:noFill/>
        </p:spPr>
        <p:txBody>
          <a:bodyPr wrap="square">
            <a:spAutoFit/>
          </a:bodyPr>
          <a:lstStyle/>
          <a:p>
            <a:pPr algn="l"/>
            <a:r>
              <a:rPr sz="1000" b="0" i="0">
                <a:solidFill>
                  <a:srgbClr val="CCCCCC"/>
                </a:solidFill>
                <a:latin typeface="Calibri"/>
              </a:rPr>
              <a:t>− Billed-ahead work, genuine (Exos est.)</a:t>
            </a:r>
          </a:p>
        </p:txBody>
      </p:sp>
      <p:sp>
        <p:nvSpPr>
          <p:cNvPr id="24" name="TextBox 23"/>
          <p:cNvSpPr txBox="1"/>
          <p:nvPr/>
        </p:nvSpPr>
        <p:spPr>
          <a:xfrm>
            <a:off x="3474719" y="2021738"/>
            <a:ext cx="914400" cy="169164"/>
          </a:xfrm>
          <a:prstGeom prst="rect">
            <a:avLst/>
          </a:prstGeom>
          <a:noFill/>
        </p:spPr>
        <p:txBody>
          <a:bodyPr wrap="square">
            <a:spAutoFit/>
          </a:bodyPr>
          <a:lstStyle/>
          <a:p>
            <a:pPr algn="r"/>
            <a:r>
              <a:rPr sz="1000" b="0" i="0">
                <a:solidFill>
                  <a:srgbClr val="FF7755"/>
                </a:solidFill>
                <a:latin typeface="Calibri"/>
              </a:rPr>
              <a:t>($250,000)</a:t>
            </a:r>
          </a:p>
        </p:txBody>
      </p:sp>
      <p:sp>
        <p:nvSpPr>
          <p:cNvPr id="25" name="TextBox 24"/>
          <p:cNvSpPr txBox="1"/>
          <p:nvPr/>
        </p:nvSpPr>
        <p:spPr>
          <a:xfrm>
            <a:off x="274320" y="2181758"/>
            <a:ext cx="3154679" cy="169164"/>
          </a:xfrm>
          <a:prstGeom prst="rect">
            <a:avLst/>
          </a:prstGeom>
          <a:noFill/>
        </p:spPr>
        <p:txBody>
          <a:bodyPr wrap="square">
            <a:spAutoFit/>
          </a:bodyPr>
          <a:lstStyle/>
          <a:p>
            <a:pPr algn="l"/>
            <a:r>
              <a:rPr sz="1000" b="0" i="0">
                <a:solidFill>
                  <a:srgbClr val="CCCCCC"/>
                </a:solidFill>
                <a:latin typeface="Calibri"/>
              </a:rPr>
              <a:t>− 5% escrow holdback (released 12 months)</a:t>
            </a:r>
          </a:p>
        </p:txBody>
      </p:sp>
      <p:sp>
        <p:nvSpPr>
          <p:cNvPr id="26" name="TextBox 25"/>
          <p:cNvSpPr txBox="1"/>
          <p:nvPr/>
        </p:nvSpPr>
        <p:spPr>
          <a:xfrm>
            <a:off x="3474719" y="2181758"/>
            <a:ext cx="914400" cy="169164"/>
          </a:xfrm>
          <a:prstGeom prst="rect">
            <a:avLst/>
          </a:prstGeom>
          <a:noFill/>
        </p:spPr>
        <p:txBody>
          <a:bodyPr wrap="square">
            <a:spAutoFit/>
          </a:bodyPr>
          <a:lstStyle/>
          <a:p>
            <a:pPr algn="r"/>
            <a:r>
              <a:rPr sz="1000" b="0" i="0">
                <a:solidFill>
                  <a:srgbClr val="FF7755"/>
                </a:solidFill>
                <a:latin typeface="Calibri"/>
              </a:rPr>
              <a:t>($125,500)</a:t>
            </a:r>
          </a:p>
        </p:txBody>
      </p:sp>
      <p:sp>
        <p:nvSpPr>
          <p:cNvPr id="27" name="Rectangle 26"/>
          <p:cNvSpPr/>
          <p:nvPr/>
        </p:nvSpPr>
        <p:spPr>
          <a:xfrm>
            <a:off x="274320" y="2524658"/>
            <a:ext cx="4151376" cy="1371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4320" y="2552090"/>
            <a:ext cx="3154679" cy="201168"/>
          </a:xfrm>
          <a:prstGeom prst="rect">
            <a:avLst/>
          </a:prstGeom>
          <a:noFill/>
        </p:spPr>
        <p:txBody>
          <a:bodyPr wrap="square">
            <a:spAutoFit/>
          </a:bodyPr>
          <a:lstStyle/>
          <a:p>
            <a:pPr algn="l"/>
            <a:r>
              <a:rPr sz="1000" b="1" i="0">
                <a:solidFill>
                  <a:srgbClr val="FFFFFF"/>
                </a:solidFill>
                <a:latin typeface="Calibri"/>
              </a:rPr>
              <a:t>Net cash distributable at close</a:t>
            </a:r>
          </a:p>
        </p:txBody>
      </p:sp>
      <p:sp>
        <p:nvSpPr>
          <p:cNvPr id="29" name="TextBox 28"/>
          <p:cNvSpPr txBox="1"/>
          <p:nvPr/>
        </p:nvSpPr>
        <p:spPr>
          <a:xfrm>
            <a:off x="3474719" y="2552090"/>
            <a:ext cx="914400" cy="201168"/>
          </a:xfrm>
          <a:prstGeom prst="rect">
            <a:avLst/>
          </a:prstGeom>
          <a:noFill/>
        </p:spPr>
        <p:txBody>
          <a:bodyPr wrap="square">
            <a:spAutoFit/>
          </a:bodyPr>
          <a:lstStyle/>
          <a:p>
            <a:pPr algn="r"/>
            <a:r>
              <a:rPr sz="1100" b="1" i="0">
                <a:solidFill>
                  <a:srgbClr val="F26A21"/>
                </a:solidFill>
                <a:latin typeface="Calibri"/>
              </a:rPr>
              <a:t>~$1.39M</a:t>
            </a:r>
          </a:p>
        </p:txBody>
      </p:sp>
      <p:sp>
        <p:nvSpPr>
          <p:cNvPr id="30" name="TextBox 29"/>
          <p:cNvSpPr txBox="1"/>
          <p:nvPr/>
        </p:nvSpPr>
        <p:spPr>
          <a:xfrm>
            <a:off x="274320" y="2762402"/>
            <a:ext cx="3154679" cy="169164"/>
          </a:xfrm>
          <a:prstGeom prst="rect">
            <a:avLst/>
          </a:prstGeom>
          <a:noFill/>
        </p:spPr>
        <p:txBody>
          <a:bodyPr wrap="square">
            <a:spAutoFit/>
          </a:bodyPr>
          <a:lstStyle/>
          <a:p>
            <a:pPr algn="l"/>
            <a:r>
              <a:rPr sz="1000" b="0" i="0">
                <a:solidFill>
                  <a:srgbClr val="CCCCCC"/>
                </a:solidFill>
                <a:latin typeface="Calibri"/>
              </a:rPr>
              <a:t>+ Key personnel EAI (Rule 504; not pro-rata)</a:t>
            </a:r>
          </a:p>
        </p:txBody>
      </p:sp>
      <p:sp>
        <p:nvSpPr>
          <p:cNvPr id="31" name="TextBox 30"/>
          <p:cNvSpPr txBox="1"/>
          <p:nvPr/>
        </p:nvSpPr>
        <p:spPr>
          <a:xfrm>
            <a:off x="3474719" y="2762402"/>
            <a:ext cx="914400" cy="169164"/>
          </a:xfrm>
          <a:prstGeom prst="rect">
            <a:avLst/>
          </a:prstGeom>
          <a:noFill/>
        </p:spPr>
        <p:txBody>
          <a:bodyPr wrap="square">
            <a:spAutoFit/>
          </a:bodyPr>
          <a:lstStyle/>
          <a:p>
            <a:pPr algn="r"/>
            <a:r>
              <a:rPr sz="1000" b="0" i="0">
                <a:solidFill>
                  <a:srgbClr val="44BB44"/>
                </a:solidFill>
                <a:latin typeface="Calibri"/>
              </a:rPr>
              <a:t>+$1,000,000</a:t>
            </a:r>
          </a:p>
        </p:txBody>
      </p:sp>
      <p:sp>
        <p:nvSpPr>
          <p:cNvPr id="32" name="TextBox 31"/>
          <p:cNvSpPr txBox="1"/>
          <p:nvPr/>
        </p:nvSpPr>
        <p:spPr>
          <a:xfrm>
            <a:off x="274320" y="2922422"/>
            <a:ext cx="3154679" cy="169164"/>
          </a:xfrm>
          <a:prstGeom prst="rect">
            <a:avLst/>
          </a:prstGeom>
          <a:noFill/>
        </p:spPr>
        <p:txBody>
          <a:bodyPr wrap="square">
            <a:spAutoFit/>
          </a:bodyPr>
          <a:lstStyle/>
          <a:p>
            <a:pPr algn="l"/>
            <a:r>
              <a:rPr sz="1000" b="0" i="0">
                <a:solidFill>
                  <a:srgbClr val="CCCCCC"/>
                </a:solidFill>
                <a:latin typeface="Calibri"/>
              </a:rPr>
              <a:t>+ Escrow release at 12 months</a:t>
            </a:r>
          </a:p>
        </p:txBody>
      </p:sp>
      <p:sp>
        <p:nvSpPr>
          <p:cNvPr id="33" name="TextBox 32"/>
          <p:cNvSpPr txBox="1"/>
          <p:nvPr/>
        </p:nvSpPr>
        <p:spPr>
          <a:xfrm>
            <a:off x="3474719" y="2922422"/>
            <a:ext cx="914400" cy="169164"/>
          </a:xfrm>
          <a:prstGeom prst="rect">
            <a:avLst/>
          </a:prstGeom>
          <a:noFill/>
        </p:spPr>
        <p:txBody>
          <a:bodyPr wrap="square">
            <a:spAutoFit/>
          </a:bodyPr>
          <a:lstStyle/>
          <a:p>
            <a:pPr algn="r"/>
            <a:r>
              <a:rPr sz="1000" b="0" i="0">
                <a:solidFill>
                  <a:srgbClr val="44BB44"/>
                </a:solidFill>
                <a:latin typeface="Calibri"/>
              </a:rPr>
              <a:t>+$126,000</a:t>
            </a:r>
          </a:p>
        </p:txBody>
      </p:sp>
      <p:sp>
        <p:nvSpPr>
          <p:cNvPr id="34" name="TextBox 33"/>
          <p:cNvSpPr txBox="1"/>
          <p:nvPr/>
        </p:nvSpPr>
        <p:spPr>
          <a:xfrm>
            <a:off x="274320" y="3049524"/>
            <a:ext cx="3154679" cy="169164"/>
          </a:xfrm>
          <a:prstGeom prst="rect">
            <a:avLst/>
          </a:prstGeom>
          <a:noFill/>
        </p:spPr>
        <p:txBody>
          <a:bodyPr wrap="square">
            <a:spAutoFit/>
          </a:bodyPr>
          <a:lstStyle/>
          <a:p>
            <a:pPr algn="l"/>
            <a:r>
              <a:rPr sz="1000" b="0" i="0">
                <a:solidFill>
                  <a:srgbClr val="CCCCCC"/>
                </a:solidFill>
                <a:latin typeface="Calibri"/>
              </a:rPr>
              <a:t>+ Earn-outs base case (FY27–FY31)</a:t>
            </a:r>
          </a:p>
        </p:txBody>
      </p:sp>
      <p:sp>
        <p:nvSpPr>
          <p:cNvPr id="35" name="TextBox 34"/>
          <p:cNvSpPr txBox="1"/>
          <p:nvPr/>
        </p:nvSpPr>
        <p:spPr>
          <a:xfrm>
            <a:off x="3474719" y="3049524"/>
            <a:ext cx="914400" cy="169164"/>
          </a:xfrm>
          <a:prstGeom prst="rect">
            <a:avLst/>
          </a:prstGeom>
          <a:noFill/>
        </p:spPr>
        <p:txBody>
          <a:bodyPr wrap="square">
            <a:spAutoFit/>
          </a:bodyPr>
          <a:lstStyle/>
          <a:p>
            <a:pPr algn="r"/>
            <a:r>
              <a:rPr sz="1000" b="0" i="0">
                <a:solidFill>
                  <a:srgbClr val="44BB44"/>
                </a:solidFill>
                <a:latin typeface="Calibri"/>
              </a:rPr>
              <a:t>+$2,430,000</a:t>
            </a:r>
          </a:p>
        </p:txBody>
      </p:sp>
      <p:sp>
        <p:nvSpPr>
          <p:cNvPr id="36" name="Rectangle 35"/>
          <p:cNvSpPr/>
          <p:nvPr/>
        </p:nvSpPr>
        <p:spPr>
          <a:xfrm>
            <a:off x="274320" y="3259836"/>
            <a:ext cx="4151376" cy="1371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4320" y="3279038"/>
            <a:ext cx="3154679" cy="228600"/>
          </a:xfrm>
          <a:prstGeom prst="rect">
            <a:avLst/>
          </a:prstGeom>
          <a:noFill/>
        </p:spPr>
        <p:txBody>
          <a:bodyPr wrap="square">
            <a:spAutoFit/>
          </a:bodyPr>
          <a:lstStyle/>
          <a:p>
            <a:pPr algn="l"/>
            <a:r>
              <a:rPr sz="1000" b="1" i="0">
                <a:solidFill>
                  <a:srgbClr val="FFFFFF"/>
                </a:solidFill>
                <a:latin typeface="Calibri"/>
              </a:rPr>
              <a:t>~5-yr to holders (+ $1M EAI to key personnel)</a:t>
            </a:r>
          </a:p>
        </p:txBody>
      </p:sp>
      <p:sp>
        <p:nvSpPr>
          <p:cNvPr id="38" name="TextBox 37"/>
          <p:cNvSpPr txBox="1"/>
          <p:nvPr/>
        </p:nvSpPr>
        <p:spPr>
          <a:xfrm>
            <a:off x="3383279" y="3279038"/>
            <a:ext cx="1005840" cy="228600"/>
          </a:xfrm>
          <a:prstGeom prst="rect">
            <a:avLst/>
          </a:prstGeom>
          <a:noFill/>
        </p:spPr>
        <p:txBody>
          <a:bodyPr wrap="square">
            <a:spAutoFit/>
          </a:bodyPr>
          <a:lstStyle/>
          <a:p>
            <a:pPr algn="r"/>
            <a:r>
              <a:rPr sz="1300" b="1" i="0">
                <a:solidFill>
                  <a:srgbClr val="F26A21"/>
                </a:solidFill>
                <a:latin typeface="Calibri"/>
              </a:rPr>
              <a:t>~$3.95M</a:t>
            </a:r>
          </a:p>
        </p:txBody>
      </p:sp>
      <p:sp>
        <p:nvSpPr>
          <p:cNvPr id="39" name="Rectangle 38"/>
          <p:cNvSpPr/>
          <p:nvPr/>
        </p:nvSpPr>
        <p:spPr>
          <a:xfrm>
            <a:off x="4645152" y="521207"/>
            <a:ext cx="4315968" cy="351129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645152" y="521207"/>
            <a:ext cx="45720" cy="351129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754880" y="576071"/>
            <a:ext cx="4151376" cy="201168"/>
          </a:xfrm>
          <a:prstGeom prst="rect">
            <a:avLst/>
          </a:prstGeom>
          <a:noFill/>
        </p:spPr>
        <p:txBody>
          <a:bodyPr wrap="square">
            <a:spAutoFit/>
          </a:bodyPr>
          <a:lstStyle/>
          <a:p>
            <a:pPr algn="l"/>
            <a:r>
              <a:rPr sz="1000" b="1" i="0">
                <a:solidFill>
                  <a:srgbClr val="F26A21"/>
                </a:solidFill>
                <a:latin typeface="Calibri"/>
              </a:rPr>
              <a:t>What Shareholders Paid In vs. Will Receive</a:t>
            </a:r>
          </a:p>
        </p:txBody>
      </p:sp>
      <p:sp>
        <p:nvSpPr>
          <p:cNvPr id="42" name="TextBox 41"/>
          <p:cNvSpPr txBox="1"/>
          <p:nvPr/>
        </p:nvSpPr>
        <p:spPr>
          <a:xfrm>
            <a:off x="4754880" y="813815"/>
            <a:ext cx="4151376" cy="164592"/>
          </a:xfrm>
          <a:prstGeom prst="rect">
            <a:avLst/>
          </a:prstGeom>
          <a:noFill/>
        </p:spPr>
        <p:txBody>
          <a:bodyPr wrap="square">
            <a:spAutoFit/>
          </a:bodyPr>
          <a:lstStyle/>
          <a:p>
            <a:pPr algn="l"/>
            <a:r>
              <a:rPr sz="1000" b="1" i="0">
                <a:solidFill>
                  <a:srgbClr val="888888"/>
                </a:solidFill>
                <a:latin typeface="Calibri"/>
              </a:rPr>
              <a:t>PAID-IN CAPITAL (per SSLC books)</a:t>
            </a:r>
          </a:p>
        </p:txBody>
      </p:sp>
      <p:sp>
        <p:nvSpPr>
          <p:cNvPr id="43" name="TextBox 42"/>
          <p:cNvSpPr txBox="1"/>
          <p:nvPr/>
        </p:nvSpPr>
        <p:spPr>
          <a:xfrm>
            <a:off x="4754880" y="996695"/>
            <a:ext cx="3063240" cy="169164"/>
          </a:xfrm>
          <a:prstGeom prst="rect">
            <a:avLst/>
          </a:prstGeom>
          <a:noFill/>
        </p:spPr>
        <p:txBody>
          <a:bodyPr wrap="square">
            <a:spAutoFit/>
          </a:bodyPr>
          <a:lstStyle/>
          <a:p>
            <a:pPr algn="l"/>
            <a:r>
              <a:rPr sz="1000" b="0" i="0">
                <a:solidFill>
                  <a:srgbClr val="888888"/>
                </a:solidFill>
                <a:latin typeface="Calibri"/>
              </a:rPr>
              <a:t>Common stock</a:t>
            </a:r>
          </a:p>
        </p:txBody>
      </p:sp>
      <p:sp>
        <p:nvSpPr>
          <p:cNvPr id="44" name="TextBox 43"/>
          <p:cNvSpPr txBox="1"/>
          <p:nvPr/>
        </p:nvSpPr>
        <p:spPr>
          <a:xfrm>
            <a:off x="7863840" y="996695"/>
            <a:ext cx="1005840" cy="169164"/>
          </a:xfrm>
          <a:prstGeom prst="rect">
            <a:avLst/>
          </a:prstGeom>
          <a:noFill/>
        </p:spPr>
        <p:txBody>
          <a:bodyPr wrap="square">
            <a:spAutoFit/>
          </a:bodyPr>
          <a:lstStyle/>
          <a:p>
            <a:pPr algn="r"/>
            <a:r>
              <a:rPr sz="1000" b="0" i="0">
                <a:solidFill>
                  <a:srgbClr val="888888"/>
                </a:solidFill>
                <a:latin typeface="Calibri"/>
              </a:rPr>
              <a:t>$1,010,423</a:t>
            </a:r>
          </a:p>
        </p:txBody>
      </p:sp>
      <p:sp>
        <p:nvSpPr>
          <p:cNvPr id="45" name="TextBox 44"/>
          <p:cNvSpPr txBox="1"/>
          <p:nvPr/>
        </p:nvSpPr>
        <p:spPr>
          <a:xfrm>
            <a:off x="4754880" y="1156716"/>
            <a:ext cx="3063240" cy="169164"/>
          </a:xfrm>
          <a:prstGeom prst="rect">
            <a:avLst/>
          </a:prstGeom>
          <a:noFill/>
        </p:spPr>
        <p:txBody>
          <a:bodyPr wrap="square">
            <a:spAutoFit/>
          </a:bodyPr>
          <a:lstStyle/>
          <a:p>
            <a:pPr algn="l"/>
            <a:r>
              <a:rPr sz="1000" b="0" i="0">
                <a:solidFill>
                  <a:srgbClr val="888888"/>
                </a:solidFill>
                <a:latin typeface="Calibri"/>
              </a:rPr>
              <a:t>Additional paid-in capital (APIC)</a:t>
            </a:r>
          </a:p>
        </p:txBody>
      </p:sp>
      <p:sp>
        <p:nvSpPr>
          <p:cNvPr id="46" name="TextBox 45"/>
          <p:cNvSpPr txBox="1"/>
          <p:nvPr/>
        </p:nvSpPr>
        <p:spPr>
          <a:xfrm>
            <a:off x="7863840" y="1156716"/>
            <a:ext cx="1005840" cy="169164"/>
          </a:xfrm>
          <a:prstGeom prst="rect">
            <a:avLst/>
          </a:prstGeom>
          <a:noFill/>
        </p:spPr>
        <p:txBody>
          <a:bodyPr wrap="square">
            <a:spAutoFit/>
          </a:bodyPr>
          <a:lstStyle/>
          <a:p>
            <a:pPr algn="r"/>
            <a:r>
              <a:rPr sz="1000" b="0" i="0">
                <a:solidFill>
                  <a:srgbClr val="888888"/>
                </a:solidFill>
                <a:latin typeface="Calibri"/>
              </a:rPr>
              <a:t>$4,042</a:t>
            </a:r>
          </a:p>
        </p:txBody>
      </p:sp>
      <p:sp>
        <p:nvSpPr>
          <p:cNvPr id="47" name="Rectangle 46"/>
          <p:cNvSpPr/>
          <p:nvPr/>
        </p:nvSpPr>
        <p:spPr>
          <a:xfrm>
            <a:off x="4754880" y="1335024"/>
            <a:ext cx="4151376" cy="9144"/>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754880" y="1316736"/>
            <a:ext cx="3063240" cy="169164"/>
          </a:xfrm>
          <a:prstGeom prst="rect">
            <a:avLst/>
          </a:prstGeom>
          <a:noFill/>
        </p:spPr>
        <p:txBody>
          <a:bodyPr wrap="square">
            <a:spAutoFit/>
          </a:bodyPr>
          <a:lstStyle/>
          <a:p>
            <a:pPr algn="l"/>
            <a:r>
              <a:rPr sz="1000" b="0" i="0">
                <a:solidFill>
                  <a:srgbClr val="CCCCCC"/>
                </a:solidFill>
                <a:latin typeface="Calibri"/>
              </a:rPr>
              <a:t>Total paid-in capital</a:t>
            </a:r>
          </a:p>
        </p:txBody>
      </p:sp>
      <p:sp>
        <p:nvSpPr>
          <p:cNvPr id="49" name="TextBox 48"/>
          <p:cNvSpPr txBox="1"/>
          <p:nvPr/>
        </p:nvSpPr>
        <p:spPr>
          <a:xfrm>
            <a:off x="7863840" y="1316736"/>
            <a:ext cx="1005840" cy="169164"/>
          </a:xfrm>
          <a:prstGeom prst="rect">
            <a:avLst/>
          </a:prstGeom>
          <a:noFill/>
        </p:spPr>
        <p:txBody>
          <a:bodyPr wrap="square">
            <a:spAutoFit/>
          </a:bodyPr>
          <a:lstStyle/>
          <a:p>
            <a:pPr algn="r"/>
            <a:r>
              <a:rPr sz="1000" b="1" i="0">
                <a:solidFill>
                  <a:srgbClr val="FFFFFF"/>
                </a:solidFill>
                <a:latin typeface="Calibri"/>
              </a:rPr>
              <a:t>$1,014,465</a:t>
            </a:r>
          </a:p>
        </p:txBody>
      </p:sp>
      <p:sp>
        <p:nvSpPr>
          <p:cNvPr id="50" name="TextBox 49"/>
          <p:cNvSpPr txBox="1"/>
          <p:nvPr/>
        </p:nvSpPr>
        <p:spPr>
          <a:xfrm>
            <a:off x="4754880" y="1485900"/>
            <a:ext cx="4151376" cy="173736"/>
          </a:xfrm>
          <a:prstGeom prst="rect">
            <a:avLst/>
          </a:prstGeom>
          <a:noFill/>
        </p:spPr>
        <p:txBody>
          <a:bodyPr wrap="square">
            <a:spAutoFit/>
          </a:bodyPr>
          <a:lstStyle/>
          <a:p>
            <a:pPr algn="l"/>
            <a:r>
              <a:rPr sz="1000" b="0" i="1">
                <a:solidFill>
                  <a:srgbClr val="888888"/>
                </a:solidFill>
                <a:latin typeface="Calibri"/>
              </a:rPr>
              <a:t>  Exos: $790,000 for 18.06% — recognized via $790K stake credit in price</a:t>
            </a:r>
          </a:p>
        </p:txBody>
      </p:sp>
      <p:sp>
        <p:nvSpPr>
          <p:cNvPr id="51" name="TextBox 50"/>
          <p:cNvSpPr txBox="1"/>
          <p:nvPr/>
        </p:nvSpPr>
        <p:spPr>
          <a:xfrm>
            <a:off x="4754880" y="1645920"/>
            <a:ext cx="4151376" cy="173736"/>
          </a:xfrm>
          <a:prstGeom prst="rect">
            <a:avLst/>
          </a:prstGeom>
          <a:noFill/>
        </p:spPr>
        <p:txBody>
          <a:bodyPr wrap="square">
            <a:spAutoFit/>
          </a:bodyPr>
          <a:lstStyle/>
          <a:p>
            <a:pPr algn="l"/>
            <a:r>
              <a:rPr sz="1000" b="0" i="1">
                <a:solidFill>
                  <a:srgbClr val="888888"/>
                </a:solidFill>
                <a:latin typeface="Calibri"/>
              </a:rPr>
              <a:t>  All other holders: ~$224,000 combined for 81.94%</a:t>
            </a:r>
          </a:p>
        </p:txBody>
      </p:sp>
      <p:sp>
        <p:nvSpPr>
          <p:cNvPr id="52" name="TextBox 51"/>
          <p:cNvSpPr txBox="1"/>
          <p:nvPr/>
        </p:nvSpPr>
        <p:spPr>
          <a:xfrm>
            <a:off x="4754880" y="1805940"/>
            <a:ext cx="4151376" cy="182880"/>
          </a:xfrm>
          <a:prstGeom prst="rect">
            <a:avLst/>
          </a:prstGeom>
          <a:noFill/>
        </p:spPr>
        <p:txBody>
          <a:bodyPr wrap="square">
            <a:spAutoFit/>
          </a:bodyPr>
          <a:lstStyle/>
          <a:p>
            <a:pPr algn="l"/>
            <a:r>
              <a:rPr sz="1000" b="0" i="1">
                <a:solidFill>
                  <a:srgbClr val="FF7755"/>
                </a:solidFill>
                <a:latin typeface="Calibri"/>
              </a:rPr>
              <a:t>Invested largely 25+ yrs ago (per John Quinn; to be confirmed via stock ledger). Exos: 2021–2024.</a:t>
            </a:r>
          </a:p>
        </p:txBody>
      </p:sp>
      <p:sp>
        <p:nvSpPr>
          <p:cNvPr id="53" name="TextBox 52"/>
          <p:cNvSpPr txBox="1"/>
          <p:nvPr/>
        </p:nvSpPr>
        <p:spPr>
          <a:xfrm>
            <a:off x="4754880" y="2080260"/>
            <a:ext cx="4151376" cy="164592"/>
          </a:xfrm>
          <a:prstGeom prst="rect">
            <a:avLst/>
          </a:prstGeom>
          <a:noFill/>
        </p:spPr>
        <p:txBody>
          <a:bodyPr wrap="square">
            <a:spAutoFit/>
          </a:bodyPr>
          <a:lstStyle/>
          <a:p>
            <a:pPr algn="l"/>
            <a:r>
              <a:rPr sz="1000" b="1" i="0">
                <a:solidFill>
                  <a:srgbClr val="888888"/>
                </a:solidFill>
                <a:latin typeface="Calibri"/>
              </a:rPr>
              <a:t>PROJECTED RETURN  (OTHER HOLDERS, 81.94%)</a:t>
            </a:r>
          </a:p>
        </p:txBody>
      </p:sp>
      <p:sp>
        <p:nvSpPr>
          <p:cNvPr id="54" name="TextBox 53"/>
          <p:cNvSpPr txBox="1"/>
          <p:nvPr/>
        </p:nvSpPr>
        <p:spPr>
          <a:xfrm>
            <a:off x="4754880" y="2263140"/>
            <a:ext cx="3063240" cy="169164"/>
          </a:xfrm>
          <a:prstGeom prst="rect">
            <a:avLst/>
          </a:prstGeom>
          <a:noFill/>
        </p:spPr>
        <p:txBody>
          <a:bodyPr wrap="square">
            <a:spAutoFit/>
          </a:bodyPr>
          <a:lstStyle/>
          <a:p>
            <a:pPr algn="l"/>
            <a:r>
              <a:rPr sz="1000" b="0" i="0">
                <a:solidFill>
                  <a:srgbClr val="CCCCCC"/>
                </a:solidFill>
                <a:latin typeface="Calibri"/>
              </a:rPr>
              <a:t>Cash at close (est.)</a:t>
            </a:r>
          </a:p>
        </p:txBody>
      </p:sp>
      <p:sp>
        <p:nvSpPr>
          <p:cNvPr id="55" name="TextBox 54"/>
          <p:cNvSpPr txBox="1"/>
          <p:nvPr/>
        </p:nvSpPr>
        <p:spPr>
          <a:xfrm>
            <a:off x="7863840" y="2263140"/>
            <a:ext cx="1005840" cy="169164"/>
          </a:xfrm>
          <a:prstGeom prst="rect">
            <a:avLst/>
          </a:prstGeom>
          <a:noFill/>
        </p:spPr>
        <p:txBody>
          <a:bodyPr wrap="square">
            <a:spAutoFit/>
          </a:bodyPr>
          <a:lstStyle/>
          <a:p>
            <a:pPr algn="r"/>
            <a:r>
              <a:rPr sz="1000" b="0" i="0">
                <a:solidFill>
                  <a:srgbClr val="44BB44"/>
                </a:solidFill>
                <a:latin typeface="Calibri"/>
              </a:rPr>
              <a:t>~$1.4M</a:t>
            </a:r>
          </a:p>
        </p:txBody>
      </p:sp>
      <p:sp>
        <p:nvSpPr>
          <p:cNvPr id="56" name="TextBox 55"/>
          <p:cNvSpPr txBox="1"/>
          <p:nvPr/>
        </p:nvSpPr>
        <p:spPr>
          <a:xfrm>
            <a:off x="4754880" y="2423160"/>
            <a:ext cx="3063240" cy="169164"/>
          </a:xfrm>
          <a:prstGeom prst="rect">
            <a:avLst/>
          </a:prstGeom>
          <a:noFill/>
        </p:spPr>
        <p:txBody>
          <a:bodyPr wrap="square">
            <a:spAutoFit/>
          </a:bodyPr>
          <a:lstStyle/>
          <a:p>
            <a:pPr algn="l"/>
            <a:r>
              <a:rPr sz="1000" b="0" i="0">
                <a:solidFill>
                  <a:srgbClr val="CCCCCC"/>
                </a:solidFill>
                <a:latin typeface="Calibri"/>
              </a:rPr>
              <a:t>Total over 5 years (holders, excl. EAI)</a:t>
            </a:r>
          </a:p>
        </p:txBody>
      </p:sp>
      <p:sp>
        <p:nvSpPr>
          <p:cNvPr id="57" name="TextBox 56"/>
          <p:cNvSpPr txBox="1"/>
          <p:nvPr/>
        </p:nvSpPr>
        <p:spPr>
          <a:xfrm>
            <a:off x="7863840" y="2423160"/>
            <a:ext cx="1005840" cy="169164"/>
          </a:xfrm>
          <a:prstGeom prst="rect">
            <a:avLst/>
          </a:prstGeom>
          <a:noFill/>
        </p:spPr>
        <p:txBody>
          <a:bodyPr wrap="square">
            <a:spAutoFit/>
          </a:bodyPr>
          <a:lstStyle/>
          <a:p>
            <a:pPr algn="r"/>
            <a:r>
              <a:rPr sz="1000" b="0" i="0">
                <a:solidFill>
                  <a:srgbClr val="44BB44"/>
                </a:solidFill>
                <a:latin typeface="Calibri"/>
              </a:rPr>
              <a:t>~$3.95M</a:t>
            </a:r>
          </a:p>
        </p:txBody>
      </p:sp>
      <p:sp>
        <p:nvSpPr>
          <p:cNvPr id="58" name="Rectangle 57"/>
          <p:cNvSpPr/>
          <p:nvPr/>
        </p:nvSpPr>
        <p:spPr>
          <a:xfrm>
            <a:off x="4754880" y="2601468"/>
            <a:ext cx="4151376" cy="9144"/>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754880" y="2619756"/>
            <a:ext cx="3063240" cy="173736"/>
          </a:xfrm>
          <a:prstGeom prst="rect">
            <a:avLst/>
          </a:prstGeom>
          <a:noFill/>
        </p:spPr>
        <p:txBody>
          <a:bodyPr wrap="square">
            <a:spAutoFit/>
          </a:bodyPr>
          <a:lstStyle/>
          <a:p>
            <a:pPr algn="l"/>
            <a:r>
              <a:rPr sz="1000" b="0" i="0">
                <a:solidFill>
                  <a:srgbClr val="CCCCCC"/>
                </a:solidFill>
                <a:latin typeface="Calibri"/>
              </a:rPr>
              <a:t>Implied return on invested capital</a:t>
            </a:r>
          </a:p>
        </p:txBody>
      </p:sp>
      <p:sp>
        <p:nvSpPr>
          <p:cNvPr id="60" name="TextBox 59"/>
          <p:cNvSpPr txBox="1"/>
          <p:nvPr/>
        </p:nvSpPr>
        <p:spPr>
          <a:xfrm>
            <a:off x="7406640" y="2619756"/>
            <a:ext cx="1463040" cy="173736"/>
          </a:xfrm>
          <a:prstGeom prst="rect">
            <a:avLst/>
          </a:prstGeom>
          <a:noFill/>
        </p:spPr>
        <p:txBody>
          <a:bodyPr wrap="square">
            <a:spAutoFit/>
          </a:bodyPr>
          <a:lstStyle/>
          <a:p>
            <a:pPr algn="r"/>
            <a:r>
              <a:rPr sz="1000" b="1" i="0">
                <a:solidFill>
                  <a:srgbClr val="FFCC44"/>
                </a:solidFill>
                <a:latin typeface="Calibri"/>
              </a:rPr>
              <a:t>6× at close / 18× over 5 yrs</a:t>
            </a:r>
          </a:p>
        </p:txBody>
      </p:sp>
      <p:sp>
        <p:nvSpPr>
          <p:cNvPr id="62" name="Rectangle 61"/>
          <p:cNvSpPr/>
          <p:nvPr/>
        </p:nvSpPr>
        <p:spPr>
          <a:xfrm>
            <a:off x="4754880" y="3172968"/>
            <a:ext cx="4151376" cy="224028"/>
          </a:xfrm>
          <a:prstGeom prst="rect">
            <a:avLst/>
          </a:prstGeom>
          <a:solidFill>
            <a:srgbClr val="221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164592" y="4059936"/>
            <a:ext cx="8814816" cy="13716"/>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164592" y="4078224"/>
            <a:ext cx="8814816" cy="713232"/>
          </a:xfrm>
          <a:prstGeom prst="rect">
            <a:avLst/>
          </a:prstGeom>
          <a:solidFill>
            <a:srgbClr val="1A0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274320" y="4110228"/>
            <a:ext cx="4572000" cy="182880"/>
          </a:xfrm>
          <a:prstGeom prst="rect">
            <a:avLst/>
          </a:prstGeom>
          <a:noFill/>
        </p:spPr>
        <p:txBody>
          <a:bodyPr wrap="square">
            <a:spAutoFit/>
          </a:bodyPr>
          <a:lstStyle/>
          <a:p>
            <a:pPr algn="l"/>
            <a:r>
              <a:rPr sz="1000" b="1" i="0">
                <a:solidFill>
                  <a:srgbClr val="F26A21"/>
                </a:solidFill>
                <a:latin typeface="Calibri"/>
              </a:rPr>
              <a:t>Why We Need the Stock Ledger (Motion 2)</a:t>
            </a:r>
          </a:p>
        </p:txBody>
      </p:sp>
      <p:sp>
        <p:nvSpPr>
          <p:cNvPr id="67" name="TextBox 66"/>
          <p:cNvSpPr txBox="1"/>
          <p:nvPr/>
        </p:nvSpPr>
        <p:spPr>
          <a:xfrm>
            <a:off x="274320" y="4302252"/>
            <a:ext cx="8503920" cy="182880"/>
          </a:xfrm>
          <a:prstGeom prst="rect">
            <a:avLst/>
          </a:prstGeom>
          <a:noFill/>
        </p:spPr>
        <p:txBody>
          <a:bodyPr wrap="square">
            <a:spAutoFit/>
          </a:bodyPr>
          <a:lstStyle/>
          <a:p>
            <a:pPr algn="l"/>
            <a:r>
              <a:rPr sz="1000" b="0" i="0" dirty="0">
                <a:solidFill>
                  <a:srgbClr val="CCCCCC"/>
                </a:solidFill>
                <a:latin typeface="Calibri"/>
              </a:rPr>
              <a:t>• Books show $1,014,465 total paid-in; the stock ledger allocates it by shareholder.</a:t>
            </a:r>
          </a:p>
        </p:txBody>
      </p:sp>
      <p:sp>
        <p:nvSpPr>
          <p:cNvPr id="68" name="TextBox 67"/>
          <p:cNvSpPr txBox="1"/>
          <p:nvPr/>
        </p:nvSpPr>
        <p:spPr>
          <a:xfrm>
            <a:off x="274320" y="4489704"/>
            <a:ext cx="8503920" cy="182880"/>
          </a:xfrm>
          <a:prstGeom prst="rect">
            <a:avLst/>
          </a:prstGeom>
          <a:noFill/>
        </p:spPr>
        <p:txBody>
          <a:bodyPr wrap="square">
            <a:spAutoFit/>
          </a:bodyPr>
          <a:lstStyle/>
          <a:p>
            <a:pPr algn="l"/>
            <a:r>
              <a:rPr sz="1000" b="0" i="0">
                <a:solidFill>
                  <a:srgbClr val="CCCCCC"/>
                </a:solidFill>
                <a:latin typeface="Calibri"/>
              </a:rPr>
              <a:t>• Ledger confirms cap structure: which shares were issued for cash vs. debt conversion.</a:t>
            </a:r>
          </a:p>
        </p:txBody>
      </p:sp>
      <p:sp>
        <p:nvSpPr>
          <p:cNvPr id="70" name="TextBox 69"/>
          <p:cNvSpPr txBox="1"/>
          <p:nvPr/>
        </p:nvSpPr>
        <p:spPr>
          <a:xfrm>
            <a:off x="182880" y="4809744"/>
            <a:ext cx="8778240" cy="182880"/>
          </a:xfrm>
          <a:prstGeom prst="rect">
            <a:avLst/>
          </a:prstGeom>
          <a:noFill/>
        </p:spPr>
        <p:txBody>
          <a:bodyPr wrap="square">
            <a:spAutoFit/>
          </a:bodyPr>
          <a:lstStyle/>
          <a:p>
            <a:pPr algn="l"/>
            <a:r>
              <a:rPr sz="1000" b="0" i="1">
                <a:solidFill>
                  <a:srgbClr val="888888"/>
                </a:solidFill>
                <a:latin typeface="Calibri"/>
              </a:rPr>
              <a:t>Projection based on SSLC books 10/11/2026 + Exos offer terms. Low/high: net cash $1.15M–$1.62M; 5-yr $2.8M–$6.0M. Not a guarantee.</a:t>
            </a:r>
          </a:p>
        </p:txBody>
      </p:sp>
      <p:sp>
        <p:nvSpPr>
          <p:cNvPr id="71" name="TextBox 70"/>
          <p:cNvSpPr txBox="1"/>
          <p:nvPr/>
        </p:nvSpPr>
        <p:spPr>
          <a:xfrm>
            <a:off x="1554480" y="4956048"/>
            <a:ext cx="6035040" cy="164592"/>
          </a:xfrm>
          <a:prstGeom prst="rect">
            <a:avLst/>
          </a:prstGeom>
          <a:noFill/>
        </p:spPr>
        <p:txBody>
          <a:bodyPr wrap="square">
            <a:spAutoFit/>
          </a:bodyPr>
          <a:lstStyle/>
          <a:p>
            <a:pPr algn="ctr"/>
            <a:r>
              <a:rPr sz="1000" b="0" i="1">
                <a:solidFill>
                  <a:srgbClr val="888888"/>
                </a:solidFill>
                <a:latin typeface="Calibri"/>
              </a:rPr>
              <a:t>DRAFT — NEGOTIATING TERMS</a:t>
            </a:r>
          </a:p>
        </p:txBody>
      </p:sp>
      <p:sp>
        <p:nvSpPr>
          <p:cNvPr id="72" name="TextBox 71"/>
          <p:cNvSpPr txBox="1"/>
          <p:nvPr/>
        </p:nvSpPr>
        <p:spPr>
          <a:xfrm>
            <a:off x="7772400" y="4956048"/>
            <a:ext cx="1143000" cy="164592"/>
          </a:xfrm>
          <a:prstGeom prst="rect">
            <a:avLst/>
          </a:prstGeom>
          <a:noFill/>
        </p:spPr>
        <p:txBody>
          <a:bodyPr wrap="square">
            <a:spAutoFit/>
          </a:bodyPr>
          <a:lstStyle/>
          <a:p>
            <a:pPr algn="r"/>
            <a:r>
              <a:rPr sz="1000" b="0" i="1">
                <a:solidFill>
                  <a:srgbClr val="888888"/>
                </a:solidFill>
                <a:latin typeface="Calibri"/>
              </a:rPr>
              <a:t>CONFIDENTIAL</a:t>
            </a:r>
          </a:p>
        </p:txBody>
      </p:sp>
      <p:sp>
        <p:nvSpPr>
          <p:cNvPr id="73" name="Rectangle 72"/>
          <p:cNvSpPr/>
          <p:nvPr/>
        </p:nvSpPr>
        <p:spPr>
          <a:xfrm>
            <a:off x="4645152" y="2834640"/>
            <a:ext cx="4315968" cy="210312"/>
          </a:xfrm>
          <a:prstGeom prst="rect">
            <a:avLst/>
          </a:prstGeom>
          <a:solidFill>
            <a:srgbClr val="FFC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4718304" y="2852928"/>
            <a:ext cx="4169663" cy="173736"/>
          </a:xfrm>
          <a:prstGeom prst="rect">
            <a:avLst/>
          </a:prstGeom>
          <a:noFill/>
        </p:spPr>
        <p:txBody>
          <a:bodyPr wrap="none">
            <a:spAutoFit/>
          </a:bodyPr>
          <a:lstStyle/>
          <a:p>
            <a:pPr algn="ctr"/>
            <a:r>
              <a:rPr sz="1000" b="1">
                <a:solidFill>
                  <a:srgbClr val="111111"/>
                </a:solidFill>
                <a:latin typeface="Calibri"/>
              </a:rPr>
              <a:t>⚠  NOT YET CREDITED TO SSLC HOLDERS</a:t>
            </a:r>
          </a:p>
        </p:txBody>
      </p:sp>
      <p:sp>
        <p:nvSpPr>
          <p:cNvPr id="75" name="Rectangle 74"/>
          <p:cNvSpPr/>
          <p:nvPr/>
        </p:nvSpPr>
        <p:spPr>
          <a:xfrm>
            <a:off x="4645152" y="3044952"/>
            <a:ext cx="4315968" cy="1005840"/>
          </a:xfrm>
          <a:prstGeom prst="rect">
            <a:avLst/>
          </a:prstGeom>
          <a:solidFill>
            <a:srgbClr val="2A1800"/>
          </a:solidFill>
          <a:ln w="9525">
            <a:solidFill>
              <a:srgbClr val="FFC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4736592" y="3095244"/>
            <a:ext cx="4133087" cy="1024128"/>
          </a:xfrm>
          <a:prstGeom prst="rect">
            <a:avLst/>
          </a:prstGeom>
          <a:noFill/>
        </p:spPr>
        <p:txBody>
          <a:bodyPr wrap="square">
            <a:spAutoFit/>
          </a:bodyPr>
          <a:lstStyle/>
          <a:p>
            <a:r>
              <a:rPr lang="en-US" sz="950" dirty="0">
                <a:solidFill>
                  <a:srgbClr val="CCCCCC"/>
                </a:solidFill>
                <a:latin typeface="Calibri"/>
              </a:rPr>
              <a:t>Step 1 (+$448K — facility credit + capitalized interest):</a:t>
            </a:r>
          </a:p>
          <a:p>
            <a:r>
              <a:rPr lang="en-US" sz="950" dirty="0">
                <a:solidFill>
                  <a:srgbClr val="CCCCCC"/>
                </a:solidFill>
                <a:latin typeface="Calibri"/>
              </a:rPr>
              <a:t>  Net cash at close ≈ $1.84M  ·  per 1% ≈ $22.4K</a:t>
            </a:r>
          </a:p>
          <a:p>
            <a:r>
              <a:rPr lang="en-US" sz="1000" dirty="0" b="1">
                <a:solidFill>
                  <a:srgbClr val="FF4444"/>
                </a:solidFill>
                <a:latin typeface="Calibri"/>
              </a:rPr>
              <a:t>ALL STEPS APPLIED  (Steps 1+2+3, +$1,261,001):</a:t>
            </a:r>
          </a:p>
          <a:p>
            <a:r>
              <a:rPr lang="en-US" sz="1100" dirty="0" b="1">
                <a:solidFill>
                  <a:srgbClr val="FF4444"/>
                </a:solidFill>
                <a:latin typeface="Calibri"/>
              </a:rPr>
              <a:t>  Net cash at close ≈ $2.65M  ·  per 1% of SSLC ≈ $32.3K</a:t>
            </a:r>
          </a:p>
          <a:p>
            <a:r>
              <a:rPr lang="en-US" sz="950" dirty="0" i="1">
                <a:solidFill>
                  <a:srgbClr val="FF8888"/>
                </a:solidFill>
                <a:latin typeface="Calibri"/>
              </a:rPr>
              <a:t>  ($1.39M as booked → +$1,261K corrections → ≈ $2.65M)</a:t>
            </a:r>
          </a:p>
        </p:txBody>
      </p:sp>
      <p:sp>
        <p:nvSpPr>
          <p:cNvPr id="77" name="Rectangle 76"/>
          <p:cNvSpPr/>
          <p:nvPr/>
        </p:nvSpPr>
        <p:spPr>
          <a:xfrm>
            <a:off x="274320" y="2355494"/>
            <a:ext cx="4151376" cy="16916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74320" y="2340864"/>
            <a:ext cx="3154680" cy="169164"/>
          </a:xfrm>
          <a:prstGeom prst="rect">
            <a:avLst/>
          </a:prstGeom>
          <a:noFill/>
        </p:spPr>
        <p:txBody>
          <a:bodyPr wrap="none" anchor="t">
            <a:spAutoFit/>
          </a:bodyPr>
          <a:lstStyle/>
          <a:p>
            <a:r>
              <a:rPr lang="en-US" sz="1000" dirty="0">
                <a:solidFill>
                  <a:srgbClr val="CCCCCC"/>
                </a:solidFill>
                <a:latin typeface="Calibri"/>
              </a:rPr>
              <a:t>− 5% outside services fee on cash proceeds</a:t>
            </a:r>
          </a:p>
        </p:txBody>
      </p:sp>
      <p:sp>
        <p:nvSpPr>
          <p:cNvPr id="79" name="TextBox 78"/>
          <p:cNvSpPr txBox="1"/>
          <p:nvPr/>
        </p:nvSpPr>
        <p:spPr>
          <a:xfrm>
            <a:off x="3474719" y="2340864"/>
            <a:ext cx="914400" cy="169164"/>
          </a:xfrm>
          <a:prstGeom prst="rect">
            <a:avLst/>
          </a:prstGeom>
          <a:noFill/>
        </p:spPr>
        <p:txBody>
          <a:bodyPr wrap="none" anchor="t">
            <a:spAutoFit/>
          </a:bodyPr>
          <a:lstStyle/>
          <a:p>
            <a:pPr algn="r"/>
            <a:r>
              <a:rPr lang="en-US" sz="1000" dirty="0">
                <a:solidFill>
                  <a:srgbClr val="CCCCCC"/>
                </a:solidFill>
                <a:latin typeface="Calibri"/>
              </a:rPr>
              <a:t>($125,500)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64008"/>
            <a:ext cx="8686800" cy="384048"/>
          </a:xfrm>
          <a:prstGeom prst="rect">
            <a:avLst/>
          </a:prstGeom>
          <a:noFill/>
        </p:spPr>
        <p:txBody>
          <a:bodyPr wrap="square">
            <a:spAutoFit/>
          </a:bodyPr>
          <a:lstStyle/>
          <a:p>
            <a:pPr algn="l"/>
            <a:r>
              <a:rPr sz="2000" b="1" i="0">
                <a:solidFill>
                  <a:srgbClr val="FFFFFF"/>
                </a:solidFill>
                <a:latin typeface="Cambria"/>
              </a:rPr>
              <a:t>Board Motions</a:t>
            </a:r>
          </a:p>
        </p:txBody>
      </p:sp>
      <p:sp>
        <p:nvSpPr>
          <p:cNvPr id="4" name="Rectangle 3"/>
          <p:cNvSpPr/>
          <p:nvPr/>
        </p:nvSpPr>
        <p:spPr>
          <a:xfrm>
            <a:off x="228600" y="457200"/>
            <a:ext cx="1371600" cy="32004"/>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82880" y="512064"/>
            <a:ext cx="8778240" cy="89611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82880" y="512064"/>
            <a:ext cx="50292" cy="89611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82880" y="512064"/>
            <a:ext cx="8778240" cy="2331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82880" y="512064"/>
            <a:ext cx="50292" cy="23317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65176" y="534924"/>
            <a:ext cx="411480" cy="196596"/>
          </a:xfrm>
          <a:prstGeom prst="rect">
            <a:avLst/>
          </a:prstGeom>
          <a:noFill/>
        </p:spPr>
        <p:txBody>
          <a:bodyPr wrap="square">
            <a:spAutoFit/>
          </a:bodyPr>
          <a:lstStyle/>
          <a:p>
            <a:pPr algn="l"/>
            <a:r>
              <a:rPr sz="2200" b="1" i="0">
                <a:solidFill>
                  <a:srgbClr val="F26A21"/>
                </a:solidFill>
                <a:latin typeface="Cambria"/>
              </a:rPr>
              <a:t>1</a:t>
            </a:r>
          </a:p>
        </p:txBody>
      </p:sp>
      <p:sp>
        <p:nvSpPr>
          <p:cNvPr id="10" name="TextBox 9"/>
          <p:cNvSpPr txBox="1"/>
          <p:nvPr/>
        </p:nvSpPr>
        <p:spPr>
          <a:xfrm>
            <a:off x="731520" y="548640"/>
            <a:ext cx="6629400" cy="178308"/>
          </a:xfrm>
          <a:prstGeom prst="rect">
            <a:avLst/>
          </a:prstGeom>
          <a:noFill/>
        </p:spPr>
        <p:txBody>
          <a:bodyPr wrap="square">
            <a:spAutoFit/>
          </a:bodyPr>
          <a:lstStyle/>
          <a:p>
            <a:pPr algn="l"/>
            <a:r>
              <a:rPr sz="1000" b="1">
                <a:solidFill>
                  <a:srgbClr val="F26A21"/>
                </a:solidFill>
                <a:latin typeface="Calibri"/>
              </a:rPr>
              <a:t>Approve Exos's Offer, Confirm §3 Exclusivity (90-Day + 60-Day Extension)</a:t>
            </a:r>
          </a:p>
        </p:txBody>
      </p:sp>
      <p:sp>
        <p:nvSpPr>
          <p:cNvPr id="11" name="TextBox 10"/>
          <p:cNvSpPr txBox="1"/>
          <p:nvPr/>
        </p:nvSpPr>
        <p:spPr>
          <a:xfrm>
            <a:off x="7516367" y="530352"/>
            <a:ext cx="1371600" cy="201168"/>
          </a:xfrm>
          <a:prstGeom prst="rect">
            <a:avLst/>
          </a:prstGeom>
          <a:noFill/>
        </p:spPr>
        <p:txBody>
          <a:bodyPr wrap="square">
            <a:spAutoFit/>
          </a:bodyPr>
          <a:lstStyle/>
          <a:p>
            <a:pPr algn="l"/>
            <a:r>
              <a:rPr sz="1000" b="0" i="0">
                <a:solidFill>
                  <a:srgbClr val="44BB44"/>
                </a:solidFill>
                <a:latin typeface="Calibri"/>
              </a:rPr>
              <a:t>☐  Approve</a:t>
            </a:r>
          </a:p>
        </p:txBody>
      </p:sp>
      <p:sp>
        <p:nvSpPr>
          <p:cNvPr id="12" name="TextBox 11"/>
          <p:cNvSpPr txBox="1"/>
          <p:nvPr/>
        </p:nvSpPr>
        <p:spPr>
          <a:xfrm>
            <a:off x="7516367" y="676656"/>
            <a:ext cx="1371600" cy="201168"/>
          </a:xfrm>
          <a:prstGeom prst="rect">
            <a:avLst/>
          </a:prstGeom>
          <a:noFill/>
        </p:spPr>
        <p:txBody>
          <a:bodyPr wrap="square">
            <a:spAutoFit/>
          </a:bodyPr>
          <a:lstStyle/>
          <a:p>
            <a:pPr algn="l"/>
            <a:r>
              <a:rPr sz="1000" b="0" i="0">
                <a:solidFill>
                  <a:srgbClr val="FF6666"/>
                </a:solidFill>
                <a:latin typeface="Calibri"/>
              </a:rPr>
              <a:t>☐  Decline</a:t>
            </a:r>
          </a:p>
        </p:txBody>
      </p:sp>
      <p:sp>
        <p:nvSpPr>
          <p:cNvPr id="13" name="TextBox 12"/>
          <p:cNvSpPr txBox="1"/>
          <p:nvPr/>
        </p:nvSpPr>
        <p:spPr>
          <a:xfrm>
            <a:off x="731520" y="781812"/>
            <a:ext cx="6629400" cy="891540"/>
          </a:xfrm>
          <a:prstGeom prst="rect">
            <a:avLst/>
          </a:prstGeom>
          <a:noFill/>
        </p:spPr>
        <p:txBody>
          <a:bodyPr wrap="square">
            <a:spAutoFit/>
          </a:bodyPr>
          <a:lstStyle/>
          <a:p>
            <a:r>
              <a:rPr lang="en-US" sz="1000" dirty="0">
                <a:solidFill>
                  <a:srgbClr val="CCCCCC"/>
                </a:solidFill>
                <a:latin typeface="Calibri"/>
              </a:rPr>
              <a:t>The Board approves the Exos offer (Option B terms), confirms Exos's 90-day §3 exclusivity</a:t>
            </a:r>
          </a:p>
          <a:p>
            <a:r>
              <a:rPr lang="en-US" sz="1000" dirty="0">
                <a:solidFill>
                  <a:srgbClr val="CCCCCC"/>
                </a:solidFill>
                <a:latin typeface="Calibri"/>
              </a:rPr>
              <a:t>under the May 2025 Asset Acquisition Agreement (extendable 60 days if significant progress is</a:t>
            </a:r>
          </a:p>
          <a:p>
            <a:r>
              <a:rPr lang="en-US" sz="1000" dirty="0">
                <a:solidFill>
                  <a:srgbClr val="CCCCCC"/>
                </a:solidFill>
                <a:latin typeface="Calibri"/>
              </a:rPr>
              <a:t>being made toward a definitive agreement, not unreasonably withheld).</a:t>
            </a:r>
          </a:p>
          <a:p>
            <a:r>
              <a:rPr lang="en-US" sz="1000" dirty="0">
                <a:solidFill>
                  <a:srgbClr val="CCCCCC"/>
                </a:solidFill>
                <a:latin typeface="Calibri"/>
              </a:rPr>
              <a:t>Target financing close: January 15, 2027.</a:t>
            </a:r>
          </a:p>
        </p:txBody>
      </p:sp>
      <p:sp>
        <p:nvSpPr>
          <p:cNvPr id="14" name="Rectangle 13"/>
          <p:cNvSpPr/>
          <p:nvPr/>
        </p:nvSpPr>
        <p:spPr>
          <a:xfrm>
            <a:off x="182880" y="1444752"/>
            <a:ext cx="8778240" cy="98755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82880" y="1444752"/>
            <a:ext cx="50292" cy="98755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82880" y="1444752"/>
            <a:ext cx="8778240" cy="2331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82880" y="1444752"/>
            <a:ext cx="50292" cy="23317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65176" y="1719072"/>
            <a:ext cx="411480" cy="196596"/>
          </a:xfrm>
          <a:prstGeom prst="rect">
            <a:avLst/>
          </a:prstGeom>
          <a:noFill/>
        </p:spPr>
        <p:txBody>
          <a:bodyPr wrap="square">
            <a:spAutoFit/>
          </a:bodyPr>
          <a:lstStyle/>
          <a:p>
            <a:pPr algn="l"/>
            <a:r>
              <a:rPr sz="2200" b="1" i="0">
                <a:solidFill>
                  <a:srgbClr val="F26A21"/>
                </a:solidFill>
                <a:latin typeface="Cambria"/>
              </a:rPr>
              <a:t>2</a:t>
            </a:r>
          </a:p>
        </p:txBody>
      </p:sp>
      <p:sp>
        <p:nvSpPr>
          <p:cNvPr id="19" name="TextBox 18"/>
          <p:cNvSpPr txBox="1"/>
          <p:nvPr/>
        </p:nvSpPr>
        <p:spPr>
          <a:xfrm>
            <a:off x="731520" y="1732788"/>
            <a:ext cx="6629400" cy="178308"/>
          </a:xfrm>
          <a:prstGeom prst="rect">
            <a:avLst/>
          </a:prstGeom>
          <a:noFill/>
        </p:spPr>
        <p:txBody>
          <a:bodyPr wrap="square">
            <a:spAutoFit/>
          </a:bodyPr>
          <a:lstStyle/>
          <a:p>
            <a:pPr algn="l"/>
            <a:r>
              <a:rPr sz="1000" b="1" i="0" dirty="0">
                <a:solidFill>
                  <a:srgbClr val="FFFFFF"/>
                </a:solidFill>
                <a:latin typeface="Calibri"/>
              </a:rPr>
              <a:t>Grant Full Read-Only QuickBooks Online Access for Diligence</a:t>
            </a:r>
          </a:p>
        </p:txBody>
      </p:sp>
      <p:sp>
        <p:nvSpPr>
          <p:cNvPr id="20" name="TextBox 19"/>
          <p:cNvSpPr txBox="1"/>
          <p:nvPr/>
        </p:nvSpPr>
        <p:spPr>
          <a:xfrm>
            <a:off x="7516367" y="1714500"/>
            <a:ext cx="1371600" cy="201168"/>
          </a:xfrm>
          <a:prstGeom prst="rect">
            <a:avLst/>
          </a:prstGeom>
          <a:noFill/>
        </p:spPr>
        <p:txBody>
          <a:bodyPr wrap="square">
            <a:spAutoFit/>
          </a:bodyPr>
          <a:lstStyle/>
          <a:p>
            <a:pPr algn="l"/>
            <a:r>
              <a:rPr sz="1000" b="0" i="0">
                <a:solidFill>
                  <a:srgbClr val="44BB44"/>
                </a:solidFill>
                <a:latin typeface="Calibri"/>
              </a:rPr>
              <a:t>☐  Approve</a:t>
            </a:r>
          </a:p>
        </p:txBody>
      </p:sp>
      <p:sp>
        <p:nvSpPr>
          <p:cNvPr id="21" name="TextBox 20"/>
          <p:cNvSpPr txBox="1"/>
          <p:nvPr/>
        </p:nvSpPr>
        <p:spPr>
          <a:xfrm>
            <a:off x="7516367" y="1860804"/>
            <a:ext cx="1371600" cy="201168"/>
          </a:xfrm>
          <a:prstGeom prst="rect">
            <a:avLst/>
          </a:prstGeom>
          <a:noFill/>
        </p:spPr>
        <p:txBody>
          <a:bodyPr wrap="square">
            <a:spAutoFit/>
          </a:bodyPr>
          <a:lstStyle/>
          <a:p>
            <a:pPr algn="l"/>
            <a:r>
              <a:rPr sz="1000" b="0" i="0">
                <a:solidFill>
                  <a:srgbClr val="FF6666"/>
                </a:solidFill>
                <a:latin typeface="Calibri"/>
              </a:rPr>
              <a:t>☐  Decline</a:t>
            </a:r>
          </a:p>
        </p:txBody>
      </p:sp>
      <p:sp>
        <p:nvSpPr>
          <p:cNvPr id="22" name="TextBox 21"/>
          <p:cNvSpPr txBox="1"/>
          <p:nvPr/>
        </p:nvSpPr>
        <p:spPr>
          <a:xfrm>
            <a:off x="731520" y="1965960"/>
            <a:ext cx="6629400" cy="534924"/>
          </a:xfrm>
          <a:prstGeom prst="rect">
            <a:avLst/>
          </a:prstGeom>
          <a:noFill/>
        </p:spPr>
        <p:txBody>
          <a:bodyPr wrap="square">
            <a:spAutoFit/>
          </a:bodyPr>
          <a:lstStyle/>
          <a:p>
            <a:r>
              <a:rPr sz="1000" b="0" i="0">
                <a:solidFill>
                  <a:srgbClr val="CCCCCC"/>
                </a:solidFill>
                <a:latin typeface="Calibri"/>
              </a:rPr>
              <a:t>Authorize all-access QB Online for John Quinn + one Exos finance reviewer.</a:t>
            </a:r>
          </a:p>
          <a:p>
            <a:r>
              <a:rPr sz="1000" b="0" i="0">
                <a:solidFill>
                  <a:srgbClr val="CCCCCC"/>
                </a:solidFill>
                <a:latin typeface="Calibri"/>
              </a:rPr>
              <a:t>Provide: stock ledger, cap table, subscription agreements, paid-in capital by shareholder.</a:t>
            </a:r>
          </a:p>
          <a:p>
            <a:r>
              <a:rPr sz="1000" b="0" i="0">
                <a:solidFill>
                  <a:srgbClr val="CCCCCC"/>
                </a:solidFill>
                <a:latin typeface="Calibri"/>
              </a:rPr>
              <a:t>Deadline: Oct 15, 2026.   §1602 inspection right + AAA §4.   NDA 7/27/2021.</a:t>
            </a:r>
          </a:p>
        </p:txBody>
      </p:sp>
      <p:sp>
        <p:nvSpPr>
          <p:cNvPr id="23" name="Rectangle 22"/>
          <p:cNvSpPr/>
          <p:nvPr/>
        </p:nvSpPr>
        <p:spPr>
          <a:xfrm>
            <a:off x="182880" y="2468880"/>
            <a:ext cx="8778240" cy="117043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82880" y="2468880"/>
            <a:ext cx="50292" cy="117043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82880" y="2468880"/>
            <a:ext cx="8778240" cy="2331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82880" y="2468880"/>
            <a:ext cx="50292" cy="23317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65176" y="2546603"/>
            <a:ext cx="411480" cy="196596"/>
          </a:xfrm>
          <a:prstGeom prst="rect">
            <a:avLst/>
          </a:prstGeom>
          <a:noFill/>
        </p:spPr>
        <p:txBody>
          <a:bodyPr wrap="square">
            <a:spAutoFit/>
          </a:bodyPr>
          <a:lstStyle/>
          <a:p>
            <a:pPr algn="l"/>
            <a:r>
              <a:rPr sz="2200" b="1" i="0">
                <a:solidFill>
                  <a:srgbClr val="F26A21"/>
                </a:solidFill>
                <a:latin typeface="Cambria"/>
              </a:rPr>
              <a:t>3</a:t>
            </a:r>
          </a:p>
        </p:txBody>
      </p:sp>
      <p:sp>
        <p:nvSpPr>
          <p:cNvPr id="28" name="TextBox 27"/>
          <p:cNvSpPr txBox="1"/>
          <p:nvPr/>
        </p:nvSpPr>
        <p:spPr>
          <a:xfrm>
            <a:off x="731520" y="2560320"/>
            <a:ext cx="6629400" cy="178308"/>
          </a:xfrm>
          <a:prstGeom prst="rect">
            <a:avLst/>
          </a:prstGeom>
          <a:noFill/>
        </p:spPr>
        <p:txBody>
          <a:bodyPr wrap="square">
            <a:spAutoFit/>
          </a:bodyPr>
          <a:lstStyle/>
          <a:p>
            <a:pPr algn="l"/>
            <a:r>
              <a:rPr sz="1000" b="1" i="0" dirty="0">
                <a:solidFill>
                  <a:srgbClr val="FFFFFF"/>
                </a:solidFill>
                <a:latin typeface="Calibri"/>
              </a:rPr>
              <a:t>Correct AR Unbilled / Customer-Deposit Accounting Within 5 Days</a:t>
            </a:r>
          </a:p>
        </p:txBody>
      </p:sp>
      <p:sp>
        <p:nvSpPr>
          <p:cNvPr id="29" name="TextBox 28"/>
          <p:cNvSpPr txBox="1"/>
          <p:nvPr/>
        </p:nvSpPr>
        <p:spPr>
          <a:xfrm>
            <a:off x="7516367" y="2542032"/>
            <a:ext cx="1371600" cy="201168"/>
          </a:xfrm>
          <a:prstGeom prst="rect">
            <a:avLst/>
          </a:prstGeom>
          <a:noFill/>
        </p:spPr>
        <p:txBody>
          <a:bodyPr wrap="square">
            <a:spAutoFit/>
          </a:bodyPr>
          <a:lstStyle/>
          <a:p>
            <a:pPr algn="l"/>
            <a:r>
              <a:rPr sz="1000" b="0" i="0">
                <a:solidFill>
                  <a:srgbClr val="44BB44"/>
                </a:solidFill>
                <a:latin typeface="Calibri"/>
              </a:rPr>
              <a:t>☐  Approve</a:t>
            </a:r>
          </a:p>
        </p:txBody>
      </p:sp>
      <p:sp>
        <p:nvSpPr>
          <p:cNvPr id="30" name="TextBox 29"/>
          <p:cNvSpPr txBox="1"/>
          <p:nvPr/>
        </p:nvSpPr>
        <p:spPr>
          <a:xfrm>
            <a:off x="7516367" y="2688336"/>
            <a:ext cx="1371600" cy="201168"/>
          </a:xfrm>
          <a:prstGeom prst="rect">
            <a:avLst/>
          </a:prstGeom>
          <a:noFill/>
        </p:spPr>
        <p:txBody>
          <a:bodyPr wrap="square">
            <a:spAutoFit/>
          </a:bodyPr>
          <a:lstStyle/>
          <a:p>
            <a:pPr algn="l"/>
            <a:r>
              <a:rPr sz="1000" b="0" i="0">
                <a:solidFill>
                  <a:srgbClr val="FF6666"/>
                </a:solidFill>
                <a:latin typeface="Calibri"/>
              </a:rPr>
              <a:t>☐  Decline</a:t>
            </a:r>
          </a:p>
        </p:txBody>
      </p:sp>
      <p:sp>
        <p:nvSpPr>
          <p:cNvPr id="31" name="TextBox 30"/>
          <p:cNvSpPr txBox="1"/>
          <p:nvPr/>
        </p:nvSpPr>
        <p:spPr>
          <a:xfrm>
            <a:off x="731520" y="2793491"/>
            <a:ext cx="6629400" cy="713232"/>
          </a:xfrm>
          <a:prstGeom prst="rect">
            <a:avLst/>
          </a:prstGeom>
          <a:noFill/>
        </p:spPr>
        <p:txBody>
          <a:bodyPr wrap="square">
            <a:spAutoFit/>
          </a:bodyPr>
          <a:lstStyle/>
          <a:p>
            <a:r>
              <a:rPr sz="1000" b="0" i="0">
                <a:solidFill>
                  <a:srgbClr val="CCCCCC"/>
                </a:solidFill>
                <a:latin typeface="Calibri"/>
              </a:rPr>
              <a:t>Direct A La Carte Solutions + Singer Lewak / Welch &amp; Co. to reconcile within 5 days:</a:t>
            </a:r>
          </a:p>
          <a:p>
            <a:r>
              <a:rPr sz="1000" b="0" i="0">
                <a:solidFill>
                  <a:srgbClr val="CCCCCC"/>
                </a:solidFill>
                <a:latin typeface="Calibri"/>
              </a:rPr>
              <a:t>• Acct 1110 AR Unbilled ($942,177) and Acct 2380 Customer Deposits ($120,000).</a:t>
            </a:r>
          </a:p>
          <a:p>
            <a:r>
              <a:rPr sz="1000" b="0" i="0">
                <a:solidFill>
                  <a:srgbClr val="CCCCCC"/>
                </a:solidFill>
                <a:latin typeface="Calibri"/>
              </a:rPr>
              <a:t>• Clear start-billings on shipped tanks; post Jul–Sep 2026 revenue-recognition entries.</a:t>
            </a:r>
          </a:p>
          <a:p>
            <a:r>
              <a:rPr sz="1000" b="0" i="0">
                <a:solidFill>
                  <a:srgbClr val="CCCCCC"/>
                </a:solidFill>
                <a:latin typeface="Calibri"/>
              </a:rPr>
              <a:t>• Tank recon (IM-109/122/134, EXOS-133) + corrected balance sheet to all directors.</a:t>
            </a:r>
          </a:p>
        </p:txBody>
      </p:sp>
      <p:sp>
        <p:nvSpPr>
          <p:cNvPr id="32" name="Rectangle 31"/>
          <p:cNvSpPr/>
          <p:nvPr/>
        </p:nvSpPr>
        <p:spPr>
          <a:xfrm>
            <a:off x="182880" y="3675887"/>
            <a:ext cx="8778240" cy="85039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82880" y="3675887"/>
            <a:ext cx="50292" cy="8503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182880" y="3675887"/>
            <a:ext cx="8778240" cy="2331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82880" y="3675887"/>
            <a:ext cx="50292" cy="23317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65176" y="3552444"/>
            <a:ext cx="411480" cy="196596"/>
          </a:xfrm>
          <a:prstGeom prst="rect">
            <a:avLst/>
          </a:prstGeom>
          <a:noFill/>
        </p:spPr>
        <p:txBody>
          <a:bodyPr wrap="square">
            <a:spAutoFit/>
          </a:bodyPr>
          <a:lstStyle/>
          <a:p>
            <a:pPr algn="l"/>
            <a:r>
              <a:rPr sz="2200" b="1" i="0">
                <a:solidFill>
                  <a:srgbClr val="F26A21"/>
                </a:solidFill>
                <a:latin typeface="Cambria"/>
              </a:rPr>
              <a:t>4</a:t>
            </a:r>
          </a:p>
        </p:txBody>
      </p:sp>
      <p:sp>
        <p:nvSpPr>
          <p:cNvPr id="37" name="TextBox 36"/>
          <p:cNvSpPr txBox="1"/>
          <p:nvPr/>
        </p:nvSpPr>
        <p:spPr>
          <a:xfrm>
            <a:off x="731520" y="3566160"/>
            <a:ext cx="6629400" cy="178308"/>
          </a:xfrm>
          <a:prstGeom prst="rect">
            <a:avLst/>
          </a:prstGeom>
          <a:noFill/>
        </p:spPr>
        <p:txBody>
          <a:bodyPr wrap="square">
            <a:spAutoFit/>
          </a:bodyPr>
          <a:lstStyle/>
          <a:p>
            <a:pPr algn="l"/>
            <a:r>
              <a:rPr sz="1000" b="1" i="0">
                <a:solidFill>
                  <a:srgbClr val="FFFFFF"/>
                </a:solidFill>
                <a:latin typeface="Calibri"/>
              </a:rPr>
              <a:t>Consent to ERP/MRP &amp; Inventory Evaluation (Separate Motion)</a:t>
            </a:r>
          </a:p>
        </p:txBody>
      </p:sp>
      <p:sp>
        <p:nvSpPr>
          <p:cNvPr id="38" name="TextBox 37"/>
          <p:cNvSpPr txBox="1"/>
          <p:nvPr/>
        </p:nvSpPr>
        <p:spPr>
          <a:xfrm>
            <a:off x="7516367" y="3547872"/>
            <a:ext cx="1371600" cy="201168"/>
          </a:xfrm>
          <a:prstGeom prst="rect">
            <a:avLst/>
          </a:prstGeom>
          <a:noFill/>
        </p:spPr>
        <p:txBody>
          <a:bodyPr wrap="square">
            <a:spAutoFit/>
          </a:bodyPr>
          <a:lstStyle/>
          <a:p>
            <a:pPr algn="l"/>
            <a:r>
              <a:rPr sz="1000" b="0" i="0">
                <a:solidFill>
                  <a:srgbClr val="44BB44"/>
                </a:solidFill>
                <a:latin typeface="Calibri"/>
              </a:rPr>
              <a:t>☐  Approve</a:t>
            </a:r>
          </a:p>
        </p:txBody>
      </p:sp>
      <p:sp>
        <p:nvSpPr>
          <p:cNvPr id="39" name="TextBox 38"/>
          <p:cNvSpPr txBox="1"/>
          <p:nvPr/>
        </p:nvSpPr>
        <p:spPr>
          <a:xfrm>
            <a:off x="7516367" y="3694176"/>
            <a:ext cx="1371600" cy="201168"/>
          </a:xfrm>
          <a:prstGeom prst="rect">
            <a:avLst/>
          </a:prstGeom>
          <a:noFill/>
        </p:spPr>
        <p:txBody>
          <a:bodyPr wrap="square">
            <a:spAutoFit/>
          </a:bodyPr>
          <a:lstStyle/>
          <a:p>
            <a:pPr algn="l"/>
            <a:r>
              <a:rPr sz="1000" b="0" i="0">
                <a:solidFill>
                  <a:srgbClr val="FF6666"/>
                </a:solidFill>
                <a:latin typeface="Calibri"/>
              </a:rPr>
              <a:t>☐  Decline</a:t>
            </a:r>
          </a:p>
        </p:txBody>
      </p:sp>
      <p:sp>
        <p:nvSpPr>
          <p:cNvPr id="40" name="TextBox 39"/>
          <p:cNvSpPr txBox="1"/>
          <p:nvPr/>
        </p:nvSpPr>
        <p:spPr>
          <a:xfrm>
            <a:off x="731520" y="3799332"/>
            <a:ext cx="6629400" cy="356616"/>
          </a:xfrm>
          <a:prstGeom prst="rect">
            <a:avLst/>
          </a:prstGeom>
          <a:noFill/>
        </p:spPr>
        <p:txBody>
          <a:bodyPr wrap="square">
            <a:spAutoFit/>
          </a:bodyPr>
          <a:lstStyle/>
          <a:p>
            <a:r>
              <a:rPr sz="1000" b="0" i="0" dirty="0">
                <a:solidFill>
                  <a:srgbClr val="CCCCCC"/>
                </a:solidFill>
                <a:latin typeface="Calibri"/>
              </a:rPr>
              <a:t>Authorize Exos to use the QB data to evaluate compatible ERP/MRP and inventory systems.</a:t>
            </a:r>
          </a:p>
          <a:p>
            <a:r>
              <a:rPr sz="1000" b="0" i="0" dirty="0">
                <a:solidFill>
                  <a:srgbClr val="CCCCCC"/>
                </a:solidFill>
                <a:latin typeface="Calibri"/>
              </a:rPr>
              <a:t>Evaluation only; no implementation obligation.   Confidential under the NDA.</a:t>
            </a:r>
          </a:p>
        </p:txBody>
      </p:sp>
      <p:sp>
        <p:nvSpPr>
          <p:cNvPr id="41" name="Rectangle 40"/>
          <p:cNvSpPr/>
          <p:nvPr/>
        </p:nvSpPr>
        <p:spPr>
          <a:xfrm>
            <a:off x="182880" y="4553712"/>
            <a:ext cx="8778240" cy="182880"/>
          </a:xfrm>
          <a:prstGeom prst="rect">
            <a:avLst/>
          </a:prstGeom>
          <a:solidFill>
            <a:srgbClr val="1A0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92608" y="4192524"/>
            <a:ext cx="8549640" cy="155448"/>
          </a:xfrm>
          <a:prstGeom prst="rect">
            <a:avLst/>
          </a:prstGeom>
          <a:noFill/>
        </p:spPr>
        <p:txBody>
          <a:bodyPr wrap="square">
            <a:spAutoFit/>
          </a:bodyPr>
          <a:lstStyle/>
          <a:p>
            <a:pPr algn="l"/>
            <a:r>
              <a:rPr sz="1000" b="0" i="1">
                <a:solidFill>
                  <a:srgbClr val="F26A21"/>
                </a:solidFill>
                <a:latin typeface="Calibri"/>
              </a:rPr>
              <a:t>Governance: John Quinn abstains on Motions 1 and 4 (Exos is the counterparty); Motions 2 and 3 are decided by the full Board.</a:t>
            </a:r>
          </a:p>
        </p:txBody>
      </p:sp>
      <p:sp>
        <p:nvSpPr>
          <p:cNvPr id="43" name="TextBox 42"/>
          <p:cNvSpPr txBox="1"/>
          <p:nvPr/>
        </p:nvSpPr>
        <p:spPr>
          <a:xfrm>
            <a:off x="1554480" y="4892040"/>
            <a:ext cx="6035040" cy="201168"/>
          </a:xfrm>
          <a:prstGeom prst="rect">
            <a:avLst/>
          </a:prstGeom>
          <a:noFill/>
        </p:spPr>
        <p:txBody>
          <a:bodyPr wrap="square">
            <a:spAutoFit/>
          </a:bodyPr>
          <a:lstStyle/>
          <a:p>
            <a:pPr algn="ctr"/>
            <a:r>
              <a:rPr sz="1000" b="0" i="1">
                <a:solidFill>
                  <a:srgbClr val="888888"/>
                </a:solidFill>
                <a:latin typeface="Calibri"/>
              </a:rPr>
              <a:t>DRAFT — NEGOTIATING TERMS</a:t>
            </a:r>
          </a:p>
        </p:txBody>
      </p:sp>
      <p:sp>
        <p:nvSpPr>
          <p:cNvPr id="44" name="TextBox 43"/>
          <p:cNvSpPr txBox="1"/>
          <p:nvPr/>
        </p:nvSpPr>
        <p:spPr>
          <a:xfrm>
            <a:off x="7772400" y="4892040"/>
            <a:ext cx="1143000" cy="201168"/>
          </a:xfrm>
          <a:prstGeom prst="rect">
            <a:avLst/>
          </a:prstGeom>
          <a:noFill/>
        </p:spPr>
        <p:txBody>
          <a:bodyPr wrap="square">
            <a:spAutoFit/>
          </a:bodyPr>
          <a:lstStyle/>
          <a:p>
            <a:pPr algn="r"/>
            <a:r>
              <a:rPr sz="1000" b="0" i="1">
                <a:solidFill>
                  <a:srgbClr val="888888"/>
                </a:solidFill>
                <a:latin typeface="Calibri"/>
              </a:rPr>
              <a:t>CONFIDENTIAL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0292"/>
          </a:xfrm>
          <a:prstGeom prst="rect">
            <a:avLst/>
          </a:prstGeom>
          <a:solidFill>
            <a:srgbClr val="F26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0292"/>
            <a:ext cx="9144000" cy="41148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6032" y="73152"/>
            <a:ext cx="4572000" cy="393192"/>
          </a:xfrm>
          <a:prstGeom prst="rect">
            <a:avLst/>
          </a:prstGeom>
          <a:noFill/>
        </p:spPr>
        <p:txBody>
          <a:bodyPr wrap="square">
            <a:spAutoFit/>
          </a:bodyPr>
          <a:lstStyle/>
          <a:p>
            <a:pPr algn="l"/>
            <a:r>
              <a:rPr sz="1800" b="1" i="0">
                <a:solidFill>
                  <a:srgbClr val="FFFFFF"/>
                </a:solidFill>
                <a:latin typeface="Calibri"/>
              </a:rPr>
              <a:t>Board Motions (continued)</a:t>
            </a:r>
          </a:p>
        </p:txBody>
      </p:sp>
      <p:sp>
        <p:nvSpPr>
          <p:cNvPr id="6" name="TextBox 5"/>
          <p:cNvSpPr txBox="1"/>
          <p:nvPr/>
        </p:nvSpPr>
        <p:spPr>
          <a:xfrm>
            <a:off x="6400800" y="164592"/>
            <a:ext cx="2487168" cy="256032"/>
          </a:xfrm>
          <a:prstGeom prst="rect">
            <a:avLst/>
          </a:prstGeom>
          <a:noFill/>
        </p:spPr>
        <p:txBody>
          <a:bodyPr wrap="square">
            <a:spAutoFit/>
          </a:bodyPr>
          <a:lstStyle/>
          <a:p>
            <a:pPr algn="r"/>
            <a:r>
              <a:rPr sz="1000" b="0" i="0">
                <a:solidFill>
                  <a:srgbClr val="888888"/>
                </a:solidFill>
                <a:latin typeface="Calibri"/>
              </a:rPr>
              <a:t>Motion 5 of 5</a:t>
            </a:r>
          </a:p>
        </p:txBody>
      </p:sp>
      <p:sp>
        <p:nvSpPr>
          <p:cNvPr id="7" name="Rectangle 6"/>
          <p:cNvSpPr/>
          <p:nvPr/>
        </p:nvSpPr>
        <p:spPr>
          <a:xfrm>
            <a:off x="201168" y="512064"/>
            <a:ext cx="8741664" cy="393192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01168" y="512064"/>
            <a:ext cx="8741664" cy="228600"/>
          </a:xfrm>
          <a:prstGeom prst="rect">
            <a:avLst/>
          </a:prstGeom>
          <a:solidFill>
            <a:srgbClr val="1A0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01168" y="512064"/>
            <a:ext cx="8741664" cy="10972"/>
          </a:xfrm>
          <a:prstGeom prst="rect">
            <a:avLst/>
          </a:prstGeom>
          <a:solidFill>
            <a:srgbClr val="CC8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 y="539496"/>
            <a:ext cx="320040" cy="201168"/>
          </a:xfrm>
          <a:prstGeom prst="rect">
            <a:avLst/>
          </a:prstGeom>
          <a:noFill/>
        </p:spPr>
        <p:txBody>
          <a:bodyPr wrap="square">
            <a:spAutoFit/>
          </a:bodyPr>
          <a:lstStyle/>
          <a:p>
            <a:pPr algn="l"/>
            <a:r>
              <a:rPr sz="2200" b="1" i="0">
                <a:solidFill>
                  <a:srgbClr val="F26A21"/>
                </a:solidFill>
                <a:latin typeface="Calibri"/>
              </a:rPr>
              <a:t>5</a:t>
            </a:r>
          </a:p>
        </p:txBody>
      </p:sp>
      <p:sp>
        <p:nvSpPr>
          <p:cNvPr id="11" name="TextBox 10"/>
          <p:cNvSpPr txBox="1"/>
          <p:nvPr/>
        </p:nvSpPr>
        <p:spPr>
          <a:xfrm>
            <a:off x="685800" y="557784"/>
            <a:ext cx="6400800" cy="201168"/>
          </a:xfrm>
          <a:prstGeom prst="rect">
            <a:avLst/>
          </a:prstGeom>
          <a:noFill/>
        </p:spPr>
        <p:txBody>
          <a:bodyPr wrap="square">
            <a:spAutoFit/>
          </a:bodyPr>
          <a:lstStyle/>
          <a:p>
            <a:pPr algn="l"/>
            <a:r>
              <a:rPr sz="1000" b="1" i="0" dirty="0">
                <a:solidFill>
                  <a:srgbClr val="F26A21"/>
                </a:solidFill>
                <a:latin typeface="Calibri"/>
              </a:rPr>
              <a:t>Resolve Related-Party Balances (April 30, 2026 Entries)</a:t>
            </a:r>
          </a:p>
        </p:txBody>
      </p:sp>
      <p:sp>
        <p:nvSpPr>
          <p:cNvPr id="12" name="TextBox 11"/>
          <p:cNvSpPr txBox="1"/>
          <p:nvPr/>
        </p:nvSpPr>
        <p:spPr>
          <a:xfrm>
            <a:off x="7406640" y="539496"/>
            <a:ext cx="1371600" cy="201168"/>
          </a:xfrm>
          <a:prstGeom prst="rect">
            <a:avLst/>
          </a:prstGeom>
          <a:noFill/>
        </p:spPr>
        <p:txBody>
          <a:bodyPr wrap="square">
            <a:spAutoFit/>
          </a:bodyPr>
          <a:lstStyle/>
          <a:p>
            <a:pPr algn="l"/>
            <a:r>
              <a:rPr sz="1000" b="0" i="0" dirty="0">
                <a:solidFill>
                  <a:srgbClr val="44BB44"/>
                </a:solidFill>
                <a:latin typeface="Calibri"/>
              </a:rPr>
              <a:t>☐  Approve</a:t>
            </a:r>
          </a:p>
        </p:txBody>
      </p:sp>
      <p:sp>
        <p:nvSpPr>
          <p:cNvPr id="13" name="TextBox 12"/>
          <p:cNvSpPr txBox="1"/>
          <p:nvPr/>
        </p:nvSpPr>
        <p:spPr>
          <a:xfrm>
            <a:off x="7406640" y="694944"/>
            <a:ext cx="1371600" cy="201168"/>
          </a:xfrm>
          <a:prstGeom prst="rect">
            <a:avLst/>
          </a:prstGeom>
          <a:noFill/>
        </p:spPr>
        <p:txBody>
          <a:bodyPr wrap="square">
            <a:spAutoFit/>
          </a:bodyPr>
          <a:lstStyle/>
          <a:p>
            <a:pPr algn="l"/>
            <a:r>
              <a:rPr sz="1000" b="0" i="0" dirty="0">
                <a:solidFill>
                  <a:srgbClr val="FF6666"/>
                </a:solidFill>
                <a:latin typeface="Calibri"/>
              </a:rPr>
              <a:t>☐  Decline</a:t>
            </a:r>
          </a:p>
        </p:txBody>
      </p:sp>
      <p:sp>
        <p:nvSpPr>
          <p:cNvPr id="14" name="TextBox 13"/>
          <p:cNvSpPr txBox="1"/>
          <p:nvPr/>
        </p:nvSpPr>
        <p:spPr>
          <a:xfrm>
            <a:off x="365760" y="804672"/>
            <a:ext cx="8485632" cy="3383280"/>
          </a:xfrm>
          <a:prstGeom prst="rect">
            <a:avLst/>
          </a:prstGeom>
          <a:noFill/>
        </p:spPr>
        <p:txBody>
          <a:bodyPr wrap="square">
            <a:spAutoFit/>
          </a:bodyPr>
          <a:lstStyle/>
          <a:p>
            <a:pPr algn="l"/>
            <a:r>
              <a:rPr sz="1000" b="0" i="0" dirty="0">
                <a:solidFill>
                  <a:srgbClr val="CCCCCC"/>
                </a:solidFill>
                <a:latin typeface="Calibri"/>
              </a:rPr>
              <a:t>The Board directs the following:
1.  Treat the April 30, 2026 journal entries as disputed, pending independent review. Microcosm and the Bookstore (Microcosm Astronautics Books) shall provide invoice and agreement support for each netting offset and for the Bookstore and Wertz notes.
2.  Credit Microcosm’s share of SSLC’s facility costs since July 2024 against the “Due to Microcosm” balance, unless a written agreement signed by disinterested directors provides otherwise.
3.  No payment, netting, security interest, or further accrual of interest on the Microcosm, Bookstore, or Wertz balances without prior approval of the disinterested directors of SSLC.
4.  An independent accountant chosen by the disinterested directors shall reconcile these balances and the AR Unbilled / Customer-Deposit accounts within 30 days.</a:t>
            </a:r>
          </a:p>
        </p:txBody>
      </p:sp>
      <p:sp>
        <p:nvSpPr>
          <p:cNvPr id="15" name="Rectangle 14"/>
          <p:cNvSpPr/>
          <p:nvPr/>
        </p:nvSpPr>
        <p:spPr>
          <a:xfrm>
            <a:off x="201168" y="4517136"/>
            <a:ext cx="8741664" cy="3474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0040" y="4562855"/>
            <a:ext cx="8485632" cy="292608"/>
          </a:xfrm>
          <a:prstGeom prst="rect">
            <a:avLst/>
          </a:prstGeom>
          <a:noFill/>
        </p:spPr>
        <p:txBody>
          <a:bodyPr wrap="square">
            <a:spAutoFit/>
          </a:bodyPr>
          <a:lstStyle/>
          <a:p>
            <a:r>
              <a:rPr lang="en-US" sz="1000" dirty="0">
                <a:solidFill>
                  <a:srgbClr val="888888"/>
                </a:solidFill>
                <a:latin typeface="Calibri"/>
              </a:rPr>
              <a:t>Governance: Interested directors J. Wertz and A. Wertz abstain on Motion 5 (Cal. Corp. Code §310). Motion 5 is decided by the disinterested directors: J. Quinn, M. Rufer, R. Conger.</a:t>
            </a:r>
          </a:p>
        </p:txBody>
      </p:sp>
      <p:sp>
        <p:nvSpPr>
          <p:cNvPr id="17" name="TextBox 16"/>
          <p:cNvSpPr txBox="1"/>
          <p:nvPr/>
        </p:nvSpPr>
        <p:spPr>
          <a:xfrm>
            <a:off x="3200400" y="4910328"/>
            <a:ext cx="2743200" cy="201168"/>
          </a:xfrm>
          <a:prstGeom prst="rect">
            <a:avLst/>
          </a:prstGeom>
          <a:noFill/>
        </p:spPr>
        <p:txBody>
          <a:bodyPr wrap="square">
            <a:spAutoFit/>
          </a:bodyPr>
          <a:lstStyle/>
          <a:p>
            <a:pPr algn="ctr"/>
            <a:r>
              <a:rPr sz="1000" b="0" i="0">
                <a:solidFill>
                  <a:srgbClr val="888888"/>
                </a:solidFill>
                <a:latin typeface="Calibri"/>
              </a:rPr>
              <a:t>DRAFT — NEGOTIATING TERMS</a:t>
            </a:r>
          </a:p>
        </p:txBody>
      </p:sp>
      <p:sp>
        <p:nvSpPr>
          <p:cNvPr id="18" name="TextBox 17"/>
          <p:cNvSpPr txBox="1"/>
          <p:nvPr/>
        </p:nvSpPr>
        <p:spPr>
          <a:xfrm>
            <a:off x="7863840" y="4910328"/>
            <a:ext cx="1188720" cy="201168"/>
          </a:xfrm>
          <a:prstGeom prst="rect">
            <a:avLst/>
          </a:prstGeom>
          <a:noFill/>
        </p:spPr>
        <p:txBody>
          <a:bodyPr wrap="square">
            <a:spAutoFit/>
          </a:bodyPr>
          <a:lstStyle/>
          <a:p>
            <a:pPr algn="r"/>
            <a:r>
              <a:rPr sz="1000" b="0" i="0">
                <a:solidFill>
                  <a:srgbClr val="888888"/>
                </a:solidFill>
                <a:latin typeface="Calibri"/>
              </a:rPr>
              <a:t>CONFIDENTIAL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a:effectLst/>
      </p:bgPr>
    </p:bg>
    <p:spTree>
      <p:nvGrpSpPr>
        <p:cNvPr id="1" name=""/>
        <p:cNvGrpSpPr/>
        <p:nvPr/>
      </p:nvGrpSpPr>
      <p:grpSpPr>
        <a:xfrm>
          <a:off x="0" y="0"/>
          <a:ext cx="0" cy="0"/>
          <a:chOff x="0" y="0"/>
          <a:chExt cx="0" cy="0"/>
        </a:xfrm>
      </p:grpSpPr>
      <p:pic>
        <p:nvPicPr>
          <p:cNvPr id="2" name="Image 0" descr="/Users/exomac/.openclaw/workspace/drafts/_exos_hero_bg.png"/>
          <p:cNvPicPr>
            <a:picLocks noChangeAspect="1"/>
          </p:cNvPicPr>
          <p:nvPr/>
        </p:nvPicPr>
        <p:blipFill>
          <a:blip r:embed="rId3">
            <a:alphaModFix amt="55000"/>
          </a:blip>
          <a:stretch>
            <a:fillRect/>
          </a:stretch>
        </p:blipFill>
        <p:spPr>
          <a:xfrm>
            <a:off x="0" y="0"/>
            <a:ext cx="9144000" cy="5143500"/>
          </a:xfrm>
          <a:prstGeom prst="rect">
            <a:avLst/>
          </a:prstGeom>
        </p:spPr>
      </p:pic>
      <p:sp>
        <p:nvSpPr>
          <p:cNvPr id="3" name="Text 0"/>
          <p:cNvSpPr txBox="1"/>
          <p:nvPr/>
        </p:nvSpPr>
        <p:spPr>
          <a:xfrm>
            <a:off x="457200" y="274320"/>
            <a:ext cx="8229600" cy="47548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Path to Close</a:t>
            </a:r>
            <a:endParaRPr lang="en-US" sz="2200" dirty="0"/>
          </a:p>
        </p:txBody>
      </p:sp>
      <p:sp>
        <p:nvSpPr>
          <p:cNvPr id="4" name="Shape 1"/>
          <p:cNvSpPr/>
          <p:nvPr/>
        </p:nvSpPr>
        <p:spPr>
          <a:xfrm>
            <a:off x="457200" y="768096"/>
            <a:ext cx="1371600" cy="36576"/>
          </a:xfrm>
          <a:prstGeom prst="rect">
            <a:avLst/>
          </a:prstGeom>
          <a:solidFill>
            <a:srgbClr val="F26A21"/>
          </a:solidFill>
          <a:ln/>
        </p:spPr>
        <p:txBody>
          <a:bodyPr/>
          <a:lstStyle/>
          <a:p>
            <a:endParaRPr/>
          </a:p>
        </p:txBody>
      </p:sp>
      <p:sp>
        <p:nvSpPr>
          <p:cNvPr id="5" name="Shape 2"/>
          <p:cNvSpPr/>
          <p:nvPr/>
        </p:nvSpPr>
        <p:spPr>
          <a:xfrm>
            <a:off x="1024128" y="1426464"/>
            <a:ext cx="0" cy="201168"/>
          </a:xfrm>
          <a:prstGeom prst="line">
            <a:avLst/>
          </a:prstGeom>
          <a:noFill/>
          <a:ln w="12700">
            <a:solidFill>
              <a:srgbClr val="F26A21"/>
            </a:solidFill>
            <a:prstDash val="solid"/>
          </a:ln>
        </p:spPr>
        <p:txBody>
          <a:bodyPr/>
          <a:lstStyle/>
          <a:p>
            <a:endParaRPr/>
          </a:p>
        </p:txBody>
      </p:sp>
      <p:sp>
        <p:nvSpPr>
          <p:cNvPr id="6" name="Shape 3"/>
          <p:cNvSpPr/>
          <p:nvPr/>
        </p:nvSpPr>
        <p:spPr>
          <a:xfrm>
            <a:off x="548640" y="914400"/>
            <a:ext cx="512064" cy="512064"/>
          </a:xfrm>
          <a:prstGeom prst="ellipse">
            <a:avLst/>
          </a:prstGeom>
          <a:solidFill>
            <a:srgbClr val="F26A21"/>
          </a:solidFill>
          <a:ln w="12700">
            <a:solidFill>
              <a:srgbClr val="F26A21"/>
            </a:solidFill>
            <a:prstDash val="solid"/>
          </a:ln>
        </p:spPr>
        <p:txBody>
          <a:bodyPr/>
          <a:lstStyle/>
          <a:p>
            <a:endParaRPr/>
          </a:p>
        </p:txBody>
      </p:sp>
      <p:sp>
        <p:nvSpPr>
          <p:cNvPr id="7" name="Text 4"/>
          <p:cNvSpPr txBox="1"/>
          <p:nvPr/>
        </p:nvSpPr>
        <p:spPr>
          <a:xfrm>
            <a:off x="548640" y="978408"/>
            <a:ext cx="512064" cy="384048"/>
          </a:xfrm>
          <a:prstGeom prst="rect">
            <a:avLst/>
          </a:prstGeom>
          <a:noFill/>
          <a:ln/>
        </p:spPr>
        <p:txBody>
          <a:bodyPr wrap="square" rtlCol="0" anchor="ctr"/>
          <a:lstStyle/>
          <a:p>
            <a:pPr marL="0" indent="0" algn="ctr">
              <a:buNone/>
            </a:pPr>
            <a:r>
              <a:rPr lang="en-US" sz="1500" b="1" dirty="0">
                <a:solidFill>
                  <a:srgbClr val="111111"/>
                </a:solidFill>
              </a:rPr>
              <a:t>1</a:t>
            </a:r>
            <a:endParaRPr lang="en-US" sz="1500" dirty="0"/>
          </a:p>
        </p:txBody>
      </p:sp>
      <p:sp>
        <p:nvSpPr>
          <p:cNvPr id="8" name="Text 5"/>
          <p:cNvSpPr txBox="1"/>
          <p:nvPr/>
        </p:nvSpPr>
        <p:spPr>
          <a:xfrm>
            <a:off x="1234440" y="932688"/>
            <a:ext cx="6858000" cy="274320"/>
          </a:xfrm>
          <a:prstGeom prst="rect">
            <a:avLst/>
          </a:prstGeom>
          <a:noFill/>
          <a:ln/>
        </p:spPr>
        <p:txBody>
          <a:bodyPr wrap="square" rtlCol="0" anchor="ctr"/>
          <a:lstStyle/>
          <a:p>
            <a:pPr marL="0" indent="0">
              <a:buNone/>
            </a:pPr>
            <a:r>
              <a:rPr lang="en-US" sz="1400" b="1" dirty="0">
                <a:solidFill>
                  <a:srgbClr val="FFFFFF"/>
                </a:solidFill>
              </a:rPr>
              <a:t>Board Vote: Offer + §3 Exclusivity (90 days + 60-day ext.)</a:t>
            </a:r>
            <a:endParaRPr lang="en-US" sz="1400" dirty="0"/>
          </a:p>
        </p:txBody>
      </p:sp>
      <p:sp>
        <p:nvSpPr>
          <p:cNvPr id="9" name="Text 6"/>
          <p:cNvSpPr txBox="1"/>
          <p:nvPr/>
        </p:nvSpPr>
        <p:spPr>
          <a:xfrm>
            <a:off x="1234440" y="1197864"/>
            <a:ext cx="6858000" cy="237744"/>
          </a:xfrm>
          <a:prstGeom prst="rect">
            <a:avLst/>
          </a:prstGeom>
          <a:noFill/>
          <a:ln/>
        </p:spPr>
        <p:txBody>
          <a:bodyPr wrap="square" rtlCol="0" anchor="ctr"/>
          <a:lstStyle/>
          <a:p>
            <a:pPr marL="0" indent="0">
              <a:buNone/>
            </a:pPr>
            <a:r>
              <a:rPr lang="en-US" sz="1100" dirty="0">
                <a:solidFill>
                  <a:srgbClr val="888888"/>
                </a:solidFill>
              </a:rPr>
              <a:t>Today — action requested at this meeting</a:t>
            </a:r>
            <a:endParaRPr lang="en-US" sz="1100" dirty="0"/>
          </a:p>
        </p:txBody>
      </p:sp>
      <p:sp>
        <p:nvSpPr>
          <p:cNvPr id="10" name="Shape 7"/>
          <p:cNvSpPr/>
          <p:nvPr/>
        </p:nvSpPr>
        <p:spPr>
          <a:xfrm>
            <a:off x="1024128" y="2121408"/>
            <a:ext cx="0" cy="201168"/>
          </a:xfrm>
          <a:prstGeom prst="line">
            <a:avLst/>
          </a:prstGeom>
          <a:noFill/>
          <a:ln w="12700">
            <a:solidFill>
              <a:srgbClr val="F26A21"/>
            </a:solidFill>
            <a:prstDash val="solid"/>
          </a:ln>
        </p:spPr>
        <p:txBody>
          <a:bodyPr/>
          <a:lstStyle/>
          <a:p>
            <a:endParaRPr/>
          </a:p>
        </p:txBody>
      </p:sp>
      <p:sp>
        <p:nvSpPr>
          <p:cNvPr id="11" name="Shape 8"/>
          <p:cNvSpPr/>
          <p:nvPr/>
        </p:nvSpPr>
        <p:spPr>
          <a:xfrm>
            <a:off x="548640" y="1609344"/>
            <a:ext cx="512064" cy="512064"/>
          </a:xfrm>
          <a:prstGeom prst="ellipse">
            <a:avLst/>
          </a:prstGeom>
          <a:solidFill>
            <a:srgbClr val="2A2A2A"/>
          </a:solidFill>
          <a:ln w="12700">
            <a:solidFill>
              <a:srgbClr val="F26A21"/>
            </a:solidFill>
            <a:prstDash val="solid"/>
          </a:ln>
        </p:spPr>
        <p:txBody>
          <a:bodyPr/>
          <a:lstStyle/>
          <a:p>
            <a:endParaRPr/>
          </a:p>
        </p:txBody>
      </p:sp>
      <p:sp>
        <p:nvSpPr>
          <p:cNvPr id="12" name="Text 9"/>
          <p:cNvSpPr txBox="1"/>
          <p:nvPr/>
        </p:nvSpPr>
        <p:spPr>
          <a:xfrm>
            <a:off x="548640" y="1673352"/>
            <a:ext cx="512064" cy="384048"/>
          </a:xfrm>
          <a:prstGeom prst="rect">
            <a:avLst/>
          </a:prstGeom>
          <a:noFill/>
          <a:ln/>
        </p:spPr>
        <p:txBody>
          <a:bodyPr wrap="square" rtlCol="0" anchor="ctr"/>
          <a:lstStyle/>
          <a:p>
            <a:pPr marL="0" indent="0" algn="ctr">
              <a:buNone/>
            </a:pPr>
            <a:r>
              <a:rPr lang="en-US" sz="1500" b="1" dirty="0">
                <a:solidFill>
                  <a:srgbClr val="F26A21"/>
                </a:solidFill>
              </a:rPr>
              <a:t>2</a:t>
            </a:r>
            <a:endParaRPr lang="en-US" sz="1500" dirty="0"/>
          </a:p>
        </p:txBody>
      </p:sp>
      <p:sp>
        <p:nvSpPr>
          <p:cNvPr id="13" name="Text 10"/>
          <p:cNvSpPr txBox="1"/>
          <p:nvPr/>
        </p:nvSpPr>
        <p:spPr>
          <a:xfrm>
            <a:off x="1234440" y="1627632"/>
            <a:ext cx="6858000" cy="274320"/>
          </a:xfrm>
          <a:prstGeom prst="rect">
            <a:avLst/>
          </a:prstGeom>
          <a:noFill/>
          <a:ln/>
        </p:spPr>
        <p:txBody>
          <a:bodyPr wrap="square" rtlCol="0" anchor="ctr"/>
          <a:lstStyle/>
          <a:p>
            <a:pPr marL="0" indent="0">
              <a:buNone/>
            </a:pPr>
            <a:r>
              <a:rPr lang="en-US" sz="1400" b="1" dirty="0">
                <a:solidFill>
                  <a:srgbClr val="FFFFFF"/>
                </a:solidFill>
              </a:rPr>
              <a:t>90-Day Exclusivity Window</a:t>
            </a:r>
            <a:endParaRPr lang="en-US" sz="1400" dirty="0"/>
          </a:p>
        </p:txBody>
      </p:sp>
      <p:sp>
        <p:nvSpPr>
          <p:cNvPr id="14" name="Text 11"/>
          <p:cNvSpPr txBox="1"/>
          <p:nvPr/>
        </p:nvSpPr>
        <p:spPr>
          <a:xfrm>
            <a:off x="1234440" y="1892808"/>
            <a:ext cx="6858000" cy="237744"/>
          </a:xfrm>
          <a:prstGeom prst="rect">
            <a:avLst/>
          </a:prstGeom>
          <a:noFill/>
          <a:ln/>
        </p:spPr>
        <p:txBody>
          <a:bodyPr wrap="square" rtlCol="0" anchor="ctr"/>
          <a:lstStyle/>
          <a:p>
            <a:pPr marL="0" indent="0">
              <a:buNone/>
            </a:pPr>
            <a:r>
              <a:rPr lang="en-US" sz="1100" dirty="0">
                <a:solidFill>
                  <a:srgbClr val="888888"/>
                </a:solidFill>
              </a:rPr>
              <a:t>Negotiation and diligence period begins</a:t>
            </a:r>
            <a:endParaRPr lang="en-US" sz="1100" dirty="0"/>
          </a:p>
        </p:txBody>
      </p:sp>
      <p:sp>
        <p:nvSpPr>
          <p:cNvPr id="15" name="Shape 12"/>
          <p:cNvSpPr/>
          <p:nvPr/>
        </p:nvSpPr>
        <p:spPr>
          <a:xfrm>
            <a:off x="1024128" y="2816352"/>
            <a:ext cx="0" cy="201168"/>
          </a:xfrm>
          <a:prstGeom prst="line">
            <a:avLst/>
          </a:prstGeom>
          <a:noFill/>
          <a:ln w="12700">
            <a:solidFill>
              <a:srgbClr val="F26A21"/>
            </a:solidFill>
            <a:prstDash val="solid"/>
          </a:ln>
        </p:spPr>
        <p:txBody>
          <a:bodyPr/>
          <a:lstStyle/>
          <a:p>
            <a:endParaRPr/>
          </a:p>
        </p:txBody>
      </p:sp>
      <p:sp>
        <p:nvSpPr>
          <p:cNvPr id="16" name="Shape 13"/>
          <p:cNvSpPr/>
          <p:nvPr/>
        </p:nvSpPr>
        <p:spPr>
          <a:xfrm>
            <a:off x="548640" y="2304288"/>
            <a:ext cx="512064" cy="512064"/>
          </a:xfrm>
          <a:prstGeom prst="ellipse">
            <a:avLst/>
          </a:prstGeom>
          <a:solidFill>
            <a:srgbClr val="2A2A2A"/>
          </a:solidFill>
          <a:ln w="12700">
            <a:solidFill>
              <a:srgbClr val="F26A21"/>
            </a:solidFill>
            <a:prstDash val="solid"/>
          </a:ln>
        </p:spPr>
        <p:txBody>
          <a:bodyPr/>
          <a:lstStyle/>
          <a:p>
            <a:endParaRPr/>
          </a:p>
        </p:txBody>
      </p:sp>
      <p:sp>
        <p:nvSpPr>
          <p:cNvPr id="17" name="Text 14"/>
          <p:cNvSpPr txBox="1"/>
          <p:nvPr/>
        </p:nvSpPr>
        <p:spPr>
          <a:xfrm>
            <a:off x="548640" y="2368296"/>
            <a:ext cx="512064" cy="384048"/>
          </a:xfrm>
          <a:prstGeom prst="rect">
            <a:avLst/>
          </a:prstGeom>
          <a:noFill/>
          <a:ln/>
        </p:spPr>
        <p:txBody>
          <a:bodyPr wrap="square" rtlCol="0" anchor="ctr"/>
          <a:lstStyle/>
          <a:p>
            <a:pPr marL="0" indent="0" algn="ctr">
              <a:buNone/>
            </a:pPr>
            <a:r>
              <a:rPr lang="en-US" sz="1500" b="1" dirty="0">
                <a:solidFill>
                  <a:srgbClr val="F26A21"/>
                </a:solidFill>
              </a:rPr>
              <a:t>3</a:t>
            </a:r>
            <a:endParaRPr lang="en-US" sz="1500" dirty="0"/>
          </a:p>
        </p:txBody>
      </p:sp>
      <p:sp>
        <p:nvSpPr>
          <p:cNvPr id="18" name="Text 15"/>
          <p:cNvSpPr txBox="1"/>
          <p:nvPr/>
        </p:nvSpPr>
        <p:spPr>
          <a:xfrm>
            <a:off x="1234440" y="2322576"/>
            <a:ext cx="6858000" cy="274320"/>
          </a:xfrm>
          <a:prstGeom prst="rect">
            <a:avLst/>
          </a:prstGeom>
          <a:noFill/>
          <a:ln/>
        </p:spPr>
        <p:txBody>
          <a:bodyPr wrap="square" rtlCol="0" anchor="ctr"/>
          <a:lstStyle/>
          <a:p>
            <a:pPr marL="0" indent="0">
              <a:buNone/>
            </a:pPr>
            <a:r>
              <a:rPr lang="en-US" sz="1400" b="1" dirty="0">
                <a:solidFill>
                  <a:srgbClr val="FFFFFF"/>
                </a:solidFill>
              </a:rPr>
              <a:t>Definitive Agreement</a:t>
            </a:r>
            <a:endParaRPr lang="en-US" sz="1400" dirty="0"/>
          </a:p>
        </p:txBody>
      </p:sp>
      <p:sp>
        <p:nvSpPr>
          <p:cNvPr id="19" name="Text 16"/>
          <p:cNvSpPr txBox="1"/>
          <p:nvPr/>
        </p:nvSpPr>
        <p:spPr>
          <a:xfrm>
            <a:off x="1234440" y="2587752"/>
            <a:ext cx="6858000" cy="237744"/>
          </a:xfrm>
          <a:prstGeom prst="rect">
            <a:avLst/>
          </a:prstGeom>
          <a:noFill/>
          <a:ln/>
        </p:spPr>
        <p:txBody>
          <a:bodyPr wrap="square" rtlCol="0" anchor="ctr"/>
          <a:lstStyle/>
          <a:p>
            <a:pPr marL="0" indent="0">
              <a:buNone/>
            </a:pPr>
            <a:r>
              <a:rPr lang="en-US" sz="1100" dirty="0">
                <a:solidFill>
                  <a:srgbClr val="888888"/>
                </a:solidFill>
              </a:rPr>
              <a:t>Key terms, employee pool, earn-out detail finalized</a:t>
            </a:r>
            <a:endParaRPr lang="en-US" sz="1100" dirty="0"/>
          </a:p>
        </p:txBody>
      </p:sp>
      <p:sp>
        <p:nvSpPr>
          <p:cNvPr id="20" name="Shape 17"/>
          <p:cNvSpPr/>
          <p:nvPr/>
        </p:nvSpPr>
        <p:spPr>
          <a:xfrm>
            <a:off x="1024128" y="3511296"/>
            <a:ext cx="0" cy="201168"/>
          </a:xfrm>
          <a:prstGeom prst="line">
            <a:avLst/>
          </a:prstGeom>
          <a:noFill/>
          <a:ln w="12700">
            <a:solidFill>
              <a:srgbClr val="F26A21"/>
            </a:solidFill>
            <a:prstDash val="solid"/>
          </a:ln>
        </p:spPr>
        <p:txBody>
          <a:bodyPr/>
          <a:lstStyle/>
          <a:p>
            <a:endParaRPr/>
          </a:p>
        </p:txBody>
      </p:sp>
      <p:sp>
        <p:nvSpPr>
          <p:cNvPr id="21" name="Shape 18"/>
          <p:cNvSpPr/>
          <p:nvPr/>
        </p:nvSpPr>
        <p:spPr>
          <a:xfrm>
            <a:off x="548640" y="2999232"/>
            <a:ext cx="512064" cy="512064"/>
          </a:xfrm>
          <a:prstGeom prst="ellipse">
            <a:avLst/>
          </a:prstGeom>
          <a:solidFill>
            <a:srgbClr val="2A2A2A"/>
          </a:solidFill>
          <a:ln w="12700">
            <a:solidFill>
              <a:srgbClr val="F26A21"/>
            </a:solidFill>
            <a:prstDash val="solid"/>
          </a:ln>
        </p:spPr>
        <p:txBody>
          <a:bodyPr/>
          <a:lstStyle/>
          <a:p>
            <a:endParaRPr/>
          </a:p>
        </p:txBody>
      </p:sp>
      <p:sp>
        <p:nvSpPr>
          <p:cNvPr id="22" name="Text 19"/>
          <p:cNvSpPr txBox="1"/>
          <p:nvPr/>
        </p:nvSpPr>
        <p:spPr>
          <a:xfrm>
            <a:off x="548640" y="3063240"/>
            <a:ext cx="512064" cy="384048"/>
          </a:xfrm>
          <a:prstGeom prst="rect">
            <a:avLst/>
          </a:prstGeom>
          <a:noFill/>
          <a:ln/>
        </p:spPr>
        <p:txBody>
          <a:bodyPr wrap="square" rtlCol="0" anchor="ctr"/>
          <a:lstStyle/>
          <a:p>
            <a:pPr marL="0" indent="0" algn="ctr">
              <a:buNone/>
            </a:pPr>
            <a:r>
              <a:rPr lang="en-US" sz="1500" b="1" dirty="0">
                <a:solidFill>
                  <a:srgbClr val="F26A21"/>
                </a:solidFill>
              </a:rPr>
              <a:t>4</a:t>
            </a:r>
            <a:endParaRPr lang="en-US" sz="1500" dirty="0"/>
          </a:p>
        </p:txBody>
      </p:sp>
      <p:sp>
        <p:nvSpPr>
          <p:cNvPr id="23" name="Text 20"/>
          <p:cNvSpPr txBox="1"/>
          <p:nvPr/>
        </p:nvSpPr>
        <p:spPr>
          <a:xfrm>
            <a:off x="1234440" y="3017520"/>
            <a:ext cx="6858000" cy="274320"/>
          </a:xfrm>
          <a:prstGeom prst="rect">
            <a:avLst/>
          </a:prstGeom>
          <a:noFill/>
          <a:ln/>
        </p:spPr>
        <p:txBody>
          <a:bodyPr wrap="square" rtlCol="0" anchor="ctr"/>
          <a:lstStyle/>
          <a:p>
            <a:pPr marL="0" indent="0">
              <a:buNone/>
            </a:pPr>
            <a:r>
              <a:rPr lang="en-US" sz="1400" b="1" dirty="0">
                <a:solidFill>
                  <a:srgbClr val="FFFFFF"/>
                </a:solidFill>
              </a:rPr>
              <a:t>Financing Close — target Jan 15, 2027</a:t>
            </a:r>
            <a:endParaRPr lang="en-US" sz="1400" dirty="0"/>
          </a:p>
        </p:txBody>
      </p:sp>
      <p:sp>
        <p:nvSpPr>
          <p:cNvPr id="24" name="Text 21"/>
          <p:cNvSpPr txBox="1"/>
          <p:nvPr/>
        </p:nvSpPr>
        <p:spPr>
          <a:xfrm>
            <a:off x="1234440" y="3282696"/>
            <a:ext cx="6858000" cy="237744"/>
          </a:xfrm>
          <a:prstGeom prst="rect">
            <a:avLst/>
          </a:prstGeom>
          <a:noFill/>
          <a:ln/>
        </p:spPr>
        <p:txBody>
          <a:bodyPr wrap="square" rtlCol="0" anchor="ctr"/>
          <a:lstStyle/>
          <a:p>
            <a:pPr marL="0" indent="0">
              <a:buNone/>
            </a:pPr>
            <a:r>
              <a:rPr lang="en-US" sz="1100" dirty="0">
                <a:solidFill>
                  <a:srgbClr val="888888"/>
                </a:solidFill>
              </a:rPr>
              <a:t>Cash at close + EAI units issued; ① + stock = ②</a:t>
            </a:r>
            <a:endParaRPr lang="en-US" sz="1100" dirty="0"/>
          </a:p>
        </p:txBody>
      </p:sp>
      <p:sp>
        <p:nvSpPr>
          <p:cNvPr id="25" name="Shape 22"/>
          <p:cNvSpPr/>
          <p:nvPr/>
        </p:nvSpPr>
        <p:spPr>
          <a:xfrm>
            <a:off x="548640" y="3694176"/>
            <a:ext cx="512064" cy="512064"/>
          </a:xfrm>
          <a:prstGeom prst="ellipse">
            <a:avLst/>
          </a:prstGeom>
          <a:solidFill>
            <a:srgbClr val="2A2A2A"/>
          </a:solidFill>
          <a:ln w="12700">
            <a:solidFill>
              <a:srgbClr val="F26A21"/>
            </a:solidFill>
            <a:prstDash val="solid"/>
          </a:ln>
        </p:spPr>
        <p:txBody>
          <a:bodyPr/>
          <a:lstStyle/>
          <a:p>
            <a:endParaRPr/>
          </a:p>
        </p:txBody>
      </p:sp>
      <p:sp>
        <p:nvSpPr>
          <p:cNvPr id="26" name="Text 23"/>
          <p:cNvSpPr txBox="1"/>
          <p:nvPr/>
        </p:nvSpPr>
        <p:spPr>
          <a:xfrm>
            <a:off x="548640" y="3758184"/>
            <a:ext cx="512064" cy="384048"/>
          </a:xfrm>
          <a:prstGeom prst="rect">
            <a:avLst/>
          </a:prstGeom>
          <a:noFill/>
          <a:ln/>
        </p:spPr>
        <p:txBody>
          <a:bodyPr wrap="square" rtlCol="0" anchor="ctr"/>
          <a:lstStyle/>
          <a:p>
            <a:pPr marL="0" indent="0" algn="ctr">
              <a:buNone/>
            </a:pPr>
            <a:r>
              <a:rPr lang="en-US" sz="1500" b="1" dirty="0">
                <a:solidFill>
                  <a:srgbClr val="F26A21"/>
                </a:solidFill>
              </a:rPr>
              <a:t>5</a:t>
            </a:r>
            <a:endParaRPr lang="en-US" sz="1500" dirty="0"/>
          </a:p>
        </p:txBody>
      </p:sp>
      <p:sp>
        <p:nvSpPr>
          <p:cNvPr id="27" name="Text 24"/>
          <p:cNvSpPr txBox="1"/>
          <p:nvPr/>
        </p:nvSpPr>
        <p:spPr>
          <a:xfrm>
            <a:off x="1234440" y="3712464"/>
            <a:ext cx="6858000" cy="274320"/>
          </a:xfrm>
          <a:prstGeom prst="rect">
            <a:avLst/>
          </a:prstGeom>
          <a:noFill/>
          <a:ln/>
        </p:spPr>
        <p:txBody>
          <a:bodyPr wrap="square" rtlCol="0" anchor="ctr"/>
          <a:lstStyle/>
          <a:p>
            <a:pPr marL="0" indent="0">
              <a:buNone/>
            </a:pPr>
            <a:r>
              <a:rPr lang="en-US" sz="1400" b="1" dirty="0">
                <a:solidFill>
                  <a:srgbClr val="FFFFFF"/>
                </a:solidFill>
              </a:rPr>
              <a:t>Targeted RTO</a:t>
            </a:r>
            <a:endParaRPr lang="en-US" sz="1400" dirty="0"/>
          </a:p>
        </p:txBody>
      </p:sp>
      <p:sp>
        <p:nvSpPr>
          <p:cNvPr id="28" name="Text 25"/>
          <p:cNvSpPr txBox="1"/>
          <p:nvPr/>
        </p:nvSpPr>
        <p:spPr>
          <a:xfrm>
            <a:off x="1234440" y="3977640"/>
            <a:ext cx="6858000" cy="237744"/>
          </a:xfrm>
          <a:prstGeom prst="rect">
            <a:avLst/>
          </a:prstGeom>
          <a:noFill/>
          <a:ln/>
        </p:spPr>
        <p:txBody>
          <a:bodyPr wrap="square" rtlCol="0" anchor="ctr"/>
          <a:lstStyle/>
          <a:p>
            <a:pPr marL="0" indent="0">
              <a:buNone/>
            </a:pPr>
            <a:r>
              <a:rPr lang="en-US" sz="1100" dirty="0">
                <a:solidFill>
                  <a:srgbClr val="888888"/>
                </a:solidFill>
              </a:rPr>
              <a:t>~6 months post-financing; units tradeable at listing (not assured)</a:t>
            </a:r>
            <a:endParaRPr lang="en-US" sz="1100" dirty="0"/>
          </a:p>
        </p:txBody>
      </p:sp>
      <p:sp>
        <p:nvSpPr>
          <p:cNvPr id="29" name="Shape 26"/>
          <p:cNvSpPr/>
          <p:nvPr/>
        </p:nvSpPr>
        <p:spPr>
          <a:xfrm>
            <a:off x="365760" y="4251959"/>
            <a:ext cx="8446086" cy="769425"/>
          </a:xfrm>
          <a:prstGeom prst="rect">
            <a:avLst/>
          </a:prstGeom>
          <a:solidFill>
            <a:srgbClr val="2A1000"/>
          </a:solidFill>
          <a:ln w="12700">
            <a:solidFill>
              <a:srgbClr val="F26A21"/>
            </a:solidFill>
            <a:prstDash val="solid"/>
          </a:ln>
        </p:spPr>
        <p:txBody>
          <a:bodyPr/>
          <a:lstStyle/>
          <a:p>
            <a:endParaRPr/>
          </a:p>
        </p:txBody>
      </p:sp>
      <p:sp>
        <p:nvSpPr>
          <p:cNvPr id="30" name="Text 27"/>
          <p:cNvSpPr txBox="1"/>
          <p:nvPr/>
        </p:nvSpPr>
        <p:spPr>
          <a:xfrm>
            <a:off x="502920" y="4626864"/>
            <a:ext cx="8363634" cy="146304"/>
          </a:xfrm>
          <a:prstGeom prst="rect">
            <a:avLst/>
          </a:prstGeom>
          <a:noFill/>
          <a:ln/>
        </p:spPr>
        <p:txBody>
          <a:bodyPr wrap="square" rtlCol="0" anchor="ctr"/>
          <a:lstStyle/>
          <a:p>
            <a:pPr marL="0" indent="0" algn="ctr">
              <a:buNone/>
            </a:pPr>
            <a:r>
              <a:rPr lang="en-US" sz="1000" b="1" dirty="0">
                <a:solidFill>
                  <a:srgbClr val="F26A21"/>
                </a:solidFill>
              </a:rPr>
              <a:t>The Board is asked today to vote on Motions 1–5: approving the Exos offer and granting exclusivity (90-day + 60-day ext., Motion 1), QB access (Motion 2), accounting correction (Motion 3), and ERP evaluation (Motion 4), and related-party balances (Motion 5). Declining Motion 1 is a judgment that SSLC alone — without new capital — is more likely to create more than the $18.4M maximum this offer projects (if Exos stock held to 2031). Not a guarantee; "projects" is the operative word.</a:t>
            </a:r>
            <a:endParaRPr lang="en-US" sz="1300" dirty="0"/>
          </a:p>
        </p:txBody>
      </p:sp>
    </p:spTree>
  </p:cSld>
  <p:clrMapOvr>
    <a:masterClrMapping/>
  </p:clrMapOvr>
</p:sld>
</file>

<file path=ppt/theme/theme1.xml><?xml version="1.0" encoding="utf-8"?>
<a:theme xmlns:a="http://schemas.openxmlformats.org/drawingml/2006/main" name="Exos Aerospace">
  <a:themeElements>
    <a:clrScheme name="Exos Aerospace">
      <a:dk1>
        <a:srgbClr val="111111"/>
      </a:dk1>
      <a:lt1>
        <a:srgbClr val="FFFFFF"/>
      </a:lt1>
      <a:dk2>
        <a:srgbClr val="1A1A1A"/>
      </a:dk2>
      <a:lt2>
        <a:srgbClr val="F5F5F5"/>
      </a:lt2>
      <a:accent1>
        <a:srgbClr val="F26A21"/>
      </a:accent1>
      <a:accent2>
        <a:srgbClr val="888888"/>
      </a:accent2>
      <a:accent3>
        <a:srgbClr val="2ECC71"/>
      </a:accent3>
      <a:accent4>
        <a:srgbClr val="C0392B"/>
      </a:accent4>
      <a:accent5>
        <a:srgbClr val="555555"/>
      </a:accent5>
      <a:accent6>
        <a:srgbClr val="333333"/>
      </a:accent6>
      <a:hlink>
        <a:srgbClr val="F26A21"/>
      </a:hlink>
      <a:folHlink>
        <a:srgbClr val="AAAAAA"/>
      </a:folHlink>
    </a:clrScheme>
    <a:fontScheme name="Exos Aerospa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TotalTime>
  <Words>6864</Words>
  <Application>Microsoft Office PowerPoint</Application>
  <PresentationFormat>On-screen Show (16:9)</PresentationFormat>
  <Paragraphs>631</Paragraphs>
  <Slides>18</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Exos Aerospace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John Quinn (Admin)</cp:lastModifiedBy>
  <cp:revision>4</cp:revision>
  <dcterms:created xsi:type="dcterms:W3CDTF">2026-10-10T23:08:01Z</dcterms:created>
  <dcterms:modified xsi:type="dcterms:W3CDTF">2026-10-12T17:14:42Z</dcterms:modified>
</cp:coreProperties>
</file>