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sole action requested of the SSLC board at this meeting is confirmation of the §3 exclusivity provision in the existing May 2025 Asset Acquisition Agreement. Once exclusivity is confirmed, both parties have 90 days to negotiate and execute the definitive agreement and advance to financing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SSLC's own numbers, presented factually and respectfully. The $198K cash figure is from the email draft. The $713K last quarter is from the offer summary. The $5.1M milestone (M1) requires nearly double that quarterly pace starting immediately — this is the context for why the Exos offer provides meaningful value through financing close and earn-out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$4.36M, ② $5.36M with stock. The $4.36M breaks down as: $2.51M cash + $60K transaction costs + $790K stake credit (non-cash) + ~$500K SSLC debts at face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Scenario = the annual IM tank revenue level: Low $3.0M/yr → $150K/yr → $750K total; Base $5.0M/yr → $250K/yr → $1.25M; High $6.0M+/yr → $300K/yr (cap) → $1.5M. M1 (L/B/H): FY27 rev ≥$5.1M → $200K, pays FY28 Q1. M2 (B/H): OTV contract → $200K. M3 (B/H): rev ≥$10M → $250K. M4 (H): rev ≥$20M → $250K. M5 (H): BLK3 qual → $200K. Stock (0/0.25/0.50%): $0/$625K/$1,500K at RTO listing. Total earn-outs: Low $950K / Base $2,525K / High $4,100K. Each equals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($5.36M) + earn-outs. Low = $6.31M / Base = $7.885M (shown as $7.9M) / High = $9.46M (shown as $9.5M). These are rounded for board presentation. ④ TOTAL IF STOCK HELD TO 2031: Low $12.0M / Base $15.8M / High $19.4M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action needed today is board confirmation of §3 exclusivity in the May 2025 Asset Acquisition Agreement. Once confirmed, the 90-day exclusivity period begins and both teams can proceed to diligence and the definitive agreement. The financing close triggers ② ($5.36M). The RTO is targeted ~6 months post-financing close but is not assured. All earn-out and milestone payments are independent and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96012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confirm §3 exclusivity under the May 2025 Asset Acquisition Agreement.</a:t>
            </a:r>
            <a:endParaRPr lang="en-US" sz="3400" dirty="0"/>
          </a:p>
        </p:txBody>
      </p:sp>
      <p:sp>
        <p:nvSpPr>
          <p:cNvPr id="4" name="Shape 2"/>
          <p:cNvSpPr/>
          <p:nvPr/>
        </p:nvSpPr>
        <p:spPr>
          <a:xfrm>
            <a:off x="457200" y="2834640"/>
            <a:ext cx="8229600" cy="1645920"/>
          </a:xfrm>
          <a:prstGeom prst="rect">
            <a:avLst/>
          </a:prstGeom>
          <a:solidFill>
            <a:srgbClr val="1E1E1E"/>
          </a:solidFill>
          <a:ln w="12700">
            <a:solidFill>
              <a:srgbClr val="333333"/>
            </a:solidFill>
            <a:prstDash val="solid"/>
          </a:ln>
        </p:spPr>
      </p:sp>
      <p:sp>
        <p:nvSpPr>
          <p:cNvPr id="5" name="Text 3"/>
          <p:cNvSpPr txBox="1"/>
          <p:nvPr/>
        </p:nvSpPr>
        <p:spPr>
          <a:xfrm>
            <a:off x="640080" y="2926080"/>
            <a:ext cx="7863840" cy="1463040"/>
          </a:xfrm>
          <a:prstGeom prst="rect">
            <a:avLst/>
          </a:prstGeom>
          <a:noFill/>
          <a:ln/>
        </p:spPr>
        <p:txBody>
          <a:bodyPr wrap="square" rtlCol="0" anchor="t"/>
          <a:lstStyle/>
          <a:p>
            <a:pPr indent="0" marL="0">
              <a:buNone/>
            </a:pPr>
            <a:r>
              <a:rPr lang="en-US" sz="1400" b="1" dirty="0">
                <a:solidFill>
                  <a:srgbClr val="F26A21"/>
                </a:solidFill>
              </a:rPr>
              <a:t>Exclusivity period: </a:t>
            </a:r>
            <a:pPr indent="0" marL="0">
              <a:buNone/>
            </a:pPr>
            <a:r>
              <a:rPr lang="en-US" sz="1400" dirty="0">
                <a:solidFill>
                  <a:srgbClr val="CCCCCC"/>
                </a:solidFill>
              </a:rPr>
              <a:t>90 days from board confirmation; extension not unreasonably withheld (§3)
</a:t>
            </a:r>
            <a:pPr indent="0" marL="0">
              <a:buNone/>
            </a:pPr>
            <a:r>
              <a:rPr lang="en-US" sz="1400" b="1" dirty="0">
                <a:solidFill>
                  <a:srgbClr val="F26A21"/>
                </a:solidFill>
              </a:rPr>
              <a:t>Holdback: </a:t>
            </a:r>
            <a:pPr indent="0" marL="0">
              <a:buNone/>
            </a:pPr>
            <a:r>
              <a:rPr lang="en-US" sz="1400" dirty="0">
                <a:solidFill>
                  <a:srgbClr val="CCCCCC"/>
                </a:solidFill>
              </a:rPr>
              <a:t>5% escrow, released at 12-month anniversary (§7)
</a:t>
            </a:r>
            <a:pPr indent="0" marL="0">
              <a:buNone/>
            </a:pPr>
            <a:r>
              <a:rPr lang="en-US" sz="1400" b="1" dirty="0">
                <a:solidFill>
                  <a:srgbClr val="F26A21"/>
                </a:solidFill>
              </a:rPr>
              <a:t>Agreement basis: </a:t>
            </a:r>
            <a:pPr indent="0" marL="0">
              <a:buNone/>
            </a:pPr>
            <a:r>
              <a:rPr lang="en-US" sz="1400" dirty="0">
                <a:solidFill>
                  <a:srgbClr val="CCCCCC"/>
                </a:solidFill>
              </a:rPr>
              <a:t>May 2025 Asset Acquisition Agreement — §3 exclusivity trigger</a:t>
            </a:r>
            <a:endParaRPr lang="en-US" sz="1400" dirty="0"/>
          </a:p>
        </p:txBody>
      </p:sp>
      <p:pic>
        <p:nvPicPr>
          <p:cNvPr id="6"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7" name="Text 4"/>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8" name="Text 5"/>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$198K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on hand</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Current working capital</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A $5.1M fiscal year requires approximately $1.46M per quarter — nearly double last quarter's pace of $713K — starting now. Exos's offer removes that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sp>
      <p:sp>
        <p:nvSpPr>
          <p:cNvPr id="14" name="Text 12"/>
          <p:cNvSpPr txBox="1"/>
          <p:nvPr/>
        </p:nvSpPr>
        <p:spPr>
          <a:xfrm>
            <a:off x="1005840" y="2304288"/>
            <a:ext cx="3657600" cy="347472"/>
          </a:xfrm>
          <a:prstGeom prst="rect">
            <a:avLst/>
          </a:prstGeom>
          <a:noFill/>
          <a:ln/>
        </p:spPr>
        <p:txBody>
          <a:bodyPr wrap="square" rtlCol="0" anchor="ctr"/>
          <a:lstStyle/>
          <a:p>
            <a:pPr indent="0" marL="0">
              <a:buNone/>
            </a:pPr>
            <a:r>
              <a:rPr lang="en-US" sz="1300" dirty="0">
                <a:solidFill>
                  <a:srgbClr val="CCCCCC"/>
                </a:solidFill>
              </a:rPr>
              <a:t>SSLC debts paid at face</a:t>
            </a:r>
            <a:endParaRPr lang="en-US" sz="1300" dirty="0"/>
          </a:p>
        </p:txBody>
      </p:sp>
      <p:sp>
        <p:nvSpPr>
          <p:cNvPr id="15" name="Text 13"/>
          <p:cNvSpPr txBox="1"/>
          <p:nvPr/>
        </p:nvSpPr>
        <p:spPr>
          <a:xfrm>
            <a:off x="5486400" y="2304288"/>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500" b="1" dirty="0">
                <a:solidFill>
                  <a:srgbClr val="F26A21"/>
                </a:solidFill>
              </a:rPr>
              <a:t>① Cash &amp; debt relief at close</a:t>
            </a:r>
            <a:endParaRPr lang="en-US" sz="15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$4.36M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sp>
      <p:sp>
        <p:nvSpPr>
          <p:cNvPr id="26" name="Text 24"/>
          <p:cNvSpPr txBox="1"/>
          <p:nvPr/>
        </p:nvSpPr>
        <p:spPr>
          <a:xfrm>
            <a:off x="868680" y="4233672"/>
            <a:ext cx="3840480" cy="365760"/>
          </a:xfrm>
          <a:prstGeom prst="rect">
            <a:avLst/>
          </a:prstGeom>
          <a:noFill/>
          <a:ln/>
        </p:spPr>
        <p:txBody>
          <a:bodyPr wrap="square" rtlCol="0" anchor="ctr"/>
          <a:lstStyle/>
          <a:p>
            <a:pPr indent="0" marL="0">
              <a:buNone/>
            </a:pPr>
            <a:r>
              <a:rPr lang="en-US" sz="1600" b="1" dirty="0">
                <a:solidFill>
                  <a:srgbClr val="2ECC71"/>
                </a:solidFill>
              </a:rPr>
              <a:t>② Total at financing close</a:t>
            </a:r>
            <a:endParaRPr lang="en-US" sz="16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$5.36M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 Targets FY27–FY31</a:t>
            </a:r>
            <a:endParaRPr lang="en-US" sz="2000" dirty="0"/>
          </a:p>
        </p:txBody>
      </p:sp>
      <p:sp>
        <p:nvSpPr>
          <p:cNvPr id="3" name="Shape 1"/>
          <p:cNvSpPr/>
          <p:nvPr/>
        </p:nvSpPr>
        <p:spPr>
          <a:xfrm>
            <a:off x="320040" y="566928"/>
            <a:ext cx="1371600" cy="36576"/>
          </a:xfrm>
          <a:prstGeom prst="rect">
            <a:avLst/>
          </a:prstGeom>
          <a:solidFill>
            <a:srgbClr val="F26A21"/>
          </a:solidFill>
          <a:ln/>
        </p:spPr>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900" dirty="0">
                <a:solidFill>
                  <a:srgbClr val="CCCCCC"/>
                </a:solidFill>
              </a:rPr>
              <a:t>5% of IM tank revenue/yr</a:t>
            </a:r>
            <a:endParaRPr lang="en-US" sz="900" dirty="0"/>
          </a:p>
          <a:p>
            <a:pPr algn="l" indent="0" marL="0">
              <a:buNone/>
            </a:pPr>
            <a:r>
              <a:rPr lang="en-US" sz="9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900" dirty="0">
                <a:solidFill>
                  <a:srgbClr val="CCCCCC"/>
                </a:solidFill>
              </a:rPr>
              <a:t>Revenue SSLC achieves</a:t>
            </a:r>
            <a:endParaRPr lang="en-US" sz="900" dirty="0"/>
          </a:p>
          <a:p>
            <a:pPr algn="l" indent="0" marL="0">
              <a:buNone/>
            </a:pPr>
            <a:r>
              <a:rPr lang="en-US" sz="9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900" dirty="0">
                <a:solidFill>
                  <a:srgbClr val="F26A21"/>
                </a:solidFill>
              </a:rPr>
              <a:t>$3.0M/yr</a:t>
            </a:r>
            <a:endParaRPr lang="en-US" sz="900" dirty="0"/>
          </a:p>
          <a:p>
            <a:pPr algn="ctr" indent="0" marL="0">
              <a:buNone/>
            </a:pPr>
            <a:r>
              <a:rPr lang="en-US" sz="900" dirty="0">
                <a:solidFill>
                  <a:srgbClr val="F26A21"/>
                </a:solidFill>
              </a:rPr>
              <a:t>→$150K/yr</a:t>
            </a:r>
            <a:endParaRPr lang="en-US" sz="900" dirty="0"/>
          </a:p>
          <a:p>
            <a:pPr algn="ctr" indent="0" marL="0">
              <a:buNone/>
            </a:pPr>
            <a:r>
              <a:rPr lang="en-US" sz="9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900" dirty="0">
                <a:solidFill>
                  <a:srgbClr val="F26A21"/>
                </a:solidFill>
              </a:rPr>
              <a:t>$5.0M/yr</a:t>
            </a:r>
            <a:endParaRPr lang="en-US" sz="900" dirty="0"/>
          </a:p>
          <a:p>
            <a:pPr algn="ctr" indent="0" marL="0">
              <a:buNone/>
            </a:pPr>
            <a:r>
              <a:rPr lang="en-US" sz="900" dirty="0">
                <a:solidFill>
                  <a:srgbClr val="F26A21"/>
                </a:solidFill>
              </a:rPr>
              <a:t>→$250K/yr</a:t>
            </a:r>
            <a:endParaRPr lang="en-US" sz="900" dirty="0"/>
          </a:p>
          <a:p>
            <a:pPr algn="ctr" indent="0" marL="0">
              <a:buNone/>
            </a:pPr>
            <a:r>
              <a:rPr lang="en-US" sz="9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900" dirty="0">
                <a:solidFill>
                  <a:srgbClr val="F26A21"/>
                </a:solidFill>
              </a:rPr>
              <a:t>$6.0M+/yr</a:t>
            </a:r>
            <a:endParaRPr lang="en-US" sz="900" dirty="0"/>
          </a:p>
          <a:p>
            <a:pPr algn="ctr" indent="0" marL="0">
              <a:buNone/>
            </a:pPr>
            <a:r>
              <a:rPr lang="en-US" sz="900" dirty="0">
                <a:solidFill>
                  <a:srgbClr val="F26A21"/>
                </a:solidFill>
              </a:rPr>
              <a:t>→$300K/yr (cap)</a:t>
            </a:r>
            <a:endParaRPr lang="en-US" sz="900" dirty="0"/>
          </a:p>
          <a:p>
            <a:pPr algn="ctr" indent="0" marL="0">
              <a:buNone/>
            </a:pPr>
            <a:r>
              <a:rPr lang="en-US" sz="9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900" dirty="0">
                <a:solidFill>
                  <a:srgbClr val="F26A21"/>
                </a:solidFill>
              </a:rPr>
              <a:t>Annual</a:t>
            </a:r>
            <a:endParaRPr lang="en-US" sz="900" dirty="0"/>
          </a:p>
          <a:p>
            <a:pPr algn="ctr" indent="0" marL="0">
              <a:buNone/>
            </a:pPr>
            <a:r>
              <a:rPr lang="en-US" sz="9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9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9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900" dirty="0">
                <a:solidFill>
                  <a:srgbClr val="CCCCCC"/>
                </a:solidFill>
              </a:rPr>
              <a:t>M2  Nebula/OTV production contract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900" dirty="0">
                <a:solidFill>
                  <a:srgbClr val="CCCCCC"/>
                </a:solidFill>
              </a:rPr>
              <a:t>OTV production contract signed</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signing</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9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9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9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9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365760"/>
          </a:xfrm>
          <a:prstGeom prst="rect">
            <a:avLst/>
          </a:prstGeom>
          <a:solidFill>
            <a:srgbClr val="1A2035"/>
          </a:solidFill>
          <a:ln w="12700">
            <a:solidFill>
              <a:srgbClr val="2A2A2A"/>
            </a:solidFill>
            <a:prstDash val="solid"/>
          </a:ln>
        </p:spPr>
      </p:sp>
      <p:sp>
        <p:nvSpPr>
          <p:cNvPr id="77" name="Text 75"/>
          <p:cNvSpPr txBox="1"/>
          <p:nvPr/>
        </p:nvSpPr>
        <p:spPr>
          <a:xfrm>
            <a:off x="329184" y="3035808"/>
            <a:ext cx="1920240" cy="329184"/>
          </a:xfrm>
          <a:prstGeom prst="rect">
            <a:avLst/>
          </a:prstGeom>
          <a:noFill/>
          <a:ln/>
        </p:spPr>
        <p:txBody>
          <a:bodyPr wrap="square" rtlCol="0" anchor="ctr"/>
          <a:lstStyle/>
          <a:p>
            <a:pPr algn="l" indent="0" marL="0">
              <a:buNone/>
            </a:pPr>
            <a:r>
              <a:rPr lang="en-US" sz="900" dirty="0">
                <a:solidFill>
                  <a:srgbClr val="CCCCCC"/>
                </a:solidFill>
              </a:rPr>
              <a:t>M5  BLK3 tank qualification  →$200K</a:t>
            </a:r>
            <a:endParaRPr lang="en-US" sz="900" dirty="0"/>
          </a:p>
        </p:txBody>
      </p:sp>
      <p:sp>
        <p:nvSpPr>
          <p:cNvPr id="78" name="Shape 76"/>
          <p:cNvSpPr/>
          <p:nvPr/>
        </p:nvSpPr>
        <p:spPr>
          <a:xfrm>
            <a:off x="2331720" y="3017520"/>
            <a:ext cx="1874520" cy="365760"/>
          </a:xfrm>
          <a:prstGeom prst="rect">
            <a:avLst/>
          </a:prstGeom>
          <a:solidFill>
            <a:srgbClr val="1A2035"/>
          </a:solidFill>
          <a:ln w="12700">
            <a:solidFill>
              <a:srgbClr val="2A2A2A"/>
            </a:solidFill>
            <a:prstDash val="solid"/>
          </a:ln>
        </p:spPr>
      </p:sp>
      <p:sp>
        <p:nvSpPr>
          <p:cNvPr id="79" name="Text 77"/>
          <p:cNvSpPr txBox="1"/>
          <p:nvPr/>
        </p:nvSpPr>
        <p:spPr>
          <a:xfrm>
            <a:off x="2386584" y="3035808"/>
            <a:ext cx="1783080" cy="329184"/>
          </a:xfrm>
          <a:prstGeom prst="rect">
            <a:avLst/>
          </a:prstGeom>
          <a:noFill/>
          <a:ln/>
        </p:spPr>
        <p:txBody>
          <a:bodyPr wrap="square" rtlCol="0" anchor="ctr"/>
          <a:lstStyle/>
          <a:p>
            <a:pPr algn="l" indent="0" marL="0">
              <a:buNone/>
            </a:pPr>
            <a:r>
              <a:rPr lang="en-US" sz="900" dirty="0">
                <a:solidFill>
                  <a:srgbClr val="CCCCCC"/>
                </a:solidFill>
              </a:rPr>
              <a:t>Exos BLK3 tank cert complete</a:t>
            </a:r>
            <a:endParaRPr lang="en-US" sz="900" dirty="0"/>
          </a:p>
        </p:txBody>
      </p:sp>
      <p:sp>
        <p:nvSpPr>
          <p:cNvPr id="80" name="Shape 78"/>
          <p:cNvSpPr/>
          <p:nvPr/>
        </p:nvSpPr>
        <p:spPr>
          <a:xfrm>
            <a:off x="4251960" y="3017520"/>
            <a:ext cx="1051560" cy="365760"/>
          </a:xfrm>
          <a:prstGeom prst="rect">
            <a:avLst/>
          </a:prstGeom>
          <a:solidFill>
            <a:srgbClr val="1A2035"/>
          </a:solidFill>
          <a:ln w="12700">
            <a:solidFill>
              <a:srgbClr val="2A2A2A"/>
            </a:solidFill>
            <a:prstDash val="solid"/>
          </a:ln>
        </p:spPr>
      </p:sp>
      <p:sp>
        <p:nvSpPr>
          <p:cNvPr id="81" name="Text 79"/>
          <p:cNvSpPr txBox="1"/>
          <p:nvPr/>
        </p:nvSpPr>
        <p:spPr>
          <a:xfrm>
            <a:off x="4306824" y="303580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365760"/>
          </a:xfrm>
          <a:prstGeom prst="rect">
            <a:avLst/>
          </a:prstGeom>
          <a:solidFill>
            <a:srgbClr val="1A2035"/>
          </a:solidFill>
          <a:ln w="12700">
            <a:solidFill>
              <a:srgbClr val="2A2A2A"/>
            </a:solidFill>
            <a:prstDash val="solid"/>
          </a:ln>
        </p:spPr>
      </p:sp>
      <p:sp>
        <p:nvSpPr>
          <p:cNvPr id="83" name="Text 81"/>
          <p:cNvSpPr txBox="1"/>
          <p:nvPr/>
        </p:nvSpPr>
        <p:spPr>
          <a:xfrm>
            <a:off x="5404104" y="303580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365760"/>
          </a:xfrm>
          <a:prstGeom prst="rect">
            <a:avLst/>
          </a:prstGeom>
          <a:solidFill>
            <a:srgbClr val="1A2035"/>
          </a:solidFill>
          <a:ln w="12700">
            <a:solidFill>
              <a:srgbClr val="2A2A2A"/>
            </a:solidFill>
            <a:prstDash val="solid"/>
          </a:ln>
        </p:spPr>
      </p:sp>
      <p:sp>
        <p:nvSpPr>
          <p:cNvPr id="85" name="Text 83"/>
          <p:cNvSpPr txBox="1"/>
          <p:nvPr/>
        </p:nvSpPr>
        <p:spPr>
          <a:xfrm>
            <a:off x="6501384" y="303580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365760"/>
          </a:xfrm>
          <a:prstGeom prst="rect">
            <a:avLst/>
          </a:prstGeom>
          <a:solidFill>
            <a:srgbClr val="1A2035"/>
          </a:solidFill>
          <a:ln w="12700">
            <a:solidFill>
              <a:srgbClr val="2A2A2A"/>
            </a:solidFill>
            <a:prstDash val="solid"/>
          </a:ln>
        </p:spPr>
      </p:sp>
      <p:sp>
        <p:nvSpPr>
          <p:cNvPr id="87" name="Text 85"/>
          <p:cNvSpPr txBox="1"/>
          <p:nvPr/>
        </p:nvSpPr>
        <p:spPr>
          <a:xfrm>
            <a:off x="7598664" y="3035808"/>
            <a:ext cx="914400" cy="32918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383280"/>
            <a:ext cx="2011680" cy="457200"/>
          </a:xfrm>
          <a:prstGeom prst="rect">
            <a:avLst/>
          </a:prstGeom>
          <a:solidFill>
            <a:srgbClr val="1C1C1C"/>
          </a:solidFill>
          <a:ln w="12700">
            <a:solidFill>
              <a:srgbClr val="2A2A2A"/>
            </a:solidFill>
            <a:prstDash val="solid"/>
          </a:ln>
        </p:spPr>
      </p:sp>
      <p:sp>
        <p:nvSpPr>
          <p:cNvPr id="89" name="Text 87"/>
          <p:cNvSpPr txBox="1"/>
          <p:nvPr/>
        </p:nvSpPr>
        <p:spPr>
          <a:xfrm>
            <a:off x="329184" y="3401568"/>
            <a:ext cx="1920240" cy="420624"/>
          </a:xfrm>
          <a:prstGeom prst="rect">
            <a:avLst/>
          </a:prstGeom>
          <a:noFill/>
          <a:ln/>
        </p:spPr>
        <p:txBody>
          <a:bodyPr wrap="square" rtlCol="0" anchor="ctr"/>
          <a:lstStyle/>
          <a:p>
            <a:pPr algn="l" indent="0" marL="0">
              <a:buNone/>
            </a:pPr>
            <a:r>
              <a:rPr lang="en-US" sz="900" dirty="0">
                <a:solidFill>
                  <a:srgbClr val="CCCCCC"/>
                </a:solidFill>
              </a:rPr>
              <a:t>Exos stock earn-out at RTO listing</a:t>
            </a:r>
            <a:endParaRPr lang="en-US" sz="900" dirty="0"/>
          </a:p>
          <a:p>
            <a:pPr algn="l" indent="0" marL="0">
              <a:buNone/>
            </a:pPr>
            <a:r>
              <a:rPr lang="en-US" sz="900" dirty="0">
                <a:solidFill>
                  <a:srgbClr val="CCCCCC"/>
                </a:solidFill>
              </a:rPr>
              <a:t>(adds to ~0.59% EAI up-front)</a:t>
            </a:r>
            <a:endParaRPr lang="en-US" sz="900" dirty="0"/>
          </a:p>
        </p:txBody>
      </p:sp>
      <p:sp>
        <p:nvSpPr>
          <p:cNvPr id="90" name="Shape 88"/>
          <p:cNvSpPr/>
          <p:nvPr/>
        </p:nvSpPr>
        <p:spPr>
          <a:xfrm>
            <a:off x="2331720" y="3383280"/>
            <a:ext cx="1874520" cy="457200"/>
          </a:xfrm>
          <a:prstGeom prst="rect">
            <a:avLst/>
          </a:prstGeom>
          <a:solidFill>
            <a:srgbClr val="1C1C1C"/>
          </a:solidFill>
          <a:ln w="12700">
            <a:solidFill>
              <a:srgbClr val="2A2A2A"/>
            </a:solidFill>
            <a:prstDash val="solid"/>
          </a:ln>
        </p:spPr>
      </p:sp>
      <p:sp>
        <p:nvSpPr>
          <p:cNvPr id="91" name="Text 89"/>
          <p:cNvSpPr txBox="1"/>
          <p:nvPr/>
        </p:nvSpPr>
        <p:spPr>
          <a:xfrm>
            <a:off x="2386584" y="3401568"/>
            <a:ext cx="1783080" cy="420624"/>
          </a:xfrm>
          <a:prstGeom prst="rect">
            <a:avLst/>
          </a:prstGeom>
          <a:noFill/>
          <a:ln/>
        </p:spPr>
        <p:txBody>
          <a:bodyPr wrap="square" rtlCol="0" anchor="ctr"/>
          <a:lstStyle/>
          <a:p>
            <a:pPr algn="l" indent="0" marL="0">
              <a:buNone/>
            </a:pPr>
            <a:r>
              <a:rPr lang="en-US" sz="900" dirty="0">
                <a:solidFill>
                  <a:srgbClr val="CCCCCC"/>
                </a:solidFill>
              </a:rPr>
              <a:t>Issued at RTO listing</a:t>
            </a:r>
            <a:endParaRPr lang="en-US" sz="900" dirty="0"/>
          </a:p>
        </p:txBody>
      </p:sp>
      <p:sp>
        <p:nvSpPr>
          <p:cNvPr id="92" name="Shape 90"/>
          <p:cNvSpPr/>
          <p:nvPr/>
        </p:nvSpPr>
        <p:spPr>
          <a:xfrm>
            <a:off x="4251960" y="3383280"/>
            <a:ext cx="1051560" cy="457200"/>
          </a:xfrm>
          <a:prstGeom prst="rect">
            <a:avLst/>
          </a:prstGeom>
          <a:solidFill>
            <a:srgbClr val="1C1C1C"/>
          </a:solidFill>
          <a:ln w="12700">
            <a:solidFill>
              <a:srgbClr val="2A2A2A"/>
            </a:solidFill>
            <a:prstDash val="solid"/>
          </a:ln>
        </p:spPr>
      </p:sp>
      <p:sp>
        <p:nvSpPr>
          <p:cNvPr id="93" name="Text 91"/>
          <p:cNvSpPr txBox="1"/>
          <p:nvPr/>
        </p:nvSpPr>
        <p:spPr>
          <a:xfrm>
            <a:off x="4306824" y="340156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383280"/>
            <a:ext cx="1051560" cy="457200"/>
          </a:xfrm>
          <a:prstGeom prst="rect">
            <a:avLst/>
          </a:prstGeom>
          <a:solidFill>
            <a:srgbClr val="1C1C1C"/>
          </a:solidFill>
          <a:ln w="12700">
            <a:solidFill>
              <a:srgbClr val="2A2A2A"/>
            </a:solidFill>
            <a:prstDash val="solid"/>
          </a:ln>
        </p:spPr>
      </p:sp>
      <p:sp>
        <p:nvSpPr>
          <p:cNvPr id="95" name="Text 93"/>
          <p:cNvSpPr txBox="1"/>
          <p:nvPr/>
        </p:nvSpPr>
        <p:spPr>
          <a:xfrm>
            <a:off x="5404104" y="340156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383280"/>
            <a:ext cx="1051560" cy="457200"/>
          </a:xfrm>
          <a:prstGeom prst="rect">
            <a:avLst/>
          </a:prstGeom>
          <a:solidFill>
            <a:srgbClr val="1C1C1C"/>
          </a:solidFill>
          <a:ln w="12700">
            <a:solidFill>
              <a:srgbClr val="2A2A2A"/>
            </a:solidFill>
            <a:prstDash val="solid"/>
          </a:ln>
        </p:spPr>
      </p:sp>
      <p:sp>
        <p:nvSpPr>
          <p:cNvPr id="97" name="Text 95"/>
          <p:cNvSpPr txBox="1"/>
          <p:nvPr/>
        </p:nvSpPr>
        <p:spPr>
          <a:xfrm>
            <a:off x="6501384" y="340156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383280"/>
            <a:ext cx="1005840" cy="457200"/>
          </a:xfrm>
          <a:prstGeom prst="rect">
            <a:avLst/>
          </a:prstGeom>
          <a:solidFill>
            <a:srgbClr val="1C1C1C"/>
          </a:solidFill>
          <a:ln w="12700">
            <a:solidFill>
              <a:srgbClr val="2A2A2A"/>
            </a:solidFill>
            <a:prstDash val="solid"/>
          </a:ln>
        </p:spPr>
      </p:sp>
      <p:sp>
        <p:nvSpPr>
          <p:cNvPr id="99" name="Text 97"/>
          <p:cNvSpPr txBox="1"/>
          <p:nvPr/>
        </p:nvSpPr>
        <p:spPr>
          <a:xfrm>
            <a:off x="7598664" y="340156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840480"/>
            <a:ext cx="2011680" cy="384048"/>
          </a:xfrm>
          <a:prstGeom prst="rect">
            <a:avLst/>
          </a:prstGeom>
          <a:solidFill>
            <a:srgbClr val="0A2800"/>
          </a:solidFill>
          <a:ln w="12700">
            <a:solidFill>
              <a:srgbClr val="2A2A2A"/>
            </a:solidFill>
            <a:prstDash val="solid"/>
          </a:ln>
        </p:spPr>
      </p:sp>
      <p:sp>
        <p:nvSpPr>
          <p:cNvPr id="101" name="Text 99"/>
          <p:cNvSpPr txBox="1"/>
          <p:nvPr/>
        </p:nvSpPr>
        <p:spPr>
          <a:xfrm>
            <a:off x="329184" y="3858768"/>
            <a:ext cx="1920240" cy="347472"/>
          </a:xfrm>
          <a:prstGeom prst="rect">
            <a:avLst/>
          </a:prstGeom>
          <a:noFill/>
          <a:ln/>
        </p:spPr>
        <p:txBody>
          <a:bodyPr wrap="square" rtlCol="0" anchor="ctr"/>
          <a:lstStyle/>
          <a:p>
            <a:pPr algn="l" indent="0" marL="0">
              <a:buNone/>
            </a:pPr>
            <a:r>
              <a:rPr lang="en-US" sz="900" b="1" dirty="0">
                <a:solidFill>
                  <a:srgbClr val="CCCCCC"/>
                </a:solidFill>
              </a:rPr>
              <a:t>TOTAL EARN-OUTS  (③ minus ②)</a:t>
            </a:r>
            <a:endParaRPr lang="en-US" sz="900" dirty="0"/>
          </a:p>
        </p:txBody>
      </p:sp>
      <p:sp>
        <p:nvSpPr>
          <p:cNvPr id="102" name="Shape 100"/>
          <p:cNvSpPr/>
          <p:nvPr/>
        </p:nvSpPr>
        <p:spPr>
          <a:xfrm>
            <a:off x="2331720" y="3840480"/>
            <a:ext cx="1874520" cy="384048"/>
          </a:xfrm>
          <a:prstGeom prst="rect">
            <a:avLst/>
          </a:prstGeom>
          <a:solidFill>
            <a:srgbClr val="0A2800"/>
          </a:solidFill>
          <a:ln w="12700">
            <a:solidFill>
              <a:srgbClr val="2A2A2A"/>
            </a:solidFill>
            <a:prstDash val="solid"/>
          </a:ln>
        </p:spPr>
      </p:sp>
      <p:sp>
        <p:nvSpPr>
          <p:cNvPr id="103" name="Text 101"/>
          <p:cNvSpPr txBox="1"/>
          <p:nvPr/>
        </p:nvSpPr>
        <p:spPr>
          <a:xfrm>
            <a:off x="2386584" y="385876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840480"/>
            <a:ext cx="1051560" cy="384048"/>
          </a:xfrm>
          <a:prstGeom prst="rect">
            <a:avLst/>
          </a:prstGeom>
          <a:solidFill>
            <a:srgbClr val="0A2800"/>
          </a:solidFill>
          <a:ln w="12700">
            <a:solidFill>
              <a:srgbClr val="2A2A2A"/>
            </a:solidFill>
            <a:prstDash val="solid"/>
          </a:ln>
        </p:spPr>
      </p:sp>
      <p:sp>
        <p:nvSpPr>
          <p:cNvPr id="105" name="Text 103"/>
          <p:cNvSpPr txBox="1"/>
          <p:nvPr/>
        </p:nvSpPr>
        <p:spPr>
          <a:xfrm>
            <a:off x="4306824" y="385876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840480"/>
            <a:ext cx="1051560" cy="384048"/>
          </a:xfrm>
          <a:prstGeom prst="rect">
            <a:avLst/>
          </a:prstGeom>
          <a:solidFill>
            <a:srgbClr val="0A2800"/>
          </a:solidFill>
          <a:ln w="12700">
            <a:solidFill>
              <a:srgbClr val="2A2A2A"/>
            </a:solidFill>
            <a:prstDash val="solid"/>
          </a:ln>
        </p:spPr>
      </p:sp>
      <p:sp>
        <p:nvSpPr>
          <p:cNvPr id="107" name="Text 105"/>
          <p:cNvSpPr txBox="1"/>
          <p:nvPr/>
        </p:nvSpPr>
        <p:spPr>
          <a:xfrm>
            <a:off x="5404104" y="385876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840480"/>
            <a:ext cx="1051560" cy="384048"/>
          </a:xfrm>
          <a:prstGeom prst="rect">
            <a:avLst/>
          </a:prstGeom>
          <a:solidFill>
            <a:srgbClr val="0A2800"/>
          </a:solidFill>
          <a:ln w="12700">
            <a:solidFill>
              <a:srgbClr val="2A2A2A"/>
            </a:solidFill>
            <a:prstDash val="solid"/>
          </a:ln>
        </p:spPr>
      </p:sp>
      <p:sp>
        <p:nvSpPr>
          <p:cNvPr id="109" name="Text 107"/>
          <p:cNvSpPr txBox="1"/>
          <p:nvPr/>
        </p:nvSpPr>
        <p:spPr>
          <a:xfrm>
            <a:off x="6501384" y="385876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840480"/>
            <a:ext cx="1005840" cy="384048"/>
          </a:xfrm>
          <a:prstGeom prst="rect">
            <a:avLst/>
          </a:prstGeom>
          <a:solidFill>
            <a:srgbClr val="0A2800"/>
          </a:solidFill>
          <a:ln w="12700">
            <a:solidFill>
              <a:srgbClr val="2A2A2A"/>
            </a:solidFill>
            <a:prstDash val="solid"/>
          </a:ln>
        </p:spPr>
      </p:sp>
      <p:sp>
        <p:nvSpPr>
          <p:cNvPr id="111" name="Text 109"/>
          <p:cNvSpPr txBox="1"/>
          <p:nvPr/>
        </p:nvSpPr>
        <p:spPr>
          <a:xfrm>
            <a:off x="7598664" y="385876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$6.3M</a:t>
            </a:r>
            <a:endParaRPr lang="en-US" sz="2600" dirty="0"/>
          </a:p>
        </p:txBody>
      </p:sp>
      <p:sp>
        <p:nvSpPr>
          <p:cNvPr id="8" name="Shape 6"/>
          <p:cNvSpPr/>
          <p:nvPr/>
        </p:nvSpPr>
        <p:spPr>
          <a:xfrm>
            <a:off x="548640" y="2176272"/>
            <a:ext cx="1143000" cy="256032"/>
          </a:xfrm>
          <a:prstGeom prst="rect">
            <a:avLst/>
          </a:prstGeom>
          <a:solidFill>
            <a:srgbClr val="143000"/>
          </a:solidFill>
          <a:ln/>
        </p:spPr>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$7.9M</a:t>
            </a:r>
            <a:endParaRPr lang="en-US" sz="2600" dirty="0"/>
          </a:p>
        </p:txBody>
      </p:sp>
      <p:sp>
        <p:nvSpPr>
          <p:cNvPr id="13" name="Shape 11"/>
          <p:cNvSpPr/>
          <p:nvPr/>
        </p:nvSpPr>
        <p:spPr>
          <a:xfrm>
            <a:off x="1965960" y="2176272"/>
            <a:ext cx="1143000" cy="256032"/>
          </a:xfrm>
          <a:prstGeom prst="rect">
            <a:avLst/>
          </a:prstGeom>
          <a:solidFill>
            <a:srgbClr val="143000"/>
          </a:solidFill>
          <a:ln/>
        </p:spPr>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$9.5M</a:t>
            </a:r>
            <a:endParaRPr lang="en-US" sz="2600" dirty="0"/>
          </a:p>
        </p:txBody>
      </p:sp>
      <p:sp>
        <p:nvSpPr>
          <p:cNvPr id="18" name="Shape 16"/>
          <p:cNvSpPr/>
          <p:nvPr/>
        </p:nvSpPr>
        <p:spPr>
          <a:xfrm>
            <a:off x="3383280" y="2176272"/>
            <a:ext cx="1143000" cy="256032"/>
          </a:xfrm>
          <a:prstGeom prst="rect">
            <a:avLst/>
          </a:prstGeom>
          <a:solidFill>
            <a:srgbClr val="143000"/>
          </a:solidFill>
          <a:ln/>
        </p:spPr>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$12.0M</a:t>
            </a:r>
            <a:endParaRPr lang="en-US" sz="2200" dirty="0"/>
          </a:p>
        </p:txBody>
      </p:sp>
      <p:sp>
        <p:nvSpPr>
          <p:cNvPr id="25" name="Shape 23"/>
          <p:cNvSpPr/>
          <p:nvPr/>
        </p:nvSpPr>
        <p:spPr>
          <a:xfrm>
            <a:off x="4956048" y="2176272"/>
            <a:ext cx="1188720" cy="256032"/>
          </a:xfrm>
          <a:prstGeom prst="rect">
            <a:avLst/>
          </a:prstGeom>
          <a:solidFill>
            <a:srgbClr val="2A1000"/>
          </a:solidFill>
          <a:ln/>
        </p:spPr>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$15.8M</a:t>
            </a:r>
            <a:endParaRPr lang="en-US" sz="2200" dirty="0"/>
          </a:p>
        </p:txBody>
      </p:sp>
      <p:sp>
        <p:nvSpPr>
          <p:cNvPr id="30" name="Shape 28"/>
          <p:cNvSpPr/>
          <p:nvPr/>
        </p:nvSpPr>
        <p:spPr>
          <a:xfrm>
            <a:off x="6345936" y="2176272"/>
            <a:ext cx="1188720" cy="256032"/>
          </a:xfrm>
          <a:prstGeom prst="rect">
            <a:avLst/>
          </a:prstGeom>
          <a:solidFill>
            <a:srgbClr val="2A1000"/>
          </a:solidFill>
          <a:ln/>
        </p:spPr>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$19.4M</a:t>
            </a:r>
            <a:endParaRPr lang="en-US" sz="2200" dirty="0"/>
          </a:p>
        </p:txBody>
      </p:sp>
      <p:sp>
        <p:nvSpPr>
          <p:cNvPr id="35" name="Shape 33"/>
          <p:cNvSpPr/>
          <p:nvPr/>
        </p:nvSpPr>
        <p:spPr>
          <a:xfrm>
            <a:off x="7735824" y="2176272"/>
            <a:ext cx="1188720" cy="256032"/>
          </a:xfrm>
          <a:prstGeom prst="rect">
            <a:avLst/>
          </a:prstGeom>
          <a:solidFill>
            <a:srgbClr val="2A1000"/>
          </a:solidFill>
          <a:ln/>
        </p:spPr>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pic>
        <p:nvPicPr>
          <p:cNvPr id="37" name="Image 0" descr="/Users/exomac/.openclaw/workspace/drafts/SSLC_OptionB_Total_Compensation_5yr_2026-10-07.png">    </p:cNvPr>
          <p:cNvPicPr>
            <a:picLocks noChangeAspect="1"/>
          </p:cNvPicPr>
          <p:nvPr/>
        </p:nvPicPr>
        <p:blipFill>
          <a:blip r:embed="rId1"/>
          <a:stretch>
            <a:fillRect/>
          </a:stretch>
        </p:blipFill>
        <p:spPr>
          <a:xfrm>
            <a:off x="320040" y="2606040"/>
            <a:ext cx="8503920" cy="2194560"/>
          </a:xfrm>
          <a:prstGeom prst="rect">
            <a:avLst/>
          </a:prstGeom>
        </p:spPr>
      </p:pic>
      <p:sp>
        <p:nvSpPr>
          <p:cNvPr id="38" name="Shape 35"/>
          <p:cNvSpPr/>
          <p:nvPr/>
        </p:nvSpPr>
        <p:spPr>
          <a:xfrm>
            <a:off x="320040" y="2542032"/>
            <a:ext cx="8503920" cy="146304"/>
          </a:xfrm>
          <a:prstGeom prst="rect">
            <a:avLst/>
          </a:prstGeom>
          <a:solidFill>
            <a:srgbClr val="222200"/>
          </a:solidFill>
          <a:ln/>
        </p:spPr>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800" i="1" dirty="0">
                <a:solidFill>
                  <a:srgbClr val="888888"/>
                </a:solidFill>
              </a:rPr>
              <a:t>④ is a forward-looking projection, not a guarantee; an alternative to ③ — not added to it. RTO may not close.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will establish an option pool for key SSLC employees. The size and structure will be mutually agreed in the Definitive Agreement.</a:t>
            </a:r>
            <a:endParaRPr lang="en-US" sz="1300" dirty="0"/>
          </a:p>
          <a:p>
            <a:pPr indent="0" marL="0">
              <a:buNone/>
            </a:pPr>
            <a:endParaRPr lang="en-US" sz="1300" dirty="0"/>
          </a:p>
          <a:p>
            <a:pPr indent="0" marL="0">
              <a:buNone/>
            </a:pPr>
            <a:r>
              <a:rPr lang="en-US" sz="1300" dirty="0">
                <a:solidFill>
                  <a:srgbClr val="CCCCCC"/>
                </a:solidFill>
              </a:rPr>
              <a:t>Designed to retain the talent that drives SSLC's mission continuity and milestones — including the programs that underpin the earn-out triggers.</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sp>
      <p:sp>
        <p:nvSpPr>
          <p:cNvPr id="5" name="Shape 2"/>
          <p:cNvSpPr/>
          <p:nvPr/>
        </p:nvSpPr>
        <p:spPr>
          <a:xfrm>
            <a:off x="1024128" y="1426464"/>
            <a:ext cx="0" cy="201168"/>
          </a:xfrm>
          <a:prstGeom prst="line">
            <a:avLst/>
          </a:prstGeom>
          <a:noFill/>
          <a:ln w="12700">
            <a:solidFill>
              <a:srgbClr val="F26A21"/>
            </a:solidFill>
            <a:prstDash val="solid"/>
          </a:ln>
        </p:spPr>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Confirms Exclusivity</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300" b="1" dirty="0">
                <a:solidFill>
                  <a:srgbClr val="F26A21"/>
                </a:solidFill>
              </a:rPr>
              <a:t>The Board is asked to confirm §3 exclusivity. Questions and open items welcome.</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2026-10-10T22:52:43Z</dcterms:created>
  <dcterms:modified xsi:type="dcterms:W3CDTF">2026-10-10T22:52:43Z</dcterms:modified>
</cp:coreProperties>
</file>