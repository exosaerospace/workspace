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6" r:id="rId17"/>
    <p:sldId id="259" r:id="rId5"/>
    <p:sldId id="260" r:id="rId6"/>
    <p:sldId id="261" r:id="rId7"/>
    <p:sldId id="262" r:id="rId8"/>
    <p:sldId id="263" r:id="rId9"/>
    <p:sldId id="264" r:id="rId10"/>
    <p:sldId id="268" r:id="rId19"/>
    <p:sldId id="267" r:id="rId18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3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4.xml"/><Relationship Id="rId18" Type="http://schemas.openxmlformats.org/officeDocument/2006/relationships/slide" Target="slides/slide12.xml"/><Relationship Id="rId19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draft offer overview for the SSLC board. All figures are from the Option B Offer Summary (2026-10-07). The offer is subject to negotiation and board acceptance. Not a final or binding offer.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 actions requested of the SSLC board:</a:t>
            </a:r>
            <a:br/>
            <a:r>
              <a:t>  Motion 1: Confirm §3 exclusivity. 90-day period begins on approval.</a:t>
            </a:r>
            <a:br/>
            <a:r>
              <a:t>  Motion 2: Grant full read-only QB Online access (Oct 15 deadline). §1602 + AAA §4. NDA.</a:t>
            </a:r>
            <a:br/>
            <a:r>
              <a:t>  Motion 3: Direct A La Carte Solutions + outside CPAs to reconcile and correct AR Unbilled ($942K) and Deposits ($120K) within 5 days.</a:t>
            </a:r>
            <a:br/>
            <a:r>
              <a:t>  Motion 4: Consent to ERP/MRP &amp; inventory evaluation using QB data. NDA.</a:t>
            </a:r>
            <a:br/>
            <a:r>
              <a:t>Governance: John Quinn abstains as interested director.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SSLC QuickBooks Balance Sheet 10/11/2026 (data-room/SSLC/qb-2026-10-11/SSLC_Balance_Sheet.xlsx).</a:t>
            </a:r>
            <a:br/>
            <a:r>
              <a:t>Cash $590,344 — almost entirely from one IM payment $421,421 on 10/7 for invoices 109-86/87/88 booked 9/25–9/30.</a:t>
            </a:r>
            <a:br/>
            <a:r>
              <a:t>$713K last quarter from offer summary (unchanged).</a:t>
            </a:r>
            <a:br/>
            <a:r>
              <a:t>$5.1M M1 milestone requires ~2× quarterly pace starting Oct 1st.</a:t>
            </a:r>
            <a:br/>
            <a:r>
              <a:t>$1.03M loans &amp; notes (unchanged by lender); equity −$1,443,882.</a:t>
            </a:r>
            <a:br/>
            <a:r>
              <a:t>Physical-space and single-winder constraints are SSLC's own reported challenges.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scenarios (Low/Base/High) have identical at-close values: ① $3.86M, ② $4.86M with stock. The $3.86M breaks down as: $2.51M cash + $60K transaction costs + $790K stake credit (non-cash) + $500K WC bridge. The $1.0M EAI units are issued at financing close, not at board acceptance, and count toward the Rule 504 $10M rolling 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Tank earn-out: single 5% rate applied to the revenue SSLC achieves each year FY27–FY31, capped at $300K/yr. Low $3.0M/yr → $150K/yr → $750K total; Base $5.0M/yr → $250K/yr → $1.25M; High $6.0M+/yr → $300K/yr (cap) → $1.5M. M1 (all scenarios): FY27 rev ≥$5.1M → $200K, pays FY28 Q1. M2 (Base/High): Nebula OTV flight tank set delivered and accepted by Intuitive Machines → $200K, pays at acceptance. M3 (Base/High): rev ≥$10M → $250K. M4 (High): rev ≥$20M → $250K. M5 (High): 50% reduction in tank build cost via dome automation and build-process automation proven → $200K. Stock earn-out: 0.0%/0.25%/0.50% additional EAI units issued at RTO listing, with the same post-listing lockup as Exos principals. $0/$625K/$1,500K at 409A listing value. Total earn-outs: Low $950K / Base $2,525K / High $4,100K (each = ③ minus ②).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③ 5-yr total is ② ($4.86M) + earn-outs. Low = $5.81M / Base = $7.385M (shown as $7.4M) / High = $8.96M (shown as $9.0M). These are rounded for board presentation. ④ TOTAL IF STOCK HELD TO 2031: Low $11.5M / Base $15.3M / High $18.9M — this replaces and is not additive to ③. It assumes RTO completion, ~30% dilution, and management-projected valuations. Forward-looking statements subject to SEC Rule 10b-5. The chart shows the year-by-year compensation build from close through FY31.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$1.0M EAI units are issued at financing close (not at board acceptance). At the 409A valuation of ~$169.7M, this represents ~0.59% fully diluted. Earn-out stock (0.0%/0.25%/0.50% additional) issued post-RTO brings total equity to ~0.59%–1.09%. The Japan round EAI units are Reg S and must remain separate from the Rule 504 domestic offering. See model EAI Lockup &amp; Liquidity sheet for full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language is verbatim from the offer email (Exos_SSLC_Offer_Briefing_Email_DRAFT_2026-10-09.docx) and the Key Terms section of the offer summary PDF. The exact terms — option pool size, vesting schedule — will be negotiated in the Definitive Agreement. IM program continuity: Exos-SSLC continues the Intuitive Machines contract with no delivery interruption.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summarizes every dollar and commitment Exos is making to close this transaction. Funding is committed at financing close — we are not representing that financing is already secured, but we are committed to delivering it. The Feb 15th target drives our 90-day exclusivity window. Capital for physical space and a second winder is committed at financing close; the amount will be agreed in the Definitive Agreement. The one action today is confirming §3 exclusivity, which starts the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 actions needed today: (1) confirm §3 exclusivity — starts 90-day window; (2) grant full read-only QB access (Oct 15 deadline); (3) direct accounting firm to correct AR Unbilled + Deposits within 5 days; (4) consent to ERP/MRP evaluation. All confidential under the 7/27/2021 NDA. Financing close target: Feb 15th.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SSLC Capital &amp; Debt — Sources (10/11/2026 QB)</a:t>
            </a:r>
            <a:br/>
            <a:br/>
            <a:r>
              <a:t>Left: Equity per QB — Common stock $1,010,423 (Acct 3010); APIC $4,042 (Acct 3020); Exos 18.06% → ~$789,572 (~78% of total paid-in); Accum. deficit −$2,571,013 (thru FY26); FY27 YTD NI +$112,666; Total equity −$1,443,882.</a:t>
            </a:r>
            <a:br/>
            <a:br/>
            <a:r>
              <a:t>Right: Loans &amp; notes $1,027,783 — Microcosm $451,429 (Acct 2385); Notes Payable Bookstore $320,582; SBA EIDL $132,072 (Acct 2712); Wertz $92,500 (Acct 2714); Exos $31,200 (11%; past due 1+ yr).</a:t>
            </a:r>
            <a:br/>
            <a:br/>
            <a:r>
              <a:t>EXOS LOAN DETAIL:</a:t>
            </a:r>
            <a:br/>
            <a:r>
              <a:t>  $60,000 originated 10/10/2024.</a:t>
            </a:r>
            <a:br/>
            <a:r>
              <a:t>  $15,000 repaid 3/19/2025; $13,800 repaid 5/2/2025 → $31,200 balance.</a:t>
            </a:r>
            <a:br/>
            <a:r>
              <a:t>  11% interest; total with interest ~$38K. Past due over 1 year. Still owed.</a:t>
            </a:r>
            <a:br/>
            <a:r>
              <a:t>  SSLC and Exos records match on this loan.</a:t>
            </a:r>
            <a:br/>
            <a:r>
              <a:t>  (Note: on the Exos side, the ledger may show a different balance; that is an Exos bookkeeping</a:t>
            </a:r>
            <a:br/>
            <a:r>
              <a:t>  timing issue only — SSLC's $31,200 balance is the correct, agreed amount.)</a:t>
            </a:r>
            <a:br/>
            <a:br/>
            <a:r>
              <a:t>SEPARATE CONVERTED LOAN:</a:t>
            </a:r>
            <a:br/>
            <a:r>
              <a:t>  $30,000 loan made 5/9/2024.</a:t>
            </a:r>
            <a:br/>
            <a:r>
              <a:t>  Converted to 5,464 SSLC shares on 7/24/2024.</a:t>
            </a:r>
            <a:br/>
            <a:r>
              <a:t>  Included in Exos's $790K paid-in capital; no longer a liability.</a:t>
            </a:r>
            <a:br/>
            <a:br/>
            <a:r>
              <a:t>Open items: AR Unbilled $942,177 (Acct 1110) and Deposits $120,000 (Acct 2380) under reconciliation per Motion 3. Facility costs ~$805K (Jan 2024–Oct 2026) never charged to Microcosm.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motions for the SSLC Board:</a:t>
            </a:r>
            <a:br/>
            <a:br/>
            <a:r>
              <a:t>Motion 1: §3 exclusivity — 90-day period begins on board approval (May 2025 AAA).</a:t>
            </a:r>
            <a:br/>
            <a:br/>
            <a:r>
              <a:t>Motion 2: Full read-only QB Online access for John Quinn + one Exos finance reviewer. Cal. Corp. Code §1602 + AAA §4. NDA-confidential. Oct 15, 2026 deadline.</a:t>
            </a:r>
            <a:br/>
            <a:br/>
            <a:r>
              <a:t>Motion 3: Direct A La Carte Solutions (bookkeeper) + Singer Lewak / Welch &amp; Co. to reconcile and correct Acct 1110 AR Unbilled ($942,177) and Acct 2380 Deposits ($120,000) within 5 days. Must clear completed/shipped tank billings, post missing Jul–Sep 2026 revenue-recognition entries, tank-by-tank reconciliation (IM-109/122/134, EXOS-133), corrected balance sheet delivered to all directors.</a:t>
            </a:r>
            <a:br/>
            <a:br/>
            <a:r>
              <a:t>Motion 4 (separate): Consent to Exos using QB data to evaluate ERP/MRP and inventory systems for combined operation. Evaluation only; NDA-confidential.</a:t>
            </a:r>
            <a:br/>
            <a:br/>
            <a:r>
              <a:t>Governance: John Quinn abstains as interested director (Exos is offeror; Quinn holds Exos loan to SSLC).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Projected Shareholder Payout — Sources and Ranges</a:t>
            </a:r>
            <a:br/>
            <a:br/>
            <a:r>
              <a:t>BASE CASE:</a:t>
            </a:r>
            <a:br/>
            <a:r>
              <a:t>  Exos cash price: $2,510,000 (Offer ①)</a:t>
            </a:r>
            <a:br/>
            <a:r>
              <a:t>  SSLC cash at close: ~$675,000 (est. from $590K on 10/11 + IM pace through Jan 2027)</a:t>
            </a:r>
            <a:br/>
            <a:r>
              <a:t>  Less: loans &amp; notes $1,027,783 (Microcosm $451K, Bookstore $321K, EIDL $132K, Wertz $92.5K, Exos $31.2K)</a:t>
            </a:r>
            <a:br/>
            <a:r>
              <a:t>  Less: Exos loan interest ~$8K (11% to 1/15/27)</a:t>
            </a:r>
            <a:br/>
            <a:r>
              <a:t>  Less: other current liabilities $148,738 (10/11 QB)</a:t>
            </a:r>
            <a:br/>
            <a:r>
              <a:t>  Less: customer deposits $120,000 (IM; buyer assumes performance)</a:t>
            </a:r>
            <a:br/>
            <a:r>
              <a:t>  Less: billed-ahead work $250,000 (Exos assessment: base; range $100K–$390K)</a:t>
            </a:r>
            <a:br/>
            <a:r>
              <a:t>  Less: 5% escrow $125,500 (AAA §7; released at 12 months barring claims)</a:t>
            </a:r>
            <a:br/>
            <a:r>
              <a:t>  Net cash at close: ~$1.51M</a:t>
            </a:r>
            <a:br/>
            <a:r>
              <a:t>  Plus: Exos stock $1.0M (EAI units, Rule 504, 409A)</a:t>
            </a:r>
            <a:br/>
            <a:r>
              <a:t>  Plus: escrow release $126K</a:t>
            </a:r>
            <a:br/>
            <a:r>
              <a:t>  Plus: earn-outs $2.525M base (FY27–FY31 tank milestones + stock)</a:t>
            </a:r>
            <a:br/>
            <a:r>
              <a:t>  Total: ~$5.16M</a:t>
            </a:r>
            <a:br/>
            <a:br/>
            <a:r>
              <a:t>LOW CASE (net cash $1.28M / 5-yr $3.4M): billed-ahead $390K; SSLC cash stays at $590K; earn-outs $950K</a:t>
            </a:r>
            <a:br/>
            <a:r>
              <a:t>HIGH CASE (net cash $1.74M / 5-yr $7.0M): billed-ahead $100K; SSLC cash $761K; earn-outs $4.1M</a:t>
            </a:r>
            <a:br/>
            <a:br/>
            <a:r>
              <a:t>RETURN RATE CONTEXT:</a:t>
            </a:r>
            <a:br/>
            <a:r>
              <a:t>Over a 25-year hold, ~11× is roughly 10%/yr (CAGR) and ~23× roughly 13%/yr. Solid but not outsized — comparable to a long-term equity index. Stock ledger confirms investment dates; without it the precise CAGR can't be stated.</a:t>
            </a:r>
            <a:br/>
            <a:br/>
            <a:r>
              <a:t>EXOS LOAN DETAIL (for presenter):</a:t>
            </a:r>
            <a:br/>
            <a:r>
              <a:t>  $60,000 loan originated 10/10/2024.</a:t>
            </a:r>
            <a:br/>
            <a:r>
              <a:t>  $15,000 repaid 3/19/2025; $13,800 repaid 5/2/2025 → $31,200 balance.</a:t>
            </a:r>
            <a:br/>
            <a:r>
              <a:t>  11% interest; ~$38K total with interest. Past due over 1 year. Still owed.</a:t>
            </a:r>
            <a:br/>
            <a:r>
              <a:t>  SSLC and Exos records match on this loan.</a:t>
            </a:r>
            <a:br/>
            <a:r>
              <a:t>  Separate $30K loan (5/9/2024) converted to 5,464 SSLC shares on 7/24/2024 — included in Exos's $790K paid-in capital; no longer a liability.</a:t>
            </a:r>
            <a:br/>
            <a:br/>
            <a:r>
              <a:t>Stock ledger: Exos's 18.06% credited via $790K in price. Other holders' per-share payout can't be confirmed without ledger. Per John Quinn, most other holders invested 25+ years ago; Exos invested 2021–2024.</a:t>
            </a:r>
          </a:p>
          <a:p>
            <a:r>
              <a:rPr lang="en-US"/>
              <a:t>
--- MICROCOSM RENT CREDIT (Robert Conger question, 10/12) ---
Source: SSLC GL per John Quinn. All figures approximate pending stock ledger / full diligence.
Jan–Jun 2024: SSLC paid Microcosm $11,470/mo (~50% of $23,647 total rent).
Jul 2024 onward: SSLC paid 100% of rent:
  - Jul–Dec 2024: $23,647/mo (paid to Microcosm or sub-landlord)
  - Jan–Dec 2025: $24,238/mo
  - Jan–Aug 2026: $24,844/mo (paid directly to landlords Izadi/Vahidi)
Microcosm continues to occupy the building and is named on the lease.
Microcosm's 50% share Jul 2024–Aug 2026 (14 months): ~$316K (rent only; utilities billed separately).
Microcosm loan history (for context):
  - SSLC lent Microcosm $812,699 total (2019–Oct 2025, booked 4/30/2026).
  - On 4/30/2026, fully netted against Microcosm balances:
      $294,499 vs. Loan Payable–Microcosm
      $423,965 vs. pre-6/2025 Microcosm reimbursables
      $61,290 vs. 'Judy's time'
      $32,946 reimbursable
  - After netting: $451,429 still 'Due to Microcosm' on SSLC's books.
  - This ~$316K rent credit has NOT been netted against the $451K balance.
If the board asserts this credit before close, net cash to holders increases by ~$316K:
  ~$1.51M (base case) → ~$1.82M at close. 5-yr total: ~$5.16M → ~$5.47M.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xomac/.openclaw/workspace/drafts/_exos_hero_bg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Text 1"/>
          <p:cNvSpPr txBox="1"/>
          <p:nvPr/>
        </p:nvSpPr>
        <p:spPr>
          <a:xfrm>
            <a:off x="548640" y="502920"/>
            <a:ext cx="8046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EXOS OFFER TO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SCORPIUS SPACE LAUNCH COMPANY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26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Overview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3200400" y="2834640"/>
            <a:ext cx="27432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48640" y="2971800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John M. Quinn  |  Cofounder &amp; CEO, Exos Aerospace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31012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8888"/>
                </a:solidFill>
              </a:rPr>
              <a:t>October 10, 2026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70332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26A21"/>
                </a:solidFill>
              </a:rPr>
              <a:t>CONFIDENTIAL — DRAFT — NEGOTIATING TERMS</a:t>
            </a:r>
            <a:endParaRPr lang="en-US" sz="1000" dirty="0"/>
          </a:p>
        </p:txBody>
      </p:sp>
      <p:pic>
        <p:nvPicPr>
          <p:cNvPr id="10" name="Image 1" descr="/Users/exomac/.openclaw/workspace/drafts/_exos_white_offic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4206240"/>
            <a:ext cx="164592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Board is asked to vote on four motions today.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633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CCCCC"/>
                </a:solidFill>
              </a:rPr>
              <a:t>That's why Exos has stayed committed to funding this acquisition: fair value for SSLC holders, stability for SSLC's team, and real growth for investors. Together we're stronger than apart.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944368"/>
            <a:ext cx="8229600" cy="141732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40080" y="2999232"/>
            <a:ext cx="7863840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Motion 1: 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Approve Exos offer (Option B) + §3 exclusivity (90-day) + ROFR on asset sale
</a:t>
            </a:r>
            <a:pPr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Motion 2: 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Full read-only QB Online access for diligence (Cal. Corp. Code §1602 + AAA §4; under 7/27/2021 NDA)
</a:t>
            </a:r>
            <a:pPr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Motion 3: </a:t>
            </a:r>
            <a:r>
              <a:rPr lang="en-US" sz="1200" dirty="0" b="0">
                <a:solidFill>
                  <a:srgbClr val="CCCCCC"/>
                </a:solidFill>
              </a:rPr>
              <a:t>Correct AR Unbilled &amp; Deposits accounting within 5 days (A La Carte + outside CPAs)
</a:t>
            </a:r>
            <a:r>
              <a:rPr lang="en-US" sz="1200" b="1" dirty="0">
                <a:solidFill>
                  <a:srgbClr val="F26A21"/>
                </a:solidFill>
              </a:rPr>
              <a:t>Motion 4: 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Consent to ERP/MRP &amp; inventory evaluation using QB data (confidential under NDA)</a:t>
            </a:r>
            <a:endParaRPr lang="en-US" sz="1400" dirty="0"/>
          </a:p>
        </p:txBody>
      </p:sp>
      <p:pic>
        <p:nvPicPr>
          <p:cNvPr id="7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SSLC Stands Today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365760" y="1097280"/>
            <a:ext cx="2560320" cy="201168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457200" y="12344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$590K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031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CCCC"/>
                </a:solidFill>
              </a:rPr>
              <a:t>Cash at 10/11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One IM payment 10/7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097280"/>
            <a:ext cx="2560320" cy="201168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3291840" y="12344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$713K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1031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CCCC"/>
                </a:solidFill>
              </a:rPr>
              <a:t>Last quarter revenue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Most recent reported quarter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097280"/>
            <a:ext cx="2560320" cy="201168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126480" y="12344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26A21"/>
                </a:solidFill>
              </a:rPr>
              <a:t>~$1.46M/qtr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1031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CCCC"/>
                </a:solidFill>
              </a:rPr>
              <a:t>Required to hit $5.1M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M1 milestone threshold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337560"/>
            <a:ext cx="8229600" cy="1051560"/>
          </a:xfrm>
          <a:prstGeom prst="rect">
            <a:avLst/>
          </a:prstGeom>
          <a:solidFill>
            <a:srgbClr val="1A12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40080" y="3429000"/>
            <a:ext cx="7863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CCCCCC"/>
                </a:solidFill>
              </a:rPr>
              <a:t>$590K cash at 10/11 came largely from one Intuitive Machines payment on 10/7 for start-billed tanks; a $5.1M year still requires ~2× last quarter's pace starting now. With $1.03M of debt, equity of −$1.44M, and physical-space and single-winder constraints, Exos's offer removes the funding risk and gives SSLC holders direct upside.</a:t>
            </a:r>
            <a:endParaRPr lang="en-US" sz="1300" dirty="0"/>
          </a:p>
        </p:txBody>
      </p:sp>
      <p:pic>
        <p:nvPicPr>
          <p:cNvPr id="18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6400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SSLC Capital &amp; Debt: What's on the Books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" y="594360"/>
            <a:ext cx="4160520" cy="2999232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07408" y="594360"/>
            <a:ext cx="4617720" cy="2999232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" y="594360"/>
            <a:ext cx="4160520" cy="24688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07408" y="594360"/>
            <a:ext cx="4617720" cy="24688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" y="594360"/>
            <a:ext cx="36576" cy="246888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07408" y="594360"/>
            <a:ext cx="36576" cy="246888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" y="640080"/>
            <a:ext cx="4023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26A21"/>
                </a:solidFill>
                <a:latin typeface="Calibri"/>
              </a:rPr>
              <a:t>WHAT INVESTORS PAID 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640080"/>
            <a:ext cx="44805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26A21"/>
                </a:solidFill>
                <a:latin typeface="Calibri"/>
              </a:rPr>
              <a:t>WHAT SSLC OWES  (10/11/2026)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" y="914400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Common stock (Acct 3010)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2616" y="914400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CCCCC"/>
                </a:solidFill>
                <a:latin typeface="Calibri"/>
              </a:rPr>
              <a:t>$1,010,423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" y="1138428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APIC (Acct 3020)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2616" y="1138428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CCCCC"/>
                </a:solidFill>
                <a:latin typeface="Calibri"/>
              </a:rPr>
              <a:t>$4,042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" y="1435608"/>
            <a:ext cx="39319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9456" y="1586484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Total paid-in capital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42616" y="1586484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$1,014,465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" y="1810512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Exos: 18.06% → $789,572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42616" y="1810512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26A21"/>
                </a:solidFill>
                <a:latin typeface="Calibri"/>
              </a:rPr>
              <a:t>~78% of above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9456" y="2107692"/>
            <a:ext cx="39319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9456" y="2258568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Accum. deficit (thru FY26)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42616" y="2258568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6666"/>
                </a:solidFill>
                <a:latin typeface="Calibri"/>
              </a:rPr>
              <a:t>−$2,571,013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" y="2482596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FY27 YTD net income (10/11)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42616" y="2482596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4BB44"/>
                </a:solidFill>
                <a:latin typeface="Calibri"/>
              </a:rPr>
              <a:t>+$112,666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7136" y="914400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Loans &amp; notes (total)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51775" y="914400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$1,027,783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17136" y="1211580"/>
            <a:ext cx="43891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6" y="1362456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Due to Microcosm (Acct 2385)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51775" y="1362456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6666"/>
                </a:solidFill>
                <a:latin typeface="Calibri"/>
              </a:rPr>
              <a:t>$451,429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136" y="1586484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Notes Payable – Bookstore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1775" y="1586484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6666"/>
                </a:solidFill>
                <a:latin typeface="Calibri"/>
              </a:rPr>
              <a:t>$320,582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17136" y="1810512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SBA EIDL (Acct 2712)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51775" y="1810512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6666"/>
                </a:solidFill>
                <a:latin typeface="Calibri"/>
              </a:rPr>
              <a:t>$132,072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17136" y="2034540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Wertz loan (Acct 2714)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51775" y="2034540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6666"/>
                </a:solidFill>
                <a:latin typeface="Calibri"/>
              </a:rPr>
              <a:t>$92,500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17136" y="2258568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Exos loan (11%; stands)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51775" y="2258568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26A21"/>
                </a:solidFill>
                <a:latin typeface="Calibri"/>
              </a:rPr>
              <a:t>$31,200 (~$38K+int)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17136" y="2555748"/>
            <a:ext cx="43891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17136" y="2482596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Total liabilities (10/11)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51775" y="2482596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6666"/>
                </a:solidFill>
                <a:latin typeface="Calibri"/>
              </a:rPr>
              <a:t>$1,296,521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9728" y="3643884"/>
            <a:ext cx="8924544" cy="749808"/>
          </a:xfrm>
          <a:prstGeom prst="rect">
            <a:avLst/>
          </a:prstGeom>
          <a:solidFill>
            <a:srgbClr val="1E1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9728" y="3643884"/>
            <a:ext cx="50292" cy="749808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19456" y="3680459"/>
            <a:ext cx="86868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26A21"/>
                </a:solidFill>
                <a:latin typeface="Calibri"/>
              </a:rPr>
              <a:t>OPEN ITEMS  (Exos assessment pending reconciliation via Motion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9456" y="3890772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"Billed-ahead" balance: $942,177 at 10/11. Exos assessment: overstated — start-billings not cleared at shipment. True billed-ahead est. $100K–$250K. Reconciliation via Motion 3. Facility costs since Jan 2024: ~$805K never charged back to Microcosm.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8600" y="4416552"/>
            <a:ext cx="822960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8888"/>
                </a:solidFill>
                <a:latin typeface="Calibri"/>
              </a:rPr>
              <a:t>Source: SSLC QuickBooks 10/11/2026; billed-ahead pending reconciliation (Motion 3)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54480" y="4809744"/>
            <a:ext cx="6035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888888"/>
                </a:solidFill>
                <a:latin typeface="Calibri"/>
              </a:rPr>
              <a:t>DRAFT — NEGOTIATING TERMS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4809744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888888"/>
                </a:solidFill>
                <a:latin typeface="Calibri"/>
              </a:rPr>
              <a:t>CONFIDENTIAL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9184" y="2679191"/>
            <a:ext cx="2459736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19456" y="2697479"/>
            <a:ext cx="2514600" cy="2057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CCCCCC"/>
                </a:solidFill>
                <a:latin typeface="Calibri"/>
              </a:rPr>
              <a:t>Total equity (10/11/2026)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52344" y="2697479"/>
            <a:ext cx="1481328" cy="2057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F6666"/>
                </a:solidFill>
                <a:latin typeface="Calibri"/>
              </a:rPr>
              <a:t>−$1,443,882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17136" y="2720340"/>
            <a:ext cx="4224528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  <a:latin typeface="Calibri"/>
              </a:rPr>
              <a:t>Exos loan reconciled: $60K→$31.2K (11% int.); records match. $30K prior loan→5,464 shares (incl. in $790K paid-in).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17136" y="2875788"/>
            <a:ext cx="4224528" cy="242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8888"/>
                </a:solidFill>
                <a:latin typeface="Calibri"/>
              </a:rPr>
              <a:t/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17136" y="3122676"/>
            <a:ext cx="4224528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8888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SSLC Holders Receive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1005840"/>
            <a:ext cx="5669280" cy="393192"/>
          </a:xfrm>
          <a:prstGeom prst="rect">
            <a:avLst/>
          </a:prstGeom>
          <a:solidFill>
            <a:srgbClr val="2A2A2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04241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Cash at close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1042416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$2.51M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14400" y="1426464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005840" y="146304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SSLC transaction costs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14630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$60K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1847088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05840" y="1883664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Exos stake credit (non-cash)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1883664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$790K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2267712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14400" y="2688336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05840" y="272491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Working-capital bridge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2724912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$500K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3145536"/>
            <a:ext cx="6035040" cy="475488"/>
          </a:xfrm>
          <a:prstGeom prst="rect">
            <a:avLst/>
          </a:prstGeom>
          <a:solidFill>
            <a:srgbClr val="2A18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68680" y="32004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① Cash at close — target by Feb 15th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32004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26A21"/>
                </a:solidFill>
              </a:rPr>
              <a:t>$3.86M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4400" y="3675888"/>
            <a:ext cx="5669280" cy="402336"/>
          </a:xfrm>
          <a:prstGeom prst="rect">
            <a:avLst/>
          </a:prstGeom>
          <a:solidFill>
            <a:srgbClr val="202020"/>
          </a:solidFill>
          <a:ln w="12700">
            <a:solidFill>
              <a:srgbClr val="44444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1005840" y="3712464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+ Exos equity — EAI units at 409A (Rule 504, ~0.59%)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0" y="3712464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$1.0M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31520" y="4151376"/>
            <a:ext cx="6035040" cy="530352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868680" y="4233672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</a:rPr>
              <a:t>② Total at financing close (SSLC asset acquisition)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303520" y="4233672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ECC71"/>
                </a:solidFill>
              </a:rPr>
              <a:t>$4.86M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6903720" y="1051560"/>
            <a:ext cx="20116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Issued at financing close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Restricted at issuance (Rule 504)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Part of RTO public float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Freely tradeable at listing</a:t>
            </a:r>
            <a:endParaRPr lang="en-US" sz="1100" dirty="0"/>
          </a:p>
        </p:txBody>
      </p:sp>
      <p:pic>
        <p:nvPicPr>
          <p:cNvPr id="29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31" name="Text 28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28016"/>
            <a:ext cx="8503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Value Grows: Earn-Outs &amp; Milestones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20040" y="566928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640080"/>
            <a:ext cx="201168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320040" y="676656"/>
            <a:ext cx="19385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Earn-Out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331720" y="640080"/>
            <a:ext cx="187452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2377440" y="676656"/>
            <a:ext cx="1801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Target SSLC Must Hit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51960" y="640080"/>
            <a:ext cx="105156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297680" y="676656"/>
            <a:ext cx="9784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Low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49240" y="640080"/>
            <a:ext cx="105156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394960" y="676656"/>
            <a:ext cx="9784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Base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46520" y="640080"/>
            <a:ext cx="105156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492240" y="676656"/>
            <a:ext cx="9784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High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543800" y="640080"/>
            <a:ext cx="100584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7589520" y="676656"/>
            <a:ext cx="9326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Pays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1005840"/>
            <a:ext cx="201168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329184" y="1024128"/>
            <a:ext cx="1920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5% of IM tank revenue/yr</a:t>
            </a:r>
            <a:endParaRPr lang="en-US" sz="9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cap $300K/yr, FY27–FY31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331720" y="1005840"/>
            <a:ext cx="187452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2386584" y="1024128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Revenue SSLC achieves</a:t>
            </a:r>
            <a:endParaRPr lang="en-US" sz="9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each year FY27–FY31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251960" y="1005840"/>
            <a:ext cx="105156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4306824" y="1024128"/>
            <a:ext cx="960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$3.0M/yr</a:t>
            </a:r>
            <a:endParaRPr lang="en-US" sz="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→$150K/yr</a:t>
            </a:r>
            <a:endParaRPr lang="en-US" sz="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→$750K total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49240" y="1005840"/>
            <a:ext cx="105156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5404104" y="1024128"/>
            <a:ext cx="960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$5.0M/yr</a:t>
            </a:r>
            <a:endParaRPr lang="en-US" sz="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→$250K/yr</a:t>
            </a:r>
            <a:endParaRPr lang="en-US" sz="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→$1.25M total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46520" y="1005840"/>
            <a:ext cx="105156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6501384" y="1024128"/>
            <a:ext cx="960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$6.0M+/yr</a:t>
            </a:r>
            <a:endParaRPr lang="en-US" sz="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→$300K/yr (cap)</a:t>
            </a:r>
            <a:endParaRPr lang="en-US" sz="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→$1.5M total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543800" y="1005840"/>
            <a:ext cx="100584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7598664" y="1024128"/>
            <a:ext cx="914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Annual</a:t>
            </a:r>
            <a:endParaRPr lang="en-US" sz="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FY27–FY31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1554480"/>
            <a:ext cx="201168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329184" y="157276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M1  SSLC FY27 rev ≥$5.1M  →$200K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331720" y="1554480"/>
            <a:ext cx="187452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2386584" y="157276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Annual rev ≥$5.1M in FY27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251960" y="155448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4306824" y="157276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349240" y="155448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 txBox="1"/>
          <p:nvPr/>
        </p:nvSpPr>
        <p:spPr>
          <a:xfrm>
            <a:off x="5404104" y="157276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446520" y="155448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 txBox="1"/>
          <p:nvPr/>
        </p:nvSpPr>
        <p:spPr>
          <a:xfrm>
            <a:off x="6501384" y="157276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543800" y="1554480"/>
            <a:ext cx="100584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 txBox="1"/>
          <p:nvPr/>
        </p:nvSpPr>
        <p:spPr>
          <a:xfrm>
            <a:off x="7598664" y="157276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FY28 Q1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74320" y="1920240"/>
            <a:ext cx="201168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 txBox="1"/>
          <p:nvPr/>
        </p:nvSpPr>
        <p:spPr>
          <a:xfrm>
            <a:off x="329184" y="193852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M2  Nebula OTV flight tank set delivered &amp; accepted by IM  →$200K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331720" y="1920240"/>
            <a:ext cx="187452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 txBox="1"/>
          <p:nvPr/>
        </p:nvSpPr>
        <p:spPr>
          <a:xfrm>
            <a:off x="2386584" y="193852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Tank set delivered and accepted by Intuitive Machines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251960" y="192024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 txBox="1"/>
          <p:nvPr/>
        </p:nvSpPr>
        <p:spPr>
          <a:xfrm>
            <a:off x="4306824" y="193852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349240" y="192024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 txBox="1"/>
          <p:nvPr/>
        </p:nvSpPr>
        <p:spPr>
          <a:xfrm>
            <a:off x="5404104" y="193852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46520" y="192024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 txBox="1"/>
          <p:nvPr/>
        </p:nvSpPr>
        <p:spPr>
          <a:xfrm>
            <a:off x="6501384" y="193852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543800" y="1920240"/>
            <a:ext cx="10058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 txBox="1"/>
          <p:nvPr/>
        </p:nvSpPr>
        <p:spPr>
          <a:xfrm>
            <a:off x="7598664" y="193852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At acceptance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274320" y="2286000"/>
            <a:ext cx="201168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 txBox="1"/>
          <p:nvPr/>
        </p:nvSpPr>
        <p:spPr>
          <a:xfrm>
            <a:off x="329184" y="230428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M3  SSLC annual rev ≥$10M  →$250K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2331720" y="2286000"/>
            <a:ext cx="187452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 txBox="1"/>
          <p:nvPr/>
        </p:nvSpPr>
        <p:spPr>
          <a:xfrm>
            <a:off x="2386584" y="230428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Annual rev ≥$10M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251960" y="228600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 txBox="1"/>
          <p:nvPr/>
        </p:nvSpPr>
        <p:spPr>
          <a:xfrm>
            <a:off x="4306824" y="230428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5349240" y="228600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 txBox="1"/>
          <p:nvPr/>
        </p:nvSpPr>
        <p:spPr>
          <a:xfrm>
            <a:off x="5404104" y="230428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6446520" y="228600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 txBox="1"/>
          <p:nvPr/>
        </p:nvSpPr>
        <p:spPr>
          <a:xfrm>
            <a:off x="6501384" y="230428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7543800" y="2286000"/>
            <a:ext cx="100584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 txBox="1"/>
          <p:nvPr/>
        </p:nvSpPr>
        <p:spPr>
          <a:xfrm>
            <a:off x="7598664" y="230428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Est. FY29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274320" y="2651760"/>
            <a:ext cx="201168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 txBox="1"/>
          <p:nvPr/>
        </p:nvSpPr>
        <p:spPr>
          <a:xfrm>
            <a:off x="329184" y="267004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M4  SSLC annual rev ≥$20M  →$250K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2331720" y="2651760"/>
            <a:ext cx="187452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 txBox="1"/>
          <p:nvPr/>
        </p:nvSpPr>
        <p:spPr>
          <a:xfrm>
            <a:off x="2386584" y="267004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Annual rev ≥$20M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251960" y="265176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 txBox="1"/>
          <p:nvPr/>
        </p:nvSpPr>
        <p:spPr>
          <a:xfrm>
            <a:off x="4306824" y="267004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5349240" y="265176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 txBox="1"/>
          <p:nvPr/>
        </p:nvSpPr>
        <p:spPr>
          <a:xfrm>
            <a:off x="5404104" y="267004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6446520" y="265176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73" name="Text 71"/>
          <p:cNvSpPr txBox="1"/>
          <p:nvPr/>
        </p:nvSpPr>
        <p:spPr>
          <a:xfrm>
            <a:off x="6501384" y="267004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7543800" y="2651760"/>
            <a:ext cx="10058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75" name="Text 73"/>
          <p:cNvSpPr txBox="1"/>
          <p:nvPr/>
        </p:nvSpPr>
        <p:spPr>
          <a:xfrm>
            <a:off x="7598664" y="267004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Est. FY31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274320" y="3017520"/>
            <a:ext cx="201168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77" name="Text 75"/>
          <p:cNvSpPr txBox="1"/>
          <p:nvPr/>
        </p:nvSpPr>
        <p:spPr>
          <a:xfrm>
            <a:off x="329184" y="303580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M5  50% reduction in tank build cost</a:t>
            </a:r>
            <a:endParaRPr lang="en-US" sz="9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(dome &amp; build-process automation proven)  →$200K (High)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2331720" y="3017520"/>
            <a:ext cx="187452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 txBox="1"/>
          <p:nvPr/>
        </p:nvSpPr>
        <p:spPr>
          <a:xfrm>
            <a:off x="2386584" y="3035808"/>
            <a:ext cx="1783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50% cost reduction proven</a:t>
            </a:r>
            <a:endParaRPr lang="en-US" sz="9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(dome &amp; process automation)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251960" y="3017520"/>
            <a:ext cx="105156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81" name="Text 79"/>
          <p:cNvSpPr txBox="1"/>
          <p:nvPr/>
        </p:nvSpPr>
        <p:spPr>
          <a:xfrm>
            <a:off x="4306824" y="30358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5349240" y="3017520"/>
            <a:ext cx="105156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83" name="Text 81"/>
          <p:cNvSpPr txBox="1"/>
          <p:nvPr/>
        </p:nvSpPr>
        <p:spPr>
          <a:xfrm>
            <a:off x="5404104" y="30358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84" name="Shape 82"/>
          <p:cNvSpPr/>
          <p:nvPr/>
        </p:nvSpPr>
        <p:spPr>
          <a:xfrm>
            <a:off x="6446520" y="3017520"/>
            <a:ext cx="105156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85" name="Text 83"/>
          <p:cNvSpPr txBox="1"/>
          <p:nvPr/>
        </p:nvSpPr>
        <p:spPr>
          <a:xfrm>
            <a:off x="6501384" y="30358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7543800" y="3017520"/>
            <a:ext cx="100584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87" name="Text 85"/>
          <p:cNvSpPr txBox="1"/>
          <p:nvPr/>
        </p:nvSpPr>
        <p:spPr>
          <a:xfrm>
            <a:off x="7598664" y="3035808"/>
            <a:ext cx="914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Est. FY27–28</a:t>
            </a:r>
            <a:endParaRPr lang="en-US" sz="1100" dirty="0"/>
          </a:p>
        </p:txBody>
      </p:sp>
      <p:sp>
        <p:nvSpPr>
          <p:cNvPr id="88" name="Shape 86"/>
          <p:cNvSpPr/>
          <p:nvPr/>
        </p:nvSpPr>
        <p:spPr>
          <a:xfrm>
            <a:off x="274320" y="3474720"/>
            <a:ext cx="201168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89" name="Text 87"/>
          <p:cNvSpPr txBox="1"/>
          <p:nvPr/>
        </p:nvSpPr>
        <p:spPr>
          <a:xfrm>
            <a:off x="329184" y="349300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Exos stock earn-out at RTO listing</a:t>
            </a:r>
            <a:endParaRPr lang="en-US" sz="9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(adds to ~0.59% EAI up-front)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2331720" y="3474720"/>
            <a:ext cx="187452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91" name="Text 89"/>
          <p:cNvSpPr txBox="1"/>
          <p:nvPr/>
        </p:nvSpPr>
        <p:spPr>
          <a:xfrm>
            <a:off x="2386584" y="3493008"/>
            <a:ext cx="1783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Issued at RTO listing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4251960" y="3474720"/>
            <a:ext cx="105156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93" name="Text 91"/>
          <p:cNvSpPr txBox="1"/>
          <p:nvPr/>
        </p:nvSpPr>
        <p:spPr>
          <a:xfrm>
            <a:off x="4306824" y="34930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$0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(0.0%)</a:t>
            </a:r>
            <a:endParaRPr lang="en-US" sz="1100" dirty="0"/>
          </a:p>
        </p:txBody>
      </p:sp>
      <p:sp>
        <p:nvSpPr>
          <p:cNvPr id="94" name="Shape 92"/>
          <p:cNvSpPr/>
          <p:nvPr/>
        </p:nvSpPr>
        <p:spPr>
          <a:xfrm>
            <a:off x="5349240" y="3474720"/>
            <a:ext cx="105156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95" name="Text 93"/>
          <p:cNvSpPr txBox="1"/>
          <p:nvPr/>
        </p:nvSpPr>
        <p:spPr>
          <a:xfrm>
            <a:off x="5404104" y="34930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$625K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(0.25%)</a:t>
            </a:r>
            <a:endParaRPr lang="en-US" sz="1100" dirty="0"/>
          </a:p>
        </p:txBody>
      </p:sp>
      <p:sp>
        <p:nvSpPr>
          <p:cNvPr id="96" name="Shape 94"/>
          <p:cNvSpPr/>
          <p:nvPr/>
        </p:nvSpPr>
        <p:spPr>
          <a:xfrm>
            <a:off x="6446520" y="3474720"/>
            <a:ext cx="105156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97" name="Text 95"/>
          <p:cNvSpPr txBox="1"/>
          <p:nvPr/>
        </p:nvSpPr>
        <p:spPr>
          <a:xfrm>
            <a:off x="6501384" y="34930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$1,500K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(0.50%)</a:t>
            </a:r>
            <a:endParaRPr lang="en-US" sz="1100" dirty="0"/>
          </a:p>
        </p:txBody>
      </p:sp>
      <p:sp>
        <p:nvSpPr>
          <p:cNvPr id="98" name="Shape 96"/>
          <p:cNvSpPr/>
          <p:nvPr/>
        </p:nvSpPr>
        <p:spPr>
          <a:xfrm>
            <a:off x="7543800" y="3474720"/>
            <a:ext cx="100584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99" name="Text 97"/>
          <p:cNvSpPr txBox="1"/>
          <p:nvPr/>
        </p:nvSpPr>
        <p:spPr>
          <a:xfrm>
            <a:off x="7598664" y="3493008"/>
            <a:ext cx="914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Post-RTO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~FY29</a:t>
            </a:r>
            <a:endParaRPr lang="en-US" sz="1100" dirty="0"/>
          </a:p>
        </p:txBody>
      </p:sp>
      <p:sp>
        <p:nvSpPr>
          <p:cNvPr id="100" name="Shape 98"/>
          <p:cNvSpPr/>
          <p:nvPr/>
        </p:nvSpPr>
        <p:spPr>
          <a:xfrm>
            <a:off x="274320" y="3931920"/>
            <a:ext cx="201168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01" name="Text 99"/>
          <p:cNvSpPr txBox="1"/>
          <p:nvPr/>
        </p:nvSpPr>
        <p:spPr>
          <a:xfrm>
            <a:off x="329184" y="395020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CCCCC"/>
                </a:solidFill>
              </a:rPr>
              <a:t>TOTAL EARN-OUTS  (③ minus ②)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2331720" y="3931920"/>
            <a:ext cx="187452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03" name="Text 101"/>
          <p:cNvSpPr txBox="1"/>
          <p:nvPr/>
        </p:nvSpPr>
        <p:spPr>
          <a:xfrm>
            <a:off x="2386584" y="3950208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4251960" y="3931920"/>
            <a:ext cx="105156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05" name="Text 103"/>
          <p:cNvSpPr txBox="1"/>
          <p:nvPr/>
        </p:nvSpPr>
        <p:spPr>
          <a:xfrm>
            <a:off x="4306824" y="3950208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$950K</a:t>
            </a:r>
            <a:endParaRPr lang="en-US" sz="1100" dirty="0"/>
          </a:p>
        </p:txBody>
      </p:sp>
      <p:sp>
        <p:nvSpPr>
          <p:cNvPr id="106" name="Shape 104"/>
          <p:cNvSpPr/>
          <p:nvPr/>
        </p:nvSpPr>
        <p:spPr>
          <a:xfrm>
            <a:off x="5349240" y="3931920"/>
            <a:ext cx="105156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07" name="Text 105"/>
          <p:cNvSpPr txBox="1"/>
          <p:nvPr/>
        </p:nvSpPr>
        <p:spPr>
          <a:xfrm>
            <a:off x="5404104" y="3950208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$2,525K</a:t>
            </a:r>
            <a:endParaRPr lang="en-US" sz="1100" dirty="0"/>
          </a:p>
        </p:txBody>
      </p:sp>
      <p:sp>
        <p:nvSpPr>
          <p:cNvPr id="108" name="Shape 106"/>
          <p:cNvSpPr/>
          <p:nvPr/>
        </p:nvSpPr>
        <p:spPr>
          <a:xfrm>
            <a:off x="6446520" y="3931920"/>
            <a:ext cx="105156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09" name="Text 107"/>
          <p:cNvSpPr txBox="1"/>
          <p:nvPr/>
        </p:nvSpPr>
        <p:spPr>
          <a:xfrm>
            <a:off x="6501384" y="3950208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$4,100K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7543800" y="3931920"/>
            <a:ext cx="100584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11" name="Text 109"/>
          <p:cNvSpPr txBox="1"/>
          <p:nvPr/>
        </p:nvSpPr>
        <p:spPr>
          <a:xfrm>
            <a:off x="7598664" y="3950208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5-yr total</a:t>
            </a:r>
            <a:endParaRPr lang="en-US" sz="1100" dirty="0"/>
          </a:p>
        </p:txBody>
      </p:sp>
      <p:pic>
        <p:nvPicPr>
          <p:cNvPr id="112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113" name="Text 110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114" name="Text 111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Offer Value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</a:rPr>
              <a:t>③  5-Year Total (earn-outs realized)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1325880" cy="1234440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457200" y="129844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Low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58191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</a:rPr>
              <a:t>$5.8M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176272"/>
            <a:ext cx="1143000" cy="256032"/>
          </a:xfrm>
          <a:prstGeom prst="rect">
            <a:avLst/>
          </a:prstGeom>
          <a:solidFill>
            <a:srgbClr val="143000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57200" y="219456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5-yr realized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874520" y="1261872"/>
            <a:ext cx="1325880" cy="1234440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874520" y="129844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Base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874520" y="158191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</a:rPr>
              <a:t>$7.4M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1965960" y="2176272"/>
            <a:ext cx="1143000" cy="256032"/>
          </a:xfrm>
          <a:prstGeom prst="rect">
            <a:avLst/>
          </a:prstGeom>
          <a:solidFill>
            <a:srgbClr val="143000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874520" y="219456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5-yr realized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91840" y="1261872"/>
            <a:ext cx="1325880" cy="1234440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3291840" y="129844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High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291840" y="158191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</a:rPr>
              <a:t>$9.0M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3383280" y="2176272"/>
            <a:ext cx="1143000" cy="256032"/>
          </a:xfrm>
          <a:prstGeom prst="rect">
            <a:avLst/>
          </a:prstGeom>
          <a:solidFill>
            <a:srgbClr val="143000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3291840" y="219456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5-yr realized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09160" y="914400"/>
            <a:ext cx="0" cy="329184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489204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④  If Exos Stock Held to 2031  (projection)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892040" y="1261872"/>
            <a:ext cx="1316736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4892040" y="1298448"/>
            <a:ext cx="1316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Low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892040" y="1581912"/>
            <a:ext cx="13167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6A21"/>
                </a:solidFill>
              </a:rPr>
              <a:t>$11.5M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4956048" y="2176272"/>
            <a:ext cx="1188720" cy="256032"/>
          </a:xfrm>
          <a:prstGeom prst="rect">
            <a:avLst/>
          </a:prstGeom>
          <a:solidFill>
            <a:srgbClr val="2A1000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4892040" y="2194560"/>
            <a:ext cx="13167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if held to 2031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1928" y="1261872"/>
            <a:ext cx="1316736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6281928" y="1298448"/>
            <a:ext cx="1316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Base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281928" y="1581912"/>
            <a:ext cx="13167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6A21"/>
                </a:solidFill>
              </a:rPr>
              <a:t>$15.3M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6345936" y="2176272"/>
            <a:ext cx="1188720" cy="256032"/>
          </a:xfrm>
          <a:prstGeom prst="rect">
            <a:avLst/>
          </a:prstGeom>
          <a:solidFill>
            <a:srgbClr val="2A1000"/>
          </a:solidFill>
          <a:ln/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6281928" y="2194560"/>
            <a:ext cx="13167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if held to 2031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671816" y="1261872"/>
            <a:ext cx="1316736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7671816" y="1298448"/>
            <a:ext cx="1316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High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671816" y="1581912"/>
            <a:ext cx="13167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6A21"/>
                </a:solidFill>
              </a:rPr>
              <a:t>$18.9M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7735824" y="2176272"/>
            <a:ext cx="1188720" cy="256032"/>
          </a:xfrm>
          <a:prstGeom prst="rect">
            <a:avLst/>
          </a:prstGeom>
          <a:solidFill>
            <a:srgbClr val="2A1000"/>
          </a:solidFill>
          <a:ln/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7671816" y="2194560"/>
            <a:ext cx="13167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if held to 2031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320040" y="2542032"/>
            <a:ext cx="8503920" cy="146304"/>
          </a:xfrm>
          <a:prstGeom prst="rect">
            <a:avLst/>
          </a:prstGeom>
          <a:solidFill>
            <a:srgbClr val="222200"/>
          </a:solidFill>
          <a:ln/>
        </p:spPr>
        <p:txBody>
          <a:bodyPr/>
          <a:p/>
        </p:txBody>
      </p:sp>
      <p:sp>
        <p:nvSpPr>
          <p:cNvPr id="39" name="Text 36"/>
          <p:cNvSpPr txBox="1"/>
          <p:nvPr/>
        </p:nvSpPr>
        <p:spPr>
          <a:xfrm>
            <a:off x="365760" y="2551176"/>
            <a:ext cx="841248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④ is a forward-looking projection, not a guarantee; an alternative to ③, not additive.</a:t>
            </a:r>
            <a:endParaRPr lang="en-US" sz="800" dirty="0"/>
          </a:p>
        </p:txBody>
      </p:sp>
      <p:pic>
        <p:nvPicPr>
          <p:cNvPr id="40" name="Image 1" descr="/Users/exomac/.openclaw/workspace/drafts/_exos_white_offic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42" name="Text 38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  <p:sp>
        <p:nvSpPr>
          <p:cNvPr id="43" name="Rectangle 42"/>
          <p:cNvSpPr/>
          <p:nvPr/>
        </p:nvSpPr>
        <p:spPr>
          <a:xfrm>
            <a:off x="365760" y="2743200"/>
            <a:ext cx="8412480" cy="1371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2761488"/>
            <a:ext cx="5943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26A21"/>
                </a:solidFill>
                <a:latin typeface="Calibri"/>
              </a:rPr>
              <a:t>Offer Value as a Multiple of SSLC Revenue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2761488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Calibri"/>
              </a:rPr>
              <a:t>FY26 actual: $1.925M  |  FY27 target: $5.1M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299923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31920" y="299923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CCCC"/>
                </a:solidFill>
                <a:latin typeface="Calibri"/>
              </a:rPr>
              <a:t>vs. FY26 actual ($1.925M)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299923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CCCC"/>
                </a:solidFill>
                <a:latin typeface="Calibri"/>
              </a:rPr>
              <a:t>vs. FY27 target ($5.1M)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3182112"/>
            <a:ext cx="8412480" cy="7315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320040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② At close: $4.86M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31920" y="3200400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BB44"/>
                </a:solidFill>
                <a:latin typeface="Calibri"/>
              </a:rPr>
              <a:t>~2.5×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17920" y="3200400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BB44"/>
                </a:solidFill>
                <a:latin typeface="Calibri"/>
              </a:rPr>
              <a:t>~0.95×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5760" y="341528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③ 5-year: $5.8M – $9.0M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31920" y="3415284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BB44"/>
                </a:solidFill>
                <a:latin typeface="Calibri"/>
              </a:rPr>
              <a:t>~3.0–4.7×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3415284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BB44"/>
                </a:solidFill>
                <a:latin typeface="Calibri"/>
              </a:rPr>
              <a:t>~1.1–1.8×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363016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26A21"/>
                </a:solidFill>
                <a:latin typeface="Calibri"/>
              </a:rPr>
              <a:t>④ Max $18.9M (held to 2031)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630168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BB44"/>
                </a:solidFill>
                <a:latin typeface="Calibri"/>
              </a:rPr>
              <a:t>~9.8×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3630168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BB44"/>
                </a:solidFill>
                <a:latin typeface="Calibri"/>
              </a:rPr>
              <a:t>~3.7×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81628"/>
            <a:ext cx="8412480" cy="109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04488"/>
            <a:ext cx="8412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  <a:latin typeface="Calibri"/>
              </a:rPr>
              <a:t>Declining this offer is a judgment that SSLC alone, without new capital, is more likely to create more than the $18.9M maximum this offer projects (if Exos stock is held to 2031). Not a guarantee; "projects" is the operative word.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Exos Stock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365760" y="96012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02920" y="103327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Instrument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0759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$1.0M EAI units at the current 409A valuation (~$169.7M); ~0.59% fully diluted at issuance.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96012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800600" y="103327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Offering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30759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Part of Exos's Rule 504 Regulation D offering. U.S. persons only. Counts toward the $10M rolling 12-month cap.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24028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02920" y="231343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Restricted at issuance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258775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Units carry a restrictive legend at issuance (Rule 504 Reg D). Not freely tradeable prior to the RTO listing.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224028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4800600" y="231343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Public float at RTO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58775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Structured to be part of the public float at going public. No principals' lockup applies to these units; locked-up shares would not count as float.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52044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02920" y="359359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Freely tradeable at listing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86791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Becomes freely tradeable at the RTO listing (no lockup on the up-front units). Covered by the RTO resale registration.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63440" y="352044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4800600" y="359359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Timeline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800600" y="386791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Units issued at financing close. Targeted RTO ~6 months post-financing. Not assured — RTO may not close.</a:t>
            </a:r>
            <a:endParaRPr lang="en-US" sz="1200" dirty="0"/>
          </a:p>
        </p:txBody>
      </p:sp>
      <p:pic>
        <p:nvPicPr>
          <p:cNvPr id="22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SSLC Employees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365760" y="1005840"/>
            <a:ext cx="4114800" cy="2743200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6A21"/>
                </a:solidFill>
              </a:rPr>
              <a:t>Employment Offer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481328"/>
            <a:ext cx="38404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Exos shall offer employment to SSLC employees — including management, support, engineering, and other technical and manufacturing employees — on terms no less favorable than their current terms with SSLC, including compensation and benefits.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Subject to each employee satisfying Exos's standard hiring policies and Exos's completion of confirmatory due diligence.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114800" cy="2743200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800600" y="107899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6A21"/>
                </a:solidFill>
              </a:rPr>
              <a:t>Key-Employee Option Pool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481328"/>
            <a:ext cx="38404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Exos has an option pool for key employees. The allocation, key-employee retention and new-hire structure will be mutually agreed post-acquisition.</a:t>
            </a:r>
            <a:endParaRPr lang="en-US" sz="1300" dirty="0"/>
          </a:p>
        </p:txBody>
      </p:sp>
      <p:pic>
        <p:nvPicPr>
          <p:cNvPr id="10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Exos Funding Commitments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1480" y="914400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48640" y="950976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$2.51M cash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89320" y="950976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298448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48640" y="1335024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SSLC transaction costs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89320" y="1335024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1682496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11480" y="2066544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548640" y="2103120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Working-capital bridge $500K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89320" y="2103120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2450592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48640" y="2487168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$1.0M Exos stock (EAI units, Rule 504)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989320" y="2487168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2834640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548640" y="2871216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Capital in the new year — physical space and a second winder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89320" y="2871216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(amount TBD; committed at financing close)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11480" y="3218688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548640" y="3255264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Employment offers + option pool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3255264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1480" y="3602736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548640" y="3639312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Earn-outs on milestones and tank revenue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89320" y="3639312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FY27–FY31 as triggered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4078224"/>
            <a:ext cx="8412480" cy="5943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502920" y="414223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Four motions today: approve offer + §3 exclusivity + ROFR  →  90-day window  →  financing close target Feb 15th</a:t>
            </a:r>
            <a:endParaRPr lang="en-US" sz="1500" dirty="0"/>
          </a:p>
        </p:txBody>
      </p:sp>
      <p:pic>
        <p:nvPicPr>
          <p:cNvPr id="30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64008"/>
            <a:ext cx="8686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mbria"/>
              </a:rPr>
              <a:t>Projected Shareholder Payout — Close Jan 15, 2027  (Base Case, Current Books)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466344"/>
            <a:ext cx="2011680" cy="32004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4592" y="521207"/>
            <a:ext cx="4315968" cy="3511296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521207"/>
            <a:ext cx="45720" cy="351129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76071"/>
            <a:ext cx="41513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26A21"/>
                </a:solidFill>
                <a:latin typeface="Calibri"/>
              </a:rPr>
              <a:t>Cash to Shareholders at Close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795527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Exos cash purchase price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19" y="795527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+$2,510,000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955547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8888"/>
                </a:solidFill>
                <a:latin typeface="Calibri"/>
              </a:rPr>
              <a:t>+ SSLC cash at close (est.; $590K on 10/11)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19" y="955547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Calibri"/>
              </a:rPr>
              <a:t>+$675,000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152144"/>
            <a:ext cx="4151376" cy="9144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1115568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Subtotal inflows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19" y="1115568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CCCCCC"/>
                </a:solidFill>
                <a:latin typeface="Calibri"/>
              </a:rPr>
              <a:t>$3,185,000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1284732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− SSLC loans &amp; 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19" y="1284732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7755"/>
                </a:solidFill>
                <a:latin typeface="Calibri"/>
              </a:rPr>
              <a:t>($1,027,783)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1701698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− Other current liabilities (AP, accruals)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19" y="1701698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7755"/>
                </a:solidFill>
                <a:latin typeface="Calibri"/>
              </a:rPr>
              <a:t>($148,738)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1861718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− Customer deposits (IM, transferred)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19" y="1861718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7755"/>
                </a:solidFill>
                <a:latin typeface="Calibri"/>
              </a:rPr>
              <a:t>($120,000)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2021738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− Billed-ahead work, genuine (Exos est.)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19" y="2021738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7755"/>
                </a:solidFill>
                <a:latin typeface="Calibri"/>
              </a:rPr>
              <a:t>($250,000)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2181758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− 5% escrow holdback (released 12 months)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19" y="2181758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7755"/>
                </a:solidFill>
                <a:latin typeface="Calibri"/>
              </a:rPr>
              <a:t>($125,500)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2350922"/>
            <a:ext cx="4151376" cy="1371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2378354"/>
            <a:ext cx="31546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Net cash distributable at close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19" y="237835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26A21"/>
                </a:solidFill>
                <a:latin typeface="Calibri"/>
              </a:rPr>
              <a:t>~$1.51M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" y="2588666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+ Exos stock (EAI units, Rule 504, 409A)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74719" y="2588666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BB44"/>
                </a:solidFill>
                <a:latin typeface="Calibri"/>
              </a:rPr>
              <a:t>+$1,000,000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2748686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+ Escrow release at 12 months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19" y="2748686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BB44"/>
                </a:solidFill>
                <a:latin typeface="Calibri"/>
              </a:rPr>
              <a:t>+$126,000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" y="2908706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+ Earn-outs base case (FY27–FY31)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74719" y="2908706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BB44"/>
                </a:solidFill>
                <a:latin typeface="Calibri"/>
              </a:rPr>
              <a:t>+$2,525,000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3077870"/>
            <a:ext cx="4151376" cy="1371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4320" y="3105302"/>
            <a:ext cx="31546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~5-year total to SSLC shareholders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83279" y="3105302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26A21"/>
                </a:solidFill>
                <a:latin typeface="Calibri"/>
              </a:rPr>
              <a:t>~$5.16M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45152" y="521207"/>
            <a:ext cx="4315968" cy="3511296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45152" y="521207"/>
            <a:ext cx="45720" cy="351129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0" y="576071"/>
            <a:ext cx="41513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26A21"/>
                </a:solidFill>
                <a:latin typeface="Calibri"/>
              </a:rPr>
              <a:t>What Shareholders Paid In vs. Will Receive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4880" y="813815"/>
            <a:ext cx="41513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88888"/>
                </a:solidFill>
                <a:latin typeface="Calibri"/>
              </a:rPr>
              <a:t>PAID-IN CAPITAL (per SSLC books)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0" y="996695"/>
            <a:ext cx="30632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Calibri"/>
              </a:rPr>
              <a:t>Common stock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40" y="996695"/>
            <a:ext cx="10058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Calibri"/>
              </a:rPr>
              <a:t>$1,010,423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1156716"/>
            <a:ext cx="30632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Calibri"/>
              </a:rPr>
              <a:t>Additional paid-in capital (APIC)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63840" y="1156716"/>
            <a:ext cx="10058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Calibri"/>
              </a:rPr>
              <a:t>$4,042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0" y="1335024"/>
            <a:ext cx="4151376" cy="9144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54880" y="1316736"/>
            <a:ext cx="30632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Total paid-in capital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63840" y="1316736"/>
            <a:ext cx="10058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$1,014,465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54880" y="1485900"/>
            <a:ext cx="415137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8888"/>
                </a:solidFill>
                <a:latin typeface="Calibri"/>
              </a:rPr>
              <a:t>  Exos: $790,000 for 18.06% — recognized via $790K stake credit in price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54880" y="1645920"/>
            <a:ext cx="415137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8888"/>
                </a:solidFill>
                <a:latin typeface="Calibri"/>
              </a:rPr>
              <a:t>  All other holders: ~$224,000 combined for 81.94%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54880" y="1805940"/>
            <a:ext cx="41513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7755"/>
                </a:solidFill>
                <a:latin typeface="Calibri"/>
              </a:rPr>
              <a:t>Invested largely 25+ yrs ago (per John Quinn; to be confirmed via stock ledger). Exos: 2021–2024.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2080260"/>
            <a:ext cx="41513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88888"/>
                </a:solidFill>
                <a:latin typeface="Calibri"/>
              </a:rPr>
              <a:t>PROJECTED RETURN  (OTHER HOLDERS, 81.94%)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54880" y="2263140"/>
            <a:ext cx="30632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Cash + stock at close (est.)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63840" y="2263140"/>
            <a:ext cx="10058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BB44"/>
                </a:solidFill>
                <a:latin typeface="Calibri"/>
              </a:rPr>
              <a:t>~$2.5M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54880" y="2423160"/>
            <a:ext cx="30632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Total over 5 years incl. earn-outs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63840" y="2423160"/>
            <a:ext cx="10058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BB44"/>
                </a:solidFill>
                <a:latin typeface="Calibri"/>
              </a:rPr>
              <a:t>~$5.2M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54880" y="2601468"/>
            <a:ext cx="4151376" cy="9144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54880" y="2619756"/>
            <a:ext cx="306324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Implied return on invested capital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2619756"/>
            <a:ext cx="146304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CC44"/>
                </a:solidFill>
                <a:latin typeface="Calibri"/>
              </a:rPr>
              <a:t>11× at close / 23× over 5 yrs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54880" y="3172968"/>
            <a:ext cx="4151376" cy="224028"/>
          </a:xfrm>
          <a:prstGeom prst="rect">
            <a:avLst/>
          </a:prstGeom>
          <a:solidFill>
            <a:srgbClr val="221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64592" y="4059936"/>
            <a:ext cx="8814816" cy="1371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64592" y="4078224"/>
            <a:ext cx="8814816" cy="713232"/>
          </a:xfrm>
          <a:prstGeom prst="rect">
            <a:avLst/>
          </a:prstGeom>
          <a:solidFill>
            <a:srgbClr val="1A0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4320" y="4110228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26A21"/>
                </a:solidFill>
                <a:latin typeface="Calibri"/>
              </a:rPr>
              <a:t>Why We Need the Stock Ledger (Motion 2)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74320" y="4302252"/>
            <a:ext cx="8503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• Books show $1,014,465 total paid-in; the stock ledger allocates it by shareholder.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74320" y="4489704"/>
            <a:ext cx="8503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• Ledger confirms cap structure: which shares were issued for cash vs. debt conversion.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2880" y="4809744"/>
            <a:ext cx="8778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8888"/>
                </a:solidFill>
                <a:latin typeface="Calibri"/>
              </a:rPr>
              <a:t>Projection based on SSLC books 10/11/2026 + Exos offer terms. Low/high: net cash $1.28M–$1.74M; 5-yr $3.4M–$7.0M. Not a guarantee.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554480" y="4956048"/>
            <a:ext cx="60350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888888"/>
                </a:solidFill>
                <a:latin typeface="Calibri"/>
              </a:rPr>
              <a:t>DRAFT — NEGOTIATING TERMS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772400" y="4956048"/>
            <a:ext cx="1143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888888"/>
                </a:solidFill>
                <a:latin typeface="Calibri"/>
              </a:rPr>
              <a:t>CONFIDENTIAL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645152" y="2834640"/>
            <a:ext cx="4315968" cy="210312"/>
          </a:xfrm>
          <a:prstGeom prst="rect">
            <a:avLst/>
          </a:prstGeom>
          <a:solidFill>
            <a:srgbClr val="FF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718304" y="2852928"/>
            <a:ext cx="4169663" cy="173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111111"/>
                </a:solidFill>
                <a:latin typeface="Calibri"/>
              </a:rPr>
              <a:t>⚠  NOT YET CREDITED TO SSLC HOLDERS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645152" y="3044952"/>
            <a:ext cx="4315968" cy="868680"/>
          </a:xfrm>
          <a:prstGeom prst="rect">
            <a:avLst/>
          </a:prstGeom>
          <a:solidFill>
            <a:srgbClr val="2A1800"/>
          </a:solidFill>
          <a:ln w="9525">
            <a:solidFill>
              <a:srgbClr val="FFC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736592" y="3099816"/>
            <a:ext cx="4133087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FEE88"/>
                </a:solidFill>
                <a:latin typeface="Calibri"/>
              </a:rPr>
              <a:t>Microcosm's 50% share of facility rent, Jul 2024–Aug 2026: ~$316K (rent only; utilities extra).</a:t>
            </a:r>
          </a:p>
          <a:p>
            <a:r>
              <a:rPr sz="1000" b="0">
                <a:solidFill>
                  <a:srgbClr val="CCCCCC"/>
                </a:solidFill>
                <a:latin typeface="Calibri"/>
              </a:rPr>
              <a:t>Not credited against the $451K 'Due to Microcosm' balance. Microcosm still occupies the building.</a:t>
            </a:r>
          </a:p>
          <a:p>
            <a:r>
              <a:rPr sz="1000" b="0">
                <a:solidFill>
                  <a:srgbClr val="CCCCCC"/>
                </a:solidFill>
                <a:latin typeface="Calibri"/>
              </a:rPr>
              <a:t>If applied: reduces SSLC's Microcosm debt by ~$316K → more cash distributable at close.</a:t>
            </a:r>
          </a:p>
          <a:p>
            <a:r>
              <a:rPr sz="1000" b="1">
                <a:solidFill>
                  <a:srgbClr val="FFEE88"/>
                </a:solidFill>
                <a:latin typeface="Calibri"/>
              </a:rPr>
              <a:t>Base case net cash: ~$1.51M → ~$1.82M if rent offset recognized before close.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64008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Board Motions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457200"/>
            <a:ext cx="1371600" cy="32004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512064"/>
            <a:ext cx="8778240" cy="89611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512064"/>
            <a:ext cx="50292" cy="89611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512064"/>
            <a:ext cx="8778240" cy="2331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512064"/>
            <a:ext cx="50292" cy="2331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176" y="534924"/>
            <a:ext cx="41148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26A21"/>
                </a:solidFill>
                <a:latin typeface="Cambr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8640"/>
            <a:ext cx="6629400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26A21"/>
                </a:solidFill>
                <a:latin typeface="Calibri"/>
              </a:rPr>
              <a:t>Approve Exos's Offer, Confirm §3 Exclusivity and Grant a ROFR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367" y="53035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7" y="67665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781812"/>
            <a:ext cx="6629400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CCCCC"/>
                </a:solidFill>
                <a:latin typeface="Calibri"/>
              </a:rPr>
              <a:t>The Board approves the Exos offer (Option B terms), confirms Exos's 90-day §3 exclusivity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under the May 2025 Asset Acquisition Agreement, and grants Exos a right of first refusal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on any sale of SSLC's assets or a controlling interest.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ROFR term: 6 months from approval; auto-extends while a definitive APA is under negotiation.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Extension not unreasonably withheld.   Target financing close: February 15, 2027.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1444752"/>
            <a:ext cx="8778240" cy="98755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" y="1444752"/>
            <a:ext cx="50292" cy="98755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2880" y="1444752"/>
            <a:ext cx="8778240" cy="2331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2880" y="1444752"/>
            <a:ext cx="50292" cy="2331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5176" y="1719072"/>
            <a:ext cx="41148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26A21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1732788"/>
            <a:ext cx="6629400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Grant Full Read-Only QuickBooks Online Access for Diligence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16367" y="171450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16367" y="186080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1965960"/>
            <a:ext cx="6629400" cy="534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CCCCC"/>
                </a:solidFill>
                <a:latin typeface="Calibri"/>
              </a:rPr>
              <a:t>Authorize all-access QB Online for John Quinn + one Exos finance reviewer.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Provide: stock ledger, cap table, subscription agreements, paid-in capital by shareholder.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Deadline: Oct 15, 2026.   §1602 inspection right + AAA §4.   NDA 7/27/2021.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468880"/>
            <a:ext cx="8778240" cy="117043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82880" y="2468880"/>
            <a:ext cx="50292" cy="117043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2880" y="2468880"/>
            <a:ext cx="8778240" cy="2331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2880" y="2468880"/>
            <a:ext cx="50292" cy="2331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5176" y="2546603"/>
            <a:ext cx="41148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26A21"/>
                </a:solidFill>
                <a:latin typeface="Cambria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2560320"/>
            <a:ext cx="6629400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Correct AR Unbilled / Customer-Deposit Accounting Within 5 Days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7" y="25420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6367" y="268833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2793491"/>
            <a:ext cx="6629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CCCCC"/>
                </a:solidFill>
                <a:latin typeface="Calibri"/>
              </a:rPr>
              <a:t>Direct A La Carte Solutions + Singer Lewak / Welch &amp; Co. to reconcile within 5 days: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• Acct 1110 AR Unbilled ($942,177) and Acct 2380 Customer Deposits ($120,000).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• Clear start-billings on shipped tanks; post Jul–Sep 2026 revenue-recognition entries.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• Tank recon (IM-109/122/134, EXOS-133) + corrected balance sheet to all directors.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2880" y="3675887"/>
            <a:ext cx="8778240" cy="85039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2880" y="3675887"/>
            <a:ext cx="50292" cy="8503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82880" y="3675887"/>
            <a:ext cx="8778240" cy="2331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82880" y="3675887"/>
            <a:ext cx="50292" cy="2331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5176" y="3552444"/>
            <a:ext cx="41148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26A21"/>
                </a:solidFill>
                <a:latin typeface="Cambria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3566160"/>
            <a:ext cx="6629400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Consent to ERP/MRP &amp; Inventory Evaluation (Separate Motion)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7" y="354787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16367" y="369417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3799332"/>
            <a:ext cx="662940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CCCCC"/>
                </a:solidFill>
                <a:latin typeface="Calibri"/>
              </a:rPr>
              <a:t>Authorize Exos to use the QB data to evaluate compatible ERP/MRP and inventory systems.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Evaluation only; no implementation obligation.   Confidential under the NDA.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2880" y="4553712"/>
            <a:ext cx="8778240" cy="182880"/>
          </a:xfrm>
          <a:prstGeom prst="rect">
            <a:avLst/>
          </a:prstGeom>
          <a:solidFill>
            <a:srgbClr val="1A0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2608" y="4192524"/>
            <a:ext cx="854964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26A21"/>
                </a:solidFill>
                <a:latin typeface="Calibri"/>
              </a:rPr>
              <a:t>Governance: John Quinn abstains on all motions as an interested director; motions are decided by the disinterested directors.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54480" y="4892040"/>
            <a:ext cx="6035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888888"/>
                </a:solidFill>
                <a:latin typeface="Calibri"/>
              </a:rPr>
              <a:t>DRAFT — NEGOTIATING TERMS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4892040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888888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xomac/.openclaw/workspace/drafts/_exos_hero_bg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to Close</a:t>
            </a:r>
            <a:endParaRPr lang="en-US" sz="2200" dirty="0"/>
          </a:p>
        </p:txBody>
      </p:sp>
      <p:sp>
        <p:nvSpPr>
          <p:cNvPr id="4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5" name="Shape 2"/>
          <p:cNvSpPr/>
          <p:nvPr/>
        </p:nvSpPr>
        <p:spPr>
          <a:xfrm>
            <a:off x="1024128" y="1426464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548640" y="914400"/>
            <a:ext cx="512064" cy="512064"/>
          </a:xfrm>
          <a:prstGeom prst="ellipse">
            <a:avLst/>
          </a:prstGeom>
          <a:solidFill>
            <a:srgbClr val="F26A21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48640" y="978408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93268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Board Votes — Four Motions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1197864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Today — action requested at this meeting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24128" y="2121408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548640" y="1609344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48640" y="1673352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234440" y="162763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90-Day Exclusivity Window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234440" y="1892808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Negotiation and diligence period begins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24128" y="2816352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548640" y="2304288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548640" y="2368296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234440" y="2322576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Definitive Agreement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2587752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Key terms, employee pool, earn-out detail finalized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24128" y="3511296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548640" y="2999232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 txBox="1"/>
          <p:nvPr/>
        </p:nvSpPr>
        <p:spPr>
          <a:xfrm>
            <a:off x="548640" y="3063240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30175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Financing Close — target Feb 15th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234440" y="3282696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Cash at close + EAI units issued; ① + stock = ②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3694176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6" name="Text 23"/>
          <p:cNvSpPr txBox="1"/>
          <p:nvPr/>
        </p:nvSpPr>
        <p:spPr>
          <a:xfrm>
            <a:off x="548640" y="3758184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5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1234440" y="3712464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Targeted RTO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234440" y="3977640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~6 months post-financing; units tradeable at listing (not assured)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365760" y="4407408"/>
            <a:ext cx="8412480" cy="402336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30" name="Text 27"/>
          <p:cNvSpPr txBox="1"/>
          <p:nvPr/>
        </p:nvSpPr>
        <p:spPr>
          <a:xfrm>
            <a:off x="502920" y="4443984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The Board is asked today to vote on Motions 1–4: approving the Exos offer and granting exclusivity + ROFR (Motion 1), QB access (Motion 2), accounting correction (Motion 3), and ERP evaluation (Motion 4). Declining Motion 1 is a judgment that SSLC alone — without new capital — is more likely to create more than the $18.9M maximum this offer projects (if Exos stock held to 2031). Not a guarantee; "projects" is the operative word.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xos Aerospace">
  <a:themeElements>
    <a:clrScheme name="Exos Aerospace">
      <a:dk1>
        <a:srgbClr val="111111"/>
      </a:dk1>
      <a:lt1>
        <a:srgbClr val="FFFFFF"/>
      </a:lt1>
      <a:dk2>
        <a:srgbClr val="1A1A1A"/>
      </a:dk2>
      <a:lt2>
        <a:srgbClr val="F5F5F5"/>
      </a:lt2>
      <a:accent1>
        <a:srgbClr val="F26A21"/>
      </a:accent1>
      <a:accent2>
        <a:srgbClr val="888888"/>
      </a:accent2>
      <a:accent3>
        <a:srgbClr val="2ECC71"/>
      </a:accent3>
      <a:accent4>
        <a:srgbClr val="C0392B"/>
      </a:accent4>
      <a:accent5>
        <a:srgbClr val="555555"/>
      </a:accent5>
      <a:accent6>
        <a:srgbClr val="333333"/>
      </a:accent6>
      <a:hlink>
        <a:srgbClr val="F26A21"/>
      </a:hlink>
      <a:folHlink>
        <a:srgbClr val="AAAAAA"/>
      </a:folHlink>
    </a:clrScheme>
    <a:fontScheme name="Exos Aerospa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2026-10-10T23:08:01Z</dcterms:created>
  <dcterms:modified xsi:type="dcterms:W3CDTF">2026-10-10T23:08:01Z</dcterms:modified>
</cp:coreProperties>
</file>