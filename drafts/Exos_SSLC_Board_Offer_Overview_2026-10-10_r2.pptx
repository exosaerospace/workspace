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actions requested of the SSLC board at this meeting:</a:t>
            </a:r>
            <a:br/>
            <a:r>
              <a:t>  Motion 1: Confirm §3 exclusivity under the May 2025 Asset Acquisition Agreement. 90-day period begins on approval.</a:t>
            </a:r>
            <a:br/>
            <a:r>
              <a:t>  Motion 2: Grant full read-only QuickBooks Online access to John Quinn and Exos's finance reviewer to reconcile the $864K 'billed-ahead' balance and shared-facility costs. Basis: Cal. Corp. Code §1602 inspection right + AAA confirmatory diligence. Confidential under the 7/27/2021 NDA.</a:t>
            </a:r>
            <a:br/>
            <a:r>
              <a:t>  Motion 3: Consent to Exos using the same QB data to evaluate its in-house ERP/MRP and inventory systems for the combined operation. Confidential under the NDA.</a:t>
            </a:r>
            <a:br/>
            <a:r>
              <a:t>Governance: John Quinn abstains on all motions as an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SSLC QuickBooks Balance Sheet 10/11/2026 (data-room/SSLC/qb-2026-10-11/SSLC_Balance_Sheet.xlsx).</a:t>
            </a:r>
            <a:br/>
            <a:r>
              <a:t>Cash $590,344 — almost entirely from one IM payment $421,421 on 10/7 for invoices 109-86/87/88 booked 9/25–9/30.</a:t>
            </a:r>
            <a:br/>
            <a:r>
              <a:t>$713K last quarter from offer summary (unchanged).</a:t>
            </a:r>
            <a:br/>
            <a:r>
              <a:t>$5.1M M1 milestone requires ~2× quarterly pace starting Oct 1st.</a:t>
            </a:r>
            <a:br/>
            <a:r>
              <a:t>$1.03M loans &amp; notes (unchanged by lender); equity −$1,443,882.</a:t>
            </a:r>
            <a:br/>
            <a:r>
              <a:t>Physical-space and single-winder constraints are SSLC's own reported challenges.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actions needed today: (1) confirm §3 exclusivity — starts the 90-day window; (2) grant full read-only QB access for reconciliation of the $864K balance and facility costs; (3) consent to ERP/inventory evaluation using the same data. All confidential under the 7/27/2021 NDA. Once Motion 1 is confirmed, the 90-day exclusivity period begins.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SSLC QB Balance Sheet 10/11/2026 (data-room/SSLC/qb-2026-10-11/SSLC_Balance_Sheet.xlsx).</a:t>
            </a:r>
            <a:br/>
            <a:r>
              <a:t>Cash $590,344; AR Unbilled (billed-ahead) −$942,177; deposits $120,000.</a:t>
            </a:r>
            <a:br/>
            <a:r>
              <a:t>Loans &amp; notes $1,027,783 unchanged by lender.</a:t>
            </a:r>
            <a:br/>
            <a:r>
              <a:t>Total liabilities $1,296,521.</a:t>
            </a:r>
            <a:br/>
            <a:r>
              <a:t>Paid-in capital $1,014,465 (unchanged).</a:t>
            </a:r>
            <a:br/>
            <a:r>
              <a:t>Retained earnings −$2,571,013; FY27 YTD net income +$112,666.</a:t>
            </a:r>
            <a:br/>
            <a:r>
              <a:t>Total equity −$1,443,882 (10/11/2026).</a:t>
            </a:r>
            <a:br/>
            <a:r>
              <a:t>Exos loan $31,200 principal; ~$38,158 with 11% interest at 10/2. Board DENIED license; loan STANDS.</a:t>
            </a:r>
            <a:br/>
            <a:r>
              <a:t>Billed-ahead $942,177: Exos assessment is overstated; 40% start-billings not cleared at shipment; est. ~$100–200K genuinely in progress.</a:t>
            </a:r>
            <a:br/>
            <a:r>
              <a:t>Facility ~$805K since Jan 2024: rent $725K + other; doubled to ~$23.6K/mo Jul 2024. Paid via Microcosm invoices through Dec 2025, then directly to landlords. Never charged back to Microcosm on SSLC's books; Microcosm receivable = $3,529; loan to Microcosm = $0.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separate motions for the SSLC Board:</a:t>
            </a:r>
            <a:br/>
            <a:br/>
            <a:r>
              <a:t>Motion 1: §3 exclusivity confirmation under May 2025 Asset Acquisition Agreement. 90-day period begins on board approval; extension not unreasonably withheld. This is the gate for diligence, definitive agreement, and financing close.</a:t>
            </a:r>
            <a:br/>
            <a:br/>
            <a:r>
              <a:t>Motion 2: Full read-only QB Online access — accountant or all-access user — for John Quinn and one Exos finance reviewer. Legal basis: Cal. Corp. Code §1602 (director inspection right) + AAA §4 confirmatory diligence. Confidential under the 7/27/2021 NDA. Purpose: reconcile the $864K 'billed-ahead' balance (FY27 Q1 QB) and verify the shared Microcosm facility-cost offset before close.</a:t>
            </a:r>
            <a:br/>
            <a:br/>
            <a:r>
              <a:t>Motion 3 (separate): Consent to Exos using the same QB data to evaluate its ERP/MRP and inventory systems for the combined operation. Evaluation only — no obligation to implement. Confidential under the NDA.</a:t>
            </a:r>
            <a:br/>
            <a:br/>
            <a:r>
              <a:t>Governance: John Quinn is an interested director (Exos is the offeror and Quinn holds an Exos loan to SSLC). He abstains on all three motions; each is decided by the disinterested directors.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three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§3 exclusivity — 90-day window begins on board approval (May 2025 AAA)
</a:t>
            </a:r>
            <a:pPr indent="0" marL="0">
              <a:buNone/>
            </a:pPr>
            <a:r>
              <a:rPr lang="en-US" sz="14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400" b="1" dirty="0">
                <a:solidFill>
                  <a:srgbClr val="F26A21"/>
                </a:solidFill>
              </a:rPr>
              <a:t>Motion 3: </a:t>
            </a:r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$590K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at 10/11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One IM payment 10/7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$590K cash at 10/11 came largely from one Intuitive Machines payment on 10/7 for start-billed tanks; a $5.1M year still requires ~2× last quarter's pace starting now. With $1.03M of debt, equity of −$1.44M, and physical-space and single-winder constraints, Exos's offer removes the funding risk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SSLC OWES  (10/11/2026)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FY27 YTD net income (10/11)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4BB44"/>
                </a:solidFill>
                <a:latin typeface="Calibri"/>
              </a:rPr>
              <a:t>+$112,666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 loan (11%; stands)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$31,200 (~$38K+int)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liabilities (10/11)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$1,296,521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" y="3643884"/>
            <a:ext cx="8924544" cy="749808"/>
          </a:xfrm>
          <a:prstGeom prst="rect">
            <a:avLst/>
          </a:prstGeom>
          <a:solidFill>
            <a:srgbClr val="1E1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" y="3643884"/>
            <a:ext cx="50292" cy="74980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" y="3680459"/>
            <a:ext cx="8686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26A21"/>
                </a:solidFill>
                <a:latin typeface="Calibri"/>
              </a:rPr>
              <a:t>OPEN ITEMS  (Exos assessment pending reconciliation via Motion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" y="38907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"Billed-ahead" balance: $942,177 booked as of 10/11. Exos's assessment: overstated — SSLC bills IM ~40% at tank start; those start-billings appear not cleared at shipment. Est. ~$100–200K genuinely in progress. Reconciliation requested via Motion 2.  |  Facility costs since Jan 2024: ~$805K (rent $725K + other; doubled to ~$23.6K/mo Jul 2024). Never charged back to Microcosm on SSLC's books.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" y="4416552"/>
            <a:ext cx="8229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888888"/>
                </a:solidFill>
                <a:latin typeface="Calibri"/>
              </a:rPr>
              <a:t>per SSLC QuickBooks 10/11/2026; Exos billed-ahead assessment pending reconciliation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679191"/>
            <a:ext cx="2459736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9456" y="2697479"/>
            <a:ext cx="2514600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CCCCCC"/>
                </a:solidFill>
                <a:latin typeface="Calibri"/>
              </a:rPr>
              <a:t>Total equity (10/11/2026)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52344" y="2697479"/>
            <a:ext cx="148132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FF6666"/>
                </a:solidFill>
                <a:latin typeface="Calibri"/>
              </a:rPr>
              <a:t>−$1,443,882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pic>
        <p:nvPicPr>
          <p:cNvPr id="37" name="Image 0" descr="/Users/exomac/.openclaw/workspace/drafts/SSLC_OptionB_Total_Compensation_5yr_2026-10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606040"/>
            <a:ext cx="8503920" cy="219456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888"/>
                </a:solidFill>
              </a:rPr>
              <a:t>④ is a forward-looking projection, not a guarantee; an alternative to ③ — not added to it. RTO may not close.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One decision today: confirm §3 exclusivity  →  90 days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657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30352"/>
            <a:ext cx="8778240" cy="126187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30352"/>
            <a:ext cx="50292" cy="12618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03503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2647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Confirm §3 Exclusivity (May 2025 Asset Acquisition Agreement)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14400"/>
            <a:ext cx="6217920" cy="786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CCCCCC"/>
                </a:solidFill>
                <a:latin typeface="Calibri"/>
              </a:rPr>
              <a:t>Approve a 90-day exclusivity period beginning on the date of this approval.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Extension not unreasonably withheld (per §3). Allows both parties to proceed to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diligence, definitive agreement, and financing close (target: Feb 15th, 2027).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59" y="71323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59" y="96926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847088"/>
            <a:ext cx="8778240" cy="126187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" y="1847088"/>
            <a:ext cx="50292" cy="12618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1929384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231136"/>
            <a:ext cx="6217920" cy="786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CCCCCC"/>
                </a:solidFill>
                <a:latin typeface="Calibri"/>
              </a:rPr>
              <a:t>Authorize an all-access or accountant user for John Quinn and one Exos finance reviewer.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Purpose: reconcile the $942K "billed-ahead" balance and shared-facility costs (Microcosm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offset) before close.  Basis: Cal. Corp. Code §1602 director inspection right + AAA §4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confirmatory diligence.  Confidential under the 7/27/2021 NDA.</a:t>
            </a:r>
          </a:p>
          <a:p>
            <a:r>
              <a:rPr lang="en-US" sz="800" b="1" dirty="0">
                <a:solidFill>
                  <a:srgbClr val="F26A21"/>
                </a:solidFill>
                <a:latin typeface="Calibri"/>
              </a:rPr>
              <a:t>Access to be granted no later than October 15, 2026.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59" y="2029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59" y="22860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163824"/>
            <a:ext cx="877824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163824"/>
            <a:ext cx="50292" cy="1097280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32369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324612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547872"/>
            <a:ext cx="6217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CCCCCC"/>
                </a:solidFill>
                <a:latin typeface="Calibri"/>
              </a:rPr>
              <a:t>Authorize Exos to use the same QB data to evaluate its in-house ERP/MRP and inventory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systems for the combined operation.  Confidential under the NDA.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Does not create any obligation to implement; evaluation only.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59" y="33467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59" y="36027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4325112"/>
            <a:ext cx="8778240" cy="201168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4352544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Three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The Board is asked to vote on Motions 1–3. Questions and open items welcome.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