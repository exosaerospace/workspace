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draft offer overview for the SSLC board. All figures are from the Option B Offer Summary (2026-10-07). The offer is subject to negotiation and board acceptance. Not a final or binding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sole action requested of the SSLC board at this meeting is confirmation of the §3 exclusivity provision in the existing May 2025 Asset Acquisition Agreement. Once exclusivity is confirmed, both parties have 90 days to negotiate and execute the definitive agreement and advance to financing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SSLC's own numbers, presented factually and respectfully. The $198K cash figure is from the email draft. The $713K last quarter is from the offer summary. The $5.1M milestone (M1) requires nearly double that quarterly pace starting immediately — this is the context for why the Exos offer provides meaningful value through financing close and earn-out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scenarios (Low/Base/High) have identical at-close values: ① $4.36M, ② $5.36M with stock. The $4.36M breaks down as: $2.51M cash + $60K transaction costs + $790K stake credit (non-cash) + ~$500K SSLC debts at face + $500K WC bridge. The $1.0M EAI units are issued at financing close, not at board acceptance, and count toward the Rule 504 $10M rolling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Tank earn-out: 5 years, 3%/5%/7% of IM revenue (Low/Base/High), $300K/yr cap. M1 pays FY28 Q1 if verified. M2 pays at contract execution any year FY27-30. M3 pays first year threshold hit (est. FY29 at base/high). M4 pays first year threshold hit (est. FY31 at high). M5 pays at Exos BLK3 tank certification (est. FY27-28). Stock earn-out: 0.0%/0.25%/0.50% additional FD equity at RTO, with the same lockup as Exos principals. Each milestone is independently verifiable; none pays unless the trigger is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③ 5-yr total is ② ($5.36M) + earn-outs. Low = $6.31M / Base = $7.885M (shown as $7.9M) / High = $9.46M (shown as $9.5M). These are rounded for board presentation. ④ TOTAL IF STOCK HELD TO 2031: Low $12.0M / Base $15.8M / High $19.4M — this replaces and is not additive to ③. It assumes RTO completion, ~30% dilution, and management-projected valuations. Forward-looking statements subject to SEC Rule 10b-5. The chart shows the year-by-year compensation build from close through FY31.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$1.0M EAI units are issued at financing close (not at board acceptance). At the 409A valuation of ~$169.7M, this represents ~0.59% fully diluted. Earn-out stock (0.0%/0.25%/0.50% additional) issued post-RTO brings total equity to ~0.59%–1.09%. The Japan round EAI units are Reg S and must remain separate from the Rule 504 domestic offering. See model EAI Lockup &amp; Liquidity sheet for full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language is verbatim from the offer email (Exos_SSLC_Offer_Briefing_Email_DRAFT_2026-10-09.docx) and the Key Terms section of the offer summary PDF. The exact terms — option pool size, vesting schedule — will be negotiated in the Definitive Agreement. IM program continuity: Exos-SSLC continues the Intuitive Machines contract with no delivery interruption.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action needed today is board confirmation of §3 exclusivity in the May 2025 Asset Acquisition Agreement. Once confirmed, the 90-day exclusivity period begins and both teams can proceed to diligence and the definitive agreement. The financing close triggers ② ($5.36M). The RTO is targeted ~6 months post-financing close but is not assured. All earn-out and milestone payments are independent and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Users/exomac/.openclaw/workspace/drafts/_exos_hero_bg.png">    </p:cNvPr>
          <p:cNvPicPr>
            <a:picLocks noChangeAspect="1"/>
          </p:cNvPicPr>
          <p:nvPr/>
        </p:nvPicPr>
        <p:blipFill>
          <a:blip r:embed="rId1">
            <a:alphaModFix amt="70000"/>
          </a:blip>
          <a:stretch>
            <a:fillRect/>
          </a:stretch>
        </p:blipFill>
        <p:spPr>
          <a:xfrm>
            <a:off x="0" y="0"/>
            <a:ext cx="9144000" cy="5143500"/>
          </a:xfrm>
          <a:prstGeom prst="rect">
            <a:avLst/>
          </a:prstGeom>
        </p:spPr>
      </p:pic>
      <p:sp>
        <p:nvSpPr>
          <p:cNvPr id="3" name="Shape 0"/>
          <p:cNvSpPr/>
          <p:nvPr/>
        </p:nvSpPr>
        <p:spPr>
          <a:xfrm>
            <a:off x="0" y="0"/>
            <a:ext cx="9144000" cy="54864"/>
          </a:xfrm>
          <a:prstGeom prst="rect">
            <a:avLst/>
          </a:prstGeom>
          <a:solidFill>
            <a:srgbClr val="F26A21"/>
          </a:solidFill>
          <a:ln/>
        </p:spPr>
      </p:sp>
      <p:sp>
        <p:nvSpPr>
          <p:cNvPr id="4" name="Text 1"/>
          <p:cNvSpPr txBox="1"/>
          <p:nvPr/>
        </p:nvSpPr>
        <p:spPr>
          <a:xfrm>
            <a:off x="548640" y="502920"/>
            <a:ext cx="8046720" cy="18288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EXOS OFFER TO</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SCORPIUS SPACE LAUNCH COMPANY</a:t>
            </a:r>
            <a:endParaRPr lang="en-US" sz="3800" dirty="0"/>
          </a:p>
        </p:txBody>
      </p:sp>
      <p:sp>
        <p:nvSpPr>
          <p:cNvPr id="5" name="Text 2"/>
          <p:cNvSpPr txBox="1"/>
          <p:nvPr/>
        </p:nvSpPr>
        <p:spPr>
          <a:xfrm>
            <a:off x="548640" y="2240280"/>
            <a:ext cx="8046720" cy="502920"/>
          </a:xfrm>
          <a:prstGeom prst="rect">
            <a:avLst/>
          </a:prstGeom>
          <a:noFill/>
          <a:ln/>
        </p:spPr>
        <p:txBody>
          <a:bodyPr wrap="square" rtlCol="0" anchor="ctr"/>
          <a:lstStyle/>
          <a:p>
            <a:pPr algn="ctr" indent="0" marL="0">
              <a:buNone/>
            </a:pPr>
            <a:r>
              <a:rPr lang="en-US" sz="2200" dirty="0">
                <a:solidFill>
                  <a:srgbClr val="F26A21"/>
                </a:solidFill>
                <a:latin typeface="Calibri" pitchFamily="34" charset="0"/>
                <a:ea typeface="Calibri" pitchFamily="34" charset="-122"/>
                <a:cs typeface="Calibri" pitchFamily="34" charset="-120"/>
              </a:rPr>
              <a:t>Board Overview</a:t>
            </a:r>
            <a:endParaRPr lang="en-US" sz="2200" dirty="0"/>
          </a:p>
        </p:txBody>
      </p:sp>
      <p:sp>
        <p:nvSpPr>
          <p:cNvPr id="6" name="Shape 3"/>
          <p:cNvSpPr/>
          <p:nvPr/>
        </p:nvSpPr>
        <p:spPr>
          <a:xfrm>
            <a:off x="3200400" y="2834640"/>
            <a:ext cx="2743200" cy="36576"/>
          </a:xfrm>
          <a:prstGeom prst="rect">
            <a:avLst/>
          </a:prstGeom>
          <a:solidFill>
            <a:srgbClr val="F26A21"/>
          </a:solidFill>
          <a:ln/>
        </p:spPr>
      </p:sp>
      <p:sp>
        <p:nvSpPr>
          <p:cNvPr id="7" name="Text 4"/>
          <p:cNvSpPr txBox="1"/>
          <p:nvPr/>
        </p:nvSpPr>
        <p:spPr>
          <a:xfrm>
            <a:off x="548640" y="2971800"/>
            <a:ext cx="8046720" cy="347472"/>
          </a:xfrm>
          <a:prstGeom prst="rect">
            <a:avLst/>
          </a:prstGeom>
          <a:noFill/>
          <a:ln/>
        </p:spPr>
        <p:txBody>
          <a:bodyPr wrap="square" rtlCol="0" anchor="ctr"/>
          <a:lstStyle/>
          <a:p>
            <a:pPr algn="ctr" indent="0" marL="0">
              <a:buNone/>
            </a:pPr>
            <a:r>
              <a:rPr lang="en-US" sz="1400" dirty="0">
                <a:solidFill>
                  <a:srgbClr val="CCCCCC"/>
                </a:solidFill>
              </a:rPr>
              <a:t>John M. Quinn  |  Cofounder &amp; CEO, Exos Aerospace</a:t>
            </a:r>
            <a:endParaRPr lang="en-US" sz="1400" dirty="0"/>
          </a:p>
        </p:txBody>
      </p:sp>
      <p:sp>
        <p:nvSpPr>
          <p:cNvPr id="8" name="Text 5"/>
          <p:cNvSpPr txBox="1"/>
          <p:nvPr/>
        </p:nvSpPr>
        <p:spPr>
          <a:xfrm>
            <a:off x="548640" y="3310128"/>
            <a:ext cx="8046720" cy="274320"/>
          </a:xfrm>
          <a:prstGeom prst="rect">
            <a:avLst/>
          </a:prstGeom>
          <a:noFill/>
          <a:ln/>
        </p:spPr>
        <p:txBody>
          <a:bodyPr wrap="square" rtlCol="0" anchor="ctr"/>
          <a:lstStyle/>
          <a:p>
            <a:pPr algn="ctr" indent="0" marL="0">
              <a:buNone/>
            </a:pPr>
            <a:r>
              <a:rPr lang="en-US" sz="1300" dirty="0">
                <a:solidFill>
                  <a:srgbClr val="888888"/>
                </a:solidFill>
              </a:rPr>
              <a:t>October 10, 2026</a:t>
            </a:r>
            <a:endParaRPr lang="en-US" sz="1300" dirty="0"/>
          </a:p>
        </p:txBody>
      </p:sp>
      <p:sp>
        <p:nvSpPr>
          <p:cNvPr id="9" name="Text 6"/>
          <p:cNvSpPr txBox="1"/>
          <p:nvPr/>
        </p:nvSpPr>
        <p:spPr>
          <a:xfrm>
            <a:off x="548640" y="3703320"/>
            <a:ext cx="8046720" cy="256032"/>
          </a:xfrm>
          <a:prstGeom prst="rect">
            <a:avLst/>
          </a:prstGeom>
          <a:noFill/>
          <a:ln/>
        </p:spPr>
        <p:txBody>
          <a:bodyPr wrap="square" rtlCol="0" anchor="ctr"/>
          <a:lstStyle/>
          <a:p>
            <a:pPr algn="ctr" indent="0" marL="0">
              <a:buNone/>
            </a:pPr>
            <a:r>
              <a:rPr lang="en-US" sz="1000" i="1" dirty="0">
                <a:solidFill>
                  <a:srgbClr val="F26A21"/>
                </a:solidFill>
              </a:rPr>
              <a:t>CONFIDENTIAL — DRAFT — NEGOTIATING TERMS</a:t>
            </a:r>
            <a:endParaRPr lang="en-US" sz="1000" dirty="0"/>
          </a:p>
        </p:txBody>
      </p:sp>
      <p:pic>
        <p:nvPicPr>
          <p:cNvPr id="10" name="Image 1" descr="/Users/exomac/.openclaw/workspace/drafts/_exos_white_official.png">    </p:cNvPr>
          <p:cNvPicPr>
            <a:picLocks noChangeAspect="1"/>
          </p:cNvPicPr>
          <p:nvPr/>
        </p:nvPicPr>
        <p:blipFill>
          <a:blip r:embed="rId2"/>
          <a:stretch>
            <a:fillRect/>
          </a:stretch>
        </p:blipFill>
        <p:spPr>
          <a:xfrm>
            <a:off x="3749040" y="4206240"/>
            <a:ext cx="1645920"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02920"/>
          </a:xfrm>
          <a:prstGeom prst="rect">
            <a:avLst/>
          </a:prstGeom>
          <a:noFill/>
          <a:ln/>
        </p:spPr>
        <p:txBody>
          <a:bodyPr wrap="square" rtlCol="0" anchor="ctr"/>
          <a:lstStyle/>
          <a:p>
            <a:pPr indent="0" marL="0">
              <a:buNone/>
            </a:pPr>
            <a:r>
              <a:rPr lang="en-US" sz="1300" b="1" dirty="0">
                <a:solidFill>
                  <a:srgbClr val="F26A21"/>
                </a:solidFill>
                <a:latin typeface="Calibri" pitchFamily="34" charset="0"/>
                <a:ea typeface="Calibri" pitchFamily="34" charset="-122"/>
                <a:cs typeface="Calibri" pitchFamily="34" charset="-120"/>
              </a:rPr>
              <a:t>The Decision</a:t>
            </a:r>
            <a:endParaRPr lang="en-US" sz="1300" dirty="0"/>
          </a:p>
        </p:txBody>
      </p:sp>
      <p:sp>
        <p:nvSpPr>
          <p:cNvPr id="3" name="Text 1"/>
          <p:cNvSpPr txBox="1"/>
          <p:nvPr/>
        </p:nvSpPr>
        <p:spPr>
          <a:xfrm>
            <a:off x="457200" y="960120"/>
            <a:ext cx="8229600" cy="16459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The Board is asked to confirm §3 exclusivity under the May 2025 Asset Acquisition Agreement.</a:t>
            </a:r>
            <a:endParaRPr lang="en-US" sz="3400" dirty="0"/>
          </a:p>
        </p:txBody>
      </p:sp>
      <p:sp>
        <p:nvSpPr>
          <p:cNvPr id="4" name="Shape 2"/>
          <p:cNvSpPr/>
          <p:nvPr/>
        </p:nvSpPr>
        <p:spPr>
          <a:xfrm>
            <a:off x="457200" y="2834640"/>
            <a:ext cx="8229600" cy="1645920"/>
          </a:xfrm>
          <a:prstGeom prst="rect">
            <a:avLst/>
          </a:prstGeom>
          <a:solidFill>
            <a:srgbClr val="1E1E1E"/>
          </a:solidFill>
          <a:ln w="12700">
            <a:solidFill>
              <a:srgbClr val="333333"/>
            </a:solidFill>
            <a:prstDash val="solid"/>
          </a:ln>
        </p:spPr>
      </p:sp>
      <p:sp>
        <p:nvSpPr>
          <p:cNvPr id="5" name="Text 3"/>
          <p:cNvSpPr txBox="1"/>
          <p:nvPr/>
        </p:nvSpPr>
        <p:spPr>
          <a:xfrm>
            <a:off x="640080" y="2926080"/>
            <a:ext cx="7863840" cy="1463040"/>
          </a:xfrm>
          <a:prstGeom prst="rect">
            <a:avLst/>
          </a:prstGeom>
          <a:noFill/>
          <a:ln/>
        </p:spPr>
        <p:txBody>
          <a:bodyPr wrap="square" rtlCol="0" anchor="t"/>
          <a:lstStyle/>
          <a:p>
            <a:pPr indent="0" marL="0">
              <a:buNone/>
            </a:pPr>
            <a:r>
              <a:rPr lang="en-US" sz="1400" b="1" dirty="0">
                <a:solidFill>
                  <a:srgbClr val="F26A21"/>
                </a:solidFill>
              </a:rPr>
              <a:t>Exclusivity period: </a:t>
            </a:r>
            <a:pPr indent="0" marL="0">
              <a:buNone/>
            </a:pPr>
            <a:r>
              <a:rPr lang="en-US" sz="1400" dirty="0">
                <a:solidFill>
                  <a:srgbClr val="CCCCCC"/>
                </a:solidFill>
              </a:rPr>
              <a:t>90 days from board confirmation; extension not unreasonably withheld (§3)
</a:t>
            </a:r>
            <a:pPr indent="0" marL="0">
              <a:buNone/>
            </a:pPr>
            <a:r>
              <a:rPr lang="en-US" sz="1400" b="1" dirty="0">
                <a:solidFill>
                  <a:srgbClr val="F26A21"/>
                </a:solidFill>
              </a:rPr>
              <a:t>Holdback: </a:t>
            </a:r>
            <a:pPr indent="0" marL="0">
              <a:buNone/>
            </a:pPr>
            <a:r>
              <a:rPr lang="en-US" sz="1400" dirty="0">
                <a:solidFill>
                  <a:srgbClr val="CCCCCC"/>
                </a:solidFill>
              </a:rPr>
              <a:t>5% escrow, released at 12-month anniversary (§7)
</a:t>
            </a:r>
            <a:pPr indent="0" marL="0">
              <a:buNone/>
            </a:pPr>
            <a:r>
              <a:rPr lang="en-US" sz="1400" b="1" dirty="0">
                <a:solidFill>
                  <a:srgbClr val="F26A21"/>
                </a:solidFill>
              </a:rPr>
              <a:t>Agreement basis: </a:t>
            </a:r>
            <a:pPr indent="0" marL="0">
              <a:buNone/>
            </a:pPr>
            <a:r>
              <a:rPr lang="en-US" sz="1400" dirty="0">
                <a:solidFill>
                  <a:srgbClr val="CCCCCC"/>
                </a:solidFill>
              </a:rPr>
              <a:t>May 2025 Asset Acquisition Agreement — §3 exclusivity trigger</a:t>
            </a:r>
            <a:endParaRPr lang="en-US" sz="1400" dirty="0"/>
          </a:p>
        </p:txBody>
      </p:sp>
      <p:pic>
        <p:nvPicPr>
          <p:cNvPr id="6"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7" name="Text 4"/>
          <p:cNvSpPr txBox="1"/>
          <p:nvPr/>
        </p:nvSpPr>
        <p:spPr>
          <a:xfrm>
            <a:off x="1554480" y="4800600"/>
            <a:ext cx="6035040" cy="228600"/>
          </a:xfrm>
          <a:prstGeom prst="rect">
            <a:avLst/>
          </a:prstGeom>
          <a:noFill/>
          <a:ln/>
        </p:spPr>
        <p:txBody>
          <a:bodyPr wrap="square" rtlCol="0" anchor="ctr"/>
          <a:lstStyle/>
          <a:p>
            <a:pPr algn="ctr" indent="0" marL="0">
              <a:buNone/>
            </a:pPr>
            <a:r>
              <a:rPr lang="en-US" sz="700" i="1" dirty="0">
                <a:solidFill>
                  <a:srgbClr val="888888"/>
                </a:solidFill>
              </a:rPr>
              <a:t>DRAFT — NEGOTIATING TERMS</a:t>
            </a:r>
            <a:endParaRPr lang="en-US" sz="700" dirty="0"/>
          </a:p>
        </p:txBody>
      </p:sp>
      <p:sp>
        <p:nvSpPr>
          <p:cNvPr id="8" name="Text 5"/>
          <p:cNvSpPr txBox="1"/>
          <p:nvPr/>
        </p:nvSpPr>
        <p:spPr>
          <a:xfrm>
            <a:off x="7772400" y="4800600"/>
            <a:ext cx="1143000" cy="228600"/>
          </a:xfrm>
          <a:prstGeom prst="rect">
            <a:avLst/>
          </a:prstGeom>
          <a:noFill/>
          <a:ln/>
        </p:spPr>
        <p:txBody>
          <a:bodyPr wrap="square" rtlCol="0" anchor="ctr"/>
          <a:lstStyle/>
          <a:p>
            <a:pPr algn="r" indent="0" marL="0">
              <a:buNone/>
            </a:pPr>
            <a:r>
              <a:rPr lang="en-US" sz="700" i="1" dirty="0">
                <a:solidFill>
                  <a:srgbClr val="888888"/>
                </a:solidFill>
              </a:rPr>
              <a:t>CONFIDENTIAL</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Where SSLC Stands Today</a:t>
            </a:r>
            <a:endParaRPr lang="en-US" sz="2200" dirty="0"/>
          </a:p>
        </p:txBody>
      </p:sp>
      <p:sp>
        <p:nvSpPr>
          <p:cNvPr id="3" name="Shape 1"/>
          <p:cNvSpPr/>
          <p:nvPr/>
        </p:nvSpPr>
        <p:spPr>
          <a:xfrm>
            <a:off x="457200" y="804672"/>
            <a:ext cx="1371600" cy="36576"/>
          </a:xfrm>
          <a:prstGeom prst="rect">
            <a:avLst/>
          </a:prstGeom>
          <a:solidFill>
            <a:srgbClr val="F26A21"/>
          </a:solidFill>
          <a:ln/>
        </p:spPr>
      </p:sp>
      <p:sp>
        <p:nvSpPr>
          <p:cNvPr id="4" name="Shape 2"/>
          <p:cNvSpPr/>
          <p:nvPr/>
        </p:nvSpPr>
        <p:spPr>
          <a:xfrm>
            <a:off x="365760" y="1097280"/>
            <a:ext cx="2560320" cy="2011680"/>
          </a:xfrm>
          <a:prstGeom prst="rect">
            <a:avLst/>
          </a:prstGeom>
          <a:solidFill>
            <a:srgbClr val="1E1E1E"/>
          </a:solidFill>
          <a:ln w="12700">
            <a:solidFill>
              <a:srgbClr val="333333"/>
            </a:solidFill>
            <a:prstDash val="solid"/>
          </a:ln>
        </p:spPr>
      </p:sp>
      <p:sp>
        <p:nvSpPr>
          <p:cNvPr id="5" name="Text 3"/>
          <p:cNvSpPr txBox="1"/>
          <p:nvPr/>
        </p:nvSpPr>
        <p:spPr>
          <a:xfrm>
            <a:off x="457200" y="1234440"/>
            <a:ext cx="2377440" cy="868680"/>
          </a:xfrm>
          <a:prstGeom prst="rect">
            <a:avLst/>
          </a:prstGeom>
          <a:noFill/>
          <a:ln/>
        </p:spPr>
        <p:txBody>
          <a:bodyPr wrap="square" rtlCol="0" anchor="ctr"/>
          <a:lstStyle/>
          <a:p>
            <a:pPr algn="ctr" indent="0" marL="0">
              <a:buNone/>
            </a:pPr>
            <a:r>
              <a:rPr lang="en-US" sz="3400" b="1" dirty="0">
                <a:solidFill>
                  <a:srgbClr val="FFFFFF"/>
                </a:solidFill>
              </a:rPr>
              <a:t>$198K</a:t>
            </a:r>
            <a:endParaRPr lang="en-US" sz="3400" dirty="0"/>
          </a:p>
        </p:txBody>
      </p:sp>
      <p:sp>
        <p:nvSpPr>
          <p:cNvPr id="6" name="Text 4"/>
          <p:cNvSpPr txBox="1"/>
          <p:nvPr/>
        </p:nvSpPr>
        <p:spPr>
          <a:xfrm>
            <a:off x="457200" y="2103120"/>
            <a:ext cx="2377440" cy="411480"/>
          </a:xfrm>
          <a:prstGeom prst="rect">
            <a:avLst/>
          </a:prstGeom>
          <a:noFill/>
          <a:ln/>
        </p:spPr>
        <p:txBody>
          <a:bodyPr wrap="square" rtlCol="0" anchor="ctr"/>
          <a:lstStyle/>
          <a:p>
            <a:pPr algn="ctr" indent="0" marL="0">
              <a:buNone/>
            </a:pPr>
            <a:r>
              <a:rPr lang="en-US" sz="1300" b="1" dirty="0">
                <a:solidFill>
                  <a:srgbClr val="CCCCCC"/>
                </a:solidFill>
              </a:rPr>
              <a:t>Cash on hand</a:t>
            </a:r>
            <a:endParaRPr lang="en-US" sz="1300" dirty="0"/>
          </a:p>
        </p:txBody>
      </p:sp>
      <p:sp>
        <p:nvSpPr>
          <p:cNvPr id="7" name="Text 5"/>
          <p:cNvSpPr txBox="1"/>
          <p:nvPr/>
        </p:nvSpPr>
        <p:spPr>
          <a:xfrm>
            <a:off x="457200" y="2514600"/>
            <a:ext cx="2377440" cy="411480"/>
          </a:xfrm>
          <a:prstGeom prst="rect">
            <a:avLst/>
          </a:prstGeom>
          <a:noFill/>
          <a:ln/>
        </p:spPr>
        <p:txBody>
          <a:bodyPr wrap="square" rtlCol="0" anchor="ctr"/>
          <a:lstStyle/>
          <a:p>
            <a:pPr algn="ctr" indent="0" marL="0">
              <a:buNone/>
            </a:pPr>
            <a:r>
              <a:rPr lang="en-US" sz="1100" dirty="0">
                <a:solidFill>
                  <a:srgbClr val="888888"/>
                </a:solidFill>
              </a:rPr>
              <a:t>Current working capital</a:t>
            </a:r>
            <a:endParaRPr lang="en-US" sz="1100" dirty="0"/>
          </a:p>
        </p:txBody>
      </p:sp>
      <p:sp>
        <p:nvSpPr>
          <p:cNvPr id="8" name="Shape 6"/>
          <p:cNvSpPr/>
          <p:nvPr/>
        </p:nvSpPr>
        <p:spPr>
          <a:xfrm>
            <a:off x="3200400" y="1097280"/>
            <a:ext cx="2560320" cy="2011680"/>
          </a:xfrm>
          <a:prstGeom prst="rect">
            <a:avLst/>
          </a:prstGeom>
          <a:solidFill>
            <a:srgbClr val="1E1E1E"/>
          </a:solidFill>
          <a:ln w="12700">
            <a:solidFill>
              <a:srgbClr val="333333"/>
            </a:solidFill>
            <a:prstDash val="solid"/>
          </a:ln>
        </p:spPr>
      </p:sp>
      <p:sp>
        <p:nvSpPr>
          <p:cNvPr id="9" name="Text 7"/>
          <p:cNvSpPr txBox="1"/>
          <p:nvPr/>
        </p:nvSpPr>
        <p:spPr>
          <a:xfrm>
            <a:off x="3291840" y="1234440"/>
            <a:ext cx="2377440" cy="868680"/>
          </a:xfrm>
          <a:prstGeom prst="rect">
            <a:avLst/>
          </a:prstGeom>
          <a:noFill/>
          <a:ln/>
        </p:spPr>
        <p:txBody>
          <a:bodyPr wrap="square" rtlCol="0" anchor="ctr"/>
          <a:lstStyle/>
          <a:p>
            <a:pPr algn="ctr" indent="0" marL="0">
              <a:buNone/>
            </a:pPr>
            <a:r>
              <a:rPr lang="en-US" sz="3400" b="1" dirty="0">
                <a:solidFill>
                  <a:srgbClr val="FFFFFF"/>
                </a:solidFill>
              </a:rPr>
              <a:t>$713K</a:t>
            </a:r>
            <a:endParaRPr lang="en-US" sz="3400" dirty="0"/>
          </a:p>
        </p:txBody>
      </p:sp>
      <p:sp>
        <p:nvSpPr>
          <p:cNvPr id="10" name="Text 8"/>
          <p:cNvSpPr txBox="1"/>
          <p:nvPr/>
        </p:nvSpPr>
        <p:spPr>
          <a:xfrm>
            <a:off x="3291840" y="2103120"/>
            <a:ext cx="2377440" cy="411480"/>
          </a:xfrm>
          <a:prstGeom prst="rect">
            <a:avLst/>
          </a:prstGeom>
          <a:noFill/>
          <a:ln/>
        </p:spPr>
        <p:txBody>
          <a:bodyPr wrap="square" rtlCol="0" anchor="ctr"/>
          <a:lstStyle/>
          <a:p>
            <a:pPr algn="ctr" indent="0" marL="0">
              <a:buNone/>
            </a:pPr>
            <a:r>
              <a:rPr lang="en-US" sz="1300" b="1" dirty="0">
                <a:solidFill>
                  <a:srgbClr val="CCCCCC"/>
                </a:solidFill>
              </a:rPr>
              <a:t>Last quarter revenue</a:t>
            </a:r>
            <a:endParaRPr lang="en-US" sz="1300" dirty="0"/>
          </a:p>
        </p:txBody>
      </p:sp>
      <p:sp>
        <p:nvSpPr>
          <p:cNvPr id="11" name="Text 9"/>
          <p:cNvSpPr txBox="1"/>
          <p:nvPr/>
        </p:nvSpPr>
        <p:spPr>
          <a:xfrm>
            <a:off x="3291840" y="2514600"/>
            <a:ext cx="2377440" cy="411480"/>
          </a:xfrm>
          <a:prstGeom prst="rect">
            <a:avLst/>
          </a:prstGeom>
          <a:noFill/>
          <a:ln/>
        </p:spPr>
        <p:txBody>
          <a:bodyPr wrap="square" rtlCol="0" anchor="ctr"/>
          <a:lstStyle/>
          <a:p>
            <a:pPr algn="ctr" indent="0" marL="0">
              <a:buNone/>
            </a:pPr>
            <a:r>
              <a:rPr lang="en-US" sz="1100" dirty="0">
                <a:solidFill>
                  <a:srgbClr val="888888"/>
                </a:solidFill>
              </a:rPr>
              <a:t>Most recent reported quarter</a:t>
            </a:r>
            <a:endParaRPr lang="en-US" sz="1100" dirty="0"/>
          </a:p>
        </p:txBody>
      </p:sp>
      <p:sp>
        <p:nvSpPr>
          <p:cNvPr id="12" name="Shape 10"/>
          <p:cNvSpPr/>
          <p:nvPr/>
        </p:nvSpPr>
        <p:spPr>
          <a:xfrm>
            <a:off x="6035040" y="1097280"/>
            <a:ext cx="2560320" cy="2011680"/>
          </a:xfrm>
          <a:prstGeom prst="rect">
            <a:avLst/>
          </a:prstGeom>
          <a:solidFill>
            <a:srgbClr val="1E1E1E"/>
          </a:solidFill>
          <a:ln w="12700">
            <a:solidFill>
              <a:srgbClr val="333333"/>
            </a:solidFill>
            <a:prstDash val="solid"/>
          </a:ln>
        </p:spPr>
      </p:sp>
      <p:sp>
        <p:nvSpPr>
          <p:cNvPr id="13" name="Text 11"/>
          <p:cNvSpPr txBox="1"/>
          <p:nvPr/>
        </p:nvSpPr>
        <p:spPr>
          <a:xfrm>
            <a:off x="6126480" y="1234440"/>
            <a:ext cx="2377440" cy="868680"/>
          </a:xfrm>
          <a:prstGeom prst="rect">
            <a:avLst/>
          </a:prstGeom>
          <a:noFill/>
          <a:ln/>
        </p:spPr>
        <p:txBody>
          <a:bodyPr wrap="square" rtlCol="0" anchor="ctr"/>
          <a:lstStyle/>
          <a:p>
            <a:pPr algn="ctr" indent="0" marL="0">
              <a:buNone/>
            </a:pPr>
            <a:r>
              <a:rPr lang="en-US" sz="2600" b="1" dirty="0">
                <a:solidFill>
                  <a:srgbClr val="F26A21"/>
                </a:solidFill>
              </a:rPr>
              <a:t>~$1.46M/qtr</a:t>
            </a:r>
            <a:endParaRPr lang="en-US" sz="2600" dirty="0"/>
          </a:p>
        </p:txBody>
      </p:sp>
      <p:sp>
        <p:nvSpPr>
          <p:cNvPr id="14" name="Text 12"/>
          <p:cNvSpPr txBox="1"/>
          <p:nvPr/>
        </p:nvSpPr>
        <p:spPr>
          <a:xfrm>
            <a:off x="6126480" y="2103120"/>
            <a:ext cx="2377440" cy="411480"/>
          </a:xfrm>
          <a:prstGeom prst="rect">
            <a:avLst/>
          </a:prstGeom>
          <a:noFill/>
          <a:ln/>
        </p:spPr>
        <p:txBody>
          <a:bodyPr wrap="square" rtlCol="0" anchor="ctr"/>
          <a:lstStyle/>
          <a:p>
            <a:pPr algn="ctr" indent="0" marL="0">
              <a:buNone/>
            </a:pPr>
            <a:r>
              <a:rPr lang="en-US" sz="1300" b="1" dirty="0">
                <a:solidFill>
                  <a:srgbClr val="CCCCCC"/>
                </a:solidFill>
              </a:rPr>
              <a:t>Required to hit $5.1M</a:t>
            </a:r>
            <a:endParaRPr lang="en-US" sz="1300" dirty="0"/>
          </a:p>
        </p:txBody>
      </p:sp>
      <p:sp>
        <p:nvSpPr>
          <p:cNvPr id="15" name="Text 13"/>
          <p:cNvSpPr txBox="1"/>
          <p:nvPr/>
        </p:nvSpPr>
        <p:spPr>
          <a:xfrm>
            <a:off x="6126480" y="2514600"/>
            <a:ext cx="2377440" cy="411480"/>
          </a:xfrm>
          <a:prstGeom prst="rect">
            <a:avLst/>
          </a:prstGeom>
          <a:noFill/>
          <a:ln/>
        </p:spPr>
        <p:txBody>
          <a:bodyPr wrap="square" rtlCol="0" anchor="ctr"/>
          <a:lstStyle/>
          <a:p>
            <a:pPr algn="ctr" indent="0" marL="0">
              <a:buNone/>
            </a:pPr>
            <a:r>
              <a:rPr lang="en-US" sz="1100" dirty="0">
                <a:solidFill>
                  <a:srgbClr val="888888"/>
                </a:solidFill>
              </a:rPr>
              <a:t>M1 milestone threshold</a:t>
            </a:r>
            <a:endParaRPr lang="en-US" sz="1100" dirty="0"/>
          </a:p>
        </p:txBody>
      </p:sp>
      <p:sp>
        <p:nvSpPr>
          <p:cNvPr id="16" name="Shape 14"/>
          <p:cNvSpPr/>
          <p:nvPr/>
        </p:nvSpPr>
        <p:spPr>
          <a:xfrm>
            <a:off x="457200" y="3337560"/>
            <a:ext cx="8229600" cy="1051560"/>
          </a:xfrm>
          <a:prstGeom prst="rect">
            <a:avLst/>
          </a:prstGeom>
          <a:solidFill>
            <a:srgbClr val="1A1200"/>
          </a:solidFill>
          <a:ln w="12700">
            <a:solidFill>
              <a:srgbClr val="F26A21"/>
            </a:solidFill>
            <a:prstDash val="solid"/>
          </a:ln>
        </p:spPr>
      </p:sp>
      <p:sp>
        <p:nvSpPr>
          <p:cNvPr id="17" name="Text 15"/>
          <p:cNvSpPr txBox="1"/>
          <p:nvPr/>
        </p:nvSpPr>
        <p:spPr>
          <a:xfrm>
            <a:off x="640080" y="3429000"/>
            <a:ext cx="7863840" cy="868680"/>
          </a:xfrm>
          <a:prstGeom prst="rect">
            <a:avLst/>
          </a:prstGeom>
          <a:noFill/>
          <a:ln/>
        </p:spPr>
        <p:txBody>
          <a:bodyPr wrap="square" rtlCol="0" anchor="ctr"/>
          <a:lstStyle/>
          <a:p>
            <a:pPr algn="l" indent="0" marL="0">
              <a:buNone/>
            </a:pPr>
            <a:r>
              <a:rPr lang="en-US" sz="1300" i="1" dirty="0">
                <a:solidFill>
                  <a:srgbClr val="CCCCCC"/>
                </a:solidFill>
              </a:rPr>
              <a:t>A $5.1M fiscal year requires approximately $1.46M per quarter — nearly double last quarter's pace of $713K — starting now. Exos's offer removes that funding risk and gives SSLC holders direct upside.</a:t>
            </a:r>
            <a:endParaRPr lang="en-US" sz="1300" dirty="0"/>
          </a:p>
        </p:txBody>
      </p:sp>
      <p:pic>
        <p:nvPicPr>
          <p:cNvPr id="18"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19" name="Text 16"/>
          <p:cNvSpPr txBox="1"/>
          <p:nvPr/>
        </p:nvSpPr>
        <p:spPr>
          <a:xfrm>
            <a:off x="1554480" y="4800600"/>
            <a:ext cx="6035040" cy="228600"/>
          </a:xfrm>
          <a:prstGeom prst="rect">
            <a:avLst/>
          </a:prstGeom>
          <a:noFill/>
          <a:ln/>
        </p:spPr>
        <p:txBody>
          <a:bodyPr wrap="square" rtlCol="0" anchor="ctr"/>
          <a:lstStyle/>
          <a:p>
            <a:pPr algn="ctr" indent="0" marL="0">
              <a:buNone/>
            </a:pPr>
            <a:r>
              <a:rPr lang="en-US" sz="700" i="1" dirty="0">
                <a:solidFill>
                  <a:srgbClr val="888888"/>
                </a:solidFill>
              </a:rPr>
              <a:t>DRAFT — NEGOTIATING TERMS</a:t>
            </a:r>
            <a:endParaRPr lang="en-US" sz="700" dirty="0"/>
          </a:p>
        </p:txBody>
      </p:sp>
      <p:sp>
        <p:nvSpPr>
          <p:cNvPr id="20" name="Text 17"/>
          <p:cNvSpPr txBox="1"/>
          <p:nvPr/>
        </p:nvSpPr>
        <p:spPr>
          <a:xfrm>
            <a:off x="7772400" y="4800600"/>
            <a:ext cx="1143000" cy="228600"/>
          </a:xfrm>
          <a:prstGeom prst="rect">
            <a:avLst/>
          </a:prstGeom>
          <a:noFill/>
          <a:ln/>
        </p:spPr>
        <p:txBody>
          <a:bodyPr wrap="square" rtlCol="0" anchor="ctr"/>
          <a:lstStyle/>
          <a:p>
            <a:pPr algn="r" indent="0" marL="0">
              <a:buNone/>
            </a:pPr>
            <a:r>
              <a:rPr lang="en-US" sz="700" i="1" dirty="0">
                <a:solidFill>
                  <a:srgbClr val="888888"/>
                </a:solidFill>
              </a:rPr>
              <a:t>CONFIDENTIAL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What SSLC Holders Receive</a:t>
            </a:r>
            <a:endParaRPr lang="en-US" sz="2200" dirty="0"/>
          </a:p>
        </p:txBody>
      </p:sp>
      <p:sp>
        <p:nvSpPr>
          <p:cNvPr id="3" name="Shape 1"/>
          <p:cNvSpPr/>
          <p:nvPr/>
        </p:nvSpPr>
        <p:spPr>
          <a:xfrm>
            <a:off x="457200" y="804672"/>
            <a:ext cx="1371600" cy="36576"/>
          </a:xfrm>
          <a:prstGeom prst="rect">
            <a:avLst/>
          </a:prstGeom>
          <a:solidFill>
            <a:srgbClr val="F26A21"/>
          </a:solidFill>
          <a:ln/>
        </p:spPr>
      </p:sp>
      <p:sp>
        <p:nvSpPr>
          <p:cNvPr id="4" name="Shape 2"/>
          <p:cNvSpPr/>
          <p:nvPr/>
        </p:nvSpPr>
        <p:spPr>
          <a:xfrm>
            <a:off x="914400" y="1005840"/>
            <a:ext cx="5669280" cy="393192"/>
          </a:xfrm>
          <a:prstGeom prst="rect">
            <a:avLst/>
          </a:prstGeom>
          <a:solidFill>
            <a:srgbClr val="2A2A2A"/>
          </a:solidFill>
          <a:ln w="12700">
            <a:solidFill>
              <a:srgbClr val="333333"/>
            </a:solidFill>
            <a:prstDash val="solid"/>
          </a:ln>
        </p:spPr>
      </p:sp>
      <p:sp>
        <p:nvSpPr>
          <p:cNvPr id="5" name="Text 3"/>
          <p:cNvSpPr txBox="1"/>
          <p:nvPr/>
        </p:nvSpPr>
        <p:spPr>
          <a:xfrm>
            <a:off x="1005840" y="1042416"/>
            <a:ext cx="3657600" cy="347472"/>
          </a:xfrm>
          <a:prstGeom prst="rect">
            <a:avLst/>
          </a:prstGeom>
          <a:noFill/>
          <a:ln/>
        </p:spPr>
        <p:txBody>
          <a:bodyPr wrap="square" rtlCol="0" anchor="ctr"/>
          <a:lstStyle/>
          <a:p>
            <a:pPr indent="0" marL="0">
              <a:buNone/>
            </a:pPr>
            <a:r>
              <a:rPr lang="en-US" sz="1300" dirty="0">
                <a:solidFill>
                  <a:srgbClr val="CCCCCC"/>
                </a:solidFill>
              </a:rPr>
              <a:t>Cash at close</a:t>
            </a:r>
            <a:endParaRPr lang="en-US" sz="1300" dirty="0"/>
          </a:p>
        </p:txBody>
      </p:sp>
      <p:sp>
        <p:nvSpPr>
          <p:cNvPr id="6" name="Text 4"/>
          <p:cNvSpPr txBox="1"/>
          <p:nvPr/>
        </p:nvSpPr>
        <p:spPr>
          <a:xfrm>
            <a:off x="5486400" y="1042416"/>
            <a:ext cx="1005840" cy="347472"/>
          </a:xfrm>
          <a:prstGeom prst="rect">
            <a:avLst/>
          </a:prstGeom>
          <a:noFill/>
          <a:ln/>
        </p:spPr>
        <p:txBody>
          <a:bodyPr wrap="square" rtlCol="0" anchor="ctr"/>
          <a:lstStyle/>
          <a:p>
            <a:pPr algn="r" indent="0" marL="0">
              <a:buNone/>
            </a:pPr>
            <a:r>
              <a:rPr lang="en-US" sz="1300" b="1" dirty="0">
                <a:solidFill>
                  <a:srgbClr val="FFFFFF"/>
                </a:solidFill>
              </a:rPr>
              <a:t>$2.51M</a:t>
            </a:r>
            <a:endParaRPr lang="en-US" sz="1300" dirty="0"/>
          </a:p>
        </p:txBody>
      </p:sp>
      <p:sp>
        <p:nvSpPr>
          <p:cNvPr id="7" name="Shape 5"/>
          <p:cNvSpPr/>
          <p:nvPr/>
        </p:nvSpPr>
        <p:spPr>
          <a:xfrm>
            <a:off x="914400" y="1426464"/>
            <a:ext cx="5669280" cy="393192"/>
          </a:xfrm>
          <a:prstGeom prst="rect">
            <a:avLst/>
          </a:prstGeom>
          <a:solidFill>
            <a:srgbClr val="222222"/>
          </a:solidFill>
          <a:ln w="12700">
            <a:solidFill>
              <a:srgbClr val="333333"/>
            </a:solidFill>
            <a:prstDash val="solid"/>
          </a:ln>
        </p:spPr>
      </p:sp>
      <p:sp>
        <p:nvSpPr>
          <p:cNvPr id="8" name="Text 6"/>
          <p:cNvSpPr txBox="1"/>
          <p:nvPr/>
        </p:nvSpPr>
        <p:spPr>
          <a:xfrm>
            <a:off x="1005840" y="1463040"/>
            <a:ext cx="3657600" cy="347472"/>
          </a:xfrm>
          <a:prstGeom prst="rect">
            <a:avLst/>
          </a:prstGeom>
          <a:noFill/>
          <a:ln/>
        </p:spPr>
        <p:txBody>
          <a:bodyPr wrap="square" rtlCol="0" anchor="ctr"/>
          <a:lstStyle/>
          <a:p>
            <a:pPr indent="0" marL="0">
              <a:buNone/>
            </a:pPr>
            <a:r>
              <a:rPr lang="en-US" sz="1300" dirty="0">
                <a:solidFill>
                  <a:srgbClr val="CCCCCC"/>
                </a:solidFill>
              </a:rPr>
              <a:t>SSLC transaction costs</a:t>
            </a:r>
            <a:endParaRPr lang="en-US" sz="1300" dirty="0"/>
          </a:p>
        </p:txBody>
      </p:sp>
      <p:sp>
        <p:nvSpPr>
          <p:cNvPr id="9" name="Text 7"/>
          <p:cNvSpPr txBox="1"/>
          <p:nvPr/>
        </p:nvSpPr>
        <p:spPr>
          <a:xfrm>
            <a:off x="5486400" y="1463040"/>
            <a:ext cx="1005840" cy="347472"/>
          </a:xfrm>
          <a:prstGeom prst="rect">
            <a:avLst/>
          </a:prstGeom>
          <a:noFill/>
          <a:ln/>
        </p:spPr>
        <p:txBody>
          <a:bodyPr wrap="square" rtlCol="0" anchor="ctr"/>
          <a:lstStyle/>
          <a:p>
            <a:pPr algn="r" indent="0" marL="0">
              <a:buNone/>
            </a:pPr>
            <a:r>
              <a:rPr lang="en-US" sz="1300" b="1" dirty="0">
                <a:solidFill>
                  <a:srgbClr val="FFFFFF"/>
                </a:solidFill>
              </a:rPr>
              <a:t>$60K</a:t>
            </a:r>
            <a:endParaRPr lang="en-US" sz="1300" dirty="0"/>
          </a:p>
        </p:txBody>
      </p:sp>
      <p:sp>
        <p:nvSpPr>
          <p:cNvPr id="10" name="Shape 8"/>
          <p:cNvSpPr/>
          <p:nvPr/>
        </p:nvSpPr>
        <p:spPr>
          <a:xfrm>
            <a:off x="914400" y="1847088"/>
            <a:ext cx="5669280" cy="393192"/>
          </a:xfrm>
          <a:prstGeom prst="rect">
            <a:avLst/>
          </a:prstGeom>
          <a:solidFill>
            <a:srgbClr val="222222"/>
          </a:solidFill>
          <a:ln w="12700">
            <a:solidFill>
              <a:srgbClr val="333333"/>
            </a:solidFill>
            <a:prstDash val="solid"/>
          </a:ln>
        </p:spPr>
      </p:sp>
      <p:sp>
        <p:nvSpPr>
          <p:cNvPr id="11" name="Text 9"/>
          <p:cNvSpPr txBox="1"/>
          <p:nvPr/>
        </p:nvSpPr>
        <p:spPr>
          <a:xfrm>
            <a:off x="1005840" y="1883664"/>
            <a:ext cx="3657600" cy="347472"/>
          </a:xfrm>
          <a:prstGeom prst="rect">
            <a:avLst/>
          </a:prstGeom>
          <a:noFill/>
          <a:ln/>
        </p:spPr>
        <p:txBody>
          <a:bodyPr wrap="square" rtlCol="0" anchor="ctr"/>
          <a:lstStyle/>
          <a:p>
            <a:pPr indent="0" marL="0">
              <a:buNone/>
            </a:pPr>
            <a:r>
              <a:rPr lang="en-US" sz="1300" dirty="0">
                <a:solidFill>
                  <a:srgbClr val="CCCCCC"/>
                </a:solidFill>
              </a:rPr>
              <a:t>Exos stake credit (non-cash)</a:t>
            </a:r>
            <a:endParaRPr lang="en-US" sz="1300" dirty="0"/>
          </a:p>
        </p:txBody>
      </p:sp>
      <p:sp>
        <p:nvSpPr>
          <p:cNvPr id="12" name="Text 10"/>
          <p:cNvSpPr txBox="1"/>
          <p:nvPr/>
        </p:nvSpPr>
        <p:spPr>
          <a:xfrm>
            <a:off x="5486400" y="1883664"/>
            <a:ext cx="1005840" cy="347472"/>
          </a:xfrm>
          <a:prstGeom prst="rect">
            <a:avLst/>
          </a:prstGeom>
          <a:noFill/>
          <a:ln/>
        </p:spPr>
        <p:txBody>
          <a:bodyPr wrap="square" rtlCol="0" anchor="ctr"/>
          <a:lstStyle/>
          <a:p>
            <a:pPr algn="r" indent="0" marL="0">
              <a:buNone/>
            </a:pPr>
            <a:r>
              <a:rPr lang="en-US" sz="1300" b="1" dirty="0">
                <a:solidFill>
                  <a:srgbClr val="FFFFFF"/>
                </a:solidFill>
              </a:rPr>
              <a:t>$790K</a:t>
            </a:r>
            <a:endParaRPr lang="en-US" sz="1300" dirty="0"/>
          </a:p>
        </p:txBody>
      </p:sp>
      <p:sp>
        <p:nvSpPr>
          <p:cNvPr id="13" name="Shape 11"/>
          <p:cNvSpPr/>
          <p:nvPr/>
        </p:nvSpPr>
        <p:spPr>
          <a:xfrm>
            <a:off x="914400" y="2267712"/>
            <a:ext cx="5669280" cy="393192"/>
          </a:xfrm>
          <a:prstGeom prst="rect">
            <a:avLst/>
          </a:prstGeom>
          <a:solidFill>
            <a:srgbClr val="222222"/>
          </a:solidFill>
          <a:ln w="12700">
            <a:solidFill>
              <a:srgbClr val="333333"/>
            </a:solidFill>
            <a:prstDash val="solid"/>
          </a:ln>
        </p:spPr>
      </p:sp>
      <p:sp>
        <p:nvSpPr>
          <p:cNvPr id="14" name="Text 12"/>
          <p:cNvSpPr txBox="1"/>
          <p:nvPr/>
        </p:nvSpPr>
        <p:spPr>
          <a:xfrm>
            <a:off x="1005840" y="2304288"/>
            <a:ext cx="3657600" cy="347472"/>
          </a:xfrm>
          <a:prstGeom prst="rect">
            <a:avLst/>
          </a:prstGeom>
          <a:noFill/>
          <a:ln/>
        </p:spPr>
        <p:txBody>
          <a:bodyPr wrap="square" rtlCol="0" anchor="ctr"/>
          <a:lstStyle/>
          <a:p>
            <a:pPr indent="0" marL="0">
              <a:buNone/>
            </a:pPr>
            <a:r>
              <a:rPr lang="en-US" sz="1300" dirty="0">
                <a:solidFill>
                  <a:srgbClr val="CCCCCC"/>
                </a:solidFill>
              </a:rPr>
              <a:t>SSLC debts paid at face</a:t>
            </a:r>
            <a:endParaRPr lang="en-US" sz="1300" dirty="0"/>
          </a:p>
        </p:txBody>
      </p:sp>
      <p:sp>
        <p:nvSpPr>
          <p:cNvPr id="15" name="Text 13"/>
          <p:cNvSpPr txBox="1"/>
          <p:nvPr/>
        </p:nvSpPr>
        <p:spPr>
          <a:xfrm>
            <a:off x="5486400" y="2304288"/>
            <a:ext cx="1005840" cy="347472"/>
          </a:xfrm>
          <a:prstGeom prst="rect">
            <a:avLst/>
          </a:prstGeom>
          <a:noFill/>
          <a:ln/>
        </p:spPr>
        <p:txBody>
          <a:bodyPr wrap="square" rtlCol="0" anchor="ctr"/>
          <a:lstStyle/>
          <a:p>
            <a:pPr algn="r" indent="0" marL="0">
              <a:buNone/>
            </a:pPr>
            <a:r>
              <a:rPr lang="en-US" sz="1300" b="1" dirty="0">
                <a:solidFill>
                  <a:srgbClr val="FFFFFF"/>
                </a:solidFill>
              </a:rPr>
              <a:t>~$500K</a:t>
            </a:r>
            <a:endParaRPr lang="en-US" sz="1300" dirty="0"/>
          </a:p>
        </p:txBody>
      </p:sp>
      <p:sp>
        <p:nvSpPr>
          <p:cNvPr id="16" name="Shape 14"/>
          <p:cNvSpPr/>
          <p:nvPr/>
        </p:nvSpPr>
        <p:spPr>
          <a:xfrm>
            <a:off x="914400" y="2688336"/>
            <a:ext cx="5669280" cy="393192"/>
          </a:xfrm>
          <a:prstGeom prst="rect">
            <a:avLst/>
          </a:prstGeom>
          <a:solidFill>
            <a:srgbClr val="222222"/>
          </a:solidFill>
          <a:ln w="12700">
            <a:solidFill>
              <a:srgbClr val="333333"/>
            </a:solidFill>
            <a:prstDash val="solid"/>
          </a:ln>
        </p:spPr>
      </p:sp>
      <p:sp>
        <p:nvSpPr>
          <p:cNvPr id="17" name="Text 15"/>
          <p:cNvSpPr txBox="1"/>
          <p:nvPr/>
        </p:nvSpPr>
        <p:spPr>
          <a:xfrm>
            <a:off x="1005840" y="2724912"/>
            <a:ext cx="3657600" cy="347472"/>
          </a:xfrm>
          <a:prstGeom prst="rect">
            <a:avLst/>
          </a:prstGeom>
          <a:noFill/>
          <a:ln/>
        </p:spPr>
        <p:txBody>
          <a:bodyPr wrap="square" rtlCol="0" anchor="ctr"/>
          <a:lstStyle/>
          <a:p>
            <a:pPr indent="0" marL="0">
              <a:buNone/>
            </a:pPr>
            <a:r>
              <a:rPr lang="en-US" sz="1300" dirty="0">
                <a:solidFill>
                  <a:srgbClr val="CCCCCC"/>
                </a:solidFill>
              </a:rPr>
              <a:t>Working-capital bridge</a:t>
            </a:r>
            <a:endParaRPr lang="en-US" sz="1300" dirty="0"/>
          </a:p>
        </p:txBody>
      </p:sp>
      <p:sp>
        <p:nvSpPr>
          <p:cNvPr id="18" name="Text 16"/>
          <p:cNvSpPr txBox="1"/>
          <p:nvPr/>
        </p:nvSpPr>
        <p:spPr>
          <a:xfrm>
            <a:off x="5486400" y="2724912"/>
            <a:ext cx="1005840" cy="347472"/>
          </a:xfrm>
          <a:prstGeom prst="rect">
            <a:avLst/>
          </a:prstGeom>
          <a:noFill/>
          <a:ln/>
        </p:spPr>
        <p:txBody>
          <a:bodyPr wrap="square" rtlCol="0" anchor="ctr"/>
          <a:lstStyle/>
          <a:p>
            <a:pPr algn="r" indent="0" marL="0">
              <a:buNone/>
            </a:pPr>
            <a:r>
              <a:rPr lang="en-US" sz="1300" b="1" dirty="0">
                <a:solidFill>
                  <a:srgbClr val="FFFFFF"/>
                </a:solidFill>
              </a:rPr>
              <a:t>$500K</a:t>
            </a:r>
            <a:endParaRPr lang="en-US" sz="1300" dirty="0"/>
          </a:p>
        </p:txBody>
      </p:sp>
      <p:sp>
        <p:nvSpPr>
          <p:cNvPr id="19" name="Shape 17"/>
          <p:cNvSpPr/>
          <p:nvPr/>
        </p:nvSpPr>
        <p:spPr>
          <a:xfrm>
            <a:off x="731520" y="3145536"/>
            <a:ext cx="6035040" cy="475488"/>
          </a:xfrm>
          <a:prstGeom prst="rect">
            <a:avLst/>
          </a:prstGeom>
          <a:solidFill>
            <a:srgbClr val="2A1800"/>
          </a:solidFill>
          <a:ln w="12700">
            <a:solidFill>
              <a:srgbClr val="F26A21"/>
            </a:solidFill>
            <a:prstDash val="solid"/>
          </a:ln>
        </p:spPr>
      </p:sp>
      <p:sp>
        <p:nvSpPr>
          <p:cNvPr id="20" name="Text 18"/>
          <p:cNvSpPr txBox="1"/>
          <p:nvPr/>
        </p:nvSpPr>
        <p:spPr>
          <a:xfrm>
            <a:off x="868680" y="3200400"/>
            <a:ext cx="3840480" cy="365760"/>
          </a:xfrm>
          <a:prstGeom prst="rect">
            <a:avLst/>
          </a:prstGeom>
          <a:noFill/>
          <a:ln/>
        </p:spPr>
        <p:txBody>
          <a:bodyPr wrap="square" rtlCol="0" anchor="ctr"/>
          <a:lstStyle/>
          <a:p>
            <a:pPr indent="0" marL="0">
              <a:buNone/>
            </a:pPr>
            <a:r>
              <a:rPr lang="en-US" sz="1500" b="1" dirty="0">
                <a:solidFill>
                  <a:srgbClr val="F26A21"/>
                </a:solidFill>
              </a:rPr>
              <a:t>① Cash &amp; debt relief at close</a:t>
            </a:r>
            <a:endParaRPr lang="en-US" sz="1500" dirty="0"/>
          </a:p>
        </p:txBody>
      </p:sp>
      <p:sp>
        <p:nvSpPr>
          <p:cNvPr id="21" name="Text 19"/>
          <p:cNvSpPr txBox="1"/>
          <p:nvPr/>
        </p:nvSpPr>
        <p:spPr>
          <a:xfrm>
            <a:off x="5394960" y="3200400"/>
            <a:ext cx="1188720" cy="365760"/>
          </a:xfrm>
          <a:prstGeom prst="rect">
            <a:avLst/>
          </a:prstGeom>
          <a:noFill/>
          <a:ln/>
        </p:spPr>
        <p:txBody>
          <a:bodyPr wrap="square" rtlCol="0" anchor="ctr"/>
          <a:lstStyle/>
          <a:p>
            <a:pPr algn="r" indent="0" marL="0">
              <a:buNone/>
            </a:pPr>
            <a:r>
              <a:rPr lang="en-US" sz="1800" b="1" dirty="0">
                <a:solidFill>
                  <a:srgbClr val="F26A21"/>
                </a:solidFill>
              </a:rPr>
              <a:t>$4.36M</a:t>
            </a:r>
            <a:endParaRPr lang="en-US" sz="1800" dirty="0"/>
          </a:p>
        </p:txBody>
      </p:sp>
      <p:sp>
        <p:nvSpPr>
          <p:cNvPr id="22" name="Shape 20"/>
          <p:cNvSpPr/>
          <p:nvPr/>
        </p:nvSpPr>
        <p:spPr>
          <a:xfrm>
            <a:off x="914400" y="3675888"/>
            <a:ext cx="5669280" cy="402336"/>
          </a:xfrm>
          <a:prstGeom prst="rect">
            <a:avLst/>
          </a:prstGeom>
          <a:solidFill>
            <a:srgbClr val="202020"/>
          </a:solidFill>
          <a:ln w="12700">
            <a:solidFill>
              <a:srgbClr val="444444"/>
            </a:solidFill>
            <a:prstDash val="solid"/>
          </a:ln>
        </p:spPr>
      </p:sp>
      <p:sp>
        <p:nvSpPr>
          <p:cNvPr id="23" name="Text 21"/>
          <p:cNvSpPr txBox="1"/>
          <p:nvPr/>
        </p:nvSpPr>
        <p:spPr>
          <a:xfrm>
            <a:off x="1005840" y="3712464"/>
            <a:ext cx="3840480" cy="329184"/>
          </a:xfrm>
          <a:prstGeom prst="rect">
            <a:avLst/>
          </a:prstGeom>
          <a:noFill/>
          <a:ln/>
        </p:spPr>
        <p:txBody>
          <a:bodyPr wrap="square" rtlCol="0" anchor="ctr"/>
          <a:lstStyle/>
          <a:p>
            <a:pPr indent="0" marL="0">
              <a:buNone/>
            </a:pPr>
            <a:r>
              <a:rPr lang="en-US" sz="1300" dirty="0">
                <a:solidFill>
                  <a:srgbClr val="CCCCCC"/>
                </a:solidFill>
              </a:rPr>
              <a:t>+ Exos equity — EAI units at 409A (Rule 504, ~0.59%)</a:t>
            </a:r>
            <a:endParaRPr lang="en-US" sz="1300" dirty="0"/>
          </a:p>
        </p:txBody>
      </p:sp>
      <p:sp>
        <p:nvSpPr>
          <p:cNvPr id="24" name="Text 22"/>
          <p:cNvSpPr txBox="1"/>
          <p:nvPr/>
        </p:nvSpPr>
        <p:spPr>
          <a:xfrm>
            <a:off x="5486400" y="3712464"/>
            <a:ext cx="1005840" cy="329184"/>
          </a:xfrm>
          <a:prstGeom prst="rect">
            <a:avLst/>
          </a:prstGeom>
          <a:noFill/>
          <a:ln/>
        </p:spPr>
        <p:txBody>
          <a:bodyPr wrap="square" rtlCol="0" anchor="ctr"/>
          <a:lstStyle/>
          <a:p>
            <a:pPr algn="r" indent="0" marL="0">
              <a:buNone/>
            </a:pPr>
            <a:r>
              <a:rPr lang="en-US" sz="1400" b="1" dirty="0">
                <a:solidFill>
                  <a:srgbClr val="FFFFFF"/>
                </a:solidFill>
              </a:rPr>
              <a:t>$1.0M</a:t>
            </a:r>
            <a:endParaRPr lang="en-US" sz="1400" dirty="0"/>
          </a:p>
        </p:txBody>
      </p:sp>
      <p:sp>
        <p:nvSpPr>
          <p:cNvPr id="25" name="Shape 23"/>
          <p:cNvSpPr/>
          <p:nvPr/>
        </p:nvSpPr>
        <p:spPr>
          <a:xfrm>
            <a:off x="731520" y="4151376"/>
            <a:ext cx="6035040" cy="530352"/>
          </a:xfrm>
          <a:prstGeom prst="rect">
            <a:avLst/>
          </a:prstGeom>
          <a:solidFill>
            <a:srgbClr val="0A2800"/>
          </a:solidFill>
          <a:ln w="12700">
            <a:solidFill>
              <a:srgbClr val="2ECC71"/>
            </a:solidFill>
            <a:prstDash val="solid"/>
          </a:ln>
        </p:spPr>
      </p:sp>
      <p:sp>
        <p:nvSpPr>
          <p:cNvPr id="26" name="Text 24"/>
          <p:cNvSpPr txBox="1"/>
          <p:nvPr/>
        </p:nvSpPr>
        <p:spPr>
          <a:xfrm>
            <a:off x="868680" y="4233672"/>
            <a:ext cx="3840480" cy="365760"/>
          </a:xfrm>
          <a:prstGeom prst="rect">
            <a:avLst/>
          </a:prstGeom>
          <a:noFill/>
          <a:ln/>
        </p:spPr>
        <p:txBody>
          <a:bodyPr wrap="square" rtlCol="0" anchor="ctr"/>
          <a:lstStyle/>
          <a:p>
            <a:pPr indent="0" marL="0">
              <a:buNone/>
            </a:pPr>
            <a:r>
              <a:rPr lang="en-US" sz="1600" b="1" dirty="0">
                <a:solidFill>
                  <a:srgbClr val="2ECC71"/>
                </a:solidFill>
              </a:rPr>
              <a:t>② Total at financing close</a:t>
            </a:r>
            <a:endParaRPr lang="en-US" sz="1600" dirty="0"/>
          </a:p>
        </p:txBody>
      </p:sp>
      <p:sp>
        <p:nvSpPr>
          <p:cNvPr id="27" name="Text 25"/>
          <p:cNvSpPr txBox="1"/>
          <p:nvPr/>
        </p:nvSpPr>
        <p:spPr>
          <a:xfrm>
            <a:off x="5303520" y="4233672"/>
            <a:ext cx="1280160" cy="365760"/>
          </a:xfrm>
          <a:prstGeom prst="rect">
            <a:avLst/>
          </a:prstGeom>
          <a:noFill/>
          <a:ln/>
        </p:spPr>
        <p:txBody>
          <a:bodyPr wrap="square" rtlCol="0" anchor="ctr"/>
          <a:lstStyle/>
          <a:p>
            <a:pPr algn="r" indent="0" marL="0">
              <a:buNone/>
            </a:pPr>
            <a:r>
              <a:rPr lang="en-US" sz="2000" b="1" dirty="0">
                <a:solidFill>
                  <a:srgbClr val="2ECC71"/>
                </a:solidFill>
              </a:rPr>
              <a:t>$5.36M</a:t>
            </a:r>
            <a:endParaRPr lang="en-US" sz="2000" dirty="0"/>
          </a:p>
        </p:txBody>
      </p:sp>
      <p:sp>
        <p:nvSpPr>
          <p:cNvPr id="28" name="Text 26"/>
          <p:cNvSpPr txBox="1"/>
          <p:nvPr/>
        </p:nvSpPr>
        <p:spPr>
          <a:xfrm>
            <a:off x="6903720" y="1051560"/>
            <a:ext cx="2011680" cy="3474720"/>
          </a:xfrm>
          <a:prstGeom prst="rect">
            <a:avLst/>
          </a:prstGeom>
          <a:noFill/>
          <a:ln/>
        </p:spPr>
        <p:txBody>
          <a:bodyPr wrap="square" rtlCol="0" anchor="t"/>
          <a:lstStyle/>
          <a:p>
            <a:pPr indent="0" marL="0">
              <a:buNone/>
            </a:pPr>
            <a:r>
              <a:rPr lang="en-US" sz="1100" dirty="0">
                <a:solidFill>
                  <a:srgbClr val="888888"/>
                </a:solidFill>
              </a:rPr>
              <a:t>Issued at financing close</a:t>
            </a:r>
            <a:endParaRPr lang="en-US" sz="1100" dirty="0"/>
          </a:p>
          <a:p>
            <a:pPr indent="0" marL="0">
              <a:buNone/>
            </a:pPr>
            <a:r>
              <a:rPr lang="en-US" sz="1100" dirty="0">
                <a:solidFill>
                  <a:srgbClr val="888888"/>
                </a:solidFill>
              </a:rPr>
              <a:t>Restricted at issuance (Rule 504)</a:t>
            </a:r>
            <a:endParaRPr lang="en-US" sz="1100" dirty="0"/>
          </a:p>
          <a:p>
            <a:pPr indent="0" marL="0">
              <a:buNone/>
            </a:pPr>
            <a:r>
              <a:rPr lang="en-US" sz="1100" dirty="0">
                <a:solidFill>
                  <a:srgbClr val="888888"/>
                </a:solidFill>
              </a:rPr>
              <a:t>Part of RTO public float</a:t>
            </a:r>
            <a:endParaRPr lang="en-US" sz="1100" dirty="0"/>
          </a:p>
          <a:p>
            <a:pPr indent="0" marL="0">
              <a:buNone/>
            </a:pPr>
            <a:r>
              <a:rPr lang="en-US" sz="1100" dirty="0">
                <a:solidFill>
                  <a:srgbClr val="888888"/>
                </a:solidFill>
              </a:rPr>
              <a:t>Freely tradeable at listing</a:t>
            </a:r>
            <a:endParaRPr lang="en-US" sz="1100" dirty="0"/>
          </a:p>
        </p:txBody>
      </p:sp>
      <p:pic>
        <p:nvPicPr>
          <p:cNvPr id="29"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30" name="Text 27"/>
          <p:cNvSpPr txBox="1"/>
          <p:nvPr/>
        </p:nvSpPr>
        <p:spPr>
          <a:xfrm>
            <a:off x="1554480" y="4800600"/>
            <a:ext cx="6035040" cy="228600"/>
          </a:xfrm>
          <a:prstGeom prst="rect">
            <a:avLst/>
          </a:prstGeom>
          <a:noFill/>
          <a:ln/>
        </p:spPr>
        <p:txBody>
          <a:bodyPr wrap="square" rtlCol="0" anchor="ctr"/>
          <a:lstStyle/>
          <a:p>
            <a:pPr algn="ctr" indent="0" marL="0">
              <a:buNone/>
            </a:pPr>
            <a:r>
              <a:rPr lang="en-US" sz="700" i="1" dirty="0">
                <a:solidFill>
                  <a:srgbClr val="888888"/>
                </a:solidFill>
              </a:rPr>
              <a:t>DRAFT — NEGOTIATING TERMS</a:t>
            </a:r>
            <a:endParaRPr lang="en-US" sz="700" dirty="0"/>
          </a:p>
        </p:txBody>
      </p:sp>
      <p:sp>
        <p:nvSpPr>
          <p:cNvPr id="31" name="Text 28"/>
          <p:cNvSpPr txBox="1"/>
          <p:nvPr/>
        </p:nvSpPr>
        <p:spPr>
          <a:xfrm>
            <a:off x="7772400" y="4800600"/>
            <a:ext cx="1143000" cy="228600"/>
          </a:xfrm>
          <a:prstGeom prst="rect">
            <a:avLst/>
          </a:prstGeom>
          <a:noFill/>
          <a:ln/>
        </p:spPr>
        <p:txBody>
          <a:bodyPr wrap="square" rtlCol="0" anchor="ctr"/>
          <a:lstStyle/>
          <a:p>
            <a:pPr algn="r" indent="0" marL="0">
              <a:buNone/>
            </a:pPr>
            <a:r>
              <a:rPr lang="en-US" sz="700" i="1" dirty="0">
                <a:solidFill>
                  <a:srgbClr val="888888"/>
                </a:solidFill>
              </a:rPr>
              <a:t>CONFIDENTIAL</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How Value Grows: Earn-Outs &amp; Milestones</a:t>
            </a:r>
            <a:endParaRPr lang="en-US" sz="2200" dirty="0"/>
          </a:p>
        </p:txBody>
      </p:sp>
      <p:sp>
        <p:nvSpPr>
          <p:cNvPr id="3" name="Shape 1"/>
          <p:cNvSpPr/>
          <p:nvPr/>
        </p:nvSpPr>
        <p:spPr>
          <a:xfrm>
            <a:off x="457200" y="749808"/>
            <a:ext cx="1371600" cy="36576"/>
          </a:xfrm>
          <a:prstGeom prst="rect">
            <a:avLst/>
          </a:prstGeom>
          <a:solidFill>
            <a:srgbClr val="F26A21"/>
          </a:solidFill>
          <a:ln/>
        </p:spPr>
      </p:sp>
      <p:sp>
        <p:nvSpPr>
          <p:cNvPr id="4" name="Shape 2"/>
          <p:cNvSpPr/>
          <p:nvPr/>
        </p:nvSpPr>
        <p:spPr>
          <a:xfrm>
            <a:off x="320040" y="914400"/>
            <a:ext cx="3246120" cy="347472"/>
          </a:xfrm>
          <a:prstGeom prst="rect">
            <a:avLst/>
          </a:prstGeom>
          <a:solidFill>
            <a:srgbClr val="2A1000"/>
          </a:solidFill>
          <a:ln w="12700">
            <a:solidFill>
              <a:srgbClr val="F26A21"/>
            </a:solidFill>
            <a:prstDash val="solid"/>
          </a:ln>
        </p:spPr>
      </p:sp>
      <p:sp>
        <p:nvSpPr>
          <p:cNvPr id="5" name="Text 3"/>
          <p:cNvSpPr txBox="1"/>
          <p:nvPr/>
        </p:nvSpPr>
        <p:spPr>
          <a:xfrm>
            <a:off x="365760" y="941832"/>
            <a:ext cx="3154680" cy="274320"/>
          </a:xfrm>
          <a:prstGeom prst="rect">
            <a:avLst/>
          </a:prstGeom>
          <a:noFill/>
          <a:ln/>
        </p:spPr>
        <p:txBody>
          <a:bodyPr wrap="square" rtlCol="0" anchor="ctr"/>
          <a:lstStyle/>
          <a:p>
            <a:pPr algn="l" indent="0" marL="0">
              <a:buNone/>
            </a:pPr>
            <a:r>
              <a:rPr lang="en-US" sz="1200" b="1" dirty="0">
                <a:solidFill>
                  <a:srgbClr val="F26A21"/>
                </a:solidFill>
              </a:rPr>
              <a:t>Earn-Out</a:t>
            </a:r>
            <a:endParaRPr lang="en-US" sz="1200" dirty="0"/>
          </a:p>
        </p:txBody>
      </p:sp>
      <p:sp>
        <p:nvSpPr>
          <p:cNvPr id="6" name="Shape 4"/>
          <p:cNvSpPr/>
          <p:nvPr/>
        </p:nvSpPr>
        <p:spPr>
          <a:xfrm>
            <a:off x="3657600" y="914400"/>
            <a:ext cx="1463040" cy="347472"/>
          </a:xfrm>
          <a:prstGeom prst="rect">
            <a:avLst/>
          </a:prstGeom>
          <a:solidFill>
            <a:srgbClr val="2A1000"/>
          </a:solidFill>
          <a:ln w="12700">
            <a:solidFill>
              <a:srgbClr val="F26A21"/>
            </a:solidFill>
            <a:prstDash val="solid"/>
          </a:ln>
        </p:spPr>
      </p:sp>
      <p:sp>
        <p:nvSpPr>
          <p:cNvPr id="7" name="Text 5"/>
          <p:cNvSpPr txBox="1"/>
          <p:nvPr/>
        </p:nvSpPr>
        <p:spPr>
          <a:xfrm>
            <a:off x="3703320" y="941832"/>
            <a:ext cx="1371600" cy="274320"/>
          </a:xfrm>
          <a:prstGeom prst="rect">
            <a:avLst/>
          </a:prstGeom>
          <a:noFill/>
          <a:ln/>
        </p:spPr>
        <p:txBody>
          <a:bodyPr wrap="square" rtlCol="0" anchor="ctr"/>
          <a:lstStyle/>
          <a:p>
            <a:pPr algn="ctr" indent="0" marL="0">
              <a:buNone/>
            </a:pPr>
            <a:r>
              <a:rPr lang="en-US" sz="1200" b="1" dirty="0">
                <a:solidFill>
                  <a:srgbClr val="F26A21"/>
                </a:solidFill>
              </a:rPr>
              <a:t>Low</a:t>
            </a:r>
            <a:endParaRPr lang="en-US" sz="1200" dirty="0"/>
          </a:p>
        </p:txBody>
      </p:sp>
      <p:sp>
        <p:nvSpPr>
          <p:cNvPr id="8" name="Shape 6"/>
          <p:cNvSpPr/>
          <p:nvPr/>
        </p:nvSpPr>
        <p:spPr>
          <a:xfrm>
            <a:off x="5257800" y="914400"/>
            <a:ext cx="1417320" cy="347472"/>
          </a:xfrm>
          <a:prstGeom prst="rect">
            <a:avLst/>
          </a:prstGeom>
          <a:solidFill>
            <a:srgbClr val="2A1000"/>
          </a:solidFill>
          <a:ln w="12700">
            <a:solidFill>
              <a:srgbClr val="F26A21"/>
            </a:solidFill>
            <a:prstDash val="solid"/>
          </a:ln>
        </p:spPr>
      </p:sp>
      <p:sp>
        <p:nvSpPr>
          <p:cNvPr id="9" name="Text 7"/>
          <p:cNvSpPr txBox="1"/>
          <p:nvPr/>
        </p:nvSpPr>
        <p:spPr>
          <a:xfrm>
            <a:off x="5303520" y="941832"/>
            <a:ext cx="1325880" cy="274320"/>
          </a:xfrm>
          <a:prstGeom prst="rect">
            <a:avLst/>
          </a:prstGeom>
          <a:noFill/>
          <a:ln/>
        </p:spPr>
        <p:txBody>
          <a:bodyPr wrap="square" rtlCol="0" anchor="ctr"/>
          <a:lstStyle/>
          <a:p>
            <a:pPr algn="ctr" indent="0" marL="0">
              <a:buNone/>
            </a:pPr>
            <a:r>
              <a:rPr lang="en-US" sz="1200" b="1" dirty="0">
                <a:solidFill>
                  <a:srgbClr val="F26A21"/>
                </a:solidFill>
              </a:rPr>
              <a:t>Base</a:t>
            </a:r>
            <a:endParaRPr lang="en-US" sz="1200" dirty="0"/>
          </a:p>
        </p:txBody>
      </p:sp>
      <p:sp>
        <p:nvSpPr>
          <p:cNvPr id="10" name="Shape 8"/>
          <p:cNvSpPr/>
          <p:nvPr/>
        </p:nvSpPr>
        <p:spPr>
          <a:xfrm>
            <a:off x="6720840" y="914400"/>
            <a:ext cx="2103120" cy="347472"/>
          </a:xfrm>
          <a:prstGeom prst="rect">
            <a:avLst/>
          </a:prstGeom>
          <a:solidFill>
            <a:srgbClr val="2A1000"/>
          </a:solidFill>
          <a:ln w="12700">
            <a:solidFill>
              <a:srgbClr val="F26A21"/>
            </a:solidFill>
            <a:prstDash val="solid"/>
          </a:ln>
        </p:spPr>
      </p:sp>
      <p:sp>
        <p:nvSpPr>
          <p:cNvPr id="11" name="Text 9"/>
          <p:cNvSpPr txBox="1"/>
          <p:nvPr/>
        </p:nvSpPr>
        <p:spPr>
          <a:xfrm>
            <a:off x="6766560" y="941832"/>
            <a:ext cx="2011680" cy="274320"/>
          </a:xfrm>
          <a:prstGeom prst="rect">
            <a:avLst/>
          </a:prstGeom>
          <a:noFill/>
          <a:ln/>
        </p:spPr>
        <p:txBody>
          <a:bodyPr wrap="square" rtlCol="0" anchor="ctr"/>
          <a:lstStyle/>
          <a:p>
            <a:pPr algn="ctr" indent="0" marL="0">
              <a:buNone/>
            </a:pPr>
            <a:r>
              <a:rPr lang="en-US" sz="1200" b="1" dirty="0">
                <a:solidFill>
                  <a:srgbClr val="F26A21"/>
                </a:solidFill>
              </a:rPr>
              <a:t>High</a:t>
            </a:r>
            <a:endParaRPr lang="en-US" sz="1200" dirty="0"/>
          </a:p>
        </p:txBody>
      </p:sp>
      <p:sp>
        <p:nvSpPr>
          <p:cNvPr id="12" name="Shape 10"/>
          <p:cNvSpPr/>
          <p:nvPr/>
        </p:nvSpPr>
        <p:spPr>
          <a:xfrm>
            <a:off x="320040" y="1307592"/>
            <a:ext cx="3246120" cy="393192"/>
          </a:xfrm>
          <a:prstGeom prst="rect">
            <a:avLst/>
          </a:prstGeom>
          <a:solidFill>
            <a:srgbClr val="1C1C1C"/>
          </a:solidFill>
          <a:ln w="12700">
            <a:solidFill>
              <a:srgbClr val="2A2A2A"/>
            </a:solidFill>
            <a:prstDash val="solid"/>
          </a:ln>
        </p:spPr>
      </p:sp>
      <p:sp>
        <p:nvSpPr>
          <p:cNvPr id="13" name="Text 11"/>
          <p:cNvSpPr txBox="1"/>
          <p:nvPr/>
        </p:nvSpPr>
        <p:spPr>
          <a:xfrm>
            <a:off x="384048" y="1335024"/>
            <a:ext cx="3154680" cy="338328"/>
          </a:xfrm>
          <a:prstGeom prst="rect">
            <a:avLst/>
          </a:prstGeom>
          <a:noFill/>
          <a:ln/>
        </p:spPr>
        <p:txBody>
          <a:bodyPr wrap="square" rtlCol="0" anchor="ctr"/>
          <a:lstStyle/>
          <a:p>
            <a:pPr algn="l" indent="0" marL="0">
              <a:buNone/>
            </a:pPr>
            <a:r>
              <a:rPr lang="en-US" sz="1100" dirty="0">
                <a:solidFill>
                  <a:srgbClr val="CCCCCC"/>
                </a:solidFill>
              </a:rPr>
              <a:t>Tank earn-out (5 yrs, IM revenue)</a:t>
            </a:r>
            <a:endParaRPr lang="en-US" sz="1100" dirty="0"/>
          </a:p>
        </p:txBody>
      </p:sp>
      <p:sp>
        <p:nvSpPr>
          <p:cNvPr id="14" name="Shape 12"/>
          <p:cNvSpPr/>
          <p:nvPr/>
        </p:nvSpPr>
        <p:spPr>
          <a:xfrm>
            <a:off x="3657600" y="1307592"/>
            <a:ext cx="1463040" cy="393192"/>
          </a:xfrm>
          <a:prstGeom prst="rect">
            <a:avLst/>
          </a:prstGeom>
          <a:solidFill>
            <a:srgbClr val="1C1C1C"/>
          </a:solidFill>
          <a:ln w="12700">
            <a:solidFill>
              <a:srgbClr val="2A2A2A"/>
            </a:solidFill>
            <a:prstDash val="solid"/>
          </a:ln>
        </p:spPr>
      </p:sp>
      <p:sp>
        <p:nvSpPr>
          <p:cNvPr id="15" name="Text 13"/>
          <p:cNvSpPr txBox="1"/>
          <p:nvPr/>
        </p:nvSpPr>
        <p:spPr>
          <a:xfrm>
            <a:off x="3721608" y="1335024"/>
            <a:ext cx="1371600" cy="338328"/>
          </a:xfrm>
          <a:prstGeom prst="rect">
            <a:avLst/>
          </a:prstGeom>
          <a:noFill/>
          <a:ln/>
        </p:spPr>
        <p:txBody>
          <a:bodyPr wrap="square" rtlCol="0" anchor="ctr"/>
          <a:lstStyle/>
          <a:p>
            <a:pPr algn="ctr" indent="0" marL="0">
              <a:buNone/>
            </a:pPr>
            <a:r>
              <a:rPr lang="en-US" sz="1200" dirty="0">
                <a:solidFill>
                  <a:srgbClr val="FFFFFF"/>
                </a:solidFill>
              </a:rPr>
              <a:t>$750K</a:t>
            </a:r>
            <a:endParaRPr lang="en-US" sz="1200" dirty="0"/>
          </a:p>
        </p:txBody>
      </p:sp>
      <p:sp>
        <p:nvSpPr>
          <p:cNvPr id="16" name="Shape 14"/>
          <p:cNvSpPr/>
          <p:nvPr/>
        </p:nvSpPr>
        <p:spPr>
          <a:xfrm>
            <a:off x="5257800" y="1307592"/>
            <a:ext cx="1417320" cy="393192"/>
          </a:xfrm>
          <a:prstGeom prst="rect">
            <a:avLst/>
          </a:prstGeom>
          <a:solidFill>
            <a:srgbClr val="1C1C1C"/>
          </a:solidFill>
          <a:ln w="12700">
            <a:solidFill>
              <a:srgbClr val="2A2A2A"/>
            </a:solidFill>
            <a:prstDash val="solid"/>
          </a:ln>
        </p:spPr>
      </p:sp>
      <p:sp>
        <p:nvSpPr>
          <p:cNvPr id="17" name="Text 15"/>
          <p:cNvSpPr txBox="1"/>
          <p:nvPr/>
        </p:nvSpPr>
        <p:spPr>
          <a:xfrm>
            <a:off x="5321808" y="1335024"/>
            <a:ext cx="1325880" cy="338328"/>
          </a:xfrm>
          <a:prstGeom prst="rect">
            <a:avLst/>
          </a:prstGeom>
          <a:noFill/>
          <a:ln/>
        </p:spPr>
        <p:txBody>
          <a:bodyPr wrap="square" rtlCol="0" anchor="ctr"/>
          <a:lstStyle/>
          <a:p>
            <a:pPr algn="ctr" indent="0" marL="0">
              <a:buNone/>
            </a:pPr>
            <a:r>
              <a:rPr lang="en-US" sz="1200" dirty="0">
                <a:solidFill>
                  <a:srgbClr val="FFFFFF"/>
                </a:solidFill>
              </a:rPr>
              <a:t>$1,250K</a:t>
            </a:r>
            <a:endParaRPr lang="en-US" sz="1200" dirty="0"/>
          </a:p>
        </p:txBody>
      </p:sp>
      <p:sp>
        <p:nvSpPr>
          <p:cNvPr id="18" name="Shape 16"/>
          <p:cNvSpPr/>
          <p:nvPr/>
        </p:nvSpPr>
        <p:spPr>
          <a:xfrm>
            <a:off x="6720840" y="1307592"/>
            <a:ext cx="2103120" cy="393192"/>
          </a:xfrm>
          <a:prstGeom prst="rect">
            <a:avLst/>
          </a:prstGeom>
          <a:solidFill>
            <a:srgbClr val="1C1C1C"/>
          </a:solidFill>
          <a:ln w="12700">
            <a:solidFill>
              <a:srgbClr val="2A2A2A"/>
            </a:solidFill>
            <a:prstDash val="solid"/>
          </a:ln>
        </p:spPr>
      </p:sp>
      <p:sp>
        <p:nvSpPr>
          <p:cNvPr id="19" name="Text 17"/>
          <p:cNvSpPr txBox="1"/>
          <p:nvPr/>
        </p:nvSpPr>
        <p:spPr>
          <a:xfrm>
            <a:off x="6784848" y="1335024"/>
            <a:ext cx="2011680" cy="338328"/>
          </a:xfrm>
          <a:prstGeom prst="rect">
            <a:avLst/>
          </a:prstGeom>
          <a:noFill/>
          <a:ln/>
        </p:spPr>
        <p:txBody>
          <a:bodyPr wrap="square" rtlCol="0" anchor="ctr"/>
          <a:lstStyle/>
          <a:p>
            <a:pPr algn="ctr" indent="0" marL="0">
              <a:buNone/>
            </a:pPr>
            <a:r>
              <a:rPr lang="en-US" sz="1200" dirty="0">
                <a:solidFill>
                  <a:srgbClr val="FFFFFF"/>
                </a:solidFill>
              </a:rPr>
              <a:t>$1,500K</a:t>
            </a:r>
            <a:endParaRPr lang="en-US" sz="1200" dirty="0"/>
          </a:p>
        </p:txBody>
      </p:sp>
      <p:sp>
        <p:nvSpPr>
          <p:cNvPr id="20" name="Shape 18"/>
          <p:cNvSpPr/>
          <p:nvPr/>
        </p:nvSpPr>
        <p:spPr>
          <a:xfrm>
            <a:off x="320040" y="1728216"/>
            <a:ext cx="3246120" cy="393192"/>
          </a:xfrm>
          <a:prstGeom prst="rect">
            <a:avLst/>
          </a:prstGeom>
          <a:solidFill>
            <a:srgbClr val="222222"/>
          </a:solidFill>
          <a:ln w="12700">
            <a:solidFill>
              <a:srgbClr val="2A2A2A"/>
            </a:solidFill>
            <a:prstDash val="solid"/>
          </a:ln>
        </p:spPr>
      </p:sp>
      <p:sp>
        <p:nvSpPr>
          <p:cNvPr id="21" name="Text 19"/>
          <p:cNvSpPr txBox="1"/>
          <p:nvPr/>
        </p:nvSpPr>
        <p:spPr>
          <a:xfrm>
            <a:off x="384048" y="1755648"/>
            <a:ext cx="3154680" cy="338328"/>
          </a:xfrm>
          <a:prstGeom prst="rect">
            <a:avLst/>
          </a:prstGeom>
          <a:noFill/>
          <a:ln/>
        </p:spPr>
        <p:txBody>
          <a:bodyPr wrap="square" rtlCol="0" anchor="ctr"/>
          <a:lstStyle/>
          <a:p>
            <a:pPr algn="l" indent="0" marL="0">
              <a:buNone/>
            </a:pPr>
            <a:r>
              <a:rPr lang="en-US" sz="1100" dirty="0">
                <a:solidFill>
                  <a:srgbClr val="CCCCCC"/>
                </a:solidFill>
              </a:rPr>
              <a:t>M1: FY2026-27 revenue ≥ $5.1M</a:t>
            </a:r>
            <a:endParaRPr lang="en-US" sz="1100" dirty="0"/>
          </a:p>
        </p:txBody>
      </p:sp>
      <p:sp>
        <p:nvSpPr>
          <p:cNvPr id="22" name="Shape 20"/>
          <p:cNvSpPr/>
          <p:nvPr/>
        </p:nvSpPr>
        <p:spPr>
          <a:xfrm>
            <a:off x="3657600" y="1728216"/>
            <a:ext cx="1463040" cy="393192"/>
          </a:xfrm>
          <a:prstGeom prst="rect">
            <a:avLst/>
          </a:prstGeom>
          <a:solidFill>
            <a:srgbClr val="222222"/>
          </a:solidFill>
          <a:ln w="12700">
            <a:solidFill>
              <a:srgbClr val="2A2A2A"/>
            </a:solidFill>
            <a:prstDash val="solid"/>
          </a:ln>
        </p:spPr>
      </p:sp>
      <p:sp>
        <p:nvSpPr>
          <p:cNvPr id="23" name="Text 21"/>
          <p:cNvSpPr txBox="1"/>
          <p:nvPr/>
        </p:nvSpPr>
        <p:spPr>
          <a:xfrm>
            <a:off x="3721608" y="1755648"/>
            <a:ext cx="1371600" cy="338328"/>
          </a:xfrm>
          <a:prstGeom prst="rect">
            <a:avLst/>
          </a:prstGeom>
          <a:noFill/>
          <a:ln/>
        </p:spPr>
        <p:txBody>
          <a:bodyPr wrap="square" rtlCol="0" anchor="ctr"/>
          <a:lstStyle/>
          <a:p>
            <a:pPr algn="ctr" indent="0" marL="0">
              <a:buNone/>
            </a:pPr>
            <a:r>
              <a:rPr lang="en-US" sz="1200" dirty="0">
                <a:solidFill>
                  <a:srgbClr val="FFFFFF"/>
                </a:solidFill>
              </a:rPr>
              <a:t>$200K</a:t>
            </a:r>
            <a:endParaRPr lang="en-US" sz="1200" dirty="0"/>
          </a:p>
        </p:txBody>
      </p:sp>
      <p:sp>
        <p:nvSpPr>
          <p:cNvPr id="24" name="Shape 22"/>
          <p:cNvSpPr/>
          <p:nvPr/>
        </p:nvSpPr>
        <p:spPr>
          <a:xfrm>
            <a:off x="5257800" y="1728216"/>
            <a:ext cx="1417320" cy="393192"/>
          </a:xfrm>
          <a:prstGeom prst="rect">
            <a:avLst/>
          </a:prstGeom>
          <a:solidFill>
            <a:srgbClr val="222222"/>
          </a:solidFill>
          <a:ln w="12700">
            <a:solidFill>
              <a:srgbClr val="2A2A2A"/>
            </a:solidFill>
            <a:prstDash val="solid"/>
          </a:ln>
        </p:spPr>
      </p:sp>
      <p:sp>
        <p:nvSpPr>
          <p:cNvPr id="25" name="Text 23"/>
          <p:cNvSpPr txBox="1"/>
          <p:nvPr/>
        </p:nvSpPr>
        <p:spPr>
          <a:xfrm>
            <a:off x="5321808" y="1755648"/>
            <a:ext cx="1325880" cy="338328"/>
          </a:xfrm>
          <a:prstGeom prst="rect">
            <a:avLst/>
          </a:prstGeom>
          <a:noFill/>
          <a:ln/>
        </p:spPr>
        <p:txBody>
          <a:bodyPr wrap="square" rtlCol="0" anchor="ctr"/>
          <a:lstStyle/>
          <a:p>
            <a:pPr algn="ctr" indent="0" marL="0">
              <a:buNone/>
            </a:pPr>
            <a:r>
              <a:rPr lang="en-US" sz="1200" dirty="0">
                <a:solidFill>
                  <a:srgbClr val="FFFFFF"/>
                </a:solidFill>
              </a:rPr>
              <a:t>$200K</a:t>
            </a:r>
            <a:endParaRPr lang="en-US" sz="1200" dirty="0"/>
          </a:p>
        </p:txBody>
      </p:sp>
      <p:sp>
        <p:nvSpPr>
          <p:cNvPr id="26" name="Shape 24"/>
          <p:cNvSpPr/>
          <p:nvPr/>
        </p:nvSpPr>
        <p:spPr>
          <a:xfrm>
            <a:off x="6720840" y="1728216"/>
            <a:ext cx="2103120" cy="393192"/>
          </a:xfrm>
          <a:prstGeom prst="rect">
            <a:avLst/>
          </a:prstGeom>
          <a:solidFill>
            <a:srgbClr val="222222"/>
          </a:solidFill>
          <a:ln w="12700">
            <a:solidFill>
              <a:srgbClr val="2A2A2A"/>
            </a:solidFill>
            <a:prstDash val="solid"/>
          </a:ln>
        </p:spPr>
      </p:sp>
      <p:sp>
        <p:nvSpPr>
          <p:cNvPr id="27" name="Text 25"/>
          <p:cNvSpPr txBox="1"/>
          <p:nvPr/>
        </p:nvSpPr>
        <p:spPr>
          <a:xfrm>
            <a:off x="6784848" y="1755648"/>
            <a:ext cx="2011680" cy="338328"/>
          </a:xfrm>
          <a:prstGeom prst="rect">
            <a:avLst/>
          </a:prstGeom>
          <a:noFill/>
          <a:ln/>
        </p:spPr>
        <p:txBody>
          <a:bodyPr wrap="square" rtlCol="0" anchor="ctr"/>
          <a:lstStyle/>
          <a:p>
            <a:pPr algn="ctr" indent="0" marL="0">
              <a:buNone/>
            </a:pPr>
            <a:r>
              <a:rPr lang="en-US" sz="1200" dirty="0">
                <a:solidFill>
                  <a:srgbClr val="FFFFFF"/>
                </a:solidFill>
              </a:rPr>
              <a:t>$200K</a:t>
            </a:r>
            <a:endParaRPr lang="en-US" sz="1200" dirty="0"/>
          </a:p>
        </p:txBody>
      </p:sp>
      <p:sp>
        <p:nvSpPr>
          <p:cNvPr id="28" name="Shape 26"/>
          <p:cNvSpPr/>
          <p:nvPr/>
        </p:nvSpPr>
        <p:spPr>
          <a:xfrm>
            <a:off x="320040" y="2148840"/>
            <a:ext cx="3246120" cy="393192"/>
          </a:xfrm>
          <a:prstGeom prst="rect">
            <a:avLst/>
          </a:prstGeom>
          <a:solidFill>
            <a:srgbClr val="1C1C1C"/>
          </a:solidFill>
          <a:ln w="12700">
            <a:solidFill>
              <a:srgbClr val="2A2A2A"/>
            </a:solidFill>
            <a:prstDash val="solid"/>
          </a:ln>
        </p:spPr>
      </p:sp>
      <p:sp>
        <p:nvSpPr>
          <p:cNvPr id="29" name="Text 27"/>
          <p:cNvSpPr txBox="1"/>
          <p:nvPr/>
        </p:nvSpPr>
        <p:spPr>
          <a:xfrm>
            <a:off x="384048" y="2176272"/>
            <a:ext cx="3154680" cy="338328"/>
          </a:xfrm>
          <a:prstGeom prst="rect">
            <a:avLst/>
          </a:prstGeom>
          <a:noFill/>
          <a:ln/>
        </p:spPr>
        <p:txBody>
          <a:bodyPr wrap="square" rtlCol="0" anchor="ctr"/>
          <a:lstStyle/>
          <a:p>
            <a:pPr algn="l" indent="0" marL="0">
              <a:buNone/>
            </a:pPr>
            <a:r>
              <a:rPr lang="en-US" sz="1100" dirty="0">
                <a:solidFill>
                  <a:srgbClr val="CCCCCC"/>
                </a:solidFill>
              </a:rPr>
              <a:t>M2: Nebula/OTV production contract signed</a:t>
            </a:r>
            <a:endParaRPr lang="en-US" sz="1100" dirty="0"/>
          </a:p>
        </p:txBody>
      </p:sp>
      <p:sp>
        <p:nvSpPr>
          <p:cNvPr id="30" name="Shape 28"/>
          <p:cNvSpPr/>
          <p:nvPr/>
        </p:nvSpPr>
        <p:spPr>
          <a:xfrm>
            <a:off x="3657600" y="2148840"/>
            <a:ext cx="1463040" cy="393192"/>
          </a:xfrm>
          <a:prstGeom prst="rect">
            <a:avLst/>
          </a:prstGeom>
          <a:solidFill>
            <a:srgbClr val="1C1C1C"/>
          </a:solidFill>
          <a:ln w="12700">
            <a:solidFill>
              <a:srgbClr val="2A2A2A"/>
            </a:solidFill>
            <a:prstDash val="solid"/>
          </a:ln>
        </p:spPr>
      </p:sp>
      <p:sp>
        <p:nvSpPr>
          <p:cNvPr id="31" name="Text 29"/>
          <p:cNvSpPr txBox="1"/>
          <p:nvPr/>
        </p:nvSpPr>
        <p:spPr>
          <a:xfrm>
            <a:off x="3721608" y="2176272"/>
            <a:ext cx="1371600" cy="338328"/>
          </a:xfrm>
          <a:prstGeom prst="rect">
            <a:avLst/>
          </a:prstGeom>
          <a:noFill/>
          <a:ln/>
        </p:spPr>
        <p:txBody>
          <a:bodyPr wrap="square" rtlCol="0" anchor="ctr"/>
          <a:lstStyle/>
          <a:p>
            <a:pPr algn="ctr" indent="0" marL="0">
              <a:buNone/>
            </a:pPr>
            <a:r>
              <a:rPr lang="en-US" sz="1200" dirty="0">
                <a:solidFill>
                  <a:srgbClr val="888888"/>
                </a:solidFill>
              </a:rPr>
              <a:t>—</a:t>
            </a:r>
            <a:endParaRPr lang="en-US" sz="1200" dirty="0"/>
          </a:p>
        </p:txBody>
      </p:sp>
      <p:sp>
        <p:nvSpPr>
          <p:cNvPr id="32" name="Shape 30"/>
          <p:cNvSpPr/>
          <p:nvPr/>
        </p:nvSpPr>
        <p:spPr>
          <a:xfrm>
            <a:off x="5257800" y="2148840"/>
            <a:ext cx="1417320" cy="393192"/>
          </a:xfrm>
          <a:prstGeom prst="rect">
            <a:avLst/>
          </a:prstGeom>
          <a:solidFill>
            <a:srgbClr val="1C1C1C"/>
          </a:solidFill>
          <a:ln w="12700">
            <a:solidFill>
              <a:srgbClr val="2A2A2A"/>
            </a:solidFill>
            <a:prstDash val="solid"/>
          </a:ln>
        </p:spPr>
      </p:sp>
      <p:sp>
        <p:nvSpPr>
          <p:cNvPr id="33" name="Text 31"/>
          <p:cNvSpPr txBox="1"/>
          <p:nvPr/>
        </p:nvSpPr>
        <p:spPr>
          <a:xfrm>
            <a:off x="5321808" y="2176272"/>
            <a:ext cx="1325880" cy="338328"/>
          </a:xfrm>
          <a:prstGeom prst="rect">
            <a:avLst/>
          </a:prstGeom>
          <a:noFill/>
          <a:ln/>
        </p:spPr>
        <p:txBody>
          <a:bodyPr wrap="square" rtlCol="0" anchor="ctr"/>
          <a:lstStyle/>
          <a:p>
            <a:pPr algn="ctr" indent="0" marL="0">
              <a:buNone/>
            </a:pPr>
            <a:r>
              <a:rPr lang="en-US" sz="1200" dirty="0">
                <a:solidFill>
                  <a:srgbClr val="FFFFFF"/>
                </a:solidFill>
              </a:rPr>
              <a:t>$200K</a:t>
            </a:r>
            <a:endParaRPr lang="en-US" sz="1200" dirty="0"/>
          </a:p>
        </p:txBody>
      </p:sp>
      <p:sp>
        <p:nvSpPr>
          <p:cNvPr id="34" name="Shape 32"/>
          <p:cNvSpPr/>
          <p:nvPr/>
        </p:nvSpPr>
        <p:spPr>
          <a:xfrm>
            <a:off x="6720840" y="2148840"/>
            <a:ext cx="2103120" cy="393192"/>
          </a:xfrm>
          <a:prstGeom prst="rect">
            <a:avLst/>
          </a:prstGeom>
          <a:solidFill>
            <a:srgbClr val="1C1C1C"/>
          </a:solidFill>
          <a:ln w="12700">
            <a:solidFill>
              <a:srgbClr val="2A2A2A"/>
            </a:solidFill>
            <a:prstDash val="solid"/>
          </a:ln>
        </p:spPr>
      </p:sp>
      <p:sp>
        <p:nvSpPr>
          <p:cNvPr id="35" name="Text 33"/>
          <p:cNvSpPr txBox="1"/>
          <p:nvPr/>
        </p:nvSpPr>
        <p:spPr>
          <a:xfrm>
            <a:off x="6784848" y="2176272"/>
            <a:ext cx="2011680" cy="338328"/>
          </a:xfrm>
          <a:prstGeom prst="rect">
            <a:avLst/>
          </a:prstGeom>
          <a:noFill/>
          <a:ln/>
        </p:spPr>
        <p:txBody>
          <a:bodyPr wrap="square" rtlCol="0" anchor="ctr"/>
          <a:lstStyle/>
          <a:p>
            <a:pPr algn="ctr" indent="0" marL="0">
              <a:buNone/>
            </a:pPr>
            <a:r>
              <a:rPr lang="en-US" sz="1200" dirty="0">
                <a:solidFill>
                  <a:srgbClr val="FFFFFF"/>
                </a:solidFill>
              </a:rPr>
              <a:t>$200K</a:t>
            </a:r>
            <a:endParaRPr lang="en-US" sz="1200" dirty="0"/>
          </a:p>
        </p:txBody>
      </p:sp>
      <p:sp>
        <p:nvSpPr>
          <p:cNvPr id="36" name="Shape 34"/>
          <p:cNvSpPr/>
          <p:nvPr/>
        </p:nvSpPr>
        <p:spPr>
          <a:xfrm>
            <a:off x="320040" y="2569464"/>
            <a:ext cx="3246120" cy="393192"/>
          </a:xfrm>
          <a:prstGeom prst="rect">
            <a:avLst/>
          </a:prstGeom>
          <a:solidFill>
            <a:srgbClr val="222222"/>
          </a:solidFill>
          <a:ln w="12700">
            <a:solidFill>
              <a:srgbClr val="2A2A2A"/>
            </a:solidFill>
            <a:prstDash val="solid"/>
          </a:ln>
        </p:spPr>
      </p:sp>
      <p:sp>
        <p:nvSpPr>
          <p:cNvPr id="37" name="Text 35"/>
          <p:cNvSpPr txBox="1"/>
          <p:nvPr/>
        </p:nvSpPr>
        <p:spPr>
          <a:xfrm>
            <a:off x="384048" y="2596896"/>
            <a:ext cx="3154680" cy="338328"/>
          </a:xfrm>
          <a:prstGeom prst="rect">
            <a:avLst/>
          </a:prstGeom>
          <a:noFill/>
          <a:ln/>
        </p:spPr>
        <p:txBody>
          <a:bodyPr wrap="square" rtlCol="0" anchor="ctr"/>
          <a:lstStyle/>
          <a:p>
            <a:pPr algn="l" indent="0" marL="0">
              <a:buNone/>
            </a:pPr>
            <a:r>
              <a:rPr lang="en-US" sz="1100" dirty="0">
                <a:solidFill>
                  <a:srgbClr val="CCCCCC"/>
                </a:solidFill>
              </a:rPr>
              <a:t>M3: SSLC annual revenue ≥ $10M</a:t>
            </a:r>
            <a:endParaRPr lang="en-US" sz="1100" dirty="0"/>
          </a:p>
        </p:txBody>
      </p:sp>
      <p:sp>
        <p:nvSpPr>
          <p:cNvPr id="38" name="Shape 36"/>
          <p:cNvSpPr/>
          <p:nvPr/>
        </p:nvSpPr>
        <p:spPr>
          <a:xfrm>
            <a:off x="3657600" y="2569464"/>
            <a:ext cx="1463040" cy="393192"/>
          </a:xfrm>
          <a:prstGeom prst="rect">
            <a:avLst/>
          </a:prstGeom>
          <a:solidFill>
            <a:srgbClr val="222222"/>
          </a:solidFill>
          <a:ln w="12700">
            <a:solidFill>
              <a:srgbClr val="2A2A2A"/>
            </a:solidFill>
            <a:prstDash val="solid"/>
          </a:ln>
        </p:spPr>
      </p:sp>
      <p:sp>
        <p:nvSpPr>
          <p:cNvPr id="39" name="Text 37"/>
          <p:cNvSpPr txBox="1"/>
          <p:nvPr/>
        </p:nvSpPr>
        <p:spPr>
          <a:xfrm>
            <a:off x="3721608" y="2596896"/>
            <a:ext cx="1371600" cy="338328"/>
          </a:xfrm>
          <a:prstGeom prst="rect">
            <a:avLst/>
          </a:prstGeom>
          <a:noFill/>
          <a:ln/>
        </p:spPr>
        <p:txBody>
          <a:bodyPr wrap="square" rtlCol="0" anchor="ctr"/>
          <a:lstStyle/>
          <a:p>
            <a:pPr algn="ctr" indent="0" marL="0">
              <a:buNone/>
            </a:pPr>
            <a:r>
              <a:rPr lang="en-US" sz="1200" dirty="0">
                <a:solidFill>
                  <a:srgbClr val="888888"/>
                </a:solidFill>
              </a:rPr>
              <a:t>—</a:t>
            </a:r>
            <a:endParaRPr lang="en-US" sz="1200" dirty="0"/>
          </a:p>
        </p:txBody>
      </p:sp>
      <p:sp>
        <p:nvSpPr>
          <p:cNvPr id="40" name="Shape 38"/>
          <p:cNvSpPr/>
          <p:nvPr/>
        </p:nvSpPr>
        <p:spPr>
          <a:xfrm>
            <a:off x="5257800" y="2569464"/>
            <a:ext cx="1417320" cy="393192"/>
          </a:xfrm>
          <a:prstGeom prst="rect">
            <a:avLst/>
          </a:prstGeom>
          <a:solidFill>
            <a:srgbClr val="222222"/>
          </a:solidFill>
          <a:ln w="12700">
            <a:solidFill>
              <a:srgbClr val="2A2A2A"/>
            </a:solidFill>
            <a:prstDash val="solid"/>
          </a:ln>
        </p:spPr>
      </p:sp>
      <p:sp>
        <p:nvSpPr>
          <p:cNvPr id="41" name="Text 39"/>
          <p:cNvSpPr txBox="1"/>
          <p:nvPr/>
        </p:nvSpPr>
        <p:spPr>
          <a:xfrm>
            <a:off x="5321808" y="2596896"/>
            <a:ext cx="1325880" cy="338328"/>
          </a:xfrm>
          <a:prstGeom prst="rect">
            <a:avLst/>
          </a:prstGeom>
          <a:noFill/>
          <a:ln/>
        </p:spPr>
        <p:txBody>
          <a:bodyPr wrap="square" rtlCol="0" anchor="ctr"/>
          <a:lstStyle/>
          <a:p>
            <a:pPr algn="ctr" indent="0" marL="0">
              <a:buNone/>
            </a:pPr>
            <a:r>
              <a:rPr lang="en-US" sz="1200" dirty="0">
                <a:solidFill>
                  <a:srgbClr val="FFFFFF"/>
                </a:solidFill>
              </a:rPr>
              <a:t>$250K</a:t>
            </a:r>
            <a:endParaRPr lang="en-US" sz="1200" dirty="0"/>
          </a:p>
        </p:txBody>
      </p:sp>
      <p:sp>
        <p:nvSpPr>
          <p:cNvPr id="42" name="Shape 40"/>
          <p:cNvSpPr/>
          <p:nvPr/>
        </p:nvSpPr>
        <p:spPr>
          <a:xfrm>
            <a:off x="6720840" y="2569464"/>
            <a:ext cx="2103120" cy="393192"/>
          </a:xfrm>
          <a:prstGeom prst="rect">
            <a:avLst/>
          </a:prstGeom>
          <a:solidFill>
            <a:srgbClr val="222222"/>
          </a:solidFill>
          <a:ln w="12700">
            <a:solidFill>
              <a:srgbClr val="2A2A2A"/>
            </a:solidFill>
            <a:prstDash val="solid"/>
          </a:ln>
        </p:spPr>
      </p:sp>
      <p:sp>
        <p:nvSpPr>
          <p:cNvPr id="43" name="Text 41"/>
          <p:cNvSpPr txBox="1"/>
          <p:nvPr/>
        </p:nvSpPr>
        <p:spPr>
          <a:xfrm>
            <a:off x="6784848" y="2596896"/>
            <a:ext cx="2011680" cy="338328"/>
          </a:xfrm>
          <a:prstGeom prst="rect">
            <a:avLst/>
          </a:prstGeom>
          <a:noFill/>
          <a:ln/>
        </p:spPr>
        <p:txBody>
          <a:bodyPr wrap="square" rtlCol="0" anchor="ctr"/>
          <a:lstStyle/>
          <a:p>
            <a:pPr algn="ctr" indent="0" marL="0">
              <a:buNone/>
            </a:pPr>
            <a:r>
              <a:rPr lang="en-US" sz="1200" dirty="0">
                <a:solidFill>
                  <a:srgbClr val="FFFFFF"/>
                </a:solidFill>
              </a:rPr>
              <a:t>$250K</a:t>
            </a:r>
            <a:endParaRPr lang="en-US" sz="1200" dirty="0"/>
          </a:p>
        </p:txBody>
      </p:sp>
      <p:sp>
        <p:nvSpPr>
          <p:cNvPr id="44" name="Shape 42"/>
          <p:cNvSpPr/>
          <p:nvPr/>
        </p:nvSpPr>
        <p:spPr>
          <a:xfrm>
            <a:off x="320040" y="2990088"/>
            <a:ext cx="3246120" cy="393192"/>
          </a:xfrm>
          <a:prstGeom prst="rect">
            <a:avLst/>
          </a:prstGeom>
          <a:solidFill>
            <a:srgbClr val="1C1C1C"/>
          </a:solidFill>
          <a:ln w="12700">
            <a:solidFill>
              <a:srgbClr val="2A2A2A"/>
            </a:solidFill>
            <a:prstDash val="solid"/>
          </a:ln>
        </p:spPr>
      </p:sp>
      <p:sp>
        <p:nvSpPr>
          <p:cNvPr id="45" name="Text 43"/>
          <p:cNvSpPr txBox="1"/>
          <p:nvPr/>
        </p:nvSpPr>
        <p:spPr>
          <a:xfrm>
            <a:off x="384048" y="3017520"/>
            <a:ext cx="3154680" cy="338328"/>
          </a:xfrm>
          <a:prstGeom prst="rect">
            <a:avLst/>
          </a:prstGeom>
          <a:noFill/>
          <a:ln/>
        </p:spPr>
        <p:txBody>
          <a:bodyPr wrap="square" rtlCol="0" anchor="ctr"/>
          <a:lstStyle/>
          <a:p>
            <a:pPr algn="l" indent="0" marL="0">
              <a:buNone/>
            </a:pPr>
            <a:r>
              <a:rPr lang="en-US" sz="1100" dirty="0">
                <a:solidFill>
                  <a:srgbClr val="CCCCCC"/>
                </a:solidFill>
              </a:rPr>
              <a:t>M4: SSLC annual revenue ≥ $20M</a:t>
            </a:r>
            <a:endParaRPr lang="en-US" sz="1100" dirty="0"/>
          </a:p>
        </p:txBody>
      </p:sp>
      <p:sp>
        <p:nvSpPr>
          <p:cNvPr id="46" name="Shape 44"/>
          <p:cNvSpPr/>
          <p:nvPr/>
        </p:nvSpPr>
        <p:spPr>
          <a:xfrm>
            <a:off x="3657600" y="2990088"/>
            <a:ext cx="1463040" cy="393192"/>
          </a:xfrm>
          <a:prstGeom prst="rect">
            <a:avLst/>
          </a:prstGeom>
          <a:solidFill>
            <a:srgbClr val="1C1C1C"/>
          </a:solidFill>
          <a:ln w="12700">
            <a:solidFill>
              <a:srgbClr val="2A2A2A"/>
            </a:solidFill>
            <a:prstDash val="solid"/>
          </a:ln>
        </p:spPr>
      </p:sp>
      <p:sp>
        <p:nvSpPr>
          <p:cNvPr id="47" name="Text 45"/>
          <p:cNvSpPr txBox="1"/>
          <p:nvPr/>
        </p:nvSpPr>
        <p:spPr>
          <a:xfrm>
            <a:off x="3721608" y="3017520"/>
            <a:ext cx="1371600" cy="338328"/>
          </a:xfrm>
          <a:prstGeom prst="rect">
            <a:avLst/>
          </a:prstGeom>
          <a:noFill/>
          <a:ln/>
        </p:spPr>
        <p:txBody>
          <a:bodyPr wrap="square" rtlCol="0" anchor="ctr"/>
          <a:lstStyle/>
          <a:p>
            <a:pPr algn="ctr" indent="0" marL="0">
              <a:buNone/>
            </a:pPr>
            <a:r>
              <a:rPr lang="en-US" sz="1200" dirty="0">
                <a:solidFill>
                  <a:srgbClr val="888888"/>
                </a:solidFill>
              </a:rPr>
              <a:t>—</a:t>
            </a:r>
            <a:endParaRPr lang="en-US" sz="1200" dirty="0"/>
          </a:p>
        </p:txBody>
      </p:sp>
      <p:sp>
        <p:nvSpPr>
          <p:cNvPr id="48" name="Shape 46"/>
          <p:cNvSpPr/>
          <p:nvPr/>
        </p:nvSpPr>
        <p:spPr>
          <a:xfrm>
            <a:off x="5257800" y="2990088"/>
            <a:ext cx="1417320" cy="393192"/>
          </a:xfrm>
          <a:prstGeom prst="rect">
            <a:avLst/>
          </a:prstGeom>
          <a:solidFill>
            <a:srgbClr val="1C1C1C"/>
          </a:solidFill>
          <a:ln w="12700">
            <a:solidFill>
              <a:srgbClr val="2A2A2A"/>
            </a:solidFill>
            <a:prstDash val="solid"/>
          </a:ln>
        </p:spPr>
      </p:sp>
      <p:sp>
        <p:nvSpPr>
          <p:cNvPr id="49" name="Text 47"/>
          <p:cNvSpPr txBox="1"/>
          <p:nvPr/>
        </p:nvSpPr>
        <p:spPr>
          <a:xfrm>
            <a:off x="5321808" y="3017520"/>
            <a:ext cx="1325880" cy="338328"/>
          </a:xfrm>
          <a:prstGeom prst="rect">
            <a:avLst/>
          </a:prstGeom>
          <a:noFill/>
          <a:ln/>
        </p:spPr>
        <p:txBody>
          <a:bodyPr wrap="square" rtlCol="0" anchor="ctr"/>
          <a:lstStyle/>
          <a:p>
            <a:pPr algn="ctr" indent="0" marL="0">
              <a:buNone/>
            </a:pPr>
            <a:r>
              <a:rPr lang="en-US" sz="1200" dirty="0">
                <a:solidFill>
                  <a:srgbClr val="888888"/>
                </a:solidFill>
              </a:rPr>
              <a:t>—</a:t>
            </a:r>
            <a:endParaRPr lang="en-US" sz="1200" dirty="0"/>
          </a:p>
        </p:txBody>
      </p:sp>
      <p:sp>
        <p:nvSpPr>
          <p:cNvPr id="50" name="Shape 48"/>
          <p:cNvSpPr/>
          <p:nvPr/>
        </p:nvSpPr>
        <p:spPr>
          <a:xfrm>
            <a:off x="6720840" y="2990088"/>
            <a:ext cx="2103120" cy="393192"/>
          </a:xfrm>
          <a:prstGeom prst="rect">
            <a:avLst/>
          </a:prstGeom>
          <a:solidFill>
            <a:srgbClr val="1C1C1C"/>
          </a:solidFill>
          <a:ln w="12700">
            <a:solidFill>
              <a:srgbClr val="2A2A2A"/>
            </a:solidFill>
            <a:prstDash val="solid"/>
          </a:ln>
        </p:spPr>
      </p:sp>
      <p:sp>
        <p:nvSpPr>
          <p:cNvPr id="51" name="Text 49"/>
          <p:cNvSpPr txBox="1"/>
          <p:nvPr/>
        </p:nvSpPr>
        <p:spPr>
          <a:xfrm>
            <a:off x="6784848" y="3017520"/>
            <a:ext cx="2011680" cy="338328"/>
          </a:xfrm>
          <a:prstGeom prst="rect">
            <a:avLst/>
          </a:prstGeom>
          <a:noFill/>
          <a:ln/>
        </p:spPr>
        <p:txBody>
          <a:bodyPr wrap="square" rtlCol="0" anchor="ctr"/>
          <a:lstStyle/>
          <a:p>
            <a:pPr algn="ctr" indent="0" marL="0">
              <a:buNone/>
            </a:pPr>
            <a:r>
              <a:rPr lang="en-US" sz="1200" dirty="0">
                <a:solidFill>
                  <a:srgbClr val="FFFFFF"/>
                </a:solidFill>
              </a:rPr>
              <a:t>$250K</a:t>
            </a:r>
            <a:endParaRPr lang="en-US" sz="1200" dirty="0"/>
          </a:p>
        </p:txBody>
      </p:sp>
      <p:sp>
        <p:nvSpPr>
          <p:cNvPr id="52" name="Shape 50"/>
          <p:cNvSpPr/>
          <p:nvPr/>
        </p:nvSpPr>
        <p:spPr>
          <a:xfrm>
            <a:off x="320040" y="3410712"/>
            <a:ext cx="3246120" cy="393192"/>
          </a:xfrm>
          <a:prstGeom prst="rect">
            <a:avLst/>
          </a:prstGeom>
          <a:solidFill>
            <a:srgbClr val="222222"/>
          </a:solidFill>
          <a:ln w="12700">
            <a:solidFill>
              <a:srgbClr val="2A2A2A"/>
            </a:solidFill>
            <a:prstDash val="solid"/>
          </a:ln>
        </p:spPr>
      </p:sp>
      <p:sp>
        <p:nvSpPr>
          <p:cNvPr id="53" name="Text 51"/>
          <p:cNvSpPr txBox="1"/>
          <p:nvPr/>
        </p:nvSpPr>
        <p:spPr>
          <a:xfrm>
            <a:off x="384048" y="3438144"/>
            <a:ext cx="3154680" cy="338328"/>
          </a:xfrm>
          <a:prstGeom prst="rect">
            <a:avLst/>
          </a:prstGeom>
          <a:noFill/>
          <a:ln/>
        </p:spPr>
        <p:txBody>
          <a:bodyPr wrap="square" rtlCol="0" anchor="ctr"/>
          <a:lstStyle/>
          <a:p>
            <a:pPr algn="l" indent="0" marL="0">
              <a:buNone/>
            </a:pPr>
            <a:r>
              <a:rPr lang="en-US" sz="1100" dirty="0">
                <a:solidFill>
                  <a:srgbClr val="CCCCCC"/>
                </a:solidFill>
              </a:rPr>
              <a:t>M5: BLK3 tank qualification complete</a:t>
            </a:r>
            <a:endParaRPr lang="en-US" sz="1100" dirty="0"/>
          </a:p>
        </p:txBody>
      </p:sp>
      <p:sp>
        <p:nvSpPr>
          <p:cNvPr id="54" name="Shape 52"/>
          <p:cNvSpPr/>
          <p:nvPr/>
        </p:nvSpPr>
        <p:spPr>
          <a:xfrm>
            <a:off x="3657600" y="3410712"/>
            <a:ext cx="1463040" cy="393192"/>
          </a:xfrm>
          <a:prstGeom prst="rect">
            <a:avLst/>
          </a:prstGeom>
          <a:solidFill>
            <a:srgbClr val="222222"/>
          </a:solidFill>
          <a:ln w="12700">
            <a:solidFill>
              <a:srgbClr val="2A2A2A"/>
            </a:solidFill>
            <a:prstDash val="solid"/>
          </a:ln>
        </p:spPr>
      </p:sp>
      <p:sp>
        <p:nvSpPr>
          <p:cNvPr id="55" name="Text 53"/>
          <p:cNvSpPr txBox="1"/>
          <p:nvPr/>
        </p:nvSpPr>
        <p:spPr>
          <a:xfrm>
            <a:off x="3721608" y="3438144"/>
            <a:ext cx="1371600" cy="338328"/>
          </a:xfrm>
          <a:prstGeom prst="rect">
            <a:avLst/>
          </a:prstGeom>
          <a:noFill/>
          <a:ln/>
        </p:spPr>
        <p:txBody>
          <a:bodyPr wrap="square" rtlCol="0" anchor="ctr"/>
          <a:lstStyle/>
          <a:p>
            <a:pPr algn="ctr" indent="0" marL="0">
              <a:buNone/>
            </a:pPr>
            <a:r>
              <a:rPr lang="en-US" sz="1200" dirty="0">
                <a:solidFill>
                  <a:srgbClr val="888888"/>
                </a:solidFill>
              </a:rPr>
              <a:t>—</a:t>
            </a:r>
            <a:endParaRPr lang="en-US" sz="1200" dirty="0"/>
          </a:p>
        </p:txBody>
      </p:sp>
      <p:sp>
        <p:nvSpPr>
          <p:cNvPr id="56" name="Shape 54"/>
          <p:cNvSpPr/>
          <p:nvPr/>
        </p:nvSpPr>
        <p:spPr>
          <a:xfrm>
            <a:off x="5257800" y="3410712"/>
            <a:ext cx="1417320" cy="393192"/>
          </a:xfrm>
          <a:prstGeom prst="rect">
            <a:avLst/>
          </a:prstGeom>
          <a:solidFill>
            <a:srgbClr val="222222"/>
          </a:solidFill>
          <a:ln w="12700">
            <a:solidFill>
              <a:srgbClr val="2A2A2A"/>
            </a:solidFill>
            <a:prstDash val="solid"/>
          </a:ln>
        </p:spPr>
      </p:sp>
      <p:sp>
        <p:nvSpPr>
          <p:cNvPr id="57" name="Text 55"/>
          <p:cNvSpPr txBox="1"/>
          <p:nvPr/>
        </p:nvSpPr>
        <p:spPr>
          <a:xfrm>
            <a:off x="5321808" y="3438144"/>
            <a:ext cx="1325880" cy="338328"/>
          </a:xfrm>
          <a:prstGeom prst="rect">
            <a:avLst/>
          </a:prstGeom>
          <a:noFill/>
          <a:ln/>
        </p:spPr>
        <p:txBody>
          <a:bodyPr wrap="square" rtlCol="0" anchor="ctr"/>
          <a:lstStyle/>
          <a:p>
            <a:pPr algn="ctr" indent="0" marL="0">
              <a:buNone/>
            </a:pPr>
            <a:r>
              <a:rPr lang="en-US" sz="1200" dirty="0">
                <a:solidFill>
                  <a:srgbClr val="888888"/>
                </a:solidFill>
              </a:rPr>
              <a:t>—</a:t>
            </a:r>
            <a:endParaRPr lang="en-US" sz="1200" dirty="0"/>
          </a:p>
        </p:txBody>
      </p:sp>
      <p:sp>
        <p:nvSpPr>
          <p:cNvPr id="58" name="Shape 56"/>
          <p:cNvSpPr/>
          <p:nvPr/>
        </p:nvSpPr>
        <p:spPr>
          <a:xfrm>
            <a:off x="6720840" y="3410712"/>
            <a:ext cx="2103120" cy="393192"/>
          </a:xfrm>
          <a:prstGeom prst="rect">
            <a:avLst/>
          </a:prstGeom>
          <a:solidFill>
            <a:srgbClr val="222222"/>
          </a:solidFill>
          <a:ln w="12700">
            <a:solidFill>
              <a:srgbClr val="2A2A2A"/>
            </a:solidFill>
            <a:prstDash val="solid"/>
          </a:ln>
        </p:spPr>
      </p:sp>
      <p:sp>
        <p:nvSpPr>
          <p:cNvPr id="59" name="Text 57"/>
          <p:cNvSpPr txBox="1"/>
          <p:nvPr/>
        </p:nvSpPr>
        <p:spPr>
          <a:xfrm>
            <a:off x="6784848" y="3438144"/>
            <a:ext cx="2011680" cy="338328"/>
          </a:xfrm>
          <a:prstGeom prst="rect">
            <a:avLst/>
          </a:prstGeom>
          <a:noFill/>
          <a:ln/>
        </p:spPr>
        <p:txBody>
          <a:bodyPr wrap="square" rtlCol="0" anchor="ctr"/>
          <a:lstStyle/>
          <a:p>
            <a:pPr algn="ctr" indent="0" marL="0">
              <a:buNone/>
            </a:pPr>
            <a:r>
              <a:rPr lang="en-US" sz="1200" dirty="0">
                <a:solidFill>
                  <a:srgbClr val="FFFFFF"/>
                </a:solidFill>
              </a:rPr>
              <a:t>$200K</a:t>
            </a:r>
            <a:endParaRPr lang="en-US" sz="1200" dirty="0"/>
          </a:p>
        </p:txBody>
      </p:sp>
      <p:sp>
        <p:nvSpPr>
          <p:cNvPr id="60" name="Shape 58"/>
          <p:cNvSpPr/>
          <p:nvPr/>
        </p:nvSpPr>
        <p:spPr>
          <a:xfrm>
            <a:off x="320040" y="3831336"/>
            <a:ext cx="3246120" cy="393192"/>
          </a:xfrm>
          <a:prstGeom prst="rect">
            <a:avLst/>
          </a:prstGeom>
          <a:solidFill>
            <a:srgbClr val="1C1C1C"/>
          </a:solidFill>
          <a:ln w="12700">
            <a:solidFill>
              <a:srgbClr val="2A2A2A"/>
            </a:solidFill>
            <a:prstDash val="solid"/>
          </a:ln>
        </p:spPr>
      </p:sp>
      <p:sp>
        <p:nvSpPr>
          <p:cNvPr id="61" name="Text 59"/>
          <p:cNvSpPr txBox="1"/>
          <p:nvPr/>
        </p:nvSpPr>
        <p:spPr>
          <a:xfrm>
            <a:off x="384048" y="3858768"/>
            <a:ext cx="3154680" cy="338328"/>
          </a:xfrm>
          <a:prstGeom prst="rect">
            <a:avLst/>
          </a:prstGeom>
          <a:noFill/>
          <a:ln/>
        </p:spPr>
        <p:txBody>
          <a:bodyPr wrap="square" rtlCol="0" anchor="ctr"/>
          <a:lstStyle/>
          <a:p>
            <a:pPr algn="l" indent="0" marL="0">
              <a:buNone/>
            </a:pPr>
            <a:r>
              <a:rPr lang="en-US" sz="1100" dirty="0">
                <a:solidFill>
                  <a:srgbClr val="CCCCCC"/>
                </a:solidFill>
              </a:rPr>
              <a:t>Stock earn-out at listing (additional equity)</a:t>
            </a:r>
            <a:endParaRPr lang="en-US" sz="1100" dirty="0"/>
          </a:p>
        </p:txBody>
      </p:sp>
      <p:sp>
        <p:nvSpPr>
          <p:cNvPr id="62" name="Shape 60"/>
          <p:cNvSpPr/>
          <p:nvPr/>
        </p:nvSpPr>
        <p:spPr>
          <a:xfrm>
            <a:off x="3657600" y="3831336"/>
            <a:ext cx="1463040" cy="393192"/>
          </a:xfrm>
          <a:prstGeom prst="rect">
            <a:avLst/>
          </a:prstGeom>
          <a:solidFill>
            <a:srgbClr val="1C1C1C"/>
          </a:solidFill>
          <a:ln w="12700">
            <a:solidFill>
              <a:srgbClr val="2A2A2A"/>
            </a:solidFill>
            <a:prstDash val="solid"/>
          </a:ln>
        </p:spPr>
      </p:sp>
      <p:sp>
        <p:nvSpPr>
          <p:cNvPr id="63" name="Text 61"/>
          <p:cNvSpPr txBox="1"/>
          <p:nvPr/>
        </p:nvSpPr>
        <p:spPr>
          <a:xfrm>
            <a:off x="3721608" y="3858768"/>
            <a:ext cx="1371600" cy="338328"/>
          </a:xfrm>
          <a:prstGeom prst="rect">
            <a:avLst/>
          </a:prstGeom>
          <a:noFill/>
          <a:ln/>
        </p:spPr>
        <p:txBody>
          <a:bodyPr wrap="square" rtlCol="0" anchor="ctr"/>
          <a:lstStyle/>
          <a:p>
            <a:pPr algn="ctr" indent="0" marL="0">
              <a:buNone/>
            </a:pPr>
            <a:r>
              <a:rPr lang="en-US" sz="1200" dirty="0">
                <a:solidFill>
                  <a:srgbClr val="888888"/>
                </a:solidFill>
              </a:rPr>
              <a:t>$0</a:t>
            </a:r>
            <a:endParaRPr lang="en-US" sz="1200" dirty="0"/>
          </a:p>
          <a:p>
            <a:pPr algn="ctr" indent="0" marL="0">
              <a:buNone/>
            </a:pPr>
            <a:r>
              <a:rPr lang="en-US" sz="1200" dirty="0">
                <a:solidFill>
                  <a:srgbClr val="888888"/>
                </a:solidFill>
              </a:rPr>
              <a:t>(0.0%)</a:t>
            </a:r>
            <a:endParaRPr lang="en-US" sz="1200" dirty="0"/>
          </a:p>
        </p:txBody>
      </p:sp>
      <p:sp>
        <p:nvSpPr>
          <p:cNvPr id="64" name="Shape 62"/>
          <p:cNvSpPr/>
          <p:nvPr/>
        </p:nvSpPr>
        <p:spPr>
          <a:xfrm>
            <a:off x="5257800" y="3831336"/>
            <a:ext cx="1417320" cy="393192"/>
          </a:xfrm>
          <a:prstGeom prst="rect">
            <a:avLst/>
          </a:prstGeom>
          <a:solidFill>
            <a:srgbClr val="1C1C1C"/>
          </a:solidFill>
          <a:ln w="12700">
            <a:solidFill>
              <a:srgbClr val="2A2A2A"/>
            </a:solidFill>
            <a:prstDash val="solid"/>
          </a:ln>
        </p:spPr>
      </p:sp>
      <p:sp>
        <p:nvSpPr>
          <p:cNvPr id="65" name="Text 63"/>
          <p:cNvSpPr txBox="1"/>
          <p:nvPr/>
        </p:nvSpPr>
        <p:spPr>
          <a:xfrm>
            <a:off x="5321808" y="3858768"/>
            <a:ext cx="1325880" cy="338328"/>
          </a:xfrm>
          <a:prstGeom prst="rect">
            <a:avLst/>
          </a:prstGeom>
          <a:noFill/>
          <a:ln/>
        </p:spPr>
        <p:txBody>
          <a:bodyPr wrap="square" rtlCol="0" anchor="ctr"/>
          <a:lstStyle/>
          <a:p>
            <a:pPr algn="ctr" indent="0" marL="0">
              <a:buNone/>
            </a:pPr>
            <a:r>
              <a:rPr lang="en-US" sz="1200" dirty="0">
                <a:solidFill>
                  <a:srgbClr val="FFFFFF"/>
                </a:solidFill>
              </a:rPr>
              <a:t>$625K</a:t>
            </a:r>
            <a:endParaRPr lang="en-US" sz="1200" dirty="0"/>
          </a:p>
          <a:p>
            <a:pPr algn="ctr" indent="0" marL="0">
              <a:buNone/>
            </a:pPr>
            <a:r>
              <a:rPr lang="en-US" sz="1200" dirty="0">
                <a:solidFill>
                  <a:srgbClr val="FFFFFF"/>
                </a:solidFill>
              </a:rPr>
              <a:t>(0.25%)</a:t>
            </a:r>
            <a:endParaRPr lang="en-US" sz="1200" dirty="0"/>
          </a:p>
        </p:txBody>
      </p:sp>
      <p:sp>
        <p:nvSpPr>
          <p:cNvPr id="66" name="Shape 64"/>
          <p:cNvSpPr/>
          <p:nvPr/>
        </p:nvSpPr>
        <p:spPr>
          <a:xfrm>
            <a:off x="6720840" y="3831336"/>
            <a:ext cx="2103120" cy="393192"/>
          </a:xfrm>
          <a:prstGeom prst="rect">
            <a:avLst/>
          </a:prstGeom>
          <a:solidFill>
            <a:srgbClr val="1C1C1C"/>
          </a:solidFill>
          <a:ln w="12700">
            <a:solidFill>
              <a:srgbClr val="2A2A2A"/>
            </a:solidFill>
            <a:prstDash val="solid"/>
          </a:ln>
        </p:spPr>
      </p:sp>
      <p:sp>
        <p:nvSpPr>
          <p:cNvPr id="67" name="Text 65"/>
          <p:cNvSpPr txBox="1"/>
          <p:nvPr/>
        </p:nvSpPr>
        <p:spPr>
          <a:xfrm>
            <a:off x="6784848" y="3858768"/>
            <a:ext cx="2011680" cy="338328"/>
          </a:xfrm>
          <a:prstGeom prst="rect">
            <a:avLst/>
          </a:prstGeom>
          <a:noFill/>
          <a:ln/>
        </p:spPr>
        <p:txBody>
          <a:bodyPr wrap="square" rtlCol="0" anchor="ctr"/>
          <a:lstStyle/>
          <a:p>
            <a:pPr algn="ctr" indent="0" marL="0">
              <a:buNone/>
            </a:pPr>
            <a:r>
              <a:rPr lang="en-US" sz="1200" dirty="0">
                <a:solidFill>
                  <a:srgbClr val="FFFFFF"/>
                </a:solidFill>
              </a:rPr>
              <a:t>$1,500K</a:t>
            </a:r>
            <a:endParaRPr lang="en-US" sz="1200" dirty="0"/>
          </a:p>
          <a:p>
            <a:pPr algn="ctr" indent="0" marL="0">
              <a:buNone/>
            </a:pPr>
            <a:r>
              <a:rPr lang="en-US" sz="1200" dirty="0">
                <a:solidFill>
                  <a:srgbClr val="FFFFFF"/>
                </a:solidFill>
              </a:rPr>
              <a:t>(0.50%)</a:t>
            </a:r>
            <a:endParaRPr lang="en-US" sz="1200" dirty="0"/>
          </a:p>
        </p:txBody>
      </p:sp>
      <p:sp>
        <p:nvSpPr>
          <p:cNvPr id="68" name="Shape 66"/>
          <p:cNvSpPr/>
          <p:nvPr/>
        </p:nvSpPr>
        <p:spPr>
          <a:xfrm>
            <a:off x="320040" y="4270248"/>
            <a:ext cx="8503920" cy="658368"/>
          </a:xfrm>
          <a:prstGeom prst="rect">
            <a:avLst/>
          </a:prstGeom>
          <a:solidFill>
            <a:srgbClr val="150B00"/>
          </a:solidFill>
          <a:ln w="12700">
            <a:solidFill>
              <a:srgbClr val="F26A21"/>
            </a:solidFill>
            <a:prstDash val="solid"/>
          </a:ln>
        </p:spPr>
      </p:sp>
      <p:sp>
        <p:nvSpPr>
          <p:cNvPr id="69" name="Text 67"/>
          <p:cNvSpPr txBox="1"/>
          <p:nvPr/>
        </p:nvSpPr>
        <p:spPr>
          <a:xfrm>
            <a:off x="457200" y="4325112"/>
            <a:ext cx="8229600" cy="548640"/>
          </a:xfrm>
          <a:prstGeom prst="rect">
            <a:avLst/>
          </a:prstGeom>
          <a:noFill/>
          <a:ln/>
        </p:spPr>
        <p:txBody>
          <a:bodyPr wrap="square" rtlCol="0" anchor="ctr"/>
          <a:lstStyle/>
          <a:p>
            <a:pPr algn="ctr" indent="0" marL="0">
              <a:buNone/>
            </a:pPr>
            <a:r>
              <a:rPr lang="en-US" sz="1200" i="1" dirty="0">
                <a:solidFill>
                  <a:srgbClr val="CCCCCC"/>
                </a:solidFill>
              </a:rPr>
              <a:t>"The up-front price reflects what the numbers support today; the earn-outs are how that value grows as goals are met."  — John M. Quinn</a:t>
            </a:r>
            <a:endParaRPr lang="en-US" sz="1200" dirty="0"/>
          </a:p>
        </p:txBody>
      </p:sp>
      <p:pic>
        <p:nvPicPr>
          <p:cNvPr id="70"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71" name="Text 68"/>
          <p:cNvSpPr txBox="1"/>
          <p:nvPr/>
        </p:nvSpPr>
        <p:spPr>
          <a:xfrm>
            <a:off x="1554480" y="4800600"/>
            <a:ext cx="6035040" cy="228600"/>
          </a:xfrm>
          <a:prstGeom prst="rect">
            <a:avLst/>
          </a:prstGeom>
          <a:noFill/>
          <a:ln/>
        </p:spPr>
        <p:txBody>
          <a:bodyPr wrap="square" rtlCol="0" anchor="ctr"/>
          <a:lstStyle/>
          <a:p>
            <a:pPr algn="ctr" indent="0" marL="0">
              <a:buNone/>
            </a:pPr>
            <a:r>
              <a:rPr lang="en-US" sz="700" i="1" dirty="0">
                <a:solidFill>
                  <a:srgbClr val="888888"/>
                </a:solidFill>
              </a:rPr>
              <a:t>DRAFT — NEGOTIATING TERMS</a:t>
            </a:r>
            <a:endParaRPr lang="en-US" sz="700" dirty="0"/>
          </a:p>
        </p:txBody>
      </p:sp>
      <p:sp>
        <p:nvSpPr>
          <p:cNvPr id="72" name="Text 69"/>
          <p:cNvSpPr txBox="1"/>
          <p:nvPr/>
        </p:nvSpPr>
        <p:spPr>
          <a:xfrm>
            <a:off x="7772400" y="4800600"/>
            <a:ext cx="1143000" cy="228600"/>
          </a:xfrm>
          <a:prstGeom prst="rect">
            <a:avLst/>
          </a:prstGeom>
          <a:noFill/>
          <a:ln/>
        </p:spPr>
        <p:txBody>
          <a:bodyPr wrap="square" rtlCol="0" anchor="ctr"/>
          <a:lstStyle/>
          <a:p>
            <a:pPr algn="r" indent="0" marL="0">
              <a:buNone/>
            </a:pPr>
            <a:r>
              <a:rPr lang="en-US" sz="700" i="1" dirty="0">
                <a:solidFill>
                  <a:srgbClr val="888888"/>
                </a:solidFill>
              </a:rPr>
              <a:t>CONFIDENTIAL</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Total Offer Value</a:t>
            </a:r>
            <a:endParaRPr lang="en-US" sz="2200" dirty="0"/>
          </a:p>
        </p:txBody>
      </p:sp>
      <p:sp>
        <p:nvSpPr>
          <p:cNvPr id="3" name="Shape 1"/>
          <p:cNvSpPr/>
          <p:nvPr/>
        </p:nvSpPr>
        <p:spPr>
          <a:xfrm>
            <a:off x="457200" y="749808"/>
            <a:ext cx="1371600" cy="36576"/>
          </a:xfrm>
          <a:prstGeom prst="rect">
            <a:avLst/>
          </a:prstGeom>
          <a:solidFill>
            <a:srgbClr val="F26A21"/>
          </a:solidFill>
          <a:ln/>
        </p:spPr>
      </p:sp>
      <p:sp>
        <p:nvSpPr>
          <p:cNvPr id="4" name="Text 2"/>
          <p:cNvSpPr txBox="1"/>
          <p:nvPr/>
        </p:nvSpPr>
        <p:spPr>
          <a:xfrm>
            <a:off x="457200" y="914400"/>
            <a:ext cx="4389120" cy="320040"/>
          </a:xfrm>
          <a:prstGeom prst="rect">
            <a:avLst/>
          </a:prstGeom>
          <a:noFill/>
          <a:ln/>
        </p:spPr>
        <p:txBody>
          <a:bodyPr wrap="square" rtlCol="0" anchor="ctr"/>
          <a:lstStyle/>
          <a:p>
            <a:pPr indent="0" marL="0">
              <a:buNone/>
            </a:pPr>
            <a:r>
              <a:rPr lang="en-US" sz="1300" b="1" dirty="0">
                <a:solidFill>
                  <a:srgbClr val="2ECC71"/>
                </a:solidFill>
              </a:rPr>
              <a:t>③  5-Year Total (earn-outs realized)</a:t>
            </a:r>
            <a:endParaRPr lang="en-US" sz="1300" dirty="0"/>
          </a:p>
        </p:txBody>
      </p:sp>
      <p:sp>
        <p:nvSpPr>
          <p:cNvPr id="5" name="Shape 3"/>
          <p:cNvSpPr/>
          <p:nvPr/>
        </p:nvSpPr>
        <p:spPr>
          <a:xfrm>
            <a:off x="457200" y="1261872"/>
            <a:ext cx="1325880" cy="1234440"/>
          </a:xfrm>
          <a:prstGeom prst="rect">
            <a:avLst/>
          </a:prstGeom>
          <a:solidFill>
            <a:srgbClr val="0A2800"/>
          </a:solidFill>
          <a:ln w="12700">
            <a:solidFill>
              <a:srgbClr val="2ECC71"/>
            </a:solidFill>
            <a:prstDash val="solid"/>
          </a:ln>
        </p:spPr>
      </p:sp>
      <p:sp>
        <p:nvSpPr>
          <p:cNvPr id="6" name="Text 4"/>
          <p:cNvSpPr txBox="1"/>
          <p:nvPr/>
        </p:nvSpPr>
        <p:spPr>
          <a:xfrm>
            <a:off x="457200" y="1298448"/>
            <a:ext cx="1325880" cy="292608"/>
          </a:xfrm>
          <a:prstGeom prst="rect">
            <a:avLst/>
          </a:prstGeom>
          <a:noFill/>
          <a:ln/>
        </p:spPr>
        <p:txBody>
          <a:bodyPr wrap="square" rtlCol="0" anchor="ctr"/>
          <a:lstStyle/>
          <a:p>
            <a:pPr algn="ctr" indent="0" marL="0">
              <a:buNone/>
            </a:pPr>
            <a:r>
              <a:rPr lang="en-US" sz="1200" b="1" dirty="0">
                <a:solidFill>
                  <a:srgbClr val="2ECC71"/>
                </a:solidFill>
              </a:rPr>
              <a:t>Low</a:t>
            </a:r>
            <a:endParaRPr lang="en-US" sz="1200" dirty="0"/>
          </a:p>
        </p:txBody>
      </p:sp>
      <p:sp>
        <p:nvSpPr>
          <p:cNvPr id="7" name="Text 5"/>
          <p:cNvSpPr txBox="1"/>
          <p:nvPr/>
        </p:nvSpPr>
        <p:spPr>
          <a:xfrm>
            <a:off x="457200" y="1581912"/>
            <a:ext cx="1325880" cy="594360"/>
          </a:xfrm>
          <a:prstGeom prst="rect">
            <a:avLst/>
          </a:prstGeom>
          <a:noFill/>
          <a:ln/>
        </p:spPr>
        <p:txBody>
          <a:bodyPr wrap="square" rtlCol="0" anchor="ctr"/>
          <a:lstStyle/>
          <a:p>
            <a:pPr algn="ctr" indent="0" marL="0">
              <a:buNone/>
            </a:pPr>
            <a:r>
              <a:rPr lang="en-US" sz="2600" b="1" dirty="0">
                <a:solidFill>
                  <a:srgbClr val="2ECC71"/>
                </a:solidFill>
              </a:rPr>
              <a:t>$6.3M</a:t>
            </a:r>
            <a:endParaRPr lang="en-US" sz="2600" dirty="0"/>
          </a:p>
        </p:txBody>
      </p:sp>
      <p:sp>
        <p:nvSpPr>
          <p:cNvPr id="8" name="Shape 6"/>
          <p:cNvSpPr/>
          <p:nvPr/>
        </p:nvSpPr>
        <p:spPr>
          <a:xfrm>
            <a:off x="548640" y="2176272"/>
            <a:ext cx="1143000" cy="256032"/>
          </a:xfrm>
          <a:prstGeom prst="rect">
            <a:avLst/>
          </a:prstGeom>
          <a:solidFill>
            <a:srgbClr val="143000"/>
          </a:solidFill>
          <a:ln/>
        </p:spPr>
      </p:sp>
      <p:sp>
        <p:nvSpPr>
          <p:cNvPr id="9" name="Text 7"/>
          <p:cNvSpPr txBox="1"/>
          <p:nvPr/>
        </p:nvSpPr>
        <p:spPr>
          <a:xfrm>
            <a:off x="457200" y="2194560"/>
            <a:ext cx="1325880" cy="219456"/>
          </a:xfrm>
          <a:prstGeom prst="rect">
            <a:avLst/>
          </a:prstGeom>
          <a:noFill/>
          <a:ln/>
        </p:spPr>
        <p:txBody>
          <a:bodyPr wrap="square" rtlCol="0" anchor="ctr"/>
          <a:lstStyle/>
          <a:p>
            <a:pPr algn="ctr" indent="0" marL="0">
              <a:buNone/>
            </a:pPr>
            <a:r>
              <a:rPr lang="en-US" sz="900" dirty="0">
                <a:solidFill>
                  <a:srgbClr val="888888"/>
                </a:solidFill>
              </a:rPr>
              <a:t>5-yr realized</a:t>
            </a:r>
            <a:endParaRPr lang="en-US" sz="900" dirty="0"/>
          </a:p>
        </p:txBody>
      </p:sp>
      <p:sp>
        <p:nvSpPr>
          <p:cNvPr id="10" name="Shape 8"/>
          <p:cNvSpPr/>
          <p:nvPr/>
        </p:nvSpPr>
        <p:spPr>
          <a:xfrm>
            <a:off x="1874520" y="1261872"/>
            <a:ext cx="1325880" cy="1234440"/>
          </a:xfrm>
          <a:prstGeom prst="rect">
            <a:avLst/>
          </a:prstGeom>
          <a:solidFill>
            <a:srgbClr val="0A2800"/>
          </a:solidFill>
          <a:ln w="12700">
            <a:solidFill>
              <a:srgbClr val="2ECC71"/>
            </a:solidFill>
            <a:prstDash val="solid"/>
          </a:ln>
        </p:spPr>
      </p:sp>
      <p:sp>
        <p:nvSpPr>
          <p:cNvPr id="11" name="Text 9"/>
          <p:cNvSpPr txBox="1"/>
          <p:nvPr/>
        </p:nvSpPr>
        <p:spPr>
          <a:xfrm>
            <a:off x="1874520" y="1298448"/>
            <a:ext cx="1325880" cy="292608"/>
          </a:xfrm>
          <a:prstGeom prst="rect">
            <a:avLst/>
          </a:prstGeom>
          <a:noFill/>
          <a:ln/>
        </p:spPr>
        <p:txBody>
          <a:bodyPr wrap="square" rtlCol="0" anchor="ctr"/>
          <a:lstStyle/>
          <a:p>
            <a:pPr algn="ctr" indent="0" marL="0">
              <a:buNone/>
            </a:pPr>
            <a:r>
              <a:rPr lang="en-US" sz="1200" b="1" dirty="0">
                <a:solidFill>
                  <a:srgbClr val="2ECC71"/>
                </a:solidFill>
              </a:rPr>
              <a:t>Base</a:t>
            </a:r>
            <a:endParaRPr lang="en-US" sz="1200" dirty="0"/>
          </a:p>
        </p:txBody>
      </p:sp>
      <p:sp>
        <p:nvSpPr>
          <p:cNvPr id="12" name="Text 10"/>
          <p:cNvSpPr txBox="1"/>
          <p:nvPr/>
        </p:nvSpPr>
        <p:spPr>
          <a:xfrm>
            <a:off x="1874520" y="1581912"/>
            <a:ext cx="1325880" cy="594360"/>
          </a:xfrm>
          <a:prstGeom prst="rect">
            <a:avLst/>
          </a:prstGeom>
          <a:noFill/>
          <a:ln/>
        </p:spPr>
        <p:txBody>
          <a:bodyPr wrap="square" rtlCol="0" anchor="ctr"/>
          <a:lstStyle/>
          <a:p>
            <a:pPr algn="ctr" indent="0" marL="0">
              <a:buNone/>
            </a:pPr>
            <a:r>
              <a:rPr lang="en-US" sz="2600" b="1" dirty="0">
                <a:solidFill>
                  <a:srgbClr val="2ECC71"/>
                </a:solidFill>
              </a:rPr>
              <a:t>$7.9M</a:t>
            </a:r>
            <a:endParaRPr lang="en-US" sz="2600" dirty="0"/>
          </a:p>
        </p:txBody>
      </p:sp>
      <p:sp>
        <p:nvSpPr>
          <p:cNvPr id="13" name="Shape 11"/>
          <p:cNvSpPr/>
          <p:nvPr/>
        </p:nvSpPr>
        <p:spPr>
          <a:xfrm>
            <a:off x="1965960" y="2176272"/>
            <a:ext cx="1143000" cy="256032"/>
          </a:xfrm>
          <a:prstGeom prst="rect">
            <a:avLst/>
          </a:prstGeom>
          <a:solidFill>
            <a:srgbClr val="143000"/>
          </a:solidFill>
          <a:ln/>
        </p:spPr>
      </p:sp>
      <p:sp>
        <p:nvSpPr>
          <p:cNvPr id="14" name="Text 12"/>
          <p:cNvSpPr txBox="1"/>
          <p:nvPr/>
        </p:nvSpPr>
        <p:spPr>
          <a:xfrm>
            <a:off x="1874520" y="2194560"/>
            <a:ext cx="1325880" cy="219456"/>
          </a:xfrm>
          <a:prstGeom prst="rect">
            <a:avLst/>
          </a:prstGeom>
          <a:noFill/>
          <a:ln/>
        </p:spPr>
        <p:txBody>
          <a:bodyPr wrap="square" rtlCol="0" anchor="ctr"/>
          <a:lstStyle/>
          <a:p>
            <a:pPr algn="ctr" indent="0" marL="0">
              <a:buNone/>
            </a:pPr>
            <a:r>
              <a:rPr lang="en-US" sz="900" dirty="0">
                <a:solidFill>
                  <a:srgbClr val="888888"/>
                </a:solidFill>
              </a:rPr>
              <a:t>5-yr realized</a:t>
            </a:r>
            <a:endParaRPr lang="en-US" sz="900" dirty="0"/>
          </a:p>
        </p:txBody>
      </p:sp>
      <p:sp>
        <p:nvSpPr>
          <p:cNvPr id="15" name="Shape 13"/>
          <p:cNvSpPr/>
          <p:nvPr/>
        </p:nvSpPr>
        <p:spPr>
          <a:xfrm>
            <a:off x="3291840" y="1261872"/>
            <a:ext cx="1325880" cy="1234440"/>
          </a:xfrm>
          <a:prstGeom prst="rect">
            <a:avLst/>
          </a:prstGeom>
          <a:solidFill>
            <a:srgbClr val="0A2800"/>
          </a:solidFill>
          <a:ln w="12700">
            <a:solidFill>
              <a:srgbClr val="2ECC71"/>
            </a:solidFill>
            <a:prstDash val="solid"/>
          </a:ln>
        </p:spPr>
      </p:sp>
      <p:sp>
        <p:nvSpPr>
          <p:cNvPr id="16" name="Text 14"/>
          <p:cNvSpPr txBox="1"/>
          <p:nvPr/>
        </p:nvSpPr>
        <p:spPr>
          <a:xfrm>
            <a:off x="3291840" y="1298448"/>
            <a:ext cx="1325880" cy="292608"/>
          </a:xfrm>
          <a:prstGeom prst="rect">
            <a:avLst/>
          </a:prstGeom>
          <a:noFill/>
          <a:ln/>
        </p:spPr>
        <p:txBody>
          <a:bodyPr wrap="square" rtlCol="0" anchor="ctr"/>
          <a:lstStyle/>
          <a:p>
            <a:pPr algn="ctr" indent="0" marL="0">
              <a:buNone/>
            </a:pPr>
            <a:r>
              <a:rPr lang="en-US" sz="1200" b="1" dirty="0">
                <a:solidFill>
                  <a:srgbClr val="2ECC71"/>
                </a:solidFill>
              </a:rPr>
              <a:t>High</a:t>
            </a:r>
            <a:endParaRPr lang="en-US" sz="1200" dirty="0"/>
          </a:p>
        </p:txBody>
      </p:sp>
      <p:sp>
        <p:nvSpPr>
          <p:cNvPr id="17" name="Text 15"/>
          <p:cNvSpPr txBox="1"/>
          <p:nvPr/>
        </p:nvSpPr>
        <p:spPr>
          <a:xfrm>
            <a:off x="3291840" y="1581912"/>
            <a:ext cx="1325880" cy="594360"/>
          </a:xfrm>
          <a:prstGeom prst="rect">
            <a:avLst/>
          </a:prstGeom>
          <a:noFill/>
          <a:ln/>
        </p:spPr>
        <p:txBody>
          <a:bodyPr wrap="square" rtlCol="0" anchor="ctr"/>
          <a:lstStyle/>
          <a:p>
            <a:pPr algn="ctr" indent="0" marL="0">
              <a:buNone/>
            </a:pPr>
            <a:r>
              <a:rPr lang="en-US" sz="2600" b="1" dirty="0">
                <a:solidFill>
                  <a:srgbClr val="2ECC71"/>
                </a:solidFill>
              </a:rPr>
              <a:t>$9.5M</a:t>
            </a:r>
            <a:endParaRPr lang="en-US" sz="2600" dirty="0"/>
          </a:p>
        </p:txBody>
      </p:sp>
      <p:sp>
        <p:nvSpPr>
          <p:cNvPr id="18" name="Shape 16"/>
          <p:cNvSpPr/>
          <p:nvPr/>
        </p:nvSpPr>
        <p:spPr>
          <a:xfrm>
            <a:off x="3383280" y="2176272"/>
            <a:ext cx="1143000" cy="256032"/>
          </a:xfrm>
          <a:prstGeom prst="rect">
            <a:avLst/>
          </a:prstGeom>
          <a:solidFill>
            <a:srgbClr val="143000"/>
          </a:solidFill>
          <a:ln/>
        </p:spPr>
      </p:sp>
      <p:sp>
        <p:nvSpPr>
          <p:cNvPr id="19" name="Text 17"/>
          <p:cNvSpPr txBox="1"/>
          <p:nvPr/>
        </p:nvSpPr>
        <p:spPr>
          <a:xfrm>
            <a:off x="3291840" y="2194560"/>
            <a:ext cx="1325880" cy="219456"/>
          </a:xfrm>
          <a:prstGeom prst="rect">
            <a:avLst/>
          </a:prstGeom>
          <a:noFill/>
          <a:ln/>
        </p:spPr>
        <p:txBody>
          <a:bodyPr wrap="square" rtlCol="0" anchor="ctr"/>
          <a:lstStyle/>
          <a:p>
            <a:pPr algn="ctr" indent="0" marL="0">
              <a:buNone/>
            </a:pPr>
            <a:r>
              <a:rPr lang="en-US" sz="900" dirty="0">
                <a:solidFill>
                  <a:srgbClr val="888888"/>
                </a:solidFill>
              </a:rPr>
              <a:t>5-yr realized</a:t>
            </a:r>
            <a:endParaRPr lang="en-US" sz="900" dirty="0"/>
          </a:p>
        </p:txBody>
      </p:sp>
      <p:sp>
        <p:nvSpPr>
          <p:cNvPr id="20" name="Shape 18"/>
          <p:cNvSpPr/>
          <p:nvPr/>
        </p:nvSpPr>
        <p:spPr>
          <a:xfrm>
            <a:off x="4709160" y="914400"/>
            <a:ext cx="0" cy="3291840"/>
          </a:xfrm>
          <a:prstGeom prst="line">
            <a:avLst/>
          </a:prstGeom>
          <a:noFill/>
          <a:ln w="12700">
            <a:solidFill>
              <a:srgbClr val="333333"/>
            </a:solidFill>
            <a:prstDash val="solid"/>
          </a:ln>
        </p:spPr>
      </p:sp>
      <p:sp>
        <p:nvSpPr>
          <p:cNvPr id="21" name="Text 19"/>
          <p:cNvSpPr txBox="1"/>
          <p:nvPr/>
        </p:nvSpPr>
        <p:spPr>
          <a:xfrm>
            <a:off x="4892040" y="914400"/>
            <a:ext cx="4023360" cy="320040"/>
          </a:xfrm>
          <a:prstGeom prst="rect">
            <a:avLst/>
          </a:prstGeom>
          <a:noFill/>
          <a:ln/>
        </p:spPr>
        <p:txBody>
          <a:bodyPr wrap="square" rtlCol="0" anchor="ctr"/>
          <a:lstStyle/>
          <a:p>
            <a:pPr indent="0" marL="0">
              <a:buNone/>
            </a:pPr>
            <a:r>
              <a:rPr lang="en-US" sz="1300" b="1" dirty="0">
                <a:solidFill>
                  <a:srgbClr val="F26A21"/>
                </a:solidFill>
              </a:rPr>
              <a:t>④  If Exos Stock Held to 2031  (projection)</a:t>
            </a:r>
            <a:endParaRPr lang="en-US" sz="1300" dirty="0"/>
          </a:p>
        </p:txBody>
      </p:sp>
      <p:sp>
        <p:nvSpPr>
          <p:cNvPr id="22" name="Shape 20"/>
          <p:cNvSpPr/>
          <p:nvPr/>
        </p:nvSpPr>
        <p:spPr>
          <a:xfrm>
            <a:off x="4892040" y="1261872"/>
            <a:ext cx="1316736" cy="1234440"/>
          </a:xfrm>
          <a:prstGeom prst="rect">
            <a:avLst/>
          </a:prstGeom>
          <a:solidFill>
            <a:srgbClr val="1A0A00"/>
          </a:solidFill>
          <a:ln w="12700">
            <a:solidFill>
              <a:srgbClr val="F26A21"/>
            </a:solidFill>
            <a:prstDash val="solid"/>
          </a:ln>
        </p:spPr>
      </p:sp>
      <p:sp>
        <p:nvSpPr>
          <p:cNvPr id="23" name="Text 21"/>
          <p:cNvSpPr txBox="1"/>
          <p:nvPr/>
        </p:nvSpPr>
        <p:spPr>
          <a:xfrm>
            <a:off x="4892040" y="1298448"/>
            <a:ext cx="1316736" cy="292608"/>
          </a:xfrm>
          <a:prstGeom prst="rect">
            <a:avLst/>
          </a:prstGeom>
          <a:noFill/>
          <a:ln/>
        </p:spPr>
        <p:txBody>
          <a:bodyPr wrap="square" rtlCol="0" anchor="ctr"/>
          <a:lstStyle/>
          <a:p>
            <a:pPr algn="ctr" indent="0" marL="0">
              <a:buNone/>
            </a:pPr>
            <a:r>
              <a:rPr lang="en-US" sz="1200" b="1" dirty="0">
                <a:solidFill>
                  <a:srgbClr val="F26A21"/>
                </a:solidFill>
              </a:rPr>
              <a:t>Low</a:t>
            </a:r>
            <a:endParaRPr lang="en-US" sz="1200" dirty="0"/>
          </a:p>
        </p:txBody>
      </p:sp>
      <p:sp>
        <p:nvSpPr>
          <p:cNvPr id="24" name="Text 22"/>
          <p:cNvSpPr txBox="1"/>
          <p:nvPr/>
        </p:nvSpPr>
        <p:spPr>
          <a:xfrm>
            <a:off x="4892040" y="1581912"/>
            <a:ext cx="1316736" cy="594360"/>
          </a:xfrm>
          <a:prstGeom prst="rect">
            <a:avLst/>
          </a:prstGeom>
          <a:noFill/>
          <a:ln/>
        </p:spPr>
        <p:txBody>
          <a:bodyPr wrap="square" rtlCol="0" anchor="ctr"/>
          <a:lstStyle/>
          <a:p>
            <a:pPr algn="ctr" indent="0" marL="0">
              <a:buNone/>
            </a:pPr>
            <a:r>
              <a:rPr lang="en-US" sz="2200" b="1" dirty="0">
                <a:solidFill>
                  <a:srgbClr val="F26A21"/>
                </a:solidFill>
              </a:rPr>
              <a:t>$12.0M</a:t>
            </a:r>
            <a:endParaRPr lang="en-US" sz="2200" dirty="0"/>
          </a:p>
        </p:txBody>
      </p:sp>
      <p:sp>
        <p:nvSpPr>
          <p:cNvPr id="25" name="Shape 23"/>
          <p:cNvSpPr/>
          <p:nvPr/>
        </p:nvSpPr>
        <p:spPr>
          <a:xfrm>
            <a:off x="4956048" y="2176272"/>
            <a:ext cx="1188720" cy="256032"/>
          </a:xfrm>
          <a:prstGeom prst="rect">
            <a:avLst/>
          </a:prstGeom>
          <a:solidFill>
            <a:srgbClr val="2A1000"/>
          </a:solidFill>
          <a:ln/>
        </p:spPr>
      </p:sp>
      <p:sp>
        <p:nvSpPr>
          <p:cNvPr id="26" name="Text 24"/>
          <p:cNvSpPr txBox="1"/>
          <p:nvPr/>
        </p:nvSpPr>
        <p:spPr>
          <a:xfrm>
            <a:off x="4892040" y="2194560"/>
            <a:ext cx="1316736" cy="219456"/>
          </a:xfrm>
          <a:prstGeom prst="rect">
            <a:avLst/>
          </a:prstGeom>
          <a:noFill/>
          <a:ln/>
        </p:spPr>
        <p:txBody>
          <a:bodyPr wrap="square" rtlCol="0" anchor="ctr"/>
          <a:lstStyle/>
          <a:p>
            <a:pPr algn="ctr" indent="0" marL="0">
              <a:buNone/>
            </a:pPr>
            <a:r>
              <a:rPr lang="en-US" sz="900" dirty="0">
                <a:solidFill>
                  <a:srgbClr val="888888"/>
                </a:solidFill>
              </a:rPr>
              <a:t>if held to 2031</a:t>
            </a:r>
            <a:endParaRPr lang="en-US" sz="900" dirty="0"/>
          </a:p>
        </p:txBody>
      </p:sp>
      <p:sp>
        <p:nvSpPr>
          <p:cNvPr id="27" name="Shape 25"/>
          <p:cNvSpPr/>
          <p:nvPr/>
        </p:nvSpPr>
        <p:spPr>
          <a:xfrm>
            <a:off x="6281928" y="1261872"/>
            <a:ext cx="1316736" cy="1234440"/>
          </a:xfrm>
          <a:prstGeom prst="rect">
            <a:avLst/>
          </a:prstGeom>
          <a:solidFill>
            <a:srgbClr val="1A0A00"/>
          </a:solidFill>
          <a:ln w="12700">
            <a:solidFill>
              <a:srgbClr val="F26A21"/>
            </a:solidFill>
            <a:prstDash val="solid"/>
          </a:ln>
        </p:spPr>
      </p:sp>
      <p:sp>
        <p:nvSpPr>
          <p:cNvPr id="28" name="Text 26"/>
          <p:cNvSpPr txBox="1"/>
          <p:nvPr/>
        </p:nvSpPr>
        <p:spPr>
          <a:xfrm>
            <a:off x="6281928" y="1298448"/>
            <a:ext cx="1316736" cy="292608"/>
          </a:xfrm>
          <a:prstGeom prst="rect">
            <a:avLst/>
          </a:prstGeom>
          <a:noFill/>
          <a:ln/>
        </p:spPr>
        <p:txBody>
          <a:bodyPr wrap="square" rtlCol="0" anchor="ctr"/>
          <a:lstStyle/>
          <a:p>
            <a:pPr algn="ctr" indent="0" marL="0">
              <a:buNone/>
            </a:pPr>
            <a:r>
              <a:rPr lang="en-US" sz="1200" b="1" dirty="0">
                <a:solidFill>
                  <a:srgbClr val="F26A21"/>
                </a:solidFill>
              </a:rPr>
              <a:t>Base</a:t>
            </a:r>
            <a:endParaRPr lang="en-US" sz="1200" dirty="0"/>
          </a:p>
        </p:txBody>
      </p:sp>
      <p:sp>
        <p:nvSpPr>
          <p:cNvPr id="29" name="Text 27"/>
          <p:cNvSpPr txBox="1"/>
          <p:nvPr/>
        </p:nvSpPr>
        <p:spPr>
          <a:xfrm>
            <a:off x="6281928" y="1581912"/>
            <a:ext cx="1316736" cy="594360"/>
          </a:xfrm>
          <a:prstGeom prst="rect">
            <a:avLst/>
          </a:prstGeom>
          <a:noFill/>
          <a:ln/>
        </p:spPr>
        <p:txBody>
          <a:bodyPr wrap="square" rtlCol="0" anchor="ctr"/>
          <a:lstStyle/>
          <a:p>
            <a:pPr algn="ctr" indent="0" marL="0">
              <a:buNone/>
            </a:pPr>
            <a:r>
              <a:rPr lang="en-US" sz="2200" b="1" dirty="0">
                <a:solidFill>
                  <a:srgbClr val="F26A21"/>
                </a:solidFill>
              </a:rPr>
              <a:t>$15.8M</a:t>
            </a:r>
            <a:endParaRPr lang="en-US" sz="2200" dirty="0"/>
          </a:p>
        </p:txBody>
      </p:sp>
      <p:sp>
        <p:nvSpPr>
          <p:cNvPr id="30" name="Shape 28"/>
          <p:cNvSpPr/>
          <p:nvPr/>
        </p:nvSpPr>
        <p:spPr>
          <a:xfrm>
            <a:off x="6345936" y="2176272"/>
            <a:ext cx="1188720" cy="256032"/>
          </a:xfrm>
          <a:prstGeom prst="rect">
            <a:avLst/>
          </a:prstGeom>
          <a:solidFill>
            <a:srgbClr val="2A1000"/>
          </a:solidFill>
          <a:ln/>
        </p:spPr>
      </p:sp>
      <p:sp>
        <p:nvSpPr>
          <p:cNvPr id="31" name="Text 29"/>
          <p:cNvSpPr txBox="1"/>
          <p:nvPr/>
        </p:nvSpPr>
        <p:spPr>
          <a:xfrm>
            <a:off x="6281928" y="2194560"/>
            <a:ext cx="1316736" cy="219456"/>
          </a:xfrm>
          <a:prstGeom prst="rect">
            <a:avLst/>
          </a:prstGeom>
          <a:noFill/>
          <a:ln/>
        </p:spPr>
        <p:txBody>
          <a:bodyPr wrap="square" rtlCol="0" anchor="ctr"/>
          <a:lstStyle/>
          <a:p>
            <a:pPr algn="ctr" indent="0" marL="0">
              <a:buNone/>
            </a:pPr>
            <a:r>
              <a:rPr lang="en-US" sz="900" dirty="0">
                <a:solidFill>
                  <a:srgbClr val="888888"/>
                </a:solidFill>
              </a:rPr>
              <a:t>if held to 2031</a:t>
            </a:r>
            <a:endParaRPr lang="en-US" sz="900" dirty="0"/>
          </a:p>
        </p:txBody>
      </p:sp>
      <p:sp>
        <p:nvSpPr>
          <p:cNvPr id="32" name="Shape 30"/>
          <p:cNvSpPr/>
          <p:nvPr/>
        </p:nvSpPr>
        <p:spPr>
          <a:xfrm>
            <a:off x="7671816" y="1261872"/>
            <a:ext cx="1316736" cy="1234440"/>
          </a:xfrm>
          <a:prstGeom prst="rect">
            <a:avLst/>
          </a:prstGeom>
          <a:solidFill>
            <a:srgbClr val="1A0A00"/>
          </a:solidFill>
          <a:ln w="12700">
            <a:solidFill>
              <a:srgbClr val="F26A21"/>
            </a:solidFill>
            <a:prstDash val="solid"/>
          </a:ln>
        </p:spPr>
      </p:sp>
      <p:sp>
        <p:nvSpPr>
          <p:cNvPr id="33" name="Text 31"/>
          <p:cNvSpPr txBox="1"/>
          <p:nvPr/>
        </p:nvSpPr>
        <p:spPr>
          <a:xfrm>
            <a:off x="7671816" y="1298448"/>
            <a:ext cx="1316736" cy="292608"/>
          </a:xfrm>
          <a:prstGeom prst="rect">
            <a:avLst/>
          </a:prstGeom>
          <a:noFill/>
          <a:ln/>
        </p:spPr>
        <p:txBody>
          <a:bodyPr wrap="square" rtlCol="0" anchor="ctr"/>
          <a:lstStyle/>
          <a:p>
            <a:pPr algn="ctr" indent="0" marL="0">
              <a:buNone/>
            </a:pPr>
            <a:r>
              <a:rPr lang="en-US" sz="1200" b="1" dirty="0">
                <a:solidFill>
                  <a:srgbClr val="F26A21"/>
                </a:solidFill>
              </a:rPr>
              <a:t>High</a:t>
            </a:r>
            <a:endParaRPr lang="en-US" sz="1200" dirty="0"/>
          </a:p>
        </p:txBody>
      </p:sp>
      <p:sp>
        <p:nvSpPr>
          <p:cNvPr id="34" name="Text 32"/>
          <p:cNvSpPr txBox="1"/>
          <p:nvPr/>
        </p:nvSpPr>
        <p:spPr>
          <a:xfrm>
            <a:off x="7671816" y="1581912"/>
            <a:ext cx="1316736" cy="594360"/>
          </a:xfrm>
          <a:prstGeom prst="rect">
            <a:avLst/>
          </a:prstGeom>
          <a:noFill/>
          <a:ln/>
        </p:spPr>
        <p:txBody>
          <a:bodyPr wrap="square" rtlCol="0" anchor="ctr"/>
          <a:lstStyle/>
          <a:p>
            <a:pPr algn="ctr" indent="0" marL="0">
              <a:buNone/>
            </a:pPr>
            <a:r>
              <a:rPr lang="en-US" sz="2200" b="1" dirty="0">
                <a:solidFill>
                  <a:srgbClr val="F26A21"/>
                </a:solidFill>
              </a:rPr>
              <a:t>$19.4M</a:t>
            </a:r>
            <a:endParaRPr lang="en-US" sz="2200" dirty="0"/>
          </a:p>
        </p:txBody>
      </p:sp>
      <p:sp>
        <p:nvSpPr>
          <p:cNvPr id="35" name="Shape 33"/>
          <p:cNvSpPr/>
          <p:nvPr/>
        </p:nvSpPr>
        <p:spPr>
          <a:xfrm>
            <a:off x="7735824" y="2176272"/>
            <a:ext cx="1188720" cy="256032"/>
          </a:xfrm>
          <a:prstGeom prst="rect">
            <a:avLst/>
          </a:prstGeom>
          <a:solidFill>
            <a:srgbClr val="2A1000"/>
          </a:solidFill>
          <a:ln/>
        </p:spPr>
      </p:sp>
      <p:sp>
        <p:nvSpPr>
          <p:cNvPr id="36" name="Text 34"/>
          <p:cNvSpPr txBox="1"/>
          <p:nvPr/>
        </p:nvSpPr>
        <p:spPr>
          <a:xfrm>
            <a:off x="7671816" y="2194560"/>
            <a:ext cx="1316736" cy="219456"/>
          </a:xfrm>
          <a:prstGeom prst="rect">
            <a:avLst/>
          </a:prstGeom>
          <a:noFill/>
          <a:ln/>
        </p:spPr>
        <p:txBody>
          <a:bodyPr wrap="square" rtlCol="0" anchor="ctr"/>
          <a:lstStyle/>
          <a:p>
            <a:pPr algn="ctr" indent="0" marL="0">
              <a:buNone/>
            </a:pPr>
            <a:r>
              <a:rPr lang="en-US" sz="900" dirty="0">
                <a:solidFill>
                  <a:srgbClr val="888888"/>
                </a:solidFill>
              </a:rPr>
              <a:t>if held to 2031</a:t>
            </a:r>
            <a:endParaRPr lang="en-US" sz="900" dirty="0"/>
          </a:p>
        </p:txBody>
      </p:sp>
      <p:pic>
        <p:nvPicPr>
          <p:cNvPr id="37" name="Image 0" descr="/Users/exomac/.openclaw/workspace/drafts/SSLC_OptionB_Total_Compensation_5yr_2026-10-07.png">    </p:cNvPr>
          <p:cNvPicPr>
            <a:picLocks noChangeAspect="1"/>
          </p:cNvPicPr>
          <p:nvPr/>
        </p:nvPicPr>
        <p:blipFill>
          <a:blip r:embed="rId1"/>
          <a:stretch>
            <a:fillRect/>
          </a:stretch>
        </p:blipFill>
        <p:spPr>
          <a:xfrm>
            <a:off x="320040" y="2606040"/>
            <a:ext cx="8503920" cy="2194560"/>
          </a:xfrm>
          <a:prstGeom prst="rect">
            <a:avLst/>
          </a:prstGeom>
        </p:spPr>
      </p:pic>
      <p:sp>
        <p:nvSpPr>
          <p:cNvPr id="38" name="Shape 35"/>
          <p:cNvSpPr/>
          <p:nvPr/>
        </p:nvSpPr>
        <p:spPr>
          <a:xfrm>
            <a:off x="320040" y="2542032"/>
            <a:ext cx="8503920" cy="146304"/>
          </a:xfrm>
          <a:prstGeom prst="rect">
            <a:avLst/>
          </a:prstGeom>
          <a:solidFill>
            <a:srgbClr val="222200"/>
          </a:solidFill>
          <a:ln/>
        </p:spPr>
      </p:sp>
      <p:sp>
        <p:nvSpPr>
          <p:cNvPr id="39" name="Text 36"/>
          <p:cNvSpPr txBox="1"/>
          <p:nvPr/>
        </p:nvSpPr>
        <p:spPr>
          <a:xfrm>
            <a:off x="365760" y="2551176"/>
            <a:ext cx="8412480" cy="118872"/>
          </a:xfrm>
          <a:prstGeom prst="rect">
            <a:avLst/>
          </a:prstGeom>
          <a:noFill/>
          <a:ln/>
        </p:spPr>
        <p:txBody>
          <a:bodyPr wrap="square" rtlCol="0" anchor="ctr"/>
          <a:lstStyle/>
          <a:p>
            <a:pPr indent="0" marL="0">
              <a:buNone/>
            </a:pPr>
            <a:r>
              <a:rPr lang="en-US" sz="800" i="1" dirty="0">
                <a:solidFill>
                  <a:srgbClr val="888888"/>
                </a:solidFill>
              </a:rPr>
              <a:t>④ is a forward-looking projection, not a guarantee; an alternative to ③ — not added to it. RTO may not close.</a:t>
            </a:r>
            <a:endParaRPr lang="en-US" sz="800" dirty="0"/>
          </a:p>
        </p:txBody>
      </p:sp>
      <p:pic>
        <p:nvPicPr>
          <p:cNvPr id="40" name="Image 1" descr="/Users/exomac/.openclaw/workspace/drafts/_exos_white_official.png">    </p:cNvPr>
          <p:cNvPicPr>
            <a:picLocks noChangeAspect="1"/>
          </p:cNvPicPr>
          <p:nvPr/>
        </p:nvPicPr>
        <p:blipFill>
          <a:blip r:embed="rId2"/>
          <a:stretch>
            <a:fillRect/>
          </a:stretch>
        </p:blipFill>
        <p:spPr>
          <a:xfrm>
            <a:off x="228600" y="4754880"/>
            <a:ext cx="1188720" cy="256032"/>
          </a:xfrm>
          <a:prstGeom prst="rect">
            <a:avLst/>
          </a:prstGeom>
        </p:spPr>
      </p:pic>
      <p:sp>
        <p:nvSpPr>
          <p:cNvPr id="41" name="Text 37"/>
          <p:cNvSpPr txBox="1"/>
          <p:nvPr/>
        </p:nvSpPr>
        <p:spPr>
          <a:xfrm>
            <a:off x="1554480" y="4800600"/>
            <a:ext cx="6035040" cy="228600"/>
          </a:xfrm>
          <a:prstGeom prst="rect">
            <a:avLst/>
          </a:prstGeom>
          <a:noFill/>
          <a:ln/>
        </p:spPr>
        <p:txBody>
          <a:bodyPr wrap="square" rtlCol="0" anchor="ctr"/>
          <a:lstStyle/>
          <a:p>
            <a:pPr algn="ctr" indent="0" marL="0">
              <a:buNone/>
            </a:pPr>
            <a:r>
              <a:rPr lang="en-US" sz="700" i="1" dirty="0">
                <a:solidFill>
                  <a:srgbClr val="888888"/>
                </a:solidFill>
              </a:rPr>
              <a:t>DRAFT — NEGOTIATING TERMS</a:t>
            </a:r>
            <a:endParaRPr lang="en-US" sz="700" dirty="0"/>
          </a:p>
        </p:txBody>
      </p:sp>
      <p:sp>
        <p:nvSpPr>
          <p:cNvPr id="42" name="Text 38"/>
          <p:cNvSpPr txBox="1"/>
          <p:nvPr/>
        </p:nvSpPr>
        <p:spPr>
          <a:xfrm>
            <a:off x="7772400" y="4800600"/>
            <a:ext cx="1143000" cy="228600"/>
          </a:xfrm>
          <a:prstGeom prst="rect">
            <a:avLst/>
          </a:prstGeom>
          <a:noFill/>
          <a:ln/>
        </p:spPr>
        <p:txBody>
          <a:bodyPr wrap="square" rtlCol="0" anchor="ctr"/>
          <a:lstStyle/>
          <a:p>
            <a:pPr algn="r" indent="0" marL="0">
              <a:buNone/>
            </a:pPr>
            <a:r>
              <a:rPr lang="en-US" sz="700" i="1" dirty="0">
                <a:solidFill>
                  <a:srgbClr val="888888"/>
                </a:solidFill>
              </a:rPr>
              <a:t>CONFIDENTIAL</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Exos Stock</a:t>
            </a:r>
            <a:endParaRPr lang="en-US" sz="2200" dirty="0"/>
          </a:p>
        </p:txBody>
      </p:sp>
      <p:sp>
        <p:nvSpPr>
          <p:cNvPr id="3" name="Shape 1"/>
          <p:cNvSpPr/>
          <p:nvPr/>
        </p:nvSpPr>
        <p:spPr>
          <a:xfrm>
            <a:off x="457200" y="768096"/>
            <a:ext cx="1371600" cy="36576"/>
          </a:xfrm>
          <a:prstGeom prst="rect">
            <a:avLst/>
          </a:prstGeom>
          <a:solidFill>
            <a:srgbClr val="F26A21"/>
          </a:solidFill>
          <a:ln/>
        </p:spPr>
      </p:sp>
      <p:sp>
        <p:nvSpPr>
          <p:cNvPr id="4" name="Shape 2"/>
          <p:cNvSpPr/>
          <p:nvPr/>
        </p:nvSpPr>
        <p:spPr>
          <a:xfrm>
            <a:off x="365760" y="960120"/>
            <a:ext cx="4023360" cy="1170432"/>
          </a:xfrm>
          <a:prstGeom prst="rect">
            <a:avLst/>
          </a:prstGeom>
          <a:solidFill>
            <a:srgbClr val="1C1C1C"/>
          </a:solidFill>
          <a:ln w="12700">
            <a:solidFill>
              <a:srgbClr val="333333"/>
            </a:solidFill>
            <a:prstDash val="solid"/>
          </a:ln>
        </p:spPr>
      </p:sp>
      <p:sp>
        <p:nvSpPr>
          <p:cNvPr id="5" name="Text 3"/>
          <p:cNvSpPr txBox="1"/>
          <p:nvPr/>
        </p:nvSpPr>
        <p:spPr>
          <a:xfrm>
            <a:off x="502920" y="1033272"/>
            <a:ext cx="3749040" cy="292608"/>
          </a:xfrm>
          <a:prstGeom prst="rect">
            <a:avLst/>
          </a:prstGeom>
          <a:noFill/>
          <a:ln/>
        </p:spPr>
        <p:txBody>
          <a:bodyPr wrap="square" rtlCol="0" anchor="ctr"/>
          <a:lstStyle/>
          <a:p>
            <a:pPr indent="0" marL="0">
              <a:buNone/>
            </a:pPr>
            <a:r>
              <a:rPr lang="en-US" sz="1300" b="1" dirty="0">
                <a:solidFill>
                  <a:srgbClr val="F26A21"/>
                </a:solidFill>
              </a:rPr>
              <a:t>Instrument</a:t>
            </a:r>
            <a:endParaRPr lang="en-US" sz="1300" dirty="0"/>
          </a:p>
        </p:txBody>
      </p:sp>
      <p:sp>
        <p:nvSpPr>
          <p:cNvPr id="6" name="Text 4"/>
          <p:cNvSpPr txBox="1"/>
          <p:nvPr/>
        </p:nvSpPr>
        <p:spPr>
          <a:xfrm>
            <a:off x="502920" y="1307592"/>
            <a:ext cx="3749040" cy="749808"/>
          </a:xfrm>
          <a:prstGeom prst="rect">
            <a:avLst/>
          </a:prstGeom>
          <a:noFill/>
          <a:ln/>
        </p:spPr>
        <p:txBody>
          <a:bodyPr wrap="square" rtlCol="0" anchor="ctr"/>
          <a:lstStyle/>
          <a:p>
            <a:pPr indent="0" marL="0">
              <a:buNone/>
            </a:pPr>
            <a:r>
              <a:rPr lang="en-US" sz="1200" dirty="0">
                <a:solidFill>
                  <a:srgbClr val="CCCCCC"/>
                </a:solidFill>
              </a:rPr>
              <a:t>$1.0M EAI units at the current 409A valuation (~$169.7M); ~0.59% fully diluted at issuance.</a:t>
            </a:r>
            <a:endParaRPr lang="en-US" sz="1200" dirty="0"/>
          </a:p>
        </p:txBody>
      </p:sp>
      <p:sp>
        <p:nvSpPr>
          <p:cNvPr id="7" name="Shape 5"/>
          <p:cNvSpPr/>
          <p:nvPr/>
        </p:nvSpPr>
        <p:spPr>
          <a:xfrm>
            <a:off x="4663440" y="960120"/>
            <a:ext cx="4023360" cy="1170432"/>
          </a:xfrm>
          <a:prstGeom prst="rect">
            <a:avLst/>
          </a:prstGeom>
          <a:solidFill>
            <a:srgbClr val="1C1C1C"/>
          </a:solidFill>
          <a:ln w="12700">
            <a:solidFill>
              <a:srgbClr val="333333"/>
            </a:solidFill>
            <a:prstDash val="solid"/>
          </a:ln>
        </p:spPr>
      </p:sp>
      <p:sp>
        <p:nvSpPr>
          <p:cNvPr id="8" name="Text 6"/>
          <p:cNvSpPr txBox="1"/>
          <p:nvPr/>
        </p:nvSpPr>
        <p:spPr>
          <a:xfrm>
            <a:off x="4800600" y="1033272"/>
            <a:ext cx="3749040" cy="292608"/>
          </a:xfrm>
          <a:prstGeom prst="rect">
            <a:avLst/>
          </a:prstGeom>
          <a:noFill/>
          <a:ln/>
        </p:spPr>
        <p:txBody>
          <a:bodyPr wrap="square" rtlCol="0" anchor="ctr"/>
          <a:lstStyle/>
          <a:p>
            <a:pPr indent="0" marL="0">
              <a:buNone/>
            </a:pPr>
            <a:r>
              <a:rPr lang="en-US" sz="1300" b="1" dirty="0">
                <a:solidFill>
                  <a:srgbClr val="F26A21"/>
                </a:solidFill>
              </a:rPr>
              <a:t>Offering</a:t>
            </a:r>
            <a:endParaRPr lang="en-US" sz="1300" dirty="0"/>
          </a:p>
        </p:txBody>
      </p:sp>
      <p:sp>
        <p:nvSpPr>
          <p:cNvPr id="9" name="Text 7"/>
          <p:cNvSpPr txBox="1"/>
          <p:nvPr/>
        </p:nvSpPr>
        <p:spPr>
          <a:xfrm>
            <a:off x="4800600" y="1307592"/>
            <a:ext cx="3749040" cy="749808"/>
          </a:xfrm>
          <a:prstGeom prst="rect">
            <a:avLst/>
          </a:prstGeom>
          <a:noFill/>
          <a:ln/>
        </p:spPr>
        <p:txBody>
          <a:bodyPr wrap="square" rtlCol="0" anchor="ctr"/>
          <a:lstStyle/>
          <a:p>
            <a:pPr indent="0" marL="0">
              <a:buNone/>
            </a:pPr>
            <a:r>
              <a:rPr lang="en-US" sz="1200" dirty="0">
                <a:solidFill>
                  <a:srgbClr val="CCCCCC"/>
                </a:solidFill>
              </a:rPr>
              <a:t>Part of Exos's Rule 504 Regulation D offering. U.S. persons only. Counts toward the $10M rolling 12-month cap.</a:t>
            </a:r>
            <a:endParaRPr lang="en-US" sz="1200" dirty="0"/>
          </a:p>
        </p:txBody>
      </p:sp>
      <p:sp>
        <p:nvSpPr>
          <p:cNvPr id="10" name="Shape 8"/>
          <p:cNvSpPr/>
          <p:nvPr/>
        </p:nvSpPr>
        <p:spPr>
          <a:xfrm>
            <a:off x="365760" y="2240280"/>
            <a:ext cx="4023360" cy="1170432"/>
          </a:xfrm>
          <a:prstGeom prst="rect">
            <a:avLst/>
          </a:prstGeom>
          <a:solidFill>
            <a:srgbClr val="1C1C1C"/>
          </a:solidFill>
          <a:ln w="12700">
            <a:solidFill>
              <a:srgbClr val="333333"/>
            </a:solidFill>
            <a:prstDash val="solid"/>
          </a:ln>
        </p:spPr>
      </p:sp>
      <p:sp>
        <p:nvSpPr>
          <p:cNvPr id="11" name="Text 9"/>
          <p:cNvSpPr txBox="1"/>
          <p:nvPr/>
        </p:nvSpPr>
        <p:spPr>
          <a:xfrm>
            <a:off x="502920" y="2313432"/>
            <a:ext cx="3749040" cy="292608"/>
          </a:xfrm>
          <a:prstGeom prst="rect">
            <a:avLst/>
          </a:prstGeom>
          <a:noFill/>
          <a:ln/>
        </p:spPr>
        <p:txBody>
          <a:bodyPr wrap="square" rtlCol="0" anchor="ctr"/>
          <a:lstStyle/>
          <a:p>
            <a:pPr indent="0" marL="0">
              <a:buNone/>
            </a:pPr>
            <a:r>
              <a:rPr lang="en-US" sz="1300" b="1" dirty="0">
                <a:solidFill>
                  <a:srgbClr val="F26A21"/>
                </a:solidFill>
              </a:rPr>
              <a:t>Restricted at issuance</a:t>
            </a:r>
            <a:endParaRPr lang="en-US" sz="1300" dirty="0"/>
          </a:p>
        </p:txBody>
      </p:sp>
      <p:sp>
        <p:nvSpPr>
          <p:cNvPr id="12" name="Text 10"/>
          <p:cNvSpPr txBox="1"/>
          <p:nvPr/>
        </p:nvSpPr>
        <p:spPr>
          <a:xfrm>
            <a:off x="502920" y="2587752"/>
            <a:ext cx="3749040" cy="749808"/>
          </a:xfrm>
          <a:prstGeom prst="rect">
            <a:avLst/>
          </a:prstGeom>
          <a:noFill/>
          <a:ln/>
        </p:spPr>
        <p:txBody>
          <a:bodyPr wrap="square" rtlCol="0" anchor="ctr"/>
          <a:lstStyle/>
          <a:p>
            <a:pPr indent="0" marL="0">
              <a:buNone/>
            </a:pPr>
            <a:r>
              <a:rPr lang="en-US" sz="1200" dirty="0">
                <a:solidFill>
                  <a:srgbClr val="CCCCCC"/>
                </a:solidFill>
              </a:rPr>
              <a:t>Units carry a restrictive legend at issuance (Rule 504 Reg D). Not freely tradeable prior to the RTO listing.</a:t>
            </a:r>
            <a:endParaRPr lang="en-US" sz="1200" dirty="0"/>
          </a:p>
        </p:txBody>
      </p:sp>
      <p:sp>
        <p:nvSpPr>
          <p:cNvPr id="13" name="Shape 11"/>
          <p:cNvSpPr/>
          <p:nvPr/>
        </p:nvSpPr>
        <p:spPr>
          <a:xfrm>
            <a:off x="4663440" y="2240280"/>
            <a:ext cx="4023360" cy="1170432"/>
          </a:xfrm>
          <a:prstGeom prst="rect">
            <a:avLst/>
          </a:prstGeom>
          <a:solidFill>
            <a:srgbClr val="1C1C1C"/>
          </a:solidFill>
          <a:ln w="12700">
            <a:solidFill>
              <a:srgbClr val="333333"/>
            </a:solidFill>
            <a:prstDash val="solid"/>
          </a:ln>
        </p:spPr>
      </p:sp>
      <p:sp>
        <p:nvSpPr>
          <p:cNvPr id="14" name="Text 12"/>
          <p:cNvSpPr txBox="1"/>
          <p:nvPr/>
        </p:nvSpPr>
        <p:spPr>
          <a:xfrm>
            <a:off x="4800600" y="2313432"/>
            <a:ext cx="3749040" cy="292608"/>
          </a:xfrm>
          <a:prstGeom prst="rect">
            <a:avLst/>
          </a:prstGeom>
          <a:noFill/>
          <a:ln/>
        </p:spPr>
        <p:txBody>
          <a:bodyPr wrap="square" rtlCol="0" anchor="ctr"/>
          <a:lstStyle/>
          <a:p>
            <a:pPr indent="0" marL="0">
              <a:buNone/>
            </a:pPr>
            <a:r>
              <a:rPr lang="en-US" sz="1300" b="1" dirty="0">
                <a:solidFill>
                  <a:srgbClr val="F26A21"/>
                </a:solidFill>
              </a:rPr>
              <a:t>Public float at RTO</a:t>
            </a:r>
            <a:endParaRPr lang="en-US" sz="1300" dirty="0"/>
          </a:p>
        </p:txBody>
      </p:sp>
      <p:sp>
        <p:nvSpPr>
          <p:cNvPr id="15" name="Text 13"/>
          <p:cNvSpPr txBox="1"/>
          <p:nvPr/>
        </p:nvSpPr>
        <p:spPr>
          <a:xfrm>
            <a:off x="4800600" y="2587752"/>
            <a:ext cx="3749040" cy="749808"/>
          </a:xfrm>
          <a:prstGeom prst="rect">
            <a:avLst/>
          </a:prstGeom>
          <a:noFill/>
          <a:ln/>
        </p:spPr>
        <p:txBody>
          <a:bodyPr wrap="square" rtlCol="0" anchor="ctr"/>
          <a:lstStyle/>
          <a:p>
            <a:pPr indent="0" marL="0">
              <a:buNone/>
            </a:pPr>
            <a:r>
              <a:rPr lang="en-US" sz="1200" dirty="0">
                <a:solidFill>
                  <a:srgbClr val="CCCCCC"/>
                </a:solidFill>
              </a:rPr>
              <a:t>Structured to be part of the public float at going public. No principals' lockup applies to these units; locked-up shares would not count as float.</a:t>
            </a:r>
            <a:endParaRPr lang="en-US" sz="1200" dirty="0"/>
          </a:p>
        </p:txBody>
      </p:sp>
      <p:sp>
        <p:nvSpPr>
          <p:cNvPr id="16" name="Shape 14"/>
          <p:cNvSpPr/>
          <p:nvPr/>
        </p:nvSpPr>
        <p:spPr>
          <a:xfrm>
            <a:off x="365760" y="3520440"/>
            <a:ext cx="4023360" cy="1170432"/>
          </a:xfrm>
          <a:prstGeom prst="rect">
            <a:avLst/>
          </a:prstGeom>
          <a:solidFill>
            <a:srgbClr val="1C1C1C"/>
          </a:solidFill>
          <a:ln w="12700">
            <a:solidFill>
              <a:srgbClr val="333333"/>
            </a:solidFill>
            <a:prstDash val="solid"/>
          </a:ln>
        </p:spPr>
      </p:sp>
      <p:sp>
        <p:nvSpPr>
          <p:cNvPr id="17" name="Text 15"/>
          <p:cNvSpPr txBox="1"/>
          <p:nvPr/>
        </p:nvSpPr>
        <p:spPr>
          <a:xfrm>
            <a:off x="502920" y="3593592"/>
            <a:ext cx="3749040" cy="292608"/>
          </a:xfrm>
          <a:prstGeom prst="rect">
            <a:avLst/>
          </a:prstGeom>
          <a:noFill/>
          <a:ln/>
        </p:spPr>
        <p:txBody>
          <a:bodyPr wrap="square" rtlCol="0" anchor="ctr"/>
          <a:lstStyle/>
          <a:p>
            <a:pPr indent="0" marL="0">
              <a:buNone/>
            </a:pPr>
            <a:r>
              <a:rPr lang="en-US" sz="1300" b="1" dirty="0">
                <a:solidFill>
                  <a:srgbClr val="F26A21"/>
                </a:solidFill>
              </a:rPr>
              <a:t>Freely tradeable at listing</a:t>
            </a:r>
            <a:endParaRPr lang="en-US" sz="1300" dirty="0"/>
          </a:p>
        </p:txBody>
      </p:sp>
      <p:sp>
        <p:nvSpPr>
          <p:cNvPr id="18" name="Text 16"/>
          <p:cNvSpPr txBox="1"/>
          <p:nvPr/>
        </p:nvSpPr>
        <p:spPr>
          <a:xfrm>
            <a:off x="502920" y="3867912"/>
            <a:ext cx="3749040" cy="749808"/>
          </a:xfrm>
          <a:prstGeom prst="rect">
            <a:avLst/>
          </a:prstGeom>
          <a:noFill/>
          <a:ln/>
        </p:spPr>
        <p:txBody>
          <a:bodyPr wrap="square" rtlCol="0" anchor="ctr"/>
          <a:lstStyle/>
          <a:p>
            <a:pPr indent="0" marL="0">
              <a:buNone/>
            </a:pPr>
            <a:r>
              <a:rPr lang="en-US" sz="1200" dirty="0">
                <a:solidFill>
                  <a:srgbClr val="CCCCCC"/>
                </a:solidFill>
              </a:rPr>
              <a:t>Becomes freely tradeable at the RTO listing (no lockup on the up-front units). Covered by the RTO resale registration.</a:t>
            </a:r>
            <a:endParaRPr lang="en-US" sz="1200" dirty="0"/>
          </a:p>
        </p:txBody>
      </p:sp>
      <p:sp>
        <p:nvSpPr>
          <p:cNvPr id="19" name="Shape 17"/>
          <p:cNvSpPr/>
          <p:nvPr/>
        </p:nvSpPr>
        <p:spPr>
          <a:xfrm>
            <a:off x="4663440" y="3520440"/>
            <a:ext cx="4023360" cy="1170432"/>
          </a:xfrm>
          <a:prstGeom prst="rect">
            <a:avLst/>
          </a:prstGeom>
          <a:solidFill>
            <a:srgbClr val="1C1C1C"/>
          </a:solidFill>
          <a:ln w="12700">
            <a:solidFill>
              <a:srgbClr val="333333"/>
            </a:solidFill>
            <a:prstDash val="solid"/>
          </a:ln>
        </p:spPr>
      </p:sp>
      <p:sp>
        <p:nvSpPr>
          <p:cNvPr id="20" name="Text 18"/>
          <p:cNvSpPr txBox="1"/>
          <p:nvPr/>
        </p:nvSpPr>
        <p:spPr>
          <a:xfrm>
            <a:off x="4800600" y="3593592"/>
            <a:ext cx="3749040" cy="292608"/>
          </a:xfrm>
          <a:prstGeom prst="rect">
            <a:avLst/>
          </a:prstGeom>
          <a:noFill/>
          <a:ln/>
        </p:spPr>
        <p:txBody>
          <a:bodyPr wrap="square" rtlCol="0" anchor="ctr"/>
          <a:lstStyle/>
          <a:p>
            <a:pPr indent="0" marL="0">
              <a:buNone/>
            </a:pPr>
            <a:r>
              <a:rPr lang="en-US" sz="1300" b="1" dirty="0">
                <a:solidFill>
                  <a:srgbClr val="F26A21"/>
                </a:solidFill>
              </a:rPr>
              <a:t>Timeline</a:t>
            </a:r>
            <a:endParaRPr lang="en-US" sz="1300" dirty="0"/>
          </a:p>
        </p:txBody>
      </p:sp>
      <p:sp>
        <p:nvSpPr>
          <p:cNvPr id="21" name="Text 19"/>
          <p:cNvSpPr txBox="1"/>
          <p:nvPr/>
        </p:nvSpPr>
        <p:spPr>
          <a:xfrm>
            <a:off x="4800600" y="3867912"/>
            <a:ext cx="3749040" cy="749808"/>
          </a:xfrm>
          <a:prstGeom prst="rect">
            <a:avLst/>
          </a:prstGeom>
          <a:noFill/>
          <a:ln/>
        </p:spPr>
        <p:txBody>
          <a:bodyPr wrap="square" rtlCol="0" anchor="ctr"/>
          <a:lstStyle/>
          <a:p>
            <a:pPr indent="0" marL="0">
              <a:buNone/>
            </a:pPr>
            <a:r>
              <a:rPr lang="en-US" sz="1200" dirty="0">
                <a:solidFill>
                  <a:srgbClr val="CCCCCC"/>
                </a:solidFill>
              </a:rPr>
              <a:t>Units issued at financing close. Targeted RTO ~6 months post-financing. Not assured — RTO may not close.</a:t>
            </a:r>
            <a:endParaRPr lang="en-US" sz="1200" dirty="0"/>
          </a:p>
        </p:txBody>
      </p:sp>
      <p:pic>
        <p:nvPicPr>
          <p:cNvPr id="22"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23" name="Text 20"/>
          <p:cNvSpPr txBox="1"/>
          <p:nvPr/>
        </p:nvSpPr>
        <p:spPr>
          <a:xfrm>
            <a:off x="1554480" y="4800600"/>
            <a:ext cx="6035040" cy="228600"/>
          </a:xfrm>
          <a:prstGeom prst="rect">
            <a:avLst/>
          </a:prstGeom>
          <a:noFill/>
          <a:ln/>
        </p:spPr>
        <p:txBody>
          <a:bodyPr wrap="square" rtlCol="0" anchor="ctr"/>
          <a:lstStyle/>
          <a:p>
            <a:pPr algn="ctr" indent="0" marL="0">
              <a:buNone/>
            </a:pPr>
            <a:r>
              <a:rPr lang="en-US" sz="700" i="1" dirty="0">
                <a:solidFill>
                  <a:srgbClr val="888888"/>
                </a:solidFill>
              </a:rPr>
              <a:t>DRAFT — NEGOTIATING TERMS</a:t>
            </a:r>
            <a:endParaRPr lang="en-US" sz="700" dirty="0"/>
          </a:p>
        </p:txBody>
      </p:sp>
      <p:sp>
        <p:nvSpPr>
          <p:cNvPr id="24" name="Text 21"/>
          <p:cNvSpPr txBox="1"/>
          <p:nvPr/>
        </p:nvSpPr>
        <p:spPr>
          <a:xfrm>
            <a:off x="7772400" y="4800600"/>
            <a:ext cx="1143000" cy="228600"/>
          </a:xfrm>
          <a:prstGeom prst="rect">
            <a:avLst/>
          </a:prstGeom>
          <a:noFill/>
          <a:ln/>
        </p:spPr>
        <p:txBody>
          <a:bodyPr wrap="square" rtlCol="0" anchor="ctr"/>
          <a:lstStyle/>
          <a:p>
            <a:pPr algn="r" indent="0" marL="0">
              <a:buNone/>
            </a:pPr>
            <a:r>
              <a:rPr lang="en-US" sz="700" i="1" dirty="0">
                <a:solidFill>
                  <a:srgbClr val="888888"/>
                </a:solidFill>
              </a:rPr>
              <a:t>CONFIDENTIAL</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SSLC Employees</a:t>
            </a:r>
            <a:endParaRPr lang="en-US" sz="2200" dirty="0"/>
          </a:p>
        </p:txBody>
      </p:sp>
      <p:sp>
        <p:nvSpPr>
          <p:cNvPr id="3" name="Shape 1"/>
          <p:cNvSpPr/>
          <p:nvPr/>
        </p:nvSpPr>
        <p:spPr>
          <a:xfrm>
            <a:off x="457200" y="768096"/>
            <a:ext cx="1371600" cy="36576"/>
          </a:xfrm>
          <a:prstGeom prst="rect">
            <a:avLst/>
          </a:prstGeom>
          <a:solidFill>
            <a:srgbClr val="F26A21"/>
          </a:solidFill>
          <a:ln/>
        </p:spPr>
      </p:sp>
      <p:sp>
        <p:nvSpPr>
          <p:cNvPr id="4" name="Shape 2"/>
          <p:cNvSpPr/>
          <p:nvPr/>
        </p:nvSpPr>
        <p:spPr>
          <a:xfrm>
            <a:off x="365760" y="1005840"/>
            <a:ext cx="4114800" cy="2743200"/>
          </a:xfrm>
          <a:prstGeom prst="rect">
            <a:avLst/>
          </a:prstGeom>
          <a:solidFill>
            <a:srgbClr val="1C1C1C"/>
          </a:solidFill>
          <a:ln w="12700">
            <a:solidFill>
              <a:srgbClr val="333333"/>
            </a:solidFill>
            <a:prstDash val="solid"/>
          </a:ln>
        </p:spPr>
      </p:sp>
      <p:sp>
        <p:nvSpPr>
          <p:cNvPr id="5" name="Text 3"/>
          <p:cNvSpPr txBox="1"/>
          <p:nvPr/>
        </p:nvSpPr>
        <p:spPr>
          <a:xfrm>
            <a:off x="502920" y="1078992"/>
            <a:ext cx="3840480" cy="365760"/>
          </a:xfrm>
          <a:prstGeom prst="rect">
            <a:avLst/>
          </a:prstGeom>
          <a:noFill/>
          <a:ln/>
        </p:spPr>
        <p:txBody>
          <a:bodyPr wrap="square" rtlCol="0" anchor="ctr"/>
          <a:lstStyle/>
          <a:p>
            <a:pPr indent="0" marL="0">
              <a:buNone/>
            </a:pPr>
            <a:r>
              <a:rPr lang="en-US" sz="1600" b="1" dirty="0">
                <a:solidFill>
                  <a:srgbClr val="F26A21"/>
                </a:solidFill>
              </a:rPr>
              <a:t>Employment Offer</a:t>
            </a:r>
            <a:endParaRPr lang="en-US" sz="1600" dirty="0"/>
          </a:p>
        </p:txBody>
      </p:sp>
      <p:sp>
        <p:nvSpPr>
          <p:cNvPr id="6" name="Text 4"/>
          <p:cNvSpPr txBox="1"/>
          <p:nvPr/>
        </p:nvSpPr>
        <p:spPr>
          <a:xfrm>
            <a:off x="502920" y="1481328"/>
            <a:ext cx="3840480" cy="2148840"/>
          </a:xfrm>
          <a:prstGeom prst="rect">
            <a:avLst/>
          </a:prstGeom>
          <a:noFill/>
          <a:ln/>
        </p:spPr>
        <p:txBody>
          <a:bodyPr wrap="square" rtlCol="0" anchor="t"/>
          <a:lstStyle/>
          <a:p>
            <a:pPr indent="0" marL="0">
              <a:buNone/>
            </a:pPr>
            <a:r>
              <a:rPr lang="en-US" sz="1300" dirty="0">
                <a:solidFill>
                  <a:srgbClr val="CCCCCC"/>
                </a:solidFill>
              </a:rPr>
              <a:t>Exos shall offer employment to SSLC employees — including management, support, engineering, and other technical and manufacturing employees — on terms no less favorable than their current terms with SSLC, including compensation and benefits.</a:t>
            </a:r>
            <a:endParaRPr lang="en-US" sz="1300" dirty="0"/>
          </a:p>
          <a:p>
            <a:pPr indent="0" marL="0">
              <a:buNone/>
            </a:pPr>
            <a:endParaRPr lang="en-US" sz="1300" dirty="0"/>
          </a:p>
          <a:p>
            <a:pPr indent="0" marL="0">
              <a:buNone/>
            </a:pPr>
            <a:r>
              <a:rPr lang="en-US" sz="1300" dirty="0">
                <a:solidFill>
                  <a:srgbClr val="CCCCCC"/>
                </a:solidFill>
              </a:rPr>
              <a:t>Subject to each employee satisfying Exos's standard hiring policies and Exos's completion of confirmatory due diligence.</a:t>
            </a:r>
            <a:endParaRPr lang="en-US" sz="1300" dirty="0"/>
          </a:p>
        </p:txBody>
      </p:sp>
      <p:sp>
        <p:nvSpPr>
          <p:cNvPr id="7" name="Shape 5"/>
          <p:cNvSpPr/>
          <p:nvPr/>
        </p:nvSpPr>
        <p:spPr>
          <a:xfrm>
            <a:off x="4663440" y="1005840"/>
            <a:ext cx="4114800" cy="2743200"/>
          </a:xfrm>
          <a:prstGeom prst="rect">
            <a:avLst/>
          </a:prstGeom>
          <a:solidFill>
            <a:srgbClr val="1C1C1C"/>
          </a:solidFill>
          <a:ln w="12700">
            <a:solidFill>
              <a:srgbClr val="333333"/>
            </a:solidFill>
            <a:prstDash val="solid"/>
          </a:ln>
        </p:spPr>
      </p:sp>
      <p:sp>
        <p:nvSpPr>
          <p:cNvPr id="8" name="Text 6"/>
          <p:cNvSpPr txBox="1"/>
          <p:nvPr/>
        </p:nvSpPr>
        <p:spPr>
          <a:xfrm>
            <a:off x="4800600" y="1078992"/>
            <a:ext cx="3840480" cy="365760"/>
          </a:xfrm>
          <a:prstGeom prst="rect">
            <a:avLst/>
          </a:prstGeom>
          <a:noFill/>
          <a:ln/>
        </p:spPr>
        <p:txBody>
          <a:bodyPr wrap="square" rtlCol="0" anchor="ctr"/>
          <a:lstStyle/>
          <a:p>
            <a:pPr indent="0" marL="0">
              <a:buNone/>
            </a:pPr>
            <a:r>
              <a:rPr lang="en-US" sz="1600" b="1" dirty="0">
                <a:solidFill>
                  <a:srgbClr val="F26A21"/>
                </a:solidFill>
              </a:rPr>
              <a:t>Key-Employee Option Pool</a:t>
            </a:r>
            <a:endParaRPr lang="en-US" sz="1600" dirty="0"/>
          </a:p>
        </p:txBody>
      </p:sp>
      <p:sp>
        <p:nvSpPr>
          <p:cNvPr id="9" name="Text 7"/>
          <p:cNvSpPr txBox="1"/>
          <p:nvPr/>
        </p:nvSpPr>
        <p:spPr>
          <a:xfrm>
            <a:off x="4800600" y="1481328"/>
            <a:ext cx="3840480" cy="2148840"/>
          </a:xfrm>
          <a:prstGeom prst="rect">
            <a:avLst/>
          </a:prstGeom>
          <a:noFill/>
          <a:ln/>
        </p:spPr>
        <p:txBody>
          <a:bodyPr wrap="square" rtlCol="0" anchor="t"/>
          <a:lstStyle/>
          <a:p>
            <a:pPr indent="0" marL="0">
              <a:buNone/>
            </a:pPr>
            <a:r>
              <a:rPr lang="en-US" sz="1300" dirty="0">
                <a:solidFill>
                  <a:srgbClr val="CCCCCC"/>
                </a:solidFill>
              </a:rPr>
              <a:t>Exos will establish an option pool for key SSLC employees. The size and structure will be mutually agreed in the Definitive Agreement.</a:t>
            </a:r>
            <a:endParaRPr lang="en-US" sz="1300" dirty="0"/>
          </a:p>
          <a:p>
            <a:pPr indent="0" marL="0">
              <a:buNone/>
            </a:pPr>
            <a:endParaRPr lang="en-US" sz="1300" dirty="0"/>
          </a:p>
          <a:p>
            <a:pPr indent="0" marL="0">
              <a:buNone/>
            </a:pPr>
            <a:r>
              <a:rPr lang="en-US" sz="1300" dirty="0">
                <a:solidFill>
                  <a:srgbClr val="CCCCCC"/>
                </a:solidFill>
              </a:rPr>
              <a:t>Designed to retain the talent that drives SSLC's mission continuity and milestones — including the programs that underpin the earn-out triggers.</a:t>
            </a:r>
            <a:endParaRPr lang="en-US" sz="1300" dirty="0"/>
          </a:p>
        </p:txBody>
      </p:sp>
      <p:pic>
        <p:nvPicPr>
          <p:cNvPr id="10"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11" name="Text 8"/>
          <p:cNvSpPr txBox="1"/>
          <p:nvPr/>
        </p:nvSpPr>
        <p:spPr>
          <a:xfrm>
            <a:off x="1554480" y="4800600"/>
            <a:ext cx="6035040" cy="228600"/>
          </a:xfrm>
          <a:prstGeom prst="rect">
            <a:avLst/>
          </a:prstGeom>
          <a:noFill/>
          <a:ln/>
        </p:spPr>
        <p:txBody>
          <a:bodyPr wrap="square" rtlCol="0" anchor="ctr"/>
          <a:lstStyle/>
          <a:p>
            <a:pPr algn="ctr" indent="0" marL="0">
              <a:buNone/>
            </a:pPr>
            <a:r>
              <a:rPr lang="en-US" sz="700" i="1" dirty="0">
                <a:solidFill>
                  <a:srgbClr val="888888"/>
                </a:solidFill>
              </a:rPr>
              <a:t>DRAFT — NEGOTIATING TERMS</a:t>
            </a:r>
            <a:endParaRPr lang="en-US" sz="700" dirty="0"/>
          </a:p>
        </p:txBody>
      </p:sp>
      <p:sp>
        <p:nvSpPr>
          <p:cNvPr id="12" name="Text 9"/>
          <p:cNvSpPr txBox="1"/>
          <p:nvPr/>
        </p:nvSpPr>
        <p:spPr>
          <a:xfrm>
            <a:off x="7772400" y="4800600"/>
            <a:ext cx="1143000" cy="228600"/>
          </a:xfrm>
          <a:prstGeom prst="rect">
            <a:avLst/>
          </a:prstGeom>
          <a:noFill/>
          <a:ln/>
        </p:spPr>
        <p:txBody>
          <a:bodyPr wrap="square" rtlCol="0" anchor="ctr"/>
          <a:lstStyle/>
          <a:p>
            <a:pPr algn="r" indent="0" marL="0">
              <a:buNone/>
            </a:pPr>
            <a:r>
              <a:rPr lang="en-US" sz="700" i="1" dirty="0">
                <a:solidFill>
                  <a:srgbClr val="888888"/>
                </a:solidFill>
              </a:rPr>
              <a:t>CONFIDENTIAL</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pic>
        <p:nvPicPr>
          <p:cNvPr id="2" name="Image 0" descr="/Users/exomac/.openclaw/workspace/drafts/_exos_hero_bg.png">    </p:cNvPr>
          <p:cNvPicPr>
            <a:picLocks noChangeAspect="1"/>
          </p:cNvPicPr>
          <p:nvPr/>
        </p:nvPicPr>
        <p:blipFill>
          <a:blip r:embed="rId1">
            <a:alphaModFix amt="55000"/>
          </a:blip>
          <a:stretch>
            <a:fillRect/>
          </a:stretch>
        </p:blipFill>
        <p:spPr>
          <a:xfrm>
            <a:off x="0" y="0"/>
            <a:ext cx="9144000" cy="5143500"/>
          </a:xfrm>
          <a:prstGeom prst="rect">
            <a:avLst/>
          </a:prstGeom>
        </p:spPr>
      </p:pic>
      <p:sp>
        <p:nvSpPr>
          <p:cNvPr id="3" name="Text 0"/>
          <p:cNvSpPr txBox="1"/>
          <p:nvPr/>
        </p:nvSpPr>
        <p:spPr>
          <a:xfrm>
            <a:off x="457200" y="27432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Path to Close</a:t>
            </a:r>
            <a:endParaRPr lang="en-US" sz="2200" dirty="0"/>
          </a:p>
        </p:txBody>
      </p:sp>
      <p:sp>
        <p:nvSpPr>
          <p:cNvPr id="4" name="Shape 1"/>
          <p:cNvSpPr/>
          <p:nvPr/>
        </p:nvSpPr>
        <p:spPr>
          <a:xfrm>
            <a:off x="457200" y="768096"/>
            <a:ext cx="1371600" cy="36576"/>
          </a:xfrm>
          <a:prstGeom prst="rect">
            <a:avLst/>
          </a:prstGeom>
          <a:solidFill>
            <a:srgbClr val="F26A21"/>
          </a:solidFill>
          <a:ln/>
        </p:spPr>
      </p:sp>
      <p:sp>
        <p:nvSpPr>
          <p:cNvPr id="5" name="Shape 2"/>
          <p:cNvSpPr/>
          <p:nvPr/>
        </p:nvSpPr>
        <p:spPr>
          <a:xfrm>
            <a:off x="1024128" y="1426464"/>
            <a:ext cx="0" cy="201168"/>
          </a:xfrm>
          <a:prstGeom prst="line">
            <a:avLst/>
          </a:prstGeom>
          <a:noFill/>
          <a:ln w="12700">
            <a:solidFill>
              <a:srgbClr val="F26A21"/>
            </a:solidFill>
            <a:prstDash val="solid"/>
          </a:ln>
        </p:spPr>
      </p:sp>
      <p:sp>
        <p:nvSpPr>
          <p:cNvPr id="6" name="Shape 3"/>
          <p:cNvSpPr/>
          <p:nvPr/>
        </p:nvSpPr>
        <p:spPr>
          <a:xfrm>
            <a:off x="548640" y="914400"/>
            <a:ext cx="512064" cy="512064"/>
          </a:xfrm>
          <a:prstGeom prst="ellipse">
            <a:avLst/>
          </a:prstGeom>
          <a:solidFill>
            <a:srgbClr val="F26A21"/>
          </a:solidFill>
          <a:ln w="12700">
            <a:solidFill>
              <a:srgbClr val="F26A21"/>
            </a:solidFill>
            <a:prstDash val="solid"/>
          </a:ln>
        </p:spPr>
      </p:sp>
      <p:sp>
        <p:nvSpPr>
          <p:cNvPr id="7" name="Text 4"/>
          <p:cNvSpPr txBox="1"/>
          <p:nvPr/>
        </p:nvSpPr>
        <p:spPr>
          <a:xfrm>
            <a:off x="548640" y="978408"/>
            <a:ext cx="512064" cy="384048"/>
          </a:xfrm>
          <a:prstGeom prst="rect">
            <a:avLst/>
          </a:prstGeom>
          <a:noFill/>
          <a:ln/>
        </p:spPr>
        <p:txBody>
          <a:bodyPr wrap="square" rtlCol="0" anchor="ctr"/>
          <a:lstStyle/>
          <a:p>
            <a:pPr algn="ctr" indent="0" marL="0">
              <a:buNone/>
            </a:pPr>
            <a:r>
              <a:rPr lang="en-US" sz="1500" b="1" dirty="0">
                <a:solidFill>
                  <a:srgbClr val="111111"/>
                </a:solidFill>
              </a:rPr>
              <a:t>1</a:t>
            </a:r>
            <a:endParaRPr lang="en-US" sz="1500" dirty="0"/>
          </a:p>
        </p:txBody>
      </p:sp>
      <p:sp>
        <p:nvSpPr>
          <p:cNvPr id="8" name="Text 5"/>
          <p:cNvSpPr txBox="1"/>
          <p:nvPr/>
        </p:nvSpPr>
        <p:spPr>
          <a:xfrm>
            <a:off x="1234440" y="932688"/>
            <a:ext cx="6858000" cy="274320"/>
          </a:xfrm>
          <a:prstGeom prst="rect">
            <a:avLst/>
          </a:prstGeom>
          <a:noFill/>
          <a:ln/>
        </p:spPr>
        <p:txBody>
          <a:bodyPr wrap="square" rtlCol="0" anchor="ctr"/>
          <a:lstStyle/>
          <a:p>
            <a:pPr indent="0" marL="0">
              <a:buNone/>
            </a:pPr>
            <a:r>
              <a:rPr lang="en-US" sz="1400" b="1" dirty="0">
                <a:solidFill>
                  <a:srgbClr val="FFFFFF"/>
                </a:solidFill>
              </a:rPr>
              <a:t>Board Confirms Exclusivity</a:t>
            </a:r>
            <a:endParaRPr lang="en-US" sz="1400" dirty="0"/>
          </a:p>
        </p:txBody>
      </p:sp>
      <p:sp>
        <p:nvSpPr>
          <p:cNvPr id="9" name="Text 6"/>
          <p:cNvSpPr txBox="1"/>
          <p:nvPr/>
        </p:nvSpPr>
        <p:spPr>
          <a:xfrm>
            <a:off x="1234440" y="1197864"/>
            <a:ext cx="6858000" cy="237744"/>
          </a:xfrm>
          <a:prstGeom prst="rect">
            <a:avLst/>
          </a:prstGeom>
          <a:noFill/>
          <a:ln/>
        </p:spPr>
        <p:txBody>
          <a:bodyPr wrap="square" rtlCol="0" anchor="ctr"/>
          <a:lstStyle/>
          <a:p>
            <a:pPr indent="0" marL="0">
              <a:buNone/>
            </a:pPr>
            <a:r>
              <a:rPr lang="en-US" sz="1100" dirty="0">
                <a:solidFill>
                  <a:srgbClr val="888888"/>
                </a:solidFill>
              </a:rPr>
              <a:t>Today — action requested at this meeting</a:t>
            </a:r>
            <a:endParaRPr lang="en-US" sz="1100" dirty="0"/>
          </a:p>
        </p:txBody>
      </p:sp>
      <p:sp>
        <p:nvSpPr>
          <p:cNvPr id="10" name="Shape 7"/>
          <p:cNvSpPr/>
          <p:nvPr/>
        </p:nvSpPr>
        <p:spPr>
          <a:xfrm>
            <a:off x="1024128" y="2121408"/>
            <a:ext cx="0" cy="201168"/>
          </a:xfrm>
          <a:prstGeom prst="line">
            <a:avLst/>
          </a:prstGeom>
          <a:noFill/>
          <a:ln w="12700">
            <a:solidFill>
              <a:srgbClr val="F26A21"/>
            </a:solidFill>
            <a:prstDash val="solid"/>
          </a:ln>
        </p:spPr>
      </p:sp>
      <p:sp>
        <p:nvSpPr>
          <p:cNvPr id="11" name="Shape 8"/>
          <p:cNvSpPr/>
          <p:nvPr/>
        </p:nvSpPr>
        <p:spPr>
          <a:xfrm>
            <a:off x="548640" y="1609344"/>
            <a:ext cx="512064" cy="512064"/>
          </a:xfrm>
          <a:prstGeom prst="ellipse">
            <a:avLst/>
          </a:prstGeom>
          <a:solidFill>
            <a:srgbClr val="2A2A2A"/>
          </a:solidFill>
          <a:ln w="12700">
            <a:solidFill>
              <a:srgbClr val="F26A21"/>
            </a:solidFill>
            <a:prstDash val="solid"/>
          </a:ln>
        </p:spPr>
      </p:sp>
      <p:sp>
        <p:nvSpPr>
          <p:cNvPr id="12" name="Text 9"/>
          <p:cNvSpPr txBox="1"/>
          <p:nvPr/>
        </p:nvSpPr>
        <p:spPr>
          <a:xfrm>
            <a:off x="548640" y="1673352"/>
            <a:ext cx="512064" cy="384048"/>
          </a:xfrm>
          <a:prstGeom prst="rect">
            <a:avLst/>
          </a:prstGeom>
          <a:noFill/>
          <a:ln/>
        </p:spPr>
        <p:txBody>
          <a:bodyPr wrap="square" rtlCol="0" anchor="ctr"/>
          <a:lstStyle/>
          <a:p>
            <a:pPr algn="ctr" indent="0" marL="0">
              <a:buNone/>
            </a:pPr>
            <a:r>
              <a:rPr lang="en-US" sz="1500" b="1" dirty="0">
                <a:solidFill>
                  <a:srgbClr val="F26A21"/>
                </a:solidFill>
              </a:rPr>
              <a:t>2</a:t>
            </a:r>
            <a:endParaRPr lang="en-US" sz="1500" dirty="0"/>
          </a:p>
        </p:txBody>
      </p:sp>
      <p:sp>
        <p:nvSpPr>
          <p:cNvPr id="13" name="Text 10"/>
          <p:cNvSpPr txBox="1"/>
          <p:nvPr/>
        </p:nvSpPr>
        <p:spPr>
          <a:xfrm>
            <a:off x="1234440" y="1627632"/>
            <a:ext cx="6858000" cy="274320"/>
          </a:xfrm>
          <a:prstGeom prst="rect">
            <a:avLst/>
          </a:prstGeom>
          <a:noFill/>
          <a:ln/>
        </p:spPr>
        <p:txBody>
          <a:bodyPr wrap="square" rtlCol="0" anchor="ctr"/>
          <a:lstStyle/>
          <a:p>
            <a:pPr indent="0" marL="0">
              <a:buNone/>
            </a:pPr>
            <a:r>
              <a:rPr lang="en-US" sz="1400" b="1" dirty="0">
                <a:solidFill>
                  <a:srgbClr val="FFFFFF"/>
                </a:solidFill>
              </a:rPr>
              <a:t>90-Day Exclusivity Window</a:t>
            </a:r>
            <a:endParaRPr lang="en-US" sz="1400" dirty="0"/>
          </a:p>
        </p:txBody>
      </p:sp>
      <p:sp>
        <p:nvSpPr>
          <p:cNvPr id="14" name="Text 11"/>
          <p:cNvSpPr txBox="1"/>
          <p:nvPr/>
        </p:nvSpPr>
        <p:spPr>
          <a:xfrm>
            <a:off x="1234440" y="1892808"/>
            <a:ext cx="6858000" cy="237744"/>
          </a:xfrm>
          <a:prstGeom prst="rect">
            <a:avLst/>
          </a:prstGeom>
          <a:noFill/>
          <a:ln/>
        </p:spPr>
        <p:txBody>
          <a:bodyPr wrap="square" rtlCol="0" anchor="ctr"/>
          <a:lstStyle/>
          <a:p>
            <a:pPr indent="0" marL="0">
              <a:buNone/>
            </a:pPr>
            <a:r>
              <a:rPr lang="en-US" sz="1100" dirty="0">
                <a:solidFill>
                  <a:srgbClr val="888888"/>
                </a:solidFill>
              </a:rPr>
              <a:t>Negotiation and diligence period begins</a:t>
            </a:r>
            <a:endParaRPr lang="en-US" sz="1100" dirty="0"/>
          </a:p>
        </p:txBody>
      </p:sp>
      <p:sp>
        <p:nvSpPr>
          <p:cNvPr id="15" name="Shape 12"/>
          <p:cNvSpPr/>
          <p:nvPr/>
        </p:nvSpPr>
        <p:spPr>
          <a:xfrm>
            <a:off x="1024128" y="2816352"/>
            <a:ext cx="0" cy="201168"/>
          </a:xfrm>
          <a:prstGeom prst="line">
            <a:avLst/>
          </a:prstGeom>
          <a:noFill/>
          <a:ln w="12700">
            <a:solidFill>
              <a:srgbClr val="F26A21"/>
            </a:solidFill>
            <a:prstDash val="solid"/>
          </a:ln>
        </p:spPr>
      </p:sp>
      <p:sp>
        <p:nvSpPr>
          <p:cNvPr id="16" name="Shape 13"/>
          <p:cNvSpPr/>
          <p:nvPr/>
        </p:nvSpPr>
        <p:spPr>
          <a:xfrm>
            <a:off x="548640" y="2304288"/>
            <a:ext cx="512064" cy="512064"/>
          </a:xfrm>
          <a:prstGeom prst="ellipse">
            <a:avLst/>
          </a:prstGeom>
          <a:solidFill>
            <a:srgbClr val="2A2A2A"/>
          </a:solidFill>
          <a:ln w="12700">
            <a:solidFill>
              <a:srgbClr val="F26A21"/>
            </a:solidFill>
            <a:prstDash val="solid"/>
          </a:ln>
        </p:spPr>
      </p:sp>
      <p:sp>
        <p:nvSpPr>
          <p:cNvPr id="17" name="Text 14"/>
          <p:cNvSpPr txBox="1"/>
          <p:nvPr/>
        </p:nvSpPr>
        <p:spPr>
          <a:xfrm>
            <a:off x="548640" y="2368296"/>
            <a:ext cx="512064" cy="384048"/>
          </a:xfrm>
          <a:prstGeom prst="rect">
            <a:avLst/>
          </a:prstGeom>
          <a:noFill/>
          <a:ln/>
        </p:spPr>
        <p:txBody>
          <a:bodyPr wrap="square" rtlCol="0" anchor="ctr"/>
          <a:lstStyle/>
          <a:p>
            <a:pPr algn="ctr" indent="0" marL="0">
              <a:buNone/>
            </a:pPr>
            <a:r>
              <a:rPr lang="en-US" sz="1500" b="1" dirty="0">
                <a:solidFill>
                  <a:srgbClr val="F26A21"/>
                </a:solidFill>
              </a:rPr>
              <a:t>3</a:t>
            </a:r>
            <a:endParaRPr lang="en-US" sz="1500" dirty="0"/>
          </a:p>
        </p:txBody>
      </p:sp>
      <p:sp>
        <p:nvSpPr>
          <p:cNvPr id="18" name="Text 15"/>
          <p:cNvSpPr txBox="1"/>
          <p:nvPr/>
        </p:nvSpPr>
        <p:spPr>
          <a:xfrm>
            <a:off x="1234440" y="2322576"/>
            <a:ext cx="6858000" cy="274320"/>
          </a:xfrm>
          <a:prstGeom prst="rect">
            <a:avLst/>
          </a:prstGeom>
          <a:noFill/>
          <a:ln/>
        </p:spPr>
        <p:txBody>
          <a:bodyPr wrap="square" rtlCol="0" anchor="ctr"/>
          <a:lstStyle/>
          <a:p>
            <a:pPr indent="0" marL="0">
              <a:buNone/>
            </a:pPr>
            <a:r>
              <a:rPr lang="en-US" sz="1400" b="1" dirty="0">
                <a:solidFill>
                  <a:srgbClr val="FFFFFF"/>
                </a:solidFill>
              </a:rPr>
              <a:t>Definitive Agreement</a:t>
            </a:r>
            <a:endParaRPr lang="en-US" sz="1400" dirty="0"/>
          </a:p>
        </p:txBody>
      </p:sp>
      <p:sp>
        <p:nvSpPr>
          <p:cNvPr id="19" name="Text 16"/>
          <p:cNvSpPr txBox="1"/>
          <p:nvPr/>
        </p:nvSpPr>
        <p:spPr>
          <a:xfrm>
            <a:off x="1234440" y="2587752"/>
            <a:ext cx="6858000" cy="237744"/>
          </a:xfrm>
          <a:prstGeom prst="rect">
            <a:avLst/>
          </a:prstGeom>
          <a:noFill/>
          <a:ln/>
        </p:spPr>
        <p:txBody>
          <a:bodyPr wrap="square" rtlCol="0" anchor="ctr"/>
          <a:lstStyle/>
          <a:p>
            <a:pPr indent="0" marL="0">
              <a:buNone/>
            </a:pPr>
            <a:r>
              <a:rPr lang="en-US" sz="1100" dirty="0">
                <a:solidFill>
                  <a:srgbClr val="888888"/>
                </a:solidFill>
              </a:rPr>
              <a:t>Key terms, employee pool, earn-out detail finalized</a:t>
            </a:r>
            <a:endParaRPr lang="en-US" sz="1100" dirty="0"/>
          </a:p>
        </p:txBody>
      </p:sp>
      <p:sp>
        <p:nvSpPr>
          <p:cNvPr id="20" name="Shape 17"/>
          <p:cNvSpPr/>
          <p:nvPr/>
        </p:nvSpPr>
        <p:spPr>
          <a:xfrm>
            <a:off x="1024128" y="3511296"/>
            <a:ext cx="0" cy="201168"/>
          </a:xfrm>
          <a:prstGeom prst="line">
            <a:avLst/>
          </a:prstGeom>
          <a:noFill/>
          <a:ln w="12700">
            <a:solidFill>
              <a:srgbClr val="F26A21"/>
            </a:solidFill>
            <a:prstDash val="solid"/>
          </a:ln>
        </p:spPr>
      </p:sp>
      <p:sp>
        <p:nvSpPr>
          <p:cNvPr id="21" name="Shape 18"/>
          <p:cNvSpPr/>
          <p:nvPr/>
        </p:nvSpPr>
        <p:spPr>
          <a:xfrm>
            <a:off x="548640" y="2999232"/>
            <a:ext cx="512064" cy="512064"/>
          </a:xfrm>
          <a:prstGeom prst="ellipse">
            <a:avLst/>
          </a:prstGeom>
          <a:solidFill>
            <a:srgbClr val="2A2A2A"/>
          </a:solidFill>
          <a:ln w="12700">
            <a:solidFill>
              <a:srgbClr val="F26A21"/>
            </a:solidFill>
            <a:prstDash val="solid"/>
          </a:ln>
        </p:spPr>
      </p:sp>
      <p:sp>
        <p:nvSpPr>
          <p:cNvPr id="22" name="Text 19"/>
          <p:cNvSpPr txBox="1"/>
          <p:nvPr/>
        </p:nvSpPr>
        <p:spPr>
          <a:xfrm>
            <a:off x="548640" y="3063240"/>
            <a:ext cx="512064" cy="384048"/>
          </a:xfrm>
          <a:prstGeom prst="rect">
            <a:avLst/>
          </a:prstGeom>
          <a:noFill/>
          <a:ln/>
        </p:spPr>
        <p:txBody>
          <a:bodyPr wrap="square" rtlCol="0" anchor="ctr"/>
          <a:lstStyle/>
          <a:p>
            <a:pPr algn="ctr" indent="0" marL="0">
              <a:buNone/>
            </a:pPr>
            <a:r>
              <a:rPr lang="en-US" sz="1500" b="1" dirty="0">
                <a:solidFill>
                  <a:srgbClr val="F26A21"/>
                </a:solidFill>
              </a:rPr>
              <a:t>4</a:t>
            </a:r>
            <a:endParaRPr lang="en-US" sz="1500" dirty="0"/>
          </a:p>
        </p:txBody>
      </p:sp>
      <p:sp>
        <p:nvSpPr>
          <p:cNvPr id="23" name="Text 20"/>
          <p:cNvSpPr txBox="1"/>
          <p:nvPr/>
        </p:nvSpPr>
        <p:spPr>
          <a:xfrm>
            <a:off x="1234440" y="3017520"/>
            <a:ext cx="6858000" cy="274320"/>
          </a:xfrm>
          <a:prstGeom prst="rect">
            <a:avLst/>
          </a:prstGeom>
          <a:noFill/>
          <a:ln/>
        </p:spPr>
        <p:txBody>
          <a:bodyPr wrap="square" rtlCol="0" anchor="ctr"/>
          <a:lstStyle/>
          <a:p>
            <a:pPr indent="0" marL="0">
              <a:buNone/>
            </a:pPr>
            <a:r>
              <a:rPr lang="en-US" sz="1400" b="1" dirty="0">
                <a:solidFill>
                  <a:srgbClr val="FFFFFF"/>
                </a:solidFill>
              </a:rPr>
              <a:t>Financing Close</a:t>
            </a:r>
            <a:endParaRPr lang="en-US" sz="1400" dirty="0"/>
          </a:p>
        </p:txBody>
      </p:sp>
      <p:sp>
        <p:nvSpPr>
          <p:cNvPr id="24" name="Text 21"/>
          <p:cNvSpPr txBox="1"/>
          <p:nvPr/>
        </p:nvSpPr>
        <p:spPr>
          <a:xfrm>
            <a:off x="1234440" y="3282696"/>
            <a:ext cx="6858000" cy="237744"/>
          </a:xfrm>
          <a:prstGeom prst="rect">
            <a:avLst/>
          </a:prstGeom>
          <a:noFill/>
          <a:ln/>
        </p:spPr>
        <p:txBody>
          <a:bodyPr wrap="square" rtlCol="0" anchor="ctr"/>
          <a:lstStyle/>
          <a:p>
            <a:pPr indent="0" marL="0">
              <a:buNone/>
            </a:pPr>
            <a:r>
              <a:rPr lang="en-US" sz="1100" dirty="0">
                <a:solidFill>
                  <a:srgbClr val="888888"/>
                </a:solidFill>
              </a:rPr>
              <a:t>Cash at close + EAI units issued; ① + stock = ②</a:t>
            </a:r>
            <a:endParaRPr lang="en-US" sz="1100" dirty="0"/>
          </a:p>
        </p:txBody>
      </p:sp>
      <p:sp>
        <p:nvSpPr>
          <p:cNvPr id="25" name="Shape 22"/>
          <p:cNvSpPr/>
          <p:nvPr/>
        </p:nvSpPr>
        <p:spPr>
          <a:xfrm>
            <a:off x="548640" y="3694176"/>
            <a:ext cx="512064" cy="512064"/>
          </a:xfrm>
          <a:prstGeom prst="ellipse">
            <a:avLst/>
          </a:prstGeom>
          <a:solidFill>
            <a:srgbClr val="2A2A2A"/>
          </a:solidFill>
          <a:ln w="12700">
            <a:solidFill>
              <a:srgbClr val="F26A21"/>
            </a:solidFill>
            <a:prstDash val="solid"/>
          </a:ln>
        </p:spPr>
      </p:sp>
      <p:sp>
        <p:nvSpPr>
          <p:cNvPr id="26" name="Text 23"/>
          <p:cNvSpPr txBox="1"/>
          <p:nvPr/>
        </p:nvSpPr>
        <p:spPr>
          <a:xfrm>
            <a:off x="548640" y="3758184"/>
            <a:ext cx="512064" cy="384048"/>
          </a:xfrm>
          <a:prstGeom prst="rect">
            <a:avLst/>
          </a:prstGeom>
          <a:noFill/>
          <a:ln/>
        </p:spPr>
        <p:txBody>
          <a:bodyPr wrap="square" rtlCol="0" anchor="ctr"/>
          <a:lstStyle/>
          <a:p>
            <a:pPr algn="ctr" indent="0" marL="0">
              <a:buNone/>
            </a:pPr>
            <a:r>
              <a:rPr lang="en-US" sz="1500" b="1" dirty="0">
                <a:solidFill>
                  <a:srgbClr val="F26A21"/>
                </a:solidFill>
              </a:rPr>
              <a:t>5</a:t>
            </a:r>
            <a:endParaRPr lang="en-US" sz="1500" dirty="0"/>
          </a:p>
        </p:txBody>
      </p:sp>
      <p:sp>
        <p:nvSpPr>
          <p:cNvPr id="27" name="Text 24"/>
          <p:cNvSpPr txBox="1"/>
          <p:nvPr/>
        </p:nvSpPr>
        <p:spPr>
          <a:xfrm>
            <a:off x="1234440" y="3712464"/>
            <a:ext cx="6858000" cy="274320"/>
          </a:xfrm>
          <a:prstGeom prst="rect">
            <a:avLst/>
          </a:prstGeom>
          <a:noFill/>
          <a:ln/>
        </p:spPr>
        <p:txBody>
          <a:bodyPr wrap="square" rtlCol="0" anchor="ctr"/>
          <a:lstStyle/>
          <a:p>
            <a:pPr indent="0" marL="0">
              <a:buNone/>
            </a:pPr>
            <a:r>
              <a:rPr lang="en-US" sz="1400" b="1" dirty="0">
                <a:solidFill>
                  <a:srgbClr val="FFFFFF"/>
                </a:solidFill>
              </a:rPr>
              <a:t>Targeted RTO</a:t>
            </a:r>
            <a:endParaRPr lang="en-US" sz="1400" dirty="0"/>
          </a:p>
        </p:txBody>
      </p:sp>
      <p:sp>
        <p:nvSpPr>
          <p:cNvPr id="28" name="Text 25"/>
          <p:cNvSpPr txBox="1"/>
          <p:nvPr/>
        </p:nvSpPr>
        <p:spPr>
          <a:xfrm>
            <a:off x="1234440" y="3977640"/>
            <a:ext cx="6858000" cy="237744"/>
          </a:xfrm>
          <a:prstGeom prst="rect">
            <a:avLst/>
          </a:prstGeom>
          <a:noFill/>
          <a:ln/>
        </p:spPr>
        <p:txBody>
          <a:bodyPr wrap="square" rtlCol="0" anchor="ctr"/>
          <a:lstStyle/>
          <a:p>
            <a:pPr indent="0" marL="0">
              <a:buNone/>
            </a:pPr>
            <a:r>
              <a:rPr lang="en-US" sz="1100" dirty="0">
                <a:solidFill>
                  <a:srgbClr val="888888"/>
                </a:solidFill>
              </a:rPr>
              <a:t>~6 months post-financing; units tradeable at listing (not assured)</a:t>
            </a:r>
            <a:endParaRPr lang="en-US" sz="1100" dirty="0"/>
          </a:p>
        </p:txBody>
      </p:sp>
      <p:sp>
        <p:nvSpPr>
          <p:cNvPr id="29" name="Shape 26"/>
          <p:cNvSpPr/>
          <p:nvPr/>
        </p:nvSpPr>
        <p:spPr>
          <a:xfrm>
            <a:off x="365760" y="4407408"/>
            <a:ext cx="8412480" cy="402336"/>
          </a:xfrm>
          <a:prstGeom prst="rect">
            <a:avLst/>
          </a:prstGeom>
          <a:solidFill>
            <a:srgbClr val="2A1000"/>
          </a:solidFill>
          <a:ln w="12700">
            <a:solidFill>
              <a:srgbClr val="F26A21"/>
            </a:solidFill>
            <a:prstDash val="solid"/>
          </a:ln>
        </p:spPr>
      </p:sp>
      <p:sp>
        <p:nvSpPr>
          <p:cNvPr id="30" name="Text 27"/>
          <p:cNvSpPr txBox="1"/>
          <p:nvPr/>
        </p:nvSpPr>
        <p:spPr>
          <a:xfrm>
            <a:off x="502920" y="4443984"/>
            <a:ext cx="8229600" cy="329184"/>
          </a:xfrm>
          <a:prstGeom prst="rect">
            <a:avLst/>
          </a:prstGeom>
          <a:noFill/>
          <a:ln/>
        </p:spPr>
        <p:txBody>
          <a:bodyPr wrap="square" rtlCol="0" anchor="ctr"/>
          <a:lstStyle/>
          <a:p>
            <a:pPr algn="ctr" indent="0" marL="0">
              <a:buNone/>
            </a:pPr>
            <a:r>
              <a:rPr lang="en-US" sz="1300" b="1" dirty="0">
                <a:solidFill>
                  <a:srgbClr val="F26A21"/>
                </a:solidFill>
              </a:rPr>
              <a:t>The Board is asked to confirm §3 exclusivity. Questions and open items welcome.</a:t>
            </a:r>
            <a:endParaRPr lang="en-US" sz="1300" dirty="0"/>
          </a:p>
        </p:txBody>
      </p:sp>
    </p:spTree>
  </p:cSld>
  <p:clrMapOvr>
    <a:masterClrMapping/>
  </p:clrMapOvr>
</p:sld>
</file>

<file path=ppt/theme/theme1.xml><?xml version="1.0" encoding="utf-8"?>
<a:theme xmlns:a="http://schemas.openxmlformats.org/drawingml/2006/main" name="Exos Aerospace">
  <a:themeElements>
    <a:clrScheme name="Exos Aerospace">
      <a:dk1>
        <a:srgbClr val="111111"/>
      </a:dk1>
      <a:lt1>
        <a:srgbClr val="FFFFFF"/>
      </a:lt1>
      <a:dk2>
        <a:srgbClr val="1A1A1A"/>
      </a:dk2>
      <a:lt2>
        <a:srgbClr val="F5F5F5"/>
      </a:lt2>
      <a:accent1>
        <a:srgbClr val="F26A21"/>
      </a:accent1>
      <a:accent2>
        <a:srgbClr val="888888"/>
      </a:accent2>
      <a:accent3>
        <a:srgbClr val="2ECC71"/>
      </a:accent3>
      <a:accent4>
        <a:srgbClr val="C0392B"/>
      </a:accent4>
      <a:accent5>
        <a:srgbClr val="555555"/>
      </a:accent5>
      <a:accent6>
        <a:srgbClr val="333333"/>
      </a:accent6>
      <a:hlink>
        <a:srgbClr val="F26A21"/>
      </a:hlink>
      <a:folHlink>
        <a:srgbClr val="AAAAAA"/>
      </a:folHlink>
    </a:clrScheme>
    <a:fontScheme name="Exos Aerospa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2026-10-10T18:44:55Z</dcterms:created>
  <dcterms:modified xsi:type="dcterms:W3CDTF">2026-10-10T18:44:55Z</dcterms:modified>
</cp:coreProperties>
</file>