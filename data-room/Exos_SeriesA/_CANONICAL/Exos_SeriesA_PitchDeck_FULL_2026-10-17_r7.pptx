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sldIdLst>
    <p:sldId id="256" r:id="rId6"/>
    <p:sldId id="510" r:id="rId9"/>
    <p:sldId id="511" r:id="rId10"/>
    <p:sldId id="257" r:id="rId11"/>
    <p:sldId id="258" r:id="rId12"/>
    <p:sldId id="259" r:id="rId13"/>
    <p:sldId id="261" r:id="rId14"/>
    <p:sldId id="262" r:id="rId15"/>
    <p:sldId id="264" r:id="rId16"/>
    <p:sldId id="265" r:id="rId17"/>
    <p:sldId id="266" r:id="rId18"/>
    <p:sldId id="267" r:id="rId19"/>
    <p:sldId id="268" r:id="rId20"/>
    <p:sldId id="269" r:id="rId21"/>
    <p:sldId id="270" r:id="rId22"/>
    <p:sldId id="514" r:id="rId23"/>
    <p:sldId id="518" r:id="rId24"/>
    <p:sldId id="272" r:id="rId25"/>
    <p:sldId id="273" r:id="rId26"/>
    <p:sldId id="27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AF55B5-88D9-4BD7-8CB3-C49E08BBB2BB}" v="2" dt="2026-10-17T02:49:36.1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606"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6/11/relationships/changesInfo" Target="changesInfos/changesInfo1.xml"/><Relationship Id="rId3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Quinn (Admin)" userId="9ec5d443-2d67-4e26-b1cd-861106efeb5d" providerId="ADAL" clId="{571F70E9-1B0C-46D2-8C0D-E5E87DF9624D}"/>
    <pc:docChg chg="undo custSel addSld delSld modSld">
      <pc:chgData name="John Quinn (Admin)" userId="9ec5d443-2d67-4e26-b1cd-861106efeb5d" providerId="ADAL" clId="{571F70E9-1B0C-46D2-8C0D-E5E87DF9624D}" dt="2026-10-17T02:49:39.610" v="127" actId="47"/>
      <pc:docMkLst>
        <pc:docMk/>
      </pc:docMkLst>
      <pc:sldChg chg="modSp mod">
        <pc:chgData name="John Quinn (Admin)" userId="9ec5d443-2d67-4e26-b1cd-861106efeb5d" providerId="ADAL" clId="{571F70E9-1B0C-46D2-8C0D-E5E87DF9624D}" dt="2026-09-18T11:19:37.933" v="2" actId="14100"/>
        <pc:sldMkLst>
          <pc:docMk/>
          <pc:sldMk cId="0" sldId="268"/>
        </pc:sldMkLst>
        <pc:spChg chg="mod">
          <ac:chgData name="John Quinn (Admin)" userId="9ec5d443-2d67-4e26-b1cd-861106efeb5d" providerId="ADAL" clId="{571F70E9-1B0C-46D2-8C0D-E5E87DF9624D}" dt="2026-09-18T11:19:27.686" v="1" actId="20577"/>
          <ac:spMkLst>
            <pc:docMk/>
            <pc:sldMk cId="0" sldId="268"/>
            <ac:spMk id="6" creationId="{00000000-0000-0000-0000-000000000000}"/>
          </ac:spMkLst>
        </pc:spChg>
        <pc:spChg chg="mod">
          <ac:chgData name="John Quinn (Admin)" userId="9ec5d443-2d67-4e26-b1cd-861106efeb5d" providerId="ADAL" clId="{571F70E9-1B0C-46D2-8C0D-E5E87DF9624D}" dt="2026-09-18T11:19:37.933" v="2" actId="14100"/>
          <ac:spMkLst>
            <pc:docMk/>
            <pc:sldMk cId="0" sldId="268"/>
            <ac:spMk id="9" creationId="{00000000-0000-0000-0000-000000000000}"/>
          </ac:spMkLst>
        </pc:spChg>
      </pc:sldChg>
      <pc:sldChg chg="modSp mod">
        <pc:chgData name="John Quinn (Admin)" userId="9ec5d443-2d67-4e26-b1cd-861106efeb5d" providerId="ADAL" clId="{571F70E9-1B0C-46D2-8C0D-E5E87DF9624D}" dt="2026-09-29T18:19:49.198" v="5" actId="27636"/>
        <pc:sldMkLst>
          <pc:docMk/>
          <pc:sldMk cId="0" sldId="514"/>
        </pc:sldMkLst>
        <pc:spChg chg="mod">
          <ac:chgData name="John Quinn (Admin)" userId="9ec5d443-2d67-4e26-b1cd-861106efeb5d" providerId="ADAL" clId="{571F70E9-1B0C-46D2-8C0D-E5E87DF9624D}" dt="2026-09-29T18:19:49.198" v="5" actId="27636"/>
          <ac:spMkLst>
            <pc:docMk/>
            <pc:sldMk cId="0" sldId="514"/>
            <ac:spMk id="2" creationId="{00000000-0000-0000-0000-000000000000}"/>
          </ac:spMkLst>
        </pc:spChg>
      </pc:sldChg>
      <pc:sldChg chg="del">
        <pc:chgData name="John Quinn (Admin)" userId="9ec5d443-2d67-4e26-b1cd-861106efeb5d" providerId="ADAL" clId="{571F70E9-1B0C-46D2-8C0D-E5E87DF9624D}" dt="2026-10-17T02:49:39.610" v="127" actId="47"/>
        <pc:sldMkLst>
          <pc:docMk/>
          <pc:sldMk cId="230331564" sldId="515"/>
        </pc:sldMkLst>
      </pc:sldChg>
      <pc:sldChg chg="addSp modSp add mod">
        <pc:chgData name="John Quinn (Admin)" userId="9ec5d443-2d67-4e26-b1cd-861106efeb5d" providerId="ADAL" clId="{571F70E9-1B0C-46D2-8C0D-E5E87DF9624D}" dt="2026-09-29T18:21:30.888" v="125" actId="20577"/>
        <pc:sldMkLst>
          <pc:docMk/>
          <pc:sldMk cId="1192431783" sldId="517"/>
        </pc:sldMkLst>
        <pc:spChg chg="mod">
          <ac:chgData name="John Quinn (Admin)" userId="9ec5d443-2d67-4e26-b1cd-861106efeb5d" providerId="ADAL" clId="{571F70E9-1B0C-46D2-8C0D-E5E87DF9624D}" dt="2026-09-29T18:21:30.888" v="125" actId="20577"/>
          <ac:spMkLst>
            <pc:docMk/>
            <pc:sldMk cId="1192431783" sldId="517"/>
            <ac:spMk id="4" creationId="{6F0426BE-6C6F-7365-C4F7-31570EA51587}"/>
          </ac:spMkLst>
        </pc:spChg>
        <pc:spChg chg="mod">
          <ac:chgData name="John Quinn (Admin)" userId="9ec5d443-2d67-4e26-b1cd-861106efeb5d" providerId="ADAL" clId="{571F70E9-1B0C-46D2-8C0D-E5E87DF9624D}" dt="2026-09-29T18:19:56.197" v="7" actId="20577"/>
          <ac:spMkLst>
            <pc:docMk/>
            <pc:sldMk cId="1192431783" sldId="517"/>
            <ac:spMk id="6" creationId="{3AF162F2-524D-FEDD-3DDF-F69668A24FA9}"/>
          </ac:spMkLst>
        </pc:spChg>
        <pc:picChg chg="add mod">
          <ac:chgData name="John Quinn (Admin)" userId="9ec5d443-2d67-4e26-b1cd-861106efeb5d" providerId="ADAL" clId="{571F70E9-1B0C-46D2-8C0D-E5E87DF9624D}" dt="2026-09-29T18:20:44.816" v="24" actId="27614"/>
          <ac:picMkLst>
            <pc:docMk/>
            <pc:sldMk cId="1192431783" sldId="517"/>
            <ac:picMk id="9" creationId="{7625C4B0-4AA8-779A-0568-F393770770F7}"/>
          </ac:picMkLst>
        </pc:picChg>
      </pc:sldChg>
      <pc:sldChg chg="add">
        <pc:chgData name="John Quinn (Admin)" userId="9ec5d443-2d67-4e26-b1cd-861106efeb5d" providerId="ADAL" clId="{571F70E9-1B0C-46D2-8C0D-E5E87DF9624D}" dt="2026-10-17T02:49:36.143" v="126"/>
        <pc:sldMkLst>
          <pc:docMk/>
          <pc:sldMk cId="301949951" sldId="51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CC777D-4F34-4166-9651-B274DC47FB56}" type="doc">
      <dgm:prSet loTypeId="urn:microsoft.com/office/officeart/2011/layout/ConvergingText" loCatId="process" qsTypeId="urn:microsoft.com/office/officeart/2005/8/quickstyle/simple1#2" qsCatId="simple" csTypeId="urn:microsoft.com/office/officeart/2005/8/colors/accent2_2" csCatId="accent2" phldr="1"/>
      <dgm:spPr/>
      <dgm:t>
        <a:bodyPr/>
        <a:lstStyle/>
        <a:p>
          <a:endParaRPr lang="en-US"/>
        </a:p>
      </dgm:t>
    </dgm:pt>
    <dgm:pt modelId="{927A0650-4234-49E7-B1AD-6E709BF2AFE4}">
      <dgm:prSet phldrT="[Text]"/>
      <dgm:spPr/>
      <dgm:t>
        <a:bodyPr/>
        <a:lstStyle/>
        <a:p>
          <a:r>
            <a:rPr lang="en-US" dirty="0"/>
            <a:t>2029-30 EXIT Potentials</a:t>
          </a:r>
        </a:p>
      </dgm:t>
    </dgm:pt>
    <dgm:pt modelId="{E1CACB15-3B57-4E0C-A641-4FCEA9DDAF84}" type="parTrans" cxnId="{01028D4F-2286-47C6-9DD0-DF5361141186}">
      <dgm:prSet/>
      <dgm:spPr/>
      <dgm:t>
        <a:bodyPr/>
        <a:lstStyle/>
        <a:p>
          <a:endParaRPr lang="en-US"/>
        </a:p>
      </dgm:t>
    </dgm:pt>
    <dgm:pt modelId="{2812E164-C59F-48D0-B7B9-E22E0DC29FC9}" type="sibTrans" cxnId="{01028D4F-2286-47C6-9DD0-DF5361141186}">
      <dgm:prSet/>
      <dgm:spPr/>
      <dgm:t>
        <a:bodyPr/>
        <a:lstStyle/>
        <a:p>
          <a:endParaRPr lang="en-US"/>
        </a:p>
      </dgm:t>
    </dgm:pt>
    <dgm:pt modelId="{FA70011F-51B1-4453-BC10-DE795A85EFBA}">
      <dgm:prSet phldrT="[Text]" custT="1"/>
      <dgm:spPr/>
      <dgm:t>
        <a:bodyPr/>
        <a:lstStyle/>
        <a:p>
          <a:r>
            <a:rPr lang="en-US" sz="1100" b="0" i="0">
              <a:latin typeface="Duplicate Sans Light" pitchFamily="2" charset="77"/>
            </a:rPr>
            <a:t>Initial Public Offering</a:t>
          </a:r>
        </a:p>
      </dgm:t>
    </dgm:pt>
    <dgm:pt modelId="{D0979CA6-1D30-4877-9543-7C186D38B936}" type="parTrans" cxnId="{19F0D729-3223-40F0-9760-CCBBDAE35251}">
      <dgm:prSet/>
      <dgm:spPr/>
      <dgm:t>
        <a:bodyPr/>
        <a:lstStyle/>
        <a:p>
          <a:endParaRPr lang="en-US"/>
        </a:p>
      </dgm:t>
    </dgm:pt>
    <dgm:pt modelId="{C16DB434-0890-49C7-AA10-BC4B31EBAC40}" type="sibTrans" cxnId="{19F0D729-3223-40F0-9760-CCBBDAE35251}">
      <dgm:prSet/>
      <dgm:spPr/>
      <dgm:t>
        <a:bodyPr/>
        <a:lstStyle/>
        <a:p>
          <a:endParaRPr lang="en-US"/>
        </a:p>
      </dgm:t>
    </dgm:pt>
    <dgm:pt modelId="{15A89210-B323-4C6E-AC5E-98A7F48139D8}">
      <dgm:prSet phldrT="[Text]" custT="1"/>
      <dgm:spPr/>
      <dgm:t>
        <a:bodyPr/>
        <a:lstStyle/>
        <a:p>
          <a:r>
            <a:rPr lang="en-US" sz="1100" b="0" i="0">
              <a:latin typeface="Duplicate Sans Light" pitchFamily="2" charset="77"/>
            </a:rPr>
            <a:t>DoD Contract</a:t>
          </a:r>
        </a:p>
      </dgm:t>
    </dgm:pt>
    <dgm:pt modelId="{29788081-3892-4317-B7B2-F39CBED0B5E7}" type="parTrans" cxnId="{81CCDE4D-9226-49F0-B0DE-B2AC678214F7}">
      <dgm:prSet/>
      <dgm:spPr/>
      <dgm:t>
        <a:bodyPr/>
        <a:lstStyle/>
        <a:p>
          <a:endParaRPr lang="en-US"/>
        </a:p>
      </dgm:t>
    </dgm:pt>
    <dgm:pt modelId="{09979BAB-9900-4C4C-A017-BB9E624FF013}" type="sibTrans" cxnId="{81CCDE4D-9226-49F0-B0DE-B2AC678214F7}">
      <dgm:prSet/>
      <dgm:spPr/>
      <dgm:t>
        <a:bodyPr/>
        <a:lstStyle/>
        <a:p>
          <a:endParaRPr lang="en-US"/>
        </a:p>
      </dgm:t>
    </dgm:pt>
    <dgm:pt modelId="{C34C1816-98FA-46EE-97D2-68DE722368A3}">
      <dgm:prSet phldrT="[Text]" custT="1"/>
      <dgm:spPr/>
      <dgm:t>
        <a:bodyPr/>
        <a:lstStyle/>
        <a:p>
          <a:r>
            <a:rPr lang="en-US" sz="1000" b="0" i="0">
              <a:latin typeface="Duplicate Sans Light" pitchFamily="2" charset="77"/>
            </a:rPr>
            <a:t>Positioned for Merger or Acquisition</a:t>
          </a:r>
        </a:p>
      </dgm:t>
    </dgm:pt>
    <dgm:pt modelId="{B40783BA-3157-42A6-987B-E2FA80E53C8C}" type="parTrans" cxnId="{86239370-A29A-4912-898C-90E81CD9EE70}">
      <dgm:prSet/>
      <dgm:spPr/>
      <dgm:t>
        <a:bodyPr/>
        <a:lstStyle/>
        <a:p>
          <a:endParaRPr lang="en-US"/>
        </a:p>
      </dgm:t>
    </dgm:pt>
    <dgm:pt modelId="{E3C3675F-8574-4BA4-8A55-EF903A461029}" type="sibTrans" cxnId="{86239370-A29A-4912-898C-90E81CD9EE70}">
      <dgm:prSet/>
      <dgm:spPr/>
      <dgm:t>
        <a:bodyPr/>
        <a:lstStyle/>
        <a:p>
          <a:endParaRPr lang="en-US"/>
        </a:p>
      </dgm:t>
    </dgm:pt>
    <dgm:pt modelId="{E446A5D3-25FD-44D2-A486-8936DCD1D336}" type="pres">
      <dgm:prSet presAssocID="{C7CC777D-4F34-4166-9651-B274DC47FB56}" presName="Name0" presStyleCnt="0">
        <dgm:presLayoutVars>
          <dgm:chMax/>
          <dgm:chPref val="1"/>
          <dgm:dir/>
          <dgm:animOne val="branch"/>
          <dgm:animLvl val="lvl"/>
          <dgm:resizeHandles/>
        </dgm:presLayoutVars>
      </dgm:prSet>
      <dgm:spPr/>
    </dgm:pt>
    <dgm:pt modelId="{6C205E5A-3807-4FB9-9538-72F8BCBA05D8}" type="pres">
      <dgm:prSet presAssocID="{927A0650-4234-49E7-B1AD-6E709BF2AFE4}" presName="composite" presStyleCnt="0"/>
      <dgm:spPr/>
    </dgm:pt>
    <dgm:pt modelId="{0259AEF4-7421-4E81-9618-2E5C7161636E}" type="pres">
      <dgm:prSet presAssocID="{927A0650-4234-49E7-B1AD-6E709BF2AFE4}" presName="ParentAccent1" presStyleLbl="alignNode1" presStyleIdx="0" presStyleCnt="34"/>
      <dgm:spPr/>
    </dgm:pt>
    <dgm:pt modelId="{63AF966E-8D6D-48FA-873C-46E931BD833D}" type="pres">
      <dgm:prSet presAssocID="{927A0650-4234-49E7-B1AD-6E709BF2AFE4}" presName="ParentAccent2" presStyleLbl="alignNode1" presStyleIdx="1" presStyleCnt="34"/>
      <dgm:spPr/>
    </dgm:pt>
    <dgm:pt modelId="{B80959DB-28D6-4CEE-BDEA-44F98A4CEE49}" type="pres">
      <dgm:prSet presAssocID="{927A0650-4234-49E7-B1AD-6E709BF2AFE4}" presName="ParentAccent3" presStyleLbl="alignNode1" presStyleIdx="2" presStyleCnt="34"/>
      <dgm:spPr/>
    </dgm:pt>
    <dgm:pt modelId="{DFBC5DD1-6060-4D48-BD7F-2BC0F265DD65}" type="pres">
      <dgm:prSet presAssocID="{927A0650-4234-49E7-B1AD-6E709BF2AFE4}" presName="ParentAccent4" presStyleLbl="alignNode1" presStyleIdx="3" presStyleCnt="34"/>
      <dgm:spPr/>
    </dgm:pt>
    <dgm:pt modelId="{E43ADEE5-A519-4489-8D26-96FB34D57305}" type="pres">
      <dgm:prSet presAssocID="{927A0650-4234-49E7-B1AD-6E709BF2AFE4}" presName="ParentAccent5" presStyleLbl="alignNode1" presStyleIdx="4" presStyleCnt="34"/>
      <dgm:spPr/>
    </dgm:pt>
    <dgm:pt modelId="{9A391C6C-CCB5-4E08-8F88-62D62AF953C4}" type="pres">
      <dgm:prSet presAssocID="{927A0650-4234-49E7-B1AD-6E709BF2AFE4}" presName="ParentAccent6" presStyleLbl="alignNode1" presStyleIdx="5" presStyleCnt="34"/>
      <dgm:spPr/>
    </dgm:pt>
    <dgm:pt modelId="{CB5C31B4-1748-4468-9A09-30EE4D5578C3}" type="pres">
      <dgm:prSet presAssocID="{927A0650-4234-49E7-B1AD-6E709BF2AFE4}" presName="ParentAccent7" presStyleLbl="alignNode1" presStyleIdx="6" presStyleCnt="34"/>
      <dgm:spPr/>
    </dgm:pt>
    <dgm:pt modelId="{E0C61048-F64E-4273-860E-CEE04FDE7F09}" type="pres">
      <dgm:prSet presAssocID="{927A0650-4234-49E7-B1AD-6E709BF2AFE4}" presName="ParentAccent8" presStyleLbl="alignNode1" presStyleIdx="7" presStyleCnt="34"/>
      <dgm:spPr/>
    </dgm:pt>
    <dgm:pt modelId="{8B5ADAF4-7512-401E-AAD9-8012D2FA10D9}" type="pres">
      <dgm:prSet presAssocID="{927A0650-4234-49E7-B1AD-6E709BF2AFE4}" presName="ParentAccent9" presStyleLbl="alignNode1" presStyleIdx="8" presStyleCnt="34"/>
      <dgm:spPr/>
    </dgm:pt>
    <dgm:pt modelId="{7799C585-58BC-426E-95E9-66A3F1BFA4FC}" type="pres">
      <dgm:prSet presAssocID="{927A0650-4234-49E7-B1AD-6E709BF2AFE4}" presName="ParentAccent10" presStyleLbl="alignNode1" presStyleIdx="9" presStyleCnt="34"/>
      <dgm:spPr/>
    </dgm:pt>
    <dgm:pt modelId="{CC31440D-521E-48F6-AE66-FADC6789ECE6}" type="pres">
      <dgm:prSet presAssocID="{927A0650-4234-49E7-B1AD-6E709BF2AFE4}" presName="Parent" presStyleLbl="alignNode1" presStyleIdx="10" presStyleCnt="34" custScaleX="148014" custScaleY="145578" custLinFactNeighborX="29630" custLinFactNeighborY="-738">
        <dgm:presLayoutVars>
          <dgm:chMax val="5"/>
          <dgm:chPref val="3"/>
          <dgm:bulletEnabled val="1"/>
        </dgm:presLayoutVars>
      </dgm:prSet>
      <dgm:spPr/>
    </dgm:pt>
    <dgm:pt modelId="{3801B84F-CA6C-4196-BD13-DCD3EB8709B5}" type="pres">
      <dgm:prSet presAssocID="{FA70011F-51B1-4453-BC10-DE795A85EFBA}" presName="Child1Accent1" presStyleLbl="alignNode1" presStyleIdx="11" presStyleCnt="34" custLinFactNeighborX="8896" custLinFactNeighborY="-2285"/>
      <dgm:spPr/>
    </dgm:pt>
    <dgm:pt modelId="{EA7F15F4-BC11-452B-AD11-8558DE40472F}" type="pres">
      <dgm:prSet presAssocID="{FA70011F-51B1-4453-BC10-DE795A85EFBA}" presName="Child1Accent2" presStyleLbl="alignNode1" presStyleIdx="12" presStyleCnt="34"/>
      <dgm:spPr/>
    </dgm:pt>
    <dgm:pt modelId="{E1C307BD-6D13-4973-A92E-E36C9AAE84D7}" type="pres">
      <dgm:prSet presAssocID="{FA70011F-51B1-4453-BC10-DE795A85EFBA}" presName="Child1Accent3" presStyleLbl="alignNode1" presStyleIdx="13" presStyleCnt="34"/>
      <dgm:spPr/>
    </dgm:pt>
    <dgm:pt modelId="{C59FF9DA-0E2A-44B3-8FD5-174FD97A1E12}" type="pres">
      <dgm:prSet presAssocID="{FA70011F-51B1-4453-BC10-DE795A85EFBA}" presName="Child1Accent4" presStyleLbl="alignNode1" presStyleIdx="14" presStyleCnt="34"/>
      <dgm:spPr/>
    </dgm:pt>
    <dgm:pt modelId="{023771EB-27EA-42B2-8076-28D155A65C87}" type="pres">
      <dgm:prSet presAssocID="{FA70011F-51B1-4453-BC10-DE795A85EFBA}" presName="Child1Accent5" presStyleLbl="alignNode1" presStyleIdx="15" presStyleCnt="34"/>
      <dgm:spPr/>
    </dgm:pt>
    <dgm:pt modelId="{5A673C9A-B60F-4208-A783-2C306272D0C7}" type="pres">
      <dgm:prSet presAssocID="{FA70011F-51B1-4453-BC10-DE795A85EFBA}" presName="Child1Accent6" presStyleLbl="alignNode1" presStyleIdx="16" presStyleCnt="34"/>
      <dgm:spPr/>
    </dgm:pt>
    <dgm:pt modelId="{094A2FA5-8DD5-4DA3-88A9-3BA586EC30CE}" type="pres">
      <dgm:prSet presAssocID="{FA70011F-51B1-4453-BC10-DE795A85EFBA}" presName="Child1Accent7" presStyleLbl="alignNode1" presStyleIdx="17" presStyleCnt="34"/>
      <dgm:spPr/>
    </dgm:pt>
    <dgm:pt modelId="{5A7FCF40-FD69-45FC-B8A9-DFA846EA5726}" type="pres">
      <dgm:prSet presAssocID="{FA70011F-51B1-4453-BC10-DE795A85EFBA}" presName="Child1Accent8" presStyleLbl="alignNode1" presStyleIdx="18" presStyleCnt="34"/>
      <dgm:spPr/>
    </dgm:pt>
    <dgm:pt modelId="{C5E25861-CBCB-4D8C-A7A6-F748811EE72E}" type="pres">
      <dgm:prSet presAssocID="{FA70011F-51B1-4453-BC10-DE795A85EFBA}" presName="Child1Accent9" presStyleLbl="alignNode1" presStyleIdx="19" presStyleCnt="34"/>
      <dgm:spPr/>
    </dgm:pt>
    <dgm:pt modelId="{9C9BB9A4-66D1-45DD-93B1-4A54B30FC142}" type="pres">
      <dgm:prSet presAssocID="{FA70011F-51B1-4453-BC10-DE795A85EFBA}" presName="Child1" presStyleLbl="revTx" presStyleIdx="0" presStyleCnt="3" custScaleX="196157" custLinFactNeighborX="4716" custLinFactNeighborY="-20255">
        <dgm:presLayoutVars>
          <dgm:chMax/>
          <dgm:chPref val="0"/>
          <dgm:bulletEnabled val="1"/>
        </dgm:presLayoutVars>
      </dgm:prSet>
      <dgm:spPr/>
    </dgm:pt>
    <dgm:pt modelId="{C515A8E6-8F9B-4090-A741-161B997A863B}" type="pres">
      <dgm:prSet presAssocID="{15A89210-B323-4C6E-AC5E-98A7F48139D8}" presName="Child2Accent1" presStyleLbl="alignNode1" presStyleIdx="20" presStyleCnt="34" custLinFactNeighborX="8896" custLinFactNeighborY="-83940"/>
      <dgm:spPr/>
    </dgm:pt>
    <dgm:pt modelId="{619C3C34-D496-497C-9090-22A187BB6CAF}" type="pres">
      <dgm:prSet presAssocID="{15A89210-B323-4C6E-AC5E-98A7F48139D8}" presName="Child2Accent2" presStyleLbl="alignNode1" presStyleIdx="21" presStyleCnt="34" custLinFactY="-66638" custLinFactNeighborY="-100000"/>
      <dgm:spPr/>
    </dgm:pt>
    <dgm:pt modelId="{051D6D60-3189-401A-AA9D-CE95987530A1}" type="pres">
      <dgm:prSet presAssocID="{15A89210-B323-4C6E-AC5E-98A7F48139D8}" presName="Child2Accent3" presStyleLbl="alignNode1" presStyleIdx="22" presStyleCnt="34" custLinFactY="-66638" custLinFactNeighborY="-100000"/>
      <dgm:spPr/>
    </dgm:pt>
    <dgm:pt modelId="{4C59A25A-0308-4E47-9A15-2B8D72675750}" type="pres">
      <dgm:prSet presAssocID="{15A89210-B323-4C6E-AC5E-98A7F48139D8}" presName="Child2Accent4" presStyleLbl="alignNode1" presStyleIdx="23" presStyleCnt="34" custLinFactY="-66638" custLinFactNeighborY="-100000"/>
      <dgm:spPr/>
    </dgm:pt>
    <dgm:pt modelId="{70CAEBDA-7E84-401A-A48E-50421F3BF1B9}" type="pres">
      <dgm:prSet presAssocID="{15A89210-B323-4C6E-AC5E-98A7F48139D8}" presName="Child2Accent5" presStyleLbl="alignNode1" presStyleIdx="24" presStyleCnt="34" custLinFactY="-66638" custLinFactNeighborY="-100000"/>
      <dgm:spPr/>
    </dgm:pt>
    <dgm:pt modelId="{DC29DA05-5B98-4595-BFEA-ADC31E38B2A4}" type="pres">
      <dgm:prSet presAssocID="{15A89210-B323-4C6E-AC5E-98A7F48139D8}" presName="Child2Accent6" presStyleLbl="alignNode1" presStyleIdx="25" presStyleCnt="34" custLinFactY="-66638" custLinFactNeighborY="-100000"/>
      <dgm:spPr/>
    </dgm:pt>
    <dgm:pt modelId="{3F764BE7-CE73-4351-87F3-F61B29AA2A7B}" type="pres">
      <dgm:prSet presAssocID="{15A89210-B323-4C6E-AC5E-98A7F48139D8}" presName="Child2Accent7" presStyleLbl="alignNode1" presStyleIdx="26" presStyleCnt="34"/>
      <dgm:spPr/>
    </dgm:pt>
    <dgm:pt modelId="{EA0B2825-37D1-4083-8219-4BF166B1B287}" type="pres">
      <dgm:prSet presAssocID="{15A89210-B323-4C6E-AC5E-98A7F48139D8}" presName="Child2" presStyleLbl="revTx" presStyleIdx="1" presStyleCnt="3" custScaleX="224879" custScaleY="134806" custLinFactY="-1671" custLinFactNeighborX="5100" custLinFactNeighborY="-100000">
        <dgm:presLayoutVars>
          <dgm:chMax/>
          <dgm:chPref val="0"/>
          <dgm:bulletEnabled val="1"/>
        </dgm:presLayoutVars>
      </dgm:prSet>
      <dgm:spPr/>
    </dgm:pt>
    <dgm:pt modelId="{40749508-DE86-4E15-8B6B-2C5852BFD44D}" type="pres">
      <dgm:prSet presAssocID="{C34C1816-98FA-46EE-97D2-68DE722368A3}" presName="Child3Accent1" presStyleLbl="alignNode1" presStyleIdx="27" presStyleCnt="34" custLinFactNeighborX="8896" custLinFactNeighborY="-2285"/>
      <dgm:spPr/>
    </dgm:pt>
    <dgm:pt modelId="{62AD223F-77C0-4827-A09D-8B63847CB5EF}" type="pres">
      <dgm:prSet presAssocID="{C34C1816-98FA-46EE-97D2-68DE722368A3}" presName="Child3Accent2" presStyleLbl="alignNode1" presStyleIdx="28" presStyleCnt="34"/>
      <dgm:spPr/>
    </dgm:pt>
    <dgm:pt modelId="{C02A46F8-6F87-43B9-ADB9-43B46A7E53CB}" type="pres">
      <dgm:prSet presAssocID="{C34C1816-98FA-46EE-97D2-68DE722368A3}" presName="Child3Accent3" presStyleLbl="alignNode1" presStyleIdx="29" presStyleCnt="34"/>
      <dgm:spPr/>
    </dgm:pt>
    <dgm:pt modelId="{7DF0A8AA-EC07-4717-B17C-A2254B45EB22}" type="pres">
      <dgm:prSet presAssocID="{C34C1816-98FA-46EE-97D2-68DE722368A3}" presName="Child3Accent4" presStyleLbl="alignNode1" presStyleIdx="30" presStyleCnt="34"/>
      <dgm:spPr/>
    </dgm:pt>
    <dgm:pt modelId="{A366387B-EFC0-4567-894F-B8995322A132}" type="pres">
      <dgm:prSet presAssocID="{C34C1816-98FA-46EE-97D2-68DE722368A3}" presName="Child3Accent5" presStyleLbl="alignNode1" presStyleIdx="31" presStyleCnt="34"/>
      <dgm:spPr/>
    </dgm:pt>
    <dgm:pt modelId="{A11E41D5-29A0-4139-ADCF-F2CEC06D1224}" type="pres">
      <dgm:prSet presAssocID="{C34C1816-98FA-46EE-97D2-68DE722368A3}" presName="Child3Accent6" presStyleLbl="alignNode1" presStyleIdx="32" presStyleCnt="34"/>
      <dgm:spPr/>
    </dgm:pt>
    <dgm:pt modelId="{B7DC1A33-7999-4FC0-80DE-FB25EB38A9DA}" type="pres">
      <dgm:prSet presAssocID="{C34C1816-98FA-46EE-97D2-68DE722368A3}" presName="Child3Accent7" presStyleLbl="alignNode1" presStyleIdx="33" presStyleCnt="34"/>
      <dgm:spPr/>
    </dgm:pt>
    <dgm:pt modelId="{7038A793-37D7-476F-9873-92C9576E4F36}" type="pres">
      <dgm:prSet presAssocID="{C34C1816-98FA-46EE-97D2-68DE722368A3}" presName="Child3" presStyleLbl="revTx" presStyleIdx="2" presStyleCnt="3" custScaleX="151505" custScaleY="298748" custLinFactY="-24122" custLinFactNeighborX="-17610" custLinFactNeighborY="-100000">
        <dgm:presLayoutVars>
          <dgm:chMax/>
          <dgm:chPref val="0"/>
          <dgm:bulletEnabled val="1"/>
        </dgm:presLayoutVars>
      </dgm:prSet>
      <dgm:spPr/>
    </dgm:pt>
  </dgm:ptLst>
  <dgm:cxnLst>
    <dgm:cxn modelId="{19F0D729-3223-40F0-9760-CCBBDAE35251}" srcId="{927A0650-4234-49E7-B1AD-6E709BF2AFE4}" destId="{FA70011F-51B1-4453-BC10-DE795A85EFBA}" srcOrd="0" destOrd="0" parTransId="{D0979CA6-1D30-4877-9543-7C186D38B936}" sibTransId="{C16DB434-0890-49C7-AA10-BC4B31EBAC40}"/>
    <dgm:cxn modelId="{81CCDE4D-9226-49F0-B0DE-B2AC678214F7}" srcId="{927A0650-4234-49E7-B1AD-6E709BF2AFE4}" destId="{15A89210-B323-4C6E-AC5E-98A7F48139D8}" srcOrd="1" destOrd="0" parTransId="{29788081-3892-4317-B7B2-F39CBED0B5E7}" sibTransId="{09979BAB-9900-4C4C-A017-BB9E624FF013}"/>
    <dgm:cxn modelId="{01028D4F-2286-47C6-9DD0-DF5361141186}" srcId="{C7CC777D-4F34-4166-9651-B274DC47FB56}" destId="{927A0650-4234-49E7-B1AD-6E709BF2AFE4}" srcOrd="0" destOrd="0" parTransId="{E1CACB15-3B57-4E0C-A641-4FCEA9DDAF84}" sibTransId="{2812E164-C59F-48D0-B7B9-E22E0DC29FC9}"/>
    <dgm:cxn modelId="{86239370-A29A-4912-898C-90E81CD9EE70}" srcId="{927A0650-4234-49E7-B1AD-6E709BF2AFE4}" destId="{C34C1816-98FA-46EE-97D2-68DE722368A3}" srcOrd="2" destOrd="0" parTransId="{B40783BA-3157-42A6-987B-E2FA80E53C8C}" sibTransId="{E3C3675F-8574-4BA4-8A55-EF903A461029}"/>
    <dgm:cxn modelId="{999D805A-F071-4167-A6B4-5E7396E90F0C}" type="presOf" srcId="{FA70011F-51B1-4453-BC10-DE795A85EFBA}" destId="{9C9BB9A4-66D1-45DD-93B1-4A54B30FC142}" srcOrd="0" destOrd="0" presId="urn:microsoft.com/office/officeart/2011/layout/ConvergingText"/>
    <dgm:cxn modelId="{3EAD74A4-F3FF-4917-B840-7E9A6EB47814}" type="presOf" srcId="{C7CC777D-4F34-4166-9651-B274DC47FB56}" destId="{E446A5D3-25FD-44D2-A486-8936DCD1D336}" srcOrd="0" destOrd="0" presId="urn:microsoft.com/office/officeart/2011/layout/ConvergingText"/>
    <dgm:cxn modelId="{56E852A7-9851-47F9-A91F-C1BB2C81D60E}" type="presOf" srcId="{15A89210-B323-4C6E-AC5E-98A7F48139D8}" destId="{EA0B2825-37D1-4083-8219-4BF166B1B287}" srcOrd="0" destOrd="0" presId="urn:microsoft.com/office/officeart/2011/layout/ConvergingText"/>
    <dgm:cxn modelId="{6BF843DA-317F-466F-9B54-8E72CAF90071}" type="presOf" srcId="{927A0650-4234-49E7-B1AD-6E709BF2AFE4}" destId="{CC31440D-521E-48F6-AE66-FADC6789ECE6}" srcOrd="0" destOrd="0" presId="urn:microsoft.com/office/officeart/2011/layout/ConvergingText"/>
    <dgm:cxn modelId="{86869BED-C84E-45BA-A4A2-14DE15ABC72E}" type="presOf" srcId="{C34C1816-98FA-46EE-97D2-68DE722368A3}" destId="{7038A793-37D7-476F-9873-92C9576E4F36}" srcOrd="0" destOrd="0" presId="urn:microsoft.com/office/officeart/2011/layout/ConvergingText"/>
    <dgm:cxn modelId="{498ACE0B-5FBC-4B5E-9858-1E790BF2EE17}" type="presParOf" srcId="{E446A5D3-25FD-44D2-A486-8936DCD1D336}" destId="{6C205E5A-3807-4FB9-9538-72F8BCBA05D8}" srcOrd="0" destOrd="0" presId="urn:microsoft.com/office/officeart/2011/layout/ConvergingText"/>
    <dgm:cxn modelId="{D049660C-F38F-4E28-83DC-2B87D9DB7E4E}" type="presParOf" srcId="{6C205E5A-3807-4FB9-9538-72F8BCBA05D8}" destId="{0259AEF4-7421-4E81-9618-2E5C7161636E}" srcOrd="0" destOrd="0" presId="urn:microsoft.com/office/officeart/2011/layout/ConvergingText"/>
    <dgm:cxn modelId="{01EEB275-B9E1-4A9A-8619-F5240F4948A1}" type="presParOf" srcId="{6C205E5A-3807-4FB9-9538-72F8BCBA05D8}" destId="{63AF966E-8D6D-48FA-873C-46E931BD833D}" srcOrd="1" destOrd="0" presId="urn:microsoft.com/office/officeart/2011/layout/ConvergingText"/>
    <dgm:cxn modelId="{95CA26C7-E950-4C4F-A75F-DF15923EFB1A}" type="presParOf" srcId="{6C205E5A-3807-4FB9-9538-72F8BCBA05D8}" destId="{B80959DB-28D6-4CEE-BDEA-44F98A4CEE49}" srcOrd="2" destOrd="0" presId="urn:microsoft.com/office/officeart/2011/layout/ConvergingText"/>
    <dgm:cxn modelId="{FEB658E1-30C7-4FAE-A0F2-D5A24DD7DCC2}" type="presParOf" srcId="{6C205E5A-3807-4FB9-9538-72F8BCBA05D8}" destId="{DFBC5DD1-6060-4D48-BD7F-2BC0F265DD65}" srcOrd="3" destOrd="0" presId="urn:microsoft.com/office/officeart/2011/layout/ConvergingText"/>
    <dgm:cxn modelId="{D276ABE1-9649-411C-B177-E92DD49702EB}" type="presParOf" srcId="{6C205E5A-3807-4FB9-9538-72F8BCBA05D8}" destId="{E43ADEE5-A519-4489-8D26-96FB34D57305}" srcOrd="4" destOrd="0" presId="urn:microsoft.com/office/officeart/2011/layout/ConvergingText"/>
    <dgm:cxn modelId="{38D41055-266A-4103-B498-47A6990D8526}" type="presParOf" srcId="{6C205E5A-3807-4FB9-9538-72F8BCBA05D8}" destId="{9A391C6C-CCB5-4E08-8F88-62D62AF953C4}" srcOrd="5" destOrd="0" presId="urn:microsoft.com/office/officeart/2011/layout/ConvergingText"/>
    <dgm:cxn modelId="{CB7D6C45-A62E-4857-BCB3-67162026A5C8}" type="presParOf" srcId="{6C205E5A-3807-4FB9-9538-72F8BCBA05D8}" destId="{CB5C31B4-1748-4468-9A09-30EE4D5578C3}" srcOrd="6" destOrd="0" presId="urn:microsoft.com/office/officeart/2011/layout/ConvergingText"/>
    <dgm:cxn modelId="{8CBF46EC-9F4C-4482-BABC-DA444B8E300E}" type="presParOf" srcId="{6C205E5A-3807-4FB9-9538-72F8BCBA05D8}" destId="{E0C61048-F64E-4273-860E-CEE04FDE7F09}" srcOrd="7" destOrd="0" presId="urn:microsoft.com/office/officeart/2011/layout/ConvergingText"/>
    <dgm:cxn modelId="{64102734-EF4C-4CB7-B1FA-85DE86E4202F}" type="presParOf" srcId="{6C205E5A-3807-4FB9-9538-72F8BCBA05D8}" destId="{8B5ADAF4-7512-401E-AAD9-8012D2FA10D9}" srcOrd="8" destOrd="0" presId="urn:microsoft.com/office/officeart/2011/layout/ConvergingText"/>
    <dgm:cxn modelId="{1FB0FB49-4600-474C-832E-352B7140C4B0}" type="presParOf" srcId="{6C205E5A-3807-4FB9-9538-72F8BCBA05D8}" destId="{7799C585-58BC-426E-95E9-66A3F1BFA4FC}" srcOrd="9" destOrd="0" presId="urn:microsoft.com/office/officeart/2011/layout/ConvergingText"/>
    <dgm:cxn modelId="{55F527D1-66CC-4327-A38D-ADD3021B680B}" type="presParOf" srcId="{6C205E5A-3807-4FB9-9538-72F8BCBA05D8}" destId="{CC31440D-521E-48F6-AE66-FADC6789ECE6}" srcOrd="10" destOrd="0" presId="urn:microsoft.com/office/officeart/2011/layout/ConvergingText"/>
    <dgm:cxn modelId="{B2593C21-97D4-4443-8436-153484A715C8}" type="presParOf" srcId="{6C205E5A-3807-4FB9-9538-72F8BCBA05D8}" destId="{3801B84F-CA6C-4196-BD13-DCD3EB8709B5}" srcOrd="11" destOrd="0" presId="urn:microsoft.com/office/officeart/2011/layout/ConvergingText"/>
    <dgm:cxn modelId="{E7546A0A-EFB4-425D-AD6E-AF7AFC7B1A29}" type="presParOf" srcId="{6C205E5A-3807-4FB9-9538-72F8BCBA05D8}" destId="{EA7F15F4-BC11-452B-AD11-8558DE40472F}" srcOrd="12" destOrd="0" presId="urn:microsoft.com/office/officeart/2011/layout/ConvergingText"/>
    <dgm:cxn modelId="{644C3172-416A-44F6-815F-6CE6EF17A089}" type="presParOf" srcId="{6C205E5A-3807-4FB9-9538-72F8BCBA05D8}" destId="{E1C307BD-6D13-4973-A92E-E36C9AAE84D7}" srcOrd="13" destOrd="0" presId="urn:microsoft.com/office/officeart/2011/layout/ConvergingText"/>
    <dgm:cxn modelId="{A2E58A4A-236D-47CE-8130-7BDD2D8755D7}" type="presParOf" srcId="{6C205E5A-3807-4FB9-9538-72F8BCBA05D8}" destId="{C59FF9DA-0E2A-44B3-8FD5-174FD97A1E12}" srcOrd="14" destOrd="0" presId="urn:microsoft.com/office/officeart/2011/layout/ConvergingText"/>
    <dgm:cxn modelId="{CF9429EE-A49B-4DE9-9271-88B6990D617A}" type="presParOf" srcId="{6C205E5A-3807-4FB9-9538-72F8BCBA05D8}" destId="{023771EB-27EA-42B2-8076-28D155A65C87}" srcOrd="15" destOrd="0" presId="urn:microsoft.com/office/officeart/2011/layout/ConvergingText"/>
    <dgm:cxn modelId="{5F621584-20F9-4969-9B89-857A54B8660D}" type="presParOf" srcId="{6C205E5A-3807-4FB9-9538-72F8BCBA05D8}" destId="{5A673C9A-B60F-4208-A783-2C306272D0C7}" srcOrd="16" destOrd="0" presId="urn:microsoft.com/office/officeart/2011/layout/ConvergingText"/>
    <dgm:cxn modelId="{A743BA2C-F745-4D17-9EE1-F0E63F7A6327}" type="presParOf" srcId="{6C205E5A-3807-4FB9-9538-72F8BCBA05D8}" destId="{094A2FA5-8DD5-4DA3-88A9-3BA586EC30CE}" srcOrd="17" destOrd="0" presId="urn:microsoft.com/office/officeart/2011/layout/ConvergingText"/>
    <dgm:cxn modelId="{F430C065-C37B-450B-AD90-625CFAD05313}" type="presParOf" srcId="{6C205E5A-3807-4FB9-9538-72F8BCBA05D8}" destId="{5A7FCF40-FD69-45FC-B8A9-DFA846EA5726}" srcOrd="18" destOrd="0" presId="urn:microsoft.com/office/officeart/2011/layout/ConvergingText"/>
    <dgm:cxn modelId="{11901B99-4F45-4826-904D-84C8AB895386}" type="presParOf" srcId="{6C205E5A-3807-4FB9-9538-72F8BCBA05D8}" destId="{C5E25861-CBCB-4D8C-A7A6-F748811EE72E}" srcOrd="19" destOrd="0" presId="urn:microsoft.com/office/officeart/2011/layout/ConvergingText"/>
    <dgm:cxn modelId="{5D8FC046-C178-4709-8EB5-02FEBD560195}" type="presParOf" srcId="{6C205E5A-3807-4FB9-9538-72F8BCBA05D8}" destId="{9C9BB9A4-66D1-45DD-93B1-4A54B30FC142}" srcOrd="20" destOrd="0" presId="urn:microsoft.com/office/officeart/2011/layout/ConvergingText"/>
    <dgm:cxn modelId="{2339796F-896E-4025-85A6-8198279CA851}" type="presParOf" srcId="{6C205E5A-3807-4FB9-9538-72F8BCBA05D8}" destId="{C515A8E6-8F9B-4090-A741-161B997A863B}" srcOrd="21" destOrd="0" presId="urn:microsoft.com/office/officeart/2011/layout/ConvergingText"/>
    <dgm:cxn modelId="{C30BF538-4EC1-40A7-8B09-A8F02DBD384F}" type="presParOf" srcId="{6C205E5A-3807-4FB9-9538-72F8BCBA05D8}" destId="{619C3C34-D496-497C-9090-22A187BB6CAF}" srcOrd="22" destOrd="0" presId="urn:microsoft.com/office/officeart/2011/layout/ConvergingText"/>
    <dgm:cxn modelId="{0BE3AEEE-8127-42F6-BA55-65311E67C5A6}" type="presParOf" srcId="{6C205E5A-3807-4FB9-9538-72F8BCBA05D8}" destId="{051D6D60-3189-401A-AA9D-CE95987530A1}" srcOrd="23" destOrd="0" presId="urn:microsoft.com/office/officeart/2011/layout/ConvergingText"/>
    <dgm:cxn modelId="{E86171B2-FA57-4252-9F33-8449090706A2}" type="presParOf" srcId="{6C205E5A-3807-4FB9-9538-72F8BCBA05D8}" destId="{4C59A25A-0308-4E47-9A15-2B8D72675750}" srcOrd="24" destOrd="0" presId="urn:microsoft.com/office/officeart/2011/layout/ConvergingText"/>
    <dgm:cxn modelId="{842D6894-2920-4818-8CF7-93D823586FE9}" type="presParOf" srcId="{6C205E5A-3807-4FB9-9538-72F8BCBA05D8}" destId="{70CAEBDA-7E84-401A-A48E-50421F3BF1B9}" srcOrd="25" destOrd="0" presId="urn:microsoft.com/office/officeart/2011/layout/ConvergingText"/>
    <dgm:cxn modelId="{99C37DF6-75F6-4DB6-8AB9-BCFAD9DC1274}" type="presParOf" srcId="{6C205E5A-3807-4FB9-9538-72F8BCBA05D8}" destId="{DC29DA05-5B98-4595-BFEA-ADC31E38B2A4}" srcOrd="26" destOrd="0" presId="urn:microsoft.com/office/officeart/2011/layout/ConvergingText"/>
    <dgm:cxn modelId="{0B048673-6026-4635-8001-D930B0B4EE3E}" type="presParOf" srcId="{6C205E5A-3807-4FB9-9538-72F8BCBA05D8}" destId="{3F764BE7-CE73-4351-87F3-F61B29AA2A7B}" srcOrd="27" destOrd="0" presId="urn:microsoft.com/office/officeart/2011/layout/ConvergingText"/>
    <dgm:cxn modelId="{548B5FA9-4F13-4881-9293-9314CDBD51C9}" type="presParOf" srcId="{6C205E5A-3807-4FB9-9538-72F8BCBA05D8}" destId="{EA0B2825-37D1-4083-8219-4BF166B1B287}" srcOrd="28" destOrd="0" presId="urn:microsoft.com/office/officeart/2011/layout/ConvergingText"/>
    <dgm:cxn modelId="{35DD3130-B7CE-46D6-B507-08747ACA348A}" type="presParOf" srcId="{6C205E5A-3807-4FB9-9538-72F8BCBA05D8}" destId="{40749508-DE86-4E15-8B6B-2C5852BFD44D}" srcOrd="29" destOrd="0" presId="urn:microsoft.com/office/officeart/2011/layout/ConvergingText"/>
    <dgm:cxn modelId="{7DF6A800-F75D-4599-BA18-DBB2CA38054E}" type="presParOf" srcId="{6C205E5A-3807-4FB9-9538-72F8BCBA05D8}" destId="{62AD223F-77C0-4827-A09D-8B63847CB5EF}" srcOrd="30" destOrd="0" presId="urn:microsoft.com/office/officeart/2011/layout/ConvergingText"/>
    <dgm:cxn modelId="{9CBABB2F-58BF-440E-84D5-7040EF1B993A}" type="presParOf" srcId="{6C205E5A-3807-4FB9-9538-72F8BCBA05D8}" destId="{C02A46F8-6F87-43B9-ADB9-43B46A7E53CB}" srcOrd="31" destOrd="0" presId="urn:microsoft.com/office/officeart/2011/layout/ConvergingText"/>
    <dgm:cxn modelId="{C3AEDFEC-59A6-476C-AEF9-F57603F76A08}" type="presParOf" srcId="{6C205E5A-3807-4FB9-9538-72F8BCBA05D8}" destId="{7DF0A8AA-EC07-4717-B17C-A2254B45EB22}" srcOrd="32" destOrd="0" presId="urn:microsoft.com/office/officeart/2011/layout/ConvergingText"/>
    <dgm:cxn modelId="{5A563E05-156A-440C-BF4F-9C5A52E7475A}" type="presParOf" srcId="{6C205E5A-3807-4FB9-9538-72F8BCBA05D8}" destId="{A366387B-EFC0-4567-894F-B8995322A132}" srcOrd="33" destOrd="0" presId="urn:microsoft.com/office/officeart/2011/layout/ConvergingText"/>
    <dgm:cxn modelId="{B0CF418E-D76C-49E4-97F3-0F46EE307CD0}" type="presParOf" srcId="{6C205E5A-3807-4FB9-9538-72F8BCBA05D8}" destId="{A11E41D5-29A0-4139-ADCF-F2CEC06D1224}" srcOrd="34" destOrd="0" presId="urn:microsoft.com/office/officeart/2011/layout/ConvergingText"/>
    <dgm:cxn modelId="{2EDDCA02-6655-4D9F-BDCD-C25139AFECC5}" type="presParOf" srcId="{6C205E5A-3807-4FB9-9538-72F8BCBA05D8}" destId="{B7DC1A33-7999-4FC0-80DE-FB25EB38A9DA}" srcOrd="35" destOrd="0" presId="urn:microsoft.com/office/officeart/2011/layout/ConvergingText"/>
    <dgm:cxn modelId="{9A8F4A25-1290-458F-857F-8DEC56BA7CE2}" type="presParOf" srcId="{6C205E5A-3807-4FB9-9538-72F8BCBA05D8}" destId="{7038A793-37D7-476F-9873-92C9576E4F36}" srcOrd="36" destOrd="0" presId="urn:microsoft.com/office/officeart/2011/layout/ConvergingTex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9AEF4-7421-4E81-9618-2E5C7161636E}">
      <dsp:nvSpPr>
        <dsp:cNvPr id="0" name=""/>
        <dsp:cNvSpPr/>
      </dsp:nvSpPr>
      <dsp:spPr>
        <a:xfrm>
          <a:off x="2701882"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AF966E-8D6D-48FA-873C-46E931BD833D}">
      <dsp:nvSpPr>
        <dsp:cNvPr id="0" name=""/>
        <dsp:cNvSpPr/>
      </dsp:nvSpPr>
      <dsp:spPr>
        <a:xfrm>
          <a:off x="2576482"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0959DB-28D6-4CEE-BDEA-44F98A4CEE49}">
      <dsp:nvSpPr>
        <dsp:cNvPr id="0" name=""/>
        <dsp:cNvSpPr/>
      </dsp:nvSpPr>
      <dsp:spPr>
        <a:xfrm>
          <a:off x="2451082"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BC5DD1-6060-4D48-BD7F-2BC0F265DD65}">
      <dsp:nvSpPr>
        <dsp:cNvPr id="0" name=""/>
        <dsp:cNvSpPr/>
      </dsp:nvSpPr>
      <dsp:spPr>
        <a:xfrm>
          <a:off x="2325921"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3ADEE5-A519-4489-8D26-96FB34D57305}">
      <dsp:nvSpPr>
        <dsp:cNvPr id="0" name=""/>
        <dsp:cNvSpPr/>
      </dsp:nvSpPr>
      <dsp:spPr>
        <a:xfrm>
          <a:off x="2200521" y="78621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391C6C-CCB5-4E08-8F88-62D62AF953C4}">
      <dsp:nvSpPr>
        <dsp:cNvPr id="0" name=""/>
        <dsp:cNvSpPr/>
      </dsp:nvSpPr>
      <dsp:spPr>
        <a:xfrm>
          <a:off x="2006699" y="752007"/>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5C31B4-1748-4468-9A09-30EE4D5578C3}">
      <dsp:nvSpPr>
        <dsp:cNvPr id="0" name=""/>
        <dsp:cNvSpPr/>
      </dsp:nvSpPr>
      <dsp:spPr>
        <a:xfrm>
          <a:off x="2590309" y="644875"/>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C61048-F64E-4273-860E-CEE04FDE7F09}">
      <dsp:nvSpPr>
        <dsp:cNvPr id="0" name=""/>
        <dsp:cNvSpPr/>
      </dsp:nvSpPr>
      <dsp:spPr>
        <a:xfrm>
          <a:off x="2590309" y="92857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5ADAF4-7512-401E-AAD9-8012D2FA10D9}">
      <dsp:nvSpPr>
        <dsp:cNvPr id="0" name=""/>
        <dsp:cNvSpPr/>
      </dsp:nvSpPr>
      <dsp:spPr>
        <a:xfrm>
          <a:off x="2651341" y="706318"/>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99C585-58BC-426E-95E9-66A3F1BFA4FC}">
      <dsp:nvSpPr>
        <dsp:cNvPr id="0" name=""/>
        <dsp:cNvSpPr/>
      </dsp:nvSpPr>
      <dsp:spPr>
        <a:xfrm>
          <a:off x="2655394" y="867467"/>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31440D-521E-48F6-AE66-FADC6789ECE6}">
      <dsp:nvSpPr>
        <dsp:cNvPr id="0" name=""/>
        <dsp:cNvSpPr/>
      </dsp:nvSpPr>
      <dsp:spPr>
        <a:xfrm>
          <a:off x="1296116" y="311036"/>
          <a:ext cx="1025439" cy="1008667"/>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2029-30 EXIT Potentials</a:t>
          </a:r>
        </a:p>
      </dsp:txBody>
      <dsp:txXfrm>
        <a:off x="1446288" y="458752"/>
        <a:ext cx="725095" cy="713235"/>
      </dsp:txXfrm>
    </dsp:sp>
    <dsp:sp modelId="{3801B84F-CA6C-4196-BD13-DCD3EB8709B5}">
      <dsp:nvSpPr>
        <dsp:cNvPr id="0" name=""/>
        <dsp:cNvSpPr/>
      </dsp:nvSpPr>
      <dsp:spPr>
        <a:xfrm>
          <a:off x="1217600" y="411726"/>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7F15F4-BC11-452B-AD11-8558DE40472F}">
      <dsp:nvSpPr>
        <dsp:cNvPr id="0" name=""/>
        <dsp:cNvSpPr/>
      </dsp:nvSpPr>
      <dsp:spPr>
        <a:xfrm>
          <a:off x="1117694"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C307BD-6D13-4973-A92E-E36C9AAE84D7}">
      <dsp:nvSpPr>
        <dsp:cNvPr id="0" name=""/>
        <dsp:cNvSpPr/>
      </dsp:nvSpPr>
      <dsp:spPr>
        <a:xfrm>
          <a:off x="971553"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9FF9DA-0E2A-44B3-8FD5-174FD97A1E12}">
      <dsp:nvSpPr>
        <dsp:cNvPr id="0" name=""/>
        <dsp:cNvSpPr/>
      </dsp:nvSpPr>
      <dsp:spPr>
        <a:xfrm>
          <a:off x="825412"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3771EB-27EA-42B2-8076-28D155A65C87}">
      <dsp:nvSpPr>
        <dsp:cNvPr id="0" name=""/>
        <dsp:cNvSpPr/>
      </dsp:nvSpPr>
      <dsp:spPr>
        <a:xfrm>
          <a:off x="679271"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673C9A-B60F-4208-A783-2C306272D0C7}">
      <dsp:nvSpPr>
        <dsp:cNvPr id="0" name=""/>
        <dsp:cNvSpPr/>
      </dsp:nvSpPr>
      <dsp:spPr>
        <a:xfrm>
          <a:off x="532892"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4A2FA5-8DD5-4DA3-88A9-3BA586EC30CE}">
      <dsp:nvSpPr>
        <dsp:cNvPr id="0" name=""/>
        <dsp:cNvSpPr/>
      </dsp:nvSpPr>
      <dsp:spPr>
        <a:xfrm>
          <a:off x="386751" y="342609"/>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9BB9A4-66D1-45DD-93B1-4A54B30FC142}">
      <dsp:nvSpPr>
        <dsp:cNvPr id="0" name=""/>
        <dsp:cNvSpPr/>
      </dsp:nvSpPr>
      <dsp:spPr>
        <a:xfrm>
          <a:off x="38512" y="130394"/>
          <a:ext cx="1573154" cy="176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a:latin typeface="Duplicate Sans Light" pitchFamily="2" charset="77"/>
            </a:rPr>
            <a:t>Initial Public Offering</a:t>
          </a:r>
        </a:p>
      </dsp:txBody>
      <dsp:txXfrm>
        <a:off x="38512" y="130394"/>
        <a:ext cx="1573154" cy="176002"/>
      </dsp:txXfrm>
    </dsp:sp>
    <dsp:sp modelId="{C515A8E6-8F9B-4090-A741-161B997A863B}">
      <dsp:nvSpPr>
        <dsp:cNvPr id="0" name=""/>
        <dsp:cNvSpPr/>
      </dsp:nvSpPr>
      <dsp:spPr>
        <a:xfrm>
          <a:off x="1075512" y="637048"/>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9C3C34-D496-497C-9090-22A187BB6CAF}">
      <dsp:nvSpPr>
        <dsp:cNvPr id="0" name=""/>
        <dsp:cNvSpPr/>
      </dsp:nvSpPr>
      <dsp:spPr>
        <a:xfrm>
          <a:off x="927925"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1D6D60-3189-401A-AA9D-CE95987530A1}">
      <dsp:nvSpPr>
        <dsp:cNvPr id="0" name=""/>
        <dsp:cNvSpPr/>
      </dsp:nvSpPr>
      <dsp:spPr>
        <a:xfrm>
          <a:off x="792751"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59A25A-0308-4E47-9A15-2B8D72675750}">
      <dsp:nvSpPr>
        <dsp:cNvPr id="0" name=""/>
        <dsp:cNvSpPr/>
      </dsp:nvSpPr>
      <dsp:spPr>
        <a:xfrm>
          <a:off x="657338"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CAEBDA-7E84-401A-A48E-50421F3BF1B9}">
      <dsp:nvSpPr>
        <dsp:cNvPr id="0" name=""/>
        <dsp:cNvSpPr/>
      </dsp:nvSpPr>
      <dsp:spPr>
        <a:xfrm>
          <a:off x="522164"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29DA05-5B98-4595-BFEA-ADC31E38B2A4}">
      <dsp:nvSpPr>
        <dsp:cNvPr id="0" name=""/>
        <dsp:cNvSpPr/>
      </dsp:nvSpPr>
      <dsp:spPr>
        <a:xfrm>
          <a:off x="386751" y="672202"/>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0B2825-37D1-4083-8219-4BF166B1B287}">
      <dsp:nvSpPr>
        <dsp:cNvPr id="0" name=""/>
        <dsp:cNvSpPr/>
      </dsp:nvSpPr>
      <dsp:spPr>
        <a:xfrm>
          <a:off x="38511" y="401541"/>
          <a:ext cx="1363884" cy="237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a:latin typeface="Duplicate Sans Light" pitchFamily="2" charset="77"/>
            </a:rPr>
            <a:t>DoD Contract</a:t>
          </a:r>
        </a:p>
      </dsp:txBody>
      <dsp:txXfrm>
        <a:off x="38511" y="401541"/>
        <a:ext cx="1363884" cy="237262"/>
      </dsp:txXfrm>
    </dsp:sp>
    <dsp:sp modelId="{40749508-DE86-4E15-8B6B-2C5852BFD44D}">
      <dsp:nvSpPr>
        <dsp:cNvPr id="0" name=""/>
        <dsp:cNvSpPr/>
      </dsp:nvSpPr>
      <dsp:spPr>
        <a:xfrm>
          <a:off x="1217600" y="1080402"/>
          <a:ext cx="136843" cy="136953"/>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AD223F-77C0-4827-A09D-8B63847CB5EF}">
      <dsp:nvSpPr>
        <dsp:cNvPr id="0" name=""/>
        <dsp:cNvSpPr/>
      </dsp:nvSpPr>
      <dsp:spPr>
        <a:xfrm>
          <a:off x="1117694"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2A46F8-6F87-43B9-ADB9-43B46A7E53CB}">
      <dsp:nvSpPr>
        <dsp:cNvPr id="0" name=""/>
        <dsp:cNvSpPr/>
      </dsp:nvSpPr>
      <dsp:spPr>
        <a:xfrm>
          <a:off x="971553"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F0A8AA-EC07-4717-B17C-A2254B45EB22}">
      <dsp:nvSpPr>
        <dsp:cNvPr id="0" name=""/>
        <dsp:cNvSpPr/>
      </dsp:nvSpPr>
      <dsp:spPr>
        <a:xfrm>
          <a:off x="825412"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66387B-EFC0-4567-894F-B8995322A132}">
      <dsp:nvSpPr>
        <dsp:cNvPr id="0" name=""/>
        <dsp:cNvSpPr/>
      </dsp:nvSpPr>
      <dsp:spPr>
        <a:xfrm>
          <a:off x="679271"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1E41D5-29A0-4139-ADCF-F2CEC06D1224}">
      <dsp:nvSpPr>
        <dsp:cNvPr id="0" name=""/>
        <dsp:cNvSpPr/>
      </dsp:nvSpPr>
      <dsp:spPr>
        <a:xfrm>
          <a:off x="532892"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DC1A33-7999-4FC0-80DE-FB25EB38A9DA}">
      <dsp:nvSpPr>
        <dsp:cNvPr id="0" name=""/>
        <dsp:cNvSpPr/>
      </dsp:nvSpPr>
      <dsp:spPr>
        <a:xfrm>
          <a:off x="386751" y="1222961"/>
          <a:ext cx="68421" cy="6842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38A793-37D7-476F-9873-92C9576E4F36}">
      <dsp:nvSpPr>
        <dsp:cNvPr id="0" name=""/>
        <dsp:cNvSpPr/>
      </dsp:nvSpPr>
      <dsp:spPr>
        <a:xfrm>
          <a:off x="38512" y="652923"/>
          <a:ext cx="1215051" cy="52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44500">
            <a:lnSpc>
              <a:spcPct val="90000"/>
            </a:lnSpc>
            <a:spcBef>
              <a:spcPct val="0"/>
            </a:spcBef>
            <a:spcAft>
              <a:spcPct val="35000"/>
            </a:spcAft>
            <a:buNone/>
          </a:pPr>
          <a:r>
            <a:rPr lang="en-US" sz="1000" b="0" i="0" kern="1200">
              <a:latin typeface="Duplicate Sans Light" pitchFamily="2" charset="77"/>
            </a:rPr>
            <a:t>Positioned for Merger or Acquisition</a:t>
          </a:r>
        </a:p>
      </dsp:txBody>
      <dsp:txXfrm>
        <a:off x="38512" y="652923"/>
        <a:ext cx="1215051" cy="525805"/>
      </dsp:txXfrm>
    </dsp:sp>
  </dsp:spTree>
</dsp:drawing>
</file>

<file path=ppt/diagrams/layout1.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D715-F81E-FF48-BE2A-0050B404F014}"/>
              </a:ext>
            </a:extLst>
          </p:cNvPr>
          <p:cNvSpPr>
            <a:spLocks noGrp="1"/>
          </p:cNvSpPr>
          <p:nvPr>
            <p:ph type="ctrTitle"/>
          </p:nvPr>
        </p:nvSpPr>
        <p:spPr>
          <a:xfrm>
            <a:off x="1524000" y="1122363"/>
            <a:ext cx="9144000" cy="2387600"/>
          </a:xfrm>
        </p:spPr>
        <p:txBody>
          <a:bodyPr anchor="b"/>
          <a:lstStyle>
            <a:lvl1pPr algn="ctr">
              <a:defRPr sz="6000" b="0" i="0">
                <a:latin typeface="Duplicate Sans Light"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A4C21A51-BAB9-F145-B1F6-3E1271035A42}"/>
              </a:ext>
            </a:extLst>
          </p:cNvPr>
          <p:cNvSpPr>
            <a:spLocks noGrp="1"/>
          </p:cNvSpPr>
          <p:nvPr>
            <p:ph type="subTitle" idx="1"/>
          </p:nvPr>
        </p:nvSpPr>
        <p:spPr>
          <a:xfrm>
            <a:off x="1524000" y="3602038"/>
            <a:ext cx="9144000" cy="1655762"/>
          </a:xfrm>
        </p:spPr>
        <p:txBody>
          <a:bodyPr/>
          <a:lstStyle>
            <a:lvl1pPr marL="0" indent="0" algn="ctr">
              <a:buNone/>
              <a:defRPr sz="2400" b="0" i="0">
                <a:latin typeface="Duplicate Sans Light" pitchFamily="2" charset="77"/>
              </a:defRPr>
            </a:lvl1pPr>
            <a:lvl2pPr marL="457192" indent="0" algn="ctr">
              <a:buNone/>
              <a:defRPr sz="2000"/>
            </a:lvl2pPr>
            <a:lvl3pPr marL="914384" indent="0" algn="ctr">
              <a:buNone/>
              <a:defRPr sz="1800"/>
            </a:lvl3pPr>
            <a:lvl4pPr marL="1371576" indent="0" algn="ctr">
              <a:buNone/>
              <a:defRPr sz="1600"/>
            </a:lvl4pPr>
            <a:lvl5pPr marL="1828768" indent="0" algn="ctr">
              <a:buNone/>
              <a:defRPr sz="1600"/>
            </a:lvl5pPr>
            <a:lvl6pPr marL="2285960" indent="0" algn="ctr">
              <a:buNone/>
              <a:defRPr sz="1600"/>
            </a:lvl6pPr>
            <a:lvl7pPr marL="2743152" indent="0" algn="ctr">
              <a:buNone/>
              <a:defRPr sz="1600"/>
            </a:lvl7pPr>
            <a:lvl8pPr marL="3200344" indent="0" algn="ctr">
              <a:buNone/>
              <a:defRPr sz="1600"/>
            </a:lvl8pPr>
            <a:lvl9pPr marL="3657536"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9743F29-7C74-FE45-AA94-5D2E3A5A5276}"/>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1C6F8A84-9005-734C-88E3-9621F860E7AA}"/>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C08754D9-B95F-4942-BB07-8FC370CB4E9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76393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5856-5BD1-8447-9DA2-D75C107B39B8}"/>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FCB4A877-D1E0-D447-91AF-C413DE764CBA}"/>
              </a:ext>
            </a:extLst>
          </p:cNvPr>
          <p:cNvSpPr>
            <a:spLocks noGrp="1"/>
          </p:cNvSpPr>
          <p:nvPr>
            <p:ph idx="1"/>
          </p:nvPr>
        </p:nvSpPr>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51CBF79-76C4-ED45-B791-9823CE5D05B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D8035812-C702-3F4E-93D7-24B3D471B8D7}"/>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65D74359-623D-5B43-947B-A894CFF6149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544128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709E-CF7A-6B49-BA9D-35EA8A568527}"/>
              </a:ext>
            </a:extLst>
          </p:cNvPr>
          <p:cNvSpPr>
            <a:spLocks noGrp="1"/>
          </p:cNvSpPr>
          <p:nvPr>
            <p:ph type="title"/>
          </p:nvPr>
        </p:nvSpPr>
        <p:spPr>
          <a:xfrm>
            <a:off x="831850" y="1709738"/>
            <a:ext cx="10515600" cy="2852737"/>
          </a:xfrm>
        </p:spPr>
        <p:txBody>
          <a:bodyPr anchor="b"/>
          <a:lstStyle>
            <a:lvl1pPr>
              <a:defRPr sz="6000"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C8F85538-9BA2-1345-A731-4FA057E03852}"/>
              </a:ext>
            </a:extLst>
          </p:cNvPr>
          <p:cNvSpPr>
            <a:spLocks noGrp="1"/>
          </p:cNvSpPr>
          <p:nvPr>
            <p:ph type="body" idx="1"/>
          </p:nvPr>
        </p:nvSpPr>
        <p:spPr>
          <a:xfrm>
            <a:off x="831850" y="4589463"/>
            <a:ext cx="10515600" cy="1500187"/>
          </a:xfrm>
        </p:spPr>
        <p:txBody>
          <a:bodyPr/>
          <a:lstStyle>
            <a:lvl1pPr marL="0" indent="0">
              <a:buNone/>
              <a:defRPr sz="2400" b="0" i="0">
                <a:solidFill>
                  <a:schemeClr val="tx1">
                    <a:tint val="75000"/>
                  </a:schemeClr>
                </a:solidFill>
                <a:latin typeface="Duplicate Sans Light" pitchFamily="2" charset="77"/>
              </a:defRPr>
            </a:lvl1pPr>
            <a:lvl2pPr marL="457192" indent="0">
              <a:buNone/>
              <a:defRPr sz="2000">
                <a:solidFill>
                  <a:schemeClr val="tx1">
                    <a:tint val="75000"/>
                  </a:schemeClr>
                </a:solidFill>
              </a:defRPr>
            </a:lvl2pPr>
            <a:lvl3pPr marL="914384" indent="0">
              <a:buNone/>
              <a:defRPr sz="1800">
                <a:solidFill>
                  <a:schemeClr val="tx1">
                    <a:tint val="75000"/>
                  </a:schemeClr>
                </a:solidFill>
              </a:defRPr>
            </a:lvl3pPr>
            <a:lvl4pPr marL="1371576" indent="0">
              <a:buNone/>
              <a:defRPr sz="1600">
                <a:solidFill>
                  <a:schemeClr val="tx1">
                    <a:tint val="75000"/>
                  </a:schemeClr>
                </a:solidFill>
              </a:defRPr>
            </a:lvl4pPr>
            <a:lvl5pPr marL="1828768" indent="0">
              <a:buNone/>
              <a:defRPr sz="1600">
                <a:solidFill>
                  <a:schemeClr val="tx1">
                    <a:tint val="75000"/>
                  </a:schemeClr>
                </a:solidFill>
              </a:defRPr>
            </a:lvl5pPr>
            <a:lvl6pPr marL="2285960" indent="0">
              <a:buNone/>
              <a:defRPr sz="1600">
                <a:solidFill>
                  <a:schemeClr val="tx1">
                    <a:tint val="75000"/>
                  </a:schemeClr>
                </a:solidFill>
              </a:defRPr>
            </a:lvl6pPr>
            <a:lvl7pPr marL="2743152" indent="0">
              <a:buNone/>
              <a:defRPr sz="1600">
                <a:solidFill>
                  <a:schemeClr val="tx1">
                    <a:tint val="75000"/>
                  </a:schemeClr>
                </a:solidFill>
              </a:defRPr>
            </a:lvl7pPr>
            <a:lvl8pPr marL="3200344" indent="0">
              <a:buNone/>
              <a:defRPr sz="1600">
                <a:solidFill>
                  <a:schemeClr val="tx1">
                    <a:tint val="75000"/>
                  </a:schemeClr>
                </a:solidFill>
              </a:defRPr>
            </a:lvl8pPr>
            <a:lvl9pPr marL="3657536"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7E9C974-4130-D944-B769-4D341F6724C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F27DE766-9EA3-FD41-8B47-917070E2D08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716D7C3C-E793-EF46-984A-182EE2205041}"/>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595139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B386-342F-6F46-8763-AC3B6FDBFB8B}"/>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1BFC9-94E3-2F45-B2AF-D3519CAFBE37}"/>
              </a:ext>
            </a:extLst>
          </p:cNvPr>
          <p:cNvSpPr>
            <a:spLocks noGrp="1"/>
          </p:cNvSpPr>
          <p:nvPr>
            <p:ph sz="half" idx="1"/>
          </p:nvPr>
        </p:nvSpPr>
        <p:spPr>
          <a:xfrm>
            <a:off x="838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A0EA92-E9CA-054C-A5D1-E795C19B87C1}"/>
              </a:ext>
            </a:extLst>
          </p:cNvPr>
          <p:cNvSpPr>
            <a:spLocks noGrp="1"/>
          </p:cNvSpPr>
          <p:nvPr>
            <p:ph sz="half" idx="2"/>
          </p:nvPr>
        </p:nvSpPr>
        <p:spPr>
          <a:xfrm>
            <a:off x="6172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6C25B6C-F874-4F4A-BE23-21D37F2887BB}"/>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6" name="Footer Placeholder 5">
            <a:extLst>
              <a:ext uri="{FF2B5EF4-FFF2-40B4-BE49-F238E27FC236}">
                <a16:creationId xmlns:a16="http://schemas.microsoft.com/office/drawing/2014/main" id="{6634D191-60CE-D245-B580-7B43040A4FC9}"/>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5D32B468-09B3-5347-ADEF-4A3082F855C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691203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4FB8A-7386-704D-B386-2F106C49A002}"/>
              </a:ext>
            </a:extLst>
          </p:cNvPr>
          <p:cNvSpPr>
            <a:spLocks noGrp="1"/>
          </p:cNvSpPr>
          <p:nvPr>
            <p:ph type="title"/>
          </p:nvPr>
        </p:nvSpPr>
        <p:spPr>
          <a:xfrm>
            <a:off x="839788" y="365126"/>
            <a:ext cx="10515600" cy="1325563"/>
          </a:xfrm>
        </p:spPr>
        <p:txBody>
          <a:bodyPr/>
          <a:lstStyle>
            <a:lvl1pPr>
              <a:defRPr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398A28B7-BCF3-FC49-BD49-3CFFF330E6FB}"/>
              </a:ext>
            </a:extLst>
          </p:cNvPr>
          <p:cNvSpPr>
            <a:spLocks noGrp="1"/>
          </p:cNvSpPr>
          <p:nvPr>
            <p:ph type="body" idx="1"/>
          </p:nvPr>
        </p:nvSpPr>
        <p:spPr>
          <a:xfrm>
            <a:off x="839789" y="1681163"/>
            <a:ext cx="5157787"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D451BBC-8619-894D-B843-91898CDCAAC1}"/>
              </a:ext>
            </a:extLst>
          </p:cNvPr>
          <p:cNvSpPr>
            <a:spLocks noGrp="1"/>
          </p:cNvSpPr>
          <p:nvPr>
            <p:ph sz="half" idx="2"/>
          </p:nvPr>
        </p:nvSpPr>
        <p:spPr>
          <a:xfrm>
            <a:off x="839789" y="2505075"/>
            <a:ext cx="5157787"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646B831-516D-2D46-8601-B920F1D5C547}"/>
              </a:ext>
            </a:extLst>
          </p:cNvPr>
          <p:cNvSpPr>
            <a:spLocks noGrp="1"/>
          </p:cNvSpPr>
          <p:nvPr>
            <p:ph type="body" sz="quarter" idx="3"/>
          </p:nvPr>
        </p:nvSpPr>
        <p:spPr>
          <a:xfrm>
            <a:off x="6172201" y="1681163"/>
            <a:ext cx="5183188"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9B5319A-1E54-184F-BB77-950C26B98AEB}"/>
              </a:ext>
            </a:extLst>
          </p:cNvPr>
          <p:cNvSpPr>
            <a:spLocks noGrp="1"/>
          </p:cNvSpPr>
          <p:nvPr>
            <p:ph sz="quarter" idx="4"/>
          </p:nvPr>
        </p:nvSpPr>
        <p:spPr>
          <a:xfrm>
            <a:off x="6172201" y="2505075"/>
            <a:ext cx="5183188"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012BEDB-B7C3-8B44-91F8-65D5B5EB1401}"/>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8" name="Footer Placeholder 7">
            <a:extLst>
              <a:ext uri="{FF2B5EF4-FFF2-40B4-BE49-F238E27FC236}">
                <a16:creationId xmlns:a16="http://schemas.microsoft.com/office/drawing/2014/main" id="{EAF8A91D-8455-1C47-92F1-271C189ED9E4}"/>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9" name="Slide Number Placeholder 8">
            <a:extLst>
              <a:ext uri="{FF2B5EF4-FFF2-40B4-BE49-F238E27FC236}">
                <a16:creationId xmlns:a16="http://schemas.microsoft.com/office/drawing/2014/main" id="{4DCEBEB1-7158-5849-86A6-27DC478C05A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87258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83D5-6986-5F4C-9D14-6EDB64D8E8B5}"/>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Date Placeholder 2">
            <a:extLst>
              <a:ext uri="{FF2B5EF4-FFF2-40B4-BE49-F238E27FC236}">
                <a16:creationId xmlns:a16="http://schemas.microsoft.com/office/drawing/2014/main" id="{2068C786-B77E-BD4D-B6C6-B776E9370728}"/>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4" name="Footer Placeholder 3">
            <a:extLst>
              <a:ext uri="{FF2B5EF4-FFF2-40B4-BE49-F238E27FC236}">
                <a16:creationId xmlns:a16="http://schemas.microsoft.com/office/drawing/2014/main" id="{9DAEEE1C-E916-D04A-AA69-79697DD9AAF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5" name="Slide Number Placeholder 4">
            <a:extLst>
              <a:ext uri="{FF2B5EF4-FFF2-40B4-BE49-F238E27FC236}">
                <a16:creationId xmlns:a16="http://schemas.microsoft.com/office/drawing/2014/main" id="{6375FF5C-55AD-604B-AF69-3683F37E270C}"/>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720486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B8C1DF-3A85-1F46-A29F-E9AEC35F1E0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3" name="Footer Placeholder 2">
            <a:extLst>
              <a:ext uri="{FF2B5EF4-FFF2-40B4-BE49-F238E27FC236}">
                <a16:creationId xmlns:a16="http://schemas.microsoft.com/office/drawing/2014/main" id="{36D2539F-55C2-ED40-80B7-924B95474168}"/>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4" name="Slide Number Placeholder 3">
            <a:extLst>
              <a:ext uri="{FF2B5EF4-FFF2-40B4-BE49-F238E27FC236}">
                <a16:creationId xmlns:a16="http://schemas.microsoft.com/office/drawing/2014/main" id="{4AC742FA-B8A1-2F4E-BB4F-C10FA006CA5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49271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D865-C135-874C-B606-C08A6049DF61}"/>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A8B4CF7F-A012-2A4E-8883-8C2C4136C65A}"/>
              </a:ext>
            </a:extLst>
          </p:cNvPr>
          <p:cNvSpPr>
            <a:spLocks noGrp="1"/>
          </p:cNvSpPr>
          <p:nvPr>
            <p:ph idx="1"/>
          </p:nvPr>
        </p:nvSpPr>
        <p:spPr>
          <a:xfrm>
            <a:off x="5183189" y="987425"/>
            <a:ext cx="6172200" cy="4873625"/>
          </a:xfrm>
        </p:spPr>
        <p:txBody>
          <a:bodyPr/>
          <a:lstStyle>
            <a:lvl1pPr>
              <a:defRPr sz="3200" b="0" i="0">
                <a:latin typeface="Duplicate Sans Light" pitchFamily="2" charset="77"/>
              </a:defRPr>
            </a:lvl1pPr>
            <a:lvl2pPr>
              <a:defRPr sz="2800" b="0" i="0">
                <a:latin typeface="Duplicate Sans Light" pitchFamily="2" charset="77"/>
              </a:defRPr>
            </a:lvl2pPr>
            <a:lvl3pPr>
              <a:defRPr sz="2400" b="0" i="0">
                <a:latin typeface="Duplicate Sans Light" pitchFamily="2" charset="77"/>
              </a:defRPr>
            </a:lvl3pPr>
            <a:lvl4pPr>
              <a:defRPr sz="2000" b="0" i="0">
                <a:latin typeface="Duplicate Sans Light" pitchFamily="2" charset="77"/>
              </a:defRPr>
            </a:lvl4pPr>
            <a:lvl5pPr>
              <a:defRPr sz="2000" b="0" i="0">
                <a:latin typeface="Duplicate Sans Light" pitchFamily="2"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0F16816-74B4-864A-9236-6842F5D2CD94}"/>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5B3FB84-67D5-1149-87FC-C19EA48E259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6" name="Footer Placeholder 5">
            <a:extLst>
              <a:ext uri="{FF2B5EF4-FFF2-40B4-BE49-F238E27FC236}">
                <a16:creationId xmlns:a16="http://schemas.microsoft.com/office/drawing/2014/main" id="{4E8E749F-70D0-A84D-BF1C-10737C11765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321859BE-55CD-0043-ADEE-1D93095BB9A2}"/>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4524079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9EEE-1B88-7A44-9DEC-52862A88D163}"/>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Picture Placeholder 2">
            <a:extLst>
              <a:ext uri="{FF2B5EF4-FFF2-40B4-BE49-F238E27FC236}">
                <a16:creationId xmlns:a16="http://schemas.microsoft.com/office/drawing/2014/main" id="{09A9A3CE-6715-A84F-AEB5-CB29DE9654EA}"/>
              </a:ext>
            </a:extLst>
          </p:cNvPr>
          <p:cNvSpPr>
            <a:spLocks noGrp="1"/>
          </p:cNvSpPr>
          <p:nvPr>
            <p:ph type="pic" idx="1"/>
          </p:nvPr>
        </p:nvSpPr>
        <p:spPr>
          <a:xfrm>
            <a:off x="5183189" y="987425"/>
            <a:ext cx="6172200" cy="4873625"/>
          </a:xfrm>
        </p:spPr>
        <p:txBody>
          <a:bodyPr/>
          <a:lstStyle>
            <a:lvl1pPr marL="0" indent="0">
              <a:buNone/>
              <a:defRPr sz="3200" b="0" i="0">
                <a:latin typeface="Duplicate Sans Light" pitchFamily="2" charset="77"/>
              </a:defRPr>
            </a:lvl1pPr>
            <a:lvl2pPr marL="457192" indent="0">
              <a:buNone/>
              <a:defRPr sz="2800"/>
            </a:lvl2pPr>
            <a:lvl3pPr marL="914384" indent="0">
              <a:buNone/>
              <a:defRPr sz="2400"/>
            </a:lvl3pPr>
            <a:lvl4pPr marL="1371576" indent="0">
              <a:buNone/>
              <a:defRPr sz="2000"/>
            </a:lvl4pPr>
            <a:lvl5pPr marL="1828768" indent="0">
              <a:buNone/>
              <a:defRPr sz="2000"/>
            </a:lvl5pPr>
            <a:lvl6pPr marL="2285960" indent="0">
              <a:buNone/>
              <a:defRPr sz="2000"/>
            </a:lvl6pPr>
            <a:lvl7pPr marL="2743152" indent="0">
              <a:buNone/>
              <a:defRPr sz="2000"/>
            </a:lvl7pPr>
            <a:lvl8pPr marL="3200344" indent="0">
              <a:buNone/>
              <a:defRPr sz="2000"/>
            </a:lvl8pPr>
            <a:lvl9pPr marL="3657536" indent="0">
              <a:buNone/>
              <a:defRPr sz="2000"/>
            </a:lvl9pPr>
          </a:lstStyle>
          <a:p>
            <a:endParaRPr lang="en-US" dirty="0"/>
          </a:p>
        </p:txBody>
      </p:sp>
      <p:sp>
        <p:nvSpPr>
          <p:cNvPr id="4" name="Text Placeholder 3">
            <a:extLst>
              <a:ext uri="{FF2B5EF4-FFF2-40B4-BE49-F238E27FC236}">
                <a16:creationId xmlns:a16="http://schemas.microsoft.com/office/drawing/2014/main" id="{A4485DEF-C950-CA40-BC19-C9B2DB0D4D38}"/>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3BF1156-302D-CD4B-B264-FE9C6B33CA15}"/>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6" name="Footer Placeholder 5">
            <a:extLst>
              <a:ext uri="{FF2B5EF4-FFF2-40B4-BE49-F238E27FC236}">
                <a16:creationId xmlns:a16="http://schemas.microsoft.com/office/drawing/2014/main" id="{3CF7C406-B78F-1F46-A4A3-AE8125771EA0}"/>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17A876A8-A3A0-194B-9CA1-0DDBC4AA3045}"/>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47200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1E6E-F30F-2748-8F76-A2444B2DB393}"/>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22BC5E3C-9EE5-5E4F-A1E6-C0B03796B39C}"/>
              </a:ext>
            </a:extLst>
          </p:cNvPr>
          <p:cNvSpPr>
            <a:spLocks noGrp="1"/>
          </p:cNvSpPr>
          <p:nvPr>
            <p:ph type="body" orient="vert" idx="1"/>
          </p:nvPr>
        </p:nvSpPr>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D3EFAD4-A7B7-DF40-88CE-347F72DE10A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9BF786EB-B54A-1144-A03E-663282437DC2}"/>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3A1E0691-85A1-1846-847A-5F08C24BD92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58946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530F3B-0996-CD40-BD28-704FD950455E}"/>
              </a:ext>
            </a:extLst>
          </p:cNvPr>
          <p:cNvSpPr>
            <a:spLocks noGrp="1"/>
          </p:cNvSpPr>
          <p:nvPr>
            <p:ph type="title" orient="vert"/>
          </p:nvPr>
        </p:nvSpPr>
        <p:spPr>
          <a:xfrm>
            <a:off x="8724900" y="365126"/>
            <a:ext cx="2628900" cy="5811838"/>
          </a:xfrm>
        </p:spPr>
        <p:txBody>
          <a:bodyPr vert="eaVert"/>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8043B2CD-4278-8640-8A70-7A877BFDA6CB}"/>
              </a:ext>
            </a:extLst>
          </p:cNvPr>
          <p:cNvSpPr>
            <a:spLocks noGrp="1"/>
          </p:cNvSpPr>
          <p:nvPr>
            <p:ph type="body" orient="vert" idx="1"/>
          </p:nvPr>
        </p:nvSpPr>
        <p:spPr>
          <a:xfrm>
            <a:off x="838201" y="365126"/>
            <a:ext cx="7734300" cy="5811838"/>
          </a:xfrm>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D0B6317-23AD-544E-A219-6800868F2B7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27A823E0-D0EC-6A4C-BCED-5EBB1CF8E90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FDAEC469-C8AD-4A42-AA45-9E15E528D46E}"/>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7243798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27380-7E14-4B46-A2BB-0150C9D3275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4480DEC-C0C4-6642-ACE7-42CBACA04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F92F98-C23E-9249-A668-AAA140393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Duplicate Sans Light" pitchFamily="2" charset="77"/>
              </a:defRPr>
            </a:lvl1pPr>
          </a:lstStyle>
          <a:p>
            <a:fld id="{0C6F1676-E3FE-1E4D-8FC3-1AB9B1717251}" type="datetimeFigureOut">
              <a:rPr lang="en-US" smtClean="0"/>
              <a:pPr/>
              <a:t>10/17/2026</a:t>
            </a:fld>
            <a:endParaRPr lang="en-US" dirty="0"/>
          </a:p>
        </p:txBody>
      </p:sp>
      <p:sp>
        <p:nvSpPr>
          <p:cNvPr id="5" name="Footer Placeholder 4">
            <a:extLst>
              <a:ext uri="{FF2B5EF4-FFF2-40B4-BE49-F238E27FC236}">
                <a16:creationId xmlns:a16="http://schemas.microsoft.com/office/drawing/2014/main" id="{71A0A3C0-C74B-3848-9B15-1A037FF81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246E2089-9B8D-E943-B2ED-A9EB7F48F8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478632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84" rtl="0" eaLnBrk="1" latinLnBrk="0" hangingPunct="1">
        <a:lnSpc>
          <a:spcPct val="90000"/>
        </a:lnSpc>
        <a:spcBef>
          <a:spcPct val="0"/>
        </a:spcBef>
        <a:buNone/>
        <a:defRPr sz="4400" b="0" i="0" kern="1200">
          <a:solidFill>
            <a:schemeClr val="tx1"/>
          </a:solidFill>
          <a:latin typeface="Duplicate Sans Light" pitchFamily="2" charset="77"/>
          <a:ea typeface="+mj-ea"/>
          <a:cs typeface="+mj-cs"/>
        </a:defRPr>
      </a:lvl1pPr>
    </p:titleStyle>
    <p:bodyStyle>
      <a:lvl1pPr marL="228596" indent="-228596" algn="l" defTabSz="914384"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788" indent="-228596" algn="l" defTabSz="914384"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2980" indent="-228596" algn="l" defTabSz="914384"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172"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364"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556"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48"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40"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32"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4" rtl="0" eaLnBrk="1" latinLnBrk="0" hangingPunct="1">
        <a:defRPr sz="1800" kern="1200">
          <a:solidFill>
            <a:schemeClr val="tx1"/>
          </a:solidFill>
          <a:latin typeface="+mn-lt"/>
          <a:ea typeface="+mn-ea"/>
          <a:cs typeface="+mn-cs"/>
        </a:defRPr>
      </a:lvl1pPr>
      <a:lvl2pPr marL="457192" algn="l" defTabSz="914384" rtl="0" eaLnBrk="1" latinLnBrk="0" hangingPunct="1">
        <a:defRPr sz="1800" kern="1200">
          <a:solidFill>
            <a:schemeClr val="tx1"/>
          </a:solidFill>
          <a:latin typeface="+mn-lt"/>
          <a:ea typeface="+mn-ea"/>
          <a:cs typeface="+mn-cs"/>
        </a:defRPr>
      </a:lvl2pPr>
      <a:lvl3pPr marL="914384" algn="l" defTabSz="914384" rtl="0" eaLnBrk="1" latinLnBrk="0" hangingPunct="1">
        <a:defRPr sz="1800" kern="1200">
          <a:solidFill>
            <a:schemeClr val="tx1"/>
          </a:solidFill>
          <a:latin typeface="+mn-lt"/>
          <a:ea typeface="+mn-ea"/>
          <a:cs typeface="+mn-cs"/>
        </a:defRPr>
      </a:lvl3pPr>
      <a:lvl4pPr marL="1371576" algn="l" defTabSz="914384" rtl="0" eaLnBrk="1" latinLnBrk="0" hangingPunct="1">
        <a:defRPr sz="1800" kern="1200">
          <a:solidFill>
            <a:schemeClr val="tx1"/>
          </a:solidFill>
          <a:latin typeface="+mn-lt"/>
          <a:ea typeface="+mn-ea"/>
          <a:cs typeface="+mn-cs"/>
        </a:defRPr>
      </a:lvl4pPr>
      <a:lvl5pPr marL="1828768" algn="l" defTabSz="914384" rtl="0" eaLnBrk="1" latinLnBrk="0" hangingPunct="1">
        <a:defRPr sz="1800" kern="1200">
          <a:solidFill>
            <a:schemeClr val="tx1"/>
          </a:solidFill>
          <a:latin typeface="+mn-lt"/>
          <a:ea typeface="+mn-ea"/>
          <a:cs typeface="+mn-cs"/>
        </a:defRPr>
      </a:lvl5pPr>
      <a:lvl6pPr marL="2285960" algn="l" defTabSz="914384" rtl="0" eaLnBrk="1" latinLnBrk="0" hangingPunct="1">
        <a:defRPr sz="1800" kern="1200">
          <a:solidFill>
            <a:schemeClr val="tx1"/>
          </a:solidFill>
          <a:latin typeface="+mn-lt"/>
          <a:ea typeface="+mn-ea"/>
          <a:cs typeface="+mn-cs"/>
        </a:defRPr>
      </a:lvl6pPr>
      <a:lvl7pPr marL="2743152" algn="l" defTabSz="914384" rtl="0" eaLnBrk="1" latinLnBrk="0" hangingPunct="1">
        <a:defRPr sz="1800" kern="1200">
          <a:solidFill>
            <a:schemeClr val="tx1"/>
          </a:solidFill>
          <a:latin typeface="+mn-lt"/>
          <a:ea typeface="+mn-ea"/>
          <a:cs typeface="+mn-cs"/>
        </a:defRPr>
      </a:lvl7pPr>
      <a:lvl8pPr marL="3200344" algn="l" defTabSz="914384" rtl="0" eaLnBrk="1" latinLnBrk="0" hangingPunct="1">
        <a:defRPr sz="1800" kern="1200">
          <a:solidFill>
            <a:schemeClr val="tx1"/>
          </a:solidFill>
          <a:latin typeface="+mn-lt"/>
          <a:ea typeface="+mn-ea"/>
          <a:cs typeface="+mn-cs"/>
        </a:defRPr>
      </a:lvl8pPr>
      <a:lvl9pPr marL="3657536" algn="l" defTabSz="9143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jpe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jpe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jpeg"/><Relationship Id="rId15" Type="http://schemas.openxmlformats.org/officeDocument/2006/relationships/image" Target="../media/image17.jpeg"/><Relationship Id="rId16" Type="http://schemas.openxmlformats.org/officeDocument/2006/relationships/image" Target="../media/image18.png"/><Relationship Id="rId17" Type="http://schemas.openxmlformats.org/officeDocument/2006/relationships/image" Target="../media/image19.png"/><Relationship Id="rId18" Type="http://schemas.openxmlformats.org/officeDocument/2006/relationships/diagramData" Target="../diagrams/data1.xml"/><Relationship Id="rId19" Type="http://schemas.openxmlformats.org/officeDocument/2006/relationships/diagramLayout" Target="../diagrams/layout1.xml"/><Relationship Id="rId20" Type="http://schemas.openxmlformats.org/officeDocument/2006/relationships/diagramQuickStyle" Target="../diagrams/quickStyle1.xml"/><Relationship Id="rId21" Type="http://schemas.openxmlformats.org/officeDocument/2006/relationships/diagramColors" Target="../diagrams/colors1.xml"/><Relationship Id="rId22" Type="http://schemas.microsoft.com/office/2007/relationships/diagramDrawing" Target="../diagrams/drawing1.xml"/><Relationship Id="rId23" Type="http://schemas.openxmlformats.org/officeDocument/2006/relationships/image" Target="../media/image20.png"/><Relationship Id="rId24" Type="http://schemas.openxmlformats.org/officeDocument/2006/relationships/image" Target="../media/image21.png"/><Relationship Id="rId25" Type="http://schemas.openxmlformats.org/officeDocument/2006/relationships/image" Target="../media/image22.png"/><Relationship Id="rId26" Type="http://schemas.openxmlformats.org/officeDocument/2006/relationships/image" Target="../media/image23.png"/><Relationship Id="rId27" Type="http://schemas.openxmlformats.org/officeDocument/2006/relationships/image" Target="../media/image2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pic>
        <p:nvPicPr>
          <p:cNvPr id="4" name="Picture 3" descr="exos-letterhead-logo.png"/>
          <p:cNvPicPr>
            <a:picLocks noChangeAspect="1"/>
          </p:cNvPicPr>
          <p:nvPr/>
        </p:nvPicPr>
        <p:blipFill>
          <a:blip r:embed="rId3"/>
          <a:stretch>
            <a:fillRect/>
          </a:stretch>
        </p:blipFill>
        <p:spPr>
          <a:xfrm>
            <a:off x="0" y="0"/>
            <a:ext cx="5938345" cy="1226126"/>
          </a:xfrm>
          <a:prstGeom prst="rect">
            <a:avLst/>
          </a:prstGeom>
        </p:spPr>
      </p:pic>
      <p:sp>
        <p:nvSpPr>
          <p:cNvPr id="5" name="TextBox 4"/>
          <p:cNvSpPr txBox="1"/>
          <p:nvPr/>
        </p:nvSpPr>
        <p:spPr>
          <a:xfrm>
            <a:off x="731520" y="2011680"/>
            <a:ext cx="9144000" cy="1097280"/>
          </a:xfrm>
          <a:prstGeom prst="rect">
            <a:avLst/>
          </a:prstGeom>
          <a:noFill/>
        </p:spPr>
        <p:txBody>
          <a:bodyPr wrap="square">
            <a:spAutoFit/>
          </a:bodyPr>
          <a:lstStyle/>
          <a:p>
            <a:pPr algn="l">
              <a:spcAft>
                <a:spcPts val="400"/>
              </a:spcAft>
            </a:pPr>
            <a:r>
              <a:rPr sz="4800" b="1">
                <a:solidFill>
                  <a:srgbClr val="FFFFFF"/>
                </a:solidFill>
                <a:latin typeface="Calibri"/>
              </a:rPr>
              <a:t>EXOS AEROSPACE</a:t>
            </a:r>
          </a:p>
        </p:txBody>
      </p:sp>
      <p:sp>
        <p:nvSpPr>
          <p:cNvPr id="6" name="TextBox 5"/>
          <p:cNvSpPr txBox="1"/>
          <p:nvPr/>
        </p:nvSpPr>
        <p:spPr>
          <a:xfrm>
            <a:off x="731520" y="3108960"/>
            <a:ext cx="9144000" cy="731520"/>
          </a:xfrm>
          <a:prstGeom prst="rect">
            <a:avLst/>
          </a:prstGeom>
          <a:noFill/>
        </p:spPr>
        <p:txBody>
          <a:bodyPr wrap="square">
            <a:spAutoFit/>
          </a:bodyPr>
          <a:lstStyle/>
          <a:p>
            <a:pPr algn="l">
              <a:spcAft>
                <a:spcPts val="400"/>
              </a:spcAft>
            </a:pPr>
            <a:r>
              <a:rPr sz="2200" b="0">
                <a:solidFill>
                  <a:srgbClr val="009ED9"/>
                </a:solidFill>
                <a:latin typeface="Calibri"/>
              </a:rPr>
              <a:t>AI-Native Industrial Power  ·  Reusable Flight-Test for the Space &amp; Defense Industrial Base</a:t>
            </a:r>
          </a:p>
        </p:txBody>
      </p:sp>
      <p:sp>
        <p:nvSpPr>
          <p:cNvPr id="7" name="Rectangle 6"/>
          <p:cNvSpPr/>
          <p:nvPr/>
        </p:nvSpPr>
        <p:spPr>
          <a:xfrm>
            <a:off x="731520" y="3931920"/>
            <a:ext cx="36576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206240"/>
            <a:ext cx="9144000" cy="1828800"/>
          </a:xfrm>
          <a:prstGeom prst="rect">
            <a:avLst/>
          </a:prstGeom>
          <a:noFill/>
        </p:spPr>
        <p:txBody>
          <a:bodyPr wrap="square">
            <a:spAutoFit/>
          </a:bodyPr>
          <a:lstStyle/>
          <a:p>
            <a:pPr algn="l">
              <a:spcBef>
                <a:spcPts val="0"/>
              </a:spcBef>
              <a:spcAft>
                <a:spcPts val="2000"/>
              </a:spcAft>
            </a:pPr>
            <a:r>
              <a:rPr sz="1600" b="0" i="1">
                <a:solidFill>
                  <a:srgbClr val="CCCCCC"/>
                </a:solidFill>
                <a:latin typeface="Calibri"/>
              </a:rPr>
              <a:t>FAA Part 431 Launch License (→ Part 450)  |  Lunar-Proven Technology  |  Profitable</a:t>
            </a:r>
          </a:p>
          <a:p>
            <a:pPr algn="l">
              <a:spcBef>
                <a:spcPts val="0"/>
              </a:spcBef>
              <a:spcAft>
                <a:spcPts val="800"/>
              </a:spcAft>
            </a:pPr>
            <a:r>
              <a:rPr sz="2000" b="1">
                <a:solidFill>
                  <a:srgbClr val="FFB800"/>
                </a:solidFill>
                <a:latin typeface="Calibri"/>
              </a:rPr>
              <a:t>Raising a $10M Series A — the first step of a $215M growth plan</a:t>
            </a:r>
          </a:p>
          <a:p>
            <a:pPr algn="l">
              <a:spcBef>
                <a:spcPts val="0"/>
              </a:spcBef>
              <a:spcAft>
                <a:spcPts val="400"/>
              </a:spcAft>
            </a:pPr>
            <a:r>
              <a:rPr sz="1400" b="0">
                <a:solidFill>
                  <a:srgbClr val="999999"/>
                </a:solidFill>
                <a:latin typeface="Calibri"/>
              </a:rPr>
              <a:t>October 2026</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THE $20 TRILLION BLIND SPOT</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AI conquered software. The physical world is next — and almost nobody can build for it.</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tIns="73152" rtlCol="0" anchor="ctr"/>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267712"/>
            <a:ext cx="10241280" cy="914400"/>
          </a:xfrm>
          <a:prstGeom prst="rect">
            <a:avLst/>
          </a:prstGeom>
          <a:noFill/>
        </p:spPr>
        <p:txBody>
          <a:bodyPr wrap="square" anchor="t">
            <a:spAutoFit/>
          </a:bodyPr>
          <a:lstStyle/>
          <a:p>
            <a:pPr algn="l"/>
            <a:r>
              <a:rPr sz="1500" b="1">
                <a:solidFill>
                  <a:srgbClr val="FFFFFF"/>
                </a:solidFill>
                <a:latin typeface="Calibri"/>
              </a:rPr>
              <a:t>The last decade of AI value went to BITS.</a:t>
            </a:r>
          </a:p>
          <a:p>
            <a:pPr algn="l">
              <a:spcBef>
                <a:spcPts val="300"/>
              </a:spcBef>
            </a:pPr>
            <a:r>
              <a:rPr sz="1250" b="0">
                <a:solidFill>
                  <a:srgbClr val="CCCCCC"/>
                </a:solidFill>
                <a:latin typeface="Calibri"/>
              </a:rPr>
              <a:t>Code, chat, SaaS, automation. That trade is crowded and commoditized.</a:t>
            </a:r>
          </a:p>
        </p:txBody>
      </p:sp>
      <p:sp>
        <p:nvSpPr>
          <p:cNvPr id="10" name="Rounded Rectangle 9"/>
          <p:cNvSpPr/>
          <p:nvPr/>
        </p:nvSpPr>
        <p:spPr>
          <a:xfrm>
            <a:off x="731520" y="3447288"/>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566160"/>
            <a:ext cx="10241280" cy="914400"/>
          </a:xfrm>
          <a:prstGeom prst="rect">
            <a:avLst/>
          </a:prstGeom>
          <a:noFill/>
        </p:spPr>
        <p:txBody>
          <a:bodyPr wrap="square" anchor="t">
            <a:spAutoFit/>
          </a:bodyPr>
          <a:lstStyle/>
          <a:p>
            <a:pPr algn="l"/>
            <a:r>
              <a:rPr sz="1500" b="1">
                <a:solidFill>
                  <a:srgbClr val="FFFFFF"/>
                </a:solidFill>
                <a:latin typeface="Calibri"/>
              </a:rPr>
              <a:t>The next decade goes to ATOMS.</a:t>
            </a:r>
          </a:p>
          <a:p>
            <a:pPr algn="l">
              <a:spcBef>
                <a:spcPts val="300"/>
              </a:spcBef>
            </a:pPr>
            <a:r>
              <a:rPr sz="1250" b="0">
                <a:solidFill>
                  <a:srgbClr val="CCCCCC"/>
                </a:solidFill>
                <a:latin typeface="Calibri"/>
              </a:rPr>
              <a:t>Aerospace, propulsion, manufacturing, energy, defense hardware — the $20 TRILLION physical economy.</a:t>
            </a:r>
          </a:p>
        </p:txBody>
      </p:sp>
      <p:sp>
        <p:nvSpPr>
          <p:cNvPr id="12" name="Rounded Rectangle 11"/>
          <p:cNvSpPr/>
          <p:nvPr/>
        </p:nvSpPr>
        <p:spPr>
          <a:xfrm>
            <a:off x="731520" y="4745736"/>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4864607"/>
            <a:ext cx="10241280" cy="914400"/>
          </a:xfrm>
          <a:prstGeom prst="rect">
            <a:avLst/>
          </a:prstGeom>
          <a:noFill/>
        </p:spPr>
        <p:txBody>
          <a:bodyPr wrap="square" anchor="t">
            <a:spAutoFit/>
          </a:bodyPr>
          <a:lstStyle/>
          <a:p>
            <a:pPr algn="l"/>
            <a:r>
              <a:rPr sz="1500" b="1">
                <a:solidFill>
                  <a:srgbClr val="FFFFFF"/>
                </a:solidFill>
                <a:latin typeface="Calibri"/>
              </a:rPr>
              <a:t>"Almost nobody is building" it — because it is brutally hard.</a:t>
            </a:r>
          </a:p>
          <a:p>
            <a:pPr algn="l">
              <a:spcBef>
                <a:spcPts val="300"/>
              </a:spcBef>
            </a:pPr>
            <a:r>
              <a:rPr sz="1250" b="0">
                <a:solidFill>
                  <a:srgbClr val="CCCCCC"/>
                </a:solidFill>
                <a:latin typeface="Calibri"/>
              </a:rPr>
              <a:t>Real engineering, flight-proven hardware, manufacturing, regulatory clearance. Moats that take years and cannot be cloned like an app.</a:t>
            </a:r>
          </a:p>
        </p:txBody>
      </p:sp>
      <p:sp>
        <p:nvSpPr>
          <p:cNvPr id="14" name="TextBox 13"/>
          <p:cNvSpPr txBox="1"/>
          <p:nvPr/>
        </p:nvSpPr>
        <p:spPr>
          <a:xfrm>
            <a:off x="731520" y="5433684"/>
            <a:ext cx="10698480" cy="338554"/>
          </a:xfrm>
          <a:prstGeom prst="rect">
            <a:avLst/>
          </a:prstGeom>
          <a:noFill/>
        </p:spPr>
        <p:txBody>
          <a:bodyPr wrap="square" anchor="t">
            <a:spAutoFit/>
          </a:bodyPr>
          <a:lstStyle/>
          <a:p>
            <a:pPr algn="ctr"/>
            <a:r>
              <a:rPr sz="1600" b="1" dirty="0">
                <a:solidFill>
                  <a:srgbClr val="FFB800"/>
                </a:solidFill>
                <a:latin typeface="Calibri"/>
              </a:rPr>
              <a:t>That difficulty is the opportunity. </a:t>
            </a:r>
            <a:r>
              <a:rPr sz="1600" b="1" dirty="0">
                <a:solidFill>
                  <a:srgbClr val="FFFFFF"/>
                </a:solidFill>
                <a:latin typeface="Calibri"/>
              </a:rPr>
              <a:t>Exos is already on the other side of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WHY EXOS IS THE PHYSICAL-AI PLAY</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Four pillars no software company — and almost no hardware company — can assemble.</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tIns="73152" rtlCol="0" anchor="ctr"/>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295144"/>
            <a:ext cx="4873751" cy="1417320"/>
          </a:xfrm>
          <a:prstGeom prst="rect">
            <a:avLst/>
          </a:prstGeom>
          <a:noFill/>
        </p:spPr>
        <p:txBody>
          <a:bodyPr wrap="square" anchor="t">
            <a:spAutoFit/>
          </a:bodyPr>
          <a:lstStyle/>
          <a:p>
            <a:pPr algn="l"/>
            <a:r>
              <a:rPr sz="1300" b="1">
                <a:solidFill>
                  <a:srgbClr val="009ED9"/>
                </a:solidFill>
                <a:latin typeface="Calibri"/>
              </a:rPr>
              <a:t>1. PHYSICAL AI, ALREADY IN PRODUCTION</a:t>
            </a:r>
          </a:p>
          <a:p>
            <a:pPr algn="l">
              <a:spcBef>
                <a:spcPts val="400"/>
              </a:spcBef>
            </a:pPr>
            <a:r>
              <a:rPr sz="1150" b="0">
                <a:solidFill>
                  <a:srgbClr val="CCCCCC"/>
                </a:solidFill>
                <a:latin typeface="Calibri"/>
              </a:rPr>
              <a:t>AI applied where it is hardest: real flight hardware. Generative turbomachinery design (AxSTREAM), autonomous flight ops, AI-driven test &amp; integration. Operating today — not on a roadmap.</a:t>
            </a:r>
          </a:p>
        </p:txBody>
      </p:sp>
      <p:sp>
        <p:nvSpPr>
          <p:cNvPr id="10" name="Rounded Rectangle 9"/>
          <p:cNvSpPr/>
          <p:nvPr/>
        </p:nvSpPr>
        <p:spPr>
          <a:xfrm>
            <a:off x="6153912"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2295144"/>
            <a:ext cx="4873751" cy="1417320"/>
          </a:xfrm>
          <a:prstGeom prst="rect">
            <a:avLst/>
          </a:prstGeom>
          <a:noFill/>
        </p:spPr>
        <p:txBody>
          <a:bodyPr wrap="square" anchor="t">
            <a:spAutoFit/>
          </a:bodyPr>
          <a:lstStyle/>
          <a:p>
            <a:pPr algn="l"/>
            <a:r>
              <a:rPr sz="1300" b="1">
                <a:solidFill>
                  <a:srgbClr val="009ED9"/>
                </a:solidFill>
                <a:latin typeface="Calibri"/>
              </a:rPr>
              <a:t>2. SCARCE PHYSICAL INFRASTRUCTURE</a:t>
            </a:r>
          </a:p>
          <a:p>
            <a:pPr algn="l">
              <a:spcBef>
                <a:spcPts val="400"/>
              </a:spcBef>
            </a:pPr>
            <a:r>
              <a:rPr sz="1150" b="0">
                <a:solidFill>
                  <a:srgbClr val="CCCCCC"/>
                </a:solidFill>
                <a:latin typeface="Calibri"/>
              </a:rPr>
              <a:t>One of only three FAA-licensed reusable rocket launch providers in the U.S. (Part 431, transitioning to Part 450). TRL-9, lunar-proven Scorpius cryo-tank IP. Years-deep moats.</a:t>
            </a:r>
          </a:p>
        </p:txBody>
      </p:sp>
      <p:sp>
        <p:nvSpPr>
          <p:cNvPr id="12" name="Rounded Rectangle 11"/>
          <p:cNvSpPr/>
          <p:nvPr/>
        </p:nvSpPr>
        <p:spPr>
          <a:xfrm>
            <a:off x="731520"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4123944"/>
            <a:ext cx="4873751" cy="1417320"/>
          </a:xfrm>
          <a:prstGeom prst="rect">
            <a:avLst/>
          </a:prstGeom>
          <a:noFill/>
        </p:spPr>
        <p:txBody>
          <a:bodyPr wrap="square" anchor="t">
            <a:spAutoFit/>
          </a:bodyPr>
          <a:lstStyle/>
          <a:p>
            <a:pPr algn="l"/>
            <a:r>
              <a:rPr sz="1300" b="1">
                <a:solidFill>
                  <a:srgbClr val="009ED9"/>
                </a:solidFill>
                <a:latin typeface="Calibri"/>
              </a:rPr>
              <a:t>3. RE-INDUSTRIALIZATION &amp; AI-ERA WORKFORCE</a:t>
            </a:r>
          </a:p>
          <a:p>
            <a:pPr algn="l">
              <a:spcBef>
                <a:spcPts val="400"/>
              </a:spcBef>
            </a:pPr>
            <a:r>
              <a:rPr sz="1150" b="0">
                <a:solidFill>
                  <a:srgbClr val="CCCCCC"/>
                </a:solidFill>
                <a:latin typeface="Calibri"/>
              </a:rPr>
              <a:t>Rebuilding domestic aerospace manufacturing in rural Texas &amp; Montana — and pioneering the manufacturing-to-AI workforce transition. The labor &amp; supply-chain side of the thesis.</a:t>
            </a:r>
          </a:p>
        </p:txBody>
      </p:sp>
      <p:sp>
        <p:nvSpPr>
          <p:cNvPr id="14" name="Rounded Rectangle 13"/>
          <p:cNvSpPr/>
          <p:nvPr/>
        </p:nvSpPr>
        <p:spPr>
          <a:xfrm>
            <a:off x="6153912"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4123944"/>
            <a:ext cx="4873751" cy="1417320"/>
          </a:xfrm>
          <a:prstGeom prst="rect">
            <a:avLst/>
          </a:prstGeom>
          <a:noFill/>
        </p:spPr>
        <p:txBody>
          <a:bodyPr wrap="square" anchor="t">
            <a:spAutoFit/>
          </a:bodyPr>
          <a:lstStyle/>
          <a:p>
            <a:pPr algn="l"/>
            <a:r>
              <a:rPr sz="1300" b="1">
                <a:solidFill>
                  <a:srgbClr val="009ED9"/>
                </a:solidFill>
                <a:latin typeface="Calibri"/>
              </a:rPr>
              <a:t>4. DE-RISKING THE PHYSICAL FRONTIER</a:t>
            </a:r>
          </a:p>
          <a:p>
            <a:pPr algn="l">
              <a:spcBef>
                <a:spcPts val="400"/>
              </a:spcBef>
            </a:pPr>
            <a:r>
              <a:rPr sz="1150" b="0">
                <a:solidFill>
                  <a:srgbClr val="CCCCCC"/>
                </a:solidFill>
                <a:latin typeface="Calibri"/>
              </a:rPr>
              <a:t>Exos’s reusable suborbital platform is the flight-truth layer the entire physical-space economy needs before committing capital — de-risking orbital, propulsion, in-space architecture.</a:t>
            </a:r>
          </a:p>
        </p:txBody>
      </p:sp>
      <p:sp>
        <p:nvSpPr>
          <p:cNvPr id="16" name="TextBox 15"/>
          <p:cNvSpPr txBox="1"/>
          <p:nvPr/>
        </p:nvSpPr>
        <p:spPr>
          <a:xfrm>
            <a:off x="731520" y="5779008"/>
            <a:ext cx="10698480" cy="548640"/>
          </a:xfrm>
          <a:prstGeom prst="rect">
            <a:avLst/>
          </a:prstGeom>
          <a:noFill/>
        </p:spPr>
        <p:txBody>
          <a:bodyPr wrap="square" anchor="t">
            <a:spAutoFit/>
          </a:bodyPr>
          <a:lstStyle/>
          <a:p>
            <a:pPr algn="l"/>
            <a:r>
              <a:rPr sz="1500" b="1">
                <a:solidFill>
                  <a:srgbClr val="FFB800"/>
                </a:solidFill>
                <a:latin typeface="Calibri"/>
              </a:rPr>
              <a:t>THE PLAY: own the whole lunar‑proven chain — resin to flight — by completing our acquisition of Scorpius before the market reprices it as a completed package.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FLIGHT TEST BOTTLENECK</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800" b="1">
                <a:solidFill>
                  <a:srgbClr val="009ED9"/>
                </a:solidFill>
                <a:latin typeface="Calibri"/>
              </a:rPr>
              <a:t>Every orbital program needs flight truth before it commits. There is no substitute.</a:t>
            </a:r>
          </a:p>
        </p:txBody>
      </p:sp>
      <p:sp>
        <p:nvSpPr>
          <p:cNvPr id="7" name="Rounded Rectangle 6"/>
          <p:cNvSpPr/>
          <p:nvPr/>
        </p:nvSpPr>
        <p:spPr>
          <a:xfrm>
            <a:off x="73152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Wind tunnels are saturated</a:t>
            </a:r>
          </a:p>
          <a:p>
            <a:pPr>
              <a:spcBef>
                <a:spcPts val="600"/>
              </a:spcBef>
            </a:pPr>
            <a:r>
              <a:rPr sz="1100">
                <a:solidFill>
                  <a:srgbClr val="CCCCCC"/>
                </a:solidFill>
                <a:latin typeface="Calibri"/>
              </a:rPr>
              <a:t>18-24 month wait times at major facilities nationwide</a:t>
            </a:r>
          </a:p>
        </p:txBody>
      </p:sp>
      <p:sp>
        <p:nvSpPr>
          <p:cNvPr id="8" name="Rounded Rectangle 7"/>
          <p:cNvSpPr/>
          <p:nvPr/>
        </p:nvSpPr>
        <p:spPr>
          <a:xfrm>
            <a:off x="603504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Computational modeling has limits</a:t>
            </a:r>
          </a:p>
          <a:p>
            <a:pPr>
              <a:spcBef>
                <a:spcPts val="600"/>
              </a:spcBef>
            </a:pPr>
            <a:r>
              <a:rPr sz="1100">
                <a:solidFill>
                  <a:srgbClr val="CCCCCC"/>
                </a:solidFill>
                <a:latin typeface="Calibri"/>
              </a:rPr>
              <a:t>Models diverge from reality at hypersonic and reentry regimes</a:t>
            </a:r>
          </a:p>
        </p:txBody>
      </p:sp>
      <p:sp>
        <p:nvSpPr>
          <p:cNvPr id="9" name="Rounded Rectangle 8"/>
          <p:cNvSpPr/>
          <p:nvPr/>
        </p:nvSpPr>
        <p:spPr>
          <a:xfrm>
            <a:off x="73152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Custom test vehicle costs $50M+</a:t>
            </a:r>
          </a:p>
          <a:p>
            <a:pPr>
              <a:spcBef>
                <a:spcPts val="600"/>
              </a:spcBef>
            </a:pPr>
            <a:r>
              <a:rPr sz="1100">
                <a:solidFill>
                  <a:srgbClr val="CCCCCC"/>
                </a:solidFill>
                <a:latin typeface="Calibri"/>
              </a:rPr>
              <a:t>And takes 2-3 years before first flight</a:t>
            </a:r>
          </a:p>
        </p:txBody>
      </p:sp>
      <p:sp>
        <p:nvSpPr>
          <p:cNvPr id="10" name="Rounded Rectangle 9"/>
          <p:cNvSpPr/>
          <p:nvPr/>
        </p:nvSpPr>
        <p:spPr>
          <a:xfrm>
            <a:off x="603504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Failed orbital launch destroys hardware</a:t>
            </a:r>
          </a:p>
          <a:p>
            <a:pPr>
              <a:spcBef>
                <a:spcPts val="600"/>
              </a:spcBef>
            </a:pPr>
            <a:r>
              <a:rPr sz="1100">
                <a:solidFill>
                  <a:srgbClr val="CCCCCC"/>
                </a:solidFill>
                <a:latin typeface="Calibri"/>
              </a:rPr>
              <a:t>No intact hardware = no post-flight analysis</a:t>
            </a:r>
          </a:p>
        </p:txBody>
      </p:sp>
      <p:sp>
        <p:nvSpPr>
          <p:cNvPr id="11" name="TextBox 10"/>
          <p:cNvSpPr txBox="1"/>
          <p:nvPr/>
        </p:nvSpPr>
        <p:spPr>
          <a:xfrm>
            <a:off x="731520" y="5669280"/>
            <a:ext cx="10058400" cy="640080"/>
          </a:xfrm>
          <a:prstGeom prst="rect">
            <a:avLst/>
          </a:prstGeom>
          <a:noFill/>
        </p:spPr>
        <p:txBody>
          <a:bodyPr wrap="square">
            <a:spAutoFit/>
          </a:bodyPr>
          <a:lstStyle/>
          <a:p>
            <a:pPr algn="l">
              <a:spcAft>
                <a:spcPts val="400"/>
              </a:spcAft>
            </a:pPr>
            <a:r>
              <a:rPr sz="1600" b="1">
                <a:solidFill>
                  <a:srgbClr val="FFB800"/>
                </a:solidFill>
                <a:latin typeface="Calibri"/>
              </a:rPr>
              <a:t>The gap: Between simulation and orbital commitment, there is no affordable, rapid, repeatable flight test option.</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EXOS: THE DE-RISKING PLATFORM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500" b="1">
                <a:solidFill>
                  <a:srgbClr val="009ED9"/>
                </a:solidFill>
                <a:latin typeface="Calibri"/>
              </a:rPr>
              <a:t>One of only three FAA-licensed reusable rocket launch providers in the U.S. (Part 431, transitioning to Part 450) — now booking commercial test campaigns</a:t>
            </a:r>
          </a:p>
        </p:txBody>
      </p:sp>
      <p:sp>
        <p:nvSpPr>
          <p:cNvPr id="7" name="Rounded Rectangle 6"/>
          <p:cNvSpPr/>
          <p:nvPr/>
        </p:nvSpPr>
        <p:spPr>
          <a:xfrm>
            <a:off x="73152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FLIGHT TEST AT A FRACTION OF THE COST</a:t>
            </a:r>
          </a:p>
          <a:p>
            <a:pPr>
              <a:spcBef>
                <a:spcPts val="600"/>
              </a:spcBef>
            </a:pPr>
            <a:r>
              <a:rPr sz="1100">
                <a:solidFill>
                  <a:srgbClr val="CCCCCC"/>
                </a:solidFill>
                <a:latin typeface="Calibri"/>
              </a:rPr>
              <a:t>Customers place avionics, flight controls, and subsystems in our BLK3 payload bay. BLK3 is designed to fly to space, execute reentry profiles, then recover. Customers validate hardware survives — before risking an orbital vehicle.</a:t>
            </a:r>
          </a:p>
        </p:txBody>
      </p:sp>
      <p:sp>
        <p:nvSpPr>
          <p:cNvPr id="8" name="Rounded Rectangle 7"/>
          <p:cNvSpPr/>
          <p:nvPr/>
        </p:nvSpPr>
        <p:spPr>
          <a:xfrm>
            <a:off x="429768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SILENT OPERATIONS</a:t>
            </a:r>
          </a:p>
          <a:p>
            <a:pPr>
              <a:spcBef>
                <a:spcPts val="600"/>
              </a:spcBef>
            </a:pPr>
            <a:r>
              <a:rPr sz="1100">
                <a:solidFill>
                  <a:srgbClr val="CCCCCC"/>
                </a:solidFill>
                <a:latin typeface="Calibri"/>
              </a:rPr>
              <a:t>All test operations conducted confidentially until the customer is ready to disclose. Failed tests never become public. Critical for companies with public investors, government stakeholders, or competitive exposure.</a:t>
            </a:r>
          </a:p>
        </p:txBody>
      </p:sp>
      <p:sp>
        <p:nvSpPr>
          <p:cNvPr id="9" name="Rounded Rectangle 8"/>
          <p:cNvSpPr/>
          <p:nvPr/>
        </p:nvSpPr>
        <p:spPr>
          <a:xfrm>
            <a:off x="786384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INTACT HARDWARE RECOVERY</a:t>
            </a:r>
          </a:p>
          <a:p>
            <a:pPr algn="ctr"/>
            <a:r>
              <a:rPr lang="en-US" sz="1100" b="0" dirty="0">
                <a:solidFill>
                  <a:srgbClr val="CCCCCC"/>
                </a:solidFill>
              </a:rPr>
              <a:t>SpaceX and Blue Origin both recover customer hardware intact — but neither currently sells suborbital test services. Exos offers commercial suborbital flight-test with full payload recovery.</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BLK3 PLATFORM</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Precision Suborbital Reusable Launch Vehicle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1954381"/>
          </a:xfrm>
          <a:prstGeom prst="rect">
            <a:avLst/>
          </a:prstGeom>
          <a:noFill/>
        </p:spPr>
        <p:txBody>
          <a:bodyPr wrap="square">
            <a:spAutoFit/>
          </a:bodyPr>
          <a:lstStyle/>
          <a:p>
            <a:pPr algn="l">
              <a:spcBef>
                <a:spcPts val="0"/>
              </a:spcBef>
              <a:spcAft>
                <a:spcPts val="600"/>
              </a:spcAft>
            </a:pPr>
            <a:r>
              <a:rPr lang="en-US" sz="1300" b="0" dirty="0">
                <a:solidFill>
                  <a:srgbClr val="CCCCCC"/>
                </a:solidFill>
              </a:rPr>
              <a:t>•  Designed for a suborbital profile reaching 100+ km</a:t>
            </a:r>
          </a:p>
          <a:p>
            <a:pPr algn="l">
              <a:spcBef>
                <a:spcPts val="0"/>
              </a:spcBef>
              <a:spcAft>
                <a:spcPts val="600"/>
              </a:spcAft>
            </a:pPr>
            <a:r>
              <a:rPr lang="en-US" sz="1300" b="0" dirty="0">
                <a:solidFill>
                  <a:srgbClr val="CCCCCC"/>
                </a:solidFill>
              </a:rPr>
              <a:t>•  LOX/ethanol propulsion system</a:t>
            </a:r>
          </a:p>
          <a:p>
            <a:pPr algn="l">
              <a:spcBef>
                <a:spcPts val="0"/>
              </a:spcBef>
              <a:spcAft>
                <a:spcPts val="600"/>
              </a:spcAft>
            </a:pPr>
            <a:r>
              <a:rPr lang="en-US" sz="1300" b="0" dirty="0">
                <a:solidFill>
                  <a:srgbClr val="CCCCCC"/>
                </a:solidFill>
              </a:rPr>
              <a:t>•  Multiple flight test articles per mission</a:t>
            </a:r>
          </a:p>
          <a:p>
            <a:pPr algn="l">
              <a:spcBef>
                <a:spcPts val="0"/>
              </a:spcBef>
              <a:spcAft>
                <a:spcPts val="600"/>
              </a:spcAft>
            </a:pPr>
            <a:r>
              <a:rPr lang="en-US" sz="1300" b="0" dirty="0">
                <a:solidFill>
                  <a:srgbClr val="CCCCCC"/>
                </a:solidFill>
              </a:rPr>
              <a:t>•  Vertical launch, parachute recovery, fully reusable</a:t>
            </a:r>
          </a:p>
          <a:p>
            <a:pPr algn="l">
              <a:spcBef>
                <a:spcPts val="0"/>
              </a:spcBef>
              <a:spcAft>
                <a:spcPts val="600"/>
              </a:spcAft>
            </a:pPr>
            <a:r>
              <a:rPr lang="en-US" sz="1300" b="0" dirty="0">
                <a:solidFill>
                  <a:srgbClr val="CCCCCC"/>
                </a:solidFill>
              </a:rPr>
              <a:t>•  Integrated telemetry, tracking, and real-time data return</a:t>
            </a:r>
          </a:p>
          <a:p>
            <a:pPr algn="l">
              <a:spcBef>
                <a:spcPts val="0"/>
              </a:spcBef>
              <a:spcAft>
                <a:spcPts val="600"/>
              </a:spcAft>
            </a:pPr>
            <a:r>
              <a:rPr lang="en-US" sz="1300" b="0" dirty="0">
                <a:solidFill>
                  <a:srgbClr val="CCCCCC"/>
                </a:solidFill>
              </a:rPr>
              <a:t>•  Operates under Exos's FAA Part 431 launch license (transitioning to Part 450); hover test campaign completed; first commercial flight targeted early 2027</a:t>
            </a:r>
          </a:p>
          <a:p>
            <a:pPr algn="l">
              <a:spcBef>
                <a:spcPts val="0"/>
              </a:spcBef>
              <a:spcAft>
                <a:spcPts val="600"/>
              </a:spcAft>
            </a:pPr>
            <a:r>
              <a:rPr lang="en-US" sz="1300" b="0" dirty="0">
                <a:solidFill>
                  <a:srgbClr val="CCCCCC"/>
                </a:solidFill>
              </a:rPr>
              <a:t>•  Modular payload bay for diverse customer hardware</a:t>
            </a:r>
          </a:p>
        </p:txBody>
      </p:sp>
      <p:sp>
        <p:nvSpPr>
          <p:cNvPr id="8" name="TextBox 7"/>
          <p:cNvSpPr txBox="1"/>
          <p:nvPr/>
        </p:nvSpPr>
        <p:spPr>
          <a:xfrm>
            <a:off x="6400800" y="640080"/>
            <a:ext cx="5029200" cy="457200"/>
          </a:xfrm>
          <a:prstGeom prst="rect">
            <a:avLst/>
          </a:prstGeom>
          <a:noFill/>
        </p:spPr>
        <p:txBody>
          <a:bodyPr wrap="square">
            <a:spAutoFit/>
          </a:bodyPr>
          <a:lstStyle/>
          <a:p>
            <a:pPr algn="l">
              <a:spcAft>
                <a:spcPts val="400"/>
              </a:spcAft>
            </a:pPr>
            <a:r>
              <a:rPr sz="1500" b="1" dirty="0">
                <a:solidFill>
                  <a:srgbClr val="FFB800"/>
                </a:solidFill>
                <a:latin typeface="Calibri"/>
              </a:rPr>
              <a:t>CUSTOMER PROGRAM PROGRESSION</a:t>
            </a:r>
          </a:p>
        </p:txBody>
      </p:sp>
      <p:sp>
        <p:nvSpPr>
          <p:cNvPr id="9" name="Rounded Rectangle 8"/>
          <p:cNvSpPr/>
          <p:nvPr/>
        </p:nvSpPr>
        <p:spPr>
          <a:xfrm>
            <a:off x="6400800" y="128016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1</a:t>
            </a:r>
          </a:p>
          <a:p>
            <a:pPr>
              <a:spcBef>
                <a:spcPts val="600"/>
              </a:spcBef>
            </a:pPr>
            <a:r>
              <a:rPr sz="1100" dirty="0">
                <a:solidFill>
                  <a:srgbClr val="CCCCCC"/>
                </a:solidFill>
                <a:latin typeface="Calibri"/>
              </a:rPr>
              <a:t>Test avionics, GNC, flight controls via BLK3 suborbital flights</a:t>
            </a:r>
          </a:p>
        </p:txBody>
      </p:sp>
      <p:sp>
        <p:nvSpPr>
          <p:cNvPr id="10" name="Rounded Rectangle 9"/>
          <p:cNvSpPr/>
          <p:nvPr/>
        </p:nvSpPr>
        <p:spPr>
          <a:xfrm>
            <a:off x="6400800" y="256032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2</a:t>
            </a:r>
          </a:p>
          <a:p>
            <a:pPr>
              <a:spcBef>
                <a:spcPts val="600"/>
              </a:spcBef>
            </a:pPr>
            <a:r>
              <a:rPr sz="1100" dirty="0">
                <a:solidFill>
                  <a:srgbClr val="CCCCCC"/>
                </a:solidFill>
                <a:latin typeface="Calibri"/>
              </a:rPr>
              <a:t>Iterate — fly repeatedly until all systems validated</a:t>
            </a:r>
          </a:p>
        </p:txBody>
      </p:sp>
      <p:sp>
        <p:nvSpPr>
          <p:cNvPr id="11" name="Rounded Rectangle 10"/>
          <p:cNvSpPr/>
          <p:nvPr/>
        </p:nvSpPr>
        <p:spPr>
          <a:xfrm>
            <a:off x="6400800" y="3840480"/>
            <a:ext cx="50292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Phase 3</a:t>
            </a:r>
          </a:p>
          <a:p>
            <a:pPr algn="ctr"/>
            <a:r>
              <a:rPr lang="en-US" sz="1100" b="0" dirty="0">
                <a:solidFill>
                  <a:srgbClr val="CCCCCC"/>
                </a:solidFill>
              </a:rPr>
              <a:t>Suborbital proof flight of customer's actual orbital-class vehicle using Exos-developed recovery systems — validating full reentry before orbital commitment</a:t>
            </a:r>
          </a:p>
        </p:txBody>
      </p:sp>
      <p:sp>
        <p:nvSpPr>
          <p:cNvPr id="12" name="TextBox 11"/>
          <p:cNvSpPr txBox="1"/>
          <p:nvPr/>
        </p:nvSpPr>
        <p:spPr>
          <a:xfrm>
            <a:off x="6434051" y="4941916"/>
            <a:ext cx="5029200" cy="548640"/>
          </a:xfrm>
          <a:prstGeom prst="rect">
            <a:avLst/>
          </a:prstGeom>
          <a:noFill/>
        </p:spPr>
        <p:txBody>
          <a:bodyPr wrap="square">
            <a:spAutoFit/>
          </a:bodyPr>
          <a:lstStyle/>
          <a:p>
            <a:pPr algn="l">
              <a:spcAft>
                <a:spcPts val="400"/>
              </a:spcAft>
            </a:pPr>
            <a:r>
              <a:rPr sz="1100" b="1" dirty="0">
                <a:solidFill>
                  <a:srgbClr val="FFB800"/>
                </a:solidFill>
                <a:latin typeface="Calibri"/>
              </a:rPr>
              <a:t>The endgame: Customers graduate from testing subsystems to flying their own orbital vehicle </a:t>
            </a:r>
            <a:r>
              <a:rPr sz="1100" b="1" dirty="0" err="1">
                <a:solidFill>
                  <a:srgbClr val="FFB800"/>
                </a:solidFill>
                <a:latin typeface="Calibri"/>
              </a:rPr>
              <a:t>suborbitally</a:t>
            </a:r>
            <a:r>
              <a:rPr sz="1100" b="1" dirty="0">
                <a:solidFill>
                  <a:srgbClr val="FFB800"/>
                </a:solidFill>
                <a:latin typeface="Calibri"/>
              </a:rPr>
              <a:t> — recovering it intact — before committing to full orbital flight.</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STRATEGIC ACQUISITION: SCORPIUS TYPE 5 TANKS</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1" dirty="0">
                <a:solidFill>
                  <a:srgbClr val="FFB800"/>
                </a:solidFill>
                <a:latin typeface="Calibri"/>
              </a:rPr>
              <a:t>Own the stack — resin to flight: Scorpius's evolved resin (trade secret) and patented winding method for TRL‑9 Type‑5 tanks, integrated into Exos's reusable vehicle</a:t>
            </a:r>
          </a:p>
        </p:txBody>
      </p:sp>
      <p:sp>
        <p:nvSpPr>
          <p:cNvPr id="6" name="Rectangle 5"/>
          <p:cNvSpPr/>
          <p:nvPr/>
        </p:nvSpPr>
        <p:spPr>
          <a:xfrm>
            <a:off x="731520" y="164592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2743200"/>
          </a:xfrm>
          <a:prstGeom prst="rect">
            <a:avLst/>
          </a:prstGeom>
          <a:noFill/>
        </p:spPr>
        <p:txBody>
          <a:bodyPr wrap="square">
            <a:spAutoFit/>
          </a:bodyPr>
          <a:lstStyle/>
          <a:p>
            <a:pPr algn="l">
              <a:spcBef>
                <a:spcPts val="0"/>
              </a:spcBef>
              <a:spcAft>
                <a:spcPts val="1000"/>
              </a:spcAft>
            </a:pPr>
            <a:r>
              <a:rPr sz="1400" b="1">
                <a:solidFill>
                  <a:srgbClr val="009ED9"/>
                </a:solidFill>
                <a:latin typeface="Calibri"/>
              </a:rPr>
              <a:t>TANK ADVANTAGES</a:t>
            </a:r>
          </a:p>
          <a:p>
            <a:pPr algn="l">
              <a:spcBef>
                <a:spcPts val="0"/>
              </a:spcBef>
              <a:spcAft>
                <a:spcPts val="600"/>
              </a:spcAft>
            </a:pPr>
            <a:r>
              <a:rPr sz="1200" b="0">
                <a:solidFill>
                  <a:srgbClr val="CCCCCC"/>
                </a:solidFill>
                <a:latin typeface="Calibri"/>
              </a:rPr>
              <a:t>•  ~50% mass reduction vs. metal tanks</a:t>
            </a:r>
          </a:p>
          <a:p>
            <a:pPr algn="l">
              <a:spcBef>
                <a:spcPts val="0"/>
              </a:spcBef>
              <a:spcAft>
                <a:spcPts val="600"/>
              </a:spcAft>
            </a:pPr>
            <a:r>
              <a:rPr sz="1200" b="0">
                <a:solidFill>
                  <a:srgbClr val="CCCCCC"/>
                </a:solidFill>
                <a:latin typeface="Calibri"/>
              </a:rPr>
              <a:t>•  All-composite, corrosion-resistant, export-approved</a:t>
            </a:r>
          </a:p>
          <a:p>
            <a:pPr algn="l">
              <a:spcBef>
                <a:spcPts val="0"/>
              </a:spcBef>
              <a:spcAft>
                <a:spcPts val="600"/>
              </a:spcAft>
            </a:pPr>
            <a:r>
              <a:rPr sz="1200" b="0">
                <a:solidFill>
                  <a:srgbClr val="CCCCCC"/>
                </a:solidFill>
                <a:latin typeface="Calibri"/>
              </a:rPr>
              <a:t>•  Room-temperature cure — no autoclaves required</a:t>
            </a:r>
          </a:p>
          <a:p>
            <a:pPr algn="l">
              <a:spcBef>
                <a:spcPts val="0"/>
              </a:spcBef>
              <a:spcAft>
                <a:spcPts val="600"/>
              </a:spcAft>
            </a:pPr>
            <a:r>
              <a:rPr sz="1200" b="0">
                <a:solidFill>
                  <a:srgbClr val="CCCCCC"/>
                </a:solidFill>
                <a:latin typeface="Calibri"/>
              </a:rPr>
              <a:t>•  Enables LOX-methane and advanced propellants</a:t>
            </a:r>
          </a:p>
          <a:p>
            <a:pPr algn="l">
              <a:spcBef>
                <a:spcPts val="0"/>
              </a:spcBef>
              <a:spcAft>
                <a:spcPts val="600"/>
              </a:spcAft>
            </a:pPr>
            <a:r>
              <a:rPr sz="1200" b="0">
                <a:solidFill>
                  <a:srgbClr val="CCCCCC"/>
                </a:solidFill>
                <a:latin typeface="Calibri"/>
              </a:rPr>
              <a:t>•  Proprietary trade secret manufacturing process</a:t>
            </a:r>
          </a:p>
        </p:txBody>
      </p:sp>
      <p:graphicFrame>
        <p:nvGraphicFramePr>
          <p:cNvPr id="8" name="Table 7"/>
          <p:cNvGraphicFramePr>
            <a:graphicFrameLocks noGrp="1"/>
          </p:cNvGraphicFramePr>
          <p:nvPr/>
        </p:nvGraphicFramePr>
        <p:xfrm>
          <a:off x="6217920" y="1737360"/>
          <a:ext cx="5303520" cy="26517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Value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Acquisition price</a:t>
                      </a:r>
                    </a:p>
                  </a:txBody>
                  <a:tcPr>
                    <a:solidFill>
                      <a:srgbClr val="0D1220"/>
                    </a:solidFill>
                  </a:tcPr>
                </a:tc>
                <a:tc>
                  <a:txBody>
                    <a:bodyPr/>
                    <a:lstStyle/>
                    <a:p>
                      <a:r>
                        <a:rPr sz="1200">
                          <a:solidFill>
                            <a:srgbClr val="CCCCCC"/>
                          </a:solidFill>
                        </a:rPr>
                        <a:t>$3.4M — completes our acquisition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Flight heritage</a:t>
                      </a:r>
                    </a:p>
                  </a:txBody>
                  <a:tcPr>
                    <a:solidFill>
                      <a:srgbClr val="101626"/>
                    </a:solidFill>
                  </a:tcPr>
                </a:tc>
                <a:tc>
                  <a:txBody>
                    <a:bodyPr/>
                    <a:lstStyle/>
                    <a:p>
                      <a:r>
                        <a:rPr sz="1200">
                          <a:solidFill>
                            <a:srgbClr val="CCCCCC"/>
                          </a:solidFill>
                        </a:rPr>
                        <a:t>Intuitive Machines IM-1 Odysseus (2024) &amp; IM-2 Athena (2025)</a:t>
                      </a:r>
                    </a:p>
                  </a:txBody>
                  <a:tcPr>
                    <a:solidFill>
                      <a:srgbClr val="101626"/>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Commercial traction</a:t>
                      </a:r>
                    </a:p>
                  </a:txBody>
                  <a:tcPr>
                    <a:solidFill>
                      <a:srgbClr val="0D1220"/>
                    </a:solidFill>
                  </a:tcPr>
                </a:tc>
                <a:tc>
                  <a:txBody>
                    <a:bodyPr/>
                    <a:lstStyle/>
                    <a:p>
                      <a:r>
                        <a:rPr sz="1100">
                          <a:solidFill>
                            <a:srgbClr val="FFFFFF"/>
                          </a:solidFill>
                          <a:latin typeface="Calibri"/>
                        </a:rPr>
                        <a:t>First tank sale for an orbital transfer vehicle</a:t>
                      </a:r>
                    </a:p>
                  </a:txBody>
                  <a:tcPr>
                    <a:solidFill>
                      <a:srgbClr val="0D1220"/>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Additional targets</a:t>
                      </a:r>
                    </a:p>
                  </a:txBody>
                  <a:tcPr>
                    <a:solidFill>
                      <a:srgbClr val="101626"/>
                    </a:solidFill>
                  </a:tcPr>
                </a:tc>
                <a:tc>
                  <a:txBody>
                    <a:bodyPr/>
                    <a:lstStyle/>
                    <a:p>
                      <a:r>
                        <a:rPr sz="1100">
                          <a:solidFill>
                            <a:srgbClr val="FFFFFF"/>
                          </a:solidFill>
                          <a:latin typeface="Calibri"/>
                        </a:rPr>
                        <a:t>SpaceX, NGC, NASA Artemis</a:t>
                      </a:r>
                    </a:p>
                  </a:txBody>
                  <a:tcPr>
                    <a:solidFill>
                      <a:srgbClr val="101626"/>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Current ownership</a:t>
                      </a:r>
                    </a:p>
                  </a:txBody>
                  <a:tcPr>
                    <a:solidFill>
                      <a:srgbClr val="0D1220"/>
                    </a:solidFill>
                  </a:tcPr>
                </a:tc>
                <a:tc>
                  <a:txBody>
                    <a:bodyPr/>
                    <a:lstStyle/>
                    <a:p>
                      <a:r>
                        <a:rPr sz="1200">
                          <a:solidFill>
                            <a:srgbClr val="CCCCCC"/>
                          </a:solidFill>
                        </a:rPr>
                        <a:t>Exos owns 18% today</a:t>
                      </a:r>
                    </a:p>
                  </a:txBody>
                  <a:tcPr>
                    <a:solidFill>
                      <a:srgbClr val="0D1220"/>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731520" y="5029200"/>
            <a:ext cx="10515600" cy="1097280"/>
          </a:xfrm>
          <a:prstGeom prst="rect">
            <a:avLst/>
          </a:prstGeom>
          <a:noFill/>
        </p:spPr>
        <p:txBody>
          <a:bodyPr wrap="square">
            <a:spAutoFit/>
          </a:bodyPr>
          <a:lstStyle/>
          <a:p>
            <a:pPr algn="l">
              <a:spcAft>
                <a:spcPts val="400"/>
              </a:spcAft>
            </a:pPr>
            <a:r>
              <a:rPr sz="1200" b="0">
                <a:solidFill>
                  <a:srgbClr val="CCCCCC"/>
                </a:solidFill>
                <a:latin typeface="Calibri"/>
              </a:rPr>
              <a:t>Scorpius Type 5 composite-overwrapped cryogenic tanks served as fuel and LOX tanks on Intuitive Machines' Odysseus (IM-1) and Athena (IM-2) lunar missions — launched aboard SpaceX Falcon 9, funded by NASA CLPS.</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MARKET SIZE &amp; TRACTION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Market Segment</a:t>
                      </a:r>
                    </a:p>
                  </a:txBody>
                  <a:tcPr>
                    <a:solidFill>
                      <a:srgbClr val="0A142A"/>
                    </a:solidFill>
                  </a:tcPr>
                </a:tc>
                <a:tc>
                  <a:txBody>
                    <a:bodyPr/>
                    <a:lstStyle/>
                    <a:p>
                      <a:r>
                        <a:rPr sz="1100" b="1">
                          <a:solidFill>
                            <a:srgbClr val="009ED9"/>
                          </a:solidFill>
                          <a:latin typeface="Calibri"/>
                        </a:rPr>
                        <a:t>Size by 2030</a:t>
                      </a:r>
                    </a:p>
                  </a:txBody>
                  <a:tcPr>
                    <a:solidFill>
                      <a:srgbClr val="0A142A"/>
                    </a:solidFill>
                  </a:tcPr>
                </a:tc>
                <a:tc>
                  <a:txBody>
                    <a:bodyPr/>
                    <a:lstStyle/>
                    <a:p>
                      <a:r>
                        <a:rPr sz="1100" b="1">
                          <a:solidFill>
                            <a:srgbClr val="009ED9"/>
                          </a:solidFill>
                          <a:latin typeface="Calibri"/>
                        </a:rPr>
                        <a:t>Source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Suborbital Flight Test Services</a:t>
                      </a:r>
                    </a:p>
                  </a:txBody>
                  <a:tcPr>
                    <a:solidFill>
                      <a:srgbClr val="0D1220"/>
                    </a:solidFill>
                  </a:tcPr>
                </a:tc>
                <a:tc>
                  <a:txBody>
                    <a:bodyPr/>
                    <a:lstStyle/>
                    <a:p>
                      <a:r>
                        <a:rPr sz="1100">
                          <a:solidFill>
                            <a:srgbClr val="FFFFFF"/>
                          </a:solidFill>
                          <a:latin typeface="Calibri"/>
                        </a:rPr>
                        <a:t>$1.5–2.5B</a:t>
                      </a:r>
                    </a:p>
                  </a:txBody>
                  <a:tcPr>
                    <a:solidFill>
                      <a:srgbClr val="0D1220"/>
                    </a:solidFill>
                  </a:tcPr>
                </a:tc>
                <a:tc>
                  <a:txBody>
                    <a:bodyPr/>
                    <a:lstStyle/>
                    <a:p>
                      <a:r>
                        <a:rPr sz="1100">
                          <a:solidFill>
                            <a:srgbClr val="FFFFFF"/>
                          </a:solidFill>
                          <a:latin typeface="Calibri"/>
                        </a:rPr>
                        <a:t>NSR, FAA AST, Bryce Tech</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Cryogenic Tank Production (Space)</a:t>
                      </a:r>
                    </a:p>
                  </a:txBody>
                  <a:tcPr>
                    <a:solidFill>
                      <a:srgbClr val="101626"/>
                    </a:solidFill>
                  </a:tcPr>
                </a:tc>
                <a:tc>
                  <a:txBody>
                    <a:bodyPr/>
                    <a:lstStyle/>
                    <a:p>
                      <a:r>
                        <a:rPr sz="1100">
                          <a:solidFill>
                            <a:srgbClr val="FFFFFF"/>
                          </a:solidFill>
                          <a:latin typeface="Calibri"/>
                        </a:rPr>
                        <a:t>$2–4B</a:t>
                      </a:r>
                    </a:p>
                  </a:txBody>
                  <a:tcPr>
                    <a:solidFill>
                      <a:srgbClr val="101626"/>
                    </a:solidFill>
                  </a:tcPr>
                </a:tc>
                <a:tc>
                  <a:txBody>
                    <a:bodyPr/>
                    <a:lstStyle/>
                    <a:p>
                      <a:r>
                        <a:rPr sz="1100">
                          <a:solidFill>
                            <a:srgbClr val="FFFFFF"/>
                          </a:solidFill>
                          <a:latin typeface="Calibri"/>
                        </a:rPr>
                        <a:t>In-space refueling + lunar demand</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Advanced Propulsion Systems</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RDRE/detonation programs DoD/NASA</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Total Serviceable Market</a:t>
                      </a:r>
                    </a:p>
                  </a:txBody>
                  <a:tcPr>
                    <a:solidFill>
                      <a:srgbClr val="101626"/>
                    </a:solidFill>
                  </a:tcPr>
                </a:tc>
                <a:tc>
                  <a:txBody>
                    <a:bodyPr/>
                    <a:lstStyle/>
                    <a:p>
                      <a:r>
                        <a:rPr sz="1100">
                          <a:solidFill>
                            <a:srgbClr val="FFFFFF"/>
                          </a:solidFill>
                          <a:latin typeface="Calibri"/>
                        </a:rPr>
                        <a:t>$4.5–8.5B</a:t>
                      </a:r>
                    </a:p>
                  </a:txBody>
                  <a:tcPr>
                    <a:solidFill>
                      <a:srgbClr val="101626"/>
                    </a:solidFill>
                  </a:tcPr>
                </a:tc>
                <a:tc>
                  <a:txBody>
                    <a:bodyPr/>
                    <a:lstStyle/>
                    <a:p>
                      <a:endParaRPr/>
                    </a:p>
                  </a:txBody>
                  <a:tcPr>
                    <a:solidFill>
                      <a:srgbClr val="10162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CURRENT TRACTION</a:t>
            </a:r>
          </a:p>
        </p:txBody>
      </p:sp>
      <p:sp>
        <p:nvSpPr>
          <p:cNvPr id="8" name="TextBox 7"/>
          <p:cNvSpPr txBox="1"/>
          <p:nvPr/>
        </p:nvSpPr>
        <p:spPr>
          <a:xfrm>
            <a:off x="73152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2026 YTD (Jan–Sep) revenue: $1.58M — +168% vs. Jan–Sep 2025</a:t>
            </a:r>
          </a:p>
          <a:p>
            <a:pPr algn="l">
              <a:spcBef>
                <a:spcPts val="0"/>
              </a:spcBef>
              <a:spcAft>
                <a:spcPts val="600"/>
              </a:spcAft>
            </a:pPr>
            <a:r>
              <a:rPr sz="1300" b="0">
                <a:solidFill>
                  <a:srgbClr val="CCCCCC"/>
                </a:solidFill>
                <a:latin typeface="Calibri"/>
              </a:rPr>
              <a:t>•  2026 YTD (Jan–Sep) EBITDA: $278K (18% margin)</a:t>
            </a:r>
          </a:p>
          <a:p>
            <a:pPr algn="l">
              <a:spcBef>
                <a:spcPts val="0"/>
              </a:spcBef>
              <a:spcAft>
                <a:spcPts val="600"/>
              </a:spcAft>
            </a:pPr>
            <a:r>
              <a:rPr sz="1300" b="0">
                <a:solidFill>
                  <a:srgbClr val="CCCCCC"/>
                </a:solidFill>
                <a:latin typeface="Calibri"/>
              </a:rPr>
              <a:t>•  FY2025 revenue: $1.49M — first profitable year (operating income $254K, 17%; net income $191K)</a:t>
            </a:r>
          </a:p>
          <a:p>
            <a:pPr algn="l">
              <a:spcBef>
                <a:spcPts val="0"/>
              </a:spcBef>
              <a:spcAft>
                <a:spcPts val="600"/>
              </a:spcAft>
            </a:pPr>
            <a:r>
              <a:rPr sz="1300" b="0">
                <a:solidFill>
                  <a:srgbClr val="CCCCCC"/>
                </a:solidFill>
                <a:latin typeface="Calibri"/>
              </a:rPr>
              <a:t>•  History: $0.19M (2022) → $0.31M → $0.62M → $1.49M; ~100% 3-yr CAGR</a:t>
            </a:r>
          </a:p>
          <a:p>
            <a:r>
              <a:rPr sz="1300"/>
              <a:t>•  ~$6.2M NOL carryforward (2025 Form 1120)</a:t>
            </a:r>
          </a:p>
        </p:txBody>
      </p:sp>
      <p:sp>
        <p:nvSpPr>
          <p:cNvPr id="9" name="TextBox 8"/>
          <p:cNvSpPr txBox="1"/>
          <p:nvPr/>
        </p:nvSpPr>
        <p:spPr>
          <a:xfrm>
            <a:off x="640080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GOVERNMENT PIPELINE</a:t>
            </a:r>
          </a:p>
        </p:txBody>
      </p:sp>
      <p:sp>
        <p:nvSpPr>
          <p:cNvPr id="10" name="TextBox 9"/>
          <p:cNvSpPr txBox="1"/>
          <p:nvPr/>
        </p:nvSpPr>
        <p:spPr>
          <a:xfrm>
            <a:off x="640080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USAF SBIR Phase II — HVRR-RDRE (FA9300-25-C-6022)</a:t>
            </a:r>
          </a:p>
          <a:p>
            <a:pPr algn="l">
              <a:spcBef>
                <a:spcPts val="0"/>
              </a:spcBef>
              <a:spcAft>
                <a:spcPts val="600"/>
              </a:spcAft>
            </a:pPr>
            <a:r>
              <a:rPr sz="1300" b="0">
                <a:solidFill>
                  <a:srgbClr val="CCCCCC"/>
                </a:solidFill>
                <a:latin typeface="Calibri"/>
              </a:rPr>
              <a:t>•  TACFI ($4M) — RDRE development; award pending, not in base case</a:t>
            </a:r>
          </a:p>
          <a:p>
            <a:pPr algn="l">
              <a:spcBef>
                <a:spcPts val="0"/>
              </a:spcBef>
              <a:spcAft>
                <a:spcPts val="600"/>
              </a:spcAft>
            </a:pPr>
            <a:r>
              <a:rPr sz="1300" b="0">
                <a:solidFill>
                  <a:srgbClr val="CCCCCC"/>
                </a:solidFill>
                <a:latin typeface="Calibri"/>
              </a:rPr>
              <a:t>•  Active NASA relationships via Scorpius heritage</a:t>
            </a:r>
          </a:p>
        </p:txBody>
      </p:sp>
      <p:sp>
        <p:nvSpPr>
          <p:cNvPr id="11" name="TextBox 10"/>
          <p:cNvSpPr txBox="1"/>
          <p:nvPr/>
        </p:nvSpPr>
        <p:spPr>
          <a:xfrm>
            <a:off x="731520" y="5943600"/>
            <a:ext cx="10058400" cy="365760"/>
          </a:xfrm>
          <a:prstGeom prst="rect">
            <a:avLst/>
          </a:prstGeom>
          <a:noFill/>
        </p:spPr>
        <p:txBody>
          <a:bodyPr wrap="square">
            <a:spAutoFit/>
          </a:bodyPr>
          <a:lstStyle/>
          <a:p>
            <a:pPr algn="l">
              <a:spcAft>
                <a:spcPts val="400"/>
              </a:spcAft>
            </a:pPr>
            <a:r>
              <a:rPr sz="1000" b="0" i="1">
                <a:solidFill>
                  <a:srgbClr val="999999"/>
                </a:solidFill>
                <a:latin typeface="Calibri"/>
              </a:rPr>
              <a:t>QuickBooks (accrual, unaudited); EBITDA = operating income + net interest; YTD net income is before 2026 depreciation (booked at year-end). FY2025 net income: Form 1120 $187,861 vs. QuickBooks $190,855 — CFO reconciling.</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SCALING — PROJECTED</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Contracted backbone → ~$121.6M by Y5 (conservative Cash Flow case)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31520" y="1737360"/>
          <a:ext cx="10515600" cy="25603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65760">
                <a:tc>
                  <a:txBody>
                    <a:bodyPr/>
                    <a:lstStyle/>
                    <a:p>
                      <a:r>
                        <a:rPr sz="1100" b="1">
                          <a:solidFill>
                            <a:srgbClr val="009ED9"/>
                          </a:solidFill>
                          <a:latin typeface="Calibri"/>
                        </a:rPr>
                        <a:t>Year</a:t>
                      </a:r>
                    </a:p>
                  </a:txBody>
                  <a:tcPr>
                    <a:solidFill>
                      <a:srgbClr val="0A142A"/>
                    </a:solidFill>
                  </a:tcPr>
                </a:tc>
                <a:tc>
                  <a:txBody>
                    <a:bodyPr/>
                    <a:lstStyle/>
                    <a:p>
                      <a:r>
                        <a:rPr sz="1100" b="1">
                          <a:solidFill>
                            <a:srgbClr val="009ED9"/>
                          </a:solidFill>
                          <a:latin typeface="Calibri"/>
                        </a:rPr>
                        <a:t>Revenue</a:t>
                      </a:r>
                    </a:p>
                  </a:txBody>
                  <a:tcPr>
                    <a:solidFill>
                      <a:srgbClr val="0A142A"/>
                    </a:solidFill>
                  </a:tcPr>
                </a:tc>
                <a:tc>
                  <a:txBody>
                    <a:bodyPr/>
                    <a:lstStyle/>
                    <a:p>
                      <a:r>
                        <a:rPr sz="1100" b="1">
                          <a:solidFill>
                            <a:srgbClr val="009ED9"/>
                          </a:solidFill>
                          <a:latin typeface="Calibri"/>
                        </a:rPr>
                        <a:t>YoY</a:t>
                      </a:r>
                    </a:p>
                  </a:txBody>
                  <a:tcPr>
                    <a:solidFill>
                      <a:srgbClr val="0A142A"/>
                    </a:solidFill>
                  </a:tcPr>
                </a:tc>
                <a:tc>
                  <a:txBody>
                    <a:bodyPr/>
                    <a:lstStyle/>
                    <a:p>
                      <a:r>
                        <a:rPr sz="1100" b="1">
                          <a:solidFill>
                            <a:srgbClr val="009ED9"/>
                          </a:solidFill>
                          <a:latin typeface="Calibri"/>
                        </a:rPr>
                        <a:t>EBITDA</a:t>
                      </a:r>
                    </a:p>
                  </a:txBody>
                  <a:tcPr>
                    <a:solidFill>
                      <a:srgbClr val="0A142A"/>
                    </a:solidFill>
                  </a:tcPr>
                </a:tc>
                <a:tc>
                  <a:txBody>
                    <a:bodyPr/>
                    <a:lstStyle/>
                    <a:p>
                      <a:r>
                        <a:rPr sz="1100" b="1">
                          <a:solidFill>
                            <a:srgbClr val="009ED9"/>
                          </a:solidFill>
                          <a:latin typeface="Calibri"/>
                        </a:rPr>
                        <a:t>EBITDA Margin</a:t>
                      </a:r>
                    </a:p>
                  </a:txBody>
                  <a:tcPr>
                    <a:solidFill>
                      <a:srgbClr val="0A142A"/>
                    </a:solidFill>
                  </a:tcPr>
                </a:tc>
                <a:tc>
                  <a:txBody>
                    <a:bodyPr/>
                    <a:lstStyle/>
                    <a:p>
                      <a:r>
                        <a:rPr sz="1100" b="1">
                          <a:solidFill>
                            <a:srgbClr val="009ED9"/>
                          </a:solidFill>
                          <a:latin typeface="Calibri"/>
                        </a:rPr>
                        <a:t>Free Cash Flow</a:t>
                      </a:r>
                    </a:p>
                  </a:txBody>
                  <a:tcPr>
                    <a:solidFill>
                      <a:srgbClr val="0A142A"/>
                    </a:solidFill>
                  </a:tcPr>
                </a:tc>
                <a:tc>
                  <a:txBody>
                    <a:bodyPr/>
                    <a:lstStyle/>
                    <a:p>
                      <a:r>
                        <a:rPr sz="1100" b="1">
                          <a:solidFill>
                            <a:srgbClr val="009ED9"/>
                          </a:solidFill>
                          <a:latin typeface="Calibri"/>
                        </a:rPr>
                        <a:t>Basis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2025A</a:t>
                      </a:r>
                    </a:p>
                  </a:txBody>
                  <a:tcPr>
                    <a:solidFill>
                      <a:srgbClr val="0D1220"/>
                    </a:solidFill>
                  </a:tcPr>
                </a:tc>
                <a:tc>
                  <a:txBody>
                    <a:bodyPr/>
                    <a:lstStyle/>
                    <a:p>
                      <a:r>
                        <a:rPr sz="1100">
                          <a:solidFill>
                            <a:srgbClr val="FFFFFF"/>
                          </a:solidFill>
                          <a:latin typeface="Calibri"/>
                        </a:rPr>
                        <a:t>$1.49M</a:t>
                      </a:r>
                    </a:p>
                  </a:txBody>
                  <a:tcPr>
                    <a:solidFill>
                      <a:srgbClr val="0D1220"/>
                    </a:solidFill>
                  </a:tcPr>
                </a:tc>
                <a:tc>
                  <a:txBody>
                    <a:bodyPr/>
                    <a:lstStyle/>
                    <a:p>
                      <a:r>
                        <a:rPr sz="1100">
                          <a:solidFill>
                            <a:srgbClr val="FFFFFF"/>
                          </a:solidFill>
                          <a:latin typeface="Calibri"/>
                        </a:rPr>
                        <a:t>140%</a:t>
                      </a:r>
                    </a:p>
                  </a:txBody>
                  <a:tcPr>
                    <a:solidFill>
                      <a:srgbClr val="0D1220"/>
                    </a:solidFill>
                  </a:tcPr>
                </a:tc>
                <a:tc>
                  <a:txBody>
                    <a:bodyPr/>
                    <a:lstStyle/>
                    <a:p>
                      <a:r>
                        <a:rPr sz="1100">
                          <a:solidFill>
                            <a:srgbClr val="FFFFFF"/>
                          </a:solidFill>
                          <a:latin typeface="Calibri"/>
                        </a:rPr>
                        <a:t>$254K*</a:t>
                      </a:r>
                    </a:p>
                  </a:txBody>
                  <a:tcPr>
                    <a:solidFill>
                      <a:srgbClr val="0D1220"/>
                    </a:solidFill>
                  </a:tcPr>
                </a:tc>
                <a:tc>
                  <a:txBody>
                    <a:bodyPr/>
                    <a:lstStyle/>
                    <a:p>
                      <a:r>
                        <a:rPr sz="1100">
                          <a:solidFill>
                            <a:srgbClr val="FFFFFF"/>
                          </a:solidFill>
                          <a:latin typeface="Calibri"/>
                        </a:rPr>
                        <a:t>17%</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QuickBooks</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2026 YTD (Jan–Sep)</a:t>
                      </a:r>
                    </a:p>
                  </a:txBody>
                  <a:tcPr>
                    <a:solidFill>
                      <a:srgbClr val="101626"/>
                    </a:solidFill>
                  </a:tcPr>
                </a:tc>
                <a:tc>
                  <a:txBody>
                    <a:bodyPr/>
                    <a:lstStyle/>
                    <a:p>
                      <a:r>
                        <a:rPr sz="1100">
                          <a:solidFill>
                            <a:srgbClr val="FFFFFF"/>
                          </a:solidFill>
                          <a:latin typeface="Calibri"/>
                        </a:rPr>
                        <a:t>$1.58M</a:t>
                      </a:r>
                    </a:p>
                  </a:txBody>
                  <a:tcPr>
                    <a:solidFill>
                      <a:srgbClr val="101626"/>
                    </a:solidFill>
                  </a:tcPr>
                </a:tc>
                <a:tc>
                  <a:txBody>
                    <a:bodyPr/>
                    <a:lstStyle/>
                    <a:p>
                      <a:r>
                        <a:rPr sz="1100">
                          <a:solidFill>
                            <a:srgbClr val="FFFFFF"/>
                          </a:solidFill>
                          <a:latin typeface="Calibri"/>
                        </a:rPr>
                        <a:t>+168%</a:t>
                      </a:r>
                    </a:p>
                  </a:txBody>
                  <a:tcPr>
                    <a:solidFill>
                      <a:srgbClr val="101626"/>
                    </a:solidFill>
                  </a:tcPr>
                </a:tc>
                <a:tc>
                  <a:txBody>
                    <a:bodyPr/>
                    <a:lstStyle/>
                    <a:p>
                      <a:r>
                        <a:rPr sz="1100">
                          <a:solidFill>
                            <a:srgbClr val="FFFFFF"/>
                          </a:solidFill>
                          <a:latin typeface="Calibri"/>
                        </a:rPr>
                        <a:t>$278K</a:t>
                      </a:r>
                    </a:p>
                  </a:txBody>
                  <a:tcPr>
                    <a:solidFill>
                      <a:srgbClr val="101626"/>
                    </a:solidFill>
                  </a:tcPr>
                </a:tc>
                <a:tc>
                  <a:txBody>
                    <a:bodyPr/>
                    <a:lstStyle/>
                    <a:p>
                      <a:r>
                        <a:rPr sz="1100">
                          <a:solidFill>
                            <a:srgbClr val="FFFFFF"/>
                          </a:solidFill>
                          <a:latin typeface="Calibri"/>
                        </a:rPr>
                        <a:t>18%</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QuickBooks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Y1 (FY27)</a:t>
                      </a:r>
                    </a:p>
                  </a:txBody>
                  <a:tcPr>
                    <a:solidFill>
                      <a:srgbClr val="0D1220"/>
                    </a:solidFill>
                  </a:tcPr>
                </a:tc>
                <a:tc>
                  <a:txBody>
                    <a:bodyPr/>
                    <a:lstStyle/>
                    <a:p>
                      <a:r>
                        <a:rPr sz="1100">
                          <a:solidFill>
                            <a:srgbClr val="FFFFFF"/>
                          </a:solidFill>
                          <a:latin typeface="Calibri"/>
                        </a:rPr>
                        <a:t>$9.1M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$1.3M</a:t>
                      </a:r>
                    </a:p>
                  </a:txBody>
                  <a:tcPr>
                    <a:solidFill>
                      <a:srgbClr val="0D1220"/>
                    </a:solidFill>
                  </a:tcPr>
                </a:tc>
                <a:tc>
                  <a:txBody>
                    <a:bodyPr/>
                    <a:lstStyle/>
                    <a:p>
                      <a:r>
                        <a:rPr sz="1100">
                          <a:solidFill>
                            <a:srgbClr val="FFFFFF"/>
                          </a:solidFill>
                          <a:latin typeface="Calibri"/>
                        </a:rPr>
                        <a:t>15%</a:t>
                      </a:r>
                    </a:p>
                  </a:txBody>
                  <a:tcPr>
                    <a:solidFill>
                      <a:srgbClr val="0D1220"/>
                    </a:solidFill>
                  </a:tcPr>
                </a:tc>
                <a:tc>
                  <a:txBody>
                    <a:bodyPr/>
                    <a:lstStyle/>
                    <a:p>
                      <a:r>
                        <a:rPr sz="1100">
                          <a:solidFill>
                            <a:srgbClr val="FFFFFF"/>
                          </a:solidFill>
                          <a:latin typeface="Calibri"/>
                        </a:rPr>
                        <a:t>($1.5M)</a:t>
                      </a:r>
                    </a:p>
                  </a:txBody>
                  <a:tcPr>
                    <a:solidFill>
                      <a:srgbClr val="0D1220"/>
                    </a:solidFill>
                  </a:tcPr>
                </a:tc>
                <a:tc>
                  <a:txBody>
                    <a:bodyPr/>
                    <a:lstStyle/>
                    <a:p>
                      <a:r>
                        <a:rPr sz="1100">
                          <a:solidFill>
                            <a:srgbClr val="FFFFFF"/>
                          </a:solidFill>
                          <a:latin typeface="Calibri"/>
                        </a:rPr>
                        <a:t>Model v12</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Y2 (FY28)</a:t>
                      </a:r>
                    </a:p>
                  </a:txBody>
                  <a:tcPr>
                    <a:solidFill>
                      <a:srgbClr val="101626"/>
                    </a:solidFill>
                  </a:tcPr>
                </a:tc>
                <a:tc>
                  <a:txBody>
                    <a:bodyPr/>
                    <a:lstStyle/>
                    <a:p>
                      <a:r>
                        <a:rPr sz="1100">
                          <a:solidFill>
                            <a:srgbClr val="FFFFFF"/>
                          </a:solidFill>
                          <a:latin typeface="Calibri"/>
                        </a:rPr>
                        <a:t>$21.1M</a:t>
                      </a:r>
                    </a:p>
                  </a:txBody>
                  <a:tcPr>
                    <a:solidFill>
                      <a:srgbClr val="101626"/>
                    </a:solidFill>
                  </a:tcPr>
                </a:tc>
                <a:tc>
                  <a:txBody>
                    <a:bodyPr/>
                    <a:lstStyle/>
                    <a:p>
                      <a:r>
                        <a:rPr sz="1100">
                          <a:solidFill>
                            <a:srgbClr val="FFFFFF"/>
                          </a:solidFill>
                          <a:latin typeface="Calibri"/>
                        </a:rPr>
                        <a:t>133%</a:t>
                      </a:r>
                    </a:p>
                  </a:txBody>
                  <a:tcPr>
                    <a:solidFill>
                      <a:srgbClr val="101626"/>
                    </a:solidFill>
                  </a:tcPr>
                </a:tc>
                <a:tc>
                  <a:txBody>
                    <a:bodyPr/>
                    <a:lstStyle/>
                    <a:p>
                      <a:r>
                        <a:rPr sz="1100">
                          <a:solidFill>
                            <a:srgbClr val="FFFFFF"/>
                          </a:solidFill>
                          <a:latin typeface="Calibri"/>
                        </a:rPr>
                        <a:t>$5.4M</a:t>
                      </a:r>
                    </a:p>
                  </a:txBody>
                  <a:tcPr>
                    <a:solidFill>
                      <a:srgbClr val="101626"/>
                    </a:solidFill>
                  </a:tcPr>
                </a:tc>
                <a:tc>
                  <a:txBody>
                    <a:bodyPr/>
                    <a:lstStyle/>
                    <a:p>
                      <a:r>
                        <a:rPr sz="1100">
                          <a:solidFill>
                            <a:srgbClr val="FFFFFF"/>
                          </a:solidFill>
                          <a:latin typeface="Calibri"/>
                        </a:rPr>
                        <a:t>26%</a:t>
                      </a:r>
                    </a:p>
                  </a:txBody>
                  <a:tcPr>
                    <a:solidFill>
                      <a:srgbClr val="101626"/>
                    </a:solidFill>
                  </a:tcPr>
                </a:tc>
                <a:tc>
                  <a:txBody>
                    <a:bodyPr/>
                    <a:lstStyle/>
                    <a:p>
                      <a:r>
                        <a:rPr sz="1100">
                          <a:solidFill>
                            <a:srgbClr val="FFFFFF"/>
                          </a:solidFill>
                          <a:latin typeface="Calibri"/>
                        </a:rPr>
                        <a:t>($0.9M)</a:t>
                      </a:r>
                    </a:p>
                  </a:txBody>
                  <a:tcPr>
                    <a:solidFill>
                      <a:srgbClr val="101626"/>
                    </a:solidFill>
                  </a:tcPr>
                </a:tc>
                <a:tc>
                  <a:txBody>
                    <a:bodyPr/>
                    <a:lstStyle/>
                    <a:p>
                      <a:r>
                        <a:rPr sz="1100">
                          <a:solidFill>
                            <a:srgbClr val="FFFFFF"/>
                          </a:solidFill>
                          <a:latin typeface="Calibri"/>
                        </a:rPr>
                        <a:t>Model v12</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Y3 (FY29)</a:t>
                      </a:r>
                    </a:p>
                  </a:txBody>
                  <a:tcPr>
                    <a:solidFill>
                      <a:srgbClr val="0D1220"/>
                    </a:solidFill>
                  </a:tcPr>
                </a:tc>
                <a:tc>
                  <a:txBody>
                    <a:bodyPr/>
                    <a:lstStyle/>
                    <a:p>
                      <a:r>
                        <a:rPr sz="1100">
                          <a:solidFill>
                            <a:srgbClr val="FFFFFF"/>
                          </a:solidFill>
                          <a:latin typeface="Calibri"/>
                        </a:rPr>
                        <a:t>$37.5M</a:t>
                      </a:r>
                    </a:p>
                  </a:txBody>
                  <a:tcPr>
                    <a:solidFill>
                      <a:srgbClr val="0D1220"/>
                    </a:solidFill>
                  </a:tcPr>
                </a:tc>
                <a:tc>
                  <a:txBody>
                    <a:bodyPr/>
                    <a:lstStyle/>
                    <a:p>
                      <a:r>
                        <a:rPr sz="1100">
                          <a:solidFill>
                            <a:srgbClr val="FFFFFF"/>
                          </a:solidFill>
                          <a:latin typeface="Calibri"/>
                        </a:rPr>
                        <a:t>78%</a:t>
                      </a:r>
                    </a:p>
                  </a:txBody>
                  <a:tcPr>
                    <a:solidFill>
                      <a:srgbClr val="0D1220"/>
                    </a:solidFill>
                  </a:tcPr>
                </a:tc>
                <a:tc>
                  <a:txBody>
                    <a:bodyPr/>
                    <a:lstStyle/>
                    <a:p>
                      <a:r>
                        <a:rPr sz="1100">
                          <a:solidFill>
                            <a:srgbClr val="FFFFFF"/>
                          </a:solidFill>
                          <a:latin typeface="Calibri"/>
                        </a:rPr>
                        <a:t>$11.8M</a:t>
                      </a:r>
                    </a:p>
                  </a:txBody>
                  <a:tcPr>
                    <a:solidFill>
                      <a:srgbClr val="0D1220"/>
                    </a:solidFill>
                  </a:tcPr>
                </a:tc>
                <a:tc>
                  <a:txBody>
                    <a:bodyPr/>
                    <a:lstStyle/>
                    <a:p>
                      <a:r>
                        <a:rPr sz="1100">
                          <a:solidFill>
                            <a:srgbClr val="FFFFFF"/>
                          </a:solidFill>
                          <a:latin typeface="Calibri"/>
                        </a:rPr>
                        <a:t>32%</a:t>
                      </a:r>
                    </a:p>
                  </a:txBody>
                  <a:tcPr>
                    <a:solidFill>
                      <a:srgbClr val="0D1220"/>
                    </a:solidFill>
                  </a:tcPr>
                </a:tc>
                <a:tc>
                  <a:txBody>
                    <a:bodyPr/>
                    <a:lstStyle/>
                    <a:p>
                      <a:r>
                        <a:rPr sz="1100">
                          <a:solidFill>
                            <a:srgbClr val="FFFFFF"/>
                          </a:solidFill>
                          <a:latin typeface="Calibri"/>
                        </a:rPr>
                        <a:t>$9.3M</a:t>
                      </a:r>
                    </a:p>
                  </a:txBody>
                  <a:tcPr>
                    <a:solidFill>
                      <a:srgbClr val="0D1220"/>
                    </a:solidFill>
                  </a:tcPr>
                </a:tc>
                <a:tc>
                  <a:txBody>
                    <a:bodyPr/>
                    <a:lstStyle/>
                    <a:p>
                      <a:r>
                        <a:rPr sz="1100">
                          <a:solidFill>
                            <a:srgbClr val="FFFFFF"/>
                          </a:solidFill>
                          <a:latin typeface="Calibri"/>
                        </a:rPr>
                        <a:t>Model v12</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Y4 (FY30)</a:t>
                      </a:r>
                    </a:p>
                  </a:txBody>
                  <a:tcPr>
                    <a:solidFill>
                      <a:srgbClr val="101626"/>
                    </a:solidFill>
                  </a:tcPr>
                </a:tc>
                <a:tc>
                  <a:txBody>
                    <a:bodyPr/>
                    <a:lstStyle/>
                    <a:p>
                      <a:r>
                        <a:rPr sz="1100">
                          <a:solidFill>
                            <a:srgbClr val="FFFFFF"/>
                          </a:solidFill>
                          <a:latin typeface="Calibri"/>
                        </a:rPr>
                        <a:t>$61.6M</a:t>
                      </a:r>
                    </a:p>
                  </a:txBody>
                  <a:tcPr>
                    <a:solidFill>
                      <a:srgbClr val="101626"/>
                    </a:solidFill>
                  </a:tcPr>
                </a:tc>
                <a:tc>
                  <a:txBody>
                    <a:bodyPr/>
                    <a:lstStyle/>
                    <a:p>
                      <a:r>
                        <a:rPr sz="1100">
                          <a:solidFill>
                            <a:srgbClr val="FFFFFF"/>
                          </a:solidFill>
                          <a:latin typeface="Calibri"/>
                        </a:rPr>
                        <a:t>64%</a:t>
                      </a:r>
                    </a:p>
                  </a:txBody>
                  <a:tcPr>
                    <a:solidFill>
                      <a:srgbClr val="101626"/>
                    </a:solidFill>
                  </a:tcPr>
                </a:tc>
                <a:tc>
                  <a:txBody>
                    <a:bodyPr/>
                    <a:lstStyle/>
                    <a:p>
                      <a:r>
                        <a:rPr sz="1100">
                          <a:solidFill>
                            <a:srgbClr val="FFFFFF"/>
                          </a:solidFill>
                          <a:latin typeface="Calibri"/>
                        </a:rPr>
                        <a:t>$19.6M</a:t>
                      </a:r>
                    </a:p>
                  </a:txBody>
                  <a:tcPr>
                    <a:solidFill>
                      <a:srgbClr val="101626"/>
                    </a:solidFill>
                  </a:tcPr>
                </a:tc>
                <a:tc>
                  <a:txBody>
                    <a:bodyPr/>
                    <a:lstStyle/>
                    <a:p>
                      <a:r>
                        <a:rPr sz="1100">
                          <a:solidFill>
                            <a:srgbClr val="FFFFFF"/>
                          </a:solidFill>
                          <a:latin typeface="Calibri"/>
                        </a:rPr>
                        <a:t>32%</a:t>
                      </a:r>
                    </a:p>
                  </a:txBody>
                  <a:tcPr>
                    <a:solidFill>
                      <a:srgbClr val="101626"/>
                    </a:solidFill>
                  </a:tcPr>
                </a:tc>
                <a:tc>
                  <a:txBody>
                    <a:bodyPr/>
                    <a:lstStyle/>
                    <a:p>
                      <a:r>
                        <a:rPr sz="1100">
                          <a:solidFill>
                            <a:srgbClr val="FFFFFF"/>
                          </a:solidFill>
                          <a:latin typeface="Calibri"/>
                        </a:rPr>
                        <a:t>$8.0M</a:t>
                      </a:r>
                    </a:p>
                  </a:txBody>
                  <a:tcPr>
                    <a:solidFill>
                      <a:srgbClr val="101626"/>
                    </a:solidFill>
                  </a:tcPr>
                </a:tc>
                <a:tc>
                  <a:txBody>
                    <a:bodyPr/>
                    <a:lstStyle/>
                    <a:p>
                      <a:r>
                        <a:rPr sz="1100">
                          <a:solidFill>
                            <a:srgbClr val="FFFFFF"/>
                          </a:solidFill>
                          <a:latin typeface="Calibri"/>
                        </a:rPr>
                        <a:t>Model v12</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Y5 (FY31)</a:t>
                      </a:r>
                    </a:p>
                  </a:txBody>
                  <a:tcPr>
                    <a:solidFill>
                      <a:srgbClr val="101626"/>
                    </a:solidFill>
                  </a:tcPr>
                </a:tc>
                <a:tc>
                  <a:txBody>
                    <a:bodyPr/>
                    <a:lstStyle/>
                    <a:p>
                      <a:r>
                        <a:rPr sz="1100">
                          <a:solidFill>
                            <a:srgbClr val="FFFFFF"/>
                          </a:solidFill>
                          <a:latin typeface="Calibri"/>
                        </a:rPr>
                        <a:t>$121.6M</a:t>
                      </a:r>
                    </a:p>
                  </a:txBody>
                  <a:tcPr>
                    <a:solidFill>
                      <a:srgbClr val="101626"/>
                    </a:solidFill>
                  </a:tcPr>
                </a:tc>
                <a:tc>
                  <a:txBody>
                    <a:bodyPr/>
                    <a:lstStyle/>
                    <a:p>
                      <a:r>
                        <a:rPr sz="1100">
                          <a:solidFill>
                            <a:srgbClr val="FFFFFF"/>
                          </a:solidFill>
                          <a:latin typeface="Calibri"/>
                        </a:rPr>
                        <a:t>98%</a:t>
                      </a:r>
                    </a:p>
                  </a:txBody>
                  <a:tcPr>
                    <a:solidFill>
                      <a:srgbClr val="101626"/>
                    </a:solidFill>
                  </a:tcPr>
                </a:tc>
                <a:tc>
                  <a:txBody>
                    <a:bodyPr/>
                    <a:lstStyle/>
                    <a:p>
                      <a:r>
                        <a:rPr sz="1100">
                          <a:solidFill>
                            <a:srgbClr val="FFFFFF"/>
                          </a:solidFill>
                          <a:latin typeface="Calibri"/>
                        </a:rPr>
                        <a:t>$49.5M</a:t>
                      </a:r>
                    </a:p>
                  </a:txBody>
                  <a:tcPr>
                    <a:solidFill>
                      <a:srgbClr val="101626"/>
                    </a:solidFill>
                  </a:tcPr>
                </a:tc>
                <a:tc>
                  <a:txBody>
                    <a:bodyPr/>
                    <a:lstStyle/>
                    <a:p>
                      <a:r>
                        <a:rPr sz="1100">
                          <a:solidFill>
                            <a:srgbClr val="FFFFFF"/>
                          </a:solidFill>
                          <a:latin typeface="Calibri"/>
                        </a:rPr>
                        <a:t>41%</a:t>
                      </a:r>
                    </a:p>
                  </a:txBody>
                  <a:tcPr>
                    <a:solidFill>
                      <a:srgbClr val="101626"/>
                    </a:solidFill>
                  </a:tcPr>
                </a:tc>
                <a:tc>
                  <a:txBody>
                    <a:bodyPr/>
                    <a:lstStyle/>
                    <a:p>
                      <a:r>
                        <a:rPr sz="1100">
                          <a:solidFill>
                            <a:srgbClr val="FFFFFF"/>
                          </a:solidFill>
                          <a:latin typeface="Calibri"/>
                        </a:rPr>
                        <a:t>$32.9M</a:t>
                      </a:r>
                    </a:p>
                  </a:txBody>
                  <a:tcPr>
                    <a:solidFill>
                      <a:srgbClr val="101626"/>
                    </a:solidFill>
                  </a:tcPr>
                </a:tc>
                <a:tc>
                  <a:txBody>
                    <a:bodyPr/>
                    <a:lstStyle/>
                    <a:p>
                      <a:r>
                        <a:rPr sz="1100">
                          <a:solidFill>
                            <a:srgbClr val="FFFFFF"/>
                          </a:solidFill>
                          <a:latin typeface="Calibri"/>
                        </a:rPr>
                        <a:t>Model v12</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754880"/>
            <a:ext cx="5029200" cy="365760"/>
          </a:xfrm>
          <a:prstGeom prst="rect">
            <a:avLst/>
          </a:prstGeom>
          <a:noFill/>
        </p:spPr>
        <p:txBody>
          <a:bodyPr wrap="square">
            <a:spAutoFit/>
          </a:bodyPr>
          <a:lstStyle/>
          <a:p>
            <a:pPr algn="l">
              <a:spcAft>
                <a:spcPts val="400"/>
              </a:spcAft>
            </a:pPr>
            <a:r>
              <a:rPr sz="1400" b="1">
                <a:solidFill>
                  <a:srgbClr val="FFB800"/>
                </a:solidFill>
                <a:latin typeface="Calibri"/>
              </a:rPr>
              <a:t>UNIT ECONOMICS</a:t>
            </a:r>
          </a:p>
        </p:txBody>
      </p:sp>
      <p:sp>
        <p:nvSpPr>
          <p:cNvPr id="9" name="TextBox 8"/>
          <p:cNvSpPr txBox="1"/>
          <p:nvPr/>
        </p:nvSpPr>
        <p:spPr>
          <a:xfrm>
            <a:off x="731520" y="5120640"/>
            <a:ext cx="5029200" cy="1828800"/>
          </a:xfrm>
          <a:prstGeom prst="rect">
            <a:avLst/>
          </a:prstGeom>
          <a:noFill/>
        </p:spPr>
        <p:txBody>
          <a:bodyPr wrap="square">
            <a:spAutoFit/>
          </a:bodyPr>
          <a:lstStyle/>
          <a:p>
            <a:pPr algn="l">
              <a:spcBef>
                <a:spcPts val="0"/>
              </a:spcBef>
              <a:spcAft>
                <a:spcPts val="400"/>
              </a:spcAft>
            </a:pPr>
            <a:r>
              <a:rPr sz="1200" b="0">
                <a:solidFill>
                  <a:srgbClr val="CCCCCC"/>
                </a:solidFill>
                <a:latin typeface="Calibri"/>
              </a:rPr>
              <a:t>•  Future BLK4 sale (gated orbital path): $6M/unit, 50%+ gross margin</a:t>
            </a:r>
          </a:p>
          <a:p>
            <a:pPr algn="l">
              <a:spcBef>
                <a:spcPts val="0"/>
              </a:spcBef>
              <a:spcAft>
                <a:spcPts val="400"/>
              </a:spcAft>
            </a:pPr>
            <a:r>
              <a:rPr sz="1200" b="0">
                <a:solidFill>
                  <a:srgbClr val="CCCCCC"/>
                </a:solidFill>
                <a:latin typeface="Calibri"/>
              </a:rPr>
              <a:t>•  BLK4 wet-lease flight: $3.75M/flight, 60%+ margin</a:t>
            </a:r>
          </a:p>
          <a:p>
            <a:pPr algn="l">
              <a:spcBef>
                <a:spcPts val="0"/>
              </a:spcBef>
              <a:spcAft>
                <a:spcPts val="400"/>
              </a:spcAft>
            </a:pPr>
            <a:r>
              <a:rPr sz="1200" b="0">
                <a:solidFill>
                  <a:srgbClr val="CCCCCC"/>
                </a:solidFill>
                <a:latin typeface="Calibri"/>
              </a:rPr>
              <a:t>•  Tank manufacturing: $200K–$1M/unit, 45%+ margin</a:t>
            </a:r>
          </a:p>
          <a:p>
            <a:pPr algn="l">
              <a:spcBef>
                <a:spcPts val="0"/>
              </a:spcBef>
              <a:spcAft>
                <a:spcPts val="400"/>
              </a:spcAft>
            </a:pPr>
            <a:r>
              <a:rPr sz="1200" b="0">
                <a:solidFill>
                  <a:srgbClr val="CCCCCC"/>
                </a:solidFill>
                <a:latin typeface="Calibri"/>
              </a:rPr>
              <a:t>•  TACFI (if awarded): 30% margin (70% COGS for gov't dev)</a:t>
            </a:r>
          </a:p>
          <a:p>
            <a:pPr algn="l">
              <a:spcBef>
                <a:spcPts val="0"/>
              </a:spcBef>
              <a:spcAft>
                <a:spcPts val="400"/>
              </a:spcAft>
            </a:pPr>
            <a:r>
              <a:rPr sz="1200" b="0">
                <a:solidFill>
                  <a:srgbClr val="CCCCCC"/>
                </a:solidFill>
                <a:latin typeface="Calibri"/>
              </a:rPr>
              <a:t>•  Commercialization (M&amp;A / JV / teaming &amp; licensing): partner products &amp; services — $30M over 36 months from Apr 2028 (model assumption)</a:t>
            </a:r>
          </a:p>
        </p:txBody>
      </p:sp>
      <p:sp>
        <p:nvSpPr>
          <p:cNvPr id="10" name="TextBox 9"/>
          <p:cNvSpPr txBox="1"/>
          <p:nvPr/>
        </p:nvSpPr>
        <p:spPr>
          <a:xfrm>
            <a:off x="731520" y="6217920"/>
            <a:ext cx="10058400" cy="274320"/>
          </a:xfrm>
          <a:prstGeom prst="rect">
            <a:avLst/>
          </a:prstGeom>
          <a:noFill/>
        </p:spPr>
        <p:txBody>
          <a:bodyPr wrap="square">
            <a:spAutoFit/>
          </a:bodyPr>
          <a:lstStyle/>
          <a:p>
            <a:pPr algn="l">
              <a:spcAft>
                <a:spcPts val="400"/>
              </a:spcAft>
            </a:pPr>
            <a:r>
              <a:rPr sz="900" b="0" i="1">
                <a:solidFill>
                  <a:srgbClr val="999999"/>
                </a:solidFill>
                <a:latin typeface="Calibri"/>
              </a:rPr>
              <a:t>*2025 = operating income per QuickBooks. Fiscal years Jul–Jun; TACFI, commercialization and entX sit in a separate upside layer, not the base. Historical and 2026 YTD (Jan–Sep) figures per QuickBooks (accrual, unaudited); EBITDA = operating income + net interest; 2026 depreciation is booked at year-end, so YTD net income is before depreciation (EBITDA is unaffected). Projections: management-prepared financial model v12 (rev. 10/17/26), conservative Cash Flow case. FY2025: the filed Form 1120 shows net income $187,861 vs. $190,855 in QuickBooks (revenue agrees); the CFO is reconciling the difference. See disclaimers.</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USE OF FUNDS — THE $215M PLAN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058400" cy="365760"/>
          </a:xfrm>
          <a:prstGeom prst="rect">
            <a:avLst/>
          </a:prstGeom>
          <a:noFill/>
        </p:spPr>
        <p:txBody>
          <a:bodyPr wrap="square">
            <a:spAutoFit/>
          </a:bodyPr>
          <a:lstStyle/>
          <a:p>
            <a:pPr algn="l">
              <a:spcAft>
                <a:spcPts val="400"/>
              </a:spcAft>
            </a:pPr>
            <a:r>
              <a:rPr sz="1800" b="1">
                <a:solidFill>
                  <a:srgbClr val="FFB800"/>
                </a:solidFill>
              </a:rPr>
              <a:t>$215M total — a $10M Series A now, the balance via our public-markets path; deployed over 36 months</a:t>
            </a:r>
          </a:p>
        </p:txBody>
      </p:sp>
      <p:graphicFrame>
        <p:nvGraphicFramePr>
          <p:cNvPr id="7" name="Table 6"/>
          <p:cNvGraphicFramePr>
            <a:graphicFrameLocks noGrp="1"/>
          </p:cNvGraphicFramePr>
          <p:nvPr/>
        </p:nvGraphicFramePr>
        <p:xfrm>
          <a:off x="731520" y="1740000"/>
          <a:ext cx="10515600" cy="18000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00000">
                <a:tc>
                  <a:txBody>
                    <a:bodyPr/>
                    <a:lstStyle/>
                    <a:p>
                      <a:r>
                        <a:rPr sz="1100" b="1">
                          <a:solidFill>
                            <a:srgbClr val="009ED9"/>
                          </a:solidFill>
                          <a:latin typeface="Calibri"/>
                        </a:rPr>
                        <a:t>Allocation</a:t>
                      </a:r>
                    </a:p>
                  </a:txBody>
                  <a:tcPr>
                    <a:solidFill>
                      <a:srgbClr val="0A142A"/>
                    </a:solidFill>
                  </a:tcPr>
                </a:tc>
                <a:tc>
                  <a:txBody>
                    <a:bodyPr/>
                    <a:lstStyle/>
                    <a:p>
                      <a:r>
                        <a:rPr sz="1100" b="1">
                          <a:solidFill>
                            <a:srgbClr val="009ED9"/>
                          </a:solidFill>
                          <a:latin typeface="Calibri"/>
                        </a:rPr>
                        <a:t>Amount</a:t>
                      </a:r>
                    </a:p>
                  </a:txBody>
                  <a:tcPr>
                    <a:solidFill>
                      <a:srgbClr val="0A142A"/>
                    </a:solidFill>
                  </a:tcPr>
                </a:tc>
                <a:tc>
                  <a:txBody>
                    <a:bodyPr/>
                    <a:lstStyle/>
                    <a:p>
                      <a:r>
                        <a:rPr sz="1100" b="1">
                          <a:solidFill>
                            <a:srgbClr val="009ED9"/>
                          </a:solidFill>
                          <a:latin typeface="Calibri"/>
                        </a:rPr>
                        <a:t>Purpose</a:t>
                      </a:r>
                    </a:p>
                  </a:txBody>
                  <a:tcPr>
                    <a:solidFill>
                      <a:srgbClr val="0A142A"/>
                    </a:solidFill>
                  </a:tcPr>
                </a:tc>
                <a:extLst>
                  <a:ext uri="{0D108BD9-81ED-4DB2-BD59-A6C34878D82A}">
                    <a16:rowId xmlns:a16="http://schemas.microsoft.com/office/drawing/2014/main" val="10000"/>
                  </a:ext>
                </a:extLst>
              </a:tr>
              <a:tr h="300000">
                <a:tc>
                  <a:txBody>
                    <a:bodyPr/>
                    <a:lstStyle/>
                    <a:p>
                      <a:r>
                        <a:rPr sz="1100">
                          <a:solidFill>
                            <a:srgbClr val="FFFFFF"/>
                          </a:solidFill>
                          <a:latin typeface="Calibri"/>
                        </a:rPr>
                        <a:t>Series A program</a:t>
                      </a:r>
                    </a:p>
                  </a:txBody>
                  <a:tcPr>
                    <a:solidFill>
                      <a:srgbClr val="0D1220"/>
                    </a:solidFill>
                  </a:tcPr>
                </a:tc>
                <a:tc>
                  <a:txBody>
                    <a:bodyPr/>
                    <a:lstStyle/>
                    <a:p>
                      <a:r>
                        <a:rPr sz="1200">
                          <a:solidFill>
                            <a:srgbClr val="CCCCCC"/>
                          </a:solidFill>
                        </a:rPr>
                        <a:t>$10.0M</a:t>
                      </a:r>
                    </a:p>
                  </a:txBody>
                  <a:tcPr>
                    <a:solidFill>
                      <a:srgbClr val="0D1220"/>
                    </a:solidFill>
                  </a:tcPr>
                </a:tc>
                <a:tc>
                  <a:txBody>
                    <a:bodyPr/>
                    <a:lstStyle/>
                    <a:p>
                      <a:r>
                        <a:rPr sz="1200">
                          <a:solidFill>
                            <a:srgbClr val="CCCCCC"/>
                          </a:solidFill>
                        </a:rPr>
                        <a:t>Scorpius acquisition $3.4M · BLK3 to flight $2.5M · propulsion study $4.1M</a:t>
                      </a:r>
                    </a:p>
                  </a:txBody>
                  <a:tcPr>
                    <a:solidFill>
                      <a:srgbClr val="0D1220"/>
                    </a:solidFill>
                  </a:tcPr>
                </a:tc>
                <a:extLst>
                  <a:ext uri="{0D108BD9-81ED-4DB2-BD59-A6C34878D82A}">
                    <a16:rowId xmlns:a16="http://schemas.microsoft.com/office/drawing/2014/main" val="10001"/>
                  </a:ext>
                </a:extLst>
              </a:tr>
              <a:tr h="300000">
                <a:tc>
                  <a:txBody>
                    <a:bodyPr/>
                    <a:lstStyle/>
                    <a:p>
                      <a:r>
                        <a:rPr sz="1100">
                          <a:solidFill>
                            <a:srgbClr val="FFFFFF"/>
                          </a:solidFill>
                          <a:latin typeface="Calibri"/>
                        </a:rPr>
                        <a:t>Acquisitions / mergers / JVs</a:t>
                      </a:r>
                    </a:p>
                  </a:txBody>
                  <a:tcPr>
                    <a:solidFill>
                      <a:srgbClr val="101626"/>
                    </a:solidFill>
                  </a:tcPr>
                </a:tc>
                <a:tc>
                  <a:txBody>
                    <a:bodyPr/>
                    <a:lstStyle/>
                    <a:p>
                      <a:r>
                        <a:rPr sz="1100">
                          <a:solidFill>
                            <a:srgbClr val="FFFFFF"/>
                          </a:solidFill>
                          <a:latin typeface="Calibri"/>
                        </a:rPr>
                        <a:t>$95.0M</a:t>
                      </a:r>
                    </a:p>
                  </a:txBody>
                  <a:tcPr>
                    <a:solidFill>
                      <a:srgbClr val="101626"/>
                    </a:solidFill>
                  </a:tcPr>
                </a:tc>
                <a:tc>
                  <a:txBody>
                    <a:bodyPr/>
                    <a:lstStyle/>
                    <a:p>
                      <a:r>
                        <a:rPr sz="1100">
                          <a:solidFill>
                            <a:srgbClr val="FFFFFF"/>
                          </a:solidFill>
                          <a:latin typeface="Calibri"/>
                        </a:rPr>
                        <a:t>Consortium partners — resin/composite, tankage, manufacturing capacity</a:t>
                      </a:r>
                    </a:p>
                  </a:txBody>
                  <a:tcPr>
                    <a:solidFill>
                      <a:srgbClr val="101626"/>
                    </a:solidFill>
                  </a:tcPr>
                </a:tc>
                <a:extLst>
                  <a:ext uri="{0D108BD9-81ED-4DB2-BD59-A6C34878D82A}">
                    <a16:rowId xmlns:a16="http://schemas.microsoft.com/office/drawing/2014/main" val="10002"/>
                  </a:ext>
                </a:extLst>
              </a:tr>
              <a:tr h="300000">
                <a:tc>
                  <a:txBody>
                    <a:bodyPr/>
                    <a:lstStyle/>
                    <a:p>
                      <a:r>
                        <a:rPr sz="1100">
                          <a:solidFill>
                            <a:srgbClr val="FFFFFF"/>
                          </a:solidFill>
                          <a:latin typeface="Calibri"/>
                        </a:rPr>
                        <a:t>Mobile industrial-automation robots</a:t>
                      </a:r>
                    </a:p>
                  </a:txBody>
                  <a:tcPr>
                    <a:solidFill>
                      <a:srgbClr val="0D1220"/>
                    </a:solidFill>
                  </a:tcPr>
                </a:tc>
                <a:tc>
                  <a:txBody>
                    <a:bodyPr/>
                    <a:lstStyle/>
                    <a:p>
                      <a:r>
                        <a:rPr sz="1100">
                          <a:solidFill>
                            <a:srgbClr val="FFFFFF"/>
                          </a:solidFill>
                          <a:latin typeface="Calibri"/>
                        </a:rPr>
                        <a:t>$65.0M</a:t>
                      </a:r>
                    </a:p>
                  </a:txBody>
                  <a:tcPr>
                    <a:solidFill>
                      <a:srgbClr val="0D1220"/>
                    </a:solidFill>
                  </a:tcPr>
                </a:tc>
                <a:tc>
                  <a:txBody>
                    <a:bodyPr/>
                    <a:lstStyle/>
                    <a:p>
                      <a:r>
                        <a:rPr sz="1100">
                          <a:solidFill>
                            <a:srgbClr val="FFFFFF"/>
                          </a:solidFill>
                          <a:latin typeface="Calibri"/>
                        </a:rPr>
                        <a:t>Installed at partner facilities to put idle capacity to work</a:t>
                      </a:r>
                    </a:p>
                  </a:txBody>
                  <a:tcPr>
                    <a:solidFill>
                      <a:srgbClr val="0D1220"/>
                    </a:solidFill>
                  </a:tcPr>
                </a:tc>
                <a:extLst>
                  <a:ext uri="{0D108BD9-81ED-4DB2-BD59-A6C34878D82A}">
                    <a16:rowId xmlns:a16="http://schemas.microsoft.com/office/drawing/2014/main" val="10003"/>
                  </a:ext>
                </a:extLst>
              </a:tr>
              <a:tr h="300000">
                <a:tc>
                  <a:txBody>
                    <a:bodyPr/>
                    <a:lstStyle/>
                    <a:p>
                      <a:r>
                        <a:rPr sz="1100">
                          <a:solidFill>
                            <a:srgbClr val="FFFFFF"/>
                          </a:solidFill>
                          <a:latin typeface="Calibri"/>
                        </a:rPr>
                        <a:t>Building (pulled forward from Y4)</a:t>
                      </a:r>
                    </a:p>
                  </a:txBody>
                  <a:tcPr>
                    <a:solidFill>
                      <a:srgbClr val="101626"/>
                    </a:solidFill>
                  </a:tcPr>
                </a:tc>
                <a:tc>
                  <a:txBody>
                    <a:bodyPr/>
                    <a:lstStyle/>
                    <a:p>
                      <a:r>
                        <a:rPr sz="1200">
                          <a:solidFill>
                            <a:srgbClr val="CCCCCC"/>
                          </a:solidFill>
                        </a:rPr>
                        <a:t>$20.0M</a:t>
                      </a:r>
                    </a:p>
                  </a:txBody>
                  <a:tcPr>
                    <a:solidFill>
                      <a:srgbClr val="101626"/>
                    </a:solidFill>
                  </a:tcPr>
                </a:tc>
                <a:tc>
                  <a:txBody>
                    <a:bodyPr/>
                    <a:lstStyle/>
                    <a:p>
                      <a:r>
                        <a:rPr sz="1100">
                          <a:solidFill>
                            <a:srgbClr val="FFFFFF"/>
                          </a:solidFill>
                          <a:latin typeface="Calibri"/>
                        </a:rPr>
                        <a:t>Equity-funded in Y2 instead of debt-financed in Y4</a:t>
                      </a:r>
                    </a:p>
                  </a:txBody>
                  <a:tcPr>
                    <a:solidFill>
                      <a:srgbClr val="101626"/>
                    </a:solidFill>
                  </a:tcPr>
                </a:tc>
                <a:extLst>
                  <a:ext uri="{0D108BD9-81ED-4DB2-BD59-A6C34878D82A}">
                    <a16:rowId xmlns:a16="http://schemas.microsoft.com/office/drawing/2014/main" val="10004"/>
                  </a:ext>
                </a:extLst>
              </a:tr>
              <a:tr h="300000">
                <a:tc>
                  <a:txBody>
                    <a:bodyPr/>
                    <a:lstStyle/>
                    <a:p>
                      <a:r>
                        <a:rPr sz="1100">
                          <a:solidFill>
                            <a:srgbClr val="FFFFFF"/>
                          </a:solidFill>
                          <a:latin typeface="Calibri"/>
                        </a:rPr>
                        <a:t>Transaction costs + working capital</a:t>
                      </a:r>
                    </a:p>
                  </a:txBody>
                  <a:tcPr>
                    <a:solidFill>
                      <a:srgbClr val="101626"/>
                    </a:solidFill>
                  </a:tcPr>
                </a:tc>
                <a:tc>
                  <a:txBody>
                    <a:bodyPr/>
                    <a:lstStyle/>
                    <a:p>
                      <a:r>
                        <a:rPr sz="1200">
                          <a:solidFill>
                            <a:srgbClr val="CCCCCC"/>
                          </a:solidFill>
                        </a:rPr>
                        <a:t>$25.0M</a:t>
                      </a:r>
                    </a:p>
                  </a:txBody>
                  <a:tcPr>
                    <a:solidFill>
                      <a:srgbClr val="101626"/>
                    </a:solidFill>
                  </a:tcPr>
                </a:tc>
                <a:tc>
                  <a:txBody>
                    <a:bodyPr/>
                    <a:lstStyle/>
                    <a:p>
                      <a:r>
                        <a:rPr sz="1100">
                          <a:solidFill>
                            <a:srgbClr val="FFFFFF"/>
                          </a:solidFill>
                          <a:latin typeface="Calibri"/>
                        </a:rPr>
                        <a:t>Placement costs (~5%) and public-company reserve</a:t>
                      </a:r>
                    </a:p>
                  </a:txBody>
                  <a:tcPr>
                    <a:solidFill>
                      <a:srgbClr val="10162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3900000"/>
            <a:ext cx="10515600" cy="560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BASE CASE + $215M PLAN</a:t>
            </a:r>
          </a:p>
          <a:p>
            <a:pPr>
              <a:spcBef>
                <a:spcPts val="600"/>
              </a:spcBef>
            </a:pPr>
            <a:r>
              <a:rPr sz="1100">
                <a:solidFill>
                  <a:srgbClr val="CCCCCC"/>
                </a:solidFill>
                <a:latin typeface="Calibri"/>
              </a:rPr>
              <a:t>Base case unchanged (~$121.6M Y5). Plan drivers are management assumptions — model tab "$215M Capital Plan".</a:t>
            </a:r>
          </a:p>
        </p:txBody>
      </p:sp>
      <p:graphicFrame>
        <p:nvGraphicFramePr>
          <p:cNvPr id="9" name="Table 8"/>
          <p:cNvGraphicFramePr>
            <a:graphicFrameLocks noGrp="1"/>
          </p:cNvGraphicFramePr>
          <p:nvPr/>
        </p:nvGraphicFramePr>
        <p:xfrm>
          <a:off x="731520" y="4520000"/>
          <a:ext cx="10515600" cy="15000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0000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Y1 (FY27)</a:t>
                      </a:r>
                    </a:p>
                  </a:txBody>
                  <a:tcPr>
                    <a:solidFill>
                      <a:srgbClr val="0A142A"/>
                    </a:solidFill>
                  </a:tcPr>
                </a:tc>
                <a:tc>
                  <a:txBody>
                    <a:bodyPr/>
                    <a:lstStyle/>
                    <a:p>
                      <a:r>
                        <a:rPr sz="1100" b="1">
                          <a:solidFill>
                            <a:srgbClr val="009ED9"/>
                          </a:solidFill>
                          <a:latin typeface="Calibri"/>
                        </a:rPr>
                        <a:t>Y2 (FY28)</a:t>
                      </a:r>
                    </a:p>
                  </a:txBody>
                  <a:tcPr>
                    <a:solidFill>
                      <a:srgbClr val="0A142A"/>
                    </a:solidFill>
                  </a:tcPr>
                </a:tc>
                <a:tc>
                  <a:txBody>
                    <a:bodyPr/>
                    <a:lstStyle/>
                    <a:p>
                      <a:r>
                        <a:rPr sz="1100" b="1">
                          <a:solidFill>
                            <a:srgbClr val="009ED9"/>
                          </a:solidFill>
                          <a:latin typeface="Calibri"/>
                        </a:rPr>
                        <a:t>Y3 (FY29)</a:t>
                      </a:r>
                    </a:p>
                  </a:txBody>
                  <a:tcPr>
                    <a:solidFill>
                      <a:srgbClr val="0A142A"/>
                    </a:solidFill>
                  </a:tcPr>
                </a:tc>
                <a:tc>
                  <a:txBody>
                    <a:bodyPr/>
                    <a:lstStyle/>
                    <a:p>
                      <a:r>
                        <a:rPr sz="1100" b="1">
                          <a:solidFill>
                            <a:srgbClr val="009ED9"/>
                          </a:solidFill>
                          <a:latin typeface="Calibri"/>
                        </a:rPr>
                        <a:t>Y4 (FY30)</a:t>
                      </a:r>
                    </a:p>
                  </a:txBody>
                  <a:tcPr>
                    <a:solidFill>
                      <a:srgbClr val="0A142A"/>
                    </a:solidFill>
                  </a:tcPr>
                </a:tc>
                <a:tc>
                  <a:txBody>
                    <a:bodyPr/>
                    <a:lstStyle/>
                    <a:p>
                      <a:r>
                        <a:rPr sz="1100" b="1">
                          <a:solidFill>
                            <a:srgbClr val="009ED9"/>
                          </a:solidFill>
                          <a:latin typeface="Calibri"/>
                        </a:rPr>
                        <a:t>Y5 (FY31)</a:t>
                      </a:r>
                    </a:p>
                  </a:txBody>
                  <a:tcPr>
                    <a:solidFill>
                      <a:srgbClr val="0A142A"/>
                    </a:solidFill>
                  </a:tcPr>
                </a:tc>
                <a:extLst>
                  <a:ext uri="{0D108BD9-81ED-4DB2-BD59-A6C34878D82A}">
                    <a16:rowId xmlns:a16="http://schemas.microsoft.com/office/drawing/2014/main" val="10000"/>
                  </a:ext>
                </a:extLst>
              </a:tr>
              <a:tr h="300000">
                <a:tc>
                  <a:txBody>
                    <a:bodyPr/>
                    <a:lstStyle/>
                    <a:p>
                      <a:r>
                        <a:rPr sz="1100">
                          <a:solidFill>
                            <a:srgbClr val="FFFFFF"/>
                          </a:solidFill>
                          <a:latin typeface="Calibri"/>
                        </a:rPr>
                        <a:t>Base-case revenue</a:t>
                      </a:r>
                    </a:p>
                  </a:txBody>
                  <a:tcPr>
                    <a:solidFill>
                      <a:srgbClr val="0D1220"/>
                    </a:solidFill>
                  </a:tcPr>
                </a:tc>
                <a:tc>
                  <a:txBody>
                    <a:bodyPr/>
                    <a:lstStyle/>
                    <a:p>
                      <a:r>
                        <a:rPr sz="1100">
                          <a:solidFill>
                            <a:srgbClr val="FFFFFF"/>
                          </a:solidFill>
                          <a:latin typeface="Calibri"/>
                        </a:rPr>
                        <a:t>$9.1M</a:t>
                      </a:r>
                    </a:p>
                  </a:txBody>
                  <a:tcPr>
                    <a:solidFill>
                      <a:srgbClr val="0D1220"/>
                    </a:solidFill>
                  </a:tcPr>
                </a:tc>
                <a:tc>
                  <a:txBody>
                    <a:bodyPr/>
                    <a:lstStyle/>
                    <a:p>
                      <a:r>
                        <a:rPr sz="1100">
                          <a:solidFill>
                            <a:srgbClr val="FFFFFF"/>
                          </a:solidFill>
                          <a:latin typeface="Calibri"/>
                        </a:rPr>
                        <a:t>$21.1M</a:t>
                      </a:r>
                    </a:p>
                  </a:txBody>
                  <a:tcPr>
                    <a:solidFill>
                      <a:srgbClr val="0D1220"/>
                    </a:solidFill>
                  </a:tcPr>
                </a:tc>
                <a:tc>
                  <a:txBody>
                    <a:bodyPr/>
                    <a:lstStyle/>
                    <a:p>
                      <a:r>
                        <a:rPr sz="1100">
                          <a:solidFill>
                            <a:srgbClr val="FFFFFF"/>
                          </a:solidFill>
                          <a:latin typeface="Calibri"/>
                        </a:rPr>
                        <a:t>$37.5M</a:t>
                      </a:r>
                    </a:p>
                  </a:txBody>
                  <a:tcPr>
                    <a:solidFill>
                      <a:srgbClr val="0D1220"/>
                    </a:solidFill>
                  </a:tcPr>
                </a:tc>
                <a:tc>
                  <a:txBody>
                    <a:bodyPr/>
                    <a:lstStyle/>
                    <a:p>
                      <a:r>
                        <a:rPr sz="1100">
                          <a:solidFill>
                            <a:srgbClr val="FFFFFF"/>
                          </a:solidFill>
                          <a:latin typeface="Calibri"/>
                        </a:rPr>
                        <a:t>$61.6M</a:t>
                      </a:r>
                    </a:p>
                  </a:txBody>
                  <a:tcPr>
                    <a:solidFill>
                      <a:srgbClr val="0D1220"/>
                    </a:solidFill>
                  </a:tcPr>
                </a:tc>
                <a:tc>
                  <a:txBody>
                    <a:bodyPr/>
                    <a:lstStyle/>
                    <a:p>
                      <a:r>
                        <a:rPr sz="1100">
                          <a:solidFill>
                            <a:srgbClr val="FFFFFF"/>
                          </a:solidFill>
                          <a:latin typeface="Calibri"/>
                        </a:rPr>
                        <a:t>$121.6M</a:t>
                      </a:r>
                    </a:p>
                  </a:txBody>
                  <a:tcPr>
                    <a:solidFill>
                      <a:srgbClr val="0D1220"/>
                    </a:solidFill>
                  </a:tcPr>
                </a:tc>
                <a:extLst>
                  <a:ext uri="{0D108BD9-81ED-4DB2-BD59-A6C34878D82A}">
                    <a16:rowId xmlns:a16="http://schemas.microsoft.com/office/drawing/2014/main" val="10001"/>
                  </a:ext>
                </a:extLst>
              </a:tr>
              <a:tr h="300000">
                <a:tc>
                  <a:txBody>
                    <a:bodyPr/>
                    <a:lstStyle/>
                    <a:p>
                      <a:r>
                        <a:rPr sz="1100">
                          <a:solidFill>
                            <a:srgbClr val="FFFFFF"/>
                          </a:solidFill>
                          <a:latin typeface="Calibri"/>
                        </a:rPr>
                        <a:t>$215M plan revenue</a:t>
                      </a:r>
                    </a:p>
                  </a:txBody>
                  <a:tcPr>
                    <a:solidFill>
                      <a:srgbClr val="101626"/>
                    </a:solidFill>
                  </a:tcPr>
                </a:tc>
                <a:tc>
                  <a:txBody>
                    <a:bodyPr/>
                    <a:lstStyle/>
                    <a:p>
                      <a:r>
                        <a:rPr sz="1100">
                          <a:solidFill>
                            <a:srgbClr val="FFFFFF"/>
                          </a:solidFill>
                          <a:latin typeface="Calibri"/>
                        </a:rPr>
                        <a:t>$31.3M</a:t>
                      </a:r>
                    </a:p>
                  </a:txBody>
                  <a:tcPr>
                    <a:solidFill>
                      <a:srgbClr val="101626"/>
                    </a:solidFill>
                  </a:tcPr>
                </a:tc>
                <a:tc>
                  <a:txBody>
                    <a:bodyPr/>
                    <a:lstStyle/>
                    <a:p>
                      <a:r>
                        <a:rPr sz="1100">
                          <a:solidFill>
                            <a:srgbClr val="FFFFFF"/>
                          </a:solidFill>
                          <a:latin typeface="Calibri"/>
                        </a:rPr>
                        <a:t>$102.5M</a:t>
                      </a:r>
                    </a:p>
                  </a:txBody>
                  <a:tcPr>
                    <a:solidFill>
                      <a:srgbClr val="101626"/>
                    </a:solidFill>
                  </a:tcPr>
                </a:tc>
                <a:tc>
                  <a:txBody>
                    <a:bodyPr/>
                    <a:lstStyle/>
                    <a:p>
                      <a:r>
                        <a:rPr sz="1100">
                          <a:solidFill>
                            <a:srgbClr val="FFFFFF"/>
                          </a:solidFill>
                          <a:latin typeface="Calibri"/>
                        </a:rPr>
                        <a:t>$190.8M</a:t>
                      </a:r>
                    </a:p>
                  </a:txBody>
                  <a:tcPr>
                    <a:solidFill>
                      <a:srgbClr val="101626"/>
                    </a:solidFill>
                  </a:tcPr>
                </a:tc>
                <a:tc>
                  <a:txBody>
                    <a:bodyPr/>
                    <a:lstStyle/>
                    <a:p>
                      <a:r>
                        <a:rPr sz="1100">
                          <a:solidFill>
                            <a:srgbClr val="FFFFFF"/>
                          </a:solidFill>
                          <a:latin typeface="Calibri"/>
                        </a:rPr>
                        <a:t>$250.0M</a:t>
                      </a:r>
                    </a:p>
                  </a:txBody>
                  <a:tcPr>
                    <a:solidFill>
                      <a:srgbClr val="101626"/>
                    </a:solidFill>
                  </a:tcPr>
                </a:tc>
                <a:tc>
                  <a:txBody>
                    <a:bodyPr/>
                    <a:lstStyle/>
                    <a:p>
                      <a:r>
                        <a:rPr sz="1100">
                          <a:solidFill>
                            <a:srgbClr val="FFFFFF"/>
                          </a:solidFill>
                          <a:latin typeface="Calibri"/>
                        </a:rPr>
                        <a:t>$310.0M</a:t>
                      </a:r>
                    </a:p>
                  </a:txBody>
                  <a:tcPr>
                    <a:solidFill>
                      <a:srgbClr val="101626"/>
                    </a:solidFill>
                  </a:tcPr>
                </a:tc>
                <a:extLst>
                  <a:ext uri="{0D108BD9-81ED-4DB2-BD59-A6C34878D82A}">
                    <a16:rowId xmlns:a16="http://schemas.microsoft.com/office/drawing/2014/main" val="10002"/>
                  </a:ext>
                </a:extLst>
              </a:tr>
              <a:tr h="300000">
                <a:tc>
                  <a:txBody>
                    <a:bodyPr/>
                    <a:lstStyle/>
                    <a:p>
                      <a:r>
                        <a:rPr sz="1100">
                          <a:solidFill>
                            <a:srgbClr val="FFFFFF"/>
                          </a:solidFill>
                          <a:latin typeface="Calibri"/>
                        </a:rPr>
                        <a:t>$215M plan EBITDA</a:t>
                      </a:r>
                    </a:p>
                  </a:txBody>
                  <a:tcPr>
                    <a:solidFill>
                      <a:srgbClr val="0D1220"/>
                    </a:solidFill>
                  </a:tcPr>
                </a:tc>
                <a:tc>
                  <a:txBody>
                    <a:bodyPr/>
                    <a:lstStyle/>
                    <a:p>
                      <a:r>
                        <a:rPr sz="1100">
                          <a:solidFill>
                            <a:srgbClr val="FFFFFF"/>
                          </a:solidFill>
                          <a:latin typeface="Calibri"/>
                        </a:rPr>
                        <a:t>$4.7M</a:t>
                      </a:r>
                    </a:p>
                  </a:txBody>
                  <a:tcPr>
                    <a:solidFill>
                      <a:srgbClr val="0D1220"/>
                    </a:solidFill>
                  </a:tcPr>
                </a:tc>
                <a:tc>
                  <a:txBody>
                    <a:bodyPr/>
                    <a:lstStyle/>
                    <a:p>
                      <a:r>
                        <a:rPr sz="1100">
                          <a:solidFill>
                            <a:srgbClr val="FFFFFF"/>
                          </a:solidFill>
                          <a:latin typeface="Calibri"/>
                        </a:rPr>
                        <a:t>$20.0M</a:t>
                      </a:r>
                    </a:p>
                  </a:txBody>
                  <a:tcPr>
                    <a:solidFill>
                      <a:srgbClr val="0D1220"/>
                    </a:solidFill>
                  </a:tcPr>
                </a:tc>
                <a:tc>
                  <a:txBody>
                    <a:bodyPr/>
                    <a:lstStyle/>
                    <a:p>
                      <a:r>
                        <a:rPr sz="1100">
                          <a:solidFill>
                            <a:srgbClr val="FFFFFF"/>
                          </a:solidFill>
                          <a:latin typeface="Calibri"/>
                        </a:rPr>
                        <a:t>$43.2M</a:t>
                      </a:r>
                    </a:p>
                  </a:txBody>
                  <a:tcPr>
                    <a:solidFill>
                      <a:srgbClr val="0D1220"/>
                    </a:solidFill>
                  </a:tcPr>
                </a:tc>
                <a:tc>
                  <a:txBody>
                    <a:bodyPr/>
                    <a:lstStyle/>
                    <a:p>
                      <a:r>
                        <a:rPr sz="1100">
                          <a:solidFill>
                            <a:srgbClr val="FFFFFF"/>
                          </a:solidFill>
                          <a:latin typeface="Calibri"/>
                        </a:rPr>
                        <a:t>$59.5M</a:t>
                      </a:r>
                    </a:p>
                  </a:txBody>
                  <a:tcPr>
                    <a:solidFill>
                      <a:srgbClr val="0D1220"/>
                    </a:solidFill>
                  </a:tcPr>
                </a:tc>
                <a:tc>
                  <a:txBody>
                    <a:bodyPr/>
                    <a:lstStyle/>
                    <a:p>
                      <a:r>
                        <a:rPr sz="1100">
                          <a:solidFill>
                            <a:srgbClr val="FFFFFF"/>
                          </a:solidFill>
                          <a:latin typeface="Calibri"/>
                        </a:rPr>
                        <a:t>$89.3M</a:t>
                      </a:r>
                    </a:p>
                  </a:txBody>
                  <a:tcPr>
                    <a:solidFill>
                      <a:srgbClr val="0D1220"/>
                    </a:solidFill>
                  </a:tcPr>
                </a:tc>
                <a:extLst>
                  <a:ext uri="{0D108BD9-81ED-4DB2-BD59-A6C34878D82A}">
                    <a16:rowId xmlns:a16="http://schemas.microsoft.com/office/drawing/2014/main" val="10003"/>
                  </a:ext>
                </a:extLst>
              </a:tr>
              <a:tr h="300000">
                <a:tc>
                  <a:txBody>
                    <a:bodyPr/>
                    <a:lstStyle/>
                    <a:p>
                      <a:r>
                        <a:rPr sz="1100">
                          <a:solidFill>
                            <a:srgbClr val="FFFFFF"/>
                          </a:solidFill>
                          <a:latin typeface="Calibri"/>
                        </a:rPr>
                        <a:t>Plan EBITDA margin</a:t>
                      </a:r>
                    </a:p>
                  </a:txBody>
                  <a:tcPr>
                    <a:solidFill>
                      <a:srgbClr val="101626"/>
                    </a:solidFill>
                  </a:tcPr>
                </a:tc>
                <a:tc>
                  <a:txBody>
                    <a:bodyPr/>
                    <a:lstStyle/>
                    <a:p>
                      <a:r>
                        <a:rPr sz="1100">
                          <a:solidFill>
                            <a:srgbClr val="FFFFFF"/>
                          </a:solidFill>
                          <a:latin typeface="Calibri"/>
                        </a:rPr>
                        <a:t>15%</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23%</a:t>
                      </a:r>
                    </a:p>
                  </a:txBody>
                  <a:tcPr>
                    <a:solidFill>
                      <a:srgbClr val="101626"/>
                    </a:solidFill>
                  </a:tcPr>
                </a:tc>
                <a:tc>
                  <a:txBody>
                    <a:bodyPr/>
                    <a:lstStyle/>
                    <a:p>
                      <a:r>
                        <a:rPr sz="1100">
                          <a:solidFill>
                            <a:srgbClr val="FFFFFF"/>
                          </a:solidFill>
                          <a:latin typeface="Calibri"/>
                        </a:rPr>
                        <a:t>24%</a:t>
                      </a:r>
                    </a:p>
                  </a:txBody>
                  <a:tcPr>
                    <a:solidFill>
                      <a:srgbClr val="101626"/>
                    </a:solidFill>
                  </a:tcPr>
                </a:tc>
                <a:tc>
                  <a:txBody>
                    <a:bodyPr/>
                    <a:lstStyle/>
                    <a:p>
                      <a:r>
                        <a:rPr sz="1100">
                          <a:solidFill>
                            <a:srgbClr val="FFFFFF"/>
                          </a:solidFill>
                          <a:latin typeface="Calibri"/>
                        </a:rPr>
                        <a:t>29%</a:t>
                      </a:r>
                    </a:p>
                  </a:txBody>
                  <a:tcPr>
                    <a:solidFill>
                      <a:srgbClr val="101626"/>
                    </a:solidFill>
                  </a:tcPr>
                </a:tc>
                <a:extLst>
                  <a:ext uri="{0D108BD9-81ED-4DB2-BD59-A6C34878D82A}">
                    <a16:rowId xmlns:a16="http://schemas.microsoft.com/office/drawing/2014/main" val="10004"/>
                  </a:ext>
                </a:extLst>
              </a:tr>
            </a:tbl>
          </a:graphicData>
        </a:graphic>
      </p:graphicFrame>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MANAGEMENT TEAM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JOHN QUINN — CEO &amp; Co-Founder</a:t>
            </a:r>
          </a:p>
          <a:p>
            <a:pPr>
              <a:spcBef>
                <a:spcPts val="600"/>
              </a:spcBef>
            </a:pPr>
            <a:r>
              <a:rPr sz="1100">
                <a:solidFill>
                  <a:srgbClr val="CCCCCC"/>
                </a:solidFill>
                <a:latin typeface="Calibri"/>
              </a:rPr>
              <a:t>14.5-year U.S. Navy Submarine Service career
$43M ROI in Six Sigma projects at FPL
Company IP sale to Emerson Power
Drives strategy, capital markets, government relations</a:t>
            </a:r>
          </a:p>
        </p:txBody>
      </p:sp>
      <p:sp>
        <p:nvSpPr>
          <p:cNvPr id="7" name="Rounded Rectangle 6"/>
          <p:cNvSpPr/>
          <p:nvPr/>
        </p:nvSpPr>
        <p:spPr>
          <a:xfrm>
            <a:off x="43891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DAVID MITCHELL — President &amp; Co-Founder</a:t>
            </a:r>
          </a:p>
          <a:p>
            <a:pPr>
              <a:spcBef>
                <a:spcPts val="600"/>
              </a:spcBef>
            </a:pPr>
            <a:r>
              <a:rPr sz="1100">
                <a:solidFill>
                  <a:srgbClr val="CCCCCC"/>
                </a:solidFill>
                <a:latin typeface="Calibri"/>
              </a:rPr>
              <a:t>4th-generation energy entrepreneur and investor
Secured private funding enabling Exos to build commercial-grade reusable rockets
Company sale to CITS
Drives financing, corporate development, investor relations</a:t>
            </a:r>
          </a:p>
        </p:txBody>
      </p:sp>
      <p:sp>
        <p:nvSpPr>
          <p:cNvPr id="8" name="Rounded Rectangle 7"/>
          <p:cNvSpPr/>
          <p:nvPr/>
        </p:nvSpPr>
        <p:spPr>
          <a:xfrm>
            <a:off x="80467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RUSSEL BLINK — CTO &amp; Co-Founder</a:t>
            </a:r>
          </a:p>
          <a:p>
            <a:pPr>
              <a:spcBef>
                <a:spcPts val="600"/>
              </a:spcBef>
            </a:pPr>
            <a:r>
              <a:rPr sz="1100">
                <a:solidFill>
                  <a:srgbClr val="CCCCCC"/>
                </a:solidFill>
                <a:latin typeface="Calibri"/>
              </a:rPr>
              <a:t>BS EE, Michigan Technological University
TI Defense → Long Range Systems (VP/Co-founder) → Armadillo Aerospace (VP Eng)
Hundreds of engines, dozens of flying vehicles incl. NASA Lunar Landers</a:t>
            </a:r>
          </a:p>
        </p:txBody>
      </p:sp>
      <p:sp>
        <p:nvSpPr>
          <p:cNvPr id="9" name="Rounded Rectangle 8"/>
          <p:cNvSpPr/>
          <p:nvPr/>
        </p:nvSpPr>
        <p:spPr>
          <a:xfrm>
            <a:off x="7315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NEIL MILBURN — COO &amp; Co-Founder</a:t>
            </a:r>
          </a:p>
          <a:p>
            <a:pPr>
              <a:spcBef>
                <a:spcPts val="600"/>
              </a:spcBef>
            </a:pPr>
            <a:r>
              <a:rPr sz="1100">
                <a:solidFill>
                  <a:srgbClr val="CCCCCC"/>
                </a:solidFill>
                <a:latin typeface="Calibri"/>
              </a:rPr>
              <a:t>Chemical Engineering; co-founded Armadillo Aerospace (2000)
Revolutionized CNG refueling at NASA launch facilities
FAA liaison; company turnarounds and operational excellence</a:t>
            </a:r>
          </a:p>
        </p:txBody>
      </p:sp>
      <p:sp>
        <p:nvSpPr>
          <p:cNvPr id="10" name="Rounded Rectangle 9"/>
          <p:cNvSpPr/>
          <p:nvPr/>
        </p:nvSpPr>
        <p:spPr>
          <a:xfrm>
            <a:off x="43891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KYLE BALLARD — CFO</a:t>
            </a:r>
          </a:p>
          <a:p>
            <a:pPr>
              <a:spcBef>
                <a:spcPts val="600"/>
              </a:spcBef>
            </a:pPr>
            <a:r>
              <a:rPr sz="1100">
                <a:solidFill>
                  <a:srgbClr val="CCCCCC"/>
                </a:solidFill>
                <a:latin typeface="Calibri"/>
              </a:rPr>
              <a:t>Financial operations, reporting, due diligence
Leading SSLC financial analysis and public listing preparation</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OWNERSHIP &amp; GOVERNANCE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5029200" cy="1889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Stake</a:t>
                      </a:r>
                    </a:p>
                  </a:txBody>
                  <a:tcPr>
                    <a:solidFill>
                      <a:srgbClr val="0A142A"/>
                    </a:solidFill>
                  </a:tcPr>
                </a:tc>
                <a:tc>
                  <a:txBody>
                    <a:bodyPr/>
                    <a:lstStyle/>
                    <a:p>
                      <a:r>
                        <a:rPr sz="1100" b="1">
                          <a:solidFill>
                            <a:srgbClr val="009ED9"/>
                          </a:solidFill>
                          <a:latin typeface="Calibri"/>
                        </a:rPr>
                        <a:t>Role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FFFFFF"/>
                          </a:solidFill>
                          <a:latin typeface="Calibri"/>
                        </a:rPr>
                        <a:t>President, Co-founder</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21%</a:t>
                      </a:r>
                    </a:p>
                  </a:txBody>
                  <a:tcPr>
                    <a:solidFill>
                      <a:srgbClr val="101626"/>
                    </a:solidFill>
                  </a:tcPr>
                </a:tc>
                <a:tc>
                  <a:txBody>
                    <a:bodyPr/>
                    <a:lstStyle/>
                    <a:p>
                      <a:r>
                        <a:rPr sz="1100">
                          <a:solidFill>
                            <a:srgbClr val="FFFFFF"/>
                          </a:solidFill>
                          <a:latin typeface="Calibri"/>
                        </a:rPr>
                        <a:t>CEO, Co-founder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CCCCCC"/>
                          </a:solidFill>
                        </a:rPr>
                        <a:t>Common stock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Incentive Stock Option Pool</a:t>
                      </a:r>
                    </a:p>
                  </a:txBody>
                  <a:tcPr>
                    <a:solidFill>
                      <a:srgbClr val="101626"/>
                    </a:solidFill>
                  </a:tcPr>
                </a:tc>
                <a:tc>
                  <a:txBody>
                    <a:bodyPr/>
                    <a:lstStyle/>
                    <a:p>
                      <a:r>
                        <a:rPr sz="1100">
                          <a:solidFill>
                            <a:srgbClr val="FFFFFF"/>
                          </a:solidFill>
                          <a:latin typeface="Calibri"/>
                        </a:rPr>
                        <a:t>5%</a:t>
                      </a:r>
                    </a:p>
                  </a:txBody>
                  <a:tcPr>
                    <a:solidFill>
                      <a:srgbClr val="101626"/>
                    </a:solidFill>
                  </a:tcPr>
                </a:tc>
                <a:tc>
                  <a:txBody>
                    <a:bodyPr/>
                    <a:lstStyle/>
                    <a:p>
                      <a:r>
                        <a:rPr sz="1100">
                          <a:solidFill>
                            <a:srgbClr val="FFFFFF"/>
                          </a:solidFill>
                          <a:latin typeface="Calibri"/>
                        </a:rPr>
                        <a:t>Key employee retention</a:t>
                      </a:r>
                    </a:p>
                  </a:txBody>
                  <a:tcPr>
                    <a:solidFill>
                      <a:srgbClr val="101626"/>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400800" y="1371600"/>
          <a:ext cx="5029200" cy="22555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Post-Listing</a:t>
                      </a:r>
                    </a:p>
                  </a:txBody>
                  <a:tcPr>
                    <a:solidFill>
                      <a:srgbClr val="0A142A"/>
                    </a:solidFill>
                  </a:tcPr>
                </a:tc>
                <a:tc>
                  <a:txBody>
                    <a:bodyPr/>
                    <a:lstStyle/>
                    <a:p>
                      <a:r>
                        <a:rPr sz="1100" b="1">
                          <a:solidFill>
                            <a:srgbClr val="009ED9"/>
                          </a:solidFill>
                          <a:latin typeface="Calibri"/>
                        </a:rPr>
                        <a:t>Status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FFFFFF"/>
                          </a:solidFill>
                          <a:latin typeface="Calibri"/>
                        </a:rPr>
                        <a:t>Active management</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Active management</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CCCCCC"/>
                          </a:solidFill>
                        </a:rPr>
                        <a:t>Public float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ESOP</a:t>
                      </a:r>
                    </a:p>
                  </a:txBody>
                  <a:tcPr>
                    <a:solidFill>
                      <a:srgbClr val="101626"/>
                    </a:solidFill>
                  </a:tcPr>
                </a:tc>
                <a:tc>
                  <a:txBody>
                    <a:bodyPr/>
                    <a:lstStyle/>
                    <a:p>
                      <a:r>
                        <a:rPr sz="1100">
                          <a:solidFill>
                            <a:srgbClr val="FFFFFF"/>
                          </a:solidFill>
                          <a:latin typeface="Calibri"/>
                        </a:rPr>
                        <a:t>~4.5%</a:t>
                      </a:r>
                    </a:p>
                  </a:txBody>
                  <a:tcPr>
                    <a:solidFill>
                      <a:srgbClr val="101626"/>
                    </a:solidFill>
                  </a:tcPr>
                </a:tc>
                <a:tc>
                  <a:txBody>
                    <a:bodyPr/>
                    <a:lstStyle/>
                    <a:p>
                      <a:r>
                        <a:rPr sz="1100">
                          <a:solidFill>
                            <a:srgbClr val="FFFFFF"/>
                          </a:solidFill>
                          <a:latin typeface="Calibri"/>
                        </a:rPr>
                        <a:t>Vesting</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CCCCCC"/>
                          </a:solidFill>
                        </a:rPr>
                        <a:t>Series A investors</a:t>
                      </a:r>
                    </a:p>
                  </a:txBody>
                  <a:tcPr>
                    <a:solidFill>
                      <a:srgbClr val="0D1220"/>
                    </a:solidFill>
                  </a:tcPr>
                </a:tc>
                <a:tc>
                  <a:txBody>
                    <a:bodyPr/>
                    <a:lstStyle/>
                    <a:p>
                      <a:r>
                        <a:rPr sz="1100">
                          <a:solidFill>
                            <a:srgbClr val="CCCCCC"/>
                          </a:solidFill>
                        </a:rPr>
                        <a:t>Per final terms</a:t>
                      </a:r>
                    </a:p>
                  </a:txBody>
                  <a:tcPr>
                    <a:solidFill>
                      <a:srgbClr val="0D1220"/>
                    </a:solidFill>
                  </a:tcPr>
                </a:tc>
                <a:tc>
                  <a:txBody>
                    <a:bodyPr/>
                    <a:lstStyle/>
                    <a:p>
                      <a:r>
                        <a:rPr sz="1100">
                          <a:solidFill>
                            <a:srgbClr val="CCCCCC"/>
                          </a:solidFill>
                        </a:rPr>
                        <a:t>Terms under negotiation</a:t>
                      </a:r>
                    </a:p>
                  </a:txBody>
                  <a:tcPr>
                    <a:solidFill>
                      <a:srgbClr val="0D122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31520" y="4389120"/>
            <a:ext cx="10058400" cy="2286000"/>
          </a:xfrm>
          <a:prstGeom prst="rect">
            <a:avLst/>
          </a:prstGeom>
          <a:noFill/>
        </p:spPr>
        <p:txBody>
          <a:bodyPr wrap="square">
            <a:spAutoFit/>
          </a:bodyPr>
          <a:lstStyle/>
          <a:p>
            <a:pPr algn="l">
              <a:spcBef>
                <a:spcPts val="0"/>
              </a:spcBef>
              <a:spcAft>
                <a:spcPts val="800"/>
              </a:spcAft>
            </a:pPr>
            <a:r>
              <a:rPr lang="en-US" sz="1400" b="1" dirty="0">
                <a:solidFill>
                  <a:srgbClr val="FFB800"/>
                </a:solidFill>
              </a:rPr>
              <a:t>KEY GOVERNANCE</a:t>
            </a:r>
          </a:p>
          <a:p>
            <a:pPr algn="l">
              <a:spcBef>
                <a:spcPts val="0"/>
              </a:spcBef>
              <a:spcAft>
                <a:spcPts val="800"/>
              </a:spcAft>
            </a:pPr>
            <a:r>
              <a:rPr lang="en-US" sz="1200" b="0" dirty="0">
                <a:solidFill>
                  <a:srgbClr val="CCCCCC"/>
                </a:solidFill>
              </a:rPr>
              <a:t>•  All shares are common stock — no preferred classes</a:t>
            </a:r>
          </a:p>
          <a:p>
            <a:pPr algn="l">
              <a:spcBef>
                <a:spcPts val="0"/>
              </a:spcBef>
              <a:spcAft>
                <a:spcPts val="800"/>
              </a:spcAft>
            </a:pPr>
            <a:r>
              <a:rPr lang="en-US" sz="1200" b="0" dirty="0">
                <a:solidFill>
                  <a:srgbClr val="CCCCCC"/>
                </a:solidFill>
              </a:rPr>
              <a:t>•  Mitchell + Quinn retain 56% effective control</a:t>
            </a:r>
          </a:p>
          <a:p>
            <a:pPr algn="l">
              <a:spcBef>
                <a:spcPts val="0"/>
              </a:spcBef>
              <a:spcAft>
                <a:spcPts val="800"/>
              </a:spcAft>
            </a:pPr>
            <a:r>
              <a:rPr lang="en-US" sz="1200" b="0" dirty="0">
                <a:solidFill>
                  <a:srgbClr val="CCCCCC"/>
                </a:solidFill>
              </a:rPr>
              <a:t>•  EAI (Exos Aerospace Investors) — directed by John Quinn and David Mitchell</a:t>
            </a:r>
          </a:p>
          <a:p>
            <a:pPr algn="l">
              <a:spcBef>
                <a:spcPts val="0"/>
              </a:spcBef>
              <a:spcAft>
                <a:spcPts val="800"/>
              </a:spcAft>
            </a:pPr>
            <a:r>
              <a:rPr lang="en-US" sz="1200" b="0" dirty="0">
                <a:solidFill>
                  <a:srgbClr val="CCCCCC"/>
                </a:solidFill>
              </a:rPr>
              <a:t>•  EAI investors get first liquidity event in 10 years</a:t>
            </a:r>
          </a:p>
          <a:p>
            <a:pPr algn="l">
              <a:spcBef>
                <a:spcPts val="0"/>
              </a:spcBef>
              <a:spcAft>
                <a:spcPts val="800"/>
              </a:spcAft>
            </a:pPr>
            <a:r>
              <a:rPr lang="en-US" sz="1200" b="0" dirty="0">
                <a:solidFill>
                  <a:srgbClr val="CCCCCC"/>
                </a:solidFill>
              </a:rPr>
              <a:t>•  Public float sourced from existing EAI shares</a:t>
            </a:r>
          </a:p>
          <a:p>
            <a:pPr algn="l">
              <a:spcBef>
                <a:spcPts val="0"/>
              </a:spcBef>
              <a:spcAft>
                <a:spcPts val="800"/>
              </a:spcAft>
            </a:pPr>
            <a:r>
              <a:rPr lang="en-US" sz="1200" b="0" dirty="0">
                <a:solidFill>
                  <a:srgbClr val="CCCCCC"/>
                </a:solidFill>
              </a:rPr>
              <a:t>•  Exos Aerospace Systems &amp; Technologies, Inc. — Texas corporation. Cap table as of February 20, 2026 (date of last update), fully diluted.</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CORPORATE STRUCTURE &amp; LISTING PATH</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0" y="1463040"/>
            <a:ext cx="54864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EXOS AEROSPACE SYSTEMS &amp; TECHNOLOGIES, INC. (Texas)</a:t>
            </a:r>
          </a:p>
          <a:p>
            <a:pPr algn="ctr"/>
            <a:r>
              <a:rPr lang="en-US" sz="1100" b="0" dirty="0">
                <a:solidFill>
                  <a:srgbClr val="CCCCCC"/>
                </a:solidFill>
              </a:rPr>
              <a:t>Parent entity — all operations, IP, contracts, and public listing vehicle</a:t>
            </a:r>
          </a:p>
        </p:txBody>
      </p:sp>
      <p:sp>
        <p:nvSpPr>
          <p:cNvPr id="7" name="Rounded Rectangle 6"/>
          <p:cNvSpPr/>
          <p:nvPr/>
        </p:nvSpPr>
        <p:spPr>
          <a:xfrm>
            <a:off x="3657600" y="274320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FAA PART 431 LAUNCH LICENSE (→ PART 450)</a:t>
            </a:r>
          </a:p>
          <a:p>
            <a:pPr algn="ctr"/>
            <a:r>
              <a:rPr lang="en-US" sz="1100" b="0" dirty="0">
                <a:solidFill>
                  <a:srgbClr val="CCCCCC"/>
                </a:solidFill>
              </a:rPr>
              <a:t>Reusable suborbital launch | ITAR-controlled technology | Government contracts | Texas operations</a:t>
            </a:r>
          </a:p>
        </p:txBody>
      </p:sp>
      <p:sp>
        <p:nvSpPr>
          <p:cNvPr id="8" name="Rounded Rectangle 7"/>
          <p:cNvSpPr/>
          <p:nvPr/>
        </p:nvSpPr>
        <p:spPr>
          <a:xfrm>
            <a:off x="4114800" y="4206240"/>
            <a:ext cx="45720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SCORPIUS SPACE LAUNCH COMPANY INC</a:t>
            </a:r>
          </a:p>
          <a:p>
            <a:pPr>
              <a:spcBef>
                <a:spcPts val="600"/>
              </a:spcBef>
            </a:pPr>
            <a:r>
              <a:rPr sz="1100">
                <a:solidFill>
                  <a:srgbClr val="CCCCCC"/>
                </a:solidFill>
                <a:latin typeface="Calibri"/>
              </a:rPr>
              <a:t>Cryo tank IP, manufacturing, lunar heritage</a:t>
            </a:r>
          </a:p>
        </p:txBody>
      </p:sp>
      <p:sp>
        <p:nvSpPr>
          <p:cNvPr id="9" name="TextBox 8"/>
          <p:cNvSpPr txBox="1"/>
          <p:nvPr/>
        </p:nvSpPr>
        <p:spPr>
          <a:xfrm>
            <a:off x="731520" y="5303520"/>
            <a:ext cx="5364480" cy="307777"/>
          </a:xfrm>
          <a:prstGeom prst="rect">
            <a:avLst/>
          </a:prstGeom>
          <a:noFill/>
        </p:spPr>
        <p:txBody>
          <a:bodyPr wrap="square">
            <a:spAutoFit/>
          </a:bodyPr>
          <a:lstStyle/>
          <a:p>
            <a:pPr algn="l">
              <a:spcAft>
                <a:spcPts val="400"/>
              </a:spcAft>
            </a:pPr>
            <a:r>
              <a:rPr sz="1400" b="1" dirty="0">
                <a:solidFill>
                  <a:srgbClr val="FFB800"/>
                </a:solidFill>
                <a:latin typeface="Calibri"/>
              </a:rPr>
              <a:t>PUBLIC-MARKETS PATH — IN PROGRESS; TXSE LISTING AS BACKUP</a:t>
            </a:r>
          </a:p>
        </p:txBody>
      </p:sp>
      <p:sp>
        <p:nvSpPr>
          <p:cNvPr id="10" name="TextBox 9"/>
          <p:cNvSpPr txBox="1"/>
          <p:nvPr/>
        </p:nvSpPr>
        <p:spPr>
          <a:xfrm>
            <a:off x="731520" y="5577840"/>
            <a:ext cx="5029200" cy="1371600"/>
          </a:xfrm>
          <a:prstGeom prst="rect">
            <a:avLst/>
          </a:prstGeom>
          <a:noFill/>
        </p:spPr>
        <p:txBody>
          <a:bodyPr wrap="square">
            <a:spAutoFit/>
          </a:bodyPr>
          <a:lstStyle/>
          <a:p>
            <a:pPr algn="l">
              <a:spcBef>
                <a:spcPts val="0"/>
              </a:spcBef>
              <a:spcAft>
                <a:spcPts val="300"/>
              </a:spcAft>
            </a:pPr>
            <a:r>
              <a:rPr sz="1100" b="0">
                <a:solidFill>
                  <a:srgbClr val="CCCCCC"/>
                </a:solidFill>
                <a:latin typeface="Calibri"/>
              </a:rPr>
              <a:t>Public-markets path: in progress; a Texas Stock Exchange (TXSE) listing is the backup route.</a:t>
            </a:r>
          </a:p>
          <a:p>
            <a:pPr algn="l">
              <a:spcBef>
                <a:spcPts val="0"/>
              </a:spcBef>
              <a:spcAft>
                <a:spcPts val="300"/>
              </a:spcAft>
            </a:pPr>
            <a:r>
              <a:rPr sz="1100" b="0">
                <a:solidFill>
                  <a:srgbClr val="CCCCCC"/>
                </a:solidFill>
                <a:latin typeface="Calibri"/>
              </a:rPr>
              <a:t>Private growth Series A now ($10M) — the first step of a $215M total raise.</a:t>
            </a:r>
          </a:p>
          <a:p>
            <a:pPr algn="l">
              <a:spcBef>
                <a:spcPts val="0"/>
              </a:spcBef>
              <a:spcAft>
                <a:spcPts val="300"/>
              </a:spcAft>
            </a:pPr>
            <a:endParaRPr sz="1100" b="0">
              <a:solidFill>
                <a:srgbClr val="CCCCCC"/>
              </a:solidFill>
              <a:latin typeface="Calibri"/>
            </a:endParaRPr>
          </a:p>
        </p:txBody>
      </p:sp>
      <p:sp>
        <p:nvSpPr>
          <p:cNvPr id="11" name="TextBox 10"/>
          <p:cNvSpPr txBox="1"/>
          <p:nvPr/>
        </p:nvSpPr>
        <p:spPr>
          <a:xfrm>
            <a:off x="6400800" y="5303520"/>
            <a:ext cx="5029200" cy="365760"/>
          </a:xfrm>
          <a:prstGeom prst="rect">
            <a:avLst/>
          </a:prstGeom>
          <a:noFill/>
        </p:spPr>
        <p:txBody>
          <a:bodyPr wrap="square">
            <a:spAutoFit/>
          </a:bodyPr>
          <a:lstStyle/>
          <a:p>
            <a:pPr algn="l">
              <a:spcAft>
                <a:spcPts val="400"/>
              </a:spcAft>
            </a:pPr>
            <a:r>
              <a:rPr sz="1400" b="1">
                <a:solidFill>
                  <a:srgbClr val="FFB800"/>
                </a:solidFill>
                <a:latin typeface="Calibri"/>
              </a:rPr>
              <a:t>TIMELINE FROM INVESTMENT CLOSE</a:t>
            </a:r>
          </a:p>
        </p:txBody>
      </p:sp>
      <p:sp>
        <p:nvSpPr>
          <p:cNvPr id="12" name="TextBox 11"/>
          <p:cNvSpPr txBox="1"/>
          <p:nvPr/>
        </p:nvSpPr>
        <p:spPr>
          <a:xfrm>
            <a:off x="6400800" y="5577840"/>
            <a:ext cx="5029200" cy="1371600"/>
          </a:xfrm>
          <a:prstGeom prst="rect">
            <a:avLst/>
          </a:prstGeom>
          <a:noFill/>
        </p:spPr>
        <p:txBody>
          <a:bodyPr wrap="square">
            <a:spAutoFit/>
          </a:bodyPr>
          <a:lstStyle/>
          <a:p>
            <a:pPr algn="l">
              <a:spcBef>
                <a:spcPts val="0"/>
              </a:spcBef>
              <a:spcAft>
                <a:spcPts val="300"/>
              </a:spcAft>
            </a:pPr>
            <a:r>
              <a:rPr lang="en-US" sz="1100" b="0" dirty="0">
                <a:solidFill>
                  <a:srgbClr val="CCCCCC"/>
                </a:solidFill>
              </a:rPr>
              <a:t>•  Q4 2026: Series A close + Scorpius acquisition</a:t>
            </a:r>
          </a:p>
          <a:p>
            <a:pPr algn="l">
              <a:spcBef>
                <a:spcPts val="0"/>
              </a:spcBef>
              <a:spcAft>
                <a:spcPts val="300"/>
              </a:spcAft>
            </a:pPr>
            <a:r>
              <a:rPr lang="en-US" sz="1100" b="0" dirty="0">
                <a:solidFill>
                  <a:srgbClr val="CCCCCC"/>
                </a:solidFill>
              </a:rPr>
              <a:t>•  Early 2027: first BLK3 commercial flight targeted</a:t>
            </a:r>
          </a:p>
          <a:p>
            <a:pPr algn="l">
              <a:spcBef>
                <a:spcPts val="0"/>
              </a:spcBef>
              <a:spcAft>
                <a:spcPts val="300"/>
              </a:spcAft>
            </a:pPr>
            <a:r>
              <a:rPr lang="en-US" sz="1100" b="0" dirty="0">
                <a:solidFill>
                  <a:srgbClr val="CCCCCC"/>
                </a:solidFill>
              </a:rPr>
              <a:t>•  2027–2028: public-markets transaction (TXSE listing as backup)</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COMPARABLE VALUATIONS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57200" y="1371600"/>
          <a:ext cx="11247120" cy="21945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320040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Company</a:t>
                      </a:r>
                    </a:p>
                  </a:txBody>
                  <a:tcPr>
                    <a:solidFill>
                      <a:srgbClr val="0A142A"/>
                    </a:solidFill>
                  </a:tcPr>
                </a:tc>
                <a:tc>
                  <a:txBody>
                    <a:bodyPr/>
                    <a:lstStyle/>
                    <a:p>
                      <a:r>
                        <a:rPr sz="1100" b="1">
                          <a:solidFill>
                            <a:srgbClr val="009ED9"/>
                          </a:solidFill>
                          <a:latin typeface="Calibri"/>
                        </a:rPr>
                        <a:t>Exchange</a:t>
                      </a:r>
                    </a:p>
                  </a:txBody>
                  <a:tcPr>
                    <a:solidFill>
                      <a:srgbClr val="0A142A"/>
                    </a:solidFill>
                  </a:tcPr>
                </a:tc>
                <a:tc>
                  <a:txBody>
                    <a:bodyPr/>
                    <a:lstStyle/>
                    <a:p>
                      <a:r>
                        <a:rPr sz="1100" b="1">
                          <a:solidFill>
                            <a:srgbClr val="009ED9"/>
                          </a:solidFill>
                          <a:latin typeface="Calibri"/>
                        </a:rPr>
                        <a:t>Market Cap</a:t>
                      </a:r>
                    </a:p>
                  </a:txBody>
                  <a:tcPr>
                    <a:solidFill>
                      <a:srgbClr val="0A142A"/>
                    </a:solidFill>
                  </a:tcPr>
                </a:tc>
                <a:tc>
                  <a:txBody>
                    <a:bodyPr/>
                    <a:lstStyle/>
                    <a:p>
                      <a:r>
                        <a:rPr sz="1100" b="1">
                          <a:solidFill>
                            <a:srgbClr val="009ED9"/>
                          </a:solidFill>
                          <a:latin typeface="Calibri"/>
                        </a:rPr>
                        <a:t>TTM Revenue</a:t>
                      </a:r>
                    </a:p>
                  </a:txBody>
                  <a:tcPr>
                    <a:solidFill>
                      <a:srgbClr val="0A142A"/>
                    </a:solidFill>
                  </a:tcPr>
                </a:tc>
                <a:tc>
                  <a:txBody>
                    <a:bodyPr/>
                    <a:lstStyle/>
                    <a:p>
                      <a:r>
                        <a:rPr sz="1100" b="1">
                          <a:solidFill>
                            <a:srgbClr val="009ED9"/>
                          </a:solidFill>
                          <a:latin typeface="Calibri"/>
                        </a:rPr>
                        <a:t>EV/Rev</a:t>
                      </a:r>
                    </a:p>
                  </a:txBody>
                  <a:tcPr>
                    <a:solidFill>
                      <a:srgbClr val="0A142A"/>
                    </a:solidFill>
                  </a:tcPr>
                </a:tc>
                <a:tc>
                  <a:txBody>
                    <a:bodyPr/>
                    <a:lstStyle/>
                    <a:p>
                      <a:r>
                        <a:rPr sz="1100" b="1">
                          <a:solidFill>
                            <a:srgbClr val="009ED9"/>
                          </a:solidFill>
                          <a:latin typeface="Calibri"/>
                        </a:rPr>
                        <a:t>Notes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Rocket Lab (RKLB)</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$30.4B</a:t>
                      </a:r>
                    </a:p>
                  </a:txBody>
                  <a:tcPr>
                    <a:solidFill>
                      <a:srgbClr val="0D1220"/>
                    </a:solidFill>
                  </a:tcPr>
                </a:tc>
                <a:tc>
                  <a:txBody>
                    <a:bodyPr/>
                    <a:lstStyle/>
                    <a:p>
                      <a:r>
                        <a:rPr sz="1100">
                          <a:solidFill>
                            <a:srgbClr val="FFFFFF"/>
                          </a:solidFill>
                          <a:latin typeface="Calibri"/>
                        </a:rPr>
                        <a:t>$769M</a:t>
                      </a:r>
                    </a:p>
                  </a:txBody>
                  <a:tcPr>
                    <a:solidFill>
                      <a:srgbClr val="0D1220"/>
                    </a:solidFill>
                  </a:tcPr>
                </a:tc>
                <a:tc>
                  <a:txBody>
                    <a:bodyPr/>
                    <a:lstStyle/>
                    <a:p>
                      <a:r>
                        <a:rPr sz="1100">
                          <a:solidFill>
                            <a:srgbClr val="FFFFFF"/>
                          </a:solidFill>
                          <a:latin typeface="Calibri"/>
                        </a:rPr>
                        <a:t>36.6x</a:t>
                      </a:r>
                    </a:p>
                  </a:txBody>
                  <a:tcPr>
                    <a:solidFill>
                      <a:srgbClr val="0D1220"/>
                    </a:solidFill>
                  </a:tcPr>
                </a:tc>
                <a:tc>
                  <a:txBody>
                    <a:bodyPr/>
                    <a:lstStyle/>
                    <a:p>
                      <a:r>
                        <a:rPr sz="1100">
                          <a:solidFill>
                            <a:srgbClr val="FFFFFF"/>
                          </a:solidFill>
                          <a:latin typeface="Calibri"/>
                        </a:rPr>
                        <a:t>Orbital, M&amp;A-driven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Firefly Aerospace (FLY)</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$2.8B</a:t>
                      </a:r>
                    </a:p>
                  </a:txBody>
                  <a:tcPr>
                    <a:solidFill>
                      <a:srgbClr val="101626"/>
                    </a:solidFill>
                  </a:tcPr>
                </a:tc>
                <a:tc>
                  <a:txBody>
                    <a:bodyPr/>
                    <a:lstStyle/>
                    <a:p>
                      <a:r>
                        <a:rPr sz="1100">
                          <a:solidFill>
                            <a:srgbClr val="FFFFFF"/>
                          </a:solidFill>
                          <a:latin typeface="Calibri"/>
                        </a:rPr>
                        <a:t>$287M</a:t>
                      </a:r>
                    </a:p>
                  </a:txBody>
                  <a:tcPr>
                    <a:solidFill>
                      <a:srgbClr val="101626"/>
                    </a:solidFill>
                  </a:tcPr>
                </a:tc>
                <a:tc>
                  <a:txBody>
                    <a:bodyPr/>
                    <a:lstStyle/>
                    <a:p>
                      <a:r>
                        <a:rPr sz="1100">
                          <a:solidFill>
                            <a:srgbClr val="FFFFFF"/>
                          </a:solidFill>
                          <a:latin typeface="Calibri"/>
                        </a:rPr>
                        <a:t>8.0x</a:t>
                      </a:r>
                    </a:p>
                  </a:txBody>
                  <a:tcPr>
                    <a:solidFill>
                      <a:srgbClr val="101626"/>
                    </a:solidFill>
                  </a:tcPr>
                </a:tc>
                <a:tc>
                  <a:txBody>
                    <a:bodyPr/>
                    <a:lstStyle/>
                    <a:p>
                      <a:r>
                        <a:rPr sz="1100">
                          <a:solidFill>
                            <a:srgbClr val="FFFFFF"/>
                          </a:solidFill>
                          <a:latin typeface="Calibri"/>
                        </a:rPr>
                        <a:t>Launch + lunar; IPO Aug 2025</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Intuitive Machines (LUNR)</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$2.5B</a:t>
                      </a:r>
                    </a:p>
                  </a:txBody>
                  <a:tcPr>
                    <a:solidFill>
                      <a:srgbClr val="0D1220"/>
                    </a:solidFill>
                  </a:tcPr>
                </a:tc>
                <a:tc>
                  <a:txBody>
                    <a:bodyPr/>
                    <a:lstStyle/>
                    <a:p>
                      <a:r>
                        <a:rPr sz="1100">
                          <a:solidFill>
                            <a:srgbClr val="FFFFFF"/>
                          </a:solidFill>
                          <a:latin typeface="Calibri"/>
                        </a:rPr>
                        <a:t>$490M</a:t>
                      </a:r>
                    </a:p>
                  </a:txBody>
                  <a:tcPr>
                    <a:solidFill>
                      <a:srgbClr val="0D1220"/>
                    </a:solidFill>
                  </a:tcPr>
                </a:tc>
                <a:tc>
                  <a:txBody>
                    <a:bodyPr/>
                    <a:lstStyle/>
                    <a:p>
                      <a:r>
                        <a:rPr sz="1100">
                          <a:solidFill>
                            <a:srgbClr val="FFFFFF"/>
                          </a:solidFill>
                          <a:latin typeface="Calibri"/>
                        </a:rPr>
                        <a:t>5.3x</a:t>
                      </a:r>
                    </a:p>
                  </a:txBody>
                  <a:tcPr>
                    <a:solidFill>
                      <a:srgbClr val="0D1220"/>
                    </a:solidFill>
                  </a:tcPr>
                </a:tc>
                <a:tc>
                  <a:txBody>
                    <a:bodyPr/>
                    <a:lstStyle/>
                    <a:p>
                      <a:r>
                        <a:rPr sz="1100">
                          <a:solidFill>
                            <a:srgbClr val="FFFFFF"/>
                          </a:solidFill>
                          <a:latin typeface="Calibri"/>
                        </a:rPr>
                        <a:t>Flew Scorpius tanks (IM-1/IM-2)</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Spire Global (SPIR)</a:t>
                      </a:r>
                    </a:p>
                  </a:txBody>
                  <a:tcPr>
                    <a:solidFill>
                      <a:srgbClr val="101626"/>
                    </a:solidFill>
                  </a:tcPr>
                </a:tc>
                <a:tc>
                  <a:txBody>
                    <a:bodyPr/>
                    <a:lstStyle/>
                    <a:p>
                      <a:r>
                        <a:rPr sz="1100">
                          <a:solidFill>
                            <a:srgbClr val="FFFFFF"/>
                          </a:solidFill>
                          <a:latin typeface="Calibri"/>
                        </a:rPr>
                        <a:t>NYSE</a:t>
                      </a:r>
                    </a:p>
                  </a:txBody>
                  <a:tcPr>
                    <a:solidFill>
                      <a:srgbClr val="101626"/>
                    </a:solidFill>
                  </a:tcPr>
                </a:tc>
                <a:tc>
                  <a:txBody>
                    <a:bodyPr/>
                    <a:lstStyle/>
                    <a:p>
                      <a:r>
                        <a:rPr sz="1100">
                          <a:solidFill>
                            <a:srgbClr val="FFFFFF"/>
                          </a:solidFill>
                          <a:latin typeface="Calibri"/>
                        </a:rPr>
                        <a:t>$350M</a:t>
                      </a:r>
                    </a:p>
                  </a:txBody>
                  <a:tcPr>
                    <a:solidFill>
                      <a:srgbClr val="101626"/>
                    </a:solidFill>
                  </a:tcPr>
                </a:tc>
                <a:tc>
                  <a:txBody>
                    <a:bodyPr/>
                    <a:lstStyle/>
                    <a:p>
                      <a:r>
                        <a:rPr sz="1100">
                          <a:solidFill>
                            <a:srgbClr val="FFFFFF"/>
                          </a:solidFill>
                          <a:latin typeface="Calibri"/>
                        </a:rPr>
                        <a:t>$62M</a:t>
                      </a:r>
                    </a:p>
                  </a:txBody>
                  <a:tcPr>
                    <a:solidFill>
                      <a:srgbClr val="101626"/>
                    </a:solidFill>
                  </a:tcPr>
                </a:tc>
                <a:tc>
                  <a:txBody>
                    <a:bodyPr/>
                    <a:lstStyle/>
                    <a:p>
                      <a:r>
                        <a:rPr sz="1100">
                          <a:solidFill>
                            <a:srgbClr val="FFFFFF"/>
                          </a:solidFill>
                          <a:latin typeface="Calibri"/>
                        </a:rPr>
                        <a:t>4.3x</a:t>
                      </a:r>
                    </a:p>
                  </a:txBody>
                  <a:tcPr>
                    <a:solidFill>
                      <a:srgbClr val="101626"/>
                    </a:solidFill>
                  </a:tcPr>
                </a:tc>
                <a:tc>
                  <a:txBody>
                    <a:bodyPr/>
                    <a:lstStyle/>
                    <a:p>
                      <a:r>
                        <a:rPr sz="1100">
                          <a:solidFill>
                            <a:srgbClr val="FFFFFF"/>
                          </a:solidFill>
                          <a:latin typeface="Calibri"/>
                        </a:rPr>
                        <a:t>Space data/analytics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Virgin Galactic (SPCE)</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$368M</a:t>
                      </a:r>
                    </a:p>
                  </a:txBody>
                  <a:tcPr>
                    <a:solidFill>
                      <a:srgbClr val="0D1220"/>
                    </a:solidFill>
                  </a:tcPr>
                </a:tc>
                <a:tc>
                  <a:txBody>
                    <a:bodyPr/>
                    <a:lstStyle/>
                    <a:p>
                      <a:r>
                        <a:rPr sz="1100">
                          <a:solidFill>
                            <a:srgbClr val="FFFFFF"/>
                          </a:solidFill>
                          <a:latin typeface="Calibri"/>
                        </a:rPr>
                        <a:t>$1M</a:t>
                      </a:r>
                    </a:p>
                  </a:txBody>
                  <a:tcPr>
                    <a:solidFill>
                      <a:srgbClr val="0D1220"/>
                    </a:solidFill>
                  </a:tcPr>
                </a:tc>
                <a:tc>
                  <a:txBody>
                    <a:bodyPr/>
                    <a:lstStyle/>
                    <a:p>
                      <a:r>
                        <a:rPr sz="1100">
                          <a:solidFill>
                            <a:srgbClr val="FFFFFF"/>
                          </a:solidFill>
                          <a:latin typeface="Calibri"/>
                        </a:rPr>
                        <a:t>NM</a:t>
                      </a:r>
                    </a:p>
                  </a:txBody>
                  <a:tcPr>
                    <a:solidFill>
                      <a:srgbClr val="0D1220"/>
                    </a:solidFill>
                  </a:tcPr>
                </a:tc>
                <a:tc>
                  <a:txBody>
                    <a:bodyPr/>
                    <a:lstStyle/>
                    <a:p>
                      <a:r>
                        <a:rPr sz="1100">
                          <a:solidFill>
                            <a:srgbClr val="FFFFFF"/>
                          </a:solidFill>
                          <a:latin typeface="Calibri"/>
                        </a:rPr>
                        <a:t>Suborbital tourism; flights paused</a:t>
                      </a:r>
                    </a:p>
                  </a:txBody>
                  <a:tcPr>
                    <a:solidFill>
                      <a:srgbClr val="0D1220"/>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7315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EXOS VALUATION: $169.7M INDEPENDENT 409A EQUITY VALUE</a:t>
            </a:r>
          </a:p>
          <a:p>
            <a:pPr>
              <a:spcBef>
                <a:spcPts val="600"/>
              </a:spcBef>
            </a:pPr>
            <a:r>
              <a:rPr sz="1100">
                <a:solidFill>
                  <a:srgbClr val="CCCCCC"/>
                </a:solidFill>
                <a:latin typeface="Calibri"/>
              </a:rPr>
              <a:t>Independent 409A (Eqvista, 3/31/26): $169.7M equity; $8.66/share common; DLOM 36.51%
Market data: stockanalysis.com, 10/16/26 close; TTM revenue through latest reported quarter. DCF and market approach sit behind the model's reconciliation tab.
</a:t>
            </a:r>
          </a:p>
        </p:txBody>
      </p:sp>
      <p:sp>
        <p:nvSpPr>
          <p:cNvPr id="8" name="Rounded Rectangle 7"/>
          <p:cNvSpPr/>
          <p:nvPr/>
        </p:nvSpPr>
        <p:spPr>
          <a:xfrm>
            <a:off x="62179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WHY EXOS IS NOT VIRGIN GALACTIC</a:t>
            </a:r>
          </a:p>
          <a:p>
            <a:pPr>
              <a:spcBef>
                <a:spcPts val="600"/>
              </a:spcBef>
            </a:pPr>
            <a:r>
              <a:rPr sz="1100">
                <a:solidFill>
                  <a:srgbClr val="CCCCCC"/>
                </a:solidFill>
                <a:latin typeface="Calibri"/>
              </a:rPr>
              <a:t>• Sells to gov't/defense (contracted, recurring)
• Already profitable — SPCE never has been
• Owns lunar-proven cryogenic tank IP (Scorpius)
• Growth from commercializing M&amp;A / JV / teaming &amp; licensing products</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WHY NOW? MARKET TIMING</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SPACEX IPO (2026–2027)</a:t>
            </a:r>
          </a:p>
          <a:p>
            <a:pPr>
              <a:spcBef>
                <a:spcPts val="600"/>
              </a:spcBef>
            </a:pPr>
            <a:r>
              <a:rPr sz="1100">
                <a:solidFill>
                  <a:srgbClr val="CCCCCC"/>
                </a:solidFill>
                <a:latin typeface="Calibri"/>
              </a:rPr>
              <a:t>A SpaceX listing would be a landmark space-sector event. Creates massive retail and institutional interest in anything space-adjacent. A publicly listed Exos captures investor allocation from those seeking diversified space exposure beyond SpaceX.</a:t>
            </a:r>
          </a:p>
        </p:txBody>
      </p:sp>
      <p:sp>
        <p:nvSpPr>
          <p:cNvPr id="7" name="Rounded Rectangle 6"/>
          <p:cNvSpPr/>
          <p:nvPr/>
        </p:nvSpPr>
        <p:spPr>
          <a:xfrm>
            <a:off x="43891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DEFENSE SPENDING SURGE</a:t>
            </a:r>
          </a:p>
          <a:p>
            <a:pPr>
              <a:spcBef>
                <a:spcPts val="600"/>
              </a:spcBef>
            </a:pPr>
            <a:r>
              <a:rPr sz="1100">
                <a:solidFill>
                  <a:srgbClr val="CCCCCC"/>
                </a:solidFill>
                <a:latin typeface="Calibri"/>
              </a:rPr>
              <a:t>NATO nations committed to 2%+ GDP on defense. U.S. and allied governments actively seeking domestic defense/space capabilities. Exos provides flight test infrastructure that supports national security objectives.</a:t>
            </a:r>
          </a:p>
        </p:txBody>
      </p:sp>
      <p:sp>
        <p:nvSpPr>
          <p:cNvPr id="8" name="Rounded Rectangle 7"/>
          <p:cNvSpPr/>
          <p:nvPr/>
        </p:nvSpPr>
        <p:spPr>
          <a:xfrm>
            <a:off x="80467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IN-SPACE REFUELING MARKET</a:t>
            </a:r>
          </a:p>
          <a:p>
            <a:pPr>
              <a:spcBef>
                <a:spcPts val="600"/>
              </a:spcBef>
            </a:pPr>
            <a:r>
              <a:rPr sz="1100">
                <a:solidFill>
                  <a:srgbClr val="CCCCCC"/>
                </a:solidFill>
                <a:latin typeface="Calibri"/>
              </a:rPr>
              <a:t>SpaceX Starship depot, NASA Artemis architecture, commercial space stations — all require cryogenic storage solutions. Scorpius Type-5 tanks are TRL-9, flown to the Moon on IM-1 and IM-2. Market timing is ideal for this acquisition.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p:txBody>
          <a:bodyPr>
            <a:normAutofit fontScale="90000"/>
          </a:bodyPr>
          <a:lstStyle/>
          <a:p>
            <a:r>
              <a:rPr>
                <a:solidFill>
                  <a:srgbClr val="FFFFFF"/>
                </a:solidFill>
              </a:rPr>
              <a:t>POLICY TAILWIND — THE 'GOLDEN AGE OF SPACE TRANSPORTATION'</a:t>
            </a:r>
          </a:p>
        </p:txBody>
      </p:sp>
      <p:sp>
        <p:nvSpPr>
          <p:cNvPr id="3" name="Content Placeholder 2"/>
          <p:cNvSpPr>
            <a:spLocks noGrp="1"/>
          </p:cNvSpPr>
          <p:nvPr>
            <p:ph idx="1"/>
          </p:nvPr>
        </p:nvSpPr>
        <p:spPr/>
        <p:txBody>
          <a:bodyPr wrap="square"/>
          <a:lstStyle/>
          <a:p>
            <a:pPr>
              <a:defRPr sz="1500"/>
            </a:pPr>
            <a:r>
              <a:rPr>
                <a:solidFill>
                  <a:srgbClr val="FFFFFF"/>
                </a:solidFill>
              </a:rPr>
              <a:t>New U.S. National Space Transportation Policy (Aug 2026) targets 1,000+ launches AND reentries per year by 2030 — a ~10x market expansion; reentry is the underserved half.</a:t>
            </a:r>
          </a:p>
          <a:p>
            <a:pPr>
              <a:defRPr sz="1500"/>
            </a:pPr>
            <a:r>
              <a:rPr>
                <a:solidFill>
                  <a:srgbClr val="FFFFFF"/>
                </a:solidFill>
              </a:rPr>
              <a:t>Reusable + recoverable: every Exos flight is a launch and a reentry — native to the policy's hardest goal, where few operators compete.</a:t>
            </a:r>
          </a:p>
          <a:p>
            <a:pPr>
              <a:defRPr sz="1500"/>
            </a:pPr>
            <a:r>
              <a:rPr>
                <a:solidFill>
                  <a:srgbClr val="FFFFFF"/>
                </a:solidFill>
              </a:rPr>
              <a:t>48-hour responsive launch: a 2-flight / 48-hour turnaround is proposed under Exos Project KARMEN (USSF SBIR SF254-D1002) — not yet demonstrated.</a:t>
            </a:r>
          </a:p>
          <a:p>
            <a:pPr>
              <a:defRPr sz="1500"/>
            </a:pPr>
            <a:r>
              <a:rPr>
                <a:solidFill>
                  <a:srgbClr val="FFFFFF"/>
                </a:solidFill>
              </a:rPr>
              <a:t>Spaceport &amp; reentry-site build-out + streamlined Part 450 portfolio licensing favor Exos's minimal-infrastructure, multi-site model (West Texas).</a:t>
            </a:r>
          </a:p>
          <a:p>
            <a:pPr>
              <a:defRPr sz="1500"/>
            </a:pPr>
            <a:r>
              <a:rPr>
                <a:solidFill>
                  <a:srgbClr val="FFFFFF"/>
                </a:solidFill>
              </a:rPr>
              <a:t>Commercial Moon/Mars push + export emphasis align with Scorpius Type-5 tanks (lunar heritage) and international wet-lease.</a:t>
            </a:r>
          </a:p>
          <a:p>
            <a:pPr>
              <a:defRPr sz="1500"/>
            </a:pPr>
            <a:r>
              <a:rPr>
                <a:solidFill>
                  <a:srgbClr val="FFFFFF"/>
                </a:solidFill>
              </a:rPr>
              <a:t>Net: federal demand-pull that reinforces the market-timing thesis.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0" name="Straight Connector 249">
            <a:extLst>
              <a:ext uri="{FF2B5EF4-FFF2-40B4-BE49-F238E27FC236}">
                <a16:creationId xmlns:a16="http://schemas.microsoft.com/office/drawing/2014/main" id="{05F5189F-7000-F349-8F07-549B491CE0DE}"/>
              </a:ext>
            </a:extLst>
          </p:cNvPr>
          <p:cNvCxnSpPr>
            <a:cxnSpLocks/>
            <a:stCxn id="18" idx="6"/>
          </p:cNvCxnSpPr>
          <p:nvPr/>
        </p:nvCxnSpPr>
        <p:spPr>
          <a:xfrm flipV="1">
            <a:off x="774878" y="3381363"/>
            <a:ext cx="11417123" cy="2036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B97CC9A0-2882-2743-A0BA-3C78230875D7}"/>
              </a:ext>
            </a:extLst>
          </p:cNvPr>
          <p:cNvGrpSpPr/>
          <p:nvPr/>
        </p:nvGrpSpPr>
        <p:grpSpPr>
          <a:xfrm>
            <a:off x="-6795" y="-7680"/>
            <a:ext cx="1423729" cy="2405984"/>
            <a:chOff x="-6796" y="-7680"/>
            <a:chExt cx="1423729" cy="2405984"/>
          </a:xfrm>
        </p:grpSpPr>
        <p:sp>
          <p:nvSpPr>
            <p:cNvPr id="2" name="Text Placeholder 29">
              <a:extLst>
                <a:ext uri="{FF2B5EF4-FFF2-40B4-BE49-F238E27FC236}">
                  <a16:creationId xmlns:a16="http://schemas.microsoft.com/office/drawing/2014/main" id="{0134226A-4BE6-B644-994F-1D1228F619F6}"/>
                </a:ext>
              </a:extLst>
            </p:cNvPr>
            <p:cNvSpPr txBox="1">
              <a:spLocks/>
            </p:cNvSpPr>
            <p:nvPr/>
          </p:nvSpPr>
          <p:spPr>
            <a:xfrm>
              <a:off x="93734" y="1729890"/>
              <a:ext cx="1047990" cy="668414"/>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Armadillo Aerospace Founded by John Carmack</a:t>
              </a:r>
            </a:p>
          </p:txBody>
        </p:sp>
        <p:pic>
          <p:nvPicPr>
            <p:cNvPr id="9" name="Picture 8">
              <a:extLst>
                <a:ext uri="{FF2B5EF4-FFF2-40B4-BE49-F238E27FC236}">
                  <a16:creationId xmlns:a16="http://schemas.microsoft.com/office/drawing/2014/main" id="{8E40D61C-0BD0-4047-99BF-216FCA510497}"/>
                </a:ext>
              </a:extLst>
            </p:cNvPr>
            <p:cNvPicPr>
              <a:picLocks noChangeAspect="1"/>
            </p:cNvPicPr>
            <p:nvPr/>
          </p:nvPicPr>
          <p:blipFill rotWithShape="1">
            <a:blip r:embed="rId2"/>
            <a:srcRect l="10832" r="7819"/>
            <a:stretch/>
          </p:blipFill>
          <p:spPr>
            <a:xfrm>
              <a:off x="-6796" y="-7680"/>
              <a:ext cx="1423729" cy="1223696"/>
            </a:xfrm>
            <a:prstGeom prst="rect">
              <a:avLst/>
            </a:prstGeom>
          </p:spPr>
        </p:pic>
      </p:grpSp>
      <p:grpSp>
        <p:nvGrpSpPr>
          <p:cNvPr id="172" name="Group 171">
            <a:extLst>
              <a:ext uri="{FF2B5EF4-FFF2-40B4-BE49-F238E27FC236}">
                <a16:creationId xmlns:a16="http://schemas.microsoft.com/office/drawing/2014/main" id="{F7D382C9-9F43-AC48-A2DD-48DAF2C85417}"/>
              </a:ext>
            </a:extLst>
          </p:cNvPr>
          <p:cNvGrpSpPr/>
          <p:nvPr/>
        </p:nvGrpSpPr>
        <p:grpSpPr>
          <a:xfrm>
            <a:off x="76201" y="3861926"/>
            <a:ext cx="1204347" cy="2984483"/>
            <a:chOff x="1352913" y="3854267"/>
            <a:chExt cx="1204347" cy="2984483"/>
          </a:xfrm>
        </p:grpSpPr>
        <p:sp>
          <p:nvSpPr>
            <p:cNvPr id="50" name="Text Placeholder 28">
              <a:extLst>
                <a:ext uri="{FF2B5EF4-FFF2-40B4-BE49-F238E27FC236}">
                  <a16:creationId xmlns:a16="http://schemas.microsoft.com/office/drawing/2014/main" id="{9B629466-F313-5B43-AA9F-24DD372A948B}"/>
                </a:ext>
              </a:extLst>
            </p:cNvPr>
            <p:cNvSpPr txBox="1">
              <a:spLocks/>
            </p:cNvSpPr>
            <p:nvPr/>
          </p:nvSpPr>
          <p:spPr>
            <a:xfrm>
              <a:off x="1370447" y="3854267"/>
              <a:ext cx="1179272" cy="83703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tint val="75000"/>
                    </a:prstClr>
                  </a:solidFill>
                  <a:effectLst/>
                  <a:uLnTx/>
                  <a:uFillTx/>
                  <a:latin typeface="Duplicate Sans Light" pitchFamily="2" charset="77"/>
                  <a:ea typeface="+mn-ea"/>
                  <a:cs typeface="+mn-cs"/>
                  <a:sym typeface="Arial"/>
                </a:rPr>
                <a:t> X-Prize Competition w/Pixel and Texel Round 1 Winners</a:t>
              </a:r>
            </a:p>
          </p:txBody>
        </p:sp>
        <p:pic>
          <p:nvPicPr>
            <p:cNvPr id="51" name="Picture 50">
              <a:extLst>
                <a:ext uri="{FF2B5EF4-FFF2-40B4-BE49-F238E27FC236}">
                  <a16:creationId xmlns:a16="http://schemas.microsoft.com/office/drawing/2014/main" id="{18ED0C30-928B-9042-AC56-19102AC67733}"/>
                </a:ext>
              </a:extLst>
            </p:cNvPr>
            <p:cNvPicPr>
              <a:picLocks noChangeAspect="1"/>
            </p:cNvPicPr>
            <p:nvPr/>
          </p:nvPicPr>
          <p:blipFill>
            <a:blip r:embed="rId3"/>
            <a:stretch>
              <a:fillRect/>
            </a:stretch>
          </p:blipFill>
          <p:spPr>
            <a:xfrm>
              <a:off x="1352913" y="5752903"/>
              <a:ext cx="1204347" cy="1085847"/>
            </a:xfrm>
            <a:prstGeom prst="rect">
              <a:avLst/>
            </a:prstGeom>
          </p:spPr>
        </p:pic>
      </p:grpSp>
      <p:grpSp>
        <p:nvGrpSpPr>
          <p:cNvPr id="174" name="Group 173">
            <a:extLst>
              <a:ext uri="{FF2B5EF4-FFF2-40B4-BE49-F238E27FC236}">
                <a16:creationId xmlns:a16="http://schemas.microsoft.com/office/drawing/2014/main" id="{BD751345-26E3-C341-878A-A5CE9E689EB1}"/>
              </a:ext>
            </a:extLst>
          </p:cNvPr>
          <p:cNvGrpSpPr/>
          <p:nvPr/>
        </p:nvGrpSpPr>
        <p:grpSpPr>
          <a:xfrm>
            <a:off x="1447801" y="0"/>
            <a:ext cx="995353" cy="2434792"/>
            <a:chOff x="2294784" y="1264"/>
            <a:chExt cx="995353" cy="2434792"/>
          </a:xfrm>
        </p:grpSpPr>
        <p:sp>
          <p:nvSpPr>
            <p:cNvPr id="52" name="Text Placeholder 31">
              <a:extLst>
                <a:ext uri="{FF2B5EF4-FFF2-40B4-BE49-F238E27FC236}">
                  <a16:creationId xmlns:a16="http://schemas.microsoft.com/office/drawing/2014/main" id="{8AFE6FE1-A6FB-554B-8D70-CEC726AFC554}"/>
                </a:ext>
              </a:extLst>
            </p:cNvPr>
            <p:cNvSpPr txBox="1">
              <a:spLocks/>
            </p:cNvSpPr>
            <p:nvPr/>
          </p:nvSpPr>
          <p:spPr>
            <a:xfrm>
              <a:off x="2309841" y="1774749"/>
              <a:ext cx="980296" cy="6613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Lunar Lander Challenge 1</a:t>
              </a:r>
              <a:r>
                <a:rPr kumimoji="0" lang="en-US" sz="1200" b="0" i="0" u="none" strike="noStrike" kern="1200" cap="none" spc="0" normalizeH="0" baseline="30000" noProof="0">
                  <a:ln>
                    <a:noFill/>
                  </a:ln>
                  <a:solidFill>
                    <a:prstClr val="white"/>
                  </a:solidFill>
                  <a:effectLst/>
                  <a:uLnTx/>
                  <a:uFillTx/>
                  <a:latin typeface="Duplicate Sans Light" pitchFamily="2" charset="77"/>
                  <a:ea typeface="+mn-ea"/>
                  <a:cs typeface="+mn-cs"/>
                  <a:sym typeface="Arial"/>
                </a:rPr>
                <a:t>st</a:t>
              </a: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Place</a:t>
              </a:r>
            </a:p>
          </p:txBody>
        </p:sp>
        <p:pic>
          <p:nvPicPr>
            <p:cNvPr id="53" name="Picture 52">
              <a:extLst>
                <a:ext uri="{FF2B5EF4-FFF2-40B4-BE49-F238E27FC236}">
                  <a16:creationId xmlns:a16="http://schemas.microsoft.com/office/drawing/2014/main" id="{81D16C87-7D80-F342-A24D-9B4F977C1214}"/>
                </a:ext>
              </a:extLst>
            </p:cNvPr>
            <p:cNvPicPr>
              <a:picLocks noChangeAspect="1"/>
            </p:cNvPicPr>
            <p:nvPr/>
          </p:nvPicPr>
          <p:blipFill>
            <a:blip r:embed="rId4"/>
            <a:stretch>
              <a:fillRect/>
            </a:stretch>
          </p:blipFill>
          <p:spPr>
            <a:xfrm>
              <a:off x="2294784" y="1264"/>
              <a:ext cx="873950" cy="1202595"/>
            </a:xfrm>
            <a:prstGeom prst="rect">
              <a:avLst/>
            </a:prstGeom>
          </p:spPr>
        </p:pic>
      </p:grpSp>
      <p:grpSp>
        <p:nvGrpSpPr>
          <p:cNvPr id="171" name="Group 170">
            <a:extLst>
              <a:ext uri="{FF2B5EF4-FFF2-40B4-BE49-F238E27FC236}">
                <a16:creationId xmlns:a16="http://schemas.microsoft.com/office/drawing/2014/main" id="{7CA0F7DE-FA5B-AC42-A5A6-AAA615674B4E}"/>
              </a:ext>
            </a:extLst>
          </p:cNvPr>
          <p:cNvGrpSpPr/>
          <p:nvPr/>
        </p:nvGrpSpPr>
        <p:grpSpPr>
          <a:xfrm>
            <a:off x="1334350" y="3689003"/>
            <a:ext cx="1421163" cy="3165022"/>
            <a:chOff x="2652891" y="3689002"/>
            <a:chExt cx="1421163" cy="3165022"/>
          </a:xfrm>
        </p:grpSpPr>
        <p:sp>
          <p:nvSpPr>
            <p:cNvPr id="64" name="Text Placeholder 30">
              <a:extLst>
                <a:ext uri="{FF2B5EF4-FFF2-40B4-BE49-F238E27FC236}">
                  <a16:creationId xmlns:a16="http://schemas.microsoft.com/office/drawing/2014/main" id="{94F49064-4A41-9B4B-8A3E-DE0C19202185}"/>
                </a:ext>
              </a:extLst>
            </p:cNvPr>
            <p:cNvSpPr txBox="1">
              <a:spLocks/>
            </p:cNvSpPr>
            <p:nvPr/>
          </p:nvSpPr>
          <p:spPr>
            <a:xfrm>
              <a:off x="2652891" y="3689002"/>
              <a:ext cx="1301208" cy="1177694"/>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tint val="75000"/>
                    </a:prstClr>
                  </a:solidFill>
                  <a:effectLst/>
                  <a:uLnTx/>
                  <a:uFillTx/>
                  <a:latin typeface="Duplicate Sans Light" pitchFamily="2" charset="77"/>
                  <a:ea typeface="+mn-ea"/>
                  <a:cs typeface="+mn-cs"/>
                  <a:sym typeface="Arial"/>
                </a:rPr>
                <a:t>Lunar Lander Challenge 2009 — Armadillo prize winner; NASA Morpheus sale</a:t>
              </a:r>
            </a:p>
          </p:txBody>
        </p:sp>
        <p:pic>
          <p:nvPicPr>
            <p:cNvPr id="65" name="Picture 64">
              <a:extLst>
                <a:ext uri="{FF2B5EF4-FFF2-40B4-BE49-F238E27FC236}">
                  <a16:creationId xmlns:a16="http://schemas.microsoft.com/office/drawing/2014/main" id="{4F3EE0CA-C51F-FA49-858F-6605AB5D135B}"/>
                </a:ext>
              </a:extLst>
            </p:cNvPr>
            <p:cNvPicPr>
              <a:picLocks noChangeAspect="1"/>
            </p:cNvPicPr>
            <p:nvPr/>
          </p:nvPicPr>
          <p:blipFill>
            <a:blip r:embed="rId5"/>
            <a:stretch>
              <a:fillRect/>
            </a:stretch>
          </p:blipFill>
          <p:spPr>
            <a:xfrm>
              <a:off x="2690142" y="5760562"/>
              <a:ext cx="1383912" cy="1093462"/>
            </a:xfrm>
            <a:prstGeom prst="rect">
              <a:avLst/>
            </a:prstGeom>
          </p:spPr>
        </p:pic>
      </p:grpSp>
      <p:grpSp>
        <p:nvGrpSpPr>
          <p:cNvPr id="175" name="Group 174">
            <a:extLst>
              <a:ext uri="{FF2B5EF4-FFF2-40B4-BE49-F238E27FC236}">
                <a16:creationId xmlns:a16="http://schemas.microsoft.com/office/drawing/2014/main" id="{9755081C-60D2-DB48-8DBC-DCFE562F53F7}"/>
              </a:ext>
            </a:extLst>
          </p:cNvPr>
          <p:cNvGrpSpPr/>
          <p:nvPr/>
        </p:nvGrpSpPr>
        <p:grpSpPr>
          <a:xfrm>
            <a:off x="2330660" y="-4627"/>
            <a:ext cx="1550463" cy="2245769"/>
            <a:chOff x="2516713" y="12957"/>
            <a:chExt cx="2696293" cy="4058372"/>
          </a:xfrm>
        </p:grpSpPr>
        <p:sp>
          <p:nvSpPr>
            <p:cNvPr id="111" name="Text Placeholder 33">
              <a:extLst>
                <a:ext uri="{FF2B5EF4-FFF2-40B4-BE49-F238E27FC236}">
                  <a16:creationId xmlns:a16="http://schemas.microsoft.com/office/drawing/2014/main" id="{7B7F0C78-F6B8-864A-BDB5-DF3758C31578}"/>
                </a:ext>
              </a:extLst>
            </p:cNvPr>
            <p:cNvSpPr txBox="1">
              <a:spLocks/>
            </p:cNvSpPr>
            <p:nvPr/>
          </p:nvSpPr>
          <p:spPr>
            <a:xfrm>
              <a:off x="3021265" y="3234291"/>
              <a:ext cx="1840514" cy="8370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Rocket Racing League development program</a:t>
              </a:r>
            </a:p>
          </p:txBody>
        </p:sp>
        <p:pic>
          <p:nvPicPr>
            <p:cNvPr id="112" name="Picture 111">
              <a:extLst>
                <a:ext uri="{FF2B5EF4-FFF2-40B4-BE49-F238E27FC236}">
                  <a16:creationId xmlns:a16="http://schemas.microsoft.com/office/drawing/2014/main" id="{CE2744DA-1242-8240-BA05-207078298168}"/>
                </a:ext>
              </a:extLst>
            </p:cNvPr>
            <p:cNvPicPr>
              <a:picLocks noChangeAspect="1"/>
            </p:cNvPicPr>
            <p:nvPr/>
          </p:nvPicPr>
          <p:blipFill>
            <a:blip r:embed="rId6"/>
            <a:stretch>
              <a:fillRect/>
            </a:stretch>
          </p:blipFill>
          <p:spPr>
            <a:xfrm>
              <a:off x="2516713" y="12957"/>
              <a:ext cx="2696293" cy="2236248"/>
            </a:xfrm>
            <a:prstGeom prst="rect">
              <a:avLst/>
            </a:prstGeom>
          </p:spPr>
        </p:pic>
      </p:grpSp>
      <p:grpSp>
        <p:nvGrpSpPr>
          <p:cNvPr id="170" name="Group 169">
            <a:extLst>
              <a:ext uri="{FF2B5EF4-FFF2-40B4-BE49-F238E27FC236}">
                <a16:creationId xmlns:a16="http://schemas.microsoft.com/office/drawing/2014/main" id="{74A6F9BE-F17E-D842-AD5F-39182FA2099B}"/>
              </a:ext>
            </a:extLst>
          </p:cNvPr>
          <p:cNvGrpSpPr/>
          <p:nvPr/>
        </p:nvGrpSpPr>
        <p:grpSpPr>
          <a:xfrm>
            <a:off x="2847158" y="3861564"/>
            <a:ext cx="1301824" cy="3005478"/>
            <a:chOff x="10370476" y="3852521"/>
            <a:chExt cx="1301824" cy="3005478"/>
          </a:xfrm>
        </p:grpSpPr>
        <p:sp>
          <p:nvSpPr>
            <p:cNvPr id="115" name="Text Placeholder 32">
              <a:extLst>
                <a:ext uri="{FF2B5EF4-FFF2-40B4-BE49-F238E27FC236}">
                  <a16:creationId xmlns:a16="http://schemas.microsoft.com/office/drawing/2014/main" id="{9800EAC4-26D8-3E43-88E1-8DBC2DF7B2DE}"/>
                </a:ext>
              </a:extLst>
            </p:cNvPr>
            <p:cNvSpPr txBox="1">
              <a:spLocks/>
            </p:cNvSpPr>
            <p:nvPr/>
          </p:nvSpPr>
          <p:spPr>
            <a:xfrm>
              <a:off x="10406362" y="3852521"/>
              <a:ext cx="1256137" cy="837037"/>
            </a:xfrm>
            <a:prstGeom prst="rect">
              <a:avLst/>
            </a:prstGeom>
            <a:ln w="6350">
              <a:noFill/>
            </a:ln>
          </p:spPr>
          <p:txBody>
            <a:bodyPr vert="horz" lIns="91440" tIns="45720" rIns="91440" bIns="45720" rtlCol="0">
              <a:norm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Medium" pitchFamily="2" charset="77"/>
                  <a:ea typeface="+mn-ea"/>
                  <a:cs typeface="+mn-cs"/>
                  <a:sym typeface="Arial"/>
                </a:rPr>
                <a:t>2010-2013</a:t>
              </a: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STIG Rocket flies to 95km</a:t>
              </a:r>
            </a:p>
          </p:txBody>
        </p:sp>
        <p:pic>
          <p:nvPicPr>
            <p:cNvPr id="118" name="Picture 117">
              <a:extLst>
                <a:ext uri="{FF2B5EF4-FFF2-40B4-BE49-F238E27FC236}">
                  <a16:creationId xmlns:a16="http://schemas.microsoft.com/office/drawing/2014/main" id="{AA1FFEEA-2509-B94C-B49A-E866AD2FFF10}"/>
                </a:ext>
              </a:extLst>
            </p:cNvPr>
            <p:cNvPicPr>
              <a:picLocks noChangeAspect="1"/>
            </p:cNvPicPr>
            <p:nvPr/>
          </p:nvPicPr>
          <p:blipFill>
            <a:blip r:embed="rId7"/>
            <a:stretch>
              <a:fillRect/>
            </a:stretch>
          </p:blipFill>
          <p:spPr>
            <a:xfrm>
              <a:off x="10370477" y="5755678"/>
              <a:ext cx="909394" cy="1102320"/>
            </a:xfrm>
            <a:prstGeom prst="rect">
              <a:avLst/>
            </a:prstGeom>
          </p:spPr>
        </p:pic>
        <p:pic>
          <p:nvPicPr>
            <p:cNvPr id="116" name="Picture 115">
              <a:extLst>
                <a:ext uri="{FF2B5EF4-FFF2-40B4-BE49-F238E27FC236}">
                  <a16:creationId xmlns:a16="http://schemas.microsoft.com/office/drawing/2014/main" id="{D388C5FD-7DC7-394A-83BA-A97CC56179C9}"/>
                </a:ext>
              </a:extLst>
            </p:cNvPr>
            <p:cNvPicPr>
              <a:picLocks noChangeAspect="1"/>
            </p:cNvPicPr>
            <p:nvPr/>
          </p:nvPicPr>
          <p:blipFill>
            <a:blip r:embed="rId8"/>
            <a:stretch>
              <a:fillRect/>
            </a:stretch>
          </p:blipFill>
          <p:spPr>
            <a:xfrm>
              <a:off x="10370476" y="5735318"/>
              <a:ext cx="441114" cy="545826"/>
            </a:xfrm>
            <a:prstGeom prst="rect">
              <a:avLst/>
            </a:prstGeom>
          </p:spPr>
        </p:pic>
        <p:pic>
          <p:nvPicPr>
            <p:cNvPr id="117" name="Picture 116">
              <a:extLst>
                <a:ext uri="{FF2B5EF4-FFF2-40B4-BE49-F238E27FC236}">
                  <a16:creationId xmlns:a16="http://schemas.microsoft.com/office/drawing/2014/main" id="{514848F5-FDDB-0848-A81B-26D9FD894D19}"/>
                </a:ext>
              </a:extLst>
            </p:cNvPr>
            <p:cNvPicPr>
              <a:picLocks noChangeAspect="1"/>
            </p:cNvPicPr>
            <p:nvPr/>
          </p:nvPicPr>
          <p:blipFill>
            <a:blip r:embed="rId9"/>
            <a:stretch>
              <a:fillRect/>
            </a:stretch>
          </p:blipFill>
          <p:spPr>
            <a:xfrm>
              <a:off x="11325203" y="5746746"/>
              <a:ext cx="347097" cy="1111253"/>
            </a:xfrm>
            <a:prstGeom prst="rect">
              <a:avLst/>
            </a:prstGeom>
          </p:spPr>
        </p:pic>
      </p:grpSp>
      <p:grpSp>
        <p:nvGrpSpPr>
          <p:cNvPr id="22" name="Group 21">
            <a:extLst>
              <a:ext uri="{FF2B5EF4-FFF2-40B4-BE49-F238E27FC236}">
                <a16:creationId xmlns:a16="http://schemas.microsoft.com/office/drawing/2014/main" id="{E602C090-3748-EE41-9733-27DA275AE7B4}"/>
              </a:ext>
            </a:extLst>
          </p:cNvPr>
          <p:cNvGrpSpPr/>
          <p:nvPr/>
        </p:nvGrpSpPr>
        <p:grpSpPr>
          <a:xfrm>
            <a:off x="458331" y="2662318"/>
            <a:ext cx="316547" cy="897677"/>
            <a:chOff x="458330" y="2662318"/>
            <a:chExt cx="316547" cy="897677"/>
          </a:xfrm>
        </p:grpSpPr>
        <p:grpSp>
          <p:nvGrpSpPr>
            <p:cNvPr id="20" name="Group 19">
              <a:extLst>
                <a:ext uri="{FF2B5EF4-FFF2-40B4-BE49-F238E27FC236}">
                  <a16:creationId xmlns:a16="http://schemas.microsoft.com/office/drawing/2014/main" id="{78BA7303-DE4C-904C-832D-4FBC8EA2BAA3}"/>
                </a:ext>
              </a:extLst>
            </p:cNvPr>
            <p:cNvGrpSpPr/>
            <p:nvPr/>
          </p:nvGrpSpPr>
          <p:grpSpPr>
            <a:xfrm>
              <a:off x="458330" y="3243448"/>
              <a:ext cx="316547" cy="316547"/>
              <a:chOff x="762004" y="3201390"/>
              <a:chExt cx="457195" cy="457195"/>
            </a:xfrm>
          </p:grpSpPr>
          <p:sp>
            <p:nvSpPr>
              <p:cNvPr id="16" name="Oval 15">
                <a:extLst>
                  <a:ext uri="{FF2B5EF4-FFF2-40B4-BE49-F238E27FC236}">
                    <a16:creationId xmlns:a16="http://schemas.microsoft.com/office/drawing/2014/main" id="{9FCBBC82-AC46-9B4E-91EC-83CEDA23961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8" name="Oval 17">
                <a:extLst>
                  <a:ext uri="{FF2B5EF4-FFF2-40B4-BE49-F238E27FC236}">
                    <a16:creationId xmlns:a16="http://schemas.microsoft.com/office/drawing/2014/main" id="{6757FD6F-726E-9846-A73A-FE48459EBD8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9" name="Oval 18">
                <a:extLst>
                  <a:ext uri="{FF2B5EF4-FFF2-40B4-BE49-F238E27FC236}">
                    <a16:creationId xmlns:a16="http://schemas.microsoft.com/office/drawing/2014/main" id="{F2559950-0179-9947-9CB8-326A3154920E}"/>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grpSp>
        <p:cxnSp>
          <p:nvCxnSpPr>
            <p:cNvPr id="43" name="Straight Connector 42">
              <a:extLst>
                <a:ext uri="{FF2B5EF4-FFF2-40B4-BE49-F238E27FC236}">
                  <a16:creationId xmlns:a16="http://schemas.microsoft.com/office/drawing/2014/main" id="{F2DA4D71-EFF6-FB46-BF9C-B59369DE4744}"/>
                </a:ext>
              </a:extLst>
            </p:cNvPr>
            <p:cNvCxnSpPr>
              <a:cxnSpLocks/>
              <a:stCxn id="16" idx="0"/>
            </p:cNvCxnSpPr>
            <p:nvPr/>
          </p:nvCxnSpPr>
          <p:spPr>
            <a:xfrm flipV="1">
              <a:off x="616603" y="2662318"/>
              <a:ext cx="0" cy="59399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3" name="Rectangle 122">
            <a:extLst>
              <a:ext uri="{FF2B5EF4-FFF2-40B4-BE49-F238E27FC236}">
                <a16:creationId xmlns:a16="http://schemas.microsoft.com/office/drawing/2014/main" id="{D3E420DB-D41C-EC48-A371-C917AFDF0950}"/>
              </a:ext>
            </a:extLst>
          </p:cNvPr>
          <p:cNvSpPr/>
          <p:nvPr/>
        </p:nvSpPr>
        <p:spPr>
          <a:xfrm>
            <a:off x="370857" y="326375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Arial"/>
                <a:sym typeface="Arial"/>
              </a:rPr>
              <a:t>2000</a:t>
            </a:r>
          </a:p>
        </p:txBody>
      </p:sp>
      <p:sp>
        <p:nvSpPr>
          <p:cNvPr id="70" name="Oval 69">
            <a:extLst>
              <a:ext uri="{FF2B5EF4-FFF2-40B4-BE49-F238E27FC236}">
                <a16:creationId xmlns:a16="http://schemas.microsoft.com/office/drawing/2014/main" id="{3A791FC6-4928-2F4D-8D14-BA5D589831A9}"/>
              </a:ext>
            </a:extLst>
          </p:cNvPr>
          <p:cNvSpPr/>
          <p:nvPr/>
        </p:nvSpPr>
        <p:spPr>
          <a:xfrm rot="10800000">
            <a:off x="1000471" y="3257328"/>
            <a:ext cx="316547" cy="316547"/>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cxnSp>
        <p:nvCxnSpPr>
          <p:cNvPr id="139" name="Straight Connector 138">
            <a:extLst>
              <a:ext uri="{FF2B5EF4-FFF2-40B4-BE49-F238E27FC236}">
                <a16:creationId xmlns:a16="http://schemas.microsoft.com/office/drawing/2014/main" id="{B9B06481-E239-C04A-A089-FCCD4A1F48B0}"/>
              </a:ext>
            </a:extLst>
          </p:cNvPr>
          <p:cNvCxnSpPr>
            <a:cxnSpLocks/>
          </p:cNvCxnSpPr>
          <p:nvPr/>
        </p:nvCxnSpPr>
        <p:spPr>
          <a:xfrm flipH="1">
            <a:off x="6179300" y="4260467"/>
            <a:ext cx="440107" cy="68376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62" name="Rectangle 161">
            <a:extLst>
              <a:ext uri="{FF2B5EF4-FFF2-40B4-BE49-F238E27FC236}">
                <a16:creationId xmlns:a16="http://schemas.microsoft.com/office/drawing/2014/main" id="{AFDBAE9B-9D8C-6347-81D4-369DC63E7832}"/>
              </a:ext>
            </a:extLst>
          </p:cNvPr>
          <p:cNvSpPr/>
          <p:nvPr/>
        </p:nvSpPr>
        <p:spPr>
          <a:xfrm>
            <a:off x="4157499" y="3232194"/>
            <a:ext cx="184731" cy="338554"/>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Arial"/>
              <a:sym typeface="Arial"/>
            </a:endParaRPr>
          </a:p>
        </p:txBody>
      </p:sp>
      <p:sp>
        <p:nvSpPr>
          <p:cNvPr id="181" name="Text Placeholder 32">
            <a:extLst>
              <a:ext uri="{FF2B5EF4-FFF2-40B4-BE49-F238E27FC236}">
                <a16:creationId xmlns:a16="http://schemas.microsoft.com/office/drawing/2014/main" id="{D3788FEE-C5AD-CC43-B5E5-2EAF73969D9D}"/>
              </a:ext>
            </a:extLst>
          </p:cNvPr>
          <p:cNvSpPr txBox="1">
            <a:spLocks/>
          </p:cNvSpPr>
          <p:nvPr/>
        </p:nvSpPr>
        <p:spPr>
          <a:xfrm>
            <a:off x="3684237" y="1774751"/>
            <a:ext cx="1330540" cy="384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Super Mod</a:t>
            </a:r>
          </a:p>
          <a:p>
            <a:pPr marL="0" marR="0" lvl="0" indent="0" algn="ctr" defTabSz="91438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(VTVL)</a:t>
            </a:r>
          </a:p>
        </p:txBody>
      </p:sp>
      <p:pic>
        <p:nvPicPr>
          <p:cNvPr id="182" name="Picture 181">
            <a:extLst>
              <a:ext uri="{FF2B5EF4-FFF2-40B4-BE49-F238E27FC236}">
                <a16:creationId xmlns:a16="http://schemas.microsoft.com/office/drawing/2014/main" id="{195BAC4E-5D8F-0142-9316-20DAF4D3054A}"/>
              </a:ext>
            </a:extLst>
          </p:cNvPr>
          <p:cNvPicPr>
            <a:picLocks noChangeAspect="1"/>
          </p:cNvPicPr>
          <p:nvPr/>
        </p:nvPicPr>
        <p:blipFill rotWithShape="1">
          <a:blip r:embed="rId10"/>
          <a:srcRect t="3436"/>
          <a:stretch/>
        </p:blipFill>
        <p:spPr>
          <a:xfrm>
            <a:off x="3898333" y="-7679"/>
            <a:ext cx="945249" cy="1215387"/>
          </a:xfrm>
          <a:prstGeom prst="rect">
            <a:avLst/>
          </a:prstGeom>
        </p:spPr>
      </p:pic>
      <p:cxnSp>
        <p:nvCxnSpPr>
          <p:cNvPr id="187" name="Straight Connector 186">
            <a:extLst>
              <a:ext uri="{FF2B5EF4-FFF2-40B4-BE49-F238E27FC236}">
                <a16:creationId xmlns:a16="http://schemas.microsoft.com/office/drawing/2014/main" id="{3FC663D2-0D67-824C-8442-C6FB3023AB64}"/>
              </a:ext>
            </a:extLst>
          </p:cNvPr>
          <p:cNvCxnSpPr>
            <a:cxnSpLocks/>
            <a:stCxn id="179" idx="0"/>
          </p:cNvCxnSpPr>
          <p:nvPr/>
        </p:nvCxnSpPr>
        <p:spPr>
          <a:xfrm flipV="1">
            <a:off x="4407845" y="2660154"/>
            <a:ext cx="0" cy="576055"/>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0EB1963F-7B5D-754D-B655-579A9D2FC104}"/>
              </a:ext>
            </a:extLst>
          </p:cNvPr>
          <p:cNvGrpSpPr/>
          <p:nvPr/>
        </p:nvGrpSpPr>
        <p:grpSpPr>
          <a:xfrm>
            <a:off x="4153036" y="3824829"/>
            <a:ext cx="1780283" cy="3006793"/>
            <a:chOff x="1078123" y="3862798"/>
            <a:chExt cx="1780283" cy="3006793"/>
          </a:xfrm>
        </p:grpSpPr>
        <p:sp>
          <p:nvSpPr>
            <p:cNvPr id="202" name="Text Placeholder 32">
              <a:extLst>
                <a:ext uri="{FF2B5EF4-FFF2-40B4-BE49-F238E27FC236}">
                  <a16:creationId xmlns:a16="http://schemas.microsoft.com/office/drawing/2014/main" id="{7569ED2E-CB43-4F48-89A2-92A0F234B407}"/>
                </a:ext>
              </a:extLst>
            </p:cNvPr>
            <p:cNvSpPr txBox="1">
              <a:spLocks/>
            </p:cNvSpPr>
            <p:nvPr/>
          </p:nvSpPr>
          <p:spPr>
            <a:xfrm>
              <a:off x="1078123" y="3862798"/>
              <a:ext cx="169242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Exos Aerospace continues funding of Armadillo Team with new management and commercial objectives</a:t>
              </a:r>
            </a:p>
          </p:txBody>
        </p:sp>
        <p:pic>
          <p:nvPicPr>
            <p:cNvPr id="203" name="Picture 202">
              <a:extLst>
                <a:ext uri="{FF2B5EF4-FFF2-40B4-BE49-F238E27FC236}">
                  <a16:creationId xmlns:a16="http://schemas.microsoft.com/office/drawing/2014/main" id="{C6FEB611-574D-FB42-85E7-438A86909103}"/>
                </a:ext>
              </a:extLst>
            </p:cNvPr>
            <p:cNvPicPr>
              <a:picLocks noChangeAspect="1"/>
            </p:cNvPicPr>
            <p:nvPr/>
          </p:nvPicPr>
          <p:blipFill>
            <a:blip r:embed="rId11"/>
            <a:stretch>
              <a:fillRect/>
            </a:stretch>
          </p:blipFill>
          <p:spPr>
            <a:xfrm>
              <a:off x="1185382" y="5758403"/>
              <a:ext cx="1673024" cy="1111188"/>
            </a:xfrm>
            <a:prstGeom prst="rect">
              <a:avLst/>
            </a:prstGeom>
          </p:spPr>
        </p:pic>
      </p:grpSp>
      <p:sp>
        <p:nvSpPr>
          <p:cNvPr id="224" name="Text Placeholder 32">
            <a:extLst>
              <a:ext uri="{FF2B5EF4-FFF2-40B4-BE49-F238E27FC236}">
                <a16:creationId xmlns:a16="http://schemas.microsoft.com/office/drawing/2014/main" id="{317E6F62-0FFA-1A4A-8F24-C46C10827361}"/>
              </a:ext>
            </a:extLst>
          </p:cNvPr>
          <p:cNvSpPr txBox="1">
            <a:spLocks/>
          </p:cNvSpPr>
          <p:nvPr/>
        </p:nvSpPr>
        <p:spPr>
          <a:xfrm>
            <a:off x="4979487" y="1695205"/>
            <a:ext cx="1611297"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4 Launches and 3 recoveries on 1</a:t>
            </a:r>
            <a:r>
              <a:rPr kumimoji="0" lang="en-US" sz="1200" b="0" i="0" u="none" strike="noStrike" kern="1200" cap="none" spc="0" normalizeH="0" baseline="30000" noProof="0">
                <a:ln>
                  <a:noFill/>
                </a:ln>
                <a:solidFill>
                  <a:prstClr val="white"/>
                </a:solidFill>
                <a:effectLst/>
                <a:uLnTx/>
                <a:uFillTx/>
                <a:latin typeface="Duplicate Sans Light" pitchFamily="2" charset="77"/>
                <a:ea typeface="+mn-ea"/>
                <a:cs typeface="+mn-cs"/>
                <a:sym typeface="Arial"/>
              </a:rPr>
              <a:t>st </a:t>
            </a: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SARGE vehicle</a:t>
            </a:r>
          </a:p>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Medium" pitchFamily="2" charset="77"/>
                <a:ea typeface="+mn-ea"/>
                <a:cs typeface="+mn-cs"/>
                <a:sym typeface="Arial"/>
              </a:rPr>
              <a:t>Aug 2018 – Oct 2019</a:t>
            </a: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endParaRPr>
          </a:p>
        </p:txBody>
      </p:sp>
      <p:pic>
        <p:nvPicPr>
          <p:cNvPr id="225" name="Picture 224">
            <a:extLst>
              <a:ext uri="{FF2B5EF4-FFF2-40B4-BE49-F238E27FC236}">
                <a16:creationId xmlns:a16="http://schemas.microsoft.com/office/drawing/2014/main" id="{839BA090-4058-F244-9834-F51CE5F59A1A}"/>
              </a:ext>
            </a:extLst>
          </p:cNvPr>
          <p:cNvPicPr>
            <a:picLocks noChangeAspect="1"/>
          </p:cNvPicPr>
          <p:nvPr/>
        </p:nvPicPr>
        <p:blipFill>
          <a:blip r:embed="rId12"/>
          <a:stretch>
            <a:fillRect/>
          </a:stretch>
        </p:blipFill>
        <p:spPr>
          <a:xfrm>
            <a:off x="5383721" y="-32336"/>
            <a:ext cx="994885" cy="1231761"/>
          </a:xfrm>
          <a:prstGeom prst="rect">
            <a:avLst/>
          </a:prstGeom>
        </p:spPr>
      </p:pic>
      <p:pic>
        <p:nvPicPr>
          <p:cNvPr id="226" name="Picture 225">
            <a:extLst>
              <a:ext uri="{FF2B5EF4-FFF2-40B4-BE49-F238E27FC236}">
                <a16:creationId xmlns:a16="http://schemas.microsoft.com/office/drawing/2014/main" id="{01161775-7701-6445-BAF8-B83595F4D6E0}"/>
              </a:ext>
            </a:extLst>
          </p:cNvPr>
          <p:cNvPicPr>
            <a:picLocks noChangeAspect="1"/>
          </p:cNvPicPr>
          <p:nvPr/>
        </p:nvPicPr>
        <p:blipFill rotWithShape="1">
          <a:blip r:embed="rId13"/>
          <a:srcRect l="13981"/>
          <a:stretch/>
        </p:blipFill>
        <p:spPr>
          <a:xfrm>
            <a:off x="4901029" y="-24011"/>
            <a:ext cx="746824" cy="1223436"/>
          </a:xfrm>
          <a:prstGeom prst="rect">
            <a:avLst/>
          </a:prstGeom>
        </p:spPr>
      </p:pic>
      <p:pic>
        <p:nvPicPr>
          <p:cNvPr id="227" name="Picture 226">
            <a:extLst>
              <a:ext uri="{FF2B5EF4-FFF2-40B4-BE49-F238E27FC236}">
                <a16:creationId xmlns:a16="http://schemas.microsoft.com/office/drawing/2014/main" id="{59E856E3-0134-A349-B382-39FB07E31B77}"/>
              </a:ext>
            </a:extLst>
          </p:cNvPr>
          <p:cNvPicPr>
            <a:picLocks noChangeAspect="1"/>
          </p:cNvPicPr>
          <p:nvPr/>
        </p:nvPicPr>
        <p:blipFill>
          <a:blip r:embed="rId14"/>
          <a:stretch>
            <a:fillRect/>
          </a:stretch>
        </p:blipFill>
        <p:spPr>
          <a:xfrm>
            <a:off x="5946398" y="-38609"/>
            <a:ext cx="592559" cy="395039"/>
          </a:xfrm>
          <a:prstGeom prst="rect">
            <a:avLst/>
          </a:prstGeom>
        </p:spPr>
      </p:pic>
      <p:grpSp>
        <p:nvGrpSpPr>
          <p:cNvPr id="237" name="Group 236">
            <a:extLst>
              <a:ext uri="{FF2B5EF4-FFF2-40B4-BE49-F238E27FC236}">
                <a16:creationId xmlns:a16="http://schemas.microsoft.com/office/drawing/2014/main" id="{47FBA38D-3624-324C-A353-15294698B577}"/>
              </a:ext>
            </a:extLst>
          </p:cNvPr>
          <p:cNvGrpSpPr/>
          <p:nvPr/>
        </p:nvGrpSpPr>
        <p:grpSpPr>
          <a:xfrm>
            <a:off x="6089400" y="3959646"/>
            <a:ext cx="1964807" cy="2871977"/>
            <a:chOff x="4118160" y="4185575"/>
            <a:chExt cx="2210315" cy="2996494"/>
          </a:xfrm>
        </p:grpSpPr>
        <p:sp>
          <p:nvSpPr>
            <p:cNvPr id="238" name="Text Placeholder 32">
              <a:extLst>
                <a:ext uri="{FF2B5EF4-FFF2-40B4-BE49-F238E27FC236}">
                  <a16:creationId xmlns:a16="http://schemas.microsoft.com/office/drawing/2014/main" id="{735AC0AF-F008-C84F-8442-A7DF7D886174}"/>
                </a:ext>
              </a:extLst>
            </p:cNvPr>
            <p:cNvSpPr txBox="1">
              <a:spLocks/>
            </p:cNvSpPr>
            <p:nvPr/>
          </p:nvSpPr>
          <p:spPr>
            <a:xfrm>
              <a:off x="4469736" y="4185575"/>
              <a:ext cx="142933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2021 Phase II Air Force Hypersonic Contract</a:t>
              </a:r>
            </a:p>
          </p:txBody>
        </p:sp>
        <p:pic>
          <p:nvPicPr>
            <p:cNvPr id="240" name="Picture 239">
              <a:extLst>
                <a:ext uri="{FF2B5EF4-FFF2-40B4-BE49-F238E27FC236}">
                  <a16:creationId xmlns:a16="http://schemas.microsoft.com/office/drawing/2014/main" id="{64E35E0C-20F6-3A4D-A921-3195FDF01A06}"/>
                </a:ext>
              </a:extLst>
            </p:cNvPr>
            <p:cNvPicPr>
              <a:picLocks noChangeAspect="1"/>
            </p:cNvPicPr>
            <p:nvPr/>
          </p:nvPicPr>
          <p:blipFill>
            <a:blip r:embed="rId15"/>
            <a:stretch>
              <a:fillRect/>
            </a:stretch>
          </p:blipFill>
          <p:spPr>
            <a:xfrm>
              <a:off x="4118160" y="6037589"/>
              <a:ext cx="2210315" cy="1144480"/>
            </a:xfrm>
            <a:prstGeom prst="rect">
              <a:avLst/>
            </a:prstGeom>
          </p:spPr>
        </p:pic>
      </p:grpSp>
      <p:cxnSp>
        <p:nvCxnSpPr>
          <p:cNvPr id="245" name="Straight Connector 244">
            <a:extLst>
              <a:ext uri="{FF2B5EF4-FFF2-40B4-BE49-F238E27FC236}">
                <a16:creationId xmlns:a16="http://schemas.microsoft.com/office/drawing/2014/main" id="{9FBC1DE2-1C20-444F-B0F4-E35A37D1F2C0}"/>
              </a:ext>
            </a:extLst>
          </p:cNvPr>
          <p:cNvCxnSpPr>
            <a:cxnSpLocks/>
          </p:cNvCxnSpPr>
          <p:nvPr/>
        </p:nvCxnSpPr>
        <p:spPr>
          <a:xfrm flipH="1" flipV="1">
            <a:off x="5767673" y="2650679"/>
            <a:ext cx="1312" cy="61001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3113EB33-ED6B-3949-8484-0FB238054A85}"/>
              </a:ext>
            </a:extLst>
          </p:cNvPr>
          <p:cNvGrpSpPr/>
          <p:nvPr/>
        </p:nvGrpSpPr>
        <p:grpSpPr>
          <a:xfrm>
            <a:off x="10807662" y="32909"/>
            <a:ext cx="369333" cy="4911323"/>
            <a:chOff x="7677522" y="58032"/>
            <a:chExt cx="313660" cy="6599005"/>
          </a:xfrm>
        </p:grpSpPr>
        <p:cxnSp>
          <p:nvCxnSpPr>
            <p:cNvPr id="254" name="Straight Connector 253">
              <a:extLst>
                <a:ext uri="{FF2B5EF4-FFF2-40B4-BE49-F238E27FC236}">
                  <a16:creationId xmlns:a16="http://schemas.microsoft.com/office/drawing/2014/main" id="{1F018645-0BFB-624C-91C0-B130ABD0FB0B}"/>
                </a:ext>
              </a:extLst>
            </p:cNvPr>
            <p:cNvCxnSpPr>
              <a:cxnSpLocks/>
            </p:cNvCxnSpPr>
            <p:nvPr/>
          </p:nvCxnSpPr>
          <p:spPr>
            <a:xfrm>
              <a:off x="7952995" y="58032"/>
              <a:ext cx="0" cy="6599005"/>
            </a:xfrm>
            <a:prstGeom prst="line">
              <a:avLst/>
            </a:prstGeom>
            <a:ln/>
          </p:spPr>
          <p:style>
            <a:lnRef idx="2">
              <a:schemeClr val="accent2"/>
            </a:lnRef>
            <a:fillRef idx="0">
              <a:schemeClr val="accent2"/>
            </a:fillRef>
            <a:effectRef idx="1">
              <a:schemeClr val="accent2"/>
            </a:effectRef>
            <a:fontRef idx="minor">
              <a:schemeClr val="tx1"/>
            </a:fontRef>
          </p:style>
        </p:cxnSp>
        <p:sp>
          <p:nvSpPr>
            <p:cNvPr id="255" name="TextBox 254">
              <a:extLst>
                <a:ext uri="{FF2B5EF4-FFF2-40B4-BE49-F238E27FC236}">
                  <a16:creationId xmlns:a16="http://schemas.microsoft.com/office/drawing/2014/main" id="{48885FC4-93EE-7849-9417-0C542331D5A8}"/>
                </a:ext>
              </a:extLst>
            </p:cNvPr>
            <p:cNvSpPr txBox="1"/>
            <p:nvPr/>
          </p:nvSpPr>
          <p:spPr>
            <a:xfrm rot="16200000">
              <a:off x="7152499" y="1171202"/>
              <a:ext cx="1363706" cy="313660"/>
            </a:xfrm>
            <a:prstGeom prst="rect">
              <a:avLst/>
            </a:prstGeom>
            <a:noFill/>
          </p:spPr>
          <p:txBody>
            <a:bodyPr wrap="square" rtlCol="0">
              <a:spAutoFit/>
            </a:body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D7D31"/>
                  </a:solidFill>
                  <a:effectLst/>
                  <a:uLnTx/>
                  <a:uFillTx/>
                  <a:latin typeface="Duplicate Sans Light" pitchFamily="2" charset="77"/>
                  <a:ea typeface="+mn-ea"/>
                  <a:cs typeface="Arial"/>
                  <a:sym typeface="Arial"/>
                </a:rPr>
                <a:t>Today</a:t>
              </a:r>
            </a:p>
          </p:txBody>
        </p:sp>
      </p:grpSp>
      <p:sp>
        <p:nvSpPr>
          <p:cNvPr id="262" name="Rectangle 261">
            <a:extLst>
              <a:ext uri="{FF2B5EF4-FFF2-40B4-BE49-F238E27FC236}">
                <a16:creationId xmlns:a16="http://schemas.microsoft.com/office/drawing/2014/main" id="{42899B24-B296-B846-8476-C4F16033E316}"/>
              </a:ext>
            </a:extLst>
          </p:cNvPr>
          <p:cNvSpPr/>
          <p:nvPr/>
        </p:nvSpPr>
        <p:spPr>
          <a:xfrm>
            <a:off x="6552167" y="1688528"/>
            <a:ext cx="1857420" cy="1740598"/>
          </a:xfrm>
          <a:prstGeom prst="rect">
            <a:avLst/>
          </a:prstGeom>
        </p:spPr>
        <p:txBody>
          <a:bodyPr wrap="squar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Arial"/>
                <a:sym typeface="Arial"/>
              </a:rPr>
              <a:t>Italy $6.4M grant LOI.  2022 -2025 Exos Aerospace Italia </a:t>
            </a:r>
            <a:r>
              <a:rPr kumimoji="0" lang="en-US" sz="1200" b="0" i="0" u="none" strike="noStrike" kern="1200" cap="none" spc="0" normalizeH="0" baseline="0" noProof="0" err="1">
                <a:ln>
                  <a:noFill/>
                </a:ln>
                <a:solidFill>
                  <a:prstClr val="white"/>
                </a:solidFill>
                <a:effectLst/>
                <a:uLnTx/>
                <a:uFillTx/>
                <a:latin typeface="Duplicate Sans Regular" pitchFamily="2" charset="77"/>
                <a:ea typeface="+mn-ea"/>
                <a:cs typeface="Arial"/>
                <a:sym typeface="Arial"/>
              </a:rPr>
              <a:t>Srl</a:t>
            </a:r>
            <a:r>
              <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Arial"/>
                <a:sym typeface="Arial"/>
              </a:rPr>
              <a:t>  work with Defense on Suborbital Air Launch   development and work with Spaceland.it on microgravity research</a:t>
            </a:r>
          </a:p>
          <a:p>
            <a:pPr marL="0" marR="0" lvl="0" indent="0" algn="l" defTabSz="91438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Arial"/>
              <a:sym typeface="Arial"/>
            </a:endParaRPr>
          </a:p>
        </p:txBody>
      </p:sp>
      <p:grpSp>
        <p:nvGrpSpPr>
          <p:cNvPr id="263" name="Group 262">
            <a:extLst>
              <a:ext uri="{FF2B5EF4-FFF2-40B4-BE49-F238E27FC236}">
                <a16:creationId xmlns:a16="http://schemas.microsoft.com/office/drawing/2014/main" id="{FA60BE43-1378-C846-9F4C-10206CDF49ED}"/>
              </a:ext>
            </a:extLst>
          </p:cNvPr>
          <p:cNvGrpSpPr/>
          <p:nvPr/>
        </p:nvGrpSpPr>
        <p:grpSpPr>
          <a:xfrm>
            <a:off x="6647049" y="-34606"/>
            <a:ext cx="1145550" cy="1153347"/>
            <a:chOff x="8023332" y="360458"/>
            <a:chExt cx="908606" cy="1073807"/>
          </a:xfrm>
        </p:grpSpPr>
        <p:pic>
          <p:nvPicPr>
            <p:cNvPr id="264" name="Picture 263">
              <a:extLst>
                <a:ext uri="{FF2B5EF4-FFF2-40B4-BE49-F238E27FC236}">
                  <a16:creationId xmlns:a16="http://schemas.microsoft.com/office/drawing/2014/main" id="{9F4BBF18-51FA-CB44-B4FA-7DF24C08EDB1}"/>
                </a:ext>
              </a:extLst>
            </p:cNvPr>
            <p:cNvPicPr>
              <a:picLocks noChangeAspect="1"/>
            </p:cNvPicPr>
            <p:nvPr/>
          </p:nvPicPr>
          <p:blipFill>
            <a:blip r:embed="rId16"/>
            <a:stretch>
              <a:fillRect/>
            </a:stretch>
          </p:blipFill>
          <p:spPr>
            <a:xfrm>
              <a:off x="8023332" y="360458"/>
              <a:ext cx="908606" cy="1073807"/>
            </a:xfrm>
            <a:prstGeom prst="rect">
              <a:avLst/>
            </a:prstGeom>
          </p:spPr>
        </p:pic>
        <p:pic>
          <p:nvPicPr>
            <p:cNvPr id="265" name="Picture 264" descr="A close up of a logo&#10;&#10;Description automatically generated">
              <a:extLst>
                <a:ext uri="{FF2B5EF4-FFF2-40B4-BE49-F238E27FC236}">
                  <a16:creationId xmlns:a16="http://schemas.microsoft.com/office/drawing/2014/main" id="{0EDFFA98-58D0-5744-A65F-6B59D9F086EF}"/>
                </a:ext>
              </a:extLst>
            </p:cNvPr>
            <p:cNvPicPr>
              <a:picLocks noChangeAspect="1"/>
            </p:cNvPicPr>
            <p:nvPr/>
          </p:nvPicPr>
          <p:blipFill>
            <a:blip r:embed="rId17"/>
            <a:stretch>
              <a:fillRect/>
            </a:stretch>
          </p:blipFill>
          <p:spPr>
            <a:xfrm rot="2464851">
              <a:off x="8340622" y="781956"/>
              <a:ext cx="399480" cy="185503"/>
            </a:xfrm>
            <a:prstGeom prst="rect">
              <a:avLst/>
            </a:prstGeom>
          </p:spPr>
        </p:pic>
      </p:grpSp>
      <p:grpSp>
        <p:nvGrpSpPr>
          <p:cNvPr id="48" name="Group 47">
            <a:extLst>
              <a:ext uri="{FF2B5EF4-FFF2-40B4-BE49-F238E27FC236}">
                <a16:creationId xmlns:a16="http://schemas.microsoft.com/office/drawing/2014/main" id="{5BF91C66-C73F-D945-AAB0-2B19C3D96EBF}"/>
              </a:ext>
            </a:extLst>
          </p:cNvPr>
          <p:cNvGrpSpPr/>
          <p:nvPr/>
        </p:nvGrpSpPr>
        <p:grpSpPr>
          <a:xfrm>
            <a:off x="3006346" y="2660155"/>
            <a:ext cx="316547" cy="899841"/>
            <a:chOff x="3298542" y="2660154"/>
            <a:chExt cx="316547" cy="899841"/>
          </a:xfrm>
        </p:grpSpPr>
        <p:cxnSp>
          <p:nvCxnSpPr>
            <p:cNvPr id="154" name="Straight Connector 153">
              <a:extLst>
                <a:ext uri="{FF2B5EF4-FFF2-40B4-BE49-F238E27FC236}">
                  <a16:creationId xmlns:a16="http://schemas.microsoft.com/office/drawing/2014/main" id="{83CB007D-7E63-484B-BA71-DE50F047D356}"/>
                </a:ext>
              </a:extLst>
            </p:cNvPr>
            <p:cNvCxnSpPr>
              <a:cxnSpLocks/>
              <a:stCxn id="168" idx="0"/>
            </p:cNvCxnSpPr>
            <p:nvPr/>
          </p:nvCxnSpPr>
          <p:spPr>
            <a:xfrm flipH="1" flipV="1">
              <a:off x="3448870" y="2660154"/>
              <a:ext cx="7945" cy="59615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903E3315-DE37-EB43-B540-1A79CE7DEDD7}"/>
                </a:ext>
              </a:extLst>
            </p:cNvPr>
            <p:cNvGrpSpPr/>
            <p:nvPr/>
          </p:nvGrpSpPr>
          <p:grpSpPr>
            <a:xfrm>
              <a:off x="3298542" y="3243448"/>
              <a:ext cx="316547" cy="316547"/>
              <a:chOff x="762004" y="3201390"/>
              <a:chExt cx="457195" cy="457195"/>
            </a:xfrm>
          </p:grpSpPr>
          <p:sp>
            <p:nvSpPr>
              <p:cNvPr id="168" name="Oval 167">
                <a:extLst>
                  <a:ext uri="{FF2B5EF4-FFF2-40B4-BE49-F238E27FC236}">
                    <a16:creationId xmlns:a16="http://schemas.microsoft.com/office/drawing/2014/main" id="{45C003D3-C127-1E47-8F34-0CC4B8B75379}"/>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69" name="Oval 168">
                <a:extLst>
                  <a:ext uri="{FF2B5EF4-FFF2-40B4-BE49-F238E27FC236}">
                    <a16:creationId xmlns:a16="http://schemas.microsoft.com/office/drawing/2014/main" id="{EC047F8A-F840-CB4C-A869-5E33AD4539B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76" name="Oval 175">
                <a:extLst>
                  <a:ext uri="{FF2B5EF4-FFF2-40B4-BE49-F238E27FC236}">
                    <a16:creationId xmlns:a16="http://schemas.microsoft.com/office/drawing/2014/main" id="{782BEEBC-D165-114B-866A-351851EB329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grpSp>
        <p:nvGrpSpPr>
          <p:cNvPr id="177" name="Group 176">
            <a:extLst>
              <a:ext uri="{FF2B5EF4-FFF2-40B4-BE49-F238E27FC236}">
                <a16:creationId xmlns:a16="http://schemas.microsoft.com/office/drawing/2014/main" id="{B3F907F6-0631-DC4F-9148-A9C7ACC10A69}"/>
              </a:ext>
            </a:extLst>
          </p:cNvPr>
          <p:cNvGrpSpPr/>
          <p:nvPr/>
        </p:nvGrpSpPr>
        <p:grpSpPr>
          <a:xfrm>
            <a:off x="4249572" y="3236210"/>
            <a:ext cx="316547" cy="316547"/>
            <a:chOff x="762004" y="3201390"/>
            <a:chExt cx="457195" cy="457195"/>
          </a:xfrm>
        </p:grpSpPr>
        <p:sp>
          <p:nvSpPr>
            <p:cNvPr id="178" name="Oval 177">
              <a:extLst>
                <a:ext uri="{FF2B5EF4-FFF2-40B4-BE49-F238E27FC236}">
                  <a16:creationId xmlns:a16="http://schemas.microsoft.com/office/drawing/2014/main" id="{9418756D-4CB2-084B-83FC-9257C085D77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79" name="Oval 178">
              <a:extLst>
                <a:ext uri="{FF2B5EF4-FFF2-40B4-BE49-F238E27FC236}">
                  <a16:creationId xmlns:a16="http://schemas.microsoft.com/office/drawing/2014/main" id="{9BE516B5-8F11-334D-BCF9-6C26179F7F0C}"/>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80" name="Oval 179">
              <a:extLst>
                <a:ext uri="{FF2B5EF4-FFF2-40B4-BE49-F238E27FC236}">
                  <a16:creationId xmlns:a16="http://schemas.microsoft.com/office/drawing/2014/main" id="{61D5D6F5-E86D-5F46-BC85-9C27C104041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nvGrpSpPr>
          <p:cNvPr id="191" name="Group 190">
            <a:extLst>
              <a:ext uri="{FF2B5EF4-FFF2-40B4-BE49-F238E27FC236}">
                <a16:creationId xmlns:a16="http://schemas.microsoft.com/office/drawing/2014/main" id="{A9FB6F08-07E3-C845-9E61-2FEE7733EA77}"/>
              </a:ext>
            </a:extLst>
          </p:cNvPr>
          <p:cNvGrpSpPr/>
          <p:nvPr/>
        </p:nvGrpSpPr>
        <p:grpSpPr>
          <a:xfrm>
            <a:off x="4985893" y="3243449"/>
            <a:ext cx="316547" cy="316547"/>
            <a:chOff x="762004" y="3201390"/>
            <a:chExt cx="457195" cy="457195"/>
          </a:xfrm>
        </p:grpSpPr>
        <p:sp>
          <p:nvSpPr>
            <p:cNvPr id="192" name="Oval 191">
              <a:extLst>
                <a:ext uri="{FF2B5EF4-FFF2-40B4-BE49-F238E27FC236}">
                  <a16:creationId xmlns:a16="http://schemas.microsoft.com/office/drawing/2014/main" id="{0DBAE9A4-C466-2B47-BC76-718A199BE15F}"/>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93" name="Oval 192">
              <a:extLst>
                <a:ext uri="{FF2B5EF4-FFF2-40B4-BE49-F238E27FC236}">
                  <a16:creationId xmlns:a16="http://schemas.microsoft.com/office/drawing/2014/main" id="{9AFDE4AE-19DA-B341-BAE7-A61474056E51}"/>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194" name="Oval 193">
              <a:extLst>
                <a:ext uri="{FF2B5EF4-FFF2-40B4-BE49-F238E27FC236}">
                  <a16:creationId xmlns:a16="http://schemas.microsoft.com/office/drawing/2014/main" id="{23393304-48AE-0446-BAE4-BE16CA0D9F1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sp>
        <p:nvSpPr>
          <p:cNvPr id="124" name="Rectangle 123">
            <a:extLst>
              <a:ext uri="{FF2B5EF4-FFF2-40B4-BE49-F238E27FC236}">
                <a16:creationId xmlns:a16="http://schemas.microsoft.com/office/drawing/2014/main" id="{65E99FCD-BC5D-7042-A737-B4158326977A}"/>
              </a:ext>
            </a:extLst>
          </p:cNvPr>
          <p:cNvSpPr/>
          <p:nvPr/>
        </p:nvSpPr>
        <p:spPr>
          <a:xfrm>
            <a:off x="921306" y="326375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Arial"/>
                <a:sym typeface="Arial"/>
              </a:rPr>
              <a:t>2006</a:t>
            </a:r>
          </a:p>
        </p:txBody>
      </p:sp>
      <p:grpSp>
        <p:nvGrpSpPr>
          <p:cNvPr id="15" name="Group 14">
            <a:extLst>
              <a:ext uri="{FF2B5EF4-FFF2-40B4-BE49-F238E27FC236}">
                <a16:creationId xmlns:a16="http://schemas.microsoft.com/office/drawing/2014/main" id="{6F83810D-8F09-AC40-B37D-ED26DE93F9A2}"/>
              </a:ext>
            </a:extLst>
          </p:cNvPr>
          <p:cNvGrpSpPr/>
          <p:nvPr/>
        </p:nvGrpSpPr>
        <p:grpSpPr>
          <a:xfrm>
            <a:off x="1794869" y="2686378"/>
            <a:ext cx="316547" cy="873617"/>
            <a:chOff x="1794868" y="2686378"/>
            <a:chExt cx="316547" cy="873617"/>
          </a:xfrm>
        </p:grpSpPr>
        <p:cxnSp>
          <p:nvCxnSpPr>
            <p:cNvPr id="130" name="Straight Connector 129">
              <a:extLst>
                <a:ext uri="{FF2B5EF4-FFF2-40B4-BE49-F238E27FC236}">
                  <a16:creationId xmlns:a16="http://schemas.microsoft.com/office/drawing/2014/main" id="{44582BFA-844F-6549-9F47-6DB62EAE2BDC}"/>
                </a:ext>
              </a:extLst>
            </p:cNvPr>
            <p:cNvCxnSpPr>
              <a:cxnSpLocks/>
              <a:stCxn id="148" idx="0"/>
            </p:cNvCxnSpPr>
            <p:nvPr/>
          </p:nvCxnSpPr>
          <p:spPr>
            <a:xfrm flipV="1">
              <a:off x="1953141" y="2686378"/>
              <a:ext cx="0" cy="56993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52C6E261-9F21-2D49-B7EF-30917AA407AE}"/>
                </a:ext>
              </a:extLst>
            </p:cNvPr>
            <p:cNvGrpSpPr/>
            <p:nvPr/>
          </p:nvGrpSpPr>
          <p:grpSpPr>
            <a:xfrm>
              <a:off x="1794868" y="3243448"/>
              <a:ext cx="316547" cy="316547"/>
              <a:chOff x="762004" y="3201390"/>
              <a:chExt cx="457195" cy="457195"/>
            </a:xfrm>
          </p:grpSpPr>
          <p:sp>
            <p:nvSpPr>
              <p:cNvPr id="148" name="Oval 147">
                <a:extLst>
                  <a:ext uri="{FF2B5EF4-FFF2-40B4-BE49-F238E27FC236}">
                    <a16:creationId xmlns:a16="http://schemas.microsoft.com/office/drawing/2014/main" id="{45A41C49-E033-0B43-A5A1-3B053B80229B}"/>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49" name="Oval 148">
                <a:extLst>
                  <a:ext uri="{FF2B5EF4-FFF2-40B4-BE49-F238E27FC236}">
                    <a16:creationId xmlns:a16="http://schemas.microsoft.com/office/drawing/2014/main" id="{2C8D71FF-3379-764A-8A5F-173EA1991C98}"/>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sp>
            <p:nvSpPr>
              <p:cNvPr id="158" name="Oval 157">
                <a:extLst>
                  <a:ext uri="{FF2B5EF4-FFF2-40B4-BE49-F238E27FC236}">
                    <a16:creationId xmlns:a16="http://schemas.microsoft.com/office/drawing/2014/main" id="{8E29616E-C49F-674B-B0CF-1DD1E0CD90F2}"/>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lumMod val="75000"/>
                    </a:srgbClr>
                  </a:solidFill>
                  <a:effectLst/>
                  <a:uLnTx/>
                  <a:uFillTx/>
                  <a:latin typeface="Calibri" panose="020F0502020204030204"/>
                  <a:ea typeface="+mn-ea"/>
                  <a:cs typeface="+mn-cs"/>
                  <a:sym typeface="Arial"/>
                </a:endParaRPr>
              </a:p>
            </p:txBody>
          </p:sp>
        </p:grpSp>
      </p:grpSp>
      <p:sp>
        <p:nvSpPr>
          <p:cNvPr id="128" name="Rectangle 127">
            <a:extLst>
              <a:ext uri="{FF2B5EF4-FFF2-40B4-BE49-F238E27FC236}">
                <a16:creationId xmlns:a16="http://schemas.microsoft.com/office/drawing/2014/main" id="{DBB8238E-12F9-364B-B2F9-8F82CC3B2E53}"/>
              </a:ext>
            </a:extLst>
          </p:cNvPr>
          <p:cNvSpPr/>
          <p:nvPr/>
        </p:nvSpPr>
        <p:spPr>
          <a:xfrm>
            <a:off x="1706129" y="326375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lumMod val="75000"/>
                  </a:srgbClr>
                </a:solidFill>
                <a:effectLst/>
                <a:uLnTx/>
                <a:uFillTx/>
                <a:latin typeface="Calibri" panose="020F0502020204030204"/>
                <a:ea typeface="+mn-ea"/>
                <a:cs typeface="Arial"/>
                <a:sym typeface="Arial"/>
              </a:rPr>
              <a:t>2008</a:t>
            </a:r>
          </a:p>
        </p:txBody>
      </p:sp>
      <p:grpSp>
        <p:nvGrpSpPr>
          <p:cNvPr id="214" name="Group 213">
            <a:extLst>
              <a:ext uri="{FF2B5EF4-FFF2-40B4-BE49-F238E27FC236}">
                <a16:creationId xmlns:a16="http://schemas.microsoft.com/office/drawing/2014/main" id="{54E6560D-09DC-8F40-88BF-6C24EC744F6C}"/>
              </a:ext>
            </a:extLst>
          </p:cNvPr>
          <p:cNvGrpSpPr/>
          <p:nvPr/>
        </p:nvGrpSpPr>
        <p:grpSpPr>
          <a:xfrm>
            <a:off x="2362201" y="3232194"/>
            <a:ext cx="316547" cy="316547"/>
            <a:chOff x="762004" y="3201390"/>
            <a:chExt cx="457195" cy="457195"/>
          </a:xfrm>
        </p:grpSpPr>
        <p:sp>
          <p:nvSpPr>
            <p:cNvPr id="215" name="Oval 214">
              <a:extLst>
                <a:ext uri="{FF2B5EF4-FFF2-40B4-BE49-F238E27FC236}">
                  <a16:creationId xmlns:a16="http://schemas.microsoft.com/office/drawing/2014/main" id="{10761E6A-146D-5448-A2D6-896D94765F0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16" name="Oval 215">
              <a:extLst>
                <a:ext uri="{FF2B5EF4-FFF2-40B4-BE49-F238E27FC236}">
                  <a16:creationId xmlns:a16="http://schemas.microsoft.com/office/drawing/2014/main" id="{BC2EE945-B71F-7C42-93AF-E59B57B58690}"/>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17" name="Oval 216">
              <a:extLst>
                <a:ext uri="{FF2B5EF4-FFF2-40B4-BE49-F238E27FC236}">
                  <a16:creationId xmlns:a16="http://schemas.microsoft.com/office/drawing/2014/main" id="{06C6A8DE-A5A2-D94D-96A1-77267DFF337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sp>
        <p:nvSpPr>
          <p:cNvPr id="152" name="Rectangle 151">
            <a:extLst>
              <a:ext uri="{FF2B5EF4-FFF2-40B4-BE49-F238E27FC236}">
                <a16:creationId xmlns:a16="http://schemas.microsoft.com/office/drawing/2014/main" id="{153F20DC-295E-9C48-A8FA-8BAE89F7268B}"/>
              </a:ext>
            </a:extLst>
          </p:cNvPr>
          <p:cNvSpPr/>
          <p:nvPr/>
        </p:nvSpPr>
        <p:spPr>
          <a:xfrm>
            <a:off x="2926956" y="3253043"/>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2010</a:t>
            </a:r>
          </a:p>
        </p:txBody>
      </p:sp>
      <p:sp>
        <p:nvSpPr>
          <p:cNvPr id="185" name="Rectangle 184">
            <a:extLst>
              <a:ext uri="{FF2B5EF4-FFF2-40B4-BE49-F238E27FC236}">
                <a16:creationId xmlns:a16="http://schemas.microsoft.com/office/drawing/2014/main" id="{5BAC40A4-15DC-F44A-AA77-BB65F9F4BE87}"/>
              </a:ext>
            </a:extLst>
          </p:cNvPr>
          <p:cNvSpPr/>
          <p:nvPr/>
        </p:nvSpPr>
        <p:spPr>
          <a:xfrm>
            <a:off x="4038221" y="3272976"/>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2011</a:t>
            </a:r>
          </a:p>
        </p:txBody>
      </p:sp>
      <p:sp>
        <p:nvSpPr>
          <p:cNvPr id="206" name="Rectangle 205">
            <a:extLst>
              <a:ext uri="{FF2B5EF4-FFF2-40B4-BE49-F238E27FC236}">
                <a16:creationId xmlns:a16="http://schemas.microsoft.com/office/drawing/2014/main" id="{F74951E1-71CF-C141-BA59-B5D1058F66F2}"/>
              </a:ext>
            </a:extLst>
          </p:cNvPr>
          <p:cNvSpPr/>
          <p:nvPr/>
        </p:nvSpPr>
        <p:spPr>
          <a:xfrm>
            <a:off x="4901029" y="3251281"/>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2015</a:t>
            </a:r>
          </a:p>
        </p:txBody>
      </p:sp>
      <p:sp>
        <p:nvSpPr>
          <p:cNvPr id="243" name="Rectangle 242">
            <a:extLst>
              <a:ext uri="{FF2B5EF4-FFF2-40B4-BE49-F238E27FC236}">
                <a16:creationId xmlns:a16="http://schemas.microsoft.com/office/drawing/2014/main" id="{18B2F0F5-D578-214B-A291-49C76074F8F7}"/>
              </a:ext>
            </a:extLst>
          </p:cNvPr>
          <p:cNvSpPr/>
          <p:nvPr/>
        </p:nvSpPr>
        <p:spPr>
          <a:xfrm>
            <a:off x="6219956" y="3254171"/>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2020</a:t>
            </a:r>
          </a:p>
        </p:txBody>
      </p:sp>
      <p:sp>
        <p:nvSpPr>
          <p:cNvPr id="137" name="Rectangle 136">
            <a:extLst>
              <a:ext uri="{FF2B5EF4-FFF2-40B4-BE49-F238E27FC236}">
                <a16:creationId xmlns:a16="http://schemas.microsoft.com/office/drawing/2014/main" id="{3722967F-9B9F-8241-A29A-36E8E1D39804}"/>
              </a:ext>
            </a:extLst>
          </p:cNvPr>
          <p:cNvSpPr/>
          <p:nvPr/>
        </p:nvSpPr>
        <p:spPr>
          <a:xfrm>
            <a:off x="2276046" y="3253728"/>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2009</a:t>
            </a:r>
          </a:p>
        </p:txBody>
      </p:sp>
      <p:grpSp>
        <p:nvGrpSpPr>
          <p:cNvPr id="218" name="Group 217">
            <a:extLst>
              <a:ext uri="{FF2B5EF4-FFF2-40B4-BE49-F238E27FC236}">
                <a16:creationId xmlns:a16="http://schemas.microsoft.com/office/drawing/2014/main" id="{C82CE72F-B85D-F94A-BCD9-E9E2B4C50AD2}"/>
              </a:ext>
            </a:extLst>
          </p:cNvPr>
          <p:cNvGrpSpPr/>
          <p:nvPr/>
        </p:nvGrpSpPr>
        <p:grpSpPr>
          <a:xfrm>
            <a:off x="3574613" y="3236896"/>
            <a:ext cx="316547" cy="316547"/>
            <a:chOff x="762004" y="3201390"/>
            <a:chExt cx="457195" cy="457195"/>
          </a:xfrm>
        </p:grpSpPr>
        <p:sp>
          <p:nvSpPr>
            <p:cNvPr id="219" name="Oval 218">
              <a:extLst>
                <a:ext uri="{FF2B5EF4-FFF2-40B4-BE49-F238E27FC236}">
                  <a16:creationId xmlns:a16="http://schemas.microsoft.com/office/drawing/2014/main" id="{D9FB6B5B-5957-2540-A43A-A43427C58A3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21" name="Oval 220">
              <a:extLst>
                <a:ext uri="{FF2B5EF4-FFF2-40B4-BE49-F238E27FC236}">
                  <a16:creationId xmlns:a16="http://schemas.microsoft.com/office/drawing/2014/main" id="{B5717212-7438-3145-8917-3D232DE5D4A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22" name="Oval 221">
              <a:extLst>
                <a:ext uri="{FF2B5EF4-FFF2-40B4-BE49-F238E27FC236}">
                  <a16:creationId xmlns:a16="http://schemas.microsoft.com/office/drawing/2014/main" id="{45723BD0-741E-AB48-93EE-F1C23CB01B0A}"/>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sp>
        <p:nvSpPr>
          <p:cNvPr id="251" name="Text Placeholder 32">
            <a:extLst>
              <a:ext uri="{FF2B5EF4-FFF2-40B4-BE49-F238E27FC236}">
                <a16:creationId xmlns:a16="http://schemas.microsoft.com/office/drawing/2014/main" id="{AE9A7C24-600B-A644-9843-DB490C290712}"/>
              </a:ext>
            </a:extLst>
          </p:cNvPr>
          <p:cNvSpPr txBox="1">
            <a:spLocks/>
          </p:cNvSpPr>
          <p:nvPr/>
        </p:nvSpPr>
        <p:spPr>
          <a:xfrm>
            <a:off x="9498837" y="1526356"/>
            <a:ext cx="1266295" cy="1160023"/>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2024- 2026</a:t>
            </a:r>
          </a:p>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 DoD HVRR Rotating Detonation Rocket Engine  (RDRE)  Test Vehicle Design and build USAF contracts</a:t>
            </a: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endParaRPr>
          </a:p>
        </p:txBody>
      </p:sp>
      <p:sp>
        <p:nvSpPr>
          <p:cNvPr id="258" name="Rectangle 257">
            <a:extLst>
              <a:ext uri="{FF2B5EF4-FFF2-40B4-BE49-F238E27FC236}">
                <a16:creationId xmlns:a16="http://schemas.microsoft.com/office/drawing/2014/main" id="{11FB1975-BA6E-DE4B-8E83-466C3A74FE60}"/>
              </a:ext>
            </a:extLst>
          </p:cNvPr>
          <p:cNvSpPr/>
          <p:nvPr/>
        </p:nvSpPr>
        <p:spPr>
          <a:xfrm>
            <a:off x="8134217" y="3631748"/>
            <a:ext cx="1334123" cy="1054135"/>
          </a:xfrm>
          <a:prstGeom prst="rect">
            <a:avLst/>
          </a:prstGeom>
        </p:spPr>
        <p:txBody>
          <a:bodyPr wrap="square" lIns="91440" tIns="45720" rIns="91440" bIns="45720" anchor="t">
            <a:spAutoFit/>
          </a:bodyPr>
          <a:lstStyle/>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50" b="0" i="0" u="none" strike="noStrike" kern="0" cap="none" spc="0" normalizeH="0" baseline="0" noProof="0" dirty="0">
                <a:ln>
                  <a:noFill/>
                </a:ln>
                <a:solidFill>
                  <a:prstClr val="white"/>
                </a:solidFill>
                <a:effectLst/>
                <a:uLnTx/>
                <a:uFillTx/>
                <a:latin typeface="Arial"/>
                <a:ea typeface="+mn-ea"/>
                <a:cs typeface="Arial"/>
                <a:sym typeface="Arial"/>
              </a:rPr>
              <a:t>Our OTV-prop </a:t>
            </a:r>
            <a:r>
              <a:rPr kumimoji="0" lang="en-US" sz="1250" b="0" i="0" u="none" strike="noStrike" kern="0" cap="none" spc="0" normalizeH="0" baseline="0" noProof="0">
                <a:ln>
                  <a:noFill/>
                </a:ln>
                <a:solidFill>
                  <a:prstClr val="white"/>
                </a:solidFill>
                <a:effectLst/>
                <a:uLnTx/>
                <a:uFillTx/>
                <a:latin typeface="Arial"/>
                <a:ea typeface="+mn-ea"/>
                <a:cs typeface="Arial"/>
                <a:sym typeface="Arial"/>
              </a:rPr>
              <a:t>solutions offer </a:t>
            </a:r>
            <a:r>
              <a:rPr kumimoji="0" lang="en-US" sz="1250" b="0" i="0" u="none" strike="noStrike" kern="0" cap="none" spc="0" normalizeH="0" baseline="0" noProof="0" dirty="0">
                <a:ln>
                  <a:noFill/>
                </a:ln>
                <a:solidFill>
                  <a:prstClr val="white"/>
                </a:solidFill>
                <a:effectLst/>
                <a:uLnTx/>
                <a:uFillTx/>
                <a:latin typeface="Arial"/>
                <a:ea typeface="+mn-ea"/>
                <a:cs typeface="Arial"/>
                <a:sym typeface="Arial"/>
              </a:rPr>
              <a:t>LEO → Moon → Earth round-</a:t>
            </a:r>
            <a:r>
              <a:rPr kumimoji="0" lang="en-US" sz="1250" b="0" i="0" u="none" strike="noStrike" kern="0" cap="none" spc="0" normalizeH="0" baseline="0" noProof="0">
                <a:ln>
                  <a:noFill/>
                </a:ln>
                <a:solidFill>
                  <a:prstClr val="white"/>
                </a:solidFill>
                <a:effectLst/>
                <a:uLnTx/>
                <a:uFillTx/>
                <a:latin typeface="Arial"/>
                <a:ea typeface="+mn-ea"/>
                <a:cs typeface="Arial"/>
                <a:sym typeface="Arial"/>
              </a:rPr>
              <a:t>trip capability — </a:t>
            </a:r>
            <a:endParaRPr kumimoji="0" lang="en-US" sz="1250" b="0" i="0" u="none" strike="noStrike" kern="0" cap="none" spc="0" normalizeH="0" baseline="0" noProof="0">
              <a:ln>
                <a:noFill/>
              </a:ln>
              <a:solidFill>
                <a:prstClr val="white"/>
              </a:solidFill>
              <a:effectLst/>
              <a:uLnTx/>
              <a:uFillTx/>
              <a:latin typeface="Arial"/>
              <a:ea typeface="+mn-ea"/>
              <a:cs typeface="Arial"/>
            </a:endParaRPr>
          </a:p>
        </p:txBody>
      </p:sp>
      <p:sp>
        <p:nvSpPr>
          <p:cNvPr id="268" name="Rectangle 267">
            <a:extLst>
              <a:ext uri="{FF2B5EF4-FFF2-40B4-BE49-F238E27FC236}">
                <a16:creationId xmlns:a16="http://schemas.microsoft.com/office/drawing/2014/main" id="{C3656ABF-70EF-9443-9EF2-413B04690662}"/>
              </a:ext>
            </a:extLst>
          </p:cNvPr>
          <p:cNvSpPr/>
          <p:nvPr/>
        </p:nvSpPr>
        <p:spPr>
          <a:xfrm>
            <a:off x="8847644" y="3773363"/>
            <a:ext cx="1240528" cy="779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8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Regular" pitchFamily="2" charset="77"/>
              <a:ea typeface="+mn-ea"/>
              <a:cs typeface="+mn-cs"/>
              <a:sym typeface="Arial"/>
            </a:endParaRPr>
          </a:p>
        </p:txBody>
      </p:sp>
      <p:grpSp>
        <p:nvGrpSpPr>
          <p:cNvPr id="270" name="Group 269">
            <a:extLst>
              <a:ext uri="{FF2B5EF4-FFF2-40B4-BE49-F238E27FC236}">
                <a16:creationId xmlns:a16="http://schemas.microsoft.com/office/drawing/2014/main" id="{D15D6BF4-167C-5F43-BC13-1AE10135B4CA}"/>
              </a:ext>
            </a:extLst>
          </p:cNvPr>
          <p:cNvGrpSpPr/>
          <p:nvPr/>
        </p:nvGrpSpPr>
        <p:grpSpPr>
          <a:xfrm>
            <a:off x="7996302" y="3239386"/>
            <a:ext cx="316547" cy="316547"/>
            <a:chOff x="762004" y="3201390"/>
            <a:chExt cx="457195" cy="457195"/>
          </a:xfrm>
        </p:grpSpPr>
        <p:sp>
          <p:nvSpPr>
            <p:cNvPr id="271" name="Oval 270">
              <a:extLst>
                <a:ext uri="{FF2B5EF4-FFF2-40B4-BE49-F238E27FC236}">
                  <a16:creationId xmlns:a16="http://schemas.microsoft.com/office/drawing/2014/main" id="{0EBA82EF-90DF-C949-A572-8B891B919CC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72" name="Oval 271">
              <a:extLst>
                <a:ext uri="{FF2B5EF4-FFF2-40B4-BE49-F238E27FC236}">
                  <a16:creationId xmlns:a16="http://schemas.microsoft.com/office/drawing/2014/main" id="{BF45D0EF-1392-1A45-8B4E-D29D6B5D2EC2}"/>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73" name="Oval 272">
              <a:extLst>
                <a:ext uri="{FF2B5EF4-FFF2-40B4-BE49-F238E27FC236}">
                  <a16:creationId xmlns:a16="http://schemas.microsoft.com/office/drawing/2014/main" id="{9939AA10-CC93-0B4F-878F-E5A13492A44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nvGrpSpPr>
          <p:cNvPr id="278" name="Group 277">
            <a:extLst>
              <a:ext uri="{FF2B5EF4-FFF2-40B4-BE49-F238E27FC236}">
                <a16:creationId xmlns:a16="http://schemas.microsoft.com/office/drawing/2014/main" id="{9EC73C57-A794-DC4B-9CF5-23A7AE0F778B}"/>
              </a:ext>
            </a:extLst>
          </p:cNvPr>
          <p:cNvGrpSpPr/>
          <p:nvPr/>
        </p:nvGrpSpPr>
        <p:grpSpPr>
          <a:xfrm>
            <a:off x="9414526" y="3232194"/>
            <a:ext cx="316547" cy="316547"/>
            <a:chOff x="762004" y="3201390"/>
            <a:chExt cx="457195" cy="457195"/>
          </a:xfrm>
        </p:grpSpPr>
        <p:sp>
          <p:nvSpPr>
            <p:cNvPr id="279" name="Oval 278">
              <a:extLst>
                <a:ext uri="{FF2B5EF4-FFF2-40B4-BE49-F238E27FC236}">
                  <a16:creationId xmlns:a16="http://schemas.microsoft.com/office/drawing/2014/main" id="{2F25265E-6CD1-E440-9FC4-1B084319A2C0}"/>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0" name="Oval 279">
              <a:extLst>
                <a:ext uri="{FF2B5EF4-FFF2-40B4-BE49-F238E27FC236}">
                  <a16:creationId xmlns:a16="http://schemas.microsoft.com/office/drawing/2014/main" id="{208ED91F-5499-2A4F-9FA5-27A8807CBC6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1" name="Oval 280">
              <a:extLst>
                <a:ext uri="{FF2B5EF4-FFF2-40B4-BE49-F238E27FC236}">
                  <a16:creationId xmlns:a16="http://schemas.microsoft.com/office/drawing/2014/main" id="{E05CB889-36C7-8247-B86E-3E7299CC1E2F}"/>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grpSp>
        <p:nvGrpSpPr>
          <p:cNvPr id="282" name="Group 281">
            <a:extLst>
              <a:ext uri="{FF2B5EF4-FFF2-40B4-BE49-F238E27FC236}">
                <a16:creationId xmlns:a16="http://schemas.microsoft.com/office/drawing/2014/main" id="{18F5F1E8-56A8-A947-BB79-8D974A5CFD0E}"/>
              </a:ext>
            </a:extLst>
          </p:cNvPr>
          <p:cNvGrpSpPr/>
          <p:nvPr/>
        </p:nvGrpSpPr>
        <p:grpSpPr>
          <a:xfrm>
            <a:off x="10042221" y="3227067"/>
            <a:ext cx="316547" cy="316547"/>
            <a:chOff x="762004" y="3201390"/>
            <a:chExt cx="457195" cy="457195"/>
          </a:xfrm>
        </p:grpSpPr>
        <p:sp>
          <p:nvSpPr>
            <p:cNvPr id="283" name="Oval 282">
              <a:extLst>
                <a:ext uri="{FF2B5EF4-FFF2-40B4-BE49-F238E27FC236}">
                  <a16:creationId xmlns:a16="http://schemas.microsoft.com/office/drawing/2014/main" id="{D5172C26-1DE0-A14E-913C-EE1154E0EDE1}"/>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4" name="Oval 283">
              <a:extLst>
                <a:ext uri="{FF2B5EF4-FFF2-40B4-BE49-F238E27FC236}">
                  <a16:creationId xmlns:a16="http://schemas.microsoft.com/office/drawing/2014/main" id="{1A82AEBA-6330-2944-9C7E-0C5AE2F5F3D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sp>
          <p:nvSpPr>
            <p:cNvPr id="285" name="Oval 284">
              <a:extLst>
                <a:ext uri="{FF2B5EF4-FFF2-40B4-BE49-F238E27FC236}">
                  <a16:creationId xmlns:a16="http://schemas.microsoft.com/office/drawing/2014/main" id="{52C75B2C-3FFA-B449-B2AC-3FEA196521C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sym typeface="Arial"/>
              </a:endParaRPr>
            </a:p>
          </p:txBody>
        </p:sp>
      </p:grpSp>
      <p:cxnSp>
        <p:nvCxnSpPr>
          <p:cNvPr id="286" name="Straight Connector 285">
            <a:extLst>
              <a:ext uri="{FF2B5EF4-FFF2-40B4-BE49-F238E27FC236}">
                <a16:creationId xmlns:a16="http://schemas.microsoft.com/office/drawing/2014/main" id="{8B7F783A-0E54-0B4D-9CA1-41D280D15DCA}"/>
              </a:ext>
            </a:extLst>
          </p:cNvPr>
          <p:cNvCxnSpPr>
            <a:cxnSpLocks/>
          </p:cNvCxnSpPr>
          <p:nvPr/>
        </p:nvCxnSpPr>
        <p:spPr>
          <a:xfrm flipH="1">
            <a:off x="8161210" y="2991244"/>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6259372-27C7-3E40-8925-123E12025AA1}"/>
              </a:ext>
            </a:extLst>
          </p:cNvPr>
          <p:cNvCxnSpPr>
            <a:cxnSpLocks/>
          </p:cNvCxnSpPr>
          <p:nvPr/>
        </p:nvCxnSpPr>
        <p:spPr>
          <a:xfrm>
            <a:off x="11337731" y="2955686"/>
            <a:ext cx="0" cy="274674"/>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36BE18A3-4514-3347-8214-E5D48A9BFE9A}"/>
              </a:ext>
            </a:extLst>
          </p:cNvPr>
          <p:cNvCxnSpPr>
            <a:cxnSpLocks/>
          </p:cNvCxnSpPr>
          <p:nvPr/>
        </p:nvCxnSpPr>
        <p:spPr>
          <a:xfrm flipH="1">
            <a:off x="10016750" y="3525848"/>
            <a:ext cx="183743" cy="28798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648C29CE-FB8E-5E4F-84DA-95682D56AD80}"/>
              </a:ext>
            </a:extLst>
          </p:cNvPr>
          <p:cNvCxnSpPr>
            <a:cxnSpLocks/>
          </p:cNvCxnSpPr>
          <p:nvPr/>
        </p:nvCxnSpPr>
        <p:spPr>
          <a:xfrm flipH="1">
            <a:off x="8154574" y="2981601"/>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300" name="Rectangle 299">
            <a:extLst>
              <a:ext uri="{FF2B5EF4-FFF2-40B4-BE49-F238E27FC236}">
                <a16:creationId xmlns:a16="http://schemas.microsoft.com/office/drawing/2014/main" id="{688ADBD0-F6F6-5B47-BEDC-BBDC8D2F5769}"/>
              </a:ext>
            </a:extLst>
          </p:cNvPr>
          <p:cNvSpPr/>
          <p:nvPr/>
        </p:nvSpPr>
        <p:spPr>
          <a:xfrm>
            <a:off x="7092446" y="3287439"/>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2021</a:t>
            </a:r>
          </a:p>
        </p:txBody>
      </p:sp>
      <p:sp>
        <p:nvSpPr>
          <p:cNvPr id="301" name="Rectangle 300">
            <a:extLst>
              <a:ext uri="{FF2B5EF4-FFF2-40B4-BE49-F238E27FC236}">
                <a16:creationId xmlns:a16="http://schemas.microsoft.com/office/drawing/2014/main" id="{DC9FD511-7686-B340-A416-A64F8695C442}"/>
              </a:ext>
            </a:extLst>
          </p:cNvPr>
          <p:cNvSpPr/>
          <p:nvPr/>
        </p:nvSpPr>
        <p:spPr>
          <a:xfrm>
            <a:off x="8586455" y="3268899"/>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2022</a:t>
            </a:r>
          </a:p>
        </p:txBody>
      </p:sp>
      <p:sp>
        <p:nvSpPr>
          <p:cNvPr id="302" name="Rectangle 301">
            <a:extLst>
              <a:ext uri="{FF2B5EF4-FFF2-40B4-BE49-F238E27FC236}">
                <a16:creationId xmlns:a16="http://schemas.microsoft.com/office/drawing/2014/main" id="{442170F4-67F0-4342-8142-5D9F8AE7E40F}"/>
              </a:ext>
            </a:extLst>
          </p:cNvPr>
          <p:cNvSpPr/>
          <p:nvPr/>
        </p:nvSpPr>
        <p:spPr>
          <a:xfrm>
            <a:off x="9135323" y="3212412"/>
            <a:ext cx="584182" cy="276999"/>
          </a:xfrm>
          <a:prstGeom prst="rect">
            <a:avLst/>
          </a:prstGeom>
        </p:spPr>
        <p:txBody>
          <a:bodyPr wrap="squar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2023</a:t>
            </a:r>
          </a:p>
        </p:txBody>
      </p:sp>
      <p:sp>
        <p:nvSpPr>
          <p:cNvPr id="303" name="Rectangle 302">
            <a:extLst>
              <a:ext uri="{FF2B5EF4-FFF2-40B4-BE49-F238E27FC236}">
                <a16:creationId xmlns:a16="http://schemas.microsoft.com/office/drawing/2014/main" id="{78D77BE1-AF61-BE41-A676-3C7D6E1C469B}"/>
              </a:ext>
            </a:extLst>
          </p:cNvPr>
          <p:cNvSpPr/>
          <p:nvPr/>
        </p:nvSpPr>
        <p:spPr>
          <a:xfrm>
            <a:off x="10663179" y="3217498"/>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2025</a:t>
            </a:r>
          </a:p>
        </p:txBody>
      </p:sp>
      <p:sp>
        <p:nvSpPr>
          <p:cNvPr id="151" name="Rectangle 150">
            <a:extLst>
              <a:ext uri="{FF2B5EF4-FFF2-40B4-BE49-F238E27FC236}">
                <a16:creationId xmlns:a16="http://schemas.microsoft.com/office/drawing/2014/main" id="{CFDA4803-78DB-4A0E-A6D6-26120D77239F}"/>
              </a:ext>
            </a:extLst>
          </p:cNvPr>
          <p:cNvSpPr/>
          <p:nvPr/>
        </p:nvSpPr>
        <p:spPr>
          <a:xfrm>
            <a:off x="5616967" y="3247829"/>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2018</a:t>
            </a:r>
          </a:p>
        </p:txBody>
      </p:sp>
      <p:sp>
        <p:nvSpPr>
          <p:cNvPr id="155" name="Rectangle 154">
            <a:extLst>
              <a:ext uri="{FF2B5EF4-FFF2-40B4-BE49-F238E27FC236}">
                <a16:creationId xmlns:a16="http://schemas.microsoft.com/office/drawing/2014/main" id="{FC0E91F2-7D3C-474D-8771-F722E0D6EB75}"/>
              </a:ext>
            </a:extLst>
          </p:cNvPr>
          <p:cNvSpPr/>
          <p:nvPr/>
        </p:nvSpPr>
        <p:spPr>
          <a:xfrm>
            <a:off x="7926328" y="3278193"/>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2021</a:t>
            </a:r>
          </a:p>
        </p:txBody>
      </p:sp>
      <p:sp>
        <p:nvSpPr>
          <p:cNvPr id="157" name="Rectangle 156">
            <a:extLst>
              <a:ext uri="{FF2B5EF4-FFF2-40B4-BE49-F238E27FC236}">
                <a16:creationId xmlns:a16="http://schemas.microsoft.com/office/drawing/2014/main" id="{5EA59299-CC01-4EFE-87E4-CA82C673B0CE}"/>
              </a:ext>
            </a:extLst>
          </p:cNvPr>
          <p:cNvSpPr/>
          <p:nvPr/>
        </p:nvSpPr>
        <p:spPr>
          <a:xfrm>
            <a:off x="9879407" y="3230360"/>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lumMod val="75000"/>
                  </a:srgbClr>
                </a:solidFill>
                <a:effectLst/>
                <a:uLnTx/>
                <a:uFillTx/>
                <a:latin typeface="Calibri" panose="020F0502020204030204"/>
                <a:ea typeface="+mn-ea"/>
                <a:cs typeface="Arial"/>
                <a:sym typeface="Arial"/>
              </a:rPr>
              <a:t>2024</a:t>
            </a:r>
          </a:p>
        </p:txBody>
      </p:sp>
      <p:sp>
        <p:nvSpPr>
          <p:cNvPr id="160" name="Text Placeholder 32">
            <a:extLst>
              <a:ext uri="{FF2B5EF4-FFF2-40B4-BE49-F238E27FC236}">
                <a16:creationId xmlns:a16="http://schemas.microsoft.com/office/drawing/2014/main" id="{0CF02F89-8E9B-4CEF-9BB4-943DA2C9D5B2}"/>
              </a:ext>
            </a:extLst>
          </p:cNvPr>
          <p:cNvSpPr txBox="1">
            <a:spLocks/>
          </p:cNvSpPr>
          <p:nvPr/>
        </p:nvSpPr>
        <p:spPr>
          <a:xfrm>
            <a:off x="11146812" y="1653122"/>
            <a:ext cx="1070196" cy="3045841"/>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Duplicate Sans Light" pitchFamily="2" charset="77"/>
                <a:ea typeface="+mn-ea"/>
                <a:cs typeface="+mn-cs"/>
                <a:sym typeface="Arial"/>
              </a:rPr>
              <a:t>2026+</a:t>
            </a:r>
            <a:r>
              <a:rPr kumimoji="0" lang="en-US" sz="1255" b="0" i="0" u="none" strike="noStrike" kern="1200" cap="none" spc="0" normalizeH="0" baseline="0" noProof="0" dirty="0">
                <a:ln>
                  <a:noFill/>
                </a:ln>
                <a:solidFill>
                  <a:prstClr val="white"/>
                </a:solidFill>
                <a:effectLst/>
                <a:highlight>
                  <a:srgbClr val="000000"/>
                </a:highlight>
                <a:uLnTx/>
                <a:uFillTx/>
                <a:latin typeface="Metrophobic" panose="020B0604020202020204" charset="0"/>
                <a:ea typeface="+mn-ea"/>
                <a:cs typeface="+mn-cs"/>
                <a:sym typeface="Arial"/>
              </a:rPr>
              <a:t> Technology and Reputation Risk Reduction flights testing your hardware and software on our Reusable Rockets</a:t>
            </a:r>
            <a:endParaRPr kumimoji="0" lang="en-US" sz="1255" b="0" i="0" u="none" strike="noStrike" kern="0" cap="none" spc="0" normalizeH="0" baseline="0" noProof="0" dirty="0">
              <a:ln>
                <a:noFill/>
              </a:ln>
              <a:solidFill>
                <a:prstClr val="white"/>
              </a:solidFill>
              <a:effectLst/>
              <a:highlight>
                <a:srgbClr val="000000"/>
              </a:highlight>
              <a:uLnTx/>
              <a:uFillTx/>
              <a:latin typeface="Metrophobic" panose="020B0604020202020204" charset="0"/>
              <a:ea typeface="+mn-ea"/>
              <a:cs typeface="Arial"/>
              <a:sym typeface="Arial"/>
            </a:endParaRP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uplicate Sans Light" pitchFamily="2" charset="77"/>
              <a:ea typeface="+mn-ea"/>
              <a:cs typeface="+mn-cs"/>
              <a:sym typeface="Arial"/>
            </a:endParaRP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uplicate Sans Light" pitchFamily="2" charset="77"/>
              <a:ea typeface="+mn-ea"/>
              <a:cs typeface="+mn-cs"/>
              <a:sym typeface="Arial"/>
            </a:endParaRPr>
          </a:p>
        </p:txBody>
      </p:sp>
      <p:graphicFrame>
        <p:nvGraphicFramePr>
          <p:cNvPr id="163" name="Diagram 162">
            <a:extLst>
              <a:ext uri="{FF2B5EF4-FFF2-40B4-BE49-F238E27FC236}">
                <a16:creationId xmlns:a16="http://schemas.microsoft.com/office/drawing/2014/main" id="{C21A2781-ED4C-4A0E-85F0-6B164897928F}"/>
              </a:ext>
            </a:extLst>
          </p:cNvPr>
          <p:cNvGraphicFramePr/>
          <p:nvPr/>
        </p:nvGraphicFramePr>
        <p:xfrm>
          <a:off x="9421006" y="3694336"/>
          <a:ext cx="2770995" cy="156323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pic>
        <p:nvPicPr>
          <p:cNvPr id="3" name="Picture 2">
            <a:extLst>
              <a:ext uri="{FF2B5EF4-FFF2-40B4-BE49-F238E27FC236}">
                <a16:creationId xmlns:a16="http://schemas.microsoft.com/office/drawing/2014/main" id="{BFA09F6A-F480-CDF0-6206-3AB973FE458D}"/>
              </a:ext>
            </a:extLst>
          </p:cNvPr>
          <p:cNvPicPr>
            <a:picLocks noChangeAspect="1"/>
          </p:cNvPicPr>
          <p:nvPr/>
        </p:nvPicPr>
        <p:blipFill>
          <a:blip r:embed="rId23"/>
          <a:stretch>
            <a:fillRect/>
          </a:stretch>
        </p:blipFill>
        <p:spPr>
          <a:xfrm>
            <a:off x="8285285" y="32910"/>
            <a:ext cx="960829" cy="1085830"/>
          </a:xfrm>
          <a:prstGeom prst="rect">
            <a:avLst/>
          </a:prstGeom>
        </p:spPr>
      </p:pic>
      <p:sp>
        <p:nvSpPr>
          <p:cNvPr id="5" name="Text Placeholder 32">
            <a:extLst>
              <a:ext uri="{FF2B5EF4-FFF2-40B4-BE49-F238E27FC236}">
                <a16:creationId xmlns:a16="http://schemas.microsoft.com/office/drawing/2014/main" id="{40277BD2-187A-4E98-BAC5-DE88605E7A12}"/>
              </a:ext>
            </a:extLst>
          </p:cNvPr>
          <p:cNvSpPr txBox="1">
            <a:spLocks/>
          </p:cNvSpPr>
          <p:nvPr/>
        </p:nvSpPr>
        <p:spPr>
          <a:xfrm>
            <a:off x="8234467" y="1706300"/>
            <a:ext cx="962446"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384"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rPr>
              <a:t>2022 USAF Contract for Hypersonic Reusable Launch Vehicle</a:t>
            </a:r>
            <a:endParaRPr kumimoji="0" lang="en-US" sz="1200" b="0" i="0" u="none" strike="noStrike" kern="1200" cap="none" spc="0" normalizeH="0" baseline="0" noProof="0">
              <a:ln>
                <a:noFill/>
              </a:ln>
              <a:solidFill>
                <a:prstClr val="white"/>
              </a:solidFill>
              <a:effectLst/>
              <a:uLnTx/>
              <a:uFillTx/>
              <a:latin typeface="Duplicate Sans Medium" pitchFamily="2" charset="77"/>
              <a:ea typeface="+mn-ea"/>
              <a:cs typeface="+mn-cs"/>
              <a:sym typeface="Arial"/>
            </a:endParaRPr>
          </a:p>
          <a:p>
            <a:pPr marL="0" marR="0" lvl="0" indent="0" algn="ctr" defTabSz="914384" rtl="0" eaLnBrk="1" fontAlgn="auto" latinLnBrk="0" hangingPunct="1">
              <a:lnSpc>
                <a:spcPct val="90000"/>
              </a:lnSpc>
              <a:spcBef>
                <a:spcPts val="100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Duplicate Sans Light" pitchFamily="2" charset="77"/>
              <a:ea typeface="+mn-ea"/>
              <a:cs typeface="+mn-cs"/>
              <a:sym typeface="Arial"/>
            </a:endParaRPr>
          </a:p>
        </p:txBody>
      </p:sp>
      <p:sp>
        <p:nvSpPr>
          <p:cNvPr id="6" name="TextBox 5">
            <a:extLst>
              <a:ext uri="{FF2B5EF4-FFF2-40B4-BE49-F238E27FC236}">
                <a16:creationId xmlns:a16="http://schemas.microsoft.com/office/drawing/2014/main" id="{A9118035-92F0-DE36-0AF3-1DB24D9EEB4F}"/>
              </a:ext>
            </a:extLst>
          </p:cNvPr>
          <p:cNvSpPr txBox="1"/>
          <p:nvPr/>
        </p:nvSpPr>
        <p:spPr>
          <a:xfrm>
            <a:off x="9495868" y="6373632"/>
            <a:ext cx="2781660" cy="461665"/>
          </a:xfrm>
          <a:prstGeom prst="rect">
            <a:avLst/>
          </a:prstGeom>
          <a:noFill/>
        </p:spPr>
        <p:txBody>
          <a:bodyPr wrap="none" rtlCol="0">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Arial"/>
                <a:sym typeface="Arial"/>
              </a:rPr>
              <a:t>Working with companies like Vaya Space </a:t>
            </a:r>
          </a:p>
          <a:p>
            <a:pPr marL="0" marR="0" lvl="0" indent="0" algn="ctr"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Arial"/>
                <a:sym typeface="Arial"/>
              </a:rPr>
              <a:t>and others Derisking Orbital access.</a:t>
            </a:r>
          </a:p>
        </p:txBody>
      </p:sp>
      <p:sp>
        <p:nvSpPr>
          <p:cNvPr id="7" name="TextBox 6">
            <a:extLst>
              <a:ext uri="{FF2B5EF4-FFF2-40B4-BE49-F238E27FC236}">
                <a16:creationId xmlns:a16="http://schemas.microsoft.com/office/drawing/2014/main" id="{8CEE4A3B-D5AA-4F4B-A889-F56EFE3A7470}"/>
              </a:ext>
            </a:extLst>
          </p:cNvPr>
          <p:cNvSpPr txBox="1"/>
          <p:nvPr/>
        </p:nvSpPr>
        <p:spPr>
          <a:xfrm>
            <a:off x="58713" y="4973180"/>
            <a:ext cx="8319644" cy="369332"/>
          </a:xfrm>
          <a:prstGeom prst="rect">
            <a:avLst/>
          </a:prstGeom>
          <a:noFill/>
        </p:spPr>
        <p:txBody>
          <a:bodyPr wrap="square" rtlCol="0">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ED7D31"/>
                </a:solidFill>
                <a:effectLst/>
                <a:uLnTx/>
                <a:uFillTx/>
                <a:latin typeface="Calibri" panose="020F0502020204030204"/>
                <a:ea typeface="+mn-ea"/>
                <a:cs typeface="Arial"/>
                <a:sym typeface="Arial"/>
              </a:rPr>
              <a:t>Our Competitive Advantage is demonstrated by what our team has already done: </a:t>
            </a:r>
          </a:p>
        </p:txBody>
      </p:sp>
      <p:pic>
        <p:nvPicPr>
          <p:cNvPr id="24" name="Picture 23">
            <a:extLst>
              <a:ext uri="{FF2B5EF4-FFF2-40B4-BE49-F238E27FC236}">
                <a16:creationId xmlns:a16="http://schemas.microsoft.com/office/drawing/2014/main" id="{AC6D4545-A6A0-F897-B145-AE8C73F5B6A6}"/>
              </a:ext>
            </a:extLst>
          </p:cNvPr>
          <p:cNvPicPr>
            <a:picLocks noChangeAspect="1"/>
          </p:cNvPicPr>
          <p:nvPr/>
        </p:nvPicPr>
        <p:blipFill>
          <a:blip r:embed="rId24"/>
          <a:stretch>
            <a:fillRect/>
          </a:stretch>
        </p:blipFill>
        <p:spPr>
          <a:xfrm>
            <a:off x="9752463" y="10630"/>
            <a:ext cx="759043" cy="1503300"/>
          </a:xfrm>
          <a:prstGeom prst="rect">
            <a:avLst/>
          </a:prstGeom>
        </p:spPr>
      </p:pic>
      <p:pic>
        <p:nvPicPr>
          <p:cNvPr id="26" name="Picture 25">
            <a:extLst>
              <a:ext uri="{FF2B5EF4-FFF2-40B4-BE49-F238E27FC236}">
                <a16:creationId xmlns:a16="http://schemas.microsoft.com/office/drawing/2014/main" id="{555E2522-B5B3-E9FC-1806-6635BB414FA4}"/>
              </a:ext>
            </a:extLst>
          </p:cNvPr>
          <p:cNvPicPr>
            <a:picLocks noChangeAspect="1"/>
          </p:cNvPicPr>
          <p:nvPr/>
        </p:nvPicPr>
        <p:blipFill>
          <a:blip r:embed="rId25"/>
          <a:stretch>
            <a:fillRect/>
          </a:stretch>
        </p:blipFill>
        <p:spPr>
          <a:xfrm>
            <a:off x="8154531" y="4828651"/>
            <a:ext cx="1354444" cy="1996440"/>
          </a:xfrm>
          <a:prstGeom prst="rect">
            <a:avLst/>
          </a:prstGeom>
        </p:spPr>
      </p:pic>
      <p:pic>
        <p:nvPicPr>
          <p:cNvPr id="33" name="Picture 32">
            <a:extLst>
              <a:ext uri="{FF2B5EF4-FFF2-40B4-BE49-F238E27FC236}">
                <a16:creationId xmlns:a16="http://schemas.microsoft.com/office/drawing/2014/main" id="{6A86C673-172A-47AC-79A0-C3126C51D997}"/>
              </a:ext>
            </a:extLst>
          </p:cNvPr>
          <p:cNvPicPr>
            <a:picLocks noChangeAspect="1"/>
          </p:cNvPicPr>
          <p:nvPr/>
        </p:nvPicPr>
        <p:blipFill>
          <a:blip r:embed="rId26"/>
          <a:stretch>
            <a:fillRect/>
          </a:stretch>
        </p:blipFill>
        <p:spPr>
          <a:xfrm rot="5400000">
            <a:off x="10881057" y="512031"/>
            <a:ext cx="1503300" cy="463880"/>
          </a:xfrm>
          <a:prstGeom prst="rect">
            <a:avLst/>
          </a:prstGeom>
        </p:spPr>
      </p:pic>
      <p:pic>
        <p:nvPicPr>
          <p:cNvPr id="8" name="Picture 7" descr="A person standing next to a large machine&#10;&#10;AI-generated content may be incorrect.">
            <a:extLst>
              <a:ext uri="{FF2B5EF4-FFF2-40B4-BE49-F238E27FC236}">
                <a16:creationId xmlns:a16="http://schemas.microsoft.com/office/drawing/2014/main" id="{14B418F9-FD1A-F95A-143D-CF5E11B9C6F3}"/>
              </a:ext>
            </a:extLst>
          </p:cNvPr>
          <p:cNvPicPr>
            <a:picLocks noChangeAspect="1"/>
          </p:cNvPicPr>
          <p:nvPr/>
        </p:nvPicPr>
        <p:blipFill>
          <a:blip r:embed="rId27"/>
          <a:stretch>
            <a:fillRect/>
          </a:stretch>
        </p:blipFill>
        <p:spPr>
          <a:xfrm>
            <a:off x="9738741" y="5078258"/>
            <a:ext cx="1745471" cy="1309104"/>
          </a:xfrm>
          <a:prstGeom prst="rect">
            <a:avLst/>
          </a:prstGeom>
        </p:spPr>
      </p:pic>
      <p:sp>
        <p:nvSpPr>
          <p:cNvPr id="10" name="Rectangle 9">
            <a:extLst>
              <a:ext uri="{FF2B5EF4-FFF2-40B4-BE49-F238E27FC236}">
                <a16:creationId xmlns:a16="http://schemas.microsoft.com/office/drawing/2014/main" id="{6AC05270-9EA8-E02E-592C-3668384987A0}"/>
              </a:ext>
            </a:extLst>
          </p:cNvPr>
          <p:cNvSpPr/>
          <p:nvPr/>
        </p:nvSpPr>
        <p:spPr>
          <a:xfrm>
            <a:off x="1723262" y="3283155"/>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D7D31"/>
                </a:solidFill>
                <a:effectLst/>
                <a:uLnTx/>
                <a:uFillTx/>
                <a:latin typeface="Calibri" panose="020F0502020204030204"/>
                <a:ea typeface="+mn-ea"/>
                <a:cs typeface="Arial"/>
                <a:sym typeface="Arial"/>
              </a:rPr>
              <a:t>2008</a:t>
            </a:r>
          </a:p>
        </p:txBody>
      </p:sp>
      <p:grpSp>
        <p:nvGrpSpPr>
          <p:cNvPr id="11" name="Group 10">
            <a:extLst>
              <a:ext uri="{FF2B5EF4-FFF2-40B4-BE49-F238E27FC236}">
                <a16:creationId xmlns:a16="http://schemas.microsoft.com/office/drawing/2014/main" id="{C1F93062-11DA-6CD9-FC46-20DBC8F128BB}"/>
              </a:ext>
            </a:extLst>
          </p:cNvPr>
          <p:cNvGrpSpPr/>
          <p:nvPr/>
        </p:nvGrpSpPr>
        <p:grpSpPr>
          <a:xfrm>
            <a:off x="2379334" y="3251592"/>
            <a:ext cx="316547" cy="316547"/>
            <a:chOff x="762004" y="3201390"/>
            <a:chExt cx="457195" cy="457195"/>
          </a:xfrm>
        </p:grpSpPr>
        <p:sp>
          <p:nvSpPr>
            <p:cNvPr id="12" name="Oval 11">
              <a:extLst>
                <a:ext uri="{FF2B5EF4-FFF2-40B4-BE49-F238E27FC236}">
                  <a16:creationId xmlns:a16="http://schemas.microsoft.com/office/drawing/2014/main" id="{F3661D16-2A05-A9CD-3EE9-1AAA2982EF8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solidFill>
                <a:effectLst/>
                <a:uLnTx/>
                <a:uFillTx/>
                <a:latin typeface="Calibri" panose="020F0502020204030204"/>
                <a:ea typeface="+mn-ea"/>
                <a:cs typeface="+mn-cs"/>
                <a:sym typeface="Arial"/>
              </a:endParaRPr>
            </a:p>
          </p:txBody>
        </p:sp>
        <p:sp>
          <p:nvSpPr>
            <p:cNvPr id="13" name="Oval 12">
              <a:extLst>
                <a:ext uri="{FF2B5EF4-FFF2-40B4-BE49-F238E27FC236}">
                  <a16:creationId xmlns:a16="http://schemas.microsoft.com/office/drawing/2014/main" id="{2841F59A-EF61-3A02-8006-D14D047C9F2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solidFill>
                <a:effectLst/>
                <a:uLnTx/>
                <a:uFillTx/>
                <a:latin typeface="Calibri" panose="020F0502020204030204"/>
                <a:ea typeface="+mn-ea"/>
                <a:cs typeface="+mn-cs"/>
                <a:sym typeface="Arial"/>
              </a:endParaRPr>
            </a:p>
          </p:txBody>
        </p:sp>
        <p:sp>
          <p:nvSpPr>
            <p:cNvPr id="14" name="Oval 13">
              <a:extLst>
                <a:ext uri="{FF2B5EF4-FFF2-40B4-BE49-F238E27FC236}">
                  <a16:creationId xmlns:a16="http://schemas.microsoft.com/office/drawing/2014/main" id="{639A95A9-6322-3F58-BA54-58C7B9A05A6B}"/>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38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D7D31"/>
                </a:solidFill>
                <a:effectLst/>
                <a:uLnTx/>
                <a:uFillTx/>
                <a:latin typeface="Calibri" panose="020F0502020204030204"/>
                <a:ea typeface="+mn-ea"/>
                <a:cs typeface="+mn-cs"/>
                <a:sym typeface="Arial"/>
              </a:endParaRPr>
            </a:p>
          </p:txBody>
        </p:sp>
      </p:grpSp>
      <p:sp>
        <p:nvSpPr>
          <p:cNvPr id="17" name="Rectangle 16">
            <a:extLst>
              <a:ext uri="{FF2B5EF4-FFF2-40B4-BE49-F238E27FC236}">
                <a16:creationId xmlns:a16="http://schemas.microsoft.com/office/drawing/2014/main" id="{6D73F273-98AD-FF83-248E-D1F0BF37FD3A}"/>
              </a:ext>
            </a:extLst>
          </p:cNvPr>
          <p:cNvSpPr/>
          <p:nvPr/>
        </p:nvSpPr>
        <p:spPr>
          <a:xfrm>
            <a:off x="2944089" y="3272441"/>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2010</a:t>
            </a:r>
          </a:p>
        </p:txBody>
      </p:sp>
      <p:sp>
        <p:nvSpPr>
          <p:cNvPr id="21" name="Rectangle 20">
            <a:extLst>
              <a:ext uri="{FF2B5EF4-FFF2-40B4-BE49-F238E27FC236}">
                <a16:creationId xmlns:a16="http://schemas.microsoft.com/office/drawing/2014/main" id="{8717EBB9-FCE4-0076-4957-1E6648D868BD}"/>
              </a:ext>
            </a:extLst>
          </p:cNvPr>
          <p:cNvSpPr/>
          <p:nvPr/>
        </p:nvSpPr>
        <p:spPr>
          <a:xfrm>
            <a:off x="4055354" y="3292374"/>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2011</a:t>
            </a:r>
          </a:p>
        </p:txBody>
      </p:sp>
      <p:sp>
        <p:nvSpPr>
          <p:cNvPr id="23" name="Rectangle 22">
            <a:extLst>
              <a:ext uri="{FF2B5EF4-FFF2-40B4-BE49-F238E27FC236}">
                <a16:creationId xmlns:a16="http://schemas.microsoft.com/office/drawing/2014/main" id="{D312AA91-8E42-2771-CF67-0A1EC86721C0}"/>
              </a:ext>
            </a:extLst>
          </p:cNvPr>
          <p:cNvSpPr/>
          <p:nvPr/>
        </p:nvSpPr>
        <p:spPr>
          <a:xfrm>
            <a:off x="4918162" y="3270679"/>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2015</a:t>
            </a:r>
          </a:p>
        </p:txBody>
      </p:sp>
      <p:sp>
        <p:nvSpPr>
          <p:cNvPr id="25" name="Rectangle 24">
            <a:extLst>
              <a:ext uri="{FF2B5EF4-FFF2-40B4-BE49-F238E27FC236}">
                <a16:creationId xmlns:a16="http://schemas.microsoft.com/office/drawing/2014/main" id="{739B0315-0521-7CAC-A374-F4AB83E3A636}"/>
              </a:ext>
            </a:extLst>
          </p:cNvPr>
          <p:cNvSpPr/>
          <p:nvPr/>
        </p:nvSpPr>
        <p:spPr>
          <a:xfrm>
            <a:off x="6237089" y="3273569"/>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2020</a:t>
            </a:r>
          </a:p>
        </p:txBody>
      </p:sp>
      <p:sp>
        <p:nvSpPr>
          <p:cNvPr id="27" name="Rectangle 26">
            <a:extLst>
              <a:ext uri="{FF2B5EF4-FFF2-40B4-BE49-F238E27FC236}">
                <a16:creationId xmlns:a16="http://schemas.microsoft.com/office/drawing/2014/main" id="{5FDF7F20-A5C3-E0F9-2EA5-7D9C0A2F6D02}"/>
              </a:ext>
            </a:extLst>
          </p:cNvPr>
          <p:cNvSpPr/>
          <p:nvPr/>
        </p:nvSpPr>
        <p:spPr>
          <a:xfrm>
            <a:off x="7109579" y="3306837"/>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2021</a:t>
            </a:r>
          </a:p>
        </p:txBody>
      </p:sp>
      <p:sp>
        <p:nvSpPr>
          <p:cNvPr id="28" name="Rectangle 27">
            <a:extLst>
              <a:ext uri="{FF2B5EF4-FFF2-40B4-BE49-F238E27FC236}">
                <a16:creationId xmlns:a16="http://schemas.microsoft.com/office/drawing/2014/main" id="{CC2B71A4-0198-3EFB-AE51-101B6C340738}"/>
              </a:ext>
            </a:extLst>
          </p:cNvPr>
          <p:cNvSpPr/>
          <p:nvPr/>
        </p:nvSpPr>
        <p:spPr>
          <a:xfrm>
            <a:off x="8603588" y="3288297"/>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2022</a:t>
            </a:r>
          </a:p>
        </p:txBody>
      </p:sp>
      <p:sp>
        <p:nvSpPr>
          <p:cNvPr id="29" name="Rectangle 28">
            <a:extLst>
              <a:ext uri="{FF2B5EF4-FFF2-40B4-BE49-F238E27FC236}">
                <a16:creationId xmlns:a16="http://schemas.microsoft.com/office/drawing/2014/main" id="{47607DB2-3841-F4EB-FD25-D9B91F0F44CA}"/>
              </a:ext>
            </a:extLst>
          </p:cNvPr>
          <p:cNvSpPr/>
          <p:nvPr/>
        </p:nvSpPr>
        <p:spPr>
          <a:xfrm>
            <a:off x="9152456" y="3231810"/>
            <a:ext cx="584182" cy="276999"/>
          </a:xfrm>
          <a:prstGeom prst="rect">
            <a:avLst/>
          </a:prstGeom>
        </p:spPr>
        <p:txBody>
          <a:bodyPr wrap="squar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2023</a:t>
            </a:r>
          </a:p>
        </p:txBody>
      </p:sp>
      <p:sp>
        <p:nvSpPr>
          <p:cNvPr id="30" name="Rectangle 29">
            <a:extLst>
              <a:ext uri="{FF2B5EF4-FFF2-40B4-BE49-F238E27FC236}">
                <a16:creationId xmlns:a16="http://schemas.microsoft.com/office/drawing/2014/main" id="{38229A42-1DFE-591A-A7C4-6CE1AF5D8BEF}"/>
              </a:ext>
            </a:extLst>
          </p:cNvPr>
          <p:cNvSpPr/>
          <p:nvPr/>
        </p:nvSpPr>
        <p:spPr>
          <a:xfrm>
            <a:off x="5634100" y="3267227"/>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2018</a:t>
            </a:r>
          </a:p>
        </p:txBody>
      </p:sp>
      <p:sp>
        <p:nvSpPr>
          <p:cNvPr id="31" name="Rectangle 30">
            <a:extLst>
              <a:ext uri="{FF2B5EF4-FFF2-40B4-BE49-F238E27FC236}">
                <a16:creationId xmlns:a16="http://schemas.microsoft.com/office/drawing/2014/main" id="{248EBAB9-D100-168D-A680-196BE5CFDBCF}"/>
              </a:ext>
            </a:extLst>
          </p:cNvPr>
          <p:cNvSpPr/>
          <p:nvPr/>
        </p:nvSpPr>
        <p:spPr>
          <a:xfrm>
            <a:off x="7943461" y="3297591"/>
            <a:ext cx="498855" cy="229165"/>
          </a:xfrm>
          <a:prstGeom prst="rect">
            <a:avLst/>
          </a:prstGeom>
        </p:spPr>
        <p:txBody>
          <a:bodyPr wrap="none">
            <a:spAutoFit/>
          </a:bodyPr>
          <a:lstStyle/>
          <a:p>
            <a:pPr marL="0" marR="0" lvl="0" indent="0" algn="ctr" defTabSz="914384" rtl="0" eaLnBrk="1" fontAlgn="auto" latinLnBrk="0" hangingPunct="1">
              <a:lnSpc>
                <a:spcPts val="104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2021</a:t>
            </a:r>
          </a:p>
        </p:txBody>
      </p:sp>
      <p:sp>
        <p:nvSpPr>
          <p:cNvPr id="32" name="Rectangle 31">
            <a:extLst>
              <a:ext uri="{FF2B5EF4-FFF2-40B4-BE49-F238E27FC236}">
                <a16:creationId xmlns:a16="http://schemas.microsoft.com/office/drawing/2014/main" id="{A058BB5C-4B62-85C5-DD27-0B8623F87C19}"/>
              </a:ext>
            </a:extLst>
          </p:cNvPr>
          <p:cNvSpPr/>
          <p:nvPr/>
        </p:nvSpPr>
        <p:spPr>
          <a:xfrm>
            <a:off x="9896540" y="3249758"/>
            <a:ext cx="498855" cy="276999"/>
          </a:xfrm>
          <a:prstGeom prst="rect">
            <a:avLst/>
          </a:prstGeom>
        </p:spPr>
        <p:txBody>
          <a:bodyPr wrap="none">
            <a:spAutoFit/>
          </a:bodyPr>
          <a:lstStyle/>
          <a:p>
            <a:pPr marL="0" marR="0" lvl="0" indent="0" algn="l" defTabSz="91438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D7D31"/>
                </a:solidFill>
                <a:effectLst/>
                <a:uLnTx/>
                <a:uFillTx/>
                <a:latin typeface="Calibri" panose="020F0502020204030204"/>
                <a:ea typeface="+mn-ea"/>
                <a:cs typeface="Arial"/>
                <a:sym typeface="Arial"/>
              </a:rPr>
              <a:t>2024</a:t>
            </a:r>
          </a:p>
        </p:txBody>
      </p:sp>
    </p:spTree>
    <p:extLst>
      <p:ext uri="{BB962C8B-B14F-4D97-AF65-F5344CB8AC3E}">
        <p14:creationId xmlns:p14="http://schemas.microsoft.com/office/powerpoint/2010/main" val="301949951"/>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RISK FACTORS &amp; MITIGATION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29260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Risk</a:t>
                      </a:r>
                    </a:p>
                  </a:txBody>
                  <a:tcPr>
                    <a:solidFill>
                      <a:srgbClr val="0A142A"/>
                    </a:solidFill>
                  </a:tcPr>
                </a:tc>
                <a:tc>
                  <a:txBody>
                    <a:bodyPr/>
                    <a:lstStyle/>
                    <a:p>
                      <a:r>
                        <a:rPr sz="1100" b="1">
                          <a:solidFill>
                            <a:srgbClr val="009ED9"/>
                          </a:solidFill>
                          <a:latin typeface="Calibri"/>
                        </a:rPr>
                        <a:t>Mitigation</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Regulatory (ITAR, FAA)</a:t>
                      </a:r>
                    </a:p>
                  </a:txBody>
                  <a:tcPr>
                    <a:solidFill>
                      <a:srgbClr val="0D1220"/>
                    </a:solidFill>
                  </a:tcPr>
                </a:tc>
                <a:tc>
                  <a:txBody>
                    <a:bodyPr/>
                    <a:lstStyle/>
                    <a:p>
                      <a:r>
                        <a:rPr sz="1100">
                          <a:solidFill>
                            <a:srgbClr val="FFFFFF"/>
                          </a:solidFill>
                          <a:latin typeface="Calibri"/>
                        </a:rPr>
                        <a:t>15+ year compliance track record; ITAR counsel; clean domestic (Texas) corporate structure</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Scorpius integration</a:t>
                      </a:r>
                    </a:p>
                  </a:txBody>
                  <a:tcPr>
                    <a:solidFill>
                      <a:srgbClr val="101626"/>
                    </a:solidFill>
                  </a:tcPr>
                </a:tc>
                <a:tc>
                  <a:txBody>
                    <a:bodyPr/>
                    <a:lstStyle/>
                    <a:p>
                      <a:r>
                        <a:rPr sz="1100">
                          <a:solidFill>
                            <a:srgbClr val="FFFFFF"/>
                          </a:solidFill>
                          <a:latin typeface="Calibri"/>
                        </a:rPr>
                        <a:t>Exos is existing 18% owner; team/operations already familiar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Technology (RDRE)</a:t>
                      </a:r>
                    </a:p>
                  </a:txBody>
                  <a:tcPr>
                    <a:solidFill>
                      <a:srgbClr val="0D1220"/>
                    </a:solidFill>
                  </a:tcPr>
                </a:tc>
                <a:tc>
                  <a:txBody>
                    <a:bodyPr/>
                    <a:lstStyle/>
                    <a:p>
                      <a:r>
                        <a:rPr sz="1100">
                          <a:solidFill>
                            <a:srgbClr val="FFFFFF"/>
                          </a:solidFill>
                          <a:latin typeface="Calibri"/>
                        </a:rPr>
                        <a:t>SBIR Phase II funded; failure doesn't affect core business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Market liquidity post-listing</a:t>
                      </a:r>
                    </a:p>
                  </a:txBody>
                  <a:tcPr>
                    <a:solidFill>
                      <a:srgbClr val="101626"/>
                    </a:solidFill>
                  </a:tcPr>
                </a:tc>
                <a:tc>
                  <a:txBody>
                    <a:bodyPr/>
                    <a:lstStyle/>
                    <a:p>
                      <a:r>
                        <a:rPr sz="1100">
                          <a:solidFill>
                            <a:srgbClr val="FFFFFF"/>
                          </a:solidFill>
                          <a:latin typeface="Calibri"/>
                        </a:rPr>
                        <a:t>Market maker to be appointed at listing; EAI sell-down provides volume</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Single customer dependency</a:t>
                      </a:r>
                    </a:p>
                  </a:txBody>
                  <a:tcPr>
                    <a:solidFill>
                      <a:srgbClr val="0D1220"/>
                    </a:solidFill>
                  </a:tcPr>
                </a:tc>
                <a:tc>
                  <a:txBody>
                    <a:bodyPr/>
                    <a:lstStyle/>
                    <a:p>
                      <a:r>
                        <a:rPr sz="1100">
                          <a:solidFill>
                            <a:srgbClr val="FFFFFF"/>
                          </a:solidFill>
                          <a:latin typeface="Calibri"/>
                        </a:rPr>
                        <a:t>Diversified: DoD, NASA, 3 defense primes, commercial, university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Key person risk</a:t>
                      </a:r>
                    </a:p>
                  </a:txBody>
                  <a:tcPr>
                    <a:solidFill>
                      <a:srgbClr val="101626"/>
                    </a:solidFill>
                  </a:tcPr>
                </a:tc>
                <a:tc>
                  <a:txBody>
                    <a:bodyPr/>
                    <a:lstStyle/>
                    <a:p>
                      <a:r>
                        <a:rPr sz="1100">
                          <a:solidFill>
                            <a:srgbClr val="FFFFFF"/>
                          </a:solidFill>
                          <a:latin typeface="Calibri"/>
                        </a:rPr>
                        <a:t>D&amp;O insurance; COO operational; 50+ years combined exec experience</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BLK4 (orbital path)</a:t>
                      </a:r>
                    </a:p>
                  </a:txBody>
                  <a:tcPr>
                    <a:solidFill>
                      <a:srgbClr val="0D1220"/>
                    </a:solidFill>
                  </a:tcPr>
                </a:tc>
                <a:tc>
                  <a:txBody>
                    <a:bodyPr/>
                    <a:lstStyle/>
                    <a:p>
                      <a:r>
                        <a:rPr sz="1100">
                          <a:solidFill>
                            <a:srgbClr val="FFFFFF"/>
                          </a:solidFill>
                          <a:latin typeface="Calibri"/>
                        </a:rPr>
                        <a:t>Future, gated orbital path — not funded by the Series A; base-case revenue does not depend on BLK4</a:t>
                      </a:r>
                    </a:p>
                  </a:txBody>
                  <a:tcPr>
                    <a:solidFill>
                      <a:srgbClr val="0D1220"/>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45472"/>
            <a:ext cx="10058400" cy="731520"/>
          </a:xfrm>
          <a:prstGeom prst="rect">
            <a:avLst/>
          </a:prstGeom>
          <a:noFill/>
        </p:spPr>
        <p:txBody>
          <a:bodyPr wrap="square">
            <a:spAutoFit/>
          </a:bodyPr>
          <a:lstStyle/>
          <a:p>
            <a:pPr algn="l">
              <a:spcAft>
                <a:spcPts val="400"/>
              </a:spcAft>
            </a:pPr>
            <a:r>
              <a:rPr sz="4000" b="1">
                <a:solidFill>
                  <a:srgbClr val="FFFFFF"/>
                </a:solidFill>
                <a:latin typeface="Calibri"/>
              </a:rPr>
              <a:t>THE OFFER — $10M SERIES A</a:t>
            </a:r>
          </a:p>
        </p:txBody>
      </p:sp>
      <p:sp>
        <p:nvSpPr>
          <p:cNvPr id="5" name="Rectangle 4"/>
          <p:cNvSpPr/>
          <p:nvPr/>
        </p:nvSpPr>
        <p:spPr>
          <a:xfrm>
            <a:off x="731520" y="955617"/>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42752"/>
            <a:ext cx="10058400" cy="457200"/>
          </a:xfrm>
          <a:prstGeom prst="rect">
            <a:avLst/>
          </a:prstGeom>
          <a:noFill/>
        </p:spPr>
        <p:txBody>
          <a:bodyPr wrap="square">
            <a:spAutoFit/>
          </a:bodyPr>
          <a:lstStyle/>
          <a:p>
            <a:pPr algn="l">
              <a:spcAft>
                <a:spcPts val="400"/>
              </a:spcAft>
            </a:pPr>
            <a:r>
              <a:rPr sz="1600" b="1">
                <a:solidFill>
                  <a:srgbClr val="009ED9"/>
                </a:solidFill>
                <a:latin typeface="Calibri"/>
              </a:rPr>
              <a:t>EXOS AEROSPACE — FAA Part 431 Launch License (→ Part 450) | Lunar-Proven Technology | Profitable</a:t>
            </a:r>
          </a:p>
        </p:txBody>
      </p:sp>
      <p:graphicFrame>
        <p:nvGraphicFramePr>
          <p:cNvPr id="7" name="Table 6"/>
          <p:cNvGraphicFramePr>
            <a:graphicFrameLocks noGrp="1"/>
          </p:cNvGraphicFramePr>
          <p:nvPr>
            <p:extLst>
              <p:ext uri="{D42A27DB-BD31-4B8C-83A1-F6EECF244321}">
                <p14:modId xmlns:p14="http://schemas.microsoft.com/office/powerpoint/2010/main" val="2578401430"/>
              </p:ext>
            </p:extLst>
          </p:nvPr>
        </p:nvGraphicFramePr>
        <p:xfrm>
          <a:off x="731520" y="1791392"/>
          <a:ext cx="10515600" cy="25603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t/>
                      </a:r>
                      <a:endParaRPr/>
                    </a:p>
                  </a:txBody>
                  <a:tcPr>
                    <a:solidFill>
                      <a:srgbClr val="0A142A"/>
                    </a:solidFill>
                  </a:tcPr>
                </a:tc>
                <a:tc>
                  <a:txBody>
                    <a:bodyPr/>
                    <a:lstStyle/>
                    <a:p>
                      <a:r>
                        <a:t/>
                      </a:r>
                      <a:endParaRP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The offer</a:t>
                      </a:r>
                    </a:p>
                  </a:txBody>
                  <a:tcPr>
                    <a:solidFill>
                      <a:srgbClr val="0D1220"/>
                    </a:solidFill>
                  </a:tcPr>
                </a:tc>
                <a:tc>
                  <a:txBody>
                    <a:bodyPr/>
                    <a:lstStyle/>
                    <a:p>
                      <a:r>
                        <a:rPr sz="1100">
                          <a:solidFill>
                            <a:srgbClr val="FFFFFF"/>
                          </a:solidFill>
                          <a:latin typeface="Calibri"/>
                        </a:rPr>
                        <a:t>$10M Series A · common stock (no preferred classes)</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What $10M buys</a:t>
                      </a:r>
                    </a:p>
                  </a:txBody>
                  <a:tcPr>
                    <a:solidFill>
                      <a:srgbClr val="101626"/>
                    </a:solidFill>
                  </a:tcPr>
                </a:tc>
                <a:tc>
                  <a:txBody>
                    <a:bodyPr/>
                    <a:lstStyle/>
                    <a:p>
                      <a:r>
                        <a:rPr sz="1100">
                          <a:solidFill>
                            <a:srgbClr val="FFFFFF"/>
                          </a:solidFill>
                          <a:latin typeface="Calibri"/>
                        </a:rPr>
                        <a:t>Scorpius acquisition $3.4M · BLK3 to first flight $2.5M · propulsion study $4.1M</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Why it is de-risked</a:t>
                      </a:r>
                    </a:p>
                  </a:txBody>
                  <a:tcPr>
                    <a:solidFill>
                      <a:srgbClr val="0D1220"/>
                    </a:solidFill>
                  </a:tcPr>
                </a:tc>
                <a:tc>
                  <a:txBody>
                    <a:bodyPr/>
                    <a:lstStyle/>
                    <a:p>
                      <a:r>
                        <a:rPr sz="1100">
                          <a:solidFill>
                            <a:srgbClr val="FFFFFF"/>
                          </a:solidFill>
                          <a:latin typeface="Calibri"/>
                        </a:rPr>
                        <a:t>Profitable since 2025 · $1.58M revenue YTD Sep 2026 (+168%) · tanks flown to the Moon</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Path to liquidity</a:t>
                      </a:r>
                    </a:p>
                  </a:txBody>
                  <a:tcPr>
                    <a:solidFill>
                      <a:srgbClr val="101626"/>
                    </a:solidFill>
                  </a:tcPr>
                </a:tc>
                <a:tc>
                  <a:txBody>
                    <a:bodyPr/>
                    <a:lstStyle/>
                    <a:p>
                      <a:r>
                        <a:rPr sz="1100">
                          <a:solidFill>
                            <a:srgbClr val="FFFFFF"/>
                          </a:solidFill>
                          <a:latin typeface="Calibri"/>
                        </a:rPr>
                        <a:t>Public-markets transaction targeted 2027–28 (TXSE listing as backup)</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Growth case</a:t>
                      </a:r>
                    </a:p>
                  </a:txBody>
                  <a:tcPr>
                    <a:solidFill>
                      <a:srgbClr val="0D1220"/>
                    </a:solidFill>
                  </a:tcPr>
                </a:tc>
                <a:tc>
                  <a:txBody>
                    <a:bodyPr/>
                    <a:lstStyle/>
                    <a:p>
                      <a:r>
                        <a:rPr sz="1100">
                          <a:solidFill>
                            <a:srgbClr val="FFFFFF"/>
                          </a:solidFill>
                          <a:latin typeface="Calibri"/>
                        </a:rPr>
                        <a:t>Y5 revenue ~$121.6M base case · ~$310M with the full $215M plan</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Additional growth</a:t>
                      </a:r>
                    </a:p>
                  </a:txBody>
                  <a:tcPr>
                    <a:solidFill>
                      <a:srgbClr val="101626"/>
                    </a:solidFill>
                  </a:tcPr>
                </a:tc>
                <a:tc>
                  <a:txBody>
                    <a:bodyPr/>
                    <a:lstStyle/>
                    <a:p>
                      <a:r>
                        <a:rPr sz="1100">
                          <a:solidFill>
                            <a:srgbClr val="FFFFFF"/>
                          </a:solidFill>
                          <a:latin typeface="Calibri"/>
                        </a:rPr>
                        <a:t>Commercializing products &amp; services from M&amp;A, JVs and teaming/licensing</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AFTER THE SERIES A (FULL $215M PLAN, 36 MONTHS):</a:t>
            </a:r>
          </a:p>
        </p:txBody>
      </p:sp>
      <p:sp>
        <p:nvSpPr>
          <p:cNvPr id="9" name="TextBox 8"/>
          <p:cNvSpPr txBox="1"/>
          <p:nvPr/>
        </p:nvSpPr>
        <p:spPr>
          <a:xfrm>
            <a:off x="731520" y="4709160"/>
            <a:ext cx="5029200" cy="1371600"/>
          </a:xfrm>
          <a:prstGeom prst="rect">
            <a:avLst/>
          </a:prstGeom>
          <a:noFill/>
        </p:spPr>
        <p:txBody>
          <a:bodyPr wrap="square">
            <a:spAutoFit/>
          </a:bodyPr>
          <a:lstStyle/>
          <a:p>
            <a:pPr algn="l">
              <a:spcBef>
                <a:spcPts val="0"/>
              </a:spcBef>
              <a:spcAft>
                <a:spcPts val="300"/>
              </a:spcAft>
            </a:pPr>
            <a:r>
              <a:rPr lang="en-US" sz="1200" b="0" dirty="0">
                <a:solidFill>
                  <a:srgbClr val="CCCCCC"/>
                </a:solidFill>
              </a:rPr>
              <a:t>•  $95M acquisitions / mergers / JVs</a:t>
            </a:r>
          </a:p>
          <a:p>
            <a:pPr algn="l">
              <a:spcBef>
                <a:spcPts val="0"/>
              </a:spcBef>
              <a:spcAft>
                <a:spcPts val="300"/>
              </a:spcAft>
            </a:pPr>
            <a:r>
              <a:rPr lang="en-US" sz="1200" b="0" dirty="0">
                <a:solidFill>
                  <a:srgbClr val="CCCCCC"/>
                </a:solidFill>
              </a:rPr>
              <a:t>•  $65M partner-site robots · $20M building</a:t>
            </a:r>
          </a:p>
          <a:p>
            <a:pPr algn="l">
              <a:spcBef>
                <a:spcPts val="0"/>
              </a:spcBef>
              <a:spcAft>
                <a:spcPts val="300"/>
              </a:spcAft>
            </a:pPr>
            <a:r>
              <a:rPr lang="en-US" sz="1200" b="0" dirty="0">
                <a:solidFill>
                  <a:srgbClr val="CCCCCC"/>
                </a:solidFill>
              </a:rPr>
              <a:t>•  Funded through the public-markets path — not this round</a:t>
            </a:r>
          </a:p>
        </p:txBody>
      </p:sp>
      <p:sp>
        <p:nvSpPr>
          <p:cNvPr id="10" name="TextBox 9"/>
          <p:cNvSpPr txBox="1"/>
          <p:nvPr/>
        </p:nvSpPr>
        <p:spPr>
          <a:xfrm>
            <a:off x="640080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NEXT STEPS:</a:t>
            </a:r>
          </a:p>
        </p:txBody>
      </p:sp>
      <p:sp>
        <p:nvSpPr>
          <p:cNvPr id="11" name="TextBox 10"/>
          <p:cNvSpPr txBox="1"/>
          <p:nvPr/>
        </p:nvSpPr>
        <p:spPr>
          <a:xfrm>
            <a:off x="6400800" y="4717472"/>
            <a:ext cx="5029200" cy="1371600"/>
          </a:xfrm>
          <a:prstGeom prst="rect">
            <a:avLst/>
          </a:prstGeom>
          <a:noFill/>
        </p:spPr>
        <p:txBody>
          <a:bodyPr wrap="square">
            <a:spAutoFit/>
          </a:bodyPr>
          <a:lstStyle/>
          <a:p>
            <a:pPr algn="l">
              <a:spcBef>
                <a:spcPts val="0"/>
              </a:spcBef>
              <a:spcAft>
                <a:spcPts val="300"/>
              </a:spcAft>
            </a:pPr>
            <a:r>
              <a:rPr sz="1200" b="0">
                <a:solidFill>
                  <a:srgbClr val="CCCCCC"/>
                </a:solidFill>
                <a:latin typeface="Calibri"/>
              </a:rPr>
              <a:t>1.  Review this materials package and financial model</a:t>
            </a:r>
          </a:p>
          <a:p>
            <a:pPr algn="l">
              <a:spcBef>
                <a:spcPts val="0"/>
              </a:spcBef>
              <a:spcAft>
                <a:spcPts val="300"/>
              </a:spcAft>
            </a:pPr>
            <a:r>
              <a:rPr sz="1200" b="0">
                <a:solidFill>
                  <a:srgbClr val="CCCCCC"/>
                </a:solidFill>
                <a:latin typeface="Calibri"/>
              </a:rPr>
              <a:t>2.  Sign NDA for data room access</a:t>
            </a:r>
          </a:p>
          <a:p>
            <a:pPr algn="l">
              <a:spcBef>
                <a:spcPts val="0"/>
              </a:spcBef>
              <a:spcAft>
                <a:spcPts val="300"/>
              </a:spcAft>
            </a:pPr>
            <a:r>
              <a:rPr sz="1200" b="0">
                <a:solidFill>
                  <a:srgbClr val="CCCCCC"/>
                </a:solidFill>
                <a:latin typeface="Calibri"/>
              </a:rPr>
              <a:t>3.  Management presentation (in person or virtual)</a:t>
            </a:r>
          </a:p>
          <a:p>
            <a:pPr algn="l">
              <a:spcBef>
                <a:spcPts val="0"/>
              </a:spcBef>
              <a:spcAft>
                <a:spcPts val="300"/>
              </a:spcAft>
            </a:pPr>
            <a:r>
              <a:rPr sz="1200" b="0">
                <a:solidFill>
                  <a:srgbClr val="CCCCCC"/>
                </a:solidFill>
                <a:latin typeface="Calibri"/>
              </a:rPr>
              <a:t>4.  Confirm investment structure and timeline</a:t>
            </a:r>
          </a:p>
        </p:txBody>
      </p:sp>
      <p:sp>
        <p:nvSpPr>
          <p:cNvPr id="12" name="Rounded Rectangle 11"/>
          <p:cNvSpPr/>
          <p:nvPr/>
        </p:nvSpPr>
        <p:spPr>
          <a:xfrm>
            <a:off x="3200400" y="5760720"/>
            <a:ext cx="5486400" cy="5486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John Quinn, CEO  |  jquinn@</a:t>
            </a:r>
            <a:r>
              <a:rPr lang="en-US" sz="1300" b="1" dirty="0">
                <a:solidFill>
                  <a:srgbClr val="009ED9"/>
                </a:solidFill>
                <a:latin typeface="Calibri"/>
              </a:rPr>
              <a:t>exosaero.com</a:t>
            </a:r>
            <a:r>
              <a:rPr sz="1300" b="1" dirty="0">
                <a:solidFill>
                  <a:srgbClr val="009ED9"/>
                </a:solidFill>
                <a:latin typeface="Calibri"/>
              </a:rPr>
              <a:t> |  </a:t>
            </a:r>
            <a:r>
              <a:rPr lang="en-US" sz="1300" b="1" dirty="0">
                <a:solidFill>
                  <a:srgbClr val="009ED9"/>
                </a:solidFill>
                <a:latin typeface="Calibri"/>
              </a:rPr>
              <a:t>Mobile 972-740-8355 </a:t>
            </a:r>
          </a:p>
          <a:p>
            <a:pPr algn="ctr"/>
            <a:r>
              <a:rPr sz="1300" b="1" dirty="0">
                <a:solidFill>
                  <a:srgbClr val="009ED9"/>
                </a:solidFill>
                <a:latin typeface="Calibri"/>
              </a:rPr>
              <a:t>Exos Aerospace Systems &amp; Technologies, Inc.</a:t>
            </a:r>
          </a:p>
          <a:p>
            <a:pPr>
              <a:spcBef>
                <a:spcPts val="600"/>
              </a:spcBef>
            </a:pPr>
            <a:endParaRPr sz="1300" b="1" dirty="0">
              <a:solidFill>
                <a:srgbClr val="009ED9"/>
              </a:solidFill>
              <a:latin typeface="Calibri"/>
            </a:endParaRP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IMPORTANT DISCLAIMERS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515600" cy="5029200"/>
          </a:xfrm>
          <a:prstGeom prst="rect">
            <a:avLst/>
          </a:prstGeom>
          <a:noFill/>
        </p:spPr>
        <p:txBody>
          <a:bodyPr wrap="square">
            <a:spAutoFit/>
          </a:bodyPr>
          <a:lstStyle/>
          <a:p>
            <a:pPr algn="l">
              <a:spcBef>
                <a:spcPts val="0"/>
              </a:spcBef>
              <a:spcAft>
                <a:spcPts val="400"/>
              </a:spcAft>
            </a:pPr>
            <a:r>
              <a:rPr sz="1200" b="1">
                <a:solidFill>
                  <a:srgbClr val="009ED9"/>
                </a:solidFill>
                <a:latin typeface="Calibri"/>
              </a:rPr>
              <a:t>PRIVATE &amp; CONFIDENTIAL</a:t>
            </a:r>
          </a:p>
          <a:p>
            <a:pPr algn="l">
              <a:spcBef>
                <a:spcPts val="0"/>
              </a:spcBef>
              <a:spcAft>
                <a:spcPts val="1200"/>
              </a:spcAft>
            </a:pPr>
            <a:r>
              <a:rPr sz="900" b="0">
                <a:solidFill>
                  <a:srgbClr val="CCCCCC"/>
                </a:solidFill>
                <a:latin typeface="Calibri"/>
              </a:rPr>
              <a:t>This presentation is provided for informational purposes only to selected potential investors and does not constitute an offer to sell or a solicitation of an offer to buy any securities of Exos Aerospace Systems &amp; Technologies, Inc. or any affiliated entity.</a:t>
            </a:r>
          </a:p>
          <a:p>
            <a:pPr algn="l">
              <a:spcBef>
                <a:spcPts val="0"/>
              </a:spcBef>
              <a:spcAft>
                <a:spcPts val="400"/>
              </a:spcAft>
            </a:pPr>
            <a:r>
              <a:rPr sz="1200" b="1">
                <a:solidFill>
                  <a:srgbClr val="009ED9"/>
                </a:solidFill>
                <a:latin typeface="Calibri"/>
              </a:rPr>
              <a:t>FORWARD-LOOKING STATEMENTS</a:t>
            </a:r>
          </a:p>
          <a:p>
            <a:pPr algn="l">
              <a:spcBef>
                <a:spcPts val="0"/>
              </a:spcBef>
              <a:spcAft>
                <a:spcPts val="1200"/>
              </a:spcAft>
            </a:pPr>
            <a:r>
              <a:rPr sz="900" b="0">
                <a:solidFill>
                  <a:srgbClr val="CCCCCC"/>
                </a:solidFill>
                <a:latin typeface="Calibri"/>
              </a:rPr>
              <a:t>This presentation contains forward-looking statements within the meaning of applicable securities laws. These statements involve known and unknown risks, uncertainties, and other factors that may cause actual results to differ materially. Forward-looking statements include projections of revenue, earnings, capital expenditures, market size, product development timelines, and business strategy. Risk factors include: delays in vehicle development; failure to close the Scorpius acquisition; loss of government contracts; regulatory changes; competition; inability to raise additional capital; technology risks; and general economic conditions.</a:t>
            </a:r>
          </a:p>
          <a:p>
            <a:pPr algn="l">
              <a:spcBef>
                <a:spcPts val="0"/>
              </a:spcBef>
              <a:spcAft>
                <a:spcPts val="400"/>
              </a:spcAft>
            </a:pPr>
            <a:r>
              <a:rPr sz="1200" b="1">
                <a:solidFill>
                  <a:srgbClr val="009ED9"/>
                </a:solidFill>
                <a:latin typeface="Calibri"/>
              </a:rPr>
              <a:t>NO ASSURANCE</a:t>
            </a:r>
          </a:p>
          <a:p>
            <a:pPr algn="l">
              <a:spcBef>
                <a:spcPts val="0"/>
              </a:spcBef>
              <a:spcAft>
                <a:spcPts val="1200"/>
              </a:spcAft>
            </a:pPr>
            <a:r>
              <a:rPr sz="900" b="0">
                <a:solidFill>
                  <a:srgbClr val="CCCCCC"/>
                </a:solidFill>
                <a:latin typeface="Calibri"/>
              </a:rPr>
              <a:t>There can be no assurance that any projections or forward-looking statements will be realized. Past performance is not indicative of future results. Investors should conduct their own due diligence.</a:t>
            </a:r>
          </a:p>
          <a:p>
            <a:pPr algn="l">
              <a:spcBef>
                <a:spcPts val="0"/>
              </a:spcBef>
              <a:spcAft>
                <a:spcPts val="400"/>
              </a:spcAft>
            </a:pPr>
            <a:r>
              <a:rPr sz="1200" b="1">
                <a:solidFill>
                  <a:srgbClr val="009ED9"/>
                </a:solidFill>
                <a:latin typeface="Calibri"/>
              </a:rPr>
              <a:t>EXPORT CONTROL NOTICE</a:t>
            </a:r>
          </a:p>
          <a:p>
            <a:pPr algn="l">
              <a:spcBef>
                <a:spcPts val="0"/>
              </a:spcBef>
              <a:spcAft>
                <a:spcPts val="1200"/>
              </a:spcAft>
            </a:pPr>
            <a:r>
              <a:rPr sz="900" b="0">
                <a:solidFill>
                  <a:srgbClr val="CCCCCC"/>
                </a:solidFill>
                <a:latin typeface="Calibri"/>
              </a:rPr>
              <a:t>Exos Aerospace maintains full compliance with ITAR and EAR. All controlled technical data and government contract work are performed exclusively by U.S. persons within U.S. facilities. This presentation does not contain controlled technical data. Any international structure maintains full compliance with appropriate isolation.</a:t>
            </a:r>
          </a:p>
          <a:p>
            <a:pPr algn="l">
              <a:spcBef>
                <a:spcPts val="0"/>
              </a:spcBef>
              <a:spcAft>
                <a:spcPts val="400"/>
              </a:spcAft>
            </a:pPr>
            <a:r>
              <a:rPr sz="1200" b="1">
                <a:solidFill>
                  <a:srgbClr val="009ED9"/>
                </a:solidFill>
                <a:latin typeface="Calibri"/>
              </a:rPr>
              <a:t>CONFIDENTIALITY</a:t>
            </a:r>
          </a:p>
          <a:p>
            <a:pPr algn="l">
              <a:spcBef>
                <a:spcPts val="0"/>
              </a:spcBef>
              <a:spcAft>
                <a:spcPts val="800"/>
              </a:spcAft>
            </a:pPr>
            <a:r>
              <a:rPr sz="900" b="0">
                <a:solidFill>
                  <a:srgbClr val="CCCCCC"/>
                </a:solidFill>
                <a:latin typeface="Calibri"/>
              </a:rPr>
              <a:t>This presentation and its contents are strictly confidential. Recipients may not reproduce, distribute, or disclose without prior written consent. Historical and 2026 YTD (Jan–Sep) figures per QuickBooks (accrual, unaudited); EBITDA = operating income + net interest; 2026 depreciation is booked at year-end, so YTD net income is before depreciation (EBITDA is unaffected). Projections: management-prepared financial model v12 (rev. 10/17/26), conservative Cash Flow case. FY2025: the filed Form 1120 shows net income $187,861 vs. $190,855 in QuickBooks (revenue agrees); the CFO is reconciling the difference. Figures are management-prepared and unaudited; audited statements will be prepared in connection with the listing process. Cap table as of February 20, 2026 (date of last update).</a:t>
            </a:r>
          </a:p>
          <a:p>
            <a:pPr algn="l">
              <a:spcBef>
                <a:spcPts val="0"/>
              </a:spcBef>
              <a:spcAft>
                <a:spcPts val="0"/>
              </a:spcAft>
            </a:pPr>
            <a:r>
              <a:rPr sz="1000" b="0" i="1">
                <a:solidFill>
                  <a:srgbClr val="999999"/>
                </a:solidFill>
                <a:latin typeface="Calibri"/>
              </a:rPr>
              <a:t>Exos Aerospace Systems &amp; Technologies, Inc. | Greenville, TX | October 2026</a:t>
            </a:r>
          </a:p>
        </p:txBody>
      </p:sp>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3BA222B086F94CB80A831AC79560FC" ma:contentTypeVersion="13" ma:contentTypeDescription="Create a new document." ma:contentTypeScope="" ma:versionID="0bab313ac1c95545756a4347c05cb29b">
  <xsd:schema xmlns:xsd="http://www.w3.org/2001/XMLSchema" xmlns:xs="http://www.w3.org/2001/XMLSchema" xmlns:p="http://schemas.microsoft.com/office/2006/metadata/properties" xmlns:ns2="e1558a10-1879-455f-b4fa-cfdedf85505e" xmlns:ns3="917a3f04-5547-4e83-a675-a0677bb25779" targetNamespace="http://schemas.microsoft.com/office/2006/metadata/properties" ma:root="true" ma:fieldsID="deb4a5854e9b2c9944a7ea5d825dfb20" ns2:_="" ns3:_="">
    <xsd:import namespace="e1558a10-1879-455f-b4fa-cfdedf85505e"/>
    <xsd:import namespace="917a3f04-5547-4e83-a675-a0677bb25779"/>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58a10-1879-455f-b4fa-cfdedf85505e"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bbbd00b4-2324-4224-9886-28f0fa24cb4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7a3f04-5547-4e83-a675-a0677bb2577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23b004f-eaae-4f4e-933c-a06b1c0d22f7}" ma:internalName="TaxCatchAll" ma:showField="CatchAllData" ma:web="917a3f04-5547-4e83-a675-a0677bb257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17a3f04-5547-4e83-a675-a0677bb25779" xsi:nil="true"/>
    <lcf76f155ced4ddcb4097134ff3c332f xmlns="e1558a10-1879-455f-b4fa-cfdedf85505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184F27-8675-4087-9492-10C0F2B368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558a10-1879-455f-b4fa-cfdedf85505e"/>
    <ds:schemaRef ds:uri="917a3f04-5547-4e83-a675-a0677bb257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4E1208-CA5A-4667-8C4D-84041752A3EA}">
  <ds:schemaRefs>
    <ds:schemaRef ds:uri="http://schemas.openxmlformats.org/package/2006/metadata/core-properties"/>
    <ds:schemaRef ds:uri="http://schemas.microsoft.com/office/2006/documentManagement/types"/>
    <ds:schemaRef ds:uri="http://schemas.microsoft.com/office/2006/metadata/properties"/>
    <ds:schemaRef ds:uri="http://www.w3.org/XML/1998/namespace"/>
    <ds:schemaRef ds:uri="http://purl.org/dc/dcmitype/"/>
    <ds:schemaRef ds:uri="917a3f04-5547-4e83-a675-a0677bb25779"/>
    <ds:schemaRef ds:uri="http://purl.org/dc/elements/1.1/"/>
    <ds:schemaRef ds:uri="http://schemas.microsoft.com/office/infopath/2007/PartnerControls"/>
    <ds:schemaRef ds:uri="e1558a10-1879-455f-b4fa-cfdedf85505e"/>
    <ds:schemaRef ds:uri="http://purl.org/dc/terms/"/>
  </ds:schemaRefs>
</ds:datastoreItem>
</file>

<file path=customXml/itemProps3.xml><?xml version="1.0" encoding="utf-8"?>
<ds:datastoreItem xmlns:ds="http://schemas.openxmlformats.org/officeDocument/2006/customXml" ds:itemID="{40B2AEEC-7AED-4D24-8C5B-8FFFCA181F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93</TotalTime>
  <Words>3751</Words>
  <Application>Microsoft Office PowerPoint</Application>
  <PresentationFormat>Widescreen</PresentationFormat>
  <Paragraphs>488</Paragraphs>
  <Slides>23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23</vt:i4>
      </vt:variant>
    </vt:vector>
  </HeadingPairs>
  <TitlesOfParts>
    <vt:vector size="31" baseType="lpstr">
      <vt:lpstr>Arial</vt:lpstr>
      <vt:lpstr>Calibri</vt:lpstr>
      <vt:lpstr>Duplicate Sans Light</vt:lpstr>
      <vt:lpstr>Duplicate Sans Medium</vt:lpstr>
      <vt:lpstr>Duplicate Sans Regular</vt:lpstr>
      <vt:lpstr>Metrophobic</vt:lpstr>
      <vt:lpstr>Office Theme</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POLICY TAILWIND — THE 'GOLDEN AGE OF SPACE TRANSPORTATION'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John Quinn</dc:creator>
  <cp:keywords/>
  <dc:description>generated using python-pptx</dc:description>
  <cp:lastModifiedBy>John Quinn (Admin)</cp:lastModifiedBy>
  <cp:revision>5</cp:revision>
  <dcterms:created xsi:type="dcterms:W3CDTF">2013-01-27T09:14:16Z</dcterms:created>
  <dcterms:modified xsi:type="dcterms:W3CDTF">2026-10-17T02:49:45Z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0x010100B93BA222B086F94CB80A831AC79560FC</vt:lpwstr>
  </property>
  <property fmtid="{D5CDD505-2E9C-101B-9397-08002B2CF9AE}" pid="3" name="MediaServiceImageTags">
    <vt:lpwstr/>
  </property>
</Properties>
</file>