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3" r:id="rId14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jp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jp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jpg"/><Relationship Id="rId15" Type="http://schemas.openxmlformats.org/officeDocument/2006/relationships/image" Target="../media/image15.jpg"/><Relationship Id="rId16" Type="http://schemas.openxmlformats.org/officeDocument/2006/relationships/image" Target="../media/image16.png"/><Relationship Id="rId17" Type="http://schemas.openxmlformats.org/officeDocument/2006/relationships/image" Target="../media/image17.png"/><Relationship Id="rId18" Type="http://schemas.openxmlformats.org/officeDocument/2006/relationships/image" Target="../media/image18.png"/><Relationship Id="rId19" Type="http://schemas.openxmlformats.org/officeDocument/2006/relationships/image" Target="../media/image19.png"/><Relationship Id="rId20" Type="http://schemas.openxmlformats.org/officeDocument/2006/relationships/image" Target="../media/image20.png"/><Relationship Id="rId21" Type="http://schemas.openxmlformats.org/officeDocument/2006/relationships/image" Target="../media/image21.png"/><Relationship Id="rId22" Type="http://schemas.openxmlformats.org/officeDocument/2006/relationships/image" Target="../media/image2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194560"/>
            <a:ext cx="100584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FFFFFF"/>
                </a:solidFill>
                <a:latin typeface="Helvetica Neue"/>
              </a:rPr>
              <a:t>EXOS AEROSPACE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8328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009ED9"/>
                </a:solidFill>
                <a:latin typeface="Helvetica Neue"/>
              </a:rPr>
              <a:t>Profitable (2025)  ·  Raising $10M first close (tranched to $25M)  ·  August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893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999999"/>
                </a:solidFill>
                <a:latin typeface="Helvetica Neue"/>
              </a:rPr>
              <a:t>PRIVATE &amp; CONFIDENTIAL  |  NOT FOR DISTRIBUTION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1148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FFFFFF"/>
                </a:solidFill>
                <a:latin typeface="Helvetica Neue"/>
              </a:rPr>
              <a:t>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50">
                <a:solidFill>
                  <a:srgbClr val="FFFFFF"/>
                </a:solidFill>
                <a:latin typeface="Helvetica Neue"/>
              </a:rPr>
              <a:t>•  The $20 trillion physical world is re-industrializing — defense and aerospace are the two hottest sectors, and capital is moving to dual-use hardware.</a:t>
            </a:r>
          </a:p>
          <a:p>
            <a:pPr>
              <a:spcAft>
                <a:spcPts val="1000"/>
              </a:spcAft>
            </a:pPr>
            <a:r>
              <a:rPr sz="1550">
                <a:solidFill>
                  <a:srgbClr val="FFFFFF"/>
                </a:solidFill>
                <a:latin typeface="Helvetica Neue"/>
              </a:rPr>
              <a:t>•  New U.S. National Space Transportation Policy targets 1,000+ launches AND reentries per year by 2030.</a:t>
            </a:r>
          </a:p>
          <a:p>
            <a:pPr>
              <a:spcAft>
                <a:spcPts val="1000"/>
              </a:spcAft>
            </a:pPr>
            <a:r>
              <a:rPr sz="1550">
                <a:solidFill>
                  <a:srgbClr val="FFFFFF"/>
                </a:solidFill>
                <a:latin typeface="Helvetica Neue"/>
              </a:rPr>
              <a:t>•  SpaceX and Blue Origin have no spare launch capacity — leaving room for the reusable platform everyone else can use. One of only three FAA-licensed reusable rocket launch providers in the 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893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999999"/>
                </a:solidFill>
                <a:latin typeface="Helvetica Neue"/>
              </a:rPr>
              <a:t>PRIVATE &amp; CONFIDENTIAL  |  NOT FOR DISTRIBUTION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1148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FFFFFF"/>
                </a:solidFill>
                <a:latin typeface="Helvetica Neue"/>
              </a:rPr>
              <a:t>THE CROWN JEWEL — SCORPIUS TYPE-5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50">
                <a:solidFill>
                  <a:srgbClr val="FFFFFF"/>
                </a:solidFill>
                <a:latin typeface="Helvetica Neue"/>
              </a:rPr>
              <a:t>•  World's only TRL-9 linerless (Type-5) composite cryogenic tanks — flown as fuel and LOX tanks on Intuitive Machines' Odysseus and Athena lunar landers.</a:t>
            </a:r>
          </a:p>
          <a:p>
            <a:pPr>
              <a:spcAft>
                <a:spcPts val="1000"/>
              </a:spcAft>
            </a:pPr>
            <a:r>
              <a:rPr sz="1550">
                <a:solidFill>
                  <a:srgbClr val="FFFFFF"/>
                </a:solidFill>
                <a:latin typeface="Helvetica Neue"/>
              </a:rPr>
              <a:t>•  ~50% mass reduction vs. metal; room-temperature-cure resin with potential for no microcracking through 150 cycles.</a:t>
            </a:r>
          </a:p>
          <a:p>
            <a:pPr>
              <a:spcAft>
                <a:spcPts val="1000"/>
              </a:spcAft>
            </a:pPr>
            <a:r>
              <a:rPr sz="1550">
                <a:solidFill>
                  <a:srgbClr val="FFFFFF"/>
                </a:solidFill>
                <a:latin typeface="Helvetica Neue"/>
              </a:rPr>
              <a:t>•  Exos holds 18% plus a right of first refusal at the frozen 2021 basis — PAY $3.4M, OWN $20-40M (Exos's own valuation, independent of the $169.7M 409A).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893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999999"/>
                </a:solidFill>
                <a:latin typeface="Helvetica Neue"/>
              </a:rPr>
              <a:t>PRIVATE &amp; CONFIDENTIAL  |  NOT FOR DISTRIBUTION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50" name="Straight Connector 249">
            <a:extLst>
              <a:ext uri="{FF2B5EF4-FFF2-40B4-BE49-F238E27FC236}">
                <a16:creationId xmlns:a16="http://schemas.microsoft.com/office/drawing/2014/main" id="{05F5189F-7000-F349-8F07-549B491CE0DE}"/>
              </a:ext>
            </a:extLst>
          </p:cNvPr>
          <p:cNvCxnSpPr>
            <a:cxnSpLocks/>
            <a:stCxn id="18" idx="6"/>
          </p:cNvCxnSpPr>
          <p:nvPr/>
        </p:nvCxnSpPr>
        <p:spPr>
          <a:xfrm flipV="1">
            <a:off x="774878" y="3381363"/>
            <a:ext cx="11417123" cy="20360"/>
          </a:xfrm>
          <a:prstGeom prst="line">
            <a:avLst/>
          </a:prstGeom>
          <a:ln w="635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B97CC9A0-2882-2743-A0BA-3C78230875D7}"/>
              </a:ext>
            </a:extLst>
          </p:cNvPr>
          <p:cNvGrpSpPr/>
          <p:nvPr/>
        </p:nvGrpSpPr>
        <p:grpSpPr>
          <a:xfrm>
            <a:off x="-6795" y="-7680"/>
            <a:ext cx="1423729" cy="2405984"/>
            <a:chOff x="-6796" y="-7680"/>
            <a:chExt cx="1423729" cy="2405984"/>
          </a:xfrm>
        </p:grpSpPr>
        <p:sp>
          <p:nvSpPr>
            <p:cNvPr id="2" name="Text Placeholder 29">
              <a:extLst>
                <a:ext uri="{FF2B5EF4-FFF2-40B4-BE49-F238E27FC236}">
                  <a16:creationId xmlns:a16="http://schemas.microsoft.com/office/drawing/2014/main" id="{0134226A-4BE6-B644-994F-1D1228F619F6}"/>
                </a:ext>
              </a:extLst>
            </p:cNvPr>
            <p:cNvSpPr txBox="1">
              <a:spLocks/>
            </p:cNvSpPr>
            <p:nvPr/>
          </p:nvSpPr>
          <p:spPr>
            <a:xfrm>
              <a:off x="93734" y="1729890"/>
              <a:ext cx="1047990" cy="668414"/>
            </a:xfrm>
            <a:prstGeom prst="rect">
              <a:avLst/>
            </a:prstGeom>
            <a:ln w="6350">
              <a:noFill/>
            </a:ln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Tx/>
                <a:buNone/>
                <a:defRPr sz="12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914384">
                <a:defRPr/>
              </a:pPr>
              <a:r>
                <a:rPr lang="en-US" dirty="0">
                  <a:solidFill>
                    <a:prstClr val="white"/>
                  </a:solidFill>
                  <a:sym typeface="Arial"/>
                </a:rPr>
                <a:t>Armadillo Aerospace Founded by John Carmack</a:t>
              </a: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E40D61C-0BD0-4047-99BF-216FCA5104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0832" r="7819"/>
            <a:stretch/>
          </p:blipFill>
          <p:spPr>
            <a:xfrm>
              <a:off x="-6796" y="-7680"/>
              <a:ext cx="1423729" cy="1223696"/>
            </a:xfrm>
            <a:prstGeom prst="rect">
              <a:avLst/>
            </a:prstGeom>
          </p:spPr>
        </p:pic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F7D382C9-9F43-AC48-A2DD-48DAF2C85417}"/>
              </a:ext>
            </a:extLst>
          </p:cNvPr>
          <p:cNvGrpSpPr/>
          <p:nvPr/>
        </p:nvGrpSpPr>
        <p:grpSpPr>
          <a:xfrm>
            <a:off x="76201" y="3861926"/>
            <a:ext cx="1204347" cy="2984483"/>
            <a:chOff x="1352913" y="3854267"/>
            <a:chExt cx="1204347" cy="2984483"/>
          </a:xfrm>
        </p:grpSpPr>
        <p:sp>
          <p:nvSpPr>
            <p:cNvPr id="50" name="Text Placeholder 28">
              <a:extLst>
                <a:ext uri="{FF2B5EF4-FFF2-40B4-BE49-F238E27FC236}">
                  <a16:creationId xmlns:a16="http://schemas.microsoft.com/office/drawing/2014/main" id="{9B629466-F313-5B43-AA9F-24DD372A948B}"/>
                </a:ext>
              </a:extLst>
            </p:cNvPr>
            <p:cNvSpPr txBox="1">
              <a:spLocks/>
            </p:cNvSpPr>
            <p:nvPr/>
          </p:nvSpPr>
          <p:spPr>
            <a:xfrm>
              <a:off x="1370447" y="3854267"/>
              <a:ext cx="1179272" cy="837037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200" b="0" i="0" kern="1200">
                  <a:solidFill>
                    <a:schemeClr val="tx1">
                      <a:tint val="75000"/>
                    </a:schemeClr>
                  </a:solidFill>
                  <a:latin typeface="Duplicate Sans Light" pitchFamily="2" charset="77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384">
                <a:defRPr/>
              </a:pPr>
              <a:r>
                <a:rPr lang="en-US" dirty="0">
                  <a:solidFill>
                    <a:prstClr val="white">
                      <a:tint val="75000"/>
                    </a:prstClr>
                  </a:solidFill>
                  <a:sym typeface="Arial"/>
                </a:rPr>
                <a:t> X-Prize Competition w/Pixel and Texel Round 1 Winners</a:t>
              </a:r>
            </a:p>
          </p:txBody>
        </p:sp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18ED0C30-928B-9042-AC56-19102AC6773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52913" y="5752903"/>
              <a:ext cx="1204347" cy="1085847"/>
            </a:xfrm>
            <a:prstGeom prst="rect">
              <a:avLst/>
            </a:prstGeom>
          </p:spPr>
        </p:pic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BD751345-26E3-C341-878A-A5CE9E689EB1}"/>
              </a:ext>
            </a:extLst>
          </p:cNvPr>
          <p:cNvGrpSpPr/>
          <p:nvPr/>
        </p:nvGrpSpPr>
        <p:grpSpPr>
          <a:xfrm>
            <a:off x="1447801" y="0"/>
            <a:ext cx="995353" cy="2434792"/>
            <a:chOff x="2294784" y="1264"/>
            <a:chExt cx="995353" cy="2434792"/>
          </a:xfrm>
        </p:grpSpPr>
        <p:sp>
          <p:nvSpPr>
            <p:cNvPr id="52" name="Text Placeholder 31">
              <a:extLst>
                <a:ext uri="{FF2B5EF4-FFF2-40B4-BE49-F238E27FC236}">
                  <a16:creationId xmlns:a16="http://schemas.microsoft.com/office/drawing/2014/main" id="{8AFE6FE1-A6FB-554B-8D70-CEC726AFC554}"/>
                </a:ext>
              </a:extLst>
            </p:cNvPr>
            <p:cNvSpPr txBox="1">
              <a:spLocks/>
            </p:cNvSpPr>
            <p:nvPr/>
          </p:nvSpPr>
          <p:spPr>
            <a:xfrm>
              <a:off x="2309841" y="1774749"/>
              <a:ext cx="980296" cy="661307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 defTabSz="914384">
                <a:buNone/>
                <a:defRPr/>
              </a:pPr>
              <a:r>
                <a:rPr lang="en-US" sz="1200" dirty="0">
                  <a:solidFill>
                    <a:prstClr val="white"/>
                  </a:solidFill>
                  <a:sym typeface="Arial"/>
                </a:rPr>
                <a:t>Lunar Lander Challenge 1</a:t>
              </a:r>
              <a:r>
                <a:rPr lang="en-US" sz="1200" baseline="30000" dirty="0">
                  <a:solidFill>
                    <a:prstClr val="white"/>
                  </a:solidFill>
                  <a:sym typeface="Arial"/>
                </a:rPr>
                <a:t>st</a:t>
              </a:r>
              <a:r>
                <a:rPr lang="en-US" sz="1200" dirty="0">
                  <a:solidFill>
                    <a:prstClr val="white"/>
                  </a:solidFill>
                  <a:sym typeface="Arial"/>
                </a:rPr>
                <a:t> Place</a:t>
              </a:r>
            </a:p>
          </p:txBody>
        </p:sp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81D16C87-7D80-F342-A24D-9B4F977C121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294784" y="1264"/>
              <a:ext cx="873950" cy="1202595"/>
            </a:xfrm>
            <a:prstGeom prst="rect">
              <a:avLst/>
            </a:prstGeom>
          </p:spPr>
        </p:pic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7CA0F7DE-FA5B-AC42-A5A6-AAA615674B4E}"/>
              </a:ext>
            </a:extLst>
          </p:cNvPr>
          <p:cNvGrpSpPr/>
          <p:nvPr/>
        </p:nvGrpSpPr>
        <p:grpSpPr>
          <a:xfrm>
            <a:off x="1334350" y="3689003"/>
            <a:ext cx="1421163" cy="3165022"/>
            <a:chOff x="2652891" y="3689002"/>
            <a:chExt cx="1421163" cy="3165022"/>
          </a:xfrm>
        </p:grpSpPr>
        <p:sp>
          <p:nvSpPr>
            <p:cNvPr id="64" name="Text Placeholder 30">
              <a:extLst>
                <a:ext uri="{FF2B5EF4-FFF2-40B4-BE49-F238E27FC236}">
                  <a16:creationId xmlns:a16="http://schemas.microsoft.com/office/drawing/2014/main" id="{94F49064-4A41-9B4B-8A3E-DE0C19202185}"/>
                </a:ext>
              </a:extLst>
            </p:cNvPr>
            <p:cNvSpPr txBox="1">
              <a:spLocks/>
            </p:cNvSpPr>
            <p:nvPr/>
          </p:nvSpPr>
          <p:spPr>
            <a:xfrm>
              <a:off x="2652891" y="3689002"/>
              <a:ext cx="1301208" cy="117769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defPPr>
                <a:defRPr lang="en-US"/>
              </a:defPPr>
              <a:lvl1pPr marL="0" algn="r" defTabSz="914400" rtl="0" eaLnBrk="1" latinLnBrk="0" hangingPunct="1">
                <a:defRPr sz="1200" b="0" i="0" kern="1200">
                  <a:solidFill>
                    <a:schemeClr val="tx1">
                      <a:tint val="75000"/>
                    </a:schemeClr>
                  </a:solidFill>
                  <a:latin typeface="Duplicate Sans Light" pitchFamily="2" charset="77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384">
                <a:defRPr/>
              </a:pPr>
              <a:r>
                <a:rPr lang="en-US" dirty="0">
                  <a:solidFill>
                    <a:prstClr val="white">
                      <a:tint val="75000"/>
                    </a:prstClr>
                  </a:solidFill>
                  <a:sym typeface="Arial"/>
                </a:rPr>
                <a:t>Lunar lander Challenge2009 Armadillo prize $ winner- NASA Morpheus Sale</a:t>
              </a:r>
            </a:p>
          </p:txBody>
        </p:sp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4F3EE0CA-C51F-FA49-858F-6605AB5D135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690142" y="5760562"/>
              <a:ext cx="1383912" cy="1093462"/>
            </a:xfrm>
            <a:prstGeom prst="rect">
              <a:avLst/>
            </a:prstGeom>
          </p:spPr>
        </p:pic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9755081C-60D2-DB48-8DBC-DCFE562F53F7}"/>
              </a:ext>
            </a:extLst>
          </p:cNvPr>
          <p:cNvGrpSpPr/>
          <p:nvPr/>
        </p:nvGrpSpPr>
        <p:grpSpPr>
          <a:xfrm>
            <a:off x="2330660" y="-4627"/>
            <a:ext cx="1550463" cy="2245769"/>
            <a:chOff x="2516713" y="12957"/>
            <a:chExt cx="2696293" cy="4058372"/>
          </a:xfrm>
        </p:grpSpPr>
        <p:sp>
          <p:nvSpPr>
            <p:cNvPr id="111" name="Text Placeholder 33">
              <a:extLst>
                <a:ext uri="{FF2B5EF4-FFF2-40B4-BE49-F238E27FC236}">
                  <a16:creationId xmlns:a16="http://schemas.microsoft.com/office/drawing/2014/main" id="{7B7F0C78-F6B8-864A-BDB5-DF3758C31578}"/>
                </a:ext>
              </a:extLst>
            </p:cNvPr>
            <p:cNvSpPr txBox="1">
              <a:spLocks/>
            </p:cNvSpPr>
            <p:nvPr/>
          </p:nvSpPr>
          <p:spPr>
            <a:xfrm>
              <a:off x="3021265" y="3234291"/>
              <a:ext cx="1840514" cy="837038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 defTabSz="914384">
                <a:buNone/>
                <a:defRPr/>
              </a:pPr>
              <a:r>
                <a:rPr lang="en-US" sz="1200" dirty="0">
                  <a:solidFill>
                    <a:prstClr val="white"/>
                  </a:solidFill>
                  <a:sym typeface="Arial"/>
                </a:rPr>
                <a:t>Rocket Racing League  development program</a:t>
              </a:r>
            </a:p>
          </p:txBody>
        </p:sp>
        <p:pic>
          <p:nvPicPr>
            <p:cNvPr id="112" name="Picture 111">
              <a:extLst>
                <a:ext uri="{FF2B5EF4-FFF2-40B4-BE49-F238E27FC236}">
                  <a16:creationId xmlns:a16="http://schemas.microsoft.com/office/drawing/2014/main" id="{CE2744DA-1242-8240-BA05-20707829816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16713" y="12957"/>
              <a:ext cx="2696293" cy="2236248"/>
            </a:xfrm>
            <a:prstGeom prst="rect">
              <a:avLst/>
            </a:prstGeom>
          </p:spPr>
        </p:pic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74A6F9BE-F17E-D842-AD5F-39182FA2099B}"/>
              </a:ext>
            </a:extLst>
          </p:cNvPr>
          <p:cNvGrpSpPr/>
          <p:nvPr/>
        </p:nvGrpSpPr>
        <p:grpSpPr>
          <a:xfrm>
            <a:off x="2847158" y="3861564"/>
            <a:ext cx="1301824" cy="3005478"/>
            <a:chOff x="10370476" y="3852521"/>
            <a:chExt cx="1301824" cy="3005478"/>
          </a:xfrm>
        </p:grpSpPr>
        <p:sp>
          <p:nvSpPr>
            <p:cNvPr id="115" name="Text Placeholder 32">
              <a:extLst>
                <a:ext uri="{FF2B5EF4-FFF2-40B4-BE49-F238E27FC236}">
                  <a16:creationId xmlns:a16="http://schemas.microsoft.com/office/drawing/2014/main" id="{9800EAC4-26D8-3E43-88E1-8DBC2DF7B2DE}"/>
                </a:ext>
              </a:extLst>
            </p:cNvPr>
            <p:cNvSpPr txBox="1">
              <a:spLocks/>
            </p:cNvSpPr>
            <p:nvPr/>
          </p:nvSpPr>
          <p:spPr>
            <a:xfrm>
              <a:off x="10406362" y="3852521"/>
              <a:ext cx="1256137" cy="837037"/>
            </a:xfrm>
            <a:prstGeom prst="rect">
              <a:avLst/>
            </a:prstGeom>
            <a:ln w="6350">
              <a:noFill/>
            </a:ln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Tx/>
                <a:buNone/>
                <a:defRPr sz="12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914384">
                <a:defRPr/>
              </a:pPr>
              <a:r>
                <a:rPr lang="en-US" dirty="0">
                  <a:solidFill>
                    <a:prstClr val="white"/>
                  </a:solidFill>
                  <a:latin typeface="Duplicate Sans Medium" pitchFamily="2" charset="77"/>
                  <a:sym typeface="Arial"/>
                </a:rPr>
                <a:t>2010-2013</a:t>
              </a:r>
              <a:r>
                <a:rPr lang="en-US" dirty="0">
                  <a:solidFill>
                    <a:prstClr val="white"/>
                  </a:solidFill>
                  <a:sym typeface="Arial"/>
                </a:rPr>
                <a:t> STIG Rocket flies to 95km</a:t>
              </a:r>
            </a:p>
          </p:txBody>
        </p:sp>
        <p:pic>
          <p:nvPicPr>
            <p:cNvPr id="118" name="Picture 117">
              <a:extLst>
                <a:ext uri="{FF2B5EF4-FFF2-40B4-BE49-F238E27FC236}">
                  <a16:creationId xmlns:a16="http://schemas.microsoft.com/office/drawing/2014/main" id="{AA1FFEEA-2509-B94C-B49A-E866AD2FFF1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370477" y="5755678"/>
              <a:ext cx="909394" cy="1102320"/>
            </a:xfrm>
            <a:prstGeom prst="rect">
              <a:avLst/>
            </a:prstGeom>
          </p:spPr>
        </p:pic>
        <p:pic>
          <p:nvPicPr>
            <p:cNvPr id="116" name="Picture 115">
              <a:extLst>
                <a:ext uri="{FF2B5EF4-FFF2-40B4-BE49-F238E27FC236}">
                  <a16:creationId xmlns:a16="http://schemas.microsoft.com/office/drawing/2014/main" id="{D388C5FD-7DC7-394A-83BA-A97CC56179C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370476" y="5735318"/>
              <a:ext cx="441114" cy="545826"/>
            </a:xfrm>
            <a:prstGeom prst="rect">
              <a:avLst/>
            </a:prstGeom>
          </p:spPr>
        </p:pic>
        <p:pic>
          <p:nvPicPr>
            <p:cNvPr id="117" name="Picture 116">
              <a:extLst>
                <a:ext uri="{FF2B5EF4-FFF2-40B4-BE49-F238E27FC236}">
                  <a16:creationId xmlns:a16="http://schemas.microsoft.com/office/drawing/2014/main" id="{514848F5-FDDB-0848-A81B-26D9FD894D1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1325203" y="5746746"/>
              <a:ext cx="347097" cy="1111253"/>
            </a:xfrm>
            <a:prstGeom prst="rect">
              <a:avLst/>
            </a:prstGeom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602C090-3748-EE41-9733-27DA275AE7B4}"/>
              </a:ext>
            </a:extLst>
          </p:cNvPr>
          <p:cNvGrpSpPr/>
          <p:nvPr/>
        </p:nvGrpSpPr>
        <p:grpSpPr>
          <a:xfrm>
            <a:off x="458331" y="2662318"/>
            <a:ext cx="316547" cy="897677"/>
            <a:chOff x="458330" y="2662318"/>
            <a:chExt cx="316547" cy="897677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78BA7303-DE4C-904C-832D-4FBC8EA2BAA3}"/>
                </a:ext>
              </a:extLst>
            </p:cNvPr>
            <p:cNvGrpSpPr/>
            <p:nvPr/>
          </p:nvGrpSpPr>
          <p:grpSpPr>
            <a:xfrm>
              <a:off x="458330" y="3243448"/>
              <a:ext cx="316547" cy="316547"/>
              <a:chOff x="762004" y="3201390"/>
              <a:chExt cx="457195" cy="457195"/>
            </a:xfrm>
          </p:grpSpPr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9FCBBC82-AC46-9B4E-91EC-83CEDA239615}"/>
                  </a:ext>
                </a:extLst>
              </p:cNvPr>
              <p:cNvSpPr/>
              <p:nvPr/>
            </p:nvSpPr>
            <p:spPr>
              <a:xfrm>
                <a:off x="781569" y="3219967"/>
                <a:ext cx="418064" cy="418063"/>
              </a:xfrm>
              <a:prstGeom prst="ellipse">
                <a:avLst/>
              </a:prstGeom>
              <a:solidFill>
                <a:schemeClr val="bg1">
                  <a:lumMod val="95000"/>
                  <a:lumOff val="5000"/>
                </a:schemeClr>
              </a:solidFill>
              <a:ln w="635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 defTabSz="914384">
                  <a:defRPr/>
                </a:pPr>
                <a:endParaRPr lang="en-US" dirty="0">
                  <a:solidFill>
                    <a:prstClr val="white"/>
                  </a:solidFill>
                  <a:latin typeface="Calibri" panose="020F0502020204030204"/>
                  <a:sym typeface="Arial"/>
                </a:endParaRPr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6757FD6F-726E-9846-A73A-FE48459EBD85}"/>
                  </a:ext>
                </a:extLst>
              </p:cNvPr>
              <p:cNvSpPr/>
              <p:nvPr/>
            </p:nvSpPr>
            <p:spPr>
              <a:xfrm>
                <a:off x="762004" y="3201390"/>
                <a:ext cx="457195" cy="457195"/>
              </a:xfrm>
              <a:prstGeom prst="ellipse">
                <a:avLst/>
              </a:prstGeom>
              <a:noFill/>
              <a:ln w="38100">
                <a:noFill/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 defTabSz="914384">
                  <a:defRPr/>
                </a:pPr>
                <a:endParaRPr lang="en-US" dirty="0">
                  <a:solidFill>
                    <a:prstClr val="white"/>
                  </a:solidFill>
                  <a:latin typeface="Calibri" panose="020F0502020204030204"/>
                  <a:sym typeface="Arial"/>
                </a:endParaRP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F2559950-0179-9947-9CB8-326A3154920E}"/>
                  </a:ext>
                </a:extLst>
              </p:cNvPr>
              <p:cNvSpPr/>
              <p:nvPr/>
            </p:nvSpPr>
            <p:spPr>
              <a:xfrm>
                <a:off x="887102" y="3325503"/>
                <a:ext cx="206994" cy="206994"/>
              </a:xfrm>
              <a:prstGeom prst="ellipse">
                <a:avLst/>
              </a:prstGeom>
              <a:solidFill>
                <a:schemeClr val="bg1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 defTabSz="914384">
                  <a:defRPr/>
                </a:pPr>
                <a:endParaRPr lang="en-US" dirty="0">
                  <a:solidFill>
                    <a:prstClr val="white"/>
                  </a:solidFill>
                  <a:latin typeface="Calibri" panose="020F0502020204030204"/>
                  <a:sym typeface="Arial"/>
                </a:endParaRPr>
              </a:p>
            </p:txBody>
          </p:sp>
        </p:grp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F2DA4D71-EFF6-FB46-BF9C-B59369DE4744}"/>
                </a:ext>
              </a:extLst>
            </p:cNvPr>
            <p:cNvCxnSpPr>
              <a:cxnSpLocks/>
              <a:stCxn id="16" idx="0"/>
            </p:cNvCxnSpPr>
            <p:nvPr/>
          </p:nvCxnSpPr>
          <p:spPr>
            <a:xfrm flipV="1">
              <a:off x="616603" y="2662318"/>
              <a:ext cx="0" cy="593992"/>
            </a:xfrm>
            <a:prstGeom prst="line">
              <a:avLst/>
            </a:prstGeom>
            <a:ln w="635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3" name="Rectangle 122">
            <a:extLst>
              <a:ext uri="{FF2B5EF4-FFF2-40B4-BE49-F238E27FC236}">
                <a16:creationId xmlns:a16="http://schemas.microsoft.com/office/drawing/2014/main" id="{D3E420DB-D41C-EC48-A371-C917AFDF0950}"/>
              </a:ext>
            </a:extLst>
          </p:cNvPr>
          <p:cNvSpPr/>
          <p:nvPr/>
        </p:nvSpPr>
        <p:spPr>
          <a:xfrm>
            <a:off x="370857" y="3263757"/>
            <a:ext cx="49885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84">
              <a:defRPr/>
            </a:pPr>
            <a:r>
              <a:rPr lang="en-US" sz="1200" dirty="0">
                <a:solidFill>
                  <a:srgbClr val="FF0000"/>
                </a:solidFill>
                <a:latin typeface="Helvetica Neue" panose="020F0502020204030204"/>
                <a:cs typeface="Arial"/>
                <a:sym typeface="Arial"/>
              </a:rPr>
              <a:t>2000</a:t>
            </a: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3A791FC6-4928-2F4D-8D14-BA5D589831A9}"/>
              </a:ext>
            </a:extLst>
          </p:cNvPr>
          <p:cNvSpPr/>
          <p:nvPr/>
        </p:nvSpPr>
        <p:spPr>
          <a:xfrm rot="10800000">
            <a:off x="1000471" y="3257328"/>
            <a:ext cx="316547" cy="316547"/>
          </a:xfrm>
          <a:prstGeom prst="ellipse">
            <a:avLst/>
          </a:prstGeom>
          <a:noFill/>
          <a:ln w="38100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 defTabSz="914384">
              <a:defRPr/>
            </a:pPr>
            <a:endParaRPr lang="en-US" dirty="0">
              <a:solidFill>
                <a:prstClr val="white"/>
              </a:solidFill>
              <a:latin typeface="Calibri" panose="020F0502020204030204"/>
              <a:sym typeface="Arial"/>
            </a:endParaRPr>
          </a:p>
        </p:txBody>
      </p: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B9B06481-E239-C04A-A089-FCCD4A1F48B0}"/>
              </a:ext>
            </a:extLst>
          </p:cNvPr>
          <p:cNvCxnSpPr>
            <a:cxnSpLocks/>
          </p:cNvCxnSpPr>
          <p:nvPr/>
        </p:nvCxnSpPr>
        <p:spPr>
          <a:xfrm flipH="1">
            <a:off x="6179300" y="4260467"/>
            <a:ext cx="440107" cy="683766"/>
          </a:xfrm>
          <a:prstGeom prst="line">
            <a:avLst/>
          </a:prstGeom>
          <a:ln w="635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Rectangle 161">
            <a:extLst>
              <a:ext uri="{FF2B5EF4-FFF2-40B4-BE49-F238E27FC236}">
                <a16:creationId xmlns:a16="http://schemas.microsoft.com/office/drawing/2014/main" id="{AFDBAE9B-9D8C-6347-81D4-369DC63E7832}"/>
              </a:ext>
            </a:extLst>
          </p:cNvPr>
          <p:cNvSpPr/>
          <p:nvPr/>
        </p:nvSpPr>
        <p:spPr>
          <a:xfrm>
            <a:off x="4157499" y="3232194"/>
            <a:ext cx="18473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84">
              <a:defRPr/>
            </a:pPr>
            <a:endParaRPr lang="en-US" sz="1600" dirty="0">
              <a:solidFill>
                <a:prstClr val="white"/>
              </a:solidFill>
              <a:latin typeface="Calibri" panose="020F0502020204030204"/>
              <a:cs typeface="Arial"/>
              <a:sym typeface="Arial"/>
            </a:endParaRPr>
          </a:p>
        </p:txBody>
      </p:sp>
      <p:sp>
        <p:nvSpPr>
          <p:cNvPr id="181" name="Text Placeholder 32">
            <a:extLst>
              <a:ext uri="{FF2B5EF4-FFF2-40B4-BE49-F238E27FC236}">
                <a16:creationId xmlns:a16="http://schemas.microsoft.com/office/drawing/2014/main" id="{D3788FEE-C5AD-CC43-B5E5-2EAF73969D9D}"/>
              </a:ext>
            </a:extLst>
          </p:cNvPr>
          <p:cNvSpPr txBox="1">
            <a:spLocks/>
          </p:cNvSpPr>
          <p:nvPr/>
        </p:nvSpPr>
        <p:spPr>
          <a:xfrm>
            <a:off x="3684237" y="1774751"/>
            <a:ext cx="1330540" cy="38493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384">
              <a:buNone/>
              <a:defRPr/>
            </a:pPr>
            <a:r>
              <a:rPr lang="en-US" sz="1200" dirty="0">
                <a:solidFill>
                  <a:prstClr val="white"/>
                </a:solidFill>
                <a:latin typeface="Helvetica Neue"/>
                <a:sym typeface="Arial"/>
              </a:rPr>
              <a:t>Super Mod</a:t>
            </a:r>
          </a:p>
          <a:p>
            <a:pPr marL="0" indent="0" algn="ctr" defTabSz="914384">
              <a:buNone/>
              <a:defRPr/>
            </a:pPr>
            <a:r>
              <a:rPr lang="en-US" sz="1200" dirty="0">
                <a:solidFill>
                  <a:prstClr val="white"/>
                </a:solidFill>
                <a:latin typeface="Helvetica Neue"/>
                <a:sym typeface="Arial"/>
              </a:rPr>
              <a:t>(VTVL)</a:t>
            </a:r>
          </a:p>
        </p:txBody>
      </p:sp>
      <p:pic>
        <p:nvPicPr>
          <p:cNvPr id="182" name="Picture 181">
            <a:extLst>
              <a:ext uri="{FF2B5EF4-FFF2-40B4-BE49-F238E27FC236}">
                <a16:creationId xmlns:a16="http://schemas.microsoft.com/office/drawing/2014/main" id="{195BAC4E-5D8F-0142-9316-20DAF4D3054A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t="3436"/>
          <a:stretch/>
        </p:blipFill>
        <p:spPr>
          <a:xfrm>
            <a:off x="3898333" y="-7679"/>
            <a:ext cx="945249" cy="1215387"/>
          </a:xfrm>
          <a:prstGeom prst="rect">
            <a:avLst/>
          </a:prstGeom>
        </p:spPr>
      </p:pic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3FC663D2-0D67-824C-8442-C6FB3023AB64}"/>
              </a:ext>
            </a:extLst>
          </p:cNvPr>
          <p:cNvCxnSpPr>
            <a:cxnSpLocks/>
            <a:stCxn id="179" idx="0"/>
          </p:cNvCxnSpPr>
          <p:nvPr/>
        </p:nvCxnSpPr>
        <p:spPr>
          <a:xfrm flipV="1">
            <a:off x="4407845" y="2660154"/>
            <a:ext cx="0" cy="576055"/>
          </a:xfrm>
          <a:prstGeom prst="line">
            <a:avLst/>
          </a:prstGeom>
          <a:ln w="635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0EB1963F-7B5D-754D-B655-579A9D2FC104}"/>
              </a:ext>
            </a:extLst>
          </p:cNvPr>
          <p:cNvGrpSpPr/>
          <p:nvPr/>
        </p:nvGrpSpPr>
        <p:grpSpPr>
          <a:xfrm>
            <a:off x="4153036" y="3824829"/>
            <a:ext cx="1780283" cy="3006793"/>
            <a:chOff x="1078123" y="3862798"/>
            <a:chExt cx="1780283" cy="3006793"/>
          </a:xfrm>
        </p:grpSpPr>
        <p:sp>
          <p:nvSpPr>
            <p:cNvPr id="202" name="Text Placeholder 32">
              <a:extLst>
                <a:ext uri="{FF2B5EF4-FFF2-40B4-BE49-F238E27FC236}">
                  <a16:creationId xmlns:a16="http://schemas.microsoft.com/office/drawing/2014/main" id="{7569ED2E-CB43-4F48-89A2-92A0F234B407}"/>
                </a:ext>
              </a:extLst>
            </p:cNvPr>
            <p:cNvSpPr txBox="1">
              <a:spLocks/>
            </p:cNvSpPr>
            <p:nvPr/>
          </p:nvSpPr>
          <p:spPr>
            <a:xfrm>
              <a:off x="1078123" y="3862798"/>
              <a:ext cx="1692420" cy="837037"/>
            </a:xfrm>
            <a:prstGeom prst="rect">
              <a:avLst/>
            </a:prstGeom>
            <a:ln w="6350">
              <a:noFill/>
            </a:ln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Tx/>
                <a:buNone/>
                <a:defRPr sz="12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914384">
                <a:defRPr/>
              </a:pPr>
              <a:r>
                <a:rPr lang="en-US" dirty="0">
                  <a:solidFill>
                    <a:prstClr val="white"/>
                  </a:solidFill>
                  <a:sym typeface="Arial"/>
                </a:rPr>
                <a:t>Exos Aerospace continues funding of Armadillo Team with new management and commercial objectives</a:t>
              </a:r>
            </a:p>
          </p:txBody>
        </p:sp>
        <p:pic>
          <p:nvPicPr>
            <p:cNvPr id="203" name="Picture 202">
              <a:extLst>
                <a:ext uri="{FF2B5EF4-FFF2-40B4-BE49-F238E27FC236}">
                  <a16:creationId xmlns:a16="http://schemas.microsoft.com/office/drawing/2014/main" id="{C6FEB611-574D-FB42-85E7-438A8690910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185382" y="5758403"/>
              <a:ext cx="1673024" cy="1111188"/>
            </a:xfrm>
            <a:prstGeom prst="rect">
              <a:avLst/>
            </a:prstGeom>
          </p:spPr>
        </p:pic>
      </p:grpSp>
      <p:sp>
        <p:nvSpPr>
          <p:cNvPr id="224" name="Text Placeholder 32">
            <a:extLst>
              <a:ext uri="{FF2B5EF4-FFF2-40B4-BE49-F238E27FC236}">
                <a16:creationId xmlns:a16="http://schemas.microsoft.com/office/drawing/2014/main" id="{317E6F62-0FFA-1A4A-8F24-C46C10827361}"/>
              </a:ext>
            </a:extLst>
          </p:cNvPr>
          <p:cNvSpPr txBox="1">
            <a:spLocks/>
          </p:cNvSpPr>
          <p:nvPr/>
        </p:nvSpPr>
        <p:spPr>
          <a:xfrm>
            <a:off x="4979487" y="1695205"/>
            <a:ext cx="1611297" cy="837037"/>
          </a:xfrm>
          <a:prstGeom prst="rect">
            <a:avLst/>
          </a:prstGeom>
          <a:ln w="6350"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2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84">
              <a:defRPr/>
            </a:pPr>
            <a:r>
              <a:rPr lang="en-US" dirty="0">
                <a:solidFill>
                  <a:prstClr val="white"/>
                </a:solidFill>
                <a:latin typeface="Helvetica Neue"/>
                <a:sym typeface="Arial"/>
              </a:rPr>
              <a:t>4 Launches and 3 recoveries on 1</a:t>
            </a:r>
            <a:r>
              <a:rPr lang="en-US" baseline="30000" dirty="0">
                <a:solidFill>
                  <a:prstClr val="white"/>
                </a:solidFill>
                <a:latin typeface="Helvetica Neue"/>
                <a:sym typeface="Arial"/>
              </a:rPr>
              <a:t>st </a:t>
            </a:r>
            <a:r>
              <a:rPr lang="en-US" dirty="0">
                <a:solidFill>
                  <a:prstClr val="white"/>
                </a:solidFill>
                <a:latin typeface="Helvetica Neue"/>
                <a:sym typeface="Arial"/>
              </a:rPr>
              <a:t> SARGE vehicle</a:t>
            </a:r>
          </a:p>
          <a:p>
            <a:pPr defTabSz="914384">
              <a:defRPr/>
            </a:pPr>
            <a:r>
              <a:rPr lang="en-US" dirty="0">
                <a:solidFill>
                  <a:prstClr val="white"/>
                </a:solidFill>
                <a:latin typeface="Helvetica Neue" pitchFamily="2" charset="77"/>
                <a:sym typeface="Arial"/>
              </a:rPr>
              <a:t>Aug 2018 – Oct 2019</a:t>
            </a:r>
          </a:p>
          <a:p>
            <a:pPr defTabSz="914384">
              <a:defRPr/>
            </a:pPr>
            <a:endParaRPr lang="en-US" dirty="0">
              <a:solidFill>
                <a:prstClr val="white"/>
              </a:solidFill>
              <a:sym typeface="Arial"/>
            </a:endParaRPr>
          </a:p>
        </p:txBody>
      </p:sp>
      <p:pic>
        <p:nvPicPr>
          <p:cNvPr id="225" name="Picture 224">
            <a:extLst>
              <a:ext uri="{FF2B5EF4-FFF2-40B4-BE49-F238E27FC236}">
                <a16:creationId xmlns:a16="http://schemas.microsoft.com/office/drawing/2014/main" id="{839BA090-4058-F244-9834-F51CE5F59A1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83721" y="-32336"/>
            <a:ext cx="994885" cy="1231761"/>
          </a:xfrm>
          <a:prstGeom prst="rect">
            <a:avLst/>
          </a:prstGeom>
        </p:spPr>
      </p:pic>
      <p:pic>
        <p:nvPicPr>
          <p:cNvPr id="226" name="Picture 225">
            <a:extLst>
              <a:ext uri="{FF2B5EF4-FFF2-40B4-BE49-F238E27FC236}">
                <a16:creationId xmlns:a16="http://schemas.microsoft.com/office/drawing/2014/main" id="{01161775-7701-6445-BAF8-B83595F4D6E0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13981"/>
          <a:stretch/>
        </p:blipFill>
        <p:spPr>
          <a:xfrm>
            <a:off x="4901029" y="-24011"/>
            <a:ext cx="746824" cy="1223436"/>
          </a:xfrm>
          <a:prstGeom prst="rect">
            <a:avLst/>
          </a:prstGeom>
        </p:spPr>
      </p:pic>
      <p:pic>
        <p:nvPicPr>
          <p:cNvPr id="227" name="Picture 226">
            <a:extLst>
              <a:ext uri="{FF2B5EF4-FFF2-40B4-BE49-F238E27FC236}">
                <a16:creationId xmlns:a16="http://schemas.microsoft.com/office/drawing/2014/main" id="{59E856E3-0134-A349-B382-39FB07E31B7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46398" y="-38609"/>
            <a:ext cx="592559" cy="395039"/>
          </a:xfrm>
          <a:prstGeom prst="rect">
            <a:avLst/>
          </a:prstGeom>
        </p:spPr>
      </p:pic>
      <p:grpSp>
        <p:nvGrpSpPr>
          <p:cNvPr id="237" name="Group 236">
            <a:extLst>
              <a:ext uri="{FF2B5EF4-FFF2-40B4-BE49-F238E27FC236}">
                <a16:creationId xmlns:a16="http://schemas.microsoft.com/office/drawing/2014/main" id="{47FBA38D-3624-324C-A353-15294698B577}"/>
              </a:ext>
            </a:extLst>
          </p:cNvPr>
          <p:cNvGrpSpPr/>
          <p:nvPr/>
        </p:nvGrpSpPr>
        <p:grpSpPr>
          <a:xfrm>
            <a:off x="6089400" y="3959646"/>
            <a:ext cx="1964807" cy="2871977"/>
            <a:chOff x="4118160" y="4185575"/>
            <a:chExt cx="2210315" cy="2996494"/>
          </a:xfrm>
        </p:grpSpPr>
        <p:sp>
          <p:nvSpPr>
            <p:cNvPr id="238" name="Text Placeholder 32">
              <a:extLst>
                <a:ext uri="{FF2B5EF4-FFF2-40B4-BE49-F238E27FC236}">
                  <a16:creationId xmlns:a16="http://schemas.microsoft.com/office/drawing/2014/main" id="{735AC0AF-F008-C84F-8442-A7DF7D886174}"/>
                </a:ext>
              </a:extLst>
            </p:cNvPr>
            <p:cNvSpPr txBox="1">
              <a:spLocks/>
            </p:cNvSpPr>
            <p:nvPr/>
          </p:nvSpPr>
          <p:spPr>
            <a:xfrm>
              <a:off x="4469736" y="4185575"/>
              <a:ext cx="1429330" cy="837037"/>
            </a:xfrm>
            <a:prstGeom prst="rect">
              <a:avLst/>
            </a:prstGeom>
            <a:ln w="6350">
              <a:noFill/>
            </a:ln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Tx/>
                <a:buNone/>
                <a:defRPr sz="12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914384">
                <a:defRPr/>
              </a:pPr>
              <a:r>
                <a:rPr lang="en-US" dirty="0">
                  <a:solidFill>
                    <a:prstClr val="white"/>
                  </a:solidFill>
                  <a:sym typeface="Arial"/>
                </a:rPr>
                <a:t>2021 Phase II Air Force Hypersonic Contract</a:t>
              </a:r>
            </a:p>
          </p:txBody>
        </p:sp>
        <p:pic>
          <p:nvPicPr>
            <p:cNvPr id="240" name="Picture 239">
              <a:extLst>
                <a:ext uri="{FF2B5EF4-FFF2-40B4-BE49-F238E27FC236}">
                  <a16:creationId xmlns:a16="http://schemas.microsoft.com/office/drawing/2014/main" id="{64E35E0C-20F6-3A4D-A921-3195FDF01A06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4118160" y="6037589"/>
              <a:ext cx="2210315" cy="1144480"/>
            </a:xfrm>
            <a:prstGeom prst="rect">
              <a:avLst/>
            </a:prstGeom>
          </p:spPr>
        </p:pic>
      </p:grp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9FBC1DE2-1C20-444F-B0F4-E35A37D1F2C0}"/>
              </a:ext>
            </a:extLst>
          </p:cNvPr>
          <p:cNvCxnSpPr>
            <a:cxnSpLocks/>
          </p:cNvCxnSpPr>
          <p:nvPr/>
        </p:nvCxnSpPr>
        <p:spPr>
          <a:xfrm flipH="1" flipV="1">
            <a:off x="5767673" y="2650679"/>
            <a:ext cx="1312" cy="610012"/>
          </a:xfrm>
          <a:prstGeom prst="line">
            <a:avLst/>
          </a:prstGeom>
          <a:ln w="635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3" name="Group 82">
            <a:extLst>
              <a:ext uri="{FF2B5EF4-FFF2-40B4-BE49-F238E27FC236}">
                <a16:creationId xmlns:a16="http://schemas.microsoft.com/office/drawing/2014/main" id="{3113EB33-ED6B-3949-8484-0FB238054A85}"/>
              </a:ext>
            </a:extLst>
          </p:cNvPr>
          <p:cNvGrpSpPr/>
          <p:nvPr/>
        </p:nvGrpSpPr>
        <p:grpSpPr>
          <a:xfrm>
            <a:off x="10769703" y="-437011"/>
            <a:ext cx="369332" cy="6856508"/>
            <a:chOff x="9308068" y="487595"/>
            <a:chExt cx="369332" cy="6599005"/>
          </a:xfrm>
        </p:grpSpPr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1F018645-0BFB-624C-91C0-B130ABD0FB0B}"/>
                </a:ext>
              </a:extLst>
            </p:cNvPr>
            <p:cNvCxnSpPr>
              <a:cxnSpLocks/>
            </p:cNvCxnSpPr>
            <p:nvPr/>
          </p:nvCxnSpPr>
          <p:spPr>
            <a:xfrm>
              <a:off x="9632067" y="487595"/>
              <a:ext cx="0" cy="6599005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5" name="TextBox 254">
              <a:extLst>
                <a:ext uri="{FF2B5EF4-FFF2-40B4-BE49-F238E27FC236}">
                  <a16:creationId xmlns:a16="http://schemas.microsoft.com/office/drawing/2014/main" id="{48885FC4-93EE-7849-9417-0C542331D5A8}"/>
                </a:ext>
              </a:extLst>
            </p:cNvPr>
            <p:cNvSpPr txBox="1"/>
            <p:nvPr/>
          </p:nvSpPr>
          <p:spPr>
            <a:xfrm rot="16200000">
              <a:off x="9093387" y="2369760"/>
              <a:ext cx="7986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384">
                <a:defRPr/>
              </a:pPr>
              <a:r>
                <a:rPr lang="en-US" dirty="0">
                  <a:solidFill>
                    <a:srgbClr val="C00000"/>
                  </a:solidFill>
                  <a:latin typeface="Duplicate Sans Light" pitchFamily="2" charset="77"/>
                  <a:cs typeface="Arial"/>
                  <a:sym typeface="Arial"/>
                </a:rPr>
                <a:t>Today</a:t>
              </a:r>
            </a:p>
          </p:txBody>
        </p:sp>
      </p:grpSp>
      <p:sp>
        <p:nvSpPr>
          <p:cNvPr id="262" name="Rectangle 261">
            <a:extLst>
              <a:ext uri="{FF2B5EF4-FFF2-40B4-BE49-F238E27FC236}">
                <a16:creationId xmlns:a16="http://schemas.microsoft.com/office/drawing/2014/main" id="{42899B24-B296-B846-8476-C4F16033E316}"/>
              </a:ext>
            </a:extLst>
          </p:cNvPr>
          <p:cNvSpPr/>
          <p:nvPr/>
        </p:nvSpPr>
        <p:spPr>
          <a:xfrm>
            <a:off x="6758112" y="1688528"/>
            <a:ext cx="165147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384">
              <a:defRPr/>
            </a:pPr>
            <a:r>
              <a:rPr lang="en-US" sz="1200" dirty="0">
                <a:solidFill>
                  <a:prstClr val="white"/>
                </a:solidFill>
                <a:latin typeface="Helvetica Neue" pitchFamily="2" charset="77"/>
                <a:cs typeface="Arial"/>
                <a:sym typeface="Arial"/>
              </a:rPr>
              <a:t>Italy $6.4M grant LOI.  2022 -2025 Exos Aerospace Italia </a:t>
            </a:r>
            <a:r>
              <a:rPr lang="en-US" sz="1200" dirty="0" err="1">
                <a:solidFill>
                  <a:prstClr val="white"/>
                </a:solidFill>
                <a:latin typeface="Helvetica Neue" pitchFamily="2" charset="77"/>
                <a:cs typeface="Arial"/>
                <a:sym typeface="Arial"/>
              </a:rPr>
              <a:t>Srl</a:t>
            </a:r>
            <a:r>
              <a:rPr lang="en-US" sz="1200" dirty="0">
                <a:solidFill>
                  <a:prstClr val="white"/>
                </a:solidFill>
                <a:latin typeface="Helvetica Neue" pitchFamily="2" charset="77"/>
                <a:cs typeface="Arial"/>
                <a:sym typeface="Arial"/>
              </a:rPr>
              <a:t>  work with Defense on Suborbital Air Launch   development and work with Spaceland.it on microgravity research</a:t>
            </a:r>
          </a:p>
          <a:p>
            <a:pPr defTabSz="914384">
              <a:defRPr/>
            </a:pPr>
            <a:endParaRPr lang="en-US" sz="1200" dirty="0">
              <a:solidFill>
                <a:prstClr val="white"/>
              </a:solidFill>
              <a:latin typeface="Duplicate Sans Regular" pitchFamily="2" charset="77"/>
              <a:cs typeface="Arial"/>
              <a:sym typeface="Arial"/>
            </a:endParaRPr>
          </a:p>
        </p:txBody>
      </p:sp>
      <p:grpSp>
        <p:nvGrpSpPr>
          <p:cNvPr id="263" name="Group 262">
            <a:extLst>
              <a:ext uri="{FF2B5EF4-FFF2-40B4-BE49-F238E27FC236}">
                <a16:creationId xmlns:a16="http://schemas.microsoft.com/office/drawing/2014/main" id="{FA60BE43-1378-C846-9F4C-10206CDF49ED}"/>
              </a:ext>
            </a:extLst>
          </p:cNvPr>
          <p:cNvGrpSpPr/>
          <p:nvPr/>
        </p:nvGrpSpPr>
        <p:grpSpPr>
          <a:xfrm>
            <a:off x="6647049" y="-34606"/>
            <a:ext cx="1145550" cy="1153347"/>
            <a:chOff x="8023332" y="360458"/>
            <a:chExt cx="908606" cy="1073807"/>
          </a:xfrm>
        </p:grpSpPr>
        <p:pic>
          <p:nvPicPr>
            <p:cNvPr id="264" name="Picture 263">
              <a:extLst>
                <a:ext uri="{FF2B5EF4-FFF2-40B4-BE49-F238E27FC236}">
                  <a16:creationId xmlns:a16="http://schemas.microsoft.com/office/drawing/2014/main" id="{9F4BBF18-51FA-CB44-B4FA-7DF24C08EDB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8023332" y="360458"/>
              <a:ext cx="908606" cy="1073807"/>
            </a:xfrm>
            <a:prstGeom prst="rect">
              <a:avLst/>
            </a:prstGeom>
          </p:spPr>
        </p:pic>
        <p:pic>
          <p:nvPicPr>
            <p:cNvPr id="265" name="Picture 264" descr="A close up of a logo&#10;&#10;Description automatically generated">
              <a:extLst>
                <a:ext uri="{FF2B5EF4-FFF2-40B4-BE49-F238E27FC236}">
                  <a16:creationId xmlns:a16="http://schemas.microsoft.com/office/drawing/2014/main" id="{0EDFFA98-58D0-5744-A65F-6B59D9F086EF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 rot="2464851">
              <a:off x="8340622" y="781956"/>
              <a:ext cx="399480" cy="185503"/>
            </a:xfrm>
            <a:prstGeom prst="rect">
              <a:avLst/>
            </a:prstGeom>
          </p:spPr>
        </p:pic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5BF91C66-C73F-D945-AAB0-2B19C3D96EBF}"/>
              </a:ext>
            </a:extLst>
          </p:cNvPr>
          <p:cNvGrpSpPr/>
          <p:nvPr/>
        </p:nvGrpSpPr>
        <p:grpSpPr>
          <a:xfrm>
            <a:off x="3006346" y="2660155"/>
            <a:ext cx="316547" cy="899841"/>
            <a:chOff x="3298542" y="2660154"/>
            <a:chExt cx="316547" cy="899841"/>
          </a:xfrm>
        </p:grpSpPr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83CB007D-7E63-484B-BA71-DE50F047D356}"/>
                </a:ext>
              </a:extLst>
            </p:cNvPr>
            <p:cNvCxnSpPr>
              <a:cxnSpLocks/>
              <a:stCxn id="168" idx="0"/>
            </p:cNvCxnSpPr>
            <p:nvPr/>
          </p:nvCxnSpPr>
          <p:spPr>
            <a:xfrm flipH="1" flipV="1">
              <a:off x="3448870" y="2660154"/>
              <a:ext cx="7945" cy="596156"/>
            </a:xfrm>
            <a:prstGeom prst="line">
              <a:avLst/>
            </a:prstGeom>
            <a:ln w="635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9" name="Group 158">
              <a:extLst>
                <a:ext uri="{FF2B5EF4-FFF2-40B4-BE49-F238E27FC236}">
                  <a16:creationId xmlns:a16="http://schemas.microsoft.com/office/drawing/2014/main" id="{903E3315-DE37-EB43-B540-1A79CE7DEDD7}"/>
                </a:ext>
              </a:extLst>
            </p:cNvPr>
            <p:cNvGrpSpPr/>
            <p:nvPr/>
          </p:nvGrpSpPr>
          <p:grpSpPr>
            <a:xfrm>
              <a:off x="3298542" y="3243448"/>
              <a:ext cx="316547" cy="316547"/>
              <a:chOff x="762004" y="3201390"/>
              <a:chExt cx="457195" cy="457195"/>
            </a:xfrm>
          </p:grpSpPr>
          <p:sp>
            <p:nvSpPr>
              <p:cNvPr id="168" name="Oval 167">
                <a:extLst>
                  <a:ext uri="{FF2B5EF4-FFF2-40B4-BE49-F238E27FC236}">
                    <a16:creationId xmlns:a16="http://schemas.microsoft.com/office/drawing/2014/main" id="{45C003D3-C127-1E47-8F34-0CC4B8B75379}"/>
                  </a:ext>
                </a:extLst>
              </p:cNvPr>
              <p:cNvSpPr/>
              <p:nvPr/>
            </p:nvSpPr>
            <p:spPr>
              <a:xfrm>
                <a:off x="781569" y="3219967"/>
                <a:ext cx="418064" cy="418063"/>
              </a:xfrm>
              <a:prstGeom prst="ellipse">
                <a:avLst/>
              </a:prstGeom>
              <a:solidFill>
                <a:schemeClr val="bg1">
                  <a:lumMod val="95000"/>
                  <a:lumOff val="5000"/>
                </a:schemeClr>
              </a:solidFill>
              <a:ln w="635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 defTabSz="914384">
                  <a:defRPr/>
                </a:pPr>
                <a:endParaRPr lang="en-US" dirty="0">
                  <a:solidFill>
                    <a:prstClr val="white"/>
                  </a:solidFill>
                  <a:latin typeface="Calibri" panose="020F0502020204030204"/>
                  <a:sym typeface="Arial"/>
                </a:endParaRPr>
              </a:p>
            </p:txBody>
          </p:sp>
          <p:sp>
            <p:nvSpPr>
              <p:cNvPr id="169" name="Oval 168">
                <a:extLst>
                  <a:ext uri="{FF2B5EF4-FFF2-40B4-BE49-F238E27FC236}">
                    <a16:creationId xmlns:a16="http://schemas.microsoft.com/office/drawing/2014/main" id="{EC047F8A-F840-CB4C-A869-5E33AD4539BF}"/>
                  </a:ext>
                </a:extLst>
              </p:cNvPr>
              <p:cNvSpPr/>
              <p:nvPr/>
            </p:nvSpPr>
            <p:spPr>
              <a:xfrm>
                <a:off x="762004" y="3201390"/>
                <a:ext cx="457195" cy="457195"/>
              </a:xfrm>
              <a:prstGeom prst="ellipse">
                <a:avLst/>
              </a:prstGeom>
              <a:noFill/>
              <a:ln w="38100">
                <a:noFill/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 defTabSz="914384">
                  <a:defRPr/>
                </a:pPr>
                <a:endParaRPr lang="en-US" dirty="0">
                  <a:solidFill>
                    <a:prstClr val="white"/>
                  </a:solidFill>
                  <a:latin typeface="Calibri" panose="020F0502020204030204"/>
                  <a:sym typeface="Arial"/>
                </a:endParaRPr>
              </a:p>
            </p:txBody>
          </p:sp>
          <p:sp>
            <p:nvSpPr>
              <p:cNvPr id="176" name="Oval 175">
                <a:extLst>
                  <a:ext uri="{FF2B5EF4-FFF2-40B4-BE49-F238E27FC236}">
                    <a16:creationId xmlns:a16="http://schemas.microsoft.com/office/drawing/2014/main" id="{782BEEBC-D165-114B-866A-351851EB3295}"/>
                  </a:ext>
                </a:extLst>
              </p:cNvPr>
              <p:cNvSpPr/>
              <p:nvPr/>
            </p:nvSpPr>
            <p:spPr>
              <a:xfrm>
                <a:off x="887102" y="3325503"/>
                <a:ext cx="206994" cy="206994"/>
              </a:xfrm>
              <a:prstGeom prst="ellipse">
                <a:avLst/>
              </a:prstGeom>
              <a:solidFill>
                <a:schemeClr val="bg1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 defTabSz="914384">
                  <a:defRPr/>
                </a:pPr>
                <a:endParaRPr lang="en-US" dirty="0">
                  <a:solidFill>
                    <a:prstClr val="white"/>
                  </a:solidFill>
                  <a:latin typeface="Calibri" panose="020F0502020204030204"/>
                  <a:sym typeface="Arial"/>
                </a:endParaRPr>
              </a:p>
            </p:txBody>
          </p:sp>
        </p:grpSp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B3F907F6-0631-DC4F-9148-A9C7ACC10A69}"/>
              </a:ext>
            </a:extLst>
          </p:cNvPr>
          <p:cNvGrpSpPr/>
          <p:nvPr/>
        </p:nvGrpSpPr>
        <p:grpSpPr>
          <a:xfrm>
            <a:off x="4249572" y="3236210"/>
            <a:ext cx="316547" cy="316547"/>
            <a:chOff x="762004" y="3201390"/>
            <a:chExt cx="457195" cy="457195"/>
          </a:xfrm>
        </p:grpSpPr>
        <p:sp>
          <p:nvSpPr>
            <p:cNvPr id="178" name="Oval 177">
              <a:extLst>
                <a:ext uri="{FF2B5EF4-FFF2-40B4-BE49-F238E27FC236}">
                  <a16:creationId xmlns:a16="http://schemas.microsoft.com/office/drawing/2014/main" id="{9418756D-4CB2-084B-83FC-9257C085D77D}"/>
                </a:ext>
              </a:extLst>
            </p:cNvPr>
            <p:cNvSpPr/>
            <p:nvPr/>
          </p:nvSpPr>
          <p:spPr>
            <a:xfrm>
              <a:off x="781569" y="3219967"/>
              <a:ext cx="418064" cy="418063"/>
            </a:xfrm>
            <a:prstGeom prst="ellipse">
              <a:avLst/>
            </a:prstGeom>
            <a:solidFill>
              <a:schemeClr val="bg1">
                <a:lumMod val="95000"/>
                <a:lumOff val="5000"/>
              </a:schemeClr>
            </a:solidFill>
            <a:ln w="635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 dirty="0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  <p:sp>
          <p:nvSpPr>
            <p:cNvPr id="179" name="Oval 178">
              <a:extLst>
                <a:ext uri="{FF2B5EF4-FFF2-40B4-BE49-F238E27FC236}">
                  <a16:creationId xmlns:a16="http://schemas.microsoft.com/office/drawing/2014/main" id="{9BE516B5-8F11-334D-BCF9-6C26179F7F0C}"/>
                </a:ext>
              </a:extLst>
            </p:cNvPr>
            <p:cNvSpPr/>
            <p:nvPr/>
          </p:nvSpPr>
          <p:spPr>
            <a:xfrm>
              <a:off x="762004" y="3201390"/>
              <a:ext cx="457195" cy="457195"/>
            </a:xfrm>
            <a:prstGeom prst="ellipse">
              <a:avLst/>
            </a:prstGeom>
            <a:noFill/>
            <a:ln w="38100"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 dirty="0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  <p:sp>
          <p:nvSpPr>
            <p:cNvPr id="180" name="Oval 179">
              <a:extLst>
                <a:ext uri="{FF2B5EF4-FFF2-40B4-BE49-F238E27FC236}">
                  <a16:creationId xmlns:a16="http://schemas.microsoft.com/office/drawing/2014/main" id="{61D5D6F5-E86D-5F46-BC85-9C27C1040415}"/>
                </a:ext>
              </a:extLst>
            </p:cNvPr>
            <p:cNvSpPr/>
            <p:nvPr/>
          </p:nvSpPr>
          <p:spPr>
            <a:xfrm>
              <a:off x="887102" y="3325503"/>
              <a:ext cx="206994" cy="206994"/>
            </a:xfrm>
            <a:prstGeom prst="ellipse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 dirty="0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</p:grp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A9FB6F08-07E3-C845-9E61-2FEE7733EA77}"/>
              </a:ext>
            </a:extLst>
          </p:cNvPr>
          <p:cNvGrpSpPr/>
          <p:nvPr/>
        </p:nvGrpSpPr>
        <p:grpSpPr>
          <a:xfrm>
            <a:off x="4985893" y="3243449"/>
            <a:ext cx="316547" cy="316547"/>
            <a:chOff x="762004" y="3201390"/>
            <a:chExt cx="457195" cy="457195"/>
          </a:xfrm>
        </p:grpSpPr>
        <p:sp>
          <p:nvSpPr>
            <p:cNvPr id="192" name="Oval 191">
              <a:extLst>
                <a:ext uri="{FF2B5EF4-FFF2-40B4-BE49-F238E27FC236}">
                  <a16:creationId xmlns:a16="http://schemas.microsoft.com/office/drawing/2014/main" id="{0DBAE9A4-C466-2B47-BC76-718A199BE15F}"/>
                </a:ext>
              </a:extLst>
            </p:cNvPr>
            <p:cNvSpPr/>
            <p:nvPr/>
          </p:nvSpPr>
          <p:spPr>
            <a:xfrm>
              <a:off x="781569" y="3219967"/>
              <a:ext cx="418064" cy="418063"/>
            </a:xfrm>
            <a:prstGeom prst="ellipse">
              <a:avLst/>
            </a:prstGeom>
            <a:solidFill>
              <a:schemeClr val="bg1">
                <a:lumMod val="95000"/>
                <a:lumOff val="5000"/>
              </a:schemeClr>
            </a:solidFill>
            <a:ln w="635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 dirty="0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  <p:sp>
          <p:nvSpPr>
            <p:cNvPr id="193" name="Oval 192">
              <a:extLst>
                <a:ext uri="{FF2B5EF4-FFF2-40B4-BE49-F238E27FC236}">
                  <a16:creationId xmlns:a16="http://schemas.microsoft.com/office/drawing/2014/main" id="{9AFDE4AE-19DA-B341-BAE7-A61474056E51}"/>
                </a:ext>
              </a:extLst>
            </p:cNvPr>
            <p:cNvSpPr/>
            <p:nvPr/>
          </p:nvSpPr>
          <p:spPr>
            <a:xfrm>
              <a:off x="762004" y="3201390"/>
              <a:ext cx="457195" cy="457195"/>
            </a:xfrm>
            <a:prstGeom prst="ellipse">
              <a:avLst/>
            </a:prstGeom>
            <a:noFill/>
            <a:ln w="38100"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 dirty="0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  <p:sp>
          <p:nvSpPr>
            <p:cNvPr id="194" name="Oval 193">
              <a:extLst>
                <a:ext uri="{FF2B5EF4-FFF2-40B4-BE49-F238E27FC236}">
                  <a16:creationId xmlns:a16="http://schemas.microsoft.com/office/drawing/2014/main" id="{23393304-48AE-0446-BAE4-BE16CA0D9F14}"/>
                </a:ext>
              </a:extLst>
            </p:cNvPr>
            <p:cNvSpPr/>
            <p:nvPr/>
          </p:nvSpPr>
          <p:spPr>
            <a:xfrm>
              <a:off x="887102" y="3325503"/>
              <a:ext cx="206994" cy="206994"/>
            </a:xfrm>
            <a:prstGeom prst="ellipse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 dirty="0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</p:grpSp>
      <p:sp>
        <p:nvSpPr>
          <p:cNvPr id="124" name="Rectangle 123">
            <a:extLst>
              <a:ext uri="{FF2B5EF4-FFF2-40B4-BE49-F238E27FC236}">
                <a16:creationId xmlns:a16="http://schemas.microsoft.com/office/drawing/2014/main" id="{65E99FCD-BC5D-7042-A737-B4158326977A}"/>
              </a:ext>
            </a:extLst>
          </p:cNvPr>
          <p:cNvSpPr/>
          <p:nvPr/>
        </p:nvSpPr>
        <p:spPr>
          <a:xfrm>
            <a:off x="921306" y="3263757"/>
            <a:ext cx="49885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84">
              <a:defRPr/>
            </a:pPr>
            <a:r>
              <a:rPr lang="en-US" sz="1200" dirty="0">
                <a:solidFill>
                  <a:srgbClr val="FF0000"/>
                </a:solidFill>
                <a:latin typeface="Helvetica Neue" panose="020F0502020204030204"/>
                <a:cs typeface="Arial"/>
                <a:sym typeface="Arial"/>
              </a:rPr>
              <a:t>2006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F83810D-8F09-AC40-B37D-ED26DE93F9A2}"/>
              </a:ext>
            </a:extLst>
          </p:cNvPr>
          <p:cNvGrpSpPr/>
          <p:nvPr/>
        </p:nvGrpSpPr>
        <p:grpSpPr>
          <a:xfrm>
            <a:off x="1794869" y="2686378"/>
            <a:ext cx="316547" cy="873617"/>
            <a:chOff x="1794868" y="2686378"/>
            <a:chExt cx="316547" cy="873617"/>
          </a:xfrm>
        </p:grpSpPr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44582BFA-844F-6549-9F47-6DB62EAE2BDC}"/>
                </a:ext>
              </a:extLst>
            </p:cNvPr>
            <p:cNvCxnSpPr>
              <a:cxnSpLocks/>
              <a:stCxn id="148" idx="0"/>
            </p:cNvCxnSpPr>
            <p:nvPr/>
          </p:nvCxnSpPr>
          <p:spPr>
            <a:xfrm flipV="1">
              <a:off x="1953141" y="2686378"/>
              <a:ext cx="0" cy="569932"/>
            </a:xfrm>
            <a:prstGeom prst="line">
              <a:avLst/>
            </a:prstGeom>
            <a:ln w="635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7" name="Group 146">
              <a:extLst>
                <a:ext uri="{FF2B5EF4-FFF2-40B4-BE49-F238E27FC236}">
                  <a16:creationId xmlns:a16="http://schemas.microsoft.com/office/drawing/2014/main" id="{52C6E261-9F21-2D49-B7EF-30917AA407AE}"/>
                </a:ext>
              </a:extLst>
            </p:cNvPr>
            <p:cNvGrpSpPr/>
            <p:nvPr/>
          </p:nvGrpSpPr>
          <p:grpSpPr>
            <a:xfrm>
              <a:off x="1794868" y="3243448"/>
              <a:ext cx="316547" cy="316547"/>
              <a:chOff x="762004" y="3201390"/>
              <a:chExt cx="457195" cy="457195"/>
            </a:xfrm>
          </p:grpSpPr>
          <p:sp>
            <p:nvSpPr>
              <p:cNvPr id="148" name="Oval 147">
                <a:extLst>
                  <a:ext uri="{FF2B5EF4-FFF2-40B4-BE49-F238E27FC236}">
                    <a16:creationId xmlns:a16="http://schemas.microsoft.com/office/drawing/2014/main" id="{45A41C49-E033-0B43-A5A1-3B053B80229B}"/>
                  </a:ext>
                </a:extLst>
              </p:cNvPr>
              <p:cNvSpPr/>
              <p:nvPr/>
            </p:nvSpPr>
            <p:spPr>
              <a:xfrm>
                <a:off x="781569" y="3219967"/>
                <a:ext cx="418064" cy="418063"/>
              </a:xfrm>
              <a:prstGeom prst="ellipse">
                <a:avLst/>
              </a:prstGeom>
              <a:solidFill>
                <a:schemeClr val="bg1">
                  <a:lumMod val="95000"/>
                  <a:lumOff val="5000"/>
                </a:schemeClr>
              </a:solidFill>
              <a:ln w="635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 defTabSz="914384">
                  <a:defRPr/>
                </a:pPr>
                <a:endParaRPr lang="en-US" dirty="0">
                  <a:solidFill>
                    <a:prstClr val="white"/>
                  </a:solidFill>
                  <a:latin typeface="Calibri" panose="020F0502020204030204"/>
                  <a:sym typeface="Arial"/>
                </a:endParaRPr>
              </a:p>
            </p:txBody>
          </p:sp>
          <p:sp>
            <p:nvSpPr>
              <p:cNvPr id="149" name="Oval 148">
                <a:extLst>
                  <a:ext uri="{FF2B5EF4-FFF2-40B4-BE49-F238E27FC236}">
                    <a16:creationId xmlns:a16="http://schemas.microsoft.com/office/drawing/2014/main" id="{2C8D71FF-3379-764A-8A5F-173EA1991C98}"/>
                  </a:ext>
                </a:extLst>
              </p:cNvPr>
              <p:cNvSpPr/>
              <p:nvPr/>
            </p:nvSpPr>
            <p:spPr>
              <a:xfrm>
                <a:off x="762004" y="3201390"/>
                <a:ext cx="457195" cy="457195"/>
              </a:xfrm>
              <a:prstGeom prst="ellipse">
                <a:avLst/>
              </a:prstGeom>
              <a:noFill/>
              <a:ln w="38100">
                <a:noFill/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 defTabSz="914384">
                  <a:defRPr/>
                </a:pPr>
                <a:endParaRPr lang="en-US" dirty="0">
                  <a:solidFill>
                    <a:prstClr val="white"/>
                  </a:solidFill>
                  <a:latin typeface="Calibri" panose="020F0502020204030204"/>
                  <a:sym typeface="Arial"/>
                </a:endParaRPr>
              </a:p>
            </p:txBody>
          </p:sp>
          <p:sp>
            <p:nvSpPr>
              <p:cNvPr id="158" name="Oval 157">
                <a:extLst>
                  <a:ext uri="{FF2B5EF4-FFF2-40B4-BE49-F238E27FC236}">
                    <a16:creationId xmlns:a16="http://schemas.microsoft.com/office/drawing/2014/main" id="{8E29616E-C49F-674B-B0CF-1DD1E0CD90F2}"/>
                  </a:ext>
                </a:extLst>
              </p:cNvPr>
              <p:cNvSpPr/>
              <p:nvPr/>
            </p:nvSpPr>
            <p:spPr>
              <a:xfrm>
                <a:off x="887102" y="3325503"/>
                <a:ext cx="206994" cy="206994"/>
              </a:xfrm>
              <a:prstGeom prst="ellipse">
                <a:avLst/>
              </a:prstGeom>
              <a:solidFill>
                <a:schemeClr val="bg1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 defTabSz="914384">
                  <a:defRPr/>
                </a:pPr>
                <a:endParaRPr lang="en-US" dirty="0">
                  <a:solidFill>
                    <a:prstClr val="white"/>
                  </a:solidFill>
                  <a:latin typeface="Calibri" panose="020F0502020204030204"/>
                  <a:sym typeface="Arial"/>
                </a:endParaRPr>
              </a:p>
            </p:txBody>
          </p:sp>
        </p:grpSp>
      </p:grpSp>
      <p:sp>
        <p:nvSpPr>
          <p:cNvPr id="128" name="Rectangle 127">
            <a:extLst>
              <a:ext uri="{FF2B5EF4-FFF2-40B4-BE49-F238E27FC236}">
                <a16:creationId xmlns:a16="http://schemas.microsoft.com/office/drawing/2014/main" id="{DBB8238E-12F9-364B-B2F9-8F82CC3B2E53}"/>
              </a:ext>
            </a:extLst>
          </p:cNvPr>
          <p:cNvSpPr/>
          <p:nvPr/>
        </p:nvSpPr>
        <p:spPr>
          <a:xfrm>
            <a:off x="1706129" y="3263757"/>
            <a:ext cx="49885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84">
              <a:defRPr/>
            </a:pPr>
            <a:r>
              <a:rPr lang="en-US" sz="1200" dirty="0">
                <a:solidFill>
                  <a:srgbClr val="FF0000"/>
                </a:solidFill>
                <a:latin typeface="Helvetica Neue" panose="020F0502020204030204"/>
                <a:cs typeface="Arial"/>
                <a:sym typeface="Arial"/>
              </a:rPr>
              <a:t>2008</a:t>
            </a:r>
          </a:p>
        </p:txBody>
      </p: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54E6560D-09DC-8F40-88BF-6C24EC744F6C}"/>
              </a:ext>
            </a:extLst>
          </p:cNvPr>
          <p:cNvGrpSpPr/>
          <p:nvPr/>
        </p:nvGrpSpPr>
        <p:grpSpPr>
          <a:xfrm>
            <a:off x="2362201" y="3232194"/>
            <a:ext cx="316547" cy="316547"/>
            <a:chOff x="762004" y="3201390"/>
            <a:chExt cx="457195" cy="457195"/>
          </a:xfrm>
        </p:grpSpPr>
        <p:sp>
          <p:nvSpPr>
            <p:cNvPr id="215" name="Oval 214">
              <a:extLst>
                <a:ext uri="{FF2B5EF4-FFF2-40B4-BE49-F238E27FC236}">
                  <a16:creationId xmlns:a16="http://schemas.microsoft.com/office/drawing/2014/main" id="{10761E6A-146D-5448-A2D6-896D94765F0D}"/>
                </a:ext>
              </a:extLst>
            </p:cNvPr>
            <p:cNvSpPr/>
            <p:nvPr/>
          </p:nvSpPr>
          <p:spPr>
            <a:xfrm>
              <a:off x="781569" y="3219967"/>
              <a:ext cx="418064" cy="418063"/>
            </a:xfrm>
            <a:prstGeom prst="ellipse">
              <a:avLst/>
            </a:prstGeom>
            <a:solidFill>
              <a:schemeClr val="bg1">
                <a:lumMod val="95000"/>
                <a:lumOff val="5000"/>
              </a:schemeClr>
            </a:solidFill>
            <a:ln w="635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 dirty="0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  <p:sp>
          <p:nvSpPr>
            <p:cNvPr id="216" name="Oval 215">
              <a:extLst>
                <a:ext uri="{FF2B5EF4-FFF2-40B4-BE49-F238E27FC236}">
                  <a16:creationId xmlns:a16="http://schemas.microsoft.com/office/drawing/2014/main" id="{BC2EE945-B71F-7C42-93AF-E59B57B58690}"/>
                </a:ext>
              </a:extLst>
            </p:cNvPr>
            <p:cNvSpPr/>
            <p:nvPr/>
          </p:nvSpPr>
          <p:spPr>
            <a:xfrm>
              <a:off x="762004" y="3201390"/>
              <a:ext cx="457195" cy="457195"/>
            </a:xfrm>
            <a:prstGeom prst="ellipse">
              <a:avLst/>
            </a:prstGeom>
            <a:noFill/>
            <a:ln w="38100"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 dirty="0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  <p:sp>
          <p:nvSpPr>
            <p:cNvPr id="217" name="Oval 216">
              <a:extLst>
                <a:ext uri="{FF2B5EF4-FFF2-40B4-BE49-F238E27FC236}">
                  <a16:creationId xmlns:a16="http://schemas.microsoft.com/office/drawing/2014/main" id="{06C6A8DE-A5A2-D94D-96A1-77267DFF3374}"/>
                </a:ext>
              </a:extLst>
            </p:cNvPr>
            <p:cNvSpPr/>
            <p:nvPr/>
          </p:nvSpPr>
          <p:spPr>
            <a:xfrm>
              <a:off x="887102" y="3325503"/>
              <a:ext cx="206994" cy="206994"/>
            </a:xfrm>
            <a:prstGeom prst="ellipse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 dirty="0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</p:grpSp>
      <p:sp>
        <p:nvSpPr>
          <p:cNvPr id="152" name="Rectangle 151">
            <a:extLst>
              <a:ext uri="{FF2B5EF4-FFF2-40B4-BE49-F238E27FC236}">
                <a16:creationId xmlns:a16="http://schemas.microsoft.com/office/drawing/2014/main" id="{153F20DC-295E-9C48-A8FA-8BAE89F7268B}"/>
              </a:ext>
            </a:extLst>
          </p:cNvPr>
          <p:cNvSpPr/>
          <p:nvPr/>
        </p:nvSpPr>
        <p:spPr>
          <a:xfrm>
            <a:off x="2926956" y="3253043"/>
            <a:ext cx="49885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84">
              <a:defRPr/>
            </a:pPr>
            <a:r>
              <a:rPr lang="en-US" sz="1200" dirty="0">
                <a:solidFill>
                  <a:srgbClr val="FF0000"/>
                </a:solidFill>
                <a:latin typeface="Helvetica Neue" panose="020F0502020204030204"/>
                <a:cs typeface="Arial"/>
                <a:sym typeface="Arial"/>
              </a:rPr>
              <a:t>2010</a:t>
            </a:r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5BAC40A4-15DC-F44A-AA77-BB65F9F4BE87}"/>
              </a:ext>
            </a:extLst>
          </p:cNvPr>
          <p:cNvSpPr/>
          <p:nvPr/>
        </p:nvSpPr>
        <p:spPr>
          <a:xfrm>
            <a:off x="4038221" y="3272976"/>
            <a:ext cx="49885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84">
              <a:defRPr/>
            </a:pPr>
            <a:r>
              <a:rPr lang="en-US" sz="1200" dirty="0">
                <a:solidFill>
                  <a:srgbClr val="FF0000"/>
                </a:solidFill>
                <a:latin typeface="Helvetica Neue" panose="020F0502020204030204"/>
                <a:cs typeface="Arial"/>
                <a:sym typeface="Arial"/>
              </a:rPr>
              <a:t>2011</a:t>
            </a:r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F74951E1-71CF-C141-BA59-B5D1058F66F2}"/>
              </a:ext>
            </a:extLst>
          </p:cNvPr>
          <p:cNvSpPr/>
          <p:nvPr/>
        </p:nvSpPr>
        <p:spPr>
          <a:xfrm>
            <a:off x="4901029" y="3251281"/>
            <a:ext cx="49885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84">
              <a:defRPr/>
            </a:pPr>
            <a:r>
              <a:rPr lang="en-US" sz="1200" dirty="0">
                <a:solidFill>
                  <a:srgbClr val="FF0000"/>
                </a:solidFill>
                <a:latin typeface="Helvetica Neue" panose="020F0502020204030204"/>
                <a:cs typeface="Arial"/>
                <a:sym typeface="Arial"/>
              </a:rPr>
              <a:t>2015</a:t>
            </a:r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18B2F0F5-D578-214B-A291-49C76074F8F7}"/>
              </a:ext>
            </a:extLst>
          </p:cNvPr>
          <p:cNvSpPr/>
          <p:nvPr/>
        </p:nvSpPr>
        <p:spPr>
          <a:xfrm>
            <a:off x="6219956" y="3254171"/>
            <a:ext cx="49885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84">
              <a:defRPr/>
            </a:pPr>
            <a:r>
              <a:rPr lang="en-US" sz="1200" dirty="0">
                <a:solidFill>
                  <a:srgbClr val="FF0000"/>
                </a:solidFill>
                <a:latin typeface="Helvetica Neue" panose="020F0502020204030204"/>
                <a:cs typeface="Arial"/>
                <a:sym typeface="Arial"/>
              </a:rPr>
              <a:t>2020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3722967F-9B9F-8241-A29A-36E8E1D39804}"/>
              </a:ext>
            </a:extLst>
          </p:cNvPr>
          <p:cNvSpPr/>
          <p:nvPr/>
        </p:nvSpPr>
        <p:spPr>
          <a:xfrm>
            <a:off x="2276046" y="3253728"/>
            <a:ext cx="49885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84">
              <a:defRPr/>
            </a:pPr>
            <a:r>
              <a:rPr lang="en-US" sz="1200" dirty="0">
                <a:solidFill>
                  <a:srgbClr val="FF0000"/>
                </a:solidFill>
                <a:latin typeface="Helvetica Neue" panose="020F0502020204030204"/>
                <a:cs typeface="Arial"/>
                <a:sym typeface="Arial"/>
              </a:rPr>
              <a:t>2009</a:t>
            </a:r>
          </a:p>
        </p:txBody>
      </p: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C82CE72F-B85D-F94A-BCD9-E9E2B4C50AD2}"/>
              </a:ext>
            </a:extLst>
          </p:cNvPr>
          <p:cNvGrpSpPr/>
          <p:nvPr/>
        </p:nvGrpSpPr>
        <p:grpSpPr>
          <a:xfrm>
            <a:off x="3574613" y="3236896"/>
            <a:ext cx="316547" cy="316547"/>
            <a:chOff x="762004" y="3201390"/>
            <a:chExt cx="457195" cy="457195"/>
          </a:xfrm>
        </p:grpSpPr>
        <p:sp>
          <p:nvSpPr>
            <p:cNvPr id="219" name="Oval 218">
              <a:extLst>
                <a:ext uri="{FF2B5EF4-FFF2-40B4-BE49-F238E27FC236}">
                  <a16:creationId xmlns:a16="http://schemas.microsoft.com/office/drawing/2014/main" id="{D9FB6B5B-5957-2540-A43A-A43427C58A3D}"/>
                </a:ext>
              </a:extLst>
            </p:cNvPr>
            <p:cNvSpPr/>
            <p:nvPr/>
          </p:nvSpPr>
          <p:spPr>
            <a:xfrm>
              <a:off x="781569" y="3219967"/>
              <a:ext cx="418064" cy="418063"/>
            </a:xfrm>
            <a:prstGeom prst="ellipse">
              <a:avLst/>
            </a:prstGeom>
            <a:solidFill>
              <a:schemeClr val="bg1">
                <a:lumMod val="95000"/>
                <a:lumOff val="5000"/>
              </a:schemeClr>
            </a:solidFill>
            <a:ln w="635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 dirty="0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  <p:sp>
          <p:nvSpPr>
            <p:cNvPr id="221" name="Oval 220">
              <a:extLst>
                <a:ext uri="{FF2B5EF4-FFF2-40B4-BE49-F238E27FC236}">
                  <a16:creationId xmlns:a16="http://schemas.microsoft.com/office/drawing/2014/main" id="{B5717212-7438-3145-8917-3D232DE5D4A5}"/>
                </a:ext>
              </a:extLst>
            </p:cNvPr>
            <p:cNvSpPr/>
            <p:nvPr/>
          </p:nvSpPr>
          <p:spPr>
            <a:xfrm>
              <a:off x="762004" y="3201390"/>
              <a:ext cx="457195" cy="457195"/>
            </a:xfrm>
            <a:prstGeom prst="ellipse">
              <a:avLst/>
            </a:prstGeom>
            <a:noFill/>
            <a:ln w="38100"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 dirty="0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  <p:sp>
          <p:nvSpPr>
            <p:cNvPr id="222" name="Oval 221">
              <a:extLst>
                <a:ext uri="{FF2B5EF4-FFF2-40B4-BE49-F238E27FC236}">
                  <a16:creationId xmlns:a16="http://schemas.microsoft.com/office/drawing/2014/main" id="{45723BD0-741E-AB48-93EE-F1C23CB01B0A}"/>
                </a:ext>
              </a:extLst>
            </p:cNvPr>
            <p:cNvSpPr/>
            <p:nvPr/>
          </p:nvSpPr>
          <p:spPr>
            <a:xfrm>
              <a:off x="887102" y="3325503"/>
              <a:ext cx="206994" cy="206994"/>
            </a:xfrm>
            <a:prstGeom prst="ellipse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 dirty="0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</p:grpSp>
      <p:sp>
        <p:nvSpPr>
          <p:cNvPr id="251" name="Text Placeholder 32">
            <a:extLst>
              <a:ext uri="{FF2B5EF4-FFF2-40B4-BE49-F238E27FC236}">
                <a16:creationId xmlns:a16="http://schemas.microsoft.com/office/drawing/2014/main" id="{AE9A7C24-600B-A644-9843-DB490C290712}"/>
              </a:ext>
            </a:extLst>
          </p:cNvPr>
          <p:cNvSpPr txBox="1">
            <a:spLocks/>
          </p:cNvSpPr>
          <p:nvPr/>
        </p:nvSpPr>
        <p:spPr>
          <a:xfrm>
            <a:off x="9498837" y="1526356"/>
            <a:ext cx="1266295" cy="1160023"/>
          </a:xfrm>
          <a:prstGeom prst="rect">
            <a:avLst/>
          </a:prstGeom>
          <a:ln w="6350"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2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84">
              <a:defRPr/>
            </a:pPr>
            <a:r>
              <a:rPr lang="en-US" dirty="0">
                <a:solidFill>
                  <a:prstClr val="white"/>
                </a:solidFill>
                <a:latin typeface="Helvetica Neue"/>
                <a:sym typeface="Arial"/>
              </a:rPr>
              <a:t>2024- 2026</a:t>
            </a:r>
          </a:p>
          <a:p>
            <a:pPr defTabSz="914384">
              <a:defRPr/>
            </a:pPr>
            <a:r>
              <a:rPr lang="en-US" dirty="0">
                <a:solidFill>
                  <a:prstClr val="white"/>
                </a:solidFill>
                <a:latin typeface="Helvetica Neue"/>
                <a:sym typeface="Arial"/>
              </a:rPr>
              <a:t> DoD HVRR Rotating Detonation Rocket Engine  (RDRE)  Test Vehicle Design and build USAF contracts</a:t>
            </a:r>
          </a:p>
          <a:p>
            <a:pPr defTabSz="914384">
              <a:defRPr/>
            </a:pPr>
            <a:endParaRPr lang="en-US" dirty="0">
              <a:solidFill>
                <a:prstClr val="white"/>
              </a:solidFill>
              <a:sym typeface="Arial"/>
            </a:endParaRPr>
          </a:p>
        </p:txBody>
      </p:sp>
      <p:sp>
        <p:nvSpPr>
          <p:cNvPr id="258" name="Rectangle 257">
            <a:extLst>
              <a:ext uri="{FF2B5EF4-FFF2-40B4-BE49-F238E27FC236}">
                <a16:creationId xmlns:a16="http://schemas.microsoft.com/office/drawing/2014/main" id="{11FB1975-BA6E-DE4B-8E83-466C3A74FE60}"/>
              </a:ext>
            </a:extLst>
          </p:cNvPr>
          <p:cNvSpPr/>
          <p:nvPr/>
        </p:nvSpPr>
        <p:spPr>
          <a:xfrm>
            <a:off x="8120487" y="3473856"/>
            <a:ext cx="1334123" cy="24098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384">
              <a:defRPr/>
            </a:pPr>
            <a:r>
              <a:rPr lang="en-US" sz="1255" kern="0" dirty="0">
                <a:solidFill>
                  <a:prstClr val="white"/>
                </a:solidFill>
                <a:latin typeface="Helvetica Neue"/>
                <a:cs typeface="Arial"/>
                <a:sym typeface="Arial"/>
              </a:rPr>
              <a:t>Our OTV-enabled service offers LEO → Moon → Earth round-trip capability — a distinct transport solution powered by technology only we provide.”</a:t>
            </a:r>
            <a:endParaRPr lang="en-US" sz="1200" dirty="0">
              <a:solidFill>
                <a:prstClr val="white"/>
              </a:solidFill>
              <a:latin typeface="Duplicate Sans Light" pitchFamily="2" charset="77"/>
              <a:cs typeface="Arial"/>
              <a:sym typeface="Arial"/>
            </a:endParaRPr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C3656ABF-70EF-9443-9EF2-413B04690662}"/>
              </a:ext>
            </a:extLst>
          </p:cNvPr>
          <p:cNvSpPr/>
          <p:nvPr/>
        </p:nvSpPr>
        <p:spPr>
          <a:xfrm>
            <a:off x="8847644" y="3773363"/>
            <a:ext cx="1240528" cy="779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84">
              <a:defRPr/>
            </a:pPr>
            <a:endParaRPr lang="en-US" sz="1200" dirty="0">
              <a:solidFill>
                <a:prstClr val="white"/>
              </a:solidFill>
              <a:latin typeface="Duplicate Sans Regular" pitchFamily="2" charset="77"/>
              <a:sym typeface="Arial"/>
            </a:endParaRPr>
          </a:p>
        </p:txBody>
      </p:sp>
      <p:grpSp>
        <p:nvGrpSpPr>
          <p:cNvPr id="270" name="Group 269">
            <a:extLst>
              <a:ext uri="{FF2B5EF4-FFF2-40B4-BE49-F238E27FC236}">
                <a16:creationId xmlns:a16="http://schemas.microsoft.com/office/drawing/2014/main" id="{D15D6BF4-167C-5F43-BC13-1AE10135B4CA}"/>
              </a:ext>
            </a:extLst>
          </p:cNvPr>
          <p:cNvGrpSpPr/>
          <p:nvPr/>
        </p:nvGrpSpPr>
        <p:grpSpPr>
          <a:xfrm>
            <a:off x="7996302" y="3239386"/>
            <a:ext cx="316547" cy="316547"/>
            <a:chOff x="762004" y="3201390"/>
            <a:chExt cx="457195" cy="457195"/>
          </a:xfrm>
        </p:grpSpPr>
        <p:sp>
          <p:nvSpPr>
            <p:cNvPr id="271" name="Oval 270">
              <a:extLst>
                <a:ext uri="{FF2B5EF4-FFF2-40B4-BE49-F238E27FC236}">
                  <a16:creationId xmlns:a16="http://schemas.microsoft.com/office/drawing/2014/main" id="{0EBA82EF-90DF-C949-A572-8B891B919CC5}"/>
                </a:ext>
              </a:extLst>
            </p:cNvPr>
            <p:cNvSpPr/>
            <p:nvPr/>
          </p:nvSpPr>
          <p:spPr>
            <a:xfrm>
              <a:off x="781569" y="3219967"/>
              <a:ext cx="418064" cy="418063"/>
            </a:xfrm>
            <a:prstGeom prst="ellipse">
              <a:avLst/>
            </a:prstGeom>
            <a:solidFill>
              <a:schemeClr val="bg1">
                <a:lumMod val="95000"/>
                <a:lumOff val="5000"/>
              </a:schemeClr>
            </a:solidFill>
            <a:ln w="635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 dirty="0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  <p:sp>
          <p:nvSpPr>
            <p:cNvPr id="272" name="Oval 271">
              <a:extLst>
                <a:ext uri="{FF2B5EF4-FFF2-40B4-BE49-F238E27FC236}">
                  <a16:creationId xmlns:a16="http://schemas.microsoft.com/office/drawing/2014/main" id="{BF45D0EF-1392-1A45-8B4E-D29D6B5D2EC2}"/>
                </a:ext>
              </a:extLst>
            </p:cNvPr>
            <p:cNvSpPr/>
            <p:nvPr/>
          </p:nvSpPr>
          <p:spPr>
            <a:xfrm>
              <a:off x="762004" y="3201390"/>
              <a:ext cx="457195" cy="457195"/>
            </a:xfrm>
            <a:prstGeom prst="ellipse">
              <a:avLst/>
            </a:prstGeom>
            <a:noFill/>
            <a:ln w="38100"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 dirty="0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  <p:sp>
          <p:nvSpPr>
            <p:cNvPr id="273" name="Oval 272">
              <a:extLst>
                <a:ext uri="{FF2B5EF4-FFF2-40B4-BE49-F238E27FC236}">
                  <a16:creationId xmlns:a16="http://schemas.microsoft.com/office/drawing/2014/main" id="{9939AA10-CC93-0B4F-878F-E5A13492A444}"/>
                </a:ext>
              </a:extLst>
            </p:cNvPr>
            <p:cNvSpPr/>
            <p:nvPr/>
          </p:nvSpPr>
          <p:spPr>
            <a:xfrm>
              <a:off x="887102" y="3325503"/>
              <a:ext cx="206994" cy="206994"/>
            </a:xfrm>
            <a:prstGeom prst="ellipse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 dirty="0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</p:grpSp>
      <p:grpSp>
        <p:nvGrpSpPr>
          <p:cNvPr id="278" name="Group 277">
            <a:extLst>
              <a:ext uri="{FF2B5EF4-FFF2-40B4-BE49-F238E27FC236}">
                <a16:creationId xmlns:a16="http://schemas.microsoft.com/office/drawing/2014/main" id="{9EC73C57-A794-DC4B-9CF5-23A7AE0F778B}"/>
              </a:ext>
            </a:extLst>
          </p:cNvPr>
          <p:cNvGrpSpPr/>
          <p:nvPr/>
        </p:nvGrpSpPr>
        <p:grpSpPr>
          <a:xfrm>
            <a:off x="9414526" y="3232194"/>
            <a:ext cx="316547" cy="316547"/>
            <a:chOff x="762004" y="3201390"/>
            <a:chExt cx="457195" cy="457195"/>
          </a:xfrm>
        </p:grpSpPr>
        <p:sp>
          <p:nvSpPr>
            <p:cNvPr id="279" name="Oval 278">
              <a:extLst>
                <a:ext uri="{FF2B5EF4-FFF2-40B4-BE49-F238E27FC236}">
                  <a16:creationId xmlns:a16="http://schemas.microsoft.com/office/drawing/2014/main" id="{2F25265E-6CD1-E440-9FC4-1B084319A2C0}"/>
                </a:ext>
              </a:extLst>
            </p:cNvPr>
            <p:cNvSpPr/>
            <p:nvPr/>
          </p:nvSpPr>
          <p:spPr>
            <a:xfrm>
              <a:off x="781569" y="3219967"/>
              <a:ext cx="418064" cy="418063"/>
            </a:xfrm>
            <a:prstGeom prst="ellipse">
              <a:avLst/>
            </a:prstGeom>
            <a:solidFill>
              <a:schemeClr val="bg1">
                <a:lumMod val="95000"/>
                <a:lumOff val="5000"/>
              </a:schemeClr>
            </a:solidFill>
            <a:ln w="635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 dirty="0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  <p:sp>
          <p:nvSpPr>
            <p:cNvPr id="280" name="Oval 279">
              <a:extLst>
                <a:ext uri="{FF2B5EF4-FFF2-40B4-BE49-F238E27FC236}">
                  <a16:creationId xmlns:a16="http://schemas.microsoft.com/office/drawing/2014/main" id="{208ED91F-5499-2A4F-9FA5-27A8807CBC6F}"/>
                </a:ext>
              </a:extLst>
            </p:cNvPr>
            <p:cNvSpPr/>
            <p:nvPr/>
          </p:nvSpPr>
          <p:spPr>
            <a:xfrm>
              <a:off x="762004" y="3201390"/>
              <a:ext cx="457195" cy="457195"/>
            </a:xfrm>
            <a:prstGeom prst="ellipse">
              <a:avLst/>
            </a:prstGeom>
            <a:noFill/>
            <a:ln w="38100"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 dirty="0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  <p:sp>
          <p:nvSpPr>
            <p:cNvPr id="281" name="Oval 280">
              <a:extLst>
                <a:ext uri="{FF2B5EF4-FFF2-40B4-BE49-F238E27FC236}">
                  <a16:creationId xmlns:a16="http://schemas.microsoft.com/office/drawing/2014/main" id="{E05CB889-36C7-8247-B86E-3E7299CC1E2F}"/>
                </a:ext>
              </a:extLst>
            </p:cNvPr>
            <p:cNvSpPr/>
            <p:nvPr/>
          </p:nvSpPr>
          <p:spPr>
            <a:xfrm>
              <a:off x="887102" y="3325503"/>
              <a:ext cx="206994" cy="206994"/>
            </a:xfrm>
            <a:prstGeom prst="ellipse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 dirty="0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</p:grp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18F5F1E8-56A8-A947-BB79-8D974A5CFD0E}"/>
              </a:ext>
            </a:extLst>
          </p:cNvPr>
          <p:cNvGrpSpPr/>
          <p:nvPr/>
        </p:nvGrpSpPr>
        <p:grpSpPr>
          <a:xfrm>
            <a:off x="10042221" y="3227067"/>
            <a:ext cx="316547" cy="316547"/>
            <a:chOff x="762004" y="3201390"/>
            <a:chExt cx="457195" cy="457195"/>
          </a:xfrm>
        </p:grpSpPr>
        <p:sp>
          <p:nvSpPr>
            <p:cNvPr id="283" name="Oval 282">
              <a:extLst>
                <a:ext uri="{FF2B5EF4-FFF2-40B4-BE49-F238E27FC236}">
                  <a16:creationId xmlns:a16="http://schemas.microsoft.com/office/drawing/2014/main" id="{D5172C26-1DE0-A14E-913C-EE1154E0EDE1}"/>
                </a:ext>
              </a:extLst>
            </p:cNvPr>
            <p:cNvSpPr/>
            <p:nvPr/>
          </p:nvSpPr>
          <p:spPr>
            <a:xfrm>
              <a:off x="781569" y="3219967"/>
              <a:ext cx="418064" cy="418063"/>
            </a:xfrm>
            <a:prstGeom prst="ellipse">
              <a:avLst/>
            </a:prstGeom>
            <a:solidFill>
              <a:schemeClr val="bg1">
                <a:lumMod val="95000"/>
                <a:lumOff val="5000"/>
              </a:schemeClr>
            </a:solidFill>
            <a:ln w="635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 dirty="0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  <p:sp>
          <p:nvSpPr>
            <p:cNvPr id="284" name="Oval 283">
              <a:extLst>
                <a:ext uri="{FF2B5EF4-FFF2-40B4-BE49-F238E27FC236}">
                  <a16:creationId xmlns:a16="http://schemas.microsoft.com/office/drawing/2014/main" id="{1A82AEBA-6330-2944-9C7E-0C5AE2F5F3DB}"/>
                </a:ext>
              </a:extLst>
            </p:cNvPr>
            <p:cNvSpPr/>
            <p:nvPr/>
          </p:nvSpPr>
          <p:spPr>
            <a:xfrm>
              <a:off x="762004" y="3201390"/>
              <a:ext cx="457195" cy="457195"/>
            </a:xfrm>
            <a:prstGeom prst="ellipse">
              <a:avLst/>
            </a:prstGeom>
            <a:noFill/>
            <a:ln w="38100"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 dirty="0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  <p:sp>
          <p:nvSpPr>
            <p:cNvPr id="285" name="Oval 284">
              <a:extLst>
                <a:ext uri="{FF2B5EF4-FFF2-40B4-BE49-F238E27FC236}">
                  <a16:creationId xmlns:a16="http://schemas.microsoft.com/office/drawing/2014/main" id="{52C75B2C-3FFA-B449-B2AC-3FEA196521C5}"/>
                </a:ext>
              </a:extLst>
            </p:cNvPr>
            <p:cNvSpPr/>
            <p:nvPr/>
          </p:nvSpPr>
          <p:spPr>
            <a:xfrm>
              <a:off x="887102" y="3325503"/>
              <a:ext cx="206994" cy="206994"/>
            </a:xfrm>
            <a:prstGeom prst="ellipse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 dirty="0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</p:grp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8B7F783A-0E54-0B4D-9CA1-41D280D15DCA}"/>
              </a:ext>
            </a:extLst>
          </p:cNvPr>
          <p:cNvCxnSpPr>
            <a:cxnSpLocks/>
          </p:cNvCxnSpPr>
          <p:nvPr/>
        </p:nvCxnSpPr>
        <p:spPr>
          <a:xfrm flipH="1">
            <a:off x="8161210" y="2991244"/>
            <a:ext cx="127638" cy="270647"/>
          </a:xfrm>
          <a:prstGeom prst="line">
            <a:avLst/>
          </a:prstGeom>
          <a:ln w="635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1" name="Group 290">
            <a:extLst>
              <a:ext uri="{FF2B5EF4-FFF2-40B4-BE49-F238E27FC236}">
                <a16:creationId xmlns:a16="http://schemas.microsoft.com/office/drawing/2014/main" id="{BD255554-5765-6A42-9AEF-A854CB2E4B77}"/>
              </a:ext>
            </a:extLst>
          </p:cNvPr>
          <p:cNvGrpSpPr/>
          <p:nvPr/>
        </p:nvGrpSpPr>
        <p:grpSpPr>
          <a:xfrm>
            <a:off x="11179459" y="3217498"/>
            <a:ext cx="316547" cy="316547"/>
            <a:chOff x="762004" y="3201390"/>
            <a:chExt cx="457195" cy="457195"/>
          </a:xfrm>
        </p:grpSpPr>
        <p:sp>
          <p:nvSpPr>
            <p:cNvPr id="292" name="Oval 291">
              <a:extLst>
                <a:ext uri="{FF2B5EF4-FFF2-40B4-BE49-F238E27FC236}">
                  <a16:creationId xmlns:a16="http://schemas.microsoft.com/office/drawing/2014/main" id="{C75C9E9B-B4CC-C44E-9409-B4815E1C67D4}"/>
                </a:ext>
              </a:extLst>
            </p:cNvPr>
            <p:cNvSpPr/>
            <p:nvPr/>
          </p:nvSpPr>
          <p:spPr>
            <a:xfrm>
              <a:off x="781569" y="3219967"/>
              <a:ext cx="418064" cy="418063"/>
            </a:xfrm>
            <a:prstGeom prst="ellipse">
              <a:avLst/>
            </a:prstGeom>
            <a:solidFill>
              <a:schemeClr val="bg1">
                <a:lumMod val="95000"/>
                <a:lumOff val="5000"/>
              </a:schemeClr>
            </a:solidFill>
            <a:ln w="635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 dirty="0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  <p:sp>
          <p:nvSpPr>
            <p:cNvPr id="293" name="Oval 292">
              <a:extLst>
                <a:ext uri="{FF2B5EF4-FFF2-40B4-BE49-F238E27FC236}">
                  <a16:creationId xmlns:a16="http://schemas.microsoft.com/office/drawing/2014/main" id="{35746170-F290-7B4F-B385-FDAACCF0043B}"/>
                </a:ext>
              </a:extLst>
            </p:cNvPr>
            <p:cNvSpPr/>
            <p:nvPr/>
          </p:nvSpPr>
          <p:spPr>
            <a:xfrm>
              <a:off x="762004" y="3201390"/>
              <a:ext cx="457195" cy="457195"/>
            </a:xfrm>
            <a:prstGeom prst="ellipse">
              <a:avLst/>
            </a:prstGeom>
            <a:noFill/>
            <a:ln w="38100"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 dirty="0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  <p:sp>
          <p:nvSpPr>
            <p:cNvPr id="294" name="Oval 293">
              <a:extLst>
                <a:ext uri="{FF2B5EF4-FFF2-40B4-BE49-F238E27FC236}">
                  <a16:creationId xmlns:a16="http://schemas.microsoft.com/office/drawing/2014/main" id="{433D9D9F-FD1B-B842-9732-4EEA47544236}"/>
                </a:ext>
              </a:extLst>
            </p:cNvPr>
            <p:cNvSpPr/>
            <p:nvPr/>
          </p:nvSpPr>
          <p:spPr>
            <a:xfrm>
              <a:off x="887102" y="3325503"/>
              <a:ext cx="206994" cy="206994"/>
            </a:xfrm>
            <a:prstGeom prst="ellipse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 dirty="0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</p:grpSp>
      <p:cxnSp>
        <p:nvCxnSpPr>
          <p:cNvPr id="295" name="Straight Connector 294">
            <a:extLst>
              <a:ext uri="{FF2B5EF4-FFF2-40B4-BE49-F238E27FC236}">
                <a16:creationId xmlns:a16="http://schemas.microsoft.com/office/drawing/2014/main" id="{E6259372-27C7-3E40-8925-123E12025AA1}"/>
              </a:ext>
            </a:extLst>
          </p:cNvPr>
          <p:cNvCxnSpPr>
            <a:cxnSpLocks/>
            <a:endCxn id="292" idx="0"/>
          </p:cNvCxnSpPr>
          <p:nvPr/>
        </p:nvCxnSpPr>
        <p:spPr>
          <a:xfrm>
            <a:off x="11337731" y="2955686"/>
            <a:ext cx="0" cy="274674"/>
          </a:xfrm>
          <a:prstGeom prst="line">
            <a:avLst/>
          </a:prstGeom>
          <a:ln w="635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Straight Connector 296">
            <a:extLst>
              <a:ext uri="{FF2B5EF4-FFF2-40B4-BE49-F238E27FC236}">
                <a16:creationId xmlns:a16="http://schemas.microsoft.com/office/drawing/2014/main" id="{36BE18A3-4514-3347-8214-E5D48A9BFE9A}"/>
              </a:ext>
            </a:extLst>
          </p:cNvPr>
          <p:cNvCxnSpPr>
            <a:cxnSpLocks/>
          </p:cNvCxnSpPr>
          <p:nvPr/>
        </p:nvCxnSpPr>
        <p:spPr>
          <a:xfrm flipH="1">
            <a:off x="10016750" y="3525848"/>
            <a:ext cx="183743" cy="287986"/>
          </a:xfrm>
          <a:prstGeom prst="line">
            <a:avLst/>
          </a:prstGeom>
          <a:ln w="635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Straight Connector 297">
            <a:extLst>
              <a:ext uri="{FF2B5EF4-FFF2-40B4-BE49-F238E27FC236}">
                <a16:creationId xmlns:a16="http://schemas.microsoft.com/office/drawing/2014/main" id="{648C29CE-FB8E-5E4F-84DA-95682D56AD80}"/>
              </a:ext>
            </a:extLst>
          </p:cNvPr>
          <p:cNvCxnSpPr>
            <a:cxnSpLocks/>
          </p:cNvCxnSpPr>
          <p:nvPr/>
        </p:nvCxnSpPr>
        <p:spPr>
          <a:xfrm flipH="1">
            <a:off x="8154574" y="2981601"/>
            <a:ext cx="127638" cy="270647"/>
          </a:xfrm>
          <a:prstGeom prst="line">
            <a:avLst/>
          </a:prstGeom>
          <a:ln w="635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0" name="Rectangle 299">
            <a:extLst>
              <a:ext uri="{FF2B5EF4-FFF2-40B4-BE49-F238E27FC236}">
                <a16:creationId xmlns:a16="http://schemas.microsoft.com/office/drawing/2014/main" id="{688ADBD0-F6F6-5B47-BEDC-BBDC8D2F5769}"/>
              </a:ext>
            </a:extLst>
          </p:cNvPr>
          <p:cNvSpPr/>
          <p:nvPr/>
        </p:nvSpPr>
        <p:spPr>
          <a:xfrm>
            <a:off x="7092446" y="3287439"/>
            <a:ext cx="498855" cy="229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84">
              <a:lnSpc>
                <a:spcPts val="1040"/>
              </a:lnSpc>
              <a:defRPr/>
            </a:pPr>
            <a:r>
              <a:rPr lang="en-US" sz="1200" dirty="0">
                <a:solidFill>
                  <a:srgbClr val="FF0000"/>
                </a:solidFill>
                <a:latin typeface="Helvetica Neue" panose="020F0502020204030204"/>
                <a:cs typeface="Arial"/>
                <a:sym typeface="Arial"/>
              </a:rPr>
              <a:t>2021</a:t>
            </a:r>
          </a:p>
        </p:txBody>
      </p:sp>
      <p:sp>
        <p:nvSpPr>
          <p:cNvPr id="301" name="Rectangle 300">
            <a:extLst>
              <a:ext uri="{FF2B5EF4-FFF2-40B4-BE49-F238E27FC236}">
                <a16:creationId xmlns:a16="http://schemas.microsoft.com/office/drawing/2014/main" id="{DC9FD511-7686-B340-A416-A64F8695C442}"/>
              </a:ext>
            </a:extLst>
          </p:cNvPr>
          <p:cNvSpPr/>
          <p:nvPr/>
        </p:nvSpPr>
        <p:spPr>
          <a:xfrm>
            <a:off x="8586455" y="3268899"/>
            <a:ext cx="498855" cy="229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84">
              <a:lnSpc>
                <a:spcPts val="1040"/>
              </a:lnSpc>
              <a:defRPr/>
            </a:pPr>
            <a:r>
              <a:rPr lang="en-US" sz="1200" dirty="0">
                <a:solidFill>
                  <a:srgbClr val="FF0000"/>
                </a:solidFill>
                <a:latin typeface="Helvetica Neue" panose="020F0502020204030204"/>
                <a:cs typeface="Arial"/>
                <a:sym typeface="Arial"/>
              </a:rPr>
              <a:t>2022</a:t>
            </a:r>
          </a:p>
        </p:txBody>
      </p:sp>
      <p:sp>
        <p:nvSpPr>
          <p:cNvPr id="302" name="Rectangle 301">
            <a:extLst>
              <a:ext uri="{FF2B5EF4-FFF2-40B4-BE49-F238E27FC236}">
                <a16:creationId xmlns:a16="http://schemas.microsoft.com/office/drawing/2014/main" id="{442170F4-67F0-4342-8142-5D9F8AE7E40F}"/>
              </a:ext>
            </a:extLst>
          </p:cNvPr>
          <p:cNvSpPr/>
          <p:nvPr/>
        </p:nvSpPr>
        <p:spPr>
          <a:xfrm>
            <a:off x="9135323" y="3212412"/>
            <a:ext cx="58418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384">
              <a:defRPr/>
            </a:pPr>
            <a:r>
              <a:rPr lang="en-US" sz="1200" dirty="0">
                <a:solidFill>
                  <a:srgbClr val="FF0000"/>
                </a:solidFill>
                <a:latin typeface="Helvetica Neue" panose="020F0502020204030204"/>
                <a:cs typeface="Arial"/>
                <a:sym typeface="Arial"/>
              </a:rPr>
              <a:t>2023</a:t>
            </a:r>
          </a:p>
        </p:txBody>
      </p:sp>
      <p:sp>
        <p:nvSpPr>
          <p:cNvPr id="303" name="Rectangle 302">
            <a:extLst>
              <a:ext uri="{FF2B5EF4-FFF2-40B4-BE49-F238E27FC236}">
                <a16:creationId xmlns:a16="http://schemas.microsoft.com/office/drawing/2014/main" id="{78D77BE1-AF61-BE41-A676-3C7D6E1C469B}"/>
              </a:ext>
            </a:extLst>
          </p:cNvPr>
          <p:cNvSpPr/>
          <p:nvPr/>
        </p:nvSpPr>
        <p:spPr>
          <a:xfrm>
            <a:off x="10663179" y="3217498"/>
            <a:ext cx="49885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84">
              <a:defRPr/>
            </a:pPr>
            <a:r>
              <a:rPr lang="en-US" sz="1200" dirty="0">
                <a:solidFill>
                  <a:srgbClr val="FF0000"/>
                </a:solidFill>
                <a:latin typeface="Helvetica Neue" panose="020F0502020204030204"/>
                <a:cs typeface="Arial"/>
                <a:sym typeface="Arial"/>
              </a:rPr>
              <a:t>2025</a:t>
            </a:r>
          </a:p>
        </p:txBody>
      </p:sp>
      <p:sp>
        <p:nvSpPr>
          <p:cNvPr id="304" name="Rectangle 303">
            <a:extLst>
              <a:ext uri="{FF2B5EF4-FFF2-40B4-BE49-F238E27FC236}">
                <a16:creationId xmlns:a16="http://schemas.microsoft.com/office/drawing/2014/main" id="{0C43A2BF-7A99-3645-B2BE-53801B2A24FE}"/>
              </a:ext>
            </a:extLst>
          </p:cNvPr>
          <p:cNvSpPr/>
          <p:nvPr/>
        </p:nvSpPr>
        <p:spPr>
          <a:xfrm>
            <a:off x="11291931" y="3221065"/>
            <a:ext cx="49885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84">
              <a:defRPr/>
            </a:pPr>
            <a:r>
              <a:rPr lang="en-US" sz="1200" dirty="0">
                <a:solidFill>
                  <a:srgbClr val="FF0000"/>
                </a:solidFill>
                <a:latin typeface="Helvetica Neue" panose="020F0502020204030204"/>
                <a:cs typeface="Arial"/>
                <a:sym typeface="Arial"/>
              </a:rPr>
              <a:t>2028</a:t>
            </a: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CFDA4803-78DB-4A0E-A6D6-26120D77239F}"/>
              </a:ext>
            </a:extLst>
          </p:cNvPr>
          <p:cNvSpPr/>
          <p:nvPr/>
        </p:nvSpPr>
        <p:spPr>
          <a:xfrm>
            <a:off x="5616967" y="3247829"/>
            <a:ext cx="49885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84">
              <a:defRPr/>
            </a:pPr>
            <a:r>
              <a:rPr lang="en-US" sz="1200" dirty="0">
                <a:solidFill>
                  <a:srgbClr val="FF0000"/>
                </a:solidFill>
                <a:latin typeface="Helvetica Neue" panose="020F0502020204030204"/>
                <a:cs typeface="Arial"/>
                <a:sym typeface="Arial"/>
              </a:rPr>
              <a:t>2018</a:t>
            </a: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FC0E91F2-7D3C-474D-8771-F722E0D6EB75}"/>
              </a:ext>
            </a:extLst>
          </p:cNvPr>
          <p:cNvSpPr/>
          <p:nvPr/>
        </p:nvSpPr>
        <p:spPr>
          <a:xfrm>
            <a:off x="7926328" y="3278193"/>
            <a:ext cx="498855" cy="229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84">
              <a:lnSpc>
                <a:spcPts val="1040"/>
              </a:lnSpc>
              <a:defRPr/>
            </a:pPr>
            <a:r>
              <a:rPr lang="en-US" sz="1200" dirty="0">
                <a:solidFill>
                  <a:srgbClr val="FF0000"/>
                </a:solidFill>
                <a:latin typeface="Helvetica Neue" panose="020F0502020204030204"/>
                <a:cs typeface="Arial"/>
                <a:sym typeface="Arial"/>
              </a:rPr>
              <a:t>2021</a:t>
            </a: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5EA59299-CC01-4EFE-87E4-CA82C673B0CE}"/>
              </a:ext>
            </a:extLst>
          </p:cNvPr>
          <p:cNvSpPr/>
          <p:nvPr/>
        </p:nvSpPr>
        <p:spPr>
          <a:xfrm>
            <a:off x="9879407" y="3230360"/>
            <a:ext cx="49885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84">
              <a:defRPr/>
            </a:pPr>
            <a:r>
              <a:rPr lang="en-US" sz="1200" dirty="0">
                <a:solidFill>
                  <a:srgbClr val="FF0000"/>
                </a:solidFill>
                <a:latin typeface="Helvetica Neue" panose="020F0502020204030204"/>
                <a:cs typeface="Arial"/>
                <a:sym typeface="Arial"/>
              </a:rPr>
              <a:t>2024</a:t>
            </a:r>
          </a:p>
        </p:txBody>
      </p:sp>
      <p:sp>
        <p:nvSpPr>
          <p:cNvPr id="160" name="Text Placeholder 32">
            <a:extLst>
              <a:ext uri="{FF2B5EF4-FFF2-40B4-BE49-F238E27FC236}">
                <a16:creationId xmlns:a16="http://schemas.microsoft.com/office/drawing/2014/main" id="{0CF02F89-8E9B-4CEF-9BB4-943DA2C9D5B2}"/>
              </a:ext>
            </a:extLst>
          </p:cNvPr>
          <p:cNvSpPr txBox="1">
            <a:spLocks/>
          </p:cNvSpPr>
          <p:nvPr/>
        </p:nvSpPr>
        <p:spPr>
          <a:xfrm>
            <a:off x="11092268" y="1526356"/>
            <a:ext cx="1070196" cy="3045841"/>
          </a:xfrm>
          <a:prstGeom prst="rect">
            <a:avLst/>
          </a:prstGeom>
          <a:ln w="6350"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2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84">
              <a:defRPr/>
            </a:pPr>
            <a:r>
              <a:rPr lang="en-US" dirty="0">
                <a:solidFill>
                  <a:prstClr val="white"/>
                </a:solidFill>
                <a:latin typeface="Helvetica Neue"/>
                <a:sym typeface="Arial"/>
              </a:rPr>
              <a:t>2026+</a:t>
            </a:r>
            <a:r>
              <a:rPr lang="en-US" sz="1255" dirty="0">
                <a:solidFill>
                  <a:prstClr val="white"/>
                </a:solidFill>
                <a:highlight>
                  <a:srgbClr val="000000"/>
                </a:highlight>
                <a:latin typeface="Helvetica Neue" panose="020B0604020202020204" charset="0"/>
                <a:sym typeface="Arial"/>
              </a:rPr>
              <a:t> Technology and Reputation Risk Reduction flights testing your hardware and software on our Reusable Rockets</a:t>
            </a:r>
            <a:endParaRPr lang="en-US" sz="1255" kern="0" dirty="0">
              <a:solidFill>
                <a:prstClr val="white"/>
              </a:solidFill>
              <a:highlight>
                <a:srgbClr val="000000"/>
              </a:highlight>
              <a:latin typeface="Metrophobic" panose="020B0604020202020204" charset="0"/>
              <a:cs typeface="Arial"/>
              <a:sym typeface="Arial"/>
            </a:endParaRPr>
          </a:p>
          <a:p>
            <a:pPr defTabSz="914384">
              <a:defRPr/>
            </a:pPr>
            <a:endParaRPr lang="en-US" dirty="0">
              <a:solidFill>
                <a:prstClr val="white"/>
              </a:solidFill>
              <a:sym typeface="Arial"/>
            </a:endParaRPr>
          </a:p>
          <a:p>
            <a:pPr defTabSz="914384">
              <a:defRPr/>
            </a:pPr>
            <a:endParaRPr lang="en-US" dirty="0">
              <a:solidFill>
                <a:prstClr val="white"/>
              </a:solidFill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A09F6A-F480-CDF0-6206-3AB973FE458D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285285" y="32910"/>
            <a:ext cx="960829" cy="1085830"/>
          </a:xfrm>
          <a:prstGeom prst="rect">
            <a:avLst/>
          </a:prstGeom>
        </p:spPr>
      </p:pic>
      <p:sp>
        <p:nvSpPr>
          <p:cNvPr id="5" name="Text Placeholder 32">
            <a:extLst>
              <a:ext uri="{FF2B5EF4-FFF2-40B4-BE49-F238E27FC236}">
                <a16:creationId xmlns:a16="http://schemas.microsoft.com/office/drawing/2014/main" id="{40277BD2-187A-4E98-BAC5-DE88605E7A12}"/>
              </a:ext>
            </a:extLst>
          </p:cNvPr>
          <p:cNvSpPr txBox="1">
            <a:spLocks/>
          </p:cNvSpPr>
          <p:nvPr/>
        </p:nvSpPr>
        <p:spPr>
          <a:xfrm>
            <a:off x="8234467" y="1706300"/>
            <a:ext cx="962446" cy="837037"/>
          </a:xfrm>
          <a:prstGeom prst="rect">
            <a:avLst/>
          </a:prstGeom>
          <a:ln w="6350"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2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84">
              <a:defRPr/>
            </a:pPr>
            <a:r>
              <a:rPr lang="en-US" dirty="0">
                <a:solidFill>
                  <a:prstClr val="white"/>
                </a:solidFill>
                <a:latin typeface="Helvetica Neue"/>
                <a:sym typeface="Arial"/>
              </a:rPr>
              <a:t>2022 USAF Contract for Hypersonic Reusable Launch Vehicle</a:t>
            </a:r>
            <a:endParaRPr lang="en-US" dirty="0">
              <a:solidFill>
                <a:prstClr val="white"/>
              </a:solidFill>
              <a:latin typeface="Duplicate Sans Medium" pitchFamily="2" charset="77"/>
              <a:sym typeface="Arial"/>
            </a:endParaRPr>
          </a:p>
          <a:p>
            <a:pPr defTabSz="914384">
              <a:defRPr/>
            </a:pPr>
            <a:endParaRPr lang="en-US" dirty="0">
              <a:solidFill>
                <a:prstClr val="white"/>
              </a:solidFill>
              <a:sym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118035-92F0-DE36-0AF3-1DB24D9EEB4F}"/>
              </a:ext>
            </a:extLst>
          </p:cNvPr>
          <p:cNvSpPr txBox="1"/>
          <p:nvPr/>
        </p:nvSpPr>
        <p:spPr>
          <a:xfrm>
            <a:off x="9344841" y="6387362"/>
            <a:ext cx="27816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384">
              <a:defRPr/>
            </a:pPr>
            <a:r>
              <a:rPr lang="en-US" sz="1200" dirty="0">
                <a:solidFill>
                  <a:prstClr val="white"/>
                </a:solidFill>
                <a:latin typeface="Helvetica Neue" panose="020F0502020204030204"/>
                <a:cs typeface="Arial"/>
                <a:sym typeface="Arial"/>
              </a:rPr>
              <a:t>Working with companies like Vaya Space </a:t>
            </a:r>
          </a:p>
          <a:p>
            <a:pPr algn="ctr" defTabSz="914384">
              <a:defRPr/>
            </a:pPr>
            <a:r>
              <a:rPr lang="en-US" sz="1200" dirty="0">
                <a:solidFill>
                  <a:prstClr val="white"/>
                </a:solidFill>
                <a:latin typeface="Helvetica Neue" panose="020F0502020204030204"/>
                <a:cs typeface="Arial"/>
                <a:sym typeface="Arial"/>
              </a:rPr>
              <a:t>and others Derisking Orbital access.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EE4A3B-D5AA-4F4B-A889-F56EFE3A7470}"/>
              </a:ext>
            </a:extLst>
          </p:cNvPr>
          <p:cNvSpPr txBox="1"/>
          <p:nvPr/>
        </p:nvSpPr>
        <p:spPr>
          <a:xfrm>
            <a:off x="58713" y="4973180"/>
            <a:ext cx="8319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84">
              <a:defRPr/>
            </a:pPr>
            <a:r>
              <a:rPr lang="en-US" b="1" i="1" dirty="0">
                <a:solidFill>
                  <a:schemeClr val="accent4"/>
                </a:solidFill>
                <a:latin typeface="Helvetica Neue" panose="020F0502020204030204"/>
                <a:cs typeface="Arial"/>
                <a:sym typeface="Arial"/>
              </a:rPr>
              <a:t>Our Competitive Advantage is demonstrated by what our team has already done: 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AC6D4545-A6A0-F897-B145-AE8C73F5B6A6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752463" y="10630"/>
            <a:ext cx="759043" cy="15033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555E2522-B5B3-E9FC-1806-6635BB414FA4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477178" y="5618110"/>
            <a:ext cx="798392" cy="1206981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6A86C673-172A-47AC-79A0-C3126C51D997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5400000">
            <a:off x="10881057" y="512031"/>
            <a:ext cx="1503300" cy="463880"/>
          </a:xfrm>
          <a:prstGeom prst="rect">
            <a:avLst/>
          </a:prstGeom>
        </p:spPr>
      </p:pic>
      <p:pic>
        <p:nvPicPr>
          <p:cNvPr id="8" name="Picture 7" descr="A person standing next to a large machine&#10;&#10;AI-generated content may be incorrect.">
            <a:extLst>
              <a:ext uri="{FF2B5EF4-FFF2-40B4-BE49-F238E27FC236}">
                <a16:creationId xmlns:a16="http://schemas.microsoft.com/office/drawing/2014/main" id="{14B418F9-FD1A-F95A-143D-CF5E11B9C6F3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738741" y="5078258"/>
            <a:ext cx="1745471" cy="13091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1148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FFFFFF"/>
                </a:solidFill>
                <a:latin typeface="Helvetica Neue"/>
              </a:rPr>
              <a:t>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50">
                <a:solidFill>
                  <a:srgbClr val="FFFFFF"/>
                </a:solidFill>
                <a:latin typeface="Helvetica Neue"/>
              </a:rPr>
              <a:t>•  Profitable in FY2025 — first profitable year. Revenue $1.49M; EBITDA ~$296K (~20% margin); ~$6.2M NOL carryforward.</a:t>
            </a:r>
          </a:p>
          <a:p>
            <a:pPr>
              <a:spcAft>
                <a:spcPts val="1000"/>
              </a:spcAft>
            </a:pPr>
            <a:r>
              <a:rPr sz="1550">
                <a:solidFill>
                  <a:srgbClr val="FFFFFF"/>
                </a:solidFill>
                <a:latin typeface="Helvetica Neue"/>
              </a:rPr>
              <a:t>•  Combined annual run-rate ~$2.6M (Exos $1.49M + Scorpius $1.1M, pending acquisition close).</a:t>
            </a:r>
          </a:p>
          <a:p>
            <a:pPr>
              <a:spcAft>
                <a:spcPts val="1000"/>
              </a:spcAft>
            </a:pPr>
            <a:r>
              <a:rPr sz="1550">
                <a:solidFill>
                  <a:srgbClr val="FFFFFF"/>
                </a:solidFill>
                <a:latin typeface="Helvetica Neue"/>
              </a:rPr>
              <a:t>•  Government-backed path to ~$120M by Year 5 (conservative Cash Flow case) on a contracted backbone.</a:t>
            </a:r>
          </a:p>
          <a:p>
            <a:pPr>
              <a:spcAft>
                <a:spcPts val="1000"/>
              </a:spcAft>
            </a:pPr>
            <a:r>
              <a:rPr sz="1550">
                <a:solidFill>
                  <a:srgbClr val="FFFFFF"/>
                </a:solidFill>
                <a:latin typeface="Helvetica Neue"/>
              </a:rPr>
              <a:t>•  Independent 409A equity value: $169.7M (Eqvista 3/31/26; $8.66/share).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893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999999"/>
                </a:solidFill>
                <a:latin typeface="Helvetica Neue"/>
              </a:rPr>
              <a:t>PRIVATE &amp; CONFIDENTIAL  |  NOT FOR DISTRIBUTION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1148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FFFFFF"/>
                </a:solidFill>
                <a:latin typeface="Helvetica Neue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50">
                <a:solidFill>
                  <a:srgbClr val="FFFFFF"/>
                </a:solidFill>
                <a:latin typeface="Helvetica Neue"/>
              </a:rPr>
              <a:t>•  $10M first close — tranched to $25M. 100% deployed, zero idle capital.</a:t>
            </a:r>
          </a:p>
          <a:p>
            <a:pPr>
              <a:spcAft>
                <a:spcPts val="1000"/>
              </a:spcAft>
            </a:pPr>
            <a:r>
              <a:rPr sz="1550">
                <a:solidFill>
                  <a:srgbClr val="FFFFFF"/>
                </a:solidFill>
                <a:latin typeface="Helvetica Neue"/>
              </a:rPr>
              <a:t>•  Scorpius ROFR $3.4M (the arbitrage); RDRE trade-study down-select (NASA MSFC license vs. GTL machined method) / TACFI match.</a:t>
            </a:r>
          </a:p>
          <a:p>
            <a:pPr>
              <a:spcAft>
                <a:spcPts val="1000"/>
              </a:spcAft>
            </a:pPr>
            <a:r>
              <a:rPr sz="1550">
                <a:solidFill>
                  <a:srgbClr val="FFFFFF"/>
                </a:solidFill>
                <a:latin typeface="Helvetica Neue"/>
              </a:rPr>
              <a:t>•  $10M unlocks ~$34M in government co-investment (TACFI + STRATFI) — a 3.4x non-dilutive multiplier.</a:t>
            </a:r>
          </a:p>
          <a:p>
            <a:pPr>
              <a:spcAft>
                <a:spcPts val="1000"/>
              </a:spcAft>
            </a:pPr>
            <a:r>
              <a:rPr sz="1550">
                <a:solidFill>
                  <a:srgbClr val="FFFFFF"/>
                </a:solidFill>
                <a:latin typeface="Helvetica Neue"/>
              </a:rPr>
              <a:t>•  All common stock; founders retain control; TXSE-primary listing path.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893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999999"/>
                </a:solidFill>
                <a:latin typeface="Helvetica Neue"/>
              </a:rPr>
              <a:t>PRIVATE &amp; CONFIDENTIAL  |  NOT FOR DISTRIBUTION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7432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Helvetica Neue"/>
              </a:rPr>
              <a:t>De-risk the impossible.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80" y="342900"/>
            <a:ext cx="112166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8102E"/>
                </a:solidFill>
                <a:latin typeface="Calibri"/>
              </a:rPr>
              <a:t>FOUR CORE ASSETS</a:t>
            </a:r>
          </a:p>
          <a:p>
            <a:pPr algn="l"/>
            <a:r>
              <a:rPr sz="2200" b="1">
                <a:solidFill>
                  <a:srgbClr val="0B2A4A"/>
                </a:solidFill>
                <a:latin typeface="Calibri"/>
              </a:rPr>
              <a:t>Three technical assets, compounded by a fourth</a:t>
            </a:r>
          </a:p>
        </p:txBody>
      </p:sp>
      <p:sp>
        <p:nvSpPr>
          <p:cNvPr id="3" name="Rectangle 2"/>
          <p:cNvSpPr/>
          <p:nvPr/>
        </p:nvSpPr>
        <p:spPr>
          <a:xfrm>
            <a:off x="487680" y="1783080"/>
            <a:ext cx="5364480" cy="381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7680" y="1853080"/>
            <a:ext cx="5364480" cy="1851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2A4A"/>
                </a:solidFill>
                <a:latin typeface="Calibri"/>
              </a:rPr>
              <a:t>1: Scorpius Type-5 cryo IP + ROFR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TRL-9 linerless composite cryogenic tanks, flight-proven on Intuitive Machines' IM-1 and IM-2. Exos holds 18% plus a right of first refusal at the 2021 basis — strategic valuation arbitrage.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840" y="1783080"/>
            <a:ext cx="5364480" cy="381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39840" y="1853080"/>
            <a:ext cx="5364480" cy="1851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2A4A"/>
                </a:solidFill>
                <a:latin typeface="Calibri"/>
              </a:rPr>
              <a:t>2: Reusable suborbital platform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BLK3 — one of only three FAA-licensed reusable rocket launch providers in the U.S. Recoverable, high-cadence, minimal fixed infrastructure.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87680" y="3840480"/>
            <a:ext cx="5364480" cy="381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7680" y="3910480"/>
            <a:ext cx="5364480" cy="1851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2A4A"/>
                </a:solidFill>
                <a:latin typeface="Calibri"/>
              </a:rPr>
              <a:t>3: RDRE / advanced propulsion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Active USAF SBIR Phase II on a government-furnished RDRE, opening a sole-source Phase III path with no dollar ceiling.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39840" y="3840480"/>
            <a:ext cx="5364480" cy="381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9840" y="3910480"/>
            <a:ext cx="5364480" cy="1851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2A4A"/>
                </a:solidFill>
                <a:latin typeface="Calibri"/>
              </a:rPr>
              <a:t>4: AI-deployed operating platform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Mission Control plus a governed agent fleet run BD, capture, compliance, and operations — a compounding, owned decision-and-audit-trail asset; capital-efficient and ITAR/CUI-safe.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7680" y="5966460"/>
            <a:ext cx="11216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0B2A4A"/>
                </a:solidFill>
                <a:latin typeface="Calibri"/>
              </a:rPr>
              <a:t>Assets 1–3 are the hardware and IP; #4 is the operating system that compounds them — management-characterized, a moat, not a separate line item. Single valuation of record: $169.7M.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