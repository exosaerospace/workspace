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7"/>
    <p:sldId id="259" r:id="rId5"/>
    <p:sldId id="260" r:id="rId6"/>
    <p:sldId id="261" r:id="rId7"/>
    <p:sldId id="262" r:id="rId8"/>
    <p:sldId id="263" r:id="rId9"/>
    <p:sldId id="264" r:id="rId10"/>
    <p:sldId id="267" r:id="rId18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draft offer overview for the SSLC board. All figures are from the Option B Offer Summary (2026-10-07). The offer is subject to negotiation and board acceptance. Not a final or binding offer.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actions requested of the SSLC board at this meeting:</a:t>
            </a:r>
            <a:br/>
            <a:r>
              <a:t>  Motion 1: Confirm §3 exclusivity under the May 2025 Asset Acquisition Agreement. 90-day period begins on approval.</a:t>
            </a:r>
            <a:br/>
            <a:r>
              <a:t>  Motion 2: Grant full read-only QuickBooks Online access to John Quinn and Exos's finance reviewer to reconcile the $864K 'billed-ahead' balance and shared-facility costs. Basis: Cal. Corp. Code §1602 inspection right + AAA confirmatory diligence. Confidential under the 7/27/2021 NDA.</a:t>
            </a:r>
            <a:br/>
            <a:r>
              <a:t>  Motion 3: Consent to Exos using the same QB data to evaluate its in-house ERP/MRP and inventory systems for the combined operation. Confidential under the NDA.</a:t>
            </a:r>
            <a:br/>
            <a:r>
              <a:t>Governance: John Quinn abstains on all motions as an interested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SSLC's own numbers, presented factually and respectfully. The $198K cash figure is from the email draft. The $713K last quarter is from the offer summary. The $5.1M milestone (M1) requires nearly double that quarterly pace starting immediately — this is the context for why the Exos offer provides meaningful value through financing close and earn-out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scenarios (Low/Base/High) have identical at-close values: ① $3.86M, ② $4.86M with stock. The $3.86M breaks down as: $2.51M cash + $60K transaction costs + $790K stake credit (non-cash) + $500K WC bridge. The $1.0M EAI units are issued at financing close, not at board acceptance, and count toward the Rule 504 $10M rolling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Tank earn-out: single 5% rate applied to the revenue SSLC achieves each year FY27–FY31, capped at $300K/yr. Low $3.0M/yr → $150K/yr → $750K total; Base $5.0M/yr → $250K/yr → $1.25M; High $6.0M+/yr → $300K/yr (cap) → $1.5M. M1 (all scenarios): FY27 rev ≥$5.1M → $200K, pays FY28 Q1. M2 (Base/High): Nebula OTV flight tank set delivered and accepted by Intuitive Machines → $200K, pays at acceptance. M3 (Base/High): rev ≥$10M → $250K. M4 (High): rev ≥$20M → $250K. M5 (High): 50% reduction in tank build cost via dome automation and build-process automation proven → $200K. Stock earn-out: 0.0%/0.25%/0.50% additional EAI units issued at RTO listing, with the same post-listing lockup as Exos principals. $0/$625K/$1,500K at 409A listing value. Total earn-outs: Low $950K / Base $2,525K / High $4,100K (each = ③ minus 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 5-yr total is ② ($4.86M) + earn-outs. Low = $5.81M / Base = $7.385M (shown as $7.4M) / High = $8.96M (shown as $9.0M). These are rounded for board presentation. ④ TOTAL IF STOCK HELD TO 2031: Low $11.5M / Base $15.3M / High $18.9M — this replaces and is not additive to ③. It assumes RTO completion, ~30% dilution, and management-projected valuations. Forward-looking statements subject to SEC Rule 10b-5. The chart shows the year-by-year compensation build from close through FY31.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$1.0M EAI units are issued at financing close (not at board acceptance). At the 409A valuation of ~$169.7M, this represents ~0.59% fully diluted. Earn-out stock (0.0%/0.25%/0.50% additional) issued post-RTO brings total equity to ~0.59%–1.09%. The Japan round EAI units are Reg S and must remain separate from the Rule 504 domestic offering. See model EAI Lockup &amp; Liquidity sheet for full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language is verbatim from the offer email (Exos_SSLC_Offer_Briefing_Email_DRAFT_2026-10-09.docx) and the Key Terms section of the offer summary PDF. The exact terms — option pool size, vesting schedule — will be negotiated in the Definitive Agreement. IM program continuity: Exos-SSLC continues the Intuitive Machines contract with no delivery interruption.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summarizes every dollar and commitment Exos is making to close this transaction. Funding is committed at financing close — we are not representing that financing is already secured, but we are committed to delivering it. The Feb 15th target drives our 90-day exclusivity window. Capital for physical space and a second winder is committed at financing close; the amount will be agreed in the Definitive Agreement. The one action today is confirming §3 exclusivity, which starts the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actions needed today: (1) confirm §3 exclusivity — starts the 90-day window; (2) grant full read-only QB access for reconciliation of the $864K balance and facility costs; (3) consent to ERP/inventory evaluation using the same data. All confidential under the 7/27/2021 NDA. Once Motion 1 is confirmed, the 90-day exclusivity period begins. Financing close target: Feb 15th.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</a:t>
            </a:r>
            <a:br/>
            <a:r>
              <a:t>  Equity: QB Balance Sheet 8/21/2026 (data-room/SSLC/2026-7_BS_8-21-26.pdf). Total paid-in $1,014,465; Exos paid $789,572 per AAA Oct 2023.</a:t>
            </a:r>
            <a:br/>
            <a:r>
              <a:t>  Accum. deficit −$2,571,012.99 per QB BS 8/21/2026.</a:t>
            </a:r>
            <a:br/>
            <a:r>
              <a:t>  Total equity −$1,403,075 per Board Package 10/6/2026.</a:t>
            </a:r>
            <a:br/>
            <a:r>
              <a:t>  Debt: Board Package 10/6/2026 + QB BS 8/21. Total loans &amp; notes $1,027,783 confirmed.</a:t>
            </a:r>
            <a:br/>
            <a:r>
              <a:t>  Facility costs: QB P&amp;L FY26 CONFIRMED $353,978; FY27 Jul–Aug21 $32,860 (partial).</a:t>
            </a:r>
            <a:br/>
            <a:r>
              <a:t>  2-yr ~$967K estimate uses FY26 monthly rate ~$29.5K/mo for the remainder; CAVEAT: FY25 not on disk.</a:t>
            </a:r>
            <a:br/>
            <a:r>
              <a:t>  Microcosm offset: 50% share is MANAGEMENT ASSUMPTION — no written cost-sharing agreement found.</a:t>
            </a:r>
            <a:br/>
            <a:r>
              <a:t>  Must verify: (1) SSLC paid 100% of costs, (2) written agreement, (3) Microcosm's share allocation.</a:t>
            </a:r>
            <a:br/>
            <a:r>
              <a:t>  At 50% share offset ~$483K &gt; Due-to-Microcosm $451K → net creditor ~$32K.</a:t>
            </a:r>
            <a:br/>
            <a:r>
              <a:t>  At 40%: net-owe ~$65K; at 60%: net creditor ~$129K.</a:t>
            </a:r>
            <a:br/>
            <a:r>
              <a:t>  $864K billed-ahead balance: from QB FY27 Q1 actual. Nature disputed; full QB access requested.</a:t>
            </a:r>
            <a:br/>
            <a:r>
              <a:t>  CAUTION: Do not represent offset as a verified legal claim without written agreement.</a:t>
            </a:r>
            <a:br/>
            <a:r>
              <a:t>Source file: drafts/SSLC_QB_Equity_Debt_Microcosm_Facility_2026-10-10.xlsx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separate motions for the SSLC Board:</a:t>
            </a:r>
            <a:br/>
            <a:br/>
            <a:r>
              <a:t>Motion 1: §3 exclusivity confirmation under May 2025 Asset Acquisition Agreement. 90-day period begins on board approval; extension not unreasonably withheld. This is the gate for diligence, definitive agreement, and financing close.</a:t>
            </a:r>
            <a:br/>
            <a:br/>
            <a:r>
              <a:t>Motion 2: Full read-only QB Online access — accountant or all-access user — for John Quinn and one Exos finance reviewer. Legal basis: Cal. Corp. Code §1602 (director inspection right) + AAA §4 confirmatory diligence. Confidential under the 7/27/2021 NDA. Purpose: reconcile the $864K 'billed-ahead' balance (FY27 Q1 QB) and verify the shared Microcosm facility-cost offset before close.</a:t>
            </a:r>
            <a:br/>
            <a:br/>
            <a:r>
              <a:t>Motion 3 (separate): Consent to Exos using the same QB data to evaluate its ERP/MRP and inventory systems for the combined operation. Evaluation only — no obligation to implement. Confidential under the NDA.</a:t>
            </a:r>
            <a:br/>
            <a:br/>
            <a:r>
              <a:t>Governance: John Quinn is an interested director (Exos is the offeror and Quinn holds an Exos loan to SSLC). He abstains on all three motions; each is decided by the disinterested directors.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50292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OFFER TO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SCORPIUS SPACE LAUNCH COMPANY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Overview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297180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John M. Quinn  |  Cofounder &amp; CEO, Exos Aerospace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October 10, 2026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7033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26A21"/>
                </a:solidFill>
              </a:rPr>
              <a:t>CONFIDENTIAL — DRAFT — NEGOTIATING TERMS</a:t>
            </a:r>
            <a:endParaRPr lang="en-US" sz="1000" dirty="0"/>
          </a:p>
        </p:txBody>
      </p:sp>
      <p:pic>
        <p:nvPicPr>
          <p:cNvPr id="1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4206240"/>
            <a:ext cx="1645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is asked to vote on three motions today.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33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CCCCC"/>
                </a:solidFill>
              </a:rPr>
              <a:t>That's why Exos has stayed committed to funding this acquisition: fair value for SSLC holders, stability for SSLC's team, and real growth for investors. Together we're stronger than apart.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944368"/>
            <a:ext cx="8229600" cy="141732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40080" y="2999232"/>
            <a:ext cx="786384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6A21"/>
                </a:solidFill>
              </a:rPr>
              <a:t>Motion 1: </a:t>
            </a:r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§3 exclusivity — 90-day window begins on board approval (May 2025 AAA)
</a:t>
            </a:r>
            <a:pPr indent="0" marL="0">
              <a:buNone/>
            </a:pPr>
            <a:r>
              <a:rPr lang="en-US" sz="1400" b="1" dirty="0">
                <a:solidFill>
                  <a:srgbClr val="F26A21"/>
                </a:solidFill>
              </a:rPr>
              <a:t>Motion 2: </a:t>
            </a:r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Full read-only QB Online access for diligence (Cal. Corp. Code §1602 + AAA §4; under 7/27/2021 NDA)
</a:t>
            </a:r>
            <a:pPr indent="0" marL="0">
              <a:buNone/>
            </a:pPr>
            <a:r>
              <a:rPr lang="en-US" sz="1400" b="1" dirty="0">
                <a:solidFill>
                  <a:srgbClr val="F26A21"/>
                </a:solidFill>
              </a:rPr>
              <a:t>Motion 3: </a:t>
            </a:r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Consent to ERP/MRP &amp; inventory evaluation using QB data (confidential under NDA)</a:t>
            </a:r>
            <a:endParaRPr lang="en-US" sz="1400" dirty="0"/>
          </a:p>
        </p:txBody>
      </p:sp>
      <p:pic>
        <p:nvPicPr>
          <p:cNvPr id="7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SSLC Stands Today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$198K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Cash on hand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Current working capital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9184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$713K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Last quarter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Most recent reported quarter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2648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6A21"/>
                </a:solidFill>
              </a:rPr>
              <a:t>~$1.46M/qtr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Required to hit $5.1M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M1 milestone threshold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8229600" cy="1051560"/>
          </a:xfrm>
          <a:prstGeom prst="rect">
            <a:avLst/>
          </a:prstGeom>
          <a:solidFill>
            <a:srgbClr val="1A12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429000"/>
            <a:ext cx="7863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CCCCC"/>
                </a:solidFill>
              </a:rPr>
              <a:t>A $5.1M fiscal year requires approximately $1.46M per quarter — nearly double last quarter's pace of $713K — starting Oct 1st. Exos's offer removes the funding risk, solves the physical-space and single-winder constraints (with capital in the new year), and gives SSLC holders direct upside.</a:t>
            </a:r>
            <a:endParaRPr lang="en-US" sz="1300" dirty="0"/>
          </a:p>
        </p:txBody>
      </p:sp>
      <p:pic>
        <p:nvPicPr>
          <p:cNvPr id="18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SSLC Capital &amp; Debt: What's on the Books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" y="594360"/>
            <a:ext cx="41605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07408" y="594360"/>
            <a:ext cx="46177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" y="594360"/>
            <a:ext cx="41605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07408" y="594360"/>
            <a:ext cx="46177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" y="640080"/>
            <a:ext cx="4023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26A21"/>
                </a:solidFill>
                <a:latin typeface="Calibri"/>
              </a:rPr>
              <a:t>WHAT INVESTORS PAID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640080"/>
            <a:ext cx="44805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26A21"/>
                </a:solidFill>
                <a:latin typeface="Calibri"/>
              </a:rPr>
              <a:t>WHAT SSLC OWES  (10/2/2026)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" y="914400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Common stock (Acct 3010)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914400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CCCC"/>
                </a:solidFill>
                <a:latin typeface="Calibri"/>
              </a:rPr>
              <a:t>$1,010,423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" y="113842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APIC (Acct 3020)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6" y="113842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CCCC"/>
                </a:solidFill>
                <a:latin typeface="Calibri"/>
              </a:rPr>
              <a:t>$4,042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" y="1435608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" y="1586484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Total paid-in capital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42616" y="1586484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$1,014,465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" y="1810512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Exos: 18.06% → $789,572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42616" y="1810512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26A21"/>
                </a:solidFill>
                <a:latin typeface="Calibri"/>
              </a:rPr>
              <a:t>~78% of above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9456" y="2107692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456" y="225856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Accum. deficit (thru FY26)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42616" y="225856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−$2,571,013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" y="2482596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Total equity (10/2/2026)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6" y="2482596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−$1,403,075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91440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Loans &amp; notes (total)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1775" y="91440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$1,027,783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17136" y="1211580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136245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Due to Microcosm (Acct 2385)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1775" y="136245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$451,429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1586484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Notes Payable – Bookstore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1775" y="1586484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$320,582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17136" y="1810512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SBA EIDL (Acct 2712)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51775" y="1810512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$132,072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7136" y="203454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Wertz loan (Acct 2714)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51775" y="203454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$92,500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2258568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Exos loan (11%, Acct 2720)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51775" y="2258568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26A21"/>
                </a:solidFill>
                <a:latin typeface="Calibri"/>
              </a:rPr>
              <a:t>$31,200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17136" y="2555748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17136" y="248259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Total liabilities (10/2)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51775" y="248259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$1,275,622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9728" y="3643884"/>
            <a:ext cx="8924544" cy="749808"/>
          </a:xfrm>
          <a:prstGeom prst="rect">
            <a:avLst/>
          </a:prstGeom>
          <a:solidFill>
            <a:srgbClr val="1E1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728" y="3643884"/>
            <a:ext cx="50292" cy="74980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9456" y="3680459"/>
            <a:ext cx="86868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26A21"/>
                </a:solidFill>
                <a:latin typeface="Calibri"/>
              </a:rPr>
              <a:t>UNBOOKED OFFSET  (illustrative — no written cost-sharing agreement on file)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9456" y="389077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SSLC has paid ~100% of shared Torrance facility costs: ~$354K in FY26 (rent $294K + utilities $31K + other), ~$967K est. Jan 2024–Oct 2026.  At a 50% Microcosm share (illustrative) → ~$483K offsets $451K due to Microcosm = SSLC net creditor ~$32K.  "$864K 'billed-ahead' balance disputed; under review (full QuickBooks access requested)."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8600" y="4416552"/>
            <a:ext cx="822960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888888"/>
                </a:solidFill>
                <a:latin typeface="Calibri"/>
              </a:rPr>
              <a:t>per SSLC QuickBooks 8/21 and 10/2/2026; Microcosm offset illustrative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4809744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4809744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SSLC Holders Receive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005840"/>
            <a:ext cx="5669280" cy="393192"/>
          </a:xfrm>
          <a:prstGeom prst="rect">
            <a:avLst/>
          </a:prstGeom>
          <a:solidFill>
            <a:srgbClr val="2A2A2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04241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Cash at close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042416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$2.51M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1426464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05840" y="146304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SSLC transaction costs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4630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$60K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1847088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05840" y="188366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stake credit (non-cash)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1883664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$790K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14400" y="2688336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05840" y="272491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Working-capital bridge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724912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$500K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145536"/>
            <a:ext cx="6035040" cy="475488"/>
          </a:xfrm>
          <a:prstGeom prst="rect">
            <a:avLst/>
          </a:prstGeom>
          <a:solidFill>
            <a:srgbClr val="2A18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68680" y="32004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① Cash at close — target by Feb 15th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32004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26A21"/>
                </a:solidFill>
              </a:rPr>
              <a:t>$3.86M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3675888"/>
            <a:ext cx="5669280" cy="402336"/>
          </a:xfrm>
          <a:prstGeom prst="rect">
            <a:avLst/>
          </a:prstGeom>
          <a:solidFill>
            <a:srgbClr val="202020"/>
          </a:solidFill>
          <a:ln w="12700">
            <a:solidFill>
              <a:srgbClr val="44444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1005840" y="371246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+ Exos equity — EAI units at 409A (Rule 504, ~0.59%)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3712464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$1.0M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1520" y="4151376"/>
            <a:ext cx="6035040" cy="530352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868680" y="423367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② Total at financing close (SSLC asset acquisition)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233672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ECC71"/>
                </a:solidFill>
              </a:rPr>
              <a:t>$4.86M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1051560"/>
            <a:ext cx="20116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Issued at financing close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Restricted at issuance (Rule 504)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Part of RTO public float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Freely tradeable at listing</a:t>
            </a:r>
            <a:endParaRPr lang="en-US" sz="1100" dirty="0"/>
          </a:p>
        </p:txBody>
      </p:sp>
      <p:pic>
        <p:nvPicPr>
          <p:cNvPr id="29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28016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Value Grows: Earn-Outs &amp; Milestones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20040" y="56692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640080"/>
            <a:ext cx="201168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676656"/>
            <a:ext cx="1938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Earn-Out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331720" y="640080"/>
            <a:ext cx="187452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77440" y="676656"/>
            <a:ext cx="1801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Target SSLC Must Hit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5196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Low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4924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9496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Base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4652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High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640080"/>
            <a:ext cx="100584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0" y="676656"/>
            <a:ext cx="9326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Pays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1005840"/>
            <a:ext cx="201168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9184" y="1024128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5% of IM tank revenue/yr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cap $300K/yr, FY27–FY31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331720" y="1005840"/>
            <a:ext cx="187452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386584" y="1024128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Revenue SSLC achieves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each year FY27–FY31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5196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0682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$3.0M/yr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→$150K/yr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→$750K total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4924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0410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$5.0M/yr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→$250K/yr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→$1.25M total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4652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0138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$6.0M+/yr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→$300K/yr (cap)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→$1.5M total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543800" y="1005840"/>
            <a:ext cx="100584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98664" y="1024128"/>
            <a:ext cx="914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Annual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FY27–FY31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155448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9184" y="157276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M1  SSLC FY27 rev ≥$5.1M  →$200K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331720" y="155448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386584" y="157276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≥$5.1M in FY27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25196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0682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34924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0410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4652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0138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543800" y="155448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98664" y="157276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FY28 Q1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192024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29184" y="193852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M2  Nebula OTV flight tank set delivered &amp; accepted by IM  →$200K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31720" y="192024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386584" y="193852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Tank set delivered and accepted by Intuitive Machines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25196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30682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34924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40410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4652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50138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543800" y="192024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598664" y="193852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At acceptance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74320" y="228600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29184" y="230428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M3  SSLC annual rev ≥$10M  →$250K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331720" y="228600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386584" y="230428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≥$10M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25196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30682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34924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0410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44652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50138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543800" y="228600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598664" y="230428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FY29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274320" y="265176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29184" y="267004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M4  SSLC annual rev ≥$20M  →$250K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2331720" y="265176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386584" y="267004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≥$20M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25196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30682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34924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0410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644652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50138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7543800" y="265176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598664" y="267004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FY31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274320" y="3017520"/>
            <a:ext cx="201168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329184" y="30358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M5  50% reduction in tank build cost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(dome &amp; build-process automation proven)  →$200K (High)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2331720" y="3017520"/>
            <a:ext cx="187452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2386584" y="30358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50% cost reduction proven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(dome &amp; process automation)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25196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30682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534924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540410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644652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650138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7543800" y="3017520"/>
            <a:ext cx="100584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7598664" y="30358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FY27–28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274320" y="3474720"/>
            <a:ext cx="201168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29184" y="34930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Exos stock earn-out at RTO listing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(adds to ~0.59% EAI up-front)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2331720" y="3474720"/>
            <a:ext cx="187452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2386584" y="34930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Issued at RTO listing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425196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30682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$0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(0.0%)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534924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40410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$625K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(0.25%)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644652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50138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$1,500K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(0.50%)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7543800" y="3474720"/>
            <a:ext cx="100584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98664" y="34930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Post-RTO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~FY29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274320" y="3931920"/>
            <a:ext cx="201168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329184" y="395020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CCCCC"/>
                </a:solidFill>
              </a:rPr>
              <a:t>TOTAL EARN-OUTS  (③ minus ②)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2331720" y="3931920"/>
            <a:ext cx="187452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2386584" y="3950208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25196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30682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$950K</a:t>
            </a:r>
            <a:endParaRPr lang="en-US" sz="1100" dirty="0"/>
          </a:p>
        </p:txBody>
      </p:sp>
      <p:sp>
        <p:nvSpPr>
          <p:cNvPr id="106" name="Shape 104"/>
          <p:cNvSpPr/>
          <p:nvPr/>
        </p:nvSpPr>
        <p:spPr>
          <a:xfrm>
            <a:off x="534924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540410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$2,525K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644652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650138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$4,100K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7543800" y="3931920"/>
            <a:ext cx="100584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598664" y="3950208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5-yr total</a:t>
            </a:r>
            <a:endParaRPr lang="en-US" sz="1100" dirty="0"/>
          </a:p>
        </p:txBody>
      </p:sp>
      <p:pic>
        <p:nvPicPr>
          <p:cNvPr id="11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3" name="Text 11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14" name="Text 11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Offer Value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③  5-Year Total (earn-outs realized)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45720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Low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$5.8M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720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7452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87452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Base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$7.4M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96596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87452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9184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329184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High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$9.0M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338328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329184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914400"/>
            <a:ext cx="0" cy="329184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89204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④  If Exos Stock Held to 2031  (projection)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92040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892040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Low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$11.5M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4956048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4892040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1928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281928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Base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281928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$15.3M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345936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6281928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671816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7671816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High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671816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$18.9M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7735824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671816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pic>
        <p:nvPicPr>
          <p:cNvPr id="37" name="Image 0" descr="/Users/exomac/.openclaw/workspace/drafts/SSLC_OptionB_Total_Compensation_5yr_2026-10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606040"/>
            <a:ext cx="8503920" cy="219456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320040" y="2542032"/>
            <a:ext cx="8503920" cy="146304"/>
          </a:xfrm>
          <a:prstGeom prst="rect">
            <a:avLst/>
          </a:prstGeom>
          <a:solidFill>
            <a:srgbClr val="222200"/>
          </a:solidFill>
          <a:ln/>
        </p:spPr>
        <p:txBody>
          <a:bodyPr/>
          <a:p/>
        </p:txBody>
      </p:sp>
      <p:sp>
        <p:nvSpPr>
          <p:cNvPr id="39" name="Text 36"/>
          <p:cNvSpPr txBox="1"/>
          <p:nvPr/>
        </p:nvSpPr>
        <p:spPr>
          <a:xfrm>
            <a:off x="365760" y="2551176"/>
            <a:ext cx="841248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88888"/>
                </a:solidFill>
              </a:rPr>
              <a:t>④ is a forward-looking projection, not a guarantee; an alternative to ③ — not added to it. RTO may not close.</a:t>
            </a:r>
            <a:endParaRPr lang="en-US" sz="800" dirty="0"/>
          </a:p>
        </p:txBody>
      </p:sp>
      <p:pic>
        <p:nvPicPr>
          <p:cNvPr id="4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42" name="Text 3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Exos Stock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Instrument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$1.0M EAI units at the current 409A valuation (~$169.7M); ~0.59% fully diluted at issuance.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Offering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Part of Exos's Rule 504 Regulation D offering. U.S. persons only. Counts toward the $10M rolling 12-month cap.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Restricted at issuance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carry a restrictive legend at issuance (Rule 504 Reg D). Not freely tradeable prior to the RTO listing.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Public float at RTO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Structured to be part of the public float at going public. No principals' lockup applies to these units; locked-up shares would not count as float.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92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Freely tradeable at listing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Becomes freely tradeable at the RTO listing (no lockup on the up-front units). Covered by the RTO resale registration.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060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Timeline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issued at financing close. Targeted RTO ~6 months post-financing. Not assured — RTO may not close.</a:t>
            </a:r>
            <a:endParaRPr lang="en-US" sz="1200" dirty="0"/>
          </a:p>
        </p:txBody>
      </p:sp>
      <p:pic>
        <p:nvPicPr>
          <p:cNvPr id="2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SSLC Employees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Employment Offer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shall offer employment to SSLC employees — including management, support, engineering, and other technical and manufacturing employees — on terms no less favorable than their current terms with SSLC, including compensation and benefits.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Subject to each employee satisfying Exos's standard hiring policies and Exos's completion of confirmatory due diligence.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Key-Employee Option Pool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has an option pool for key employees. The allocation, key-employee retention and new-hire structure will be mutually agreed post-acquisition.</a:t>
            </a:r>
            <a:endParaRPr lang="en-US" sz="1300" dirty="0"/>
          </a:p>
        </p:txBody>
      </p:sp>
      <p:pic>
        <p:nvPicPr>
          <p:cNvPr id="1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Funding Commitments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1480" y="914400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95097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$2.51M cash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95097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298448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133502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SSLC transaction costs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89320" y="133502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82496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11480" y="2066544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48640" y="210312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Working-capital bridge $500K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210312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450592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248716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$1.0M Exos stock (EAI units, Rule 504)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2487168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48640" y="287121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Capital in the new year — physical space and a second winder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287121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(amount TBD; committed at financing close)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218688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548640" y="325526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Employment offers + option pool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325526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602736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548640" y="363931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Earn-outs on milestones and tank revenue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363931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FY27–FY31 as triggered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4078224"/>
            <a:ext cx="8412480" cy="5943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502920" y="41422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One decision today: confirm §3 exclusivity  →  90 days  →  financing close target Feb 15th</a:t>
            </a:r>
            <a:endParaRPr lang="en-US" sz="1500" dirty="0"/>
          </a:p>
        </p:txBody>
      </p:sp>
      <p:pic>
        <p:nvPicPr>
          <p:cNvPr id="3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Board Motions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457200"/>
            <a:ext cx="1371600" cy="3657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530352"/>
            <a:ext cx="8778240" cy="126187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530352"/>
            <a:ext cx="50292" cy="12618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03503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26A21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2647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Confirm §3 Exclusivity (May 2025 Asset Acquisition Agreement)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14400"/>
            <a:ext cx="6217920" cy="786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CCCCCC"/>
                </a:solidFill>
                <a:latin typeface="Calibri"/>
              </a:rPr>
              <a:t>Approve a 90-day exclusivity period beginning on the date of this approval.</a:t>
            </a:r>
          </a:p>
          <a:p>
            <a:r>
              <a:rPr sz="800">
                <a:solidFill>
                  <a:srgbClr val="CCCCCC"/>
                </a:solidFill>
                <a:latin typeface="Calibri"/>
              </a:rPr>
              <a:t>Extension not unreasonably withheld (per §3). Allows both parties to proceed to</a:t>
            </a:r>
          </a:p>
          <a:p>
            <a:r>
              <a:rPr sz="800">
                <a:solidFill>
                  <a:srgbClr val="CCCCCC"/>
                </a:solidFill>
                <a:latin typeface="Calibri"/>
              </a:rPr>
              <a:t>diligence, definitive agreement, and financing close (target: Feb 15th, 2027).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59" y="71323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59" y="96926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847088"/>
            <a:ext cx="8778240" cy="126187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2880" y="1847088"/>
            <a:ext cx="50292" cy="12618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1920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26A21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1929384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Grant Full Read-Only QuickBooks Online Access for Diligence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231136"/>
            <a:ext cx="6217920" cy="786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CCCCCC"/>
                </a:solidFill>
                <a:latin typeface="Calibri"/>
              </a:rPr>
              <a:t>Authorize an all-access or accountant user for John Quinn and one Exos finance reviewer.</a:t>
            </a:r>
          </a:p>
          <a:p>
            <a:r>
              <a:rPr sz="800">
                <a:solidFill>
                  <a:srgbClr val="CCCCCC"/>
                </a:solidFill>
                <a:latin typeface="Calibri"/>
              </a:rPr>
              <a:t>Purpose: reconcile the $864K "billed-ahead" balance and shared-facility costs (Microcosm</a:t>
            </a:r>
          </a:p>
          <a:p>
            <a:r>
              <a:rPr sz="800">
                <a:solidFill>
                  <a:srgbClr val="CCCCCC"/>
                </a:solidFill>
                <a:latin typeface="Calibri"/>
              </a:rPr>
              <a:t>offset) before close.  Basis: Cal. Corp. Code §1602 director inspection right + AAA §4</a:t>
            </a:r>
          </a:p>
          <a:p>
            <a:r>
              <a:rPr sz="800">
                <a:solidFill>
                  <a:srgbClr val="CCCCCC"/>
                </a:solidFill>
                <a:latin typeface="Calibri"/>
              </a:rPr>
              <a:t>confirmatory diligence.  Confidential under the 7/27/2021 NDA.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59" y="2029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59" y="228600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3163824"/>
            <a:ext cx="8778240" cy="10972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880" y="3163824"/>
            <a:ext cx="50292" cy="1097280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32369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26A21"/>
                </a:solidFill>
                <a:latin typeface="Cambri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324612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Consent to ERP/MRP &amp; Inventory Evaluation (Separate Motion)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3547872"/>
            <a:ext cx="62179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CCCCCC"/>
                </a:solidFill>
                <a:latin typeface="Calibri"/>
              </a:rPr>
              <a:t>Authorize Exos to use the same QB data to evaluate its in-house ERP/MRP and inventory</a:t>
            </a:r>
          </a:p>
          <a:p>
            <a:r>
              <a:rPr sz="800">
                <a:solidFill>
                  <a:srgbClr val="CCCCCC"/>
                </a:solidFill>
                <a:latin typeface="Calibri"/>
              </a:rPr>
              <a:t>systems for the combined operation.  Confidential under the NDA.</a:t>
            </a:r>
          </a:p>
          <a:p>
            <a:r>
              <a:rPr sz="800">
                <a:solidFill>
                  <a:srgbClr val="CCCCCC"/>
                </a:solidFill>
                <a:latin typeface="Calibri"/>
              </a:rPr>
              <a:t>Does not create any obligation to implement; evaluation only.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59" y="33467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59" y="36027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4325112"/>
            <a:ext cx="8778240" cy="201168"/>
          </a:xfrm>
          <a:prstGeom prst="rect">
            <a:avLst/>
          </a:prstGeom>
          <a:solidFill>
            <a:srgbClr val="1A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608" y="4352544"/>
            <a:ext cx="854964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F26A21"/>
                </a:solidFill>
                <a:latin typeface="Calibri"/>
              </a:rPr>
              <a:t>Governance: John Quinn abstains on all motions as an interested director; motions are decided by the disinterested directors.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4892040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892040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Close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1024128" y="1426464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48640" y="914400"/>
            <a:ext cx="512064" cy="512064"/>
          </a:xfrm>
          <a:prstGeom prst="ellipse">
            <a:avLst/>
          </a:prstGeom>
          <a:solidFill>
            <a:srgbClr val="F26A21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48640" y="978408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9326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Board Votes — Three Motions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1197864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Today — action requested at this meeting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24128" y="2121408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548640" y="1609344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48640" y="1673352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162763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90-Day Exclusivity Window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1892808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Negotiation and diligence period begins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24128" y="2816352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548640" y="2304288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48640" y="2368296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234440" y="2322576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Definitive Agreement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2587752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Key terms, employee pool, earn-out detail finalized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24128" y="3511296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48640" y="2999232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548640" y="30632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30175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Financing Close — target Feb 15th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34440" y="3282696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Cash at close + EAI units issued; ① + stock = ②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3694176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 txBox="1"/>
          <p:nvPr/>
        </p:nvSpPr>
        <p:spPr>
          <a:xfrm>
            <a:off x="548640" y="3758184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3712464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Targeted RTO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34440" y="3977640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~6 months post-financing; units tradeable at listing (not assured)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65760" y="4407408"/>
            <a:ext cx="8412480" cy="402336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 txBox="1"/>
          <p:nvPr/>
        </p:nvSpPr>
        <p:spPr>
          <a:xfrm>
            <a:off x="502920" y="444398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The Board is asked to vote on Motions 1–3. Questions and open items welcome.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xos Aerospace">
  <a:themeElements>
    <a:clrScheme name="Exos Aerospace">
      <a:dk1>
        <a:srgbClr val="111111"/>
      </a:dk1>
      <a:lt1>
        <a:srgbClr val="FFFFFF"/>
      </a:lt1>
      <a:dk2>
        <a:srgbClr val="1A1A1A"/>
      </a:dk2>
      <a:lt2>
        <a:srgbClr val="F5F5F5"/>
      </a:lt2>
      <a:accent1>
        <a:srgbClr val="F26A21"/>
      </a:accent1>
      <a:accent2>
        <a:srgbClr val="888888"/>
      </a:accent2>
      <a:accent3>
        <a:srgbClr val="2ECC71"/>
      </a:accent3>
      <a:accent4>
        <a:srgbClr val="C0392B"/>
      </a:accent4>
      <a:accent5>
        <a:srgbClr val="555555"/>
      </a:accent5>
      <a:accent6>
        <a:srgbClr val="333333"/>
      </a:accent6>
      <a:hlink>
        <a:srgbClr val="F26A21"/>
      </a:hlink>
      <a:folHlink>
        <a:srgbClr val="AAAAAA"/>
      </a:folHlink>
    </a:clrScheme>
    <a:fontScheme name="Exos Aerospa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2026-10-10T23:08:01Z</dcterms:created>
  <dcterms:modified xsi:type="dcterms:W3CDTF">2026-10-10T23:08:01Z</dcterms:modified>
</cp:coreProperties>
</file>