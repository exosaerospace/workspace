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/>
                <a:latin typeface="Calibri"/>
              </a:rPr>
              <a:t>INNOVATIVE SPACE CARRIER - EXOS </a:t>
            </a:r>
          </a:p>
          <a:p>
            <a:pPr algn="ctr"/>
            <a:r>
              <a:rPr lang="en-US" sz="4800" dirty="0">
                <a:solidFill/>
                <a:latin typeface="Calibri"/>
              </a:rPr>
              <a:t>ASCA ETV</a:t>
            </a:r>
          </a:p>
          <a:p>
            <a:pPr algn="ctr"/>
            <a:r>
              <a:rPr lang="en-US" sz="4800" dirty="0">
                <a:solidFill/>
                <a:latin typeface="Calibri"/>
              </a:rPr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/>
                <a:latin typeface="Calibri"/>
              </a:rPr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3771900"/>
            <a:ext cx="12192000" cy="30861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66460"/>
            <a:ext cx="121920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5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11112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EXOS AEROSPACE  |  www.exosaero.com  |  CONFIDENTIAL   1</a:t>
            </a:r>
          </a:p>
        </p:txBody>
      </p:sp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/>
                <a:latin typeface="Calibri"/>
              </a:rPr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/>
                <a:latin typeface="Calibri"/>
              </a:rPr>
              <a:t>Flight altitude: 0.1 km (328ft)</a:t>
            </a:r>
            <a:br>
              <a:rPr lang="en-US" sz="2400" dirty="0"/>
            </a:br>
            <a:r>
              <a:rPr lang="en-US" sz="2400" dirty="0">
                <a:solidFill/>
                <a:latin typeface="Calibri"/>
              </a:rPr>
              <a:t>・Purpose: Demonstration of vertical takeoff and landing</a:t>
            </a:r>
            <a:br>
              <a:rPr lang="en-US" sz="2400" dirty="0"/>
            </a:br>
            <a:r>
              <a:rPr lang="en-US" sz="2400" dirty="0">
                <a:solidFill/>
                <a:latin typeface="Calibri"/>
              </a:rPr>
              <a:t>・Features:</a:t>
            </a:r>
            <a:br>
              <a:rPr lang="en-US" sz="2400" dirty="0"/>
            </a:br>
            <a:r>
              <a:rPr lang="en-US" sz="2400" dirty="0">
                <a:solidFill/>
                <a:latin typeface="Calibri"/>
              </a:rPr>
              <a:t>     - Hadley engines (2?)</a:t>
            </a:r>
            <a:br>
              <a:rPr lang="en-US" sz="2400" dirty="0"/>
            </a:br>
            <a:r>
              <a:rPr lang="en-US" sz="2400" dirty="0">
                <a:solidFill/>
                <a:latin typeface="Calibri"/>
              </a:rPr>
              <a:t>     -  ~40% of the airframe mass </a:t>
            </a:r>
          </a:p>
          <a:p>
            <a:r>
              <a:rPr lang="en-US" sz="2400" dirty="0">
                <a:solidFill/>
                <a:latin typeface="Calibri"/>
              </a:rPr>
              <a:t>         3D-printed</a:t>
            </a:r>
            <a:br>
              <a:rPr lang="en-US" sz="2400" dirty="0"/>
            </a:br>
            <a:r>
              <a:rPr lang="en-US" sz="2400" dirty="0">
                <a:solidFill/>
                <a:latin typeface="Calibri"/>
              </a:rPr>
              <a:t>     -  Adoption of Model Predictive  </a:t>
            </a:r>
          </a:p>
          <a:p>
            <a:r>
              <a:rPr lang="en-US" sz="2400" dirty="0">
                <a:solidFill/>
                <a:latin typeface="Calibri"/>
              </a:rPr>
              <a:t>         Control</a:t>
            </a:r>
            <a:r>
              <a:rPr lang="en-US" sz="2800" dirty="0">
                <a:solidFill/>
                <a:latin typeface="Calibri"/>
              </a:rPr>
              <a:t> (MPC) for powered</a:t>
            </a:r>
          </a:p>
          <a:p>
            <a:r>
              <a:rPr lang="en-US" sz="2800" dirty="0">
                <a:solidFill/>
                <a:latin typeface="Calibri"/>
              </a:rPr>
              <a:t>        landing</a:t>
            </a:r>
            <a:br>
              <a:rPr lang="en-US" dirty="0"/>
            </a:br>
            <a:r>
              <a:rPr lang="en-US" dirty="0" sz="1400">
                <a:solidFill/>
                <a:latin typeface="Calibri"/>
              </a:rPr>
              <a:t>      - </a:t>
            </a:r>
            <a:r>
              <a:rPr lang="en-US" sz="2400" dirty="0">
                <a:solidFill/>
                <a:latin typeface="Calibri"/>
              </a:rPr>
              <a:t>Autonomous flight safety measures</a:t>
            </a:r>
          </a:p>
          <a:p>
            <a:r>
              <a:rPr lang="en-US" sz="2400" dirty="0">
                <a:solidFill/>
                <a:latin typeface="Calibri"/>
              </a:rPr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Replacing various components to evaluate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2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This video shows a “boosted hop”, engine always on, to </a:t>
            </a:r>
            <a:r>
              <a:rPr lang="en-US" sz="2800" b="1" dirty="0">
                <a:solidFill/>
                <a:latin typeface="Calibri"/>
              </a:rPr>
              <a:t>1,200m </a:t>
            </a:r>
            <a:r>
              <a:rPr lang="en-US" sz="2800" dirty="0">
                <a:solidFill/>
                <a:latin typeface="Calibri"/>
              </a:rPr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/>
                <a:latin typeface="Calibri"/>
              </a:rPr>
              <a:t>SuperMOD</a:t>
            </a:r>
            <a:r>
              <a:rPr lang="en-US" sz="3600" b="1" dirty="0">
                <a:solidFill/>
                <a:latin typeface="Calibri"/>
              </a:rPr>
              <a:t> VTVL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3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>
                <a:solidFill/>
                <a:latin typeface="Calibri"/>
              </a:rPr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>
                <a:solidFill/>
                <a:latin typeface="Calibri"/>
              </a:rPr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/>
                <a:latin typeface="Calibri"/>
              </a:rPr>
              <a:t>EXOS HVRR RDRE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4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>
                <a:solidFill/>
                <a:latin typeface="Calibri"/>
              </a:rPr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Two-stage recovery, with supersonic decelerator ballute and GPS guided Joint Precision Air Drop System [JPADS] main chute.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5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1A1A2E"/>
                </a:solidFill>
                <a:latin typeface="Calibri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1A1A2E"/>
                </a:solidFill>
                <a:latin typeface="Calibri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1A1A2E"/>
                </a:solidFill>
                <a:latin typeface="Calibri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1A1A2E"/>
                </a:solidFill>
                <a:latin typeface="Calibri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solidFill/>
                <a:latin typeface="Calibri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solidFill/>
                <a:latin typeface="Calibri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004020202020204" pitchFamily="34" charset="0"/>
              </a:rPr>
              <a:t>Thrust Termination System [TTS] back up to Main Flight Computer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6 /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Lin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Type V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EXOS-SSLC CFC technology 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7 /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8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solidFill/>
                <a:latin typeface="Calibri" panose="020B0604020202020204" pitchFamily="34" charset="0"/>
              </a:rPr>
              <a:t>Systron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9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Two-</a:t>
            </a:r>
            <a:r>
              <a:rPr lang="en-US" altLang="en-US" sz="2800" dirty="0">
                <a:solidFill/>
                <a:latin typeface="Calibri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10 /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/>
                <a:latin typeface="Calibri" panose="020B0604020202020204" pitchFamily="34" charset="0"/>
              </a:rPr>
              <a:t>EXOS can obtain </a:t>
            </a:r>
            <a:r>
              <a:rPr lang="en-US" sz="2800" dirty="0">
                <a:solidFill/>
                <a:latin typeface="Calibri"/>
              </a:rPr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After training missions in the USA, EXOS can apply for 12CFR </a:t>
            </a:r>
            <a:r>
              <a:rPr lang="en-US" sz="2800" dirty="0">
                <a:solidFill/>
                <a:latin typeface="Calibri"/>
              </a:rPr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EXOS can assist ISC with license to conduct test missions in Japan (Hokkaido Spaceport?)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11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~$3.0M and 12-months to free flights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12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/>
                <a:latin typeface="Calibri"/>
              </a:rPr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~$4.5M and 18.months to free flights.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13 /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/>
                <a:latin typeface="Calibri"/>
              </a:rPr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Point to Point [</a:t>
            </a:r>
            <a:r>
              <a:rPr lang="en-US" sz="2800" dirty="0" err="1">
                <a:solidFill/>
                <a:latin typeface="Calibri"/>
              </a:rPr>
              <a:t>PtP</a:t>
            </a:r>
            <a:r>
              <a:rPr lang="en-US" sz="2800" dirty="0">
                <a:solidFill/>
                <a:latin typeface="Calibri"/>
              </a:rPr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/>
                <a:latin typeface="Calibri"/>
              </a:rPr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30352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73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720" y="91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CCFF"/>
                </a:solidFill>
                <a:latin typeface="Calibri"/>
              </a:rPr>
              <a:t>14 / 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62356"/>
            <a:ext cx="12192000" cy="60030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92824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66CC"/>
                </a:solidFill>
                <a:latin typeface="Calibri"/>
              </a:rPr>
              <a:t>www.exosaero.com  |  jquinn@exosaero.com  |  +1-972-740-8355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Calibri"/>
              </a:rPr>
              <a:t>Exos Aerospace Systems &amp; Technologies, Inc.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11112"/>
            <a:ext cx="1164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88AA"/>
                </a:solidFill>
                <a:latin typeface="Calibri"/>
              </a:rPr>
              <a:t>EXOS AEROSPACE  |  www.exosaero.com  |  CONFIDENTIAL   15</a:t>
            </a:r>
          </a:p>
        </p:txBody>
      </p:sp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