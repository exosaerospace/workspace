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1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499BFB-F040-48B8-9E84-D0834302631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81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Backup" id="{432D7212-DC6C-4A2B-8D3D-8238FF68CDF1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"/>
            <a:ext cx="12191695" cy="68578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690"/>
            <a:ext cx="12191695" cy="6095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782" y="1737402"/>
            <a:ext cx="7315200" cy="932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EXOS AEROSPACE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2499383"/>
            <a:ext cx="7315200" cy="569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6B00"/>
                </a:solidFill>
                <a:latin typeface="Arial"/>
              </a:rPr>
              <a:t>AI-Native Industrial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3048009"/>
            <a:ext cx="7315200" cy="388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Arial"/>
              </a:rPr>
              <a:t>A reusable flight-test &amp; composite industrial-base consortium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22" y="5013920"/>
            <a:ext cx="7315200" cy="2849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Commission on the Future of the Navy  ·  Maritime Industrial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22" y="5349191"/>
            <a:ext cx="7315200" cy="233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8E8"/>
                </a:solidFill>
                <a:latin typeface="Arial"/>
              </a:rPr>
              <a:t>Greenville, Texas  ·  August 11,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22" y="5623505"/>
            <a:ext cx="7315200" cy="207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John Quinn, Cofounder &amp; CEO  ·  jquinn@exosaero.com  ·  www.exosaero.com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os_Provided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188" y="320117"/>
            <a:ext cx="134447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THE EXOS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784926"/>
            <a:ext cx="595060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Two decades of reusable rockets. Lunar-proven tanks. A team that does more with 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188" y="1066859"/>
            <a:ext cx="11277318" cy="30479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5333866" y="1371651"/>
            <a:ext cx="3093642" cy="1569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562460" y="1645964"/>
            <a:ext cx="88966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0066CC"/>
                </a:solidFill>
                <a:latin typeface="Arial"/>
              </a:rPr>
              <a:t>2</a:t>
            </a:r>
            <a:r>
              <a:rPr lang="en-US" sz="2000" b="1" dirty="0">
                <a:solidFill>
                  <a:srgbClr val="0066CC"/>
                </a:solidFill>
                <a:latin typeface="Arial"/>
              </a:rPr>
              <a:t>5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+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2460" y="2206020"/>
            <a:ext cx="178414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reusable-rocket heritage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460" y="2423185"/>
            <a:ext cx="17055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Arial"/>
              </a:rPr>
              <a:t>Armadillo (2000) → Exos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863" y="1371651"/>
            <a:ext cx="3093642" cy="1569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869458" y="1645964"/>
            <a:ext cx="63959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0066CC"/>
                </a:solidFill>
                <a:latin typeface="Arial"/>
              </a:rPr>
              <a:t>4 /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458" y="2206020"/>
            <a:ext cx="237084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flights / months, 12-person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458" y="2423185"/>
            <a:ext cx="222541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Arial"/>
              </a:rPr>
              <a:t>SARGE — capital-efficient reuse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3866" y="3154686"/>
            <a:ext cx="3093642" cy="1569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5562460" y="3429000"/>
            <a:ext cx="66845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FF6B00"/>
                </a:solidFill>
                <a:latin typeface="Arial"/>
              </a:rPr>
              <a:t>1 of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2460" y="3989055"/>
            <a:ext cx="24473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FAA-licensed reusable in the U.S.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460" y="4206220"/>
            <a:ext cx="1256754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Arial"/>
              </a:rPr>
              <a:t>~2-day turnaround — a design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0863" y="3154686"/>
            <a:ext cx="3093642" cy="1569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8869458" y="3429000"/>
            <a:ext cx="104676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22C55E"/>
                </a:solidFill>
                <a:latin typeface="Arial"/>
              </a:rPr>
              <a:t>2× Moon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458" y="3989055"/>
            <a:ext cx="21093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Type-5 tanks — lunar-proven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458" y="4206220"/>
            <a:ext cx="223619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7D"/>
                </a:solidFill>
                <a:latin typeface="Arial"/>
              </a:rPr>
              <a:t>now cryo for commercial stations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188" y="5029159"/>
            <a:ext cx="11277318" cy="1142971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TextBox 34"/>
          <p:cNvSpPr txBox="1"/>
          <p:nvPr/>
        </p:nvSpPr>
        <p:spPr>
          <a:xfrm>
            <a:off x="685782" y="5272993"/>
            <a:ext cx="432778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A1628"/>
                </a:solidFill>
                <a:latin typeface="Arial"/>
              </a:rPr>
              <a:t>ACTIVATING AMERICA'S DORMANT INDUSTRIAL CAPACITY</a:t>
            </a:r>
            <a:r>
              <a:rPr lang="en-US" sz="1200" b="1" dirty="0">
                <a:solidFill>
                  <a:srgbClr val="0A1628"/>
                </a:solidFill>
                <a:latin typeface="Arial"/>
              </a:rPr>
              <a:t/>
            </a:r>
            <a:r>
              <a:rPr sz="1200" b="1" dirty="0">
                <a:solidFill>
                  <a:srgbClr val="0A1628"/>
                </a:solidFill>
                <a:latin typeface="Arial"/>
              </a:rPr>
              <a:t/>
            </a:r>
            <a:r>
              <a:rPr lang="en-US" sz="1200" b="1" dirty="0">
                <a:solidFill>
                  <a:srgbClr val="0A1628"/>
                </a:solidFill>
                <a:latin typeface="Arial"/>
              </a:rPr>
              <a:t/>
            </a:r>
            <a:endParaRPr sz="1200" b="1" dirty="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782" y="5600645"/>
            <a:ext cx="605774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141414"/>
                </a:solidFill>
                <a:latin typeface="Arial"/>
              </a:rPr>
              <a:t>ACTIVATING AMERICA'S DORMANT INDUSTRIAL CAPACITY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782" y="5935917"/>
            <a:ext cx="629659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5A6B7D"/>
                </a:solidFill>
                <a:latin typeface="Arial"/>
              </a:rPr>
              <a:t>Profitable in 2025  ·  102% four-year revenue CAGR  ·  management-prepared figures in the data room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508E067-3056-7375-73D1-341587C8C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12" y="1114233"/>
            <a:ext cx="3473274" cy="38980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"/>
            <a:ext cx="12191695" cy="7924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2545"/>
            <a:ext cx="12191695" cy="4571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50" y="167721"/>
            <a:ext cx="7315200" cy="388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Leadership — the team that built Exos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525852"/>
            <a:ext cx="7315200" cy="1943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Navy discipline, propulsion &amp; recovery, flight-ops, and capital markets — all built into Exos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50" y="1143057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3865" y="1371651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John Quinn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65" y="1638344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CEO &amp; Co-Founder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65" y="1924087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11 years building Exos — drove it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65" y="2099343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profitability in 2025. Managed $1B+ FPL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5" y="2274598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power-plant construction, adding $43M+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65" y="2449854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revenue — major capital execution in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65" y="2625110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regulated utility. 14.5-year U.S. Navy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865" y="2800365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41414"/>
                </a:solidFill>
                <a:latin typeface="Arial"/>
              </a:rPr>
              <a:t>Submarine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291" y="1143057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1406" y="1371651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Russel Blink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406" y="1638344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CTO &amp; Co-Founder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406" y="1924087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Exos's technical bench — has built hundreds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406" y="2099343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of rocket engines and dozens of flying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406" y="2274598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vehicles. Anchors propulsion and vehicle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406" y="2449854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engineering.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0831" y="1143057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18947" y="1371651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Neil Milburn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8947" y="1638344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COO &amp; Co-Founder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8947" y="1924087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Longtime Armadillo Aerospace veteran. FAA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8947" y="2099343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liaison; drives operational excellence,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8947" y="2274598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program execution, and turnarounds.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50" y="3657594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3865" y="3886188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David Mitchell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865" y="4152881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President &amp; Co-Founder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865" y="4438624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4th-generation energy entrepreneur; secured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865" y="4613880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the private capital that built Exos's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865" y="4789135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reusable rockets (prior family company sold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865" y="4964391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to CBS). Leads financing &amp; investor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865" y="5139647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relations.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291" y="3657594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41406" y="3886188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Kyle Ballard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406" y="4152881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Chief Financial Officer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406" y="4438624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With Exos for years — responsible first 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1406" y="4613880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foremost for Exos financial accuracy: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1406" y="4789135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reporting, controls, diligence, 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1406" y="4964391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public-listing (TXSE) prep.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0831" y="3657594"/>
            <a:ext cx="3505112" cy="228594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18947" y="3886188"/>
            <a:ext cx="7315200" cy="2590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Phil Eaton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8947" y="4152881"/>
            <a:ext cx="7315200" cy="1683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Propulsion &amp; Recovery Design Engineer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8947" y="4438624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Exos's core engine — designs the propulsion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8947" y="4613880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and recovery systems that make reusable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18947" y="4789135"/>
            <a:ext cx="7315200" cy="174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flight and intact hardware recovery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711" y="123251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07898"/>
            <a:ext cx="7315200" cy="4096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rial"/>
              </a:rPr>
              <a:t>ANSWERING THE COMMISSION'S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62308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On the terms of the Maritime Industrial Base Working Group — their concern, our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23165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937" y="1508099"/>
            <a:ext cx="7315200" cy="253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5A6B7D"/>
                </a:solidFill>
                <a:latin typeface="Arial"/>
              </a:rPr>
              <a:t>THE COMMISSION'S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9375" y="1508099"/>
            <a:ext cx="7315200" cy="253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66CC"/>
                </a:solidFill>
                <a:latin typeface="Arial"/>
              </a:rPr>
              <a:t>EXOS'S ANSWER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5291" y="1770362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444" y="2073028"/>
            <a:ext cx="11341111" cy="793877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937" y="2103507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Can the U.S. base build,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7" y="2387035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sustain, and SURGE?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2559" y="2125921"/>
            <a:ext cx="482503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b="0" dirty="0">
                <a:solidFill>
                  <a:srgbClr val="141414"/>
                </a:solidFill>
                <a:latin typeface="Arial"/>
              </a:rPr>
              <a:t>IF we learn how to enable commercialization and support expansion by 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2559" y="2381096"/>
            <a:ext cx="474924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141414"/>
                </a:solidFill>
                <a:latin typeface="Arial"/>
              </a:rPr>
              <a:t>leveraging business AI to multiply productivity and utilize the standing 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32559" y="2636271"/>
            <a:ext cx="51440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141414"/>
                </a:solidFill>
                <a:latin typeface="Arial"/>
              </a:rPr>
              <a:t>production capacity to 85% then support targeted growth like OSC intended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267" y="2986509"/>
            <a:ext cx="432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7" y="2996620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Supplier-tier health: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7" y="3280147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composites &amp; propulsion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2559" y="3065730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Own the resin → tank → vehicle stack; domestic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2559" y="3320905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propulsion options (GTL RDRE, Vaya hybrid motors)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444" y="3615170"/>
            <a:ext cx="11341111" cy="793877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937" y="3889732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Workforce scarcity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2559" y="3795349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AI-native operations; standard robots now, humanoids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2559" y="4050524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the 2nd &amp; 3rd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7" y="4782845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Speed — cut 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7" y="5066373"/>
            <a:ext cx="7315200" cy="325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2558" y="4765662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OTA on-ramp, SBIR Phase III, firm-fixed-price — 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2558" y="5050877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outcomes, not oversight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291" y="5555458"/>
            <a:ext cx="11341111" cy="737172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38247" y="5683045"/>
            <a:ext cx="7315200" cy="3855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WE ARE THE PROFILE YOU'RE STUDYING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247" y="5994926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CBD8E8"/>
                </a:solidFill>
                <a:latin typeface="Arial"/>
              </a:rPr>
              <a:t>a small, non-traditional, agile supplier — and our answer runs through your own levers.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76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36251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COMMISSION'S 8 QUESTIONS — DIRECT RESPONSES (1–4)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62308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Every question: a prepared answer, linked to the hardware, process, and vision that backs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23165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937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D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1451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66CC"/>
                </a:solidFill>
                <a:latin typeface="Arial"/>
              </a:rPr>
              <a:t>PREPARED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9361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EVIDENCE &amp; LINKAGE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291" y="1742009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291" y="1869597"/>
            <a:ext cx="11341111" cy="985259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761" y="201136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1 · Overview of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761" y="2266536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work, programs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1" y="25217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1451" y="2039713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Reusable suborbital flight-test &amp; de-risk platform — BLK3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1451" y="2266536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(FAA-licensed 3/13/26, ~2-day turnaround — a design target); active USAF HVRR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1451" y="2493358"/>
            <a:ext cx="417902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vehicle build (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RDRE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propulsion GFE); Project KARMEN rapid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1451" y="2720180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reconstitution; 18% of Scorpius (lunar-flown Type-5 tanks).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9361" y="2053890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Exos Story ·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9361" y="2266536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KARMEN · How the pieces 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9361" y="247918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together. Tour: composites,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9361" y="269182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integration, BLK3.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761" y="3067502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2 · 5-year workload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761" y="332267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man-hours (waterfall)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1451" y="3095854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Built from our 5-year financial model ($1.55M→$120M by program: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1451" y="3322677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Scorpius, HVRR/TACFI-STRATFI, BLK4, payload). Man-hour equivalent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1451" y="3549499"/>
            <a:ext cx="468076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shown; final headcount plan to confirm.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 5-yr capital: $25M equity (expanded) + ~$59.7M CapEx, $38M debt-financed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89361" y="311003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Slide: 5-Year Workload Projection.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9361" y="332267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Basis: Exos financial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291" y="3981879"/>
            <a:ext cx="11341111" cy="985259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761" y="4123643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3 · Recruitment,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761" y="437881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retention &amp; attrition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761" y="4633993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(WC/BC)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1451" y="4045209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Small senior core with heavy AI-native leverage; scarce trades 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1451" y="4272032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composites &amp; propulsion techs; cross-training, apprenticeships &amp;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1451" y="4498854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university pipelines. Standard bots + humanoids backfill the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1451" y="4725676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(quantified). Attrition/hiring figures to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9361" y="4166172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Automation Rollout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9361" y="4378818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(quantified) · The automation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9361" y="4591463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· Mission Control.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937" y="516484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4 · 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761" y="5434959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skills/trades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761" y="569013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shortfall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1451" y="5208136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Scarce: composites layup/bonding/NDE, propulsion test,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1451" y="5434959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licensed-vehicle integration. Strategy: AI augmentation, standard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1451" y="5661781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robots now + humanoids on 2nd/3rd shift, workforce training as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1451" y="5888603"/>
            <a:ext cx="408605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line of business.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  Requires access to latest humanoid robots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89361" y="5222313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The automation gap 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9361" y="5434959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Output grows with shifts. Tour: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9361" y="564760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composites/build.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864" y="213638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36251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COMMISSION'S 8 QUESTIONS — DIRECT RESPONSES (5–8)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62308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Prepared answers, linked to supporting evidence in this deck and on the facilities tour.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23165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937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D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1451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66CC"/>
                </a:solidFill>
                <a:latin typeface="Arial"/>
              </a:rPr>
              <a:t>PREPARED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9361" y="148683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EVIDENCE &amp; LINKAGE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291" y="1742009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291" y="1869597"/>
            <a:ext cx="11341111" cy="86830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761" y="201136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5 · Facilities capital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761" y="2266536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planned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1451" y="2039713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Minimal fixed infrastructure (pad + power/comms; mobile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1451" y="2266536"/>
            <a:ext cx="479297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module). Planned: BLK4 </a:t>
            </a:r>
            <a:r>
              <a:rPr lang="en-US" sz="1200" dirty="0">
                <a:solidFill>
                  <a:srgbClr val="141414"/>
                </a:solidFill>
                <a:latin typeface="Arial"/>
              </a:rPr>
              <a:t>RDRE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build-out, propulsion/test infrastructure,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1451" y="2493358"/>
            <a:ext cx="409246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parallel payload integration. Capex figures to </a:t>
            </a:r>
            <a:r>
              <a:rPr lang="en-US" sz="1200" dirty="0">
                <a:solidFill>
                  <a:srgbClr val="141414"/>
                </a:solidFill>
                <a:latin typeface="Arial"/>
              </a:rPr>
              <a:t>5yr ~$59.7M total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89361" y="2053890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What the anchor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9361" y="2266536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buys · The pilot fund. Tour: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9361" y="247918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Greenville facility.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61" y="2950546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6 · Supply-chain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761" y="320572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challenges (booked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761" y="3460896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anticipated)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1451" y="2978899"/>
            <a:ext cx="464870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Composite raw materials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 (carbon fiber)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 &amp; specialty resins (lead time)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1451" y="3205721"/>
            <a:ext cx="516647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141414"/>
                </a:solidFill>
                <a:latin typeface="Arial"/>
              </a:rPr>
              <a:t>— mitigated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by owning the </a:t>
            </a:r>
            <a:r>
              <a:rPr sz="1200" b="0" dirty="0" err="1">
                <a:solidFill>
                  <a:srgbClr val="141414"/>
                </a:solidFill>
                <a:latin typeface="Arial"/>
              </a:rPr>
              <a:t>resin→tank→vehicle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 stack; propulsion long-lead;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1451" y="3432544"/>
            <a:ext cx="542135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commodity avionics. 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Bulk buys and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Low unit count </a:t>
            </a:r>
            <a:r>
              <a:rPr lang="en-US" sz="1200" dirty="0">
                <a:solidFill>
                  <a:srgbClr val="141414"/>
                </a:solidFill>
                <a:latin typeface="Arial"/>
              </a:rPr>
              <a:t>of reusables =less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9361" y="2993076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How the pieces 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9361" y="320572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together · What the anchor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9361" y="341836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buys.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291" y="3747968"/>
            <a:ext cx="11341111" cy="86830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937" y="3889732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7 · Surge capacity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761" y="414490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plant/equipment &amp;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761" y="4400082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5262" y="3718197"/>
            <a:ext cx="505151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Reuse = more tests per unit built (~2-day turnaround — a design target); KARMEN offered to</a:t>
            </a:r>
            <a:r>
              <a:rPr lang="en-US" sz="1200" dirty="0">
                <a:solidFill>
                  <a:srgbClr val="141414"/>
                </a:solidFill>
                <a:latin typeface="Arial"/>
              </a:rPr>
              <a:t/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45262" y="3945019"/>
            <a:ext cx="474880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fl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y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 to space twice in 48 </a:t>
            </a:r>
            <a:r>
              <a:rPr sz="1200" b="0" dirty="0" err="1">
                <a:solidFill>
                  <a:srgbClr val="141414"/>
                </a:solidFill>
                <a:latin typeface="Arial"/>
              </a:rPr>
              <a:t>hrs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 for $3M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. A reusable LIQUID platform burns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5262" y="4171841"/>
            <a:ext cx="514243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no SRM per flight 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– underutilized rocket winders can produce motor casings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45262" y="4398664"/>
            <a:ext cx="533319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b="0" dirty="0">
                <a:solidFill>
                  <a:srgbClr val="141414"/>
                </a:solidFill>
                <a:latin typeface="Arial"/>
              </a:rPr>
              <a:t> and support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weapons surge; 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build more by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automat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ing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141414"/>
                </a:solidFill>
                <a:latin typeface="Arial"/>
              </a:rPr>
              <a:t>Industry 2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nd/3rd shift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s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9361" y="393226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Project KARMEN ·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9361" y="414490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grows with shifts · Cost-share.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761" y="482891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8 · Productivity 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761" y="5084093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relief from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761" y="533926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law/reg/policy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1756" y="4692115"/>
            <a:ext cx="506664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00" b="0" dirty="0">
                <a:solidFill>
                  <a:srgbClr val="141414"/>
                </a:solidFill>
                <a:latin typeface="Arial"/>
              </a:rPr>
              <a:t>Enable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AI-native 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management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ops &amp; reusability as productivity multipliers.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1756" y="4918937"/>
            <a:ext cx="471443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141414"/>
                </a:solidFill>
                <a:latin typeface="Arial"/>
              </a:rPr>
              <a:t>Relief: </a:t>
            </a:r>
            <a:r>
              <a:rPr sz="1200" b="0" dirty="0">
                <a:solidFill>
                  <a:srgbClr val="141414"/>
                </a:solidFill>
                <a:latin typeface="Arial"/>
              </a:rPr>
              <a:t>right-size Part 450, predictable range/airspace, small-business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1756" y="5145759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ITAR/EAR safe-harbors, fuller SBIR Phase III, move to OTA + FFP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1756" y="5372581"/>
            <a:ext cx="44462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41414"/>
                </a:solidFill>
                <a:latin typeface="Arial"/>
              </a:rPr>
              <a:t>(buy outcomes).</a:t>
            </a:r>
            <a:r>
              <a:rPr lang="en-US" sz="1200" b="0" dirty="0">
                <a:solidFill>
                  <a:srgbClr val="141414"/>
                </a:solidFill>
                <a:latin typeface="Arial"/>
              </a:rPr>
              <a:t> Support International Trade Zone (DHS CRADA)</a:t>
            </a:r>
            <a:endParaRPr sz="12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89361" y="487144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Slides: Mission Control · The OTA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9361" y="5084093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rial"/>
              </a:rPr>
              <a:t>model is the home · The ask.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291" y="5711398"/>
            <a:ext cx="11341111" cy="425291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38247" y="5824809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CBD8E8"/>
                </a:solidFill>
                <a:latin typeface="Arial"/>
              </a:rPr>
              <a:t>Facilities tour — composites/build → integration → test → hover/ops. The live hardware is the physical evidence behind Q1, Q4, Q5 &amp; Q6.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312"/>
            <a:ext cx="12191695" cy="6379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480310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5-YEAR WORKLOAD PROJECTION — FROM OUR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80636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Workload driven by the Exos 5-year revenue plan (model v9, Cash Flow conservative / building-financed case), by program. Fiscal years begin in July — spans 2027–2032; man-hours illustrative.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07571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6173" y="1302541"/>
            <a:ext cx="155940" cy="1559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819" y="132380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BLK4 launcher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5959" y="1302541"/>
            <a:ext cx="155940" cy="1559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18604" y="132380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Scorpius tanks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714" y="1302541"/>
            <a:ext cx="155940" cy="15594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6360" y="132380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Propulsion (RDRE/TACFI/STRATFI)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6962" y="1302541"/>
            <a:ext cx="155940" cy="1559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9608" y="132380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SARGE / other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88520" y="4747404"/>
            <a:ext cx="10419647" cy="0"/>
          </a:xfrm>
          <a:prstGeom prst="bentConnector3">
            <a:avLst/>
          </a:prstGeom>
          <a:ln w="10632">
            <a:solidFill>
              <a:srgbClr val="0A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68987" y="4642130"/>
            <a:ext cx="1204993" cy="105273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68987" y="4531843"/>
            <a:ext cx="1204993" cy="110286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68987" y="4519311"/>
            <a:ext cx="1204993" cy="1253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-886115" y="4292489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$9.1M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886115" y="48608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2027E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886115" y="508054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~57k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886115" y="525775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~30 FTE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7858" y="4531843"/>
            <a:ext cx="1204993" cy="2155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7858" y="4366413"/>
            <a:ext cx="1204993" cy="16543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7858" y="4218529"/>
            <a:ext cx="1204993" cy="14788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2755" y="3991707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$21.1M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755" y="48608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2028E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755" y="508054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~101k hrs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755" y="525775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~53 FTE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6729" y="4669702"/>
            <a:ext cx="1204993" cy="7770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6729" y="4298737"/>
            <a:ext cx="1204993" cy="3709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66729" y="3992942"/>
            <a:ext cx="1204993" cy="30579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66729" y="3807460"/>
            <a:ext cx="1204993" cy="18548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11626" y="358063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$37.5M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1626" y="48608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2029E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11626" y="508054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~129k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11626" y="525775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~68 FTE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1626" y="5427870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Arial"/>
              </a:rPr>
              <a:t>+ humanoids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5600" y="4373933"/>
            <a:ext cx="1204993" cy="37347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65600" y="3830019"/>
            <a:ext cx="1204993" cy="54391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65600" y="3484120"/>
            <a:ext cx="1204993" cy="345899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65600" y="3205896"/>
            <a:ext cx="1204993" cy="278223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10497" y="2979074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$61.6M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0497" y="48608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2030E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0497" y="508054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~167k hrs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0497" y="525775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~88 FTE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10497" y="5427870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Arial"/>
              </a:rPr>
              <a:t>+ humanoids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64471" y="3702186"/>
            <a:ext cx="1204993" cy="1045217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64471" y="2774775"/>
            <a:ext cx="1204993" cy="9274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164471" y="2225848"/>
            <a:ext cx="1204993" cy="548927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164471" y="1699480"/>
            <a:ext cx="1204993" cy="52636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09368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$121.6M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368" y="48608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2031E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9368" y="508054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~272k hrs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9368" y="525775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~143 FTE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9368" y="5427870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Arial"/>
              </a:rPr>
              <a:t>+ humanoids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26458" y="1883773"/>
            <a:ext cx="4890854" cy="111993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39104" y="208224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HUMANOIDS IN THE 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9104" y="2323241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Revenue scales ~13× (2027→2032); human headcount only ~5×.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9104" y="254297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Humanoids + Mission Control cover the 2nd &amp; 3rd shift from 2029 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9104" y="271309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the productivity lever that bends the man-hour curve down.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5291" y="5654693"/>
            <a:ext cx="11341111" cy="68046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7937" y="580354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Revenue = Exos 5-year financial model v9 — Cash Flow (conservative, building-financed) case; fiscal years, Jul start, spans 2027–2032.  Standard bots + humanoids quantified next slide.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937" y="6016191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Man-hours illustrative: revenue ÷ revenue-per-FTE (rising as standard robots + humanoids and Mission Control cover added shifts) × ~1,900 hrs/FTE. Headcount plan to confirm.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312"/>
            <a:ext cx="12191695" cy="6379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480310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AUTOMATION ROLLOUT — QUANTIFIED (STANDARD BOTS + HUMANOIDS)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806367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First rollout: 20% of humanoids run as standard bots — delivery lag + required bot CLI/integration builds — ramping to ~92% humanoid-capable by 2031.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07571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6173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B7D"/>
                </a:solidFill>
                <a:latin typeface="Arial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9428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2027E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7067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2028E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4706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2029E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2345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2030E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9984" y="147265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2031E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291" y="1699480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291" y="1827067"/>
            <a:ext cx="11341111" cy="45364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526" y="1968831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Standard bots (cumulative units)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9428" y="196883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7067" y="196883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706" y="196883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2345" y="196883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9984" y="196883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526" y="2493358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Humanoids ordered (cumulative units)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9428" y="249335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7067" y="249335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4706" y="249335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2345" y="249335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9984" y="2493358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90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291" y="2876120"/>
            <a:ext cx="11341111" cy="45364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526" y="3017884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Humanoids productive (after 20% first-rollout +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526" y="3230530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builds)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9428" y="301788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rial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7067" y="301788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rial"/>
              </a:rPr>
              <a:t>~2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706" y="301788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rial"/>
              </a:rPr>
              <a:t>~13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2345" y="301788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rial"/>
              </a:rPr>
              <a:t>~40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9984" y="3017884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rial"/>
              </a:rPr>
              <a:t>~83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526" y="3542411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Bot capex, cumulative ($M)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9428" y="35424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Arial"/>
              </a:rPr>
              <a:t>0.6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47067" y="35424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Arial"/>
              </a:rPr>
              <a:t>3.1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706" y="35424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Arial"/>
              </a:rPr>
              <a:t>7.8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2345" y="35424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Arial"/>
              </a:rPr>
              <a:t>14.8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9984" y="3542411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Arial"/>
              </a:rPr>
              <a:t>25.2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291" y="3925173"/>
            <a:ext cx="11341111" cy="45364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4526" y="4066937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FTE-equivalent labor offset (cumulative)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29428" y="406693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47067" y="406693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4706" y="406693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59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2345" y="406693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148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9984" y="4066937"/>
            <a:ext cx="7315200" cy="3132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296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291" y="4492229"/>
            <a:ext cx="11341111" cy="793877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761" y="4655257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As a DIB supplier, early access to the latest standard and humanoid robots secures this capability against a challenging workforce-development environment.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761" y="494587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~$25M in bots → ~296 FTE-equivalent of surge labor by 2031 — the productivity behind ~$122M revenue on ~145 human staff.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291" y="5371165"/>
            <a:ext cx="11341111" cy="524526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3761" y="5470400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ACCELERANT — early, targeted capital (e.g. DPA Title III / an OTA program) front-loads this rollout: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761" y="5661781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a focused early investment pulls the FTE-equivalent surge — and the revenue it unlocks — forward by ~12–18 months.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291" y="6448571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Planning assumptions: standard bot ≈ $150K installed (~1.5 FTE offset); humanoid ≈ $200K all-in incl. CLI/integration build (~1.5 FTE at first rollout → ~2.7 FTE on 2nd/3rd shift at maturity).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312"/>
            <a:ext cx="12191695" cy="6379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5291" y="480310"/>
            <a:ext cx="7315200" cy="361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5-YEAR CAPITAL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827632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The $10M base case unlocks the plan; the live raise expands to $25M. Total capital to execute the full plan ≈ $110M (Exos CapEx + consortium pilot fund).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075719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291" y="1302541"/>
            <a:ext cx="2636808" cy="3827625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1600245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EQUITY — BASE CASE (MODELED)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883773"/>
            <a:ext cx="7315200" cy="650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$10M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1166" y="2167301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enabler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" y="2422476"/>
            <a:ext cx="2268223" cy="0"/>
          </a:xfrm>
          <a:prstGeom prst="bentConnector3">
            <a:avLst/>
          </a:prstGeom>
          <a:ln w="9525">
            <a:solidFill>
              <a:srgbClr val="2A3F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584" y="2635122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Scorpius ROFR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437392" y="2613857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$3.4M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3003708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RDRE / TACFI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4437392" y="2982443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$4.1M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" y="3372294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BLK3 vehicle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4437392" y="3351029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$2.5M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231" y="4364641"/>
            <a:ext cx="2324927" cy="637937"/>
          </a:xfrm>
          <a:prstGeom prst="round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819" y="4513493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Unlocks TACFI/STRATFI — without it 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819" y="4655257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plan doesn't start.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75511" y="1302541"/>
            <a:ext cx="2636808" cy="3827625"/>
          </a:xfrm>
          <a:prstGeom prst="roundRect">
            <a:avLst/>
          </a:prstGeom>
          <a:solidFill>
            <a:srgbClr val="0A1628"/>
          </a:solidFill>
          <a:ln w="317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9804" y="1600245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EQUITY — EXPANDED (LIVE RAISE)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9804" y="1883773"/>
            <a:ext cx="7315200" cy="650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$25M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1386" y="2167301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accelerator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59804" y="2422476"/>
            <a:ext cx="2268222" cy="0"/>
          </a:xfrm>
          <a:prstGeom prst="bentConnector3">
            <a:avLst/>
          </a:prstGeom>
          <a:ln w="9525">
            <a:solidFill>
              <a:srgbClr val="2A3F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9804" y="2642210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Scorpius ROFR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1687173" y="2613857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$3.4M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9804" y="3010796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RDRE development (GTL / MSFC)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1687173" y="2982443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$8.0M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9804" y="3379382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BLK4 build (next-gen PSRLV)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1687173" y="3351029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$9.0M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9804" y="3747968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Working capital · Part 450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9804" y="3876973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contingency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1687173" y="3719615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$4.6M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1451" y="4364641"/>
            <a:ext cx="2324927" cy="637937"/>
          </a:xfrm>
          <a:prstGeom prst="round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9039" y="4513493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Adds the hardware path above the base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9039" y="4655257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RDRE down-select + next-gen BLK4.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7" y="1302541"/>
            <a:ext cx="5670555" cy="182875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8493" y="1472658"/>
            <a:ext cx="7315200" cy="2409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5-YEAR CAPEX  —  ~$59.7M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8493" y="1727833"/>
            <a:ext cx="5245264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8493" y="1905038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Equipment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8557" y="1883773"/>
            <a:ext cx="7315200" cy="2409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66CC"/>
                </a:solidFill>
                <a:latin typeface="Arial"/>
              </a:rPr>
              <a:t>~$21.7M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8493" y="2124772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Y1 $2.1M · Y2 $5.4M · Y3 $0.3M · Y4 $7.5M · Y5 $6.4M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8493" y="2500446"/>
            <a:ext cx="7315200" cy="204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Facilities  (Y4 $20M + Y5 $18M)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8557" y="2479181"/>
            <a:ext cx="7315200" cy="2409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6B00"/>
                </a:solidFill>
                <a:latin typeface="Arial"/>
              </a:rPr>
              <a:t>$38M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8493" y="2720180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DEBT-FINANCED via commercial mortgage — not equity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8493" y="2911561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Equipment funded by the raise + internally generated cash.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5847" y="3258883"/>
            <a:ext cx="5670555" cy="1871283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8493" y="3457352"/>
            <a:ext cx="7315200" cy="192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OPERATIONS SELF-FUND FROM YEAR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8493" y="3854291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Free cash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75419" y="4045672"/>
            <a:ext cx="7315200" cy="228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BD8E8"/>
                </a:solidFill>
                <a:latin typeface="Arial"/>
              </a:rPr>
              <a:t>−$1.5M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75419" y="4272495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BD8E8"/>
                </a:solidFill>
                <a:latin typeface="Arial"/>
              </a:rPr>
              <a:t>Y1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472" y="4045672"/>
            <a:ext cx="7315200" cy="228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BD8E8"/>
                </a:solidFill>
                <a:latin typeface="Arial"/>
              </a:rPr>
              <a:t>−$0.9M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472" y="4272495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BD8E8"/>
                </a:solidFill>
                <a:latin typeface="Arial"/>
              </a:rPr>
              <a:t>Y2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3525" y="4045672"/>
            <a:ext cx="7315200" cy="228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Arial"/>
              </a:rPr>
              <a:t>+$9.3M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73525" y="4272495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BD8E8"/>
                </a:solidFill>
                <a:latin typeface="Arial"/>
              </a:rPr>
              <a:t>Y3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2578" y="4045672"/>
            <a:ext cx="7315200" cy="228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Arial"/>
              </a:rPr>
              <a:t>+$8.0M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2578" y="4272495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BD8E8"/>
                </a:solidFill>
                <a:latin typeface="Arial"/>
              </a:rPr>
              <a:t>Y4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1631" y="4045672"/>
            <a:ext cx="7315200" cy="228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Arial"/>
              </a:rPr>
              <a:t>+$32.9M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1631" y="4272495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BD8E8"/>
                </a:solidFill>
                <a:latin typeface="Arial"/>
              </a:rPr>
              <a:t>Y5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8493" y="4563111"/>
            <a:ext cx="5245264" cy="453644"/>
          </a:xfrm>
          <a:prstGeom prst="round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0257" y="4704875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The $10M covers the acquisition, the RDRE match, the BLK3 build,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50257" y="4846638"/>
            <a:ext cx="7315200" cy="168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and the Year 1–2 bridge.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5291" y="5229401"/>
            <a:ext cx="11341111" cy="552879"/>
          </a:xfrm>
          <a:prstGeom prst="round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2113" y="5371165"/>
            <a:ext cx="7315200" cy="216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TOTAL 5-YEAR CAPITAL TO EXECUTE THE PLAN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2113" y="5576723"/>
            <a:ext cx="7315200" cy="1807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~$59.7M  Exos CapEx     +     $50M  consortium pilot fund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38557" y="5342812"/>
            <a:ext cx="7315200" cy="3855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≈ $110M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644" y="5860250"/>
            <a:ext cx="7315200" cy="156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Base $10M modeled in v9; $25M expanded is the current target. Revenue, CapEx &amp; FCF per the model's Cash Flow (conservative) case; consortium pilot fund detailed on the pilot-fund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485"/>
            <a:ext cx="12191695" cy="53870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933955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STRANDED CAPITAL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1256468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The competitive market already stranded enormous capacity — hundreds of millions, much of it just sitting idle.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291" y="1486834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5291" y="1646318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B7D"/>
                </a:solidFill>
                <a:latin typeface="Arial"/>
              </a:rPr>
              <a:t>CAPITAL RAISED  → 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173" y="2053890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Virgin Orbit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2048" y="1926302"/>
            <a:ext cx="3331451" cy="368586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6911" y="2060978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$1B+  →  Chapter 11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173" y="263512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Astra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2048" y="2507534"/>
            <a:ext cx="1665725" cy="368586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1185" y="264221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$500M  →  2 of 7 to orbit, taken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173" y="321635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ABL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2048" y="3088766"/>
            <a:ext cx="1535799" cy="368586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1259" y="322344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$461M  →  RS1 failed, exited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173" y="379758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72048" y="3669998"/>
            <a:ext cx="333145" cy="368586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18604" y="380467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$100M  →  Chapter 11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173" y="4198069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+ Relativity — Terran 1 retired after a single flight → pivot.  Sector-wide: $300B+ into ~1,900 companies since 2009.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5833" y="1926302"/>
            <a:ext cx="3260569" cy="106322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90126" y="2011361"/>
            <a:ext cx="7315200" cy="5542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6B00"/>
                </a:solidFill>
                <a:latin typeface="Arial"/>
              </a:rPr>
              <a:t>&lt;15%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0126" y="2500446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Virgin Orbit machine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0126" y="2670563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last year — an 85% idle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5833" y="3117119"/>
            <a:ext cx="3260569" cy="1063229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90126" y="3322677"/>
            <a:ext cx="7315200" cy="156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WHAT EXOS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0126" y="3538867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Astra could have reached orbit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0126" y="3694807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faster and far cheaper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0126" y="3850747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de-risking on Exos reuse 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0126" y="4006687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recovery — it never did.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291" y="4563111"/>
            <a:ext cx="11341111" cy="779701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38247" y="4676522"/>
            <a:ext cx="7315200" cy="4096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85% IDLE GAP IS THE OPPORTUNITY.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8247" y="5045108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EAFBF0"/>
                </a:solidFill>
                <a:latin typeface="Arial"/>
              </a:rPr>
              <a:t>The consortium turns stranded capacity into national throughput — for a fraction of building new.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76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593722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WHY BURN-UP REENTRY DOESN'T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0560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The disposable model — deorbit and burn up — is already changing the stratosphere. At constellation scale it breaks.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132424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291" y="1373423"/>
            <a:ext cx="5670555" cy="3331451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6290" y="167821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THE STRATOSPHERE IS ALREADY CHANGING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290" y="1897949"/>
            <a:ext cx="7315200" cy="9157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10% →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290" y="262448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of stratospheric aerosol particles carry spacecraft-reentry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290" y="27804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8E8"/>
                </a:solidFill>
                <a:latin typeface="Arial"/>
              </a:rPr>
              <a:t>metals — today ~10%, rising toward 50%+ (NOAA,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290" y="2968267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054" y="2978899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20+ exotic elements (aluminum, lithium, niobium, hafnium) matched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054" y="3120663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to rocket &amp; satellite alloys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290" y="335102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054" y="3361662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Reentry metal influx now exceeds natural cosmic-dust influx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054" y="3503426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some metals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290" y="373379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054" y="3744424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First stratospheric pollution unquestionably tied to reentering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054" y="3886188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space debris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90" y="411655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054" y="412718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High-altitude stratospheric sampling, NASA WB-57 (NOAA SABRE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054" y="4268951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mission)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9375" y="1373423"/>
            <a:ext cx="5387028" cy="157357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7844" y="1550628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THE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7844" y="181997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Constellations scaling to tens of thousands of satellites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7844" y="213186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~5-year lifespans → tens of thousands of reentries per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7844" y="244374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Deorbit-to-burn-up is the default disposal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9375" y="3117119"/>
            <a:ext cx="5387028" cy="158775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7844" y="329432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THE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7844" y="356367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Recover and reuse hardware — Exos recovery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7844" y="3875556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Service &amp; refuel in space, don't deorbit — Scorpius cryo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7844" y="4187436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•  depots and commercial stations extend life on orbit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291" y="4889168"/>
            <a:ext cx="11341111" cy="637937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38247" y="4974226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DISPOSABLE BURN-UP DOESN'T SCALE — RECOVER, REUSE, REFUEL.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247" y="529319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EAFBF0"/>
                </a:solidFill>
                <a:latin typeface="Arial"/>
              </a:rPr>
              <a:t>reusability and in-space servicing aren't just cheaper — at constellation scale they're the only sustainable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76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22074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AUTOMATION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44587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The U.S. is behind on the standard robots that raise utilization — humanoids then fill what fixed automation can't.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174954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5291" y="146557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B7D"/>
                </a:solidFill>
                <a:latin typeface="Arial"/>
              </a:rPr>
              <a:t>ROBOT DENSITY — industrial robots per 10,000 manufacturing workers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291" y="196883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South Korea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1750" y="1798715"/>
            <a:ext cx="5245264" cy="4678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4601" y="1940479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1,220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91" y="2606769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Singapore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1750" y="2436652"/>
            <a:ext cx="3516906" cy="4678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6244" y="2578416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818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291" y="3244706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Germany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1750" y="3074590"/>
            <a:ext cx="1930429" cy="4678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9766" y="3216354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449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291" y="388264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Arial"/>
              </a:rPr>
              <a:t>Japan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51750" y="3712527"/>
            <a:ext cx="1917531" cy="4678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6868" y="3854291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446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291" y="4520582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41414"/>
                </a:solidFill>
                <a:latin typeface="Arial"/>
              </a:rPr>
              <a:t>United States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51750" y="4350465"/>
            <a:ext cx="1319914" cy="467820"/>
          </a:xfrm>
          <a:prstGeom prst="round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99252" y="4492229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Arial"/>
              </a:rPr>
              <a:t>307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2248" y="454893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rank 8th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18479" y="1798715"/>
            <a:ext cx="3047923" cy="141763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2772" y="1990096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TIER 1 — STANDARD ROBOTS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2772" y="2241727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arms · cobots · CNC / FMS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2772" y="2440196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proven, deploy today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2772" y="2638666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this closes the density 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18479" y="3386470"/>
            <a:ext cx="3047923" cy="1077405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02772" y="3549499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TIER 2 — HUMANOIDS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2772" y="380467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legacy lines not built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2772" y="3988967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fixed automation, and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2772" y="417326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2nd &amp; 3rd shift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291" y="4860815"/>
            <a:ext cx="11341111" cy="737172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38247" y="4960050"/>
            <a:ext cx="7315200" cy="3855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GAP IS STANDARD ROBOTS THE U.S. HASN'T INSTALLED.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247" y="5314459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EAFBF0"/>
                </a:solidFill>
                <a:latin typeface="Arial"/>
              </a:rPr>
              <a:t>Deploy standard automation now; humanoids fill the rest. China holds the world's largest installed base (~2M robots).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os_Integra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68" y="0"/>
            <a:ext cx="101687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7548"/>
            <a:ext cx="12191695" cy="66629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338547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DECADES OF FEDERAL R&amp;D — READY TO COMMERCIALIZE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66460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Our partners aren't startups. They hold deep, government-funded technology — much of it never commercialized. Exos is the integrator that ships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291" y="905602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291" y="1160777"/>
            <a:ext cx="5564232" cy="134675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5291" y="1160777"/>
            <a:ext cx="70881" cy="134675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937" y="133089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Advanced materials &amp;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937" y="1610878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58+ competitive SBIR awards since 2000 (DoD · DOE · NASA · NSF)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937" y="1851876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JWST + record UAS heritage; patented shape-memory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7" y="2014905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deployables; fusion-magnet insulation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7" y="2277168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government paid to develop it · Exos commercializes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2170" y="1160777"/>
            <a:ext cx="5564232" cy="134675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2170" y="1160777"/>
            <a:ext cx="70881" cy="134675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4816" y="133089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Ceramics &amp; space optics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816" y="1610878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70+ SBIR awards; additive silicon-carbide mirrors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816" y="1851876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selected for NASA flagship telescopes; hypersonic thermal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816" y="2014905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816" y="2277168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government paid to develop it · Exos commercializes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291" y="2706004"/>
            <a:ext cx="5564232" cy="134675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291" y="2706004"/>
            <a:ext cx="70881" cy="134675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937" y="2876120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Ultralight structures &amp; propulsion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37" y="3156104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NASA- and DARPA-funded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7" y="3397103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record-light composite cryotanks + LH2 lines;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7" y="356013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rotating-detonation propulsion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7" y="3822394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government paid to develop it · Exos commercializes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2170" y="2706004"/>
            <a:ext cx="5564232" cy="134675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2170" y="2706004"/>
            <a:ext cx="70881" cy="134675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816" y="2876120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Lunar-proven tank 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816" y="3156104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TRL-9, flown to the Moon twice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816" y="3397103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patented filament winding + trade-secret resin; ~50%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816" y="356013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lighter than metal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816" y="3822394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government paid to develop it · Exos commercializes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291" y="4237054"/>
            <a:ext cx="11341111" cy="425291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38247" y="438945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</a:rPr>
              <a:t>130+ documented competitive federal R&amp;D awards across the set — much of it still dormant. We turn it into product for the space &amp; defense base.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76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22074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WHAT THE ANCHOR CAPITAL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44587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Strategic arbitrage, not a generic acquisition.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174954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291" y="1515187"/>
            <a:ext cx="5245264" cy="3685861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0466" y="1798715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THE SCORPIUS ROFR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466" y="2167301"/>
            <a:ext cx="7315200" cy="698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PAY  $3.4M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466" y="2833591"/>
            <a:ext cx="7315200" cy="5060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2C55E"/>
                </a:solidFill>
                <a:latin typeface="Arial"/>
              </a:rPr>
              <a:t>OWN  $20–40M 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466" y="3379382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8E8"/>
                </a:solidFill>
                <a:latin typeface="Arial"/>
              </a:rPr>
              <a:t>6–12× value  ·  at a frozen 2021 basis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466" y="392517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Exercise the right of first refusal on TRL-9,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466" y="410946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lunar-flown Type-5 composite tank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466" y="4463876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Arial"/>
              </a:rPr>
              <a:t>Arbitrage figures are Exos's own valuation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466" y="4619816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Arial"/>
              </a:rPr>
              <a:t>independent 409A + diligence in the data room.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4083" y="162151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WHAT IT BUILDS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4083" y="2011361"/>
            <a:ext cx="5812319" cy="4536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4200" y="2167301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Resin &amp; matrix chemistry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643" y="2521711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5A6B7D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4083" y="2663474"/>
            <a:ext cx="5812319" cy="4536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4200" y="28194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Type-5 linerless composite tanks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643" y="3173824"/>
            <a:ext cx="7315200" cy="240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5A6B7D"/>
                </a:solidFill>
                <a:latin typeface="Arial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54083" y="3315588"/>
            <a:ext cx="5812319" cy="4536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4200" y="3471529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Reusable vehicle — flight-proven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4083" y="4010231"/>
            <a:ext cx="5812319" cy="850583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4200" y="4169716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One owned stack → a vertically integrated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4200" y="4339833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composite pressure-vessel base for missile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4200" y="450994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bodies, SRM cases, and naval structures.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7548"/>
            <a:ext cx="12191695" cy="66629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338547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PILOT FUND — BUILT ON DoD'S OWN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66460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$50M, fully deployed in 12–18 months. Not a new idea — the same capital mechanisms DoD already uses, run by pros and steered by insiders.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291" y="905602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291" y="1160777"/>
            <a:ext cx="4819972" cy="453644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937" y="1366335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MECHANISMS IT MIRRORS</a:t>
            </a:r>
          </a:p>
        </p:txBody>
      </p:sp>
      <p:sp>
        <p:nvSpPr>
          <p:cNvPr id="8" name="Oval 7"/>
          <p:cNvSpPr/>
          <p:nvPr/>
        </p:nvSpPr>
        <p:spPr>
          <a:xfrm>
            <a:off x="680466" y="1642774"/>
            <a:ext cx="226822" cy="22682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2863722" y="168530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700" y="1649863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DPA Title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700" y="1830612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direct industrial-base investment</a:t>
            </a:r>
          </a:p>
        </p:txBody>
      </p:sp>
      <p:sp>
        <p:nvSpPr>
          <p:cNvPr id="12" name="Oval 11"/>
          <p:cNvSpPr/>
          <p:nvPr/>
        </p:nvSpPr>
        <p:spPr>
          <a:xfrm>
            <a:off x="680466" y="2351594"/>
            <a:ext cx="226822" cy="22682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2863722" y="239412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700" y="2358682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OTA consortia (NSTXL / SpaceWERX)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700" y="2539431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rapid, cost-shared prototyping</a:t>
            </a:r>
          </a:p>
        </p:txBody>
      </p:sp>
      <p:sp>
        <p:nvSpPr>
          <p:cNvPr id="16" name="Oval 15"/>
          <p:cNvSpPr/>
          <p:nvPr/>
        </p:nvSpPr>
        <p:spPr>
          <a:xfrm>
            <a:off x="680466" y="3060413"/>
            <a:ext cx="226822" cy="22682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-2863722" y="310294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700" y="3067502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In-Q-Tel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700" y="3248251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strategic government-aligned capital</a:t>
            </a:r>
          </a:p>
        </p:txBody>
      </p:sp>
      <p:sp>
        <p:nvSpPr>
          <p:cNvPr id="20" name="Oval 19"/>
          <p:cNvSpPr/>
          <p:nvPr/>
        </p:nvSpPr>
        <p:spPr>
          <a:xfrm>
            <a:off x="680466" y="3769233"/>
            <a:ext cx="226822" cy="22682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-2863722" y="381176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700" y="377632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SBIR / STRATFI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700" y="395707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non-dilutive matching</a:t>
            </a:r>
          </a:p>
        </p:txBody>
      </p:sp>
      <p:sp>
        <p:nvSpPr>
          <p:cNvPr id="24" name="Oval 23"/>
          <p:cNvSpPr/>
          <p:nvPr/>
        </p:nvSpPr>
        <p:spPr>
          <a:xfrm>
            <a:off x="680466" y="4478052"/>
            <a:ext cx="226822" cy="22682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2863722" y="452058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700" y="448514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DIU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700" y="466589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commercial on-ramp to DoD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7910" y="133089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Arial"/>
              </a:rPr>
              <a:t>USE OF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7910" y="1423040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Anchor acquisitions (ROFR + materials)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7910" y="1614422"/>
            <a:ext cx="6024965" cy="283527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57910" y="1614422"/>
            <a:ext cx="5121220" cy="283527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38557" y="1692392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066CC"/>
                </a:solidFill>
                <a:latin typeface="Arial"/>
              </a:rPr>
              <a:t>34%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7910" y="2160213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Capacity activation (idle lines)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57910" y="2351594"/>
            <a:ext cx="6024965" cy="283527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57910" y="2351594"/>
            <a:ext cx="3313731" cy="283527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38557" y="2429564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066CC"/>
                </a:solidFill>
                <a:latin typeface="Arial"/>
              </a:rPr>
              <a:t>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7910" y="289738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Robotics / automation + Mission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57910" y="3088766"/>
            <a:ext cx="6024965" cy="283527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457910" y="3088766"/>
            <a:ext cx="2711234" cy="283527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38557" y="3166736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18%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7910" y="3634557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M&amp;A execution overhead (pros, insider-steered)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57910" y="3825938"/>
            <a:ext cx="6024965" cy="283527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457910" y="3825938"/>
            <a:ext cx="2108737" cy="283527"/>
          </a:xfrm>
          <a:prstGeom prst="round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38557" y="3903909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FF6B00"/>
                </a:solidFill>
                <a:latin typeface="Arial"/>
              </a:rPr>
              <a:t>14%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7910" y="4371729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Working capital / contingency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57910" y="4563111"/>
            <a:ext cx="6024965" cy="283527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57910" y="4563111"/>
            <a:ext cx="1807489" cy="283527"/>
          </a:xfrm>
          <a:prstGeom prst="roundRect">
            <a:avLst/>
          </a:prstGeom>
          <a:solidFill>
            <a:srgbClr val="5A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38557" y="464108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A6B7D"/>
                </a:solidFill>
                <a:latin typeface="Arial"/>
              </a:rPr>
              <a:t>12%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57910" y="5243577"/>
            <a:ext cx="6308493" cy="35440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54556" y="5374709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</a:rPr>
              <a:t>M&amp;A firm runs diligence &amp; closings · Exos insiders decide what fits the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312"/>
            <a:ext cx="12191695" cy="6379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480310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COST-SHARE THAT DOESN'T KILL SMALL VENDORS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806367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A blanket 50% match on every project kills the small vendors. So: cost-share where it's viable — and the fund fills the gap where it isn't.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291" y="1047366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7055" y="1281276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B7D"/>
                </a:solidFill>
                <a:latin typeface="Arial"/>
              </a:rPr>
              <a:t>THE PROJECT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055" y="1479746"/>
            <a:ext cx="2764396" cy="637937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1451" y="1479746"/>
            <a:ext cx="2764396" cy="63793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5847" y="1479746"/>
            <a:ext cx="5528792" cy="637937"/>
          </a:xfrm>
          <a:prstGeom prst="rect">
            <a:avLst/>
          </a:prstGeom>
          <a:solidFill>
            <a:srgbClr val="39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095847" y="1423040"/>
            <a:ext cx="0" cy="751349"/>
          </a:xfrm>
          <a:prstGeom prst="bentConnector3">
            <a:avLst/>
          </a:prstGeom>
          <a:ln w="14176">
            <a:solidFill>
              <a:srgbClr val="FF6B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1708346" y="1727833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GOV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049" y="1727833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COMMERCIAL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643" y="1727833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GOVERNMENT-FUNDED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26148" y="2202742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~HALF: cost-shared (commercially viable)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643" y="2202742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A6B7D"/>
                </a:solidFill>
                <a:latin typeface="Arial"/>
              </a:rPr>
              <a:t>~HALF: mission-critical, no viable commercial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7055" y="2613857"/>
            <a:ext cx="11057584" cy="567055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701" y="2734356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THE PILOT FUND FILLS THE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701" y="2950546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where a vendor can't front its 50% share, the fund bridges it — so the match requirement enables participation instead of blocking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291" y="3393559"/>
            <a:ext cx="11341111" cy="60958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38247" y="353886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BD8E8"/>
                </a:solidFill>
                <a:latin typeface="Arial"/>
              </a:rPr>
              <a:t>THE MATH, HONESTLY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247" y="373379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≈ 1.3–1.5× federal reach across the portfolio · ~2× on the cost-shared projects · commercial capital via a public vehicle (Exos / TXSE)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312"/>
            <a:ext cx="12191695" cy="6379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480310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OUTPUT GROWS WITH SHIFTS — SAME PLANT, NO NEW CAPEX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802823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Humanoids and Mission Control fill the 2nd and 3rd shifts the labor market can't. Fixed cost amortizes across up to 3× the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033190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275875" y="5342812"/>
            <a:ext cx="10065236" cy="0"/>
          </a:xfrm>
          <a:prstGeom prst="bentConnector3">
            <a:avLst/>
          </a:prstGeom>
          <a:ln w="10632">
            <a:solidFill>
              <a:srgbClr val="0A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26458" y="4112408"/>
            <a:ext cx="2126458" cy="1230403"/>
          </a:xfrm>
          <a:prstGeom prst="roundRect">
            <a:avLst/>
          </a:prstGeom>
          <a:solidFill>
            <a:srgbClr val="5A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467912" y="3786352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5A6B7D"/>
                </a:solidFill>
                <a:latin typeface="Arial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67912" y="546331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1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467912" y="565823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today · humans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028" y="3066565"/>
            <a:ext cx="2126458" cy="2276246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2657" y="2740508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Arial"/>
              </a:rPr>
              <a:t>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2657" y="546331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2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2657" y="565823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+ humanoid backfill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7597" y="2082242"/>
            <a:ext cx="2126458" cy="3260569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3226" y="1756186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  <a:latin typeface="Arial"/>
              </a:rPr>
              <a:t>265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26" y="5463311"/>
            <a:ext cx="7315200" cy="204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3 SHIFTS / LIGHTS-OUT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26" y="565823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A6B7D"/>
                </a:solidFill>
                <a:latin typeface="Arial"/>
              </a:rPr>
              <a:t>24/7 · Mission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8247" y="1174954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up to ~2.6× output on the same fixed plant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7548"/>
            <a:ext cx="12191695" cy="6662903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3722"/>
            <a:ext cx="12191695" cy="28352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3527" y="253488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EXOS 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2967" y="324370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Arial"/>
              </a:rPr>
              <a:t>representative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527" y="806367"/>
            <a:ext cx="2211516" cy="850583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291" y="1004837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AA0BD"/>
                </a:solidFill>
                <a:latin typeface="Arial"/>
              </a:rPr>
              <a:t>ACTIVE PURSUITS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291" y="1189130"/>
            <a:ext cx="7315200" cy="4578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6808" y="806367"/>
            <a:ext cx="2211516" cy="850583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8572" y="1004837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AA0BD"/>
                </a:solidFill>
                <a:latin typeface="Arial"/>
              </a:rPr>
              <a:t>PIPELINE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8572" y="1189130"/>
            <a:ext cx="7315200" cy="4578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$180M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0089" y="806367"/>
            <a:ext cx="2211516" cy="850583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1853" y="1004837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AA0BD"/>
                </a:solidFill>
                <a:latin typeface="Arial"/>
              </a:rPr>
              <a:t>TASKS ORCHESTRATED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1853" y="1189130"/>
            <a:ext cx="7315200" cy="4578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1,240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3369" y="806367"/>
            <a:ext cx="2211516" cy="850583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85133" y="1004837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AA0BD"/>
                </a:solidFill>
                <a:latin typeface="Arial"/>
              </a:rPr>
              <a:t>DECISIONS CLEARED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5133" y="1189130"/>
            <a:ext cx="7315200" cy="4578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96%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6650" y="806367"/>
            <a:ext cx="2211516" cy="850583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38414" y="1004837"/>
            <a:ext cx="7315200" cy="144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AA0BD"/>
                </a:solidFill>
                <a:latin typeface="Arial"/>
              </a:rPr>
              <a:t>PARTNERS LOAD-BALANCED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414" y="1189130"/>
            <a:ext cx="7315200" cy="4578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527" y="1869597"/>
            <a:ext cx="2799836" cy="3969389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3527" y="1869597"/>
            <a:ext cx="2799836" cy="311880"/>
          </a:xfrm>
          <a:prstGeom prst="rect">
            <a:avLst/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115" y="1975920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INTAKE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2762" y="2280712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997" y="242602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SAM.gov RFP swept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2762" y="2776886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1997" y="2922194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Partner idle-line 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2762" y="3273059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997" y="341836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New payload inquiry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5128" y="1869597"/>
            <a:ext cx="2799836" cy="3969389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25128" y="1869597"/>
            <a:ext cx="2799836" cy="311880"/>
          </a:xfrm>
          <a:prstGeom prst="rect">
            <a:avLst/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52716" y="1975920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SCORING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24363" y="2280712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3598" y="242602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Mission-fit + margin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4363" y="2776886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3598" y="2922194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North-Star filter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4363" y="3273059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3598" y="341836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Export screen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6729" y="1869597"/>
            <a:ext cx="2799836" cy="3969389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66729" y="1869597"/>
            <a:ext cx="2799836" cy="311880"/>
          </a:xfrm>
          <a:prstGeom prst="rect">
            <a:avLst/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4317" y="1975920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ACTIVE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5964" y="2280712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5199" y="242602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Scorpius ROFR diligence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5964" y="2776886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5199" y="2922194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BLK3 payload manifest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5964" y="3273059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5199" y="341836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RDRE trade study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08330" y="1869597"/>
            <a:ext cx="2799836" cy="3969389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108330" y="1869597"/>
            <a:ext cx="2799836" cy="311880"/>
          </a:xfrm>
          <a:prstGeom prst="rect">
            <a:avLst/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35917" y="1975920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DELIVERED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07565" y="2280712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06799" y="242602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Quote sent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07565" y="2776886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06799" y="2922194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Decision → owner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07565" y="3273059"/>
            <a:ext cx="2601367" cy="411115"/>
          </a:xfrm>
          <a:prstGeom prst="roundRect">
            <a:avLst/>
          </a:prstGeom>
          <a:solidFill>
            <a:srgbClr val="132A46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06799" y="3418367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Contract booked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3527" y="5980750"/>
            <a:ext cx="11624639" cy="425291"/>
          </a:xfrm>
          <a:prstGeom prst="roundRect">
            <a:avLst/>
          </a:prstGeom>
          <a:solidFill>
            <a:srgbClr val="0F1E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5291" y="6140234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AI ORCHESTRATION — optimizing across billions of parameters: route work to idle capacity · allocate capital · track delivered value across every partner P&amp;L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7548"/>
            <a:ext cx="12191695" cy="66629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310194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OTA MODEL IS THE HOME FOR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664603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Our program only moves at speed under Other Transaction Authority. OTA on-ramps and accelerates; FAR sustains what must ride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891426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5291" y="117495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B7D"/>
                </a:solidFill>
                <a:latin typeface="Arial"/>
              </a:rPr>
              <a:t>TRADITIONAL FAR / PROGRAM OF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291" y="1387599"/>
            <a:ext cx="11341111" cy="453644"/>
          </a:xfrm>
          <a:prstGeom prst="round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5291" y="1387599"/>
            <a:ext cx="9639945" cy="453644"/>
          </a:xfrm>
          <a:prstGeom prst="roundRect">
            <a:avLst/>
          </a:prstGeom>
          <a:solidFill>
            <a:srgbClr val="B7C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7055" y="156480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18–36+ months to award · heavy PM overhead · slow to non-traditional vendors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91" y="2110595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CONSORTIUM OTA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291" y="2323241"/>
            <a:ext cx="11341111" cy="453644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291" y="2323241"/>
            <a:ext cx="2495044" cy="45364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055" y="2500446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weeks–months to award · cost-share native · non-traditional friendly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4147" y="2500446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rial"/>
              </a:rPr>
              <a:t>far faster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291" y="3145472"/>
            <a:ext cx="11341111" cy="1275875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38247" y="3301412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THE OTA UMBRELLA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819" y="3641645"/>
            <a:ext cx="3402333" cy="567055"/>
          </a:xfrm>
          <a:prstGeom prst="roundRect">
            <a:avLst/>
          </a:prstGeom>
          <a:solidFill>
            <a:srgbClr val="13233B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-1247613" y="38011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Prototype 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247613" y="3992511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EC0D6"/>
                </a:solidFill>
                <a:latin typeface="Arial"/>
              </a:rPr>
              <a:t>rapid build + test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5329" y="3925173"/>
            <a:ext cx="240999" cy="0"/>
          </a:xfrm>
          <a:prstGeom prst="bentConnector3">
            <a:avLst/>
          </a:prstGeom>
          <a:ln w="14176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323798" y="3875556"/>
            <a:ext cx="99234" cy="99234"/>
          </a:xfrm>
          <a:prstGeom prst="triangl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94680" y="3641645"/>
            <a:ext cx="3402333" cy="567055"/>
          </a:xfrm>
          <a:prstGeom prst="roundRect">
            <a:avLst/>
          </a:prstGeom>
          <a:solidFill>
            <a:srgbClr val="13233B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38247" y="38011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Follow-on Production 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247" y="3992511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EC0D6"/>
                </a:solidFill>
                <a:latin typeface="Arial"/>
              </a:rPr>
              <a:t>scale without re-competing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1190" y="3925173"/>
            <a:ext cx="240999" cy="0"/>
          </a:xfrm>
          <a:prstGeom prst="bentConnector3">
            <a:avLst/>
          </a:prstGeom>
          <a:ln w="14176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009660" y="3875556"/>
            <a:ext cx="99234" cy="99234"/>
          </a:xfrm>
          <a:prstGeom prst="triangl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80542" y="3641645"/>
            <a:ext cx="3402333" cy="567055"/>
          </a:xfrm>
          <a:prstGeom prst="roundRect">
            <a:avLst/>
          </a:prstGeom>
          <a:solidFill>
            <a:srgbClr val="13233B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4108" y="38011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Cost-share + pilot 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4108" y="3992511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EC0D6"/>
                </a:solidFill>
                <a:latin typeface="Arial"/>
              </a:rPr>
              <a:t>inside the vehicle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291" y="4662345"/>
            <a:ext cx="11341111" cy="411115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38247" y="4811198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</a:rPr>
              <a:t>Statutory basis: 10 U.S.C. 4021/4022 (OTA) · Middle Tier Acquisition · DPA Title III · SBIR Phase III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2840"/>
            <a:ext cx="12191695" cy="5812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763838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PROJECT KARMEN — RAPID-TURNAROUND SPACELIFT TEST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1086351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USSF SBIR SF254-D1002 (Direct-to-Phase-II): a reusable suborbital platform to empirically qualify cargo, supplies &amp; equipment under real spacelift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316717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291" y="1586069"/>
            <a:ext cx="11341111" cy="1063229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594370" y="1656951"/>
            <a:ext cx="7315200" cy="1012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$3M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9104" y="2039713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CBD8E8"/>
                </a:solidFill>
                <a:latin typeface="Arial"/>
              </a:rPr>
              <a:t>requested,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136" y="1656951"/>
            <a:ext cx="7315200" cy="1012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FF6B00"/>
                </a:solidFill>
                <a:latin typeface="Arial"/>
              </a:rPr>
              <a:t>$300K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7611" y="2039713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CBD8E8"/>
                </a:solidFill>
                <a:latin typeface="Arial"/>
              </a:rPr>
              <a:t>funded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0542" y="1841244"/>
            <a:ext cx="3189687" cy="552879"/>
          </a:xfrm>
          <a:prstGeom prst="round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17786" y="1876685"/>
            <a:ext cx="7315200" cy="277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~10× UNDERFUNDED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7786" y="2153124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A1628"/>
                </a:solidFill>
                <a:latin typeface="Arial"/>
              </a:rPr>
              <a:t>a real requirement, under-resourced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291" y="2847768"/>
            <a:ext cx="5528792" cy="21264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761" y="306750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rial"/>
              </a:rPr>
              <a:t>THE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761" y="3336853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701" y="333330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Reusable, rapid-turnaround suborbital testbed (120+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701" y="3496337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km): launch, microgravity, reentry,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61" y="380467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701" y="38011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Empirically qualify cargo — capture shock,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701" y="3964158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vibration, temperature, acceleration &amp; structural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701" y="4127187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761" y="427249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701" y="4268951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48-hour recovery-to-relaunch for high-tempo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701" y="443197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campaigns; minimal launch 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7611" y="2847768"/>
            <a:ext cx="5528792" cy="2126458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6080" y="306750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6B00"/>
                </a:solidFill>
                <a:latin typeface="Arial"/>
              </a:rPr>
              <a:t>WHY EXOS 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6080" y="3336853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021" y="333330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BLK3 — FAA-licensed reusable suborbital vehicle with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021" y="3496337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a modular payload bay + high-precision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6080" y="3804674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021" y="3801130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Flying reusable since 2018; ~2-day turnaround — a design target 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021" y="3964158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already the design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6080" y="4272495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2021" y="4268951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Directly fills USSF's cargo-qualification 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2021" y="4431979"/>
            <a:ext cx="7315200" cy="1867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'Operational Energy for Space' gap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291" y="5158519"/>
            <a:ext cx="11341111" cy="680466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38247" y="5243577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THE REQUIREMENT IS REAL — FUND THE OUTCOME.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38247" y="5569634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EAFBF0"/>
                </a:solidFill>
                <a:latin typeface="Arial"/>
              </a:rPr>
              <a:t>$3M requested, funded at $300K. Full funding delivers cargo qualification the space-logistics enterprise lacks. USSF SBIR SF254-D1002 (D2P2).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76"/>
            <a:ext cx="12191695" cy="6095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622074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944587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What only the Commission can move.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291" y="1174954"/>
            <a:ext cx="11341111" cy="21264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291" y="1628598"/>
            <a:ext cx="11341111" cy="779701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7937" y="1784538"/>
            <a:ext cx="425291" cy="425291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807016" y="1869597"/>
            <a:ext cx="7315200" cy="3373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5875" y="1798715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Buy commercial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5875" y="206806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pay for delivered results, not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637937" y="2663474"/>
            <a:ext cx="425291" cy="425291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2807016" y="2748533"/>
            <a:ext cx="7315200" cy="3373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5875" y="2677651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Let us perform off the traditional base &amp; DoD 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5875" y="294700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fractional cost, accelerated speed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291" y="3386470"/>
            <a:ext cx="11341111" cy="779701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7937" y="3542411"/>
            <a:ext cx="425291" cy="425291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-2807016" y="3627469"/>
            <a:ext cx="7315200" cy="3373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5875" y="3556587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Stop micromanaging the small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5875" y="3825938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firm-fixed-price, milestone- and outcome-based</a:t>
            </a:r>
          </a:p>
        </p:txBody>
      </p:sp>
      <p:sp>
        <p:nvSpPr>
          <p:cNvPr id="20" name="Oval 19"/>
          <p:cNvSpPr/>
          <p:nvPr/>
        </p:nvSpPr>
        <p:spPr>
          <a:xfrm>
            <a:off x="637937" y="4421347"/>
            <a:ext cx="425291" cy="425291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-2807016" y="4506405"/>
            <a:ext cx="7315200" cy="3373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875" y="4435523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Make the OTA model the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5875" y="4704875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on-ramp non-traditional capacity without re-competing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291" y="5144343"/>
            <a:ext cx="11341111" cy="779701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937" y="5300283"/>
            <a:ext cx="425291" cy="425291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-2807016" y="5385341"/>
            <a:ext cx="7315200" cy="3373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5875" y="5314459"/>
            <a:ext cx="7315200" cy="2650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Clear the friction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5875" y="5583811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right-size Part 450 · predictable range/airspace · small-business ITAR/EAR safe-harbors 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875" y="5753927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fuller SBIR Phase III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2840"/>
            <a:ext cx="12191695" cy="5812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291" y="749662"/>
            <a:ext cx="7315200" cy="361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Arial"/>
              </a:rPr>
              <a:t>THE PATHWAY — PROVE IT IN SPACE &amp; DEFENSE, THEN REPLICATE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291" y="1072175"/>
            <a:ext cx="7315200" cy="198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Small vendors already see the opportunity across many industries. The same challenges show up everywhere — so the same model transfers.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291" y="1316717"/>
            <a:ext cx="11341112" cy="0"/>
          </a:xfrm>
          <a:prstGeom prst="bentConnector3">
            <a:avLst/>
          </a:prstGeom>
          <a:ln w="952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291" y="1515187"/>
            <a:ext cx="3969389" cy="3969389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937" y="1685304"/>
            <a:ext cx="7315200" cy="2891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SPACE &amp;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937" y="1954655"/>
            <a:ext cx="7315200" cy="16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Arial"/>
              </a:rPr>
              <a:t>the proving ground —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937" y="2209830"/>
            <a:ext cx="2126458" cy="226822"/>
          </a:xfrm>
          <a:prstGeom prst="round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1956433" y="2270080"/>
            <a:ext cx="7315200" cy="1626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THE CONSORTIUM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7" y="2486270"/>
            <a:ext cx="7315200" cy="156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EC0D6"/>
                </a:solidFill>
                <a:latin typeface="Arial"/>
              </a:rPr>
              <a:t>sector-agnostic — nothing here is space-specific</a:t>
            </a:r>
          </a:p>
        </p:txBody>
      </p:sp>
      <p:sp>
        <p:nvSpPr>
          <p:cNvPr id="12" name="Oval 11"/>
          <p:cNvSpPr/>
          <p:nvPr/>
        </p:nvSpPr>
        <p:spPr>
          <a:xfrm>
            <a:off x="666290" y="2706004"/>
            <a:ext cx="255175" cy="255175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2863722" y="2755621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700" y="2769797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Find fragmented vendors + stranded capacity</a:t>
            </a:r>
          </a:p>
        </p:txBody>
      </p:sp>
      <p:sp>
        <p:nvSpPr>
          <p:cNvPr id="15" name="Oval 14"/>
          <p:cNvSpPr/>
          <p:nvPr/>
        </p:nvSpPr>
        <p:spPr>
          <a:xfrm>
            <a:off x="666290" y="3188001"/>
            <a:ext cx="255175" cy="255175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-2863722" y="3237618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700" y="3251795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Anchor + pilot fund to activate it</a:t>
            </a:r>
          </a:p>
        </p:txBody>
      </p:sp>
      <p:sp>
        <p:nvSpPr>
          <p:cNvPr id="18" name="Oval 17"/>
          <p:cNvSpPr/>
          <p:nvPr/>
        </p:nvSpPr>
        <p:spPr>
          <a:xfrm>
            <a:off x="666290" y="3669998"/>
            <a:ext cx="255175" cy="255175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-2863722" y="3719615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0700" y="3733792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Mission Control AI orchestration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66290" y="4151995"/>
            <a:ext cx="255175" cy="255175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-2863722" y="4201613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700" y="4215789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Humanoid automation backfills shifts</a:t>
            </a:r>
          </a:p>
        </p:txBody>
      </p:sp>
      <p:sp>
        <p:nvSpPr>
          <p:cNvPr id="24" name="Oval 23"/>
          <p:cNvSpPr/>
          <p:nvPr/>
        </p:nvSpPr>
        <p:spPr>
          <a:xfrm>
            <a:off x="666290" y="4633993"/>
            <a:ext cx="255175" cy="255175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2863722" y="4683610"/>
            <a:ext cx="7315200" cy="216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700" y="4697786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E8EDF5"/>
                </a:solidFill>
                <a:latin typeface="Arial"/>
              </a:rPr>
              <a:t>Public-company cost-share capital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22268" y="3499881"/>
            <a:ext cx="652114" cy="0"/>
          </a:xfrm>
          <a:prstGeom prst="bentConnector3">
            <a:avLst/>
          </a:prstGeom>
          <a:ln w="28352">
            <a:solidFill>
              <a:srgbClr val="FF6B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5131853" y="3450264"/>
            <a:ext cx="99234" cy="99234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90725" y="3223442"/>
            <a:ext cx="7315200" cy="1807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6B00"/>
                </a:solidFill>
                <a:latin typeface="Arial"/>
              </a:rPr>
              <a:t>REPLICATE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0322" y="1515187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330322" y="1515187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42968" y="1777450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Maritime &amp; Shipbuilding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2968" y="2064522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aging yards, fragmented sub-tiers, idle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2968" y="2220462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berths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2968" y="2418932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0509" y="1515187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40509" y="1515187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53155" y="1777450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Munitions &amp; Missiles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3155" y="2064522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surge demand on a fragile supplier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3155" y="2418932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30322" y="2932826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30322" y="2932826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42968" y="3195089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Energy &amp; Nuclear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2968" y="348216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long-lead fabrication, stranded shop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42968" y="363810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capacity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2968" y="3836571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0509" y="2932826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40509" y="2932826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53155" y="3195089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Semiconductors &amp; Microelectronics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3155" y="348216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packaging/test bottlenecks, underused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3155" y="3638101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small fabs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3155" y="3836571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30322" y="4350465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330322" y="4350465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42968" y="4612728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Advanced Manufacturing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2968" y="4899800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machine shops at low utilization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42968" y="5055740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nationwide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2968" y="5254210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40509" y="4350465"/>
            <a:ext cx="3125893" cy="113411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40509" y="4350465"/>
            <a:ext cx="70881" cy="113411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3155" y="4612728"/>
            <a:ext cx="7315200" cy="2289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Arial"/>
              </a:rPr>
              <a:t>Critical Materials &amp; Processing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3155" y="4899800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small processors — no scale, no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3155" y="5055740"/>
            <a:ext cx="7315200" cy="1747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D"/>
                </a:solidFill>
                <a:latin typeface="Arial"/>
              </a:rPr>
              <a:t>orchestration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3155" y="5254210"/>
            <a:ext cx="7315200" cy="15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rial"/>
              </a:rPr>
              <a:t>same challenge · same model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291" y="5640516"/>
            <a:ext cx="11341111" cy="411115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438247" y="5782280"/>
            <a:ext cx="7315200" cy="192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</a:rPr>
              <a:t>Same challenges everywhere:  fragmented small vendors · stranded capacity · workforce/automation gap · capital inefficiency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"/>
            <a:ext cx="12191695" cy="68578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67179"/>
            <a:ext cx="12191695" cy="6095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01" y="1859319"/>
            <a:ext cx="7315200" cy="7254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De-risk the impossible.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560341"/>
            <a:ext cx="7315200" cy="440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66CC"/>
                </a:solidFill>
                <a:latin typeface="Arial"/>
              </a:rPr>
              <a:t>Deliver the mass that builds humanity's future in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741" y="4785326"/>
            <a:ext cx="7315200" cy="2849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John Quinn, Cofounder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741" y="5105358"/>
            <a:ext cx="7315200" cy="233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8E8"/>
                </a:solidFill>
                <a:latin typeface="Arial"/>
              </a:rPr>
              <a:t>jquinn@exosaero.com  ·  www.exosaero.com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scribes Project KARMEN, a responsive spacelift system for the Naval Industrial Base, capable of dual-use, reusable launches, and rapid testing under various conditions.&#10;&#10;AI-generated content may be incorrect.">
            <a:extLst>
              <a:ext uri="{FF2B5EF4-FFF2-40B4-BE49-F238E27FC236}">
                <a16:creationId xmlns:a16="http://schemas.microsoft.com/office/drawing/2014/main" id="{480162DD-9F12-4156-449E-15BD29C3F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80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C86530-EB95-4924-861A-14EFCB814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AC0CAB-270B-4322-A666-DF9DC14B99F8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D8EA178A-412B-4E87-87D5-CCD736C359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3716</Words>
  <Application>Microsoft Office PowerPoint</Application>
  <PresentationFormat>Widescreen</PresentationFormat>
  <Paragraphs>607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Quinn</dc:creator>
  <cp:keywords/>
  <dc:description>generated using python-pptx</dc:description>
  <cp:lastModifiedBy>John Quinn</cp:lastModifiedBy>
  <cp:revision>7</cp:revision>
  <dcterms:created xsi:type="dcterms:W3CDTF">2013-01-27T09:14:16Z</dcterms:created>
  <dcterms:modified xsi:type="dcterms:W3CDTF">2026-08-11T03:56:33Z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