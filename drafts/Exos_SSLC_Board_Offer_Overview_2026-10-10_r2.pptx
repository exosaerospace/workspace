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1" r:id="rId7"/>
    <p:sldId id="262" r:id="rId8"/>
    <p:sldId id="263" r:id="rId9"/>
    <p:sldId id="264" r:id="rId10"/>
    <p:sldId id="267" r:id="rId18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draft offer overview for the SSLC board. All figures are from the Option B Offer Summary (2026-10-07). The offer is subject to negotiation and board acceptance. Not a final or binding offer.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requested of the SSLC board:</a:t>
            </a:r>
            <a:br/>
            <a:r>
              <a:t>  Motion 1: Confirm §3 exclusivity. 90-day period begins on approval.</a:t>
            </a:r>
            <a:br/>
            <a:r>
              <a:t>  Motion 2: Grant full read-only QB Online access (Oct 15 deadline). §1602 + AAA §4. NDA.</a:t>
            </a:r>
            <a:br/>
            <a:r>
              <a:t>  Motion 3: Direct A La Carte Solutions + outside CPAs to reconcile and correct AR Unbilled ($942K) and Deposits ($120K) within 5 days.</a:t>
            </a:r>
            <a:br/>
            <a:r>
              <a:t>  Motion 4: Consent to ERP/MRP &amp; inventory evaluation using QB data. NDA.</a:t>
            </a:r>
            <a:br/>
            <a:r>
              <a:t>Governance: John Quinn abstains as interested director.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SSLC QuickBooks Balance Sheet 10/11/2026 (data-room/SSLC/qb-2026-10-11/SSLC_Balance_Sheet.xlsx).</a:t>
            </a:r>
            <a:br/>
            <a:r>
              <a:t>Cash $590,344 — almost entirely from one IM payment $421,421 on 10/7 for invoices 109-86/87/88 booked 9/25–9/30.</a:t>
            </a:r>
            <a:br/>
            <a:r>
              <a:t>$713K last quarter from offer summary (unchanged).</a:t>
            </a:r>
            <a:br/>
            <a:r>
              <a:t>$5.1M M1 milestone requires ~2× quarterly pace starting Oct 1st.</a:t>
            </a:r>
            <a:br/>
            <a:r>
              <a:t>$1.03M loans &amp; notes (unchanged by lender); equity −$1,443,882.</a:t>
            </a:r>
            <a:br/>
            <a:r>
              <a:t>Physical-space and single-winder constraints are SSLC's own reported challenges.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scenarios (Low/Base/High) have identical at-close values: ① $3.86M, ② $4.86M with stock. The $3.86M breaks down as: $2.51M cash + $60K transaction costs + $790K stake credit (non-cash) + $500K WC bridge. The $1.0M EAI units are issued at financing close, not at board acceptance, and count toward the Rule 504 $10M rolling 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Tank earn-out: single 5% rate applied to the revenue SSLC achieves each year FY27–FY31, capped at $300K/yr. Low $3.0M/yr → $150K/yr → $750K total; Base $5.0M/yr → $250K/yr → $1.25M; High $6.0M+/yr → $300K/yr (cap) → $1.5M. M1 (all scenarios): FY27 rev ≥$5.1M → $200K, pays FY28 Q1. M2 (Base/High): Nebula OTV flight tank set delivered and accepted by Intuitive Machines → $200K, pays at acceptance. M3 (Base/High): rev ≥$10M → $250K. M4 (High): rev ≥$20M → $250K. M5 (High): 50% reduction in tank build cost via dome automation and build-process automation proven → $200K. Stock earn-out: 0.0%/0.25%/0.50% additional EAI units issued at RTO listing, with the same post-listing lockup as Exos principals. $0/$625K/$1,500K at 409A listing value. Total earn-outs: Low $950K / Base $2,525K / High $4,100K (each = ③ minus ②).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③ 5-yr total is ② ($4.86M) + earn-outs. Low = $5.81M / Base = $7.385M (shown as $7.4M) / High = $8.96M (shown as $9.0M). These are rounded for board presentation. ④ TOTAL IF STOCK HELD TO 2031: Low $11.5M / Base $15.3M / High $18.9M — this replaces and is not additive to ③. It assumes RTO completion, ~30% dilution, and management-projected valuations. Forward-looking statements subject to SEC Rule 10b-5. The chart shows the year-by-year compensation build from close through FY31.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$1.0M EAI units are issued at financing close (not at board acceptance). At the 409A valuation of ~$169.7M, this represents ~0.59% fully diluted. Earn-out stock (0.0%/0.25%/0.50% additional) issued post-RTO brings total equity to ~0.59%–1.09%. The Japan round EAI units are Reg S and must remain separate from the Rule 504 domestic offering. See model EAI Lockup &amp; Liquidity sheet for full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language is verbatim from the offer email (Exos_SSLC_Offer_Briefing_Email_DRAFT_2026-10-09.docx) and the Key Terms section of the offer summary PDF. The exact terms — option pool size, vesting schedule — will be negotiated in the Definitive Agreement. IM program continuity: Exos-SSLC continues the Intuitive Machines contract with no delivery interruption.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summarizes every dollar and commitment Exos is making to close this transaction. Funding is committed at financing close — we are not representing that financing is already secured, but we are committed to delivering it. The Feb 15th target drives our 90-day exclusivity window. Capital for physical space and a second winder is committed at financing close; the amount will be agreed in the Definitive Agreement. The one action today is confirming §3 exclusivity, which starts the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actions needed today: (1) confirm §3 exclusivity — starts 90-day window; (2) grant full read-only QB access (Oct 15 deadline); (3) direct accounting firm to correct AR Unbilled + Deposits within 5 days; (4) consent to ERP/MRP evaluation. All confidential under the 7/27/2021 NDA. Financing close target: Feb 15th.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SSLC QB Balance Sheet 10/11/2026 (data-room/SSLC/qb-2026-10-11/SSLC_Balance_Sheet.xlsx).</a:t>
            </a:r>
            <a:br/>
            <a:r>
              <a:t>Cash $590,344; AR Unbilled (billed-ahead) −$942,177; deposits $120,000.</a:t>
            </a:r>
            <a:br/>
            <a:r>
              <a:t>Loans &amp; notes $1,027,783 unchanged by lender.</a:t>
            </a:r>
            <a:br/>
            <a:r>
              <a:t>Total liabilities $1,296,521.</a:t>
            </a:r>
            <a:br/>
            <a:r>
              <a:t>Paid-in capital $1,014,465 (unchanged).</a:t>
            </a:r>
            <a:br/>
            <a:r>
              <a:t>Retained earnings −$2,571,013; FY27 YTD net income +$112,666.</a:t>
            </a:r>
            <a:br/>
            <a:r>
              <a:t>Total equity −$1,443,882 (10/11/2026).</a:t>
            </a:r>
            <a:br/>
            <a:r>
              <a:t>Exos loan $31,200 principal; ~$38,158 with 11% interest at 10/2. Board DENIED license; loan STANDS.</a:t>
            </a:r>
            <a:br/>
            <a:r>
              <a:t>Billed-ahead $942,177: Exos assessment is overstated; 40% start-billings not cleared at shipment; est. ~$100–200K genuinely in progress.</a:t>
            </a:r>
            <a:br/>
            <a:r>
              <a:t>Facility ~$805K since Jan 2024: rent $725K + other; doubled to ~$23.6K/mo Jul 2024. Paid via Microcosm invoices through Dec 2025, then directly to landlords. Never charged back to Microcosm on SSLC's books; Microcosm receivable = $3,529; loan to Microcosm = $0.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motions for the SSLC Board:</a:t>
            </a:r>
            <a:br/>
            <a:br/>
            <a:r>
              <a:t>Motion 1: §3 exclusivity — 90-day period begins on board approval (May 2025 AAA).</a:t>
            </a:r>
            <a:br/>
            <a:br/>
            <a:r>
              <a:t>Motion 2: Full read-only QB Online access for John Quinn + one Exos finance reviewer. Cal. Corp. Code §1602 + AAA §4. NDA-confidential. Oct 15, 2026 deadline.</a:t>
            </a:r>
            <a:br/>
            <a:br/>
            <a:r>
              <a:t>Motion 3: Direct A La Carte Solutions (bookkeeper) + Singer Lewak / Welch &amp; Co. to reconcile and correct Acct 1110 AR Unbilled ($942,177) and Acct 2380 Deposits ($120,000) within 5 days. Must clear completed/shipped tank billings, post missing Jul–Sep 2026 revenue-recognition entries, tank-by-tank reconciliation (IM-109/122/134, EXOS-133), corrected balance sheet delivered to all directors.</a:t>
            </a:r>
            <a:br/>
            <a:br/>
            <a:r>
              <a:t>Motion 4 (separate): Consent to Exos using QB data to evaluate ERP/MRP and inventory systems for combined operation. Evaluation only; NDA-confidential.</a:t>
            </a:r>
            <a:br/>
            <a:br/>
            <a:r>
              <a:t>Governance: John Quinn abstains as interested director (Exos is offeror; Quinn holds Exos loan to SSLC).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48640" y="50292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OFFER TO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SCORPIUS SPACE LAUNCH COMPANY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Overview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3200400" y="2834640"/>
            <a:ext cx="27432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971800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</a:rPr>
              <a:t>John M. Quinn  |  Cofounder &amp; CEO, Exos Aerospace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October 10,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F26A21"/>
                </a:solidFill>
              </a:rPr>
              <a:t>CONFIDENTIAL — DRAFT — NEGOTIATING TERMS</a:t>
            </a:r>
            <a:endParaRPr lang="en-US" sz="1000" dirty="0"/>
          </a:p>
        </p:txBody>
      </p:sp>
      <p:pic>
        <p:nvPicPr>
          <p:cNvPr id="1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4206240"/>
            <a:ext cx="164592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is asked to vote on four motions today.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33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CCCCC"/>
                </a:solidFill>
              </a:rPr>
              <a:t>That's why Exos has stayed committed to funding this acquisition: fair value for SSLC holders, stability for SSLC's team, and real growth for investors. Together we're stronger than apart.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2944368"/>
            <a:ext cx="8229600" cy="141732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2999232"/>
            <a:ext cx="7863840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1: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§3 exclusivity — 90-day window begins on board approval (May 2025 AAA)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2: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Full read-only QB Online access for diligence (Cal. Corp. Code §1602 + AAA §4; under 7/27/2021 NDA)
</a:t>
            </a:r>
            <a:pPr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Motion 3: </a:t>
            </a:r>
            <a:r>
              <a:rPr lang="en-US" sz="1200" dirty="0" b="0">
                <a:solidFill>
                  <a:srgbClr val="CCCCCC"/>
                </a:solidFill>
              </a:rPr>
              <a:t>Correct AR Unbilled &amp; Deposits accounting within 5 days (A La Carte + outside CPAs)
</a:t>
            </a:r>
            <a:r>
              <a:rPr lang="en-US" sz="1200" b="1" dirty="0">
                <a:solidFill>
                  <a:srgbClr val="F26A21"/>
                </a:solidFill>
              </a:rPr>
              <a:t>Motion 4: </a:t>
            </a:r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Consent to ERP/MRP &amp; inventory evaluation using QB data (confidential under NDA)</a:t>
            </a:r>
            <a:endParaRPr lang="en-US" sz="1400" dirty="0"/>
          </a:p>
        </p:txBody>
      </p:sp>
      <p:pic>
        <p:nvPicPr>
          <p:cNvPr id="7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SSLC Stands Today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36576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5720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$590K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Cash at 10/11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One IM payment 10/7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9184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$713K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Last quarter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Most recent reported quarter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560320" cy="2011680"/>
          </a:xfrm>
          <a:prstGeom prst="rect">
            <a:avLst/>
          </a:prstGeom>
          <a:solidFill>
            <a:srgbClr val="1E1E1E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126480" y="1234440"/>
            <a:ext cx="2377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26A21"/>
                </a:solidFill>
              </a:rPr>
              <a:t>~$1.46M/qtr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10312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CCCC"/>
                </a:solidFill>
              </a:rPr>
              <a:t>Required to hit $5.1M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26480" y="25146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M1 milestone threshold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1051560"/>
          </a:xfrm>
          <a:prstGeom prst="rect">
            <a:avLst/>
          </a:prstGeom>
          <a:solidFill>
            <a:srgbClr val="1A12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CCCCCC"/>
                </a:solidFill>
              </a:rPr>
              <a:t>$590K cash at 10/11 came largely from one Intuitive Machines payment on 10/7 for start-billed tanks; a $5.1M year still requires ~2× last quarter's pace starting now. With $1.03M of debt, equity of −$1.44M, and physical-space and single-winder constraints, Exos's offer removes the funding risk and gives SSLC holders direct upside.</a:t>
            </a:r>
            <a:endParaRPr lang="en-US" sz="1300" dirty="0"/>
          </a:p>
        </p:txBody>
      </p:sp>
      <p:pic>
        <p:nvPicPr>
          <p:cNvPr id="18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SSLC Capital &amp; Debt: What's on the Books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" y="594360"/>
            <a:ext cx="41605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407408" y="594360"/>
            <a:ext cx="4617720" cy="2999232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" y="594360"/>
            <a:ext cx="41605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7408" y="594360"/>
            <a:ext cx="4617720" cy="24688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72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594360"/>
            <a:ext cx="36576" cy="24688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" y="640080"/>
            <a:ext cx="4023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INVESTORS PAID 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8848" y="640080"/>
            <a:ext cx="44805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26A21"/>
                </a:solidFill>
                <a:latin typeface="Calibri"/>
              </a:rPr>
              <a:t>WHAT SSLC OWES  (10/11/2026)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" y="914400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Common stock (Acct 3010)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2616" y="914400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$1,010,423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" y="113842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APIC (Acct 3020)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6" y="113842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CCCCC"/>
                </a:solidFill>
                <a:latin typeface="Calibri"/>
              </a:rPr>
              <a:t>$4,042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" y="1435608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" y="1586484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paid-in capital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42616" y="1586484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$1,014,465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" y="1810512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Exos: 18.06% → $789,572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42616" y="1810512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~78% of above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9456" y="2107692"/>
            <a:ext cx="39319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" y="2258568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Accum. deficit (thru FY26)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42616" y="2258568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−$2,571,013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" y="2482596"/>
            <a:ext cx="2514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FY27 YTD net income (10/11)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2616" y="2482596"/>
            <a:ext cx="1481328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4BB44"/>
                </a:solidFill>
                <a:latin typeface="Calibri"/>
              </a:rPr>
              <a:t>+$112,666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91440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Loans &amp; notes (total)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51775" y="91440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$1,027,783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7136" y="1211580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7136" y="136245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Due to Microcosm (Acct 2385)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51775" y="136245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$451,429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1586484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Notes Payable – Bookstore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5" y="1586484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$320,582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17136" y="1810512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SBA EIDL (Acct 2712)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51775" y="1810512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$132,072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17136" y="2034540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Wertz loan (Acct 2714)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51775" y="2034540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$92,500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17136" y="2258568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Exos loan (11%; stands)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51775" y="2258568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26A21"/>
                </a:solidFill>
                <a:latin typeface="Calibri"/>
              </a:rPr>
              <a:t>$31,200 (~$38K+int)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7136" y="2555748"/>
            <a:ext cx="4389120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7136" y="2482596"/>
            <a:ext cx="292608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CCCCC"/>
                </a:solidFill>
                <a:latin typeface="Calibri"/>
              </a:rPr>
              <a:t>Total liabilities (10/11)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51775" y="2482596"/>
            <a:ext cx="1527047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6666"/>
                </a:solidFill>
                <a:latin typeface="Calibri"/>
              </a:rPr>
              <a:t>$1,296,521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9728" y="3643884"/>
            <a:ext cx="8924544" cy="749808"/>
          </a:xfrm>
          <a:prstGeom prst="rect">
            <a:avLst/>
          </a:prstGeom>
          <a:solidFill>
            <a:srgbClr val="1E1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728" y="3643884"/>
            <a:ext cx="50292" cy="749808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9456" y="3680459"/>
            <a:ext cx="8686800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26A21"/>
                </a:solidFill>
                <a:latin typeface="Calibri"/>
              </a:rPr>
              <a:t>OPEN ITEMS  (Exos assessment pending reconciliation via Motion 2)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9456" y="38907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CCCCC"/>
                </a:solidFill>
                <a:latin typeface="Calibri"/>
              </a:rPr>
              <a:t>"Billed-ahead" balance: $942,177 booked as of 10/11. Exos's assessment: overstated — SSLC bills IM ~40% at tank start; those start-billings appear not cleared at shipment. Est. ~$100–200K genuinely in progress. Reconciliation requested via Motion 2.  |  Facility costs since Jan 2024: ~$805K (rent $725K + other; doubled to ~$23.6K/mo Jul 2024). Never charged back to Microcosm on SSLC's books.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8600" y="4416552"/>
            <a:ext cx="822960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1">
                <a:solidFill>
                  <a:srgbClr val="888888"/>
                </a:solidFill>
                <a:latin typeface="Calibri"/>
              </a:rPr>
              <a:t>per SSLC QuickBooks 10/11/2026; Exos billed-ahead assessment pending reconciliation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4809744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4809744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9184" y="2679191"/>
            <a:ext cx="2459736" cy="13716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9456" y="2697479"/>
            <a:ext cx="2514600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0">
                <a:solidFill>
                  <a:srgbClr val="CCCCCC"/>
                </a:solidFill>
                <a:latin typeface="Calibri"/>
              </a:rPr>
              <a:t>Total equity (10/11/2026)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52344" y="2697479"/>
            <a:ext cx="1481328" cy="2057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F6666"/>
                </a:solidFill>
                <a:latin typeface="Calibri"/>
              </a:rPr>
              <a:t>−$1,443,882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SSLC Holders Receive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005840"/>
            <a:ext cx="5669280" cy="393192"/>
          </a:xfrm>
          <a:prstGeom prst="rect">
            <a:avLst/>
          </a:prstGeom>
          <a:solidFill>
            <a:srgbClr val="2A2A2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04241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Cash at close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0" y="1042416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$2.51M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14400" y="1426464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05840" y="146304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SSLC transaction costs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146304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$60K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1847088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05840" y="1883664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stake credit (non-cash)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0" y="1883664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$790K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67712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14400" y="2688336"/>
            <a:ext cx="5669280" cy="393192"/>
          </a:xfrm>
          <a:prstGeom prst="rect">
            <a:avLst/>
          </a:prstGeom>
          <a:solidFill>
            <a:srgbClr val="222222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05840" y="27249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Working-capital bridge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724912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$500K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3145536"/>
            <a:ext cx="6035040" cy="475488"/>
          </a:xfrm>
          <a:prstGeom prst="rect">
            <a:avLst/>
          </a:prstGeom>
          <a:solidFill>
            <a:srgbClr val="2A18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68680" y="32004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① Cash at close — target by Feb 15th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3200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26A21"/>
                </a:solidFill>
              </a:rPr>
              <a:t>$3.86M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3675888"/>
            <a:ext cx="5669280" cy="402336"/>
          </a:xfrm>
          <a:prstGeom prst="rect">
            <a:avLst/>
          </a:prstGeom>
          <a:solidFill>
            <a:srgbClr val="202020"/>
          </a:solidFill>
          <a:ln w="12700">
            <a:solidFill>
              <a:srgbClr val="44444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5840" y="3712464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+ Exos equity — EAI units at 409A (Rule 504, ~0.59%)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0" y="3712464"/>
            <a:ext cx="1005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$1.0M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31520" y="4151376"/>
            <a:ext cx="6035040" cy="530352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868680" y="4233672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② Total at financing close (SSLC asset acquisition)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4233672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2ECC71"/>
                </a:solidFill>
              </a:rPr>
              <a:t>$4.86M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1051560"/>
            <a:ext cx="20116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Issued at financing close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Restricted at issuance (Rule 504)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Part of RTO public float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Freely tradeable at listing</a:t>
            </a:r>
            <a:endParaRPr lang="en-US" sz="1100" dirty="0"/>
          </a:p>
        </p:txBody>
      </p:sp>
      <p:pic>
        <p:nvPicPr>
          <p:cNvPr id="29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1" name="Text 2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128016"/>
            <a:ext cx="85039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Value Grows: Earn-Outs &amp; Milestones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20040" y="56692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640080"/>
            <a:ext cx="201168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0040" y="676656"/>
            <a:ext cx="193852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Earn-Out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31720" y="640080"/>
            <a:ext cx="187452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676656"/>
            <a:ext cx="1801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Target SSLC Must Hit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5196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29768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Low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4924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9496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46520" y="640080"/>
            <a:ext cx="105156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92240" y="676656"/>
            <a:ext cx="97840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High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543800" y="640080"/>
            <a:ext cx="1005840" cy="3657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89520" y="676656"/>
            <a:ext cx="9326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6A21"/>
                </a:solidFill>
              </a:rPr>
              <a:t>Pays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005840"/>
            <a:ext cx="201168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" y="1024128"/>
            <a:ext cx="19202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5% of IM tank revenue/yr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cap $300K/yr, FY27–FY31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331720" y="1005840"/>
            <a:ext cx="187452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386584" y="1024128"/>
            <a:ext cx="17830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Revenue SSLC achieves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each year FY27–FY31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25196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0682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$3.0M/yr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→$750K total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4924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0410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$5.0M/yr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→$250K/yr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→$1.25M total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446520" y="1005840"/>
            <a:ext cx="105156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01384" y="1024128"/>
            <a:ext cx="9601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$6.0M+/yr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→$300K/yr (cap)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→$1.5M total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543800" y="1005840"/>
            <a:ext cx="1005840" cy="54864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598664" y="1024128"/>
            <a:ext cx="914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Annual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26A21"/>
                </a:solidFill>
              </a:rPr>
              <a:t>FY27–FY31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155448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" y="157276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M1  SSLC FY27 rev ≥$5.1M  →$200K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331720" y="155448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386584" y="157276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≥$5.1M in FY27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25196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0682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34924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0410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46520" y="155448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501384" y="157276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543800" y="155448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98664" y="157276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FY28 Q1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74320" y="192024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9184" y="193852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M2  Nebula OTV flight tank set delivered &amp; accepted by IM  →$200K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192024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86584" y="193852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Tank set delivered and accepted by Intuitive Machines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25196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30682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34924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40410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46520" y="192024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501384" y="193852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543800" y="192024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598664" y="193852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At acceptance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274320" y="2286000"/>
            <a:ext cx="201168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329184" y="230428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M3  SSLC annual rev ≥$10M  →$250K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331720" y="2286000"/>
            <a:ext cx="187452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2386584" y="230428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≥$10M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25196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30682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34924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40410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46520" y="2286000"/>
            <a:ext cx="105156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501384" y="230428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7543800" y="2286000"/>
            <a:ext cx="1005840" cy="36576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598664" y="230428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" y="2651760"/>
            <a:ext cx="201168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29184" y="2670048"/>
            <a:ext cx="1920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M4  SSLC annual rev ≥$20M  →$250K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2331720" y="2651760"/>
            <a:ext cx="18745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2386584" y="2670048"/>
            <a:ext cx="1783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Annual rev ≥$20M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25196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30682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34924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0410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6446520" y="2651760"/>
            <a:ext cx="105156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501384" y="2670048"/>
            <a:ext cx="9601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543800" y="2651760"/>
            <a:ext cx="10058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598664" y="2670048"/>
            <a:ext cx="914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FY31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274320" y="3017520"/>
            <a:ext cx="201168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329184" y="30358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M5  50% reduction in tank build cost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build-process automation proven)  →$200K (High)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2331720" y="3017520"/>
            <a:ext cx="187452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2386584" y="30358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50% cost reduction proven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(dome &amp; process automation)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425196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30682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534924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540410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</a:rPr>
              <a:t>—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446520" y="3017520"/>
            <a:ext cx="105156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6501384" y="30358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CC71"/>
                </a:solidFill>
              </a:rPr>
              <a:t>✓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7543800" y="3017520"/>
            <a:ext cx="1005840" cy="457200"/>
          </a:xfrm>
          <a:prstGeom prst="rect">
            <a:avLst/>
          </a:prstGeom>
          <a:solidFill>
            <a:srgbClr val="1A2035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7598664" y="30358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Est. FY27–28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274320" y="3474720"/>
            <a:ext cx="201168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29184" y="3493008"/>
            <a:ext cx="19202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Exos stock earn-out at RTO listing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(adds to ~0.59% EAI up-front)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2331720" y="3474720"/>
            <a:ext cx="187452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2386584" y="3493008"/>
            <a:ext cx="1783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CCCCC"/>
                </a:solidFill>
              </a:rPr>
              <a:t>Issued at RTO listing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425196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430682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$0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(0.0%)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534924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40410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$625K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(0.25%)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6446520" y="3474720"/>
            <a:ext cx="105156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501384" y="34930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$1,500K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(0.50%)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7543800" y="3474720"/>
            <a:ext cx="100584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98664" y="3493008"/>
            <a:ext cx="914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Post-RTO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~FY29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274320" y="3931920"/>
            <a:ext cx="201168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329184" y="3950208"/>
            <a:ext cx="1920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CCCCC"/>
                </a:solidFill>
              </a:rPr>
              <a:t>TOTAL EARN-OUTS  (③ minus ②)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2331720" y="3931920"/>
            <a:ext cx="187452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2386584" y="3950208"/>
            <a:ext cx="1783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425196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30682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$950K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534924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540410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$2,525K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6446520" y="3931920"/>
            <a:ext cx="105156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6501384" y="3950208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$4,100K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7543800" y="3931920"/>
            <a:ext cx="1005840" cy="384048"/>
          </a:xfrm>
          <a:prstGeom prst="rect">
            <a:avLst/>
          </a:prstGeom>
          <a:solidFill>
            <a:srgbClr val="0A2800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598664" y="3950208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71"/>
                </a:solidFill>
              </a:rPr>
              <a:t>5-yr total</a:t>
            </a:r>
            <a:endParaRPr lang="en-US" sz="1100" dirty="0"/>
          </a:p>
        </p:txBody>
      </p:sp>
      <p:pic>
        <p:nvPicPr>
          <p:cNvPr id="11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3" name="Text 11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14" name="Text 11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 Offer Value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49808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</a:rPr>
              <a:t>③  5-Year Total (earn-outs realized)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5720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Low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$5.8M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7452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87452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Base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$7.4M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96596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87452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91840" y="1261872"/>
            <a:ext cx="1325880" cy="1234440"/>
          </a:xfrm>
          <a:prstGeom prst="rect">
            <a:avLst/>
          </a:prstGeom>
          <a:solidFill>
            <a:srgbClr val="0A2800"/>
          </a:solidFill>
          <a:ln w="12700">
            <a:solidFill>
              <a:srgbClr val="2ECC7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291840" y="1298448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CC71"/>
                </a:solidFill>
              </a:rPr>
              <a:t>High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15819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</a:rPr>
              <a:t>$9.0M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3383280" y="2176272"/>
            <a:ext cx="1143000" cy="256032"/>
          </a:xfrm>
          <a:prstGeom prst="rect">
            <a:avLst/>
          </a:prstGeom>
          <a:solidFill>
            <a:srgbClr val="143000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291840" y="2194560"/>
            <a:ext cx="1325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5-yr realized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09160" y="914400"/>
            <a:ext cx="0" cy="329184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89204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④  If Exos Stock Held to 2031  (projection)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892040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Low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$11.5M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956048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4892040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81928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6281928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Base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281928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$15.3M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6345936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6281928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71816" y="1261872"/>
            <a:ext cx="1316736" cy="1234440"/>
          </a:xfrm>
          <a:prstGeom prst="rect">
            <a:avLst/>
          </a:prstGeom>
          <a:solidFill>
            <a:srgbClr val="1A0A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7671816" y="1298448"/>
            <a:ext cx="131673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6A21"/>
                </a:solidFill>
              </a:rPr>
              <a:t>High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71816" y="1581912"/>
            <a:ext cx="131673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26A21"/>
                </a:solidFill>
              </a:rPr>
              <a:t>$18.9M</a:t>
            </a:r>
            <a:endParaRPr lang="en-US" sz="2200" dirty="0"/>
          </a:p>
        </p:txBody>
      </p:sp>
      <p:sp>
        <p:nvSpPr>
          <p:cNvPr id="35" name="Shape 33"/>
          <p:cNvSpPr/>
          <p:nvPr/>
        </p:nvSpPr>
        <p:spPr>
          <a:xfrm>
            <a:off x="7735824" y="2176272"/>
            <a:ext cx="1188720" cy="256032"/>
          </a:xfrm>
          <a:prstGeom prst="rect">
            <a:avLst/>
          </a:prstGeom>
          <a:solidFill>
            <a:srgbClr val="2A1000"/>
          </a:solidFill>
          <a:ln/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671816" y="2194560"/>
            <a:ext cx="13167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</a:rPr>
              <a:t>if held to 2031</a:t>
            </a:r>
            <a:endParaRPr lang="en-US" sz="900" dirty="0"/>
          </a:p>
        </p:txBody>
      </p:sp>
      <p:pic>
        <p:nvPicPr>
          <p:cNvPr id="37" name="Image 0" descr="/Users/exomac/.openclaw/workspace/drafts/SSLC_OptionB_Total_Compensation_5yr_2026-10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" y="2606040"/>
            <a:ext cx="8503920" cy="219456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320040" y="2542032"/>
            <a:ext cx="8503920" cy="146304"/>
          </a:xfrm>
          <a:prstGeom prst="rect">
            <a:avLst/>
          </a:prstGeom>
          <a:solidFill>
            <a:srgbClr val="222200"/>
          </a:solidFill>
          <a:ln/>
        </p:spPr>
        <p:txBody>
          <a:bodyPr/>
          <a:p/>
        </p:txBody>
      </p:sp>
      <p:sp>
        <p:nvSpPr>
          <p:cNvPr id="39" name="Text 36"/>
          <p:cNvSpPr txBox="1"/>
          <p:nvPr/>
        </p:nvSpPr>
        <p:spPr>
          <a:xfrm>
            <a:off x="365760" y="2551176"/>
            <a:ext cx="8412480" cy="118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88888"/>
                </a:solidFill>
              </a:rPr>
              <a:t>④ is a forward-looking projection, not a guarantee; an alternative to ③ — not added to it. RTO may not close.</a:t>
            </a:r>
            <a:endParaRPr lang="en-US" sz="800" dirty="0"/>
          </a:p>
        </p:txBody>
      </p:sp>
      <p:pic>
        <p:nvPicPr>
          <p:cNvPr id="40" name="Image 1" descr="/Users/exomac/.openclaw/workspace/drafts/_exos_white_offic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41" name="Text 37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Exos Stock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Instrument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$1.0M EAI units at the current 409A valuation (~$169.7M); ~0.59% fully diluted at issuance.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3327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Offering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0759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Part of Exos's Rule 504 Regulation D offering. U.S. persons only. Counts toward the $10M rolling 12-month cap.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Restricted at issuance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carry a restrictive legend at issuance (Rule 504 Reg D). Not freely tradeable prior to the RTO listing.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224028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00600" y="231343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Public float at RTO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258775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Structured to be part of the public float at going public. No principals' lockup applies to these units; locked-up shares would not count as float.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292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Freely tradeable at listing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Becomes freely tradeable at the RTO listing (no lockup on the up-front units). Covered by the RTO resale registration.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63440" y="3520440"/>
            <a:ext cx="4023360" cy="1170432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59359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Timeline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800600" y="3867912"/>
            <a:ext cx="37490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CCCCC"/>
                </a:solidFill>
              </a:rPr>
              <a:t>Units issued at financing close. Targeted RTO ~6 months post-financing. Not assured — RTO may not close.</a:t>
            </a:r>
            <a:endParaRPr lang="en-US" sz="1200" dirty="0"/>
          </a:p>
        </p:txBody>
      </p:sp>
      <p:pic>
        <p:nvPicPr>
          <p:cNvPr id="22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SSLC Employees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Employment Offer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shall offer employment to SSLC employees — including management, support, engineering, and other technical and manufacturing employees — on terms no less favorable than their current terms with SSLC, including compensation and benefits.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Subject to each employee satisfying Exos's standard hiring policies and Exos's completion of confirmatory due diligence.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005840"/>
            <a:ext cx="4114800" cy="2743200"/>
          </a:xfrm>
          <a:prstGeom prst="rect">
            <a:avLst/>
          </a:prstGeom>
          <a:solidFill>
            <a:srgbClr val="1C1C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7899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6A21"/>
                </a:solidFill>
              </a:rPr>
              <a:t>Key-Employee Option Pool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481328"/>
            <a:ext cx="38404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</a:rPr>
              <a:t>Exos has an option pool for key employees. The allocation, key-employee retention and new-hire structure will be mutually agreed post-acquisition.</a:t>
            </a:r>
            <a:endParaRPr lang="en-US" sz="1300" dirty="0"/>
          </a:p>
        </p:txBody>
      </p:sp>
      <p:pic>
        <p:nvPicPr>
          <p:cNvPr id="1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Exos Funding Commitments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1480" y="914400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95097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$2.51M cash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989320" y="95097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48640" y="133502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SSLC transaction costs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133502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11480" y="2066544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48640" y="2103120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Working-capital bridge $500K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89320" y="2103120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2450592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48640" y="2487168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$1.0M Exos stock (EAI units, Rule 504)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2487168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2834640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48640" y="2871216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Capital in the new year — physical space and a second winder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2871216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(amount TBD; committed at financing close)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548640" y="3255264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Employment offers + option pool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255264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at financing close (target Feb 15th)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602736"/>
            <a:ext cx="8321040" cy="365760"/>
          </a:xfrm>
          <a:prstGeom prst="rect">
            <a:avLst/>
          </a:prstGeom>
          <a:solidFill>
            <a:srgbClr val="212121"/>
          </a:solidFill>
          <a:ln w="12700">
            <a:solidFill>
              <a:srgbClr val="2A2A2A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548640" y="3639312"/>
            <a:ext cx="5303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Earn-outs on milestones and tank revenue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639312"/>
            <a:ext cx="2606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FY27–FY31 as triggered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4078224"/>
            <a:ext cx="8412480" cy="594360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02920" y="4142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One decision today: confirm §3 exclusivity  →  90 days  →  financing close target Feb 15th</a:t>
            </a:r>
            <a:endParaRPr lang="en-US" sz="1500" dirty="0"/>
          </a:p>
        </p:txBody>
      </p:sp>
      <p:pic>
        <p:nvPicPr>
          <p:cNvPr id="30" name="Image 0" descr="/Users/exomac/.openclaw/workspace/drafts/_exos_white_of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4754880"/>
            <a:ext cx="1188720" cy="256032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554480" y="4800600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DRAFT — NEGOTIATING TERMS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0" y="4800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88888"/>
                </a:solidFill>
              </a:rPr>
              <a:t>CONFIDENTIAL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64008"/>
            <a:ext cx="8686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Board 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457200"/>
            <a:ext cx="1371600" cy="32004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512064"/>
            <a:ext cx="8778240" cy="89611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512064"/>
            <a:ext cx="50292" cy="89611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80" y="512064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" y="512064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176" y="539496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Confirm §3 Exclusivity (May 2025 Asset Acquisition Agreement)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7" y="5303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67665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81812"/>
            <a:ext cx="6629400" cy="608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Approve a 90-day exclusivity period beginning on the date of this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Extension not unreasonably withheld (per §3). Allows both parties to proceed to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diligence, definitive agreement, and financing close (target: Feb 15th, 2027).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80" y="1444752"/>
            <a:ext cx="8778240" cy="98755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82880" y="1444752"/>
            <a:ext cx="50292" cy="98755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82880" y="1444752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2880" y="1444752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" y="1472184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481328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Grant Full Read-Only QuickBooks Online Access for Diligence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7" y="14630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160934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1714500"/>
            <a:ext cx="6629400" cy="699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00" b="0">
                <a:solidFill>
                  <a:srgbClr val="CCCCCC"/>
                </a:solidFill>
                <a:latin typeface="Calibri"/>
              </a:rPr>
              <a:t>Authorize an all-access or accountant user for John Quinn and one Exos finance reviewer.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Purpose: reconcile the $942K "billed-ahead" balance and shared-facility costs before close.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Basis: Cal. Corp. Code §1602 director inspection right + AAA §4 confirmatory diligence.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Also provide: stock ledger, cap table, subscription agreements, and paid-in capital</a:t>
            </a:r>
          </a:p>
          <a:p>
            <a:r>
              <a:rPr sz="700" b="0">
                <a:solidFill>
                  <a:srgbClr val="CCCCCC"/>
                </a:solidFill>
                <a:latin typeface="Calibri"/>
              </a:rPr>
              <a:t>by shareholder (books: $1,014,465 total paid-in; need per-holder to compare payout vs. invested).</a:t>
            </a:r>
          </a:p>
          <a:p>
            <a:r>
              <a:rPr sz="750" b="1">
                <a:solidFill>
                  <a:srgbClr val="F26A21"/>
                </a:solidFill>
                <a:latin typeface="Calibri"/>
              </a:rPr>
              <a:t>Confidential under the 7/27/2021 NDA.  Access to be granted no later than October 15, 2026.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80" y="2468880"/>
            <a:ext cx="8778240" cy="117043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82880" y="2468880"/>
            <a:ext cx="50292" cy="117043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80" y="2468880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2880" y="2468880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5176" y="2496312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505456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Correct AR Unbilled / Customer-Deposit Accounting Within 5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7" y="248716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7" y="263347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738628"/>
            <a:ext cx="6629400" cy="88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Direct A La Carte Solutions (bookkeeper) + Singer Lewak / Welch &amp; Co. to reconcile and correct: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Acct 1110 AR Unbilled ($942,177) and Acct 2380 Deposits ($120,000) within 5 days of approval.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Clear start-billings on completed/shipped tanks; post missing Jul–Sep 2026 rev-rec entries.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• Tank-by-tank reconciliation (IM-109/122/134, EXOS-133) + corrected balance sheet to all directors.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" y="3675887"/>
            <a:ext cx="8778240" cy="850392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2880" y="3675887"/>
            <a:ext cx="50292" cy="85039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2880" y="3675887"/>
            <a:ext cx="8778240" cy="233172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82880" y="3675887"/>
            <a:ext cx="50292" cy="233172"/>
          </a:xfrm>
          <a:prstGeom prst="rect">
            <a:avLst/>
          </a:prstGeom>
          <a:solidFill>
            <a:srgbClr val="F26A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5176" y="3703320"/>
            <a:ext cx="41148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26A21"/>
                </a:solidFill>
                <a:latin typeface="Cambria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712463"/>
            <a:ext cx="6629400" cy="178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Calibri"/>
              </a:rPr>
              <a:t>Consent to ERP/MRP &amp; Inventory Evaluation (Separate Motion)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16367" y="3694175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BB44"/>
                </a:solidFill>
                <a:latin typeface="Calibri"/>
              </a:rPr>
              <a:t>☐  Approve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6367" y="3840479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6666"/>
                </a:solidFill>
                <a:latin typeface="Calibri"/>
              </a:rPr>
              <a:t>☐  Decline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3945635"/>
            <a:ext cx="6629400" cy="562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CCCCCC"/>
                </a:solidFill>
                <a:latin typeface="Calibri"/>
              </a:rPr>
              <a:t>Authorize Exos to use the same QB data to evaluate its in-house ERP/MRP and inventory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systems for the combined operation.  Confidential under the NDA.</a:t>
            </a:r>
          </a:p>
          <a:p>
            <a:r>
              <a:rPr sz="750" b="0">
                <a:solidFill>
                  <a:srgbClr val="CCCCCC"/>
                </a:solidFill>
                <a:latin typeface="Calibri"/>
              </a:rPr>
              <a:t>Does not create any obligation to implement; evaluation only.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4553712"/>
            <a:ext cx="8778240" cy="182880"/>
          </a:xfrm>
          <a:prstGeom prst="rect">
            <a:avLst/>
          </a:prstGeom>
          <a:solidFill>
            <a:srgbClr val="1A0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" y="4571999"/>
            <a:ext cx="854964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F26A21"/>
                </a:solidFill>
                <a:latin typeface="Calibri"/>
              </a:rPr>
              <a:t>Governance: John Quinn abstains on all motions as an interested director; motions are decided by the disinterested directors.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4892040"/>
            <a:ext cx="6035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888888"/>
                </a:solidFill>
                <a:latin typeface="Calibri"/>
              </a:rPr>
              <a:t>DRAFT — NEGOTIATING TERMS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4892040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1">
                <a:solidFill>
                  <a:srgbClr val="888888"/>
                </a:solidFill>
                <a:latin typeface="Calibri"/>
              </a:rP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exomac/.openclaw/workspace/drafts/_exos_hero_bg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57200" y="274320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 to Close</a:t>
            </a:r>
            <a:endParaRPr lang="en-US" sz="2200" dirty="0"/>
          </a:p>
        </p:txBody>
      </p:sp>
      <p:sp>
        <p:nvSpPr>
          <p:cNvPr id="4" name="Shape 1"/>
          <p:cNvSpPr/>
          <p:nvPr/>
        </p:nvSpPr>
        <p:spPr>
          <a:xfrm>
            <a:off x="457200" y="768096"/>
            <a:ext cx="1371600" cy="36576"/>
          </a:xfrm>
          <a:prstGeom prst="rect">
            <a:avLst/>
          </a:prstGeom>
          <a:solidFill>
            <a:srgbClr val="F26A21"/>
          </a:solidFill>
          <a:ln/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1024128" y="1426464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914400"/>
            <a:ext cx="512064" cy="512064"/>
          </a:xfrm>
          <a:prstGeom prst="ellipse">
            <a:avLst/>
          </a:prstGeom>
          <a:solidFill>
            <a:srgbClr val="F26A21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978408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11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93268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Board Votes — Four Motions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1197864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Today — action requested at this meeting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24128" y="2121408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48640" y="1609344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548640" y="1673352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234440" y="162763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90-Day Exclusivity Window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34440" y="1892808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Negotiation and diligence period begins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24128" y="2816352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548640" y="2304288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48640" y="2368296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234440" y="232257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Definitive Agreement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2587752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Key terms, employee pool, earn-out detail finalized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24128" y="3511296"/>
            <a:ext cx="0" cy="201168"/>
          </a:xfrm>
          <a:prstGeom prst="line">
            <a:avLst/>
          </a:prstGeom>
          <a:noFill/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548640" y="2999232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548640" y="3063240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301752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Financing Close — target Feb 15th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34440" y="3282696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Cash at close + EAI units issued; ① + stock = ②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3694176"/>
            <a:ext cx="512064" cy="512064"/>
          </a:xfrm>
          <a:prstGeom prst="ellipse">
            <a:avLst/>
          </a:prstGeom>
          <a:solidFill>
            <a:srgbClr val="2A2A2A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 txBox="1"/>
          <p:nvPr/>
        </p:nvSpPr>
        <p:spPr>
          <a:xfrm>
            <a:off x="548640" y="3758184"/>
            <a:ext cx="51206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6A21"/>
                </a:solidFill>
              </a:rPr>
              <a:t>5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3712464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Targeted RTO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34440" y="3977640"/>
            <a:ext cx="6858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~6 months post-financing; units tradeable at listing (not assured)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365760" y="4407408"/>
            <a:ext cx="8412480" cy="402336"/>
          </a:xfrm>
          <a:prstGeom prst="rect">
            <a:avLst/>
          </a:prstGeom>
          <a:solidFill>
            <a:srgbClr val="2A1000"/>
          </a:solidFill>
          <a:ln w="12700">
            <a:solidFill>
              <a:srgbClr val="F26A21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502920" y="4443984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6A21"/>
                </a:solidFill>
              </a:rPr>
              <a:t>The Board is asked to vote on Motions 1–4. Questions and open items welcome.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xos Aerospace">
  <a:themeElements>
    <a:clrScheme name="Exos Aerospace">
      <a:dk1>
        <a:srgbClr val="111111"/>
      </a:dk1>
      <a:lt1>
        <a:srgbClr val="FFFFFF"/>
      </a:lt1>
      <a:dk2>
        <a:srgbClr val="1A1A1A"/>
      </a:dk2>
      <a:lt2>
        <a:srgbClr val="F5F5F5"/>
      </a:lt2>
      <a:accent1>
        <a:srgbClr val="F26A21"/>
      </a:accent1>
      <a:accent2>
        <a:srgbClr val="888888"/>
      </a:accent2>
      <a:accent3>
        <a:srgbClr val="2ECC71"/>
      </a:accent3>
      <a:accent4>
        <a:srgbClr val="C0392B"/>
      </a:accent4>
      <a:accent5>
        <a:srgbClr val="555555"/>
      </a:accent5>
      <a:accent6>
        <a:srgbClr val="333333"/>
      </a:accent6>
      <a:hlink>
        <a:srgbClr val="F26A21"/>
      </a:hlink>
      <a:folHlink>
        <a:srgbClr val="AAAAAA"/>
      </a:folHlink>
    </a:clrScheme>
    <a:fontScheme name="Exos Aerospa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2026-10-10T23:08:01Z</dcterms:created>
  <dcterms:modified xsi:type="dcterms:W3CDTF">2026-10-10T23:08:01Z</dcterms:modified>
</cp:coreProperties>
</file>