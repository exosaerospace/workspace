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8" r:id="rId19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2.xml"/><Relationship Id="rId1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SSLC QB Balance Sheet 10/11/2026 (data-room/SSLC/qb-2026-10-11/SSLC_Balance_Sheet.xlsx).</a:t>
            </a:r>
            <a:br/>
            <a:r>
              <a:t>Cash $590,344; AR Unbilled (billed-ahead) −$942,177; deposits $120,000.</a:t>
            </a:r>
            <a:br/>
            <a:r>
              <a:t>Loans &amp; notes $1,027,783 unchanged by lender.</a:t>
            </a:r>
            <a:br/>
            <a:r>
              <a:t>Total liabilities $1,296,521.</a:t>
            </a:r>
            <a:br/>
            <a:r>
              <a:t>Paid-in capital $1,014,465 (unchanged).</a:t>
            </a:r>
            <a:br/>
            <a:r>
              <a:t>Retained earnings −$2,571,013; FY27 YTD net income +$112,666.</a:t>
            </a:r>
            <a:br/>
            <a:r>
              <a:t>Total equity −$1,443,882 (10/11/2026).</a:t>
            </a:r>
            <a:br/>
            <a:r>
              <a:t>Exos loan $31,200 principal; ~$38,158 with 11% interest at 10/2. Board DENIED license; loan STANDS.</a:t>
            </a:r>
            <a:br/>
            <a:r>
              <a:t>Billed-ahead $942,177: Exos assessment is overstated; 40% start-billings not cleared at shipment; est. ~$100–200K genuinely in progress.</a:t>
            </a:r>
            <a:br/>
            <a:r>
              <a:t>Facility ~$805K since Jan 2024: rent $725K + other; doubled to ~$23.6K/mo Jul 2024. Paid via Microcosm invoices through Dec 2025, then directly to landlords. Never charged back to Microcosm on SSLC's books; Microcosm receivable = $3,529; loan to Microcosm = $0.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Projected Shareholder Payout — Sources and Ranges</a:t>
            </a:r>
            <a:br/>
            <a:br/>
            <a:r>
              <a:t>BASE CASE:</a:t>
            </a:r>
            <a:br/>
            <a:r>
              <a:t>  Exos cash price: $2,510,000 (Offer ①)</a:t>
            </a:r>
            <a:br/>
            <a:r>
              <a:t>  SSLC cash at close: ~$675,000 (est. from $590K on 10/11 + IM pace through Jan 2027)</a:t>
            </a:r>
            <a:br/>
            <a:r>
              <a:t>  Less: loans &amp; notes $1,027,783 (Microcosm $451K, Bookstore $321K, EIDL $132K, Wertz $92.5K, Exos $31.2K)</a:t>
            </a:r>
            <a:br/>
            <a:r>
              <a:t>  Less: Exos loan interest ~$8K (11% to 1/15/27)</a:t>
            </a:r>
            <a:br/>
            <a:r>
              <a:t>  Less: other current liabilities $148,738 (10/11 QB)</a:t>
            </a:r>
            <a:br/>
            <a:r>
              <a:t>  Less: customer deposits $120,000 (IM; buyer assumes performance)</a:t>
            </a:r>
            <a:br/>
            <a:r>
              <a:t>  Less: billed-ahead work $250,000 (Exos assessment: base; range $100K–$390K)</a:t>
            </a:r>
            <a:br/>
            <a:r>
              <a:t>  Less: 5% escrow $125,500 (AAA §7; released at 12 months barring claims)</a:t>
            </a:r>
            <a:br/>
            <a:r>
              <a:t>  Net cash at close: ~$1.51M</a:t>
            </a:r>
            <a:br/>
            <a:r>
              <a:t>  Plus: Exos stock $1.0M (EAI units, Rule 504, 409A)</a:t>
            </a:r>
            <a:br/>
            <a:r>
              <a:t>  Plus: escrow release $126K</a:t>
            </a:r>
            <a:br/>
            <a:r>
              <a:t>  Plus: earn-outs $2.525M base (FY27–FY31 tank milestones + stock)</a:t>
            </a:r>
            <a:br/>
            <a:r>
              <a:t>  Total: ~$5.16M</a:t>
            </a:r>
            <a:br/>
            <a:br/>
            <a:r>
              <a:t>LOW CASE (net cash $1.28M / 5-yr $3.4M): billed-ahead $390K; SSLC cash stays at $590K; earn-outs $950K</a:t>
            </a:r>
            <a:br/>
            <a:r>
              <a:t>HIGH CASE (net cash $1.74M / 5-yr $7.0M): billed-ahead $100K; SSLC cash $761K; earn-outs $4.1M</a:t>
            </a:r>
            <a:br/>
            <a:br/>
            <a:r>
              <a:t>Stock ledger need: Exos's 18.06% stake credited via $790K in purchase price. Other holders' exact per-share payout cannot be confirmed without stock ledger and subscription agreements. GL records 7/24/2024 conversion: $30K Exos loan → 5,464 shares. Must be reconciled.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§3 exclusivity — 90-day window begins on board approval (May 2025 AAA)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"Billed-ahead" balance: $942,177 booked as of 10/11. Exos's assessment: overstated — SSLC bills IM ~40% at tank start; those start-billings appear not cleared at shipment. Est. ~$100–200K genuinely in progress. Reconciliation requested via Motion 2.  |  Facility costs since Jan 2024: ~$805K (rent $725K + other; doubled to ~$23.6K/mo Jul 2024). Never charged back to Microcosm on SSLC's books.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per SSLC QuickBooks 10/11/2026; Exos billed-ahead assessment pending reconciliation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pic>
        <p:nvPicPr>
          <p:cNvPr id="37" name="Image 0" descr="/Users/exomac/.openclaw/workspace/drafts/SSLC_OptionB_Total_Compensation_5yr_2026-10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606040"/>
            <a:ext cx="8503920" cy="21945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④ is a forward-looking projection, not a guarantee; an alternative to ③ — not added to it. RTO may not close.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One decision today: confirm §3 exclusivity  →  90 days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mbria"/>
              </a:rPr>
              <a:t>Projected Shareholder Payout — Close Jan 15, 2027  (Base Case, Current 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66344"/>
            <a:ext cx="201168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26A21"/>
                </a:solidFill>
                <a:latin typeface="Calibri"/>
              </a:rPr>
              <a:t>Cash to Shareholders at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79552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Exos cash purchase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19" y="79552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+$2,510,000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60119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  <a:latin typeface="Calibri"/>
              </a:rPr>
              <a:t>+ SSLC cash at close (est.; $590K on 10/11)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19" y="960119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+$675,000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61287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124711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Subtotal inflows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19" y="1124711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CCCCC"/>
                </a:solidFill>
                <a:latin typeface="Calibri"/>
              </a:rPr>
              <a:t>$3,185,000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2984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SSLC loans &amp;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19" y="12984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($1,027,783)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1449323"/>
            <a:ext cx="41513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Microcosm $451K · Bookstore $321K · EIDL $132K · Wertz $92.5K · Exos $31.2K+int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591055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Other current liabilities (AP, accruals)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19" y="1591055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($148,738)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17556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Customer deposits (IM, transferred)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19" y="17556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($120,000)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1920239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Billed-ahead work, genuine (Exos est.)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19" y="1920239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($250,000)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2084831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− 5% escrow holdback (released 12 months)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19" y="2084831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($125,500)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258568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286000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Net cash distributable at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19" y="22860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26A21"/>
                </a:solidFill>
                <a:latin typeface="Calibri"/>
              </a:rPr>
              <a:t>~$1.51M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2500884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Exos stock (EAI units, Rule 504, 409A)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19" y="2500884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+$1,000,000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266547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Escrow release at 12 months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19" y="266547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+$126,000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83006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Earn-outs base case (FY27–FY31)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19" y="283006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+$2,525,000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003804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031236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~5-year total to SSLC shareholders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303123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26A21"/>
                </a:solidFill>
                <a:latin typeface="Calibri"/>
              </a:rPr>
              <a:t>~$5.16M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4515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4515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26A21"/>
                </a:solidFill>
                <a:latin typeface="Calibri"/>
              </a:rPr>
              <a:t>What Shareholders Paid In vs. Will Receive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813815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PAID-IN CAPITAL (per SSLC books)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996695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  <a:latin typeface="Calibri"/>
              </a:rPr>
              <a:t>Common stock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996695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$1,010,423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1161287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  <a:latin typeface="Calibri"/>
              </a:rPr>
              <a:t>Additional paid-in capital (APIC)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1161287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$4,042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1344167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1325879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325879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1499615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Exos: $790,000 for 18.06% — recognized via $790K stake credit in price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1659635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All other holders: ~$224,000 combined for 81.94%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1851660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PROJECTED RETURN  (OTHER HOLDERS, 81.94%)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2043684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Cash + stock at close (est.)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2043684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~$2.5M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20827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Total over 5 years incl. earn-outs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220827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~$5.2M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2391156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0" y="2409444"/>
            <a:ext cx="30632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Implied return on invested capital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0" y="2409444"/>
            <a:ext cx="14630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CC44"/>
                </a:solidFill>
                <a:latin typeface="Calibri"/>
              </a:rPr>
              <a:t>11× at close / 23× over 5 yrs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54880" y="2610612"/>
            <a:ext cx="41513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Framed as: holders who invested ~$224K receive a strong return.
Exos’s 18.06% is absorbed in the $790K credit built into the purchase price —
no additional cash from Exos for Exos’s own stake.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54880" y="3049524"/>
            <a:ext cx="4151376" cy="260603"/>
          </a:xfrm>
          <a:prstGeom prst="rect">
            <a:avLst/>
          </a:prstGeom>
          <a:solidFill>
            <a:srgbClr val="22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28032" y="308610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FFCC44"/>
                </a:solidFill>
                <a:latin typeface="Calibri"/>
              </a:rPr>
              <a:t>Note: insiders receive ~$544K debt repayment at close ahead of equity distributions
(Microcosm $451K + Wertz $93K + Exos $39K with interest).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4592" y="4069080"/>
            <a:ext cx="881481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64592" y="4087368"/>
            <a:ext cx="8814816" cy="694944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4123944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Why We Need the Stock Ledger (Motion 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4315968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SSLC’s books carry paid-in capital only as one total ($1,014,465); per-holder amounts and share counts are not on the books.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4457700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GL shows a 7/24/2024 conversion of a $30K Exos loan into 5,464 shares that must be reconciled to the $790K stake credit.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4599432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~$544K of insider debt is repaid at close ahead of equity distributions; the 81.94% split can’t be validated without the stock ledger, cap table and subscription agreements.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" y="4782312"/>
            <a:ext cx="8778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Projection on current SSLC books (10/11/2026) and Exos estimates; not a guarantee.  Billed-ahead balance under reconciliation (Motion 3).  Low/high: net cash $1.28M–$1.74M; 5-yr total $3.4M–$7.0M.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54480" y="4956048"/>
            <a:ext cx="6035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0" y="4956048"/>
            <a:ext cx="1143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9496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Confirm §3 Exclusivity (May 2025 Asset Acquisition Agreement)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Approve a 90-day exclusivity period beginning on the date of this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Extension not unreasonably withheld (per §3). Allows both parties to proceed to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diligence, definitive agreement, and financing close (target: Feb 15th, 2027).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47218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48132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4630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6093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714500"/>
            <a:ext cx="662940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CCCCCC"/>
                </a:solidFill>
                <a:latin typeface="Calibri"/>
              </a:rPr>
              <a:t>Authorize an all-access or accountant user for John Quinn and one Exos finance reviewer.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Purpose: reconcile the $942K "billed-ahead" balance and shared-facility costs before close.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Basis: Cal. Corp. Code §1602 director inspection right + AAA §4 confirmatory diligence.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Also provide: stock ledger, cap table, subscription agreements, and paid-in capital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by shareholder (books: $1,014,465 total paid-in; need per-holder to compare payout vs. invested).</a:t>
            </a:r>
          </a:p>
          <a:p>
            <a:r>
              <a:rPr sz="750" b="1">
                <a:solidFill>
                  <a:srgbClr val="F26A21"/>
                </a:solidFill>
                <a:latin typeface="Calibri"/>
              </a:rPr>
              <a:t>Confidential under the 7/27/2021 NDA.  Access to be granted no later than October 15,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49631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05456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487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334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38628"/>
            <a:ext cx="6629400" cy="88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Direct A La Carte Solutions (bookkeeper) + Singer Lewak / Welch &amp; Co. to reconcile and correct: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Acct 1110 AR Unbilled ($942,177) and Acct 2380 Deposits ($120,000) within 5 days of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Clear start-billings on completed/shipped tanks; post missing Jul–Sep 2026 rev-rec entries.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Tank-by-tank reconciliation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703320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12463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694175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84047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945635"/>
            <a:ext cx="6629400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Authorize Exos to use the same QB data to evaluate its in-house ERP/MRP and inventory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systems for the combined operation.  Confidential under the NDA.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Does not create any obligation to implement; evaluation only.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571999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The Board is asked to vote on Motions 1–4. Questions and open items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