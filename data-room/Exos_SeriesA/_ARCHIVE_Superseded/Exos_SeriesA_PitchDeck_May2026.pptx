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diagramData" Target="../diagrams/data1.xml"/><Relationship Id="rId26" Type="http://schemas.openxmlformats.org/officeDocument/2006/relationships/image" Target="../media/image22.png"/><Relationship Id="rId3" Type="http://schemas.openxmlformats.org/officeDocument/2006/relationships/image" Target="../media/image4.png"/><Relationship Id="rId21" Type="http://schemas.openxmlformats.org/officeDocument/2006/relationships/diagramColors" Target="../diagrams/colors1.xml"/><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1.png"/><Relationship Id="rId2" Type="http://schemas.openxmlformats.org/officeDocument/2006/relationships/image" Target="../media/image3.png"/><Relationship Id="rId16" Type="http://schemas.openxmlformats.org/officeDocument/2006/relationships/image" Target="../media/image17.tiff"/><Relationship Id="rId20" Type="http://schemas.openxmlformats.org/officeDocument/2006/relationships/diagramQuickStyle" Target="../diagrams/quickStyle1.xml"/><Relationship Id="rId1" Type="http://schemas.openxmlformats.org/officeDocument/2006/relationships/slideLayout" Target="../slideLayouts/slideLayout18.xml"/><Relationship Id="rId6" Type="http://schemas.openxmlformats.org/officeDocument/2006/relationships/image" Target="../media/image7.jpg"/><Relationship Id="rId11" Type="http://schemas.openxmlformats.org/officeDocument/2006/relationships/image" Target="../media/image12.jpeg"/><Relationship Id="rId24" Type="http://schemas.openxmlformats.org/officeDocument/2006/relationships/image" Target="../media/image20.png"/><Relationship Id="rId5" Type="http://schemas.openxmlformats.org/officeDocument/2006/relationships/image" Target="../media/image6.png"/><Relationship Id="rId15" Type="http://schemas.openxmlformats.org/officeDocument/2006/relationships/image" Target="../media/image16.jpg"/><Relationship Id="rId23" Type="http://schemas.openxmlformats.org/officeDocument/2006/relationships/image" Target="../media/image19.png"/><Relationship Id="rId10" Type="http://schemas.openxmlformats.org/officeDocument/2006/relationships/image" Target="../media/image11.png"/><Relationship Id="rId19" Type="http://schemas.openxmlformats.org/officeDocument/2006/relationships/diagramLayout" Target="../diagrams/layout1.xml"/><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jpg"/><Relationship Id="rId22" Type="http://schemas.microsoft.com/office/2007/relationships/diagramDrawing" Target="../diagrams/drawing1.xml"/><Relationship Id="rId27" Type="http://schemas.openxmlformats.org/officeDocument/2006/relationships/image" Target="../media/image23.jpe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Reusable Flight Test Infrastructure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Raising: $10M Series A</a:t>
            </a:r>
          </a:p>
          <a:p>
            <a:pPr algn="l">
              <a:spcBef>
                <a:spcPts val="0"/>
              </a:spcBef>
              <a:spcAft>
                <a:spcPts val="400"/>
              </a:spcAft>
            </a:pPr>
            <a:r>
              <a:rPr sz="1400" b="0">
                <a:solidFill>
                  <a:srgbClr val="999999"/>
                </a:solidFill>
                <a:latin typeface="Calibri"/>
              </a:rPr>
              <a:t>May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launch companies — and the only one currently flying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operator offering commercial suborbital flights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COMPETITIVE MOAT</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Why Exos Is Defensible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2458028208"/>
              </p:ext>
            </p:extLst>
          </p:nvPr>
        </p:nvGraphicFramePr>
        <p:xfrm>
          <a:off x="731520" y="1737360"/>
          <a:ext cx="10515600" cy="32918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Advantage</a:t>
                      </a:r>
                    </a:p>
                  </a:txBody>
                  <a:tcPr>
                    <a:solidFill>
                      <a:srgbClr val="0A142A"/>
                    </a:solidFill>
                  </a:tcPr>
                </a:tc>
                <a:tc>
                  <a:txBody>
                    <a:bodyPr/>
                    <a:lstStyle/>
                    <a:p>
                      <a:r>
                        <a:rPr sz="1100" b="1">
                          <a:solidFill>
                            <a:srgbClr val="009ED9"/>
                          </a:solidFill>
                          <a:latin typeface="Calibri"/>
                        </a:rPr>
                        <a:t>Detail</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FAA Reusable Launch License</a:t>
                      </a:r>
                    </a:p>
                  </a:txBody>
                  <a:tcPr>
                    <a:solidFill>
                      <a:srgbClr val="0D1220"/>
                    </a:solidFill>
                  </a:tcPr>
                </a:tc>
                <a:tc>
                  <a:txBody>
                    <a:bodyPr/>
                    <a:lstStyle/>
                    <a:p>
                      <a:r>
                        <a:rPr sz="1100">
                          <a:solidFill>
                            <a:srgbClr val="FFFFFF"/>
                          </a:solidFill>
                          <a:latin typeface="Calibri"/>
                        </a:rPr>
                        <a:t>One of only 3 companies in the U.S. Renewed March 2026. Multi-year, multi-site.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Only Active Commercial Operator</a:t>
                      </a:r>
                    </a:p>
                  </a:txBody>
                  <a:tcPr>
                    <a:solidFill>
                      <a:srgbClr val="101626"/>
                    </a:solidFill>
                  </a:tcPr>
                </a:tc>
                <a:tc>
                  <a:txBody>
                    <a:bodyPr/>
                    <a:lstStyle/>
                    <a:p>
                      <a:r>
                        <a:rPr sz="1100">
                          <a:solidFill>
                            <a:srgbClr val="FFFFFF"/>
                          </a:solidFill>
                          <a:latin typeface="Calibri"/>
                        </a:rPr>
                        <a:t>The only licensed provider currently flying and offering wet-lease flight test services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 Year Flight Heritage</a:t>
                      </a:r>
                    </a:p>
                  </a:txBody>
                  <a:tcPr>
                    <a:solidFill>
                      <a:srgbClr val="0D1220"/>
                    </a:solidFill>
                  </a:tcPr>
                </a:tc>
                <a:tc>
                  <a:txBody>
                    <a:bodyPr/>
                    <a:lstStyle/>
                    <a:p>
                      <a:r>
                        <a:rPr sz="1100">
                          <a:solidFill>
                            <a:srgbClr val="FFFFFF"/>
                          </a:solidFill>
                          <a:latin typeface="Calibri"/>
                        </a:rPr>
                        <a:t>Armadillo Aerospace (2000) → Exos Aerospace (2014). X-Prize, Lunar Lander Challenge, BLK3</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Intact Hardware Recovery</a:t>
                      </a:r>
                    </a:p>
                  </a:txBody>
                  <a:tcPr>
                    <a:solidFill>
                      <a:srgbClr val="101626"/>
                    </a:solidFill>
                  </a:tcPr>
                </a:tc>
                <a:tc>
                  <a:txBody>
                    <a:bodyPr/>
                    <a:lstStyle/>
                    <a:p>
                      <a:r>
                        <a:rPr lang="en-US" sz="1100" dirty="0">
                          <a:solidFill>
                            <a:srgbClr val="FFFFFF"/>
                          </a:solidFill>
                          <a:latin typeface="Calibri"/>
                        </a:rPr>
                        <a:t>R</a:t>
                      </a:r>
                      <a:r>
                        <a:rPr sz="1100" dirty="0">
                          <a:solidFill>
                            <a:srgbClr val="FFFFFF"/>
                          </a:solidFill>
                          <a:latin typeface="Calibri"/>
                        </a:rPr>
                        <a:t>ecovers customer hardware intact from space-flight conditions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Silent Operations Model</a:t>
                      </a:r>
                    </a:p>
                  </a:txBody>
                  <a:tcPr>
                    <a:solidFill>
                      <a:srgbClr val="0D1220"/>
                    </a:solidFill>
                  </a:tcPr>
                </a:tc>
                <a:tc>
                  <a:txBody>
                    <a:bodyPr/>
                    <a:lstStyle/>
                    <a:p>
                      <a:r>
                        <a:rPr sz="1100">
                          <a:solidFill>
                            <a:srgbClr val="FFFFFF"/>
                          </a:solidFill>
                          <a:latin typeface="Calibri"/>
                        </a:rPr>
                        <a:t>Confidential test campaigns — no other provider offers this systematically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TRL-9 Lunar Tank Technology</a:t>
                      </a:r>
                    </a:p>
                  </a:txBody>
                  <a:tcPr>
                    <a:solidFill>
                      <a:srgbClr val="101626"/>
                    </a:solidFill>
                  </a:tcPr>
                </a:tc>
                <a:tc>
                  <a:txBody>
                    <a:bodyPr/>
                    <a:lstStyle/>
                    <a:p>
                      <a:r>
                        <a:rPr sz="1100">
                          <a:solidFill>
                            <a:srgbClr val="FFFFFF"/>
                          </a:solidFill>
                          <a:latin typeface="Calibri"/>
                        </a:rPr>
                        <a:t>Scorpius Type 5 tanks flew on Odysseus and Athena lunar missions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Active DoD Contracts</a:t>
                      </a:r>
                    </a:p>
                  </a:txBody>
                  <a:tcPr>
                    <a:solidFill>
                      <a:srgbClr val="0D1220"/>
                    </a:solidFill>
                  </a:tcPr>
                </a:tc>
                <a:tc>
                  <a:txBody>
                    <a:bodyPr/>
                    <a:lstStyle/>
                    <a:p>
                      <a:r>
                        <a:rPr sz="1100">
                          <a:solidFill>
                            <a:srgbClr val="FFFFFF"/>
                          </a:solidFill>
                          <a:latin typeface="Calibri"/>
                        </a:rPr>
                        <a:t>USAF SBIR Phase II (FA9300-25-C-6022) — RDRE propulsion flight demo</a:t>
                      </a:r>
                    </a:p>
                  </a:txBody>
                  <a:tcPr>
                    <a:solidFill>
                      <a:srgbClr val="0D1220"/>
                    </a:solidFill>
                  </a:tcPr>
                </a:tc>
                <a:extLst>
                  <a:ext uri="{0D108BD9-81ED-4DB2-BD59-A6C34878D82A}">
                    <a16:rowId xmlns:a16="http://schemas.microsoft.com/office/drawing/2014/main" val="10007"/>
                  </a:ext>
                </a:extLst>
              </a:tr>
              <a:tr h="365760">
                <a:tc>
                  <a:txBody>
                    <a:bodyPr/>
                    <a:lstStyle/>
                    <a:p>
                      <a:r>
                        <a:rPr sz="1100">
                          <a:solidFill>
                            <a:srgbClr val="FFFFFF"/>
                          </a:solidFill>
                          <a:latin typeface="Calibri"/>
                        </a:rPr>
                        <a:t>Dual Revenue Streams</a:t>
                      </a:r>
                    </a:p>
                  </a:txBody>
                  <a:tcPr>
                    <a:solidFill>
                      <a:srgbClr val="101626"/>
                    </a:solidFill>
                  </a:tcPr>
                </a:tc>
                <a:tc>
                  <a:txBody>
                    <a:bodyPr/>
                    <a:lstStyle/>
                    <a:p>
                      <a:r>
                        <a:rPr sz="1100" dirty="0">
                          <a:solidFill>
                            <a:srgbClr val="FFFFFF"/>
                          </a:solidFill>
                          <a:latin typeface="Calibri"/>
                        </a:rPr>
                        <a:t>Launch services + tank manufacturing = diversified, not single-product</a:t>
                      </a:r>
                    </a:p>
                  </a:txBody>
                  <a:tcPr>
                    <a:solidFill>
                      <a:srgbClr val="101626"/>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World's only TRL-9 cryogenic tank technology — deployed to the lunar surface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$1.55M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Scorpius revenue (pro forma): $3.1M for Sept 2025 – Sept 2026</a:t>
            </a:r>
          </a:p>
          <a:p>
            <a:pPr algn="l">
              <a:spcBef>
                <a:spcPts val="0"/>
              </a:spcBef>
              <a:spcAft>
                <a:spcPts val="600"/>
              </a:spcAft>
            </a:pPr>
            <a:r>
              <a:rPr sz="1300" b="0">
                <a:solidFill>
                  <a:srgbClr val="CCCCCC"/>
                </a:solidFill>
                <a:latin typeface="Calibri"/>
              </a:rPr>
              <a:t>•  Combined pro forma annual run-rate: ~$5M</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Scorpius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GROWTH — HISTORICAL</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800" b="1">
                <a:solidFill>
                  <a:srgbClr val="00C87A"/>
                </a:solidFill>
                <a:latin typeface="Calibri"/>
              </a:rPr>
              <a:t>Consistently Doubling Revenue — 102%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1168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2022</a:t>
            </a:r>
          </a:p>
        </p:txBody>
      </p:sp>
      <p:sp>
        <p:nvSpPr>
          <p:cNvPr id="8" name="Rounded Rectangle 7"/>
          <p:cNvSpPr/>
          <p:nvPr/>
        </p:nvSpPr>
        <p:spPr>
          <a:xfrm>
            <a:off x="2011680" y="2062480"/>
            <a:ext cx="896701"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91261" y="2011680"/>
            <a:ext cx="1828800" cy="457200"/>
          </a:xfrm>
          <a:prstGeom prst="rect">
            <a:avLst/>
          </a:prstGeom>
          <a:noFill/>
        </p:spPr>
        <p:txBody>
          <a:bodyPr wrap="square">
            <a:spAutoFit/>
          </a:bodyPr>
          <a:lstStyle/>
          <a:p>
            <a:pPr algn="l">
              <a:spcAft>
                <a:spcPts val="400"/>
              </a:spcAft>
            </a:pPr>
            <a:r>
              <a:rPr sz="1800" b="1">
                <a:solidFill>
                  <a:srgbClr val="FFB800"/>
                </a:solidFill>
                <a:latin typeface="Calibri"/>
              </a:rPr>
              <a:t>$0.19M</a:t>
            </a:r>
          </a:p>
        </p:txBody>
      </p:sp>
      <p:sp>
        <p:nvSpPr>
          <p:cNvPr id="10" name="TextBox 9"/>
          <p:cNvSpPr txBox="1"/>
          <p:nvPr/>
        </p:nvSpPr>
        <p:spPr>
          <a:xfrm>
            <a:off x="731520" y="310896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2023</a:t>
            </a:r>
          </a:p>
        </p:txBody>
      </p:sp>
      <p:sp>
        <p:nvSpPr>
          <p:cNvPr id="11" name="Rounded Rectangle 10"/>
          <p:cNvSpPr/>
          <p:nvPr/>
        </p:nvSpPr>
        <p:spPr>
          <a:xfrm>
            <a:off x="2011680" y="3159760"/>
            <a:ext cx="1463039"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599" y="3108960"/>
            <a:ext cx="1828800" cy="457200"/>
          </a:xfrm>
          <a:prstGeom prst="rect">
            <a:avLst/>
          </a:prstGeom>
          <a:noFill/>
        </p:spPr>
        <p:txBody>
          <a:bodyPr wrap="square">
            <a:spAutoFit/>
          </a:bodyPr>
          <a:lstStyle/>
          <a:p>
            <a:pPr algn="l">
              <a:spcAft>
                <a:spcPts val="400"/>
              </a:spcAft>
            </a:pPr>
            <a:r>
              <a:rPr sz="1800" b="1">
                <a:solidFill>
                  <a:srgbClr val="FFB800"/>
                </a:solidFill>
                <a:latin typeface="Calibri"/>
              </a:rPr>
              <a:t>$0.31M</a:t>
            </a:r>
          </a:p>
        </p:txBody>
      </p:sp>
      <p:sp>
        <p:nvSpPr>
          <p:cNvPr id="13" name="TextBox 12"/>
          <p:cNvSpPr txBox="1"/>
          <p:nvPr/>
        </p:nvSpPr>
        <p:spPr>
          <a:xfrm>
            <a:off x="731520" y="420624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2024</a:t>
            </a:r>
          </a:p>
        </p:txBody>
      </p:sp>
      <p:sp>
        <p:nvSpPr>
          <p:cNvPr id="14" name="Rounded Rectangle 13"/>
          <p:cNvSpPr/>
          <p:nvPr/>
        </p:nvSpPr>
        <p:spPr>
          <a:xfrm>
            <a:off x="2011680" y="4257040"/>
            <a:ext cx="2973274"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67834" y="4206240"/>
            <a:ext cx="1828800" cy="457200"/>
          </a:xfrm>
          <a:prstGeom prst="rect">
            <a:avLst/>
          </a:prstGeom>
          <a:noFill/>
        </p:spPr>
        <p:txBody>
          <a:bodyPr wrap="square">
            <a:spAutoFit/>
          </a:bodyPr>
          <a:lstStyle/>
          <a:p>
            <a:pPr algn="l">
              <a:spcAft>
                <a:spcPts val="400"/>
              </a:spcAft>
            </a:pPr>
            <a:r>
              <a:rPr sz="1800" b="1">
                <a:solidFill>
                  <a:srgbClr val="FFB800"/>
                </a:solidFill>
                <a:latin typeface="Calibri"/>
              </a:rPr>
              <a:t>$0.63M</a:t>
            </a:r>
          </a:p>
        </p:txBody>
      </p:sp>
      <p:sp>
        <p:nvSpPr>
          <p:cNvPr id="16" name="TextBox 15"/>
          <p:cNvSpPr txBox="1"/>
          <p:nvPr/>
        </p:nvSpPr>
        <p:spPr>
          <a:xfrm>
            <a:off x="731520" y="530352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2025</a:t>
            </a:r>
          </a:p>
        </p:txBody>
      </p:sp>
      <p:sp>
        <p:nvSpPr>
          <p:cNvPr id="17" name="Rounded Rectangle 16"/>
          <p:cNvSpPr/>
          <p:nvPr/>
        </p:nvSpPr>
        <p:spPr>
          <a:xfrm>
            <a:off x="2011680" y="5354320"/>
            <a:ext cx="7315200"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5303520"/>
            <a:ext cx="1828800" cy="457200"/>
          </a:xfrm>
          <a:prstGeom prst="rect">
            <a:avLst/>
          </a:prstGeom>
          <a:noFill/>
        </p:spPr>
        <p:txBody>
          <a:bodyPr wrap="square">
            <a:spAutoFit/>
          </a:bodyPr>
          <a:lstStyle/>
          <a:p>
            <a:pPr algn="l">
              <a:spcAft>
                <a:spcPts val="400"/>
              </a:spcAft>
            </a:pPr>
            <a:r>
              <a:rPr sz="1800" b="1">
                <a:solidFill>
                  <a:srgbClr val="FFB800"/>
                </a:solidFill>
                <a:latin typeface="Calibri"/>
              </a:rPr>
              <a:t>$1.55M</a:t>
            </a:r>
          </a:p>
        </p:txBody>
      </p:sp>
      <p:sp>
        <p:nvSpPr>
          <p:cNvPr id="19" name="Rounded Rectangle 18"/>
          <p:cNvSpPr/>
          <p:nvPr/>
        </p:nvSpPr>
        <p:spPr>
          <a:xfrm>
            <a:off x="6400800" y="1737360"/>
            <a:ext cx="5029200" cy="14630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FIRST PROFITABLE YEAR — 2025</a:t>
            </a:r>
          </a:p>
          <a:p>
            <a:pPr>
              <a:spcBef>
                <a:spcPts val="600"/>
              </a:spcBef>
            </a:pPr>
            <a:r>
              <a:rPr sz="1100">
                <a:solidFill>
                  <a:srgbClr val="CCCCCC"/>
                </a:solidFill>
                <a:latin typeface="Calibri"/>
              </a:rPr>
              <a:t>Revenue: $1.55M
EBITDA: $0.26M (17% margin)
Net Income: $0.20M
Financial figures subject to audit confirmation.</a:t>
            </a:r>
          </a:p>
        </p:txBody>
      </p:sp>
      <p:sp>
        <p:nvSpPr>
          <p:cNvPr id="20" name="Rectangle 1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Scorpius</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raised — 100% deployed, zero idle capital</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Scorpius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LISTING VENUE UNDER EVALUATION</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  Texas Stock Exchange (TXSE) — emerging U.S. small-cap exchange</a:t>
            </a:r>
          </a:p>
          <a:p>
            <a:pPr algn="l">
              <a:spcBef>
                <a:spcPts val="0"/>
              </a:spcBef>
              <a:spcAft>
                <a:spcPts val="300"/>
              </a:spcAft>
            </a:pPr>
            <a:r>
              <a:rPr sz="1100" b="0">
                <a:solidFill>
                  <a:srgbClr val="CCCCCC"/>
                </a:solidFill>
                <a:latin typeface="Calibri"/>
              </a:rPr>
              <a:t>•  Euronext Growth Dublin — EU defense capital, English-language</a:t>
            </a:r>
          </a:p>
          <a:p>
            <a:pPr algn="l">
              <a:spcBef>
                <a:spcPts val="0"/>
              </a:spcBef>
              <a:spcAft>
                <a:spcPts val="300"/>
              </a:spcAft>
            </a:pPr>
            <a:r>
              <a:rPr sz="1100" b="0">
                <a:solidFill>
                  <a:srgbClr val="CCCCCC"/>
                </a:solidFill>
                <a:latin typeface="Calibri"/>
              </a:rPr>
              <a:t>•  Reg A+ Tier 2 → NYSE American</a:t>
            </a:r>
          </a:p>
          <a:p>
            <a:pPr algn="l">
              <a:spcBef>
                <a:spcPts val="0"/>
              </a:spcBef>
              <a:spcAft>
                <a:spcPts val="300"/>
              </a:spcAft>
            </a:pPr>
            <a:r>
              <a:rPr sz="1100" b="0">
                <a:solidFill>
                  <a:srgbClr val="CCCCCC"/>
                </a:solidFill>
                <a:latin typeface="Calibri"/>
              </a:rPr>
              <a:t>•  OTCQB as interim stepping stone</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Scorpius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Uses Scorpius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$100–150M ENTERPRISE VALUE</a:t>
            </a:r>
          </a:p>
          <a:p>
            <a:pPr>
              <a:spcBef>
                <a:spcPts val="600"/>
              </a:spcBef>
            </a:pPr>
            <a:r>
              <a:rPr sz="1100">
                <a:solidFill>
                  <a:srgbClr val="CCCCCC"/>
                </a:solidFill>
                <a:latin typeface="Calibri"/>
              </a:rPr>
              <a:t>4–6x 2028E combined revenue ($25M)
In line with peers when adjusted for growth rate
CY2028 is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is the only TRL 9 technology available commercially.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Challenge2009 Armadillo prize $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HoldCo isolation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Series A</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Scorpius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Scorpius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(exchange TBD)</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exosasero.com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May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