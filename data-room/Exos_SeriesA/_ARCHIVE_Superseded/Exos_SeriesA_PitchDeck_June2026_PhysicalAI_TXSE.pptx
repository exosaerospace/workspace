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Lst>
  <p:sldIdLst>
    <p:sldId id="256" r:id="rId6"/>
    <p:sldId id="510" r:id="rId31"/>
    <p:sldId id="511" r:id="rId32"/>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509" r:id="rId21"/>
    <p:sldId id="272" r:id="rId22"/>
    <p:sldId id="273"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D39A05-8FC6-48A2-9C65-4574436B8C6C}" v="3" dt="2026-05-29T14:44:57.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2" d="100"/>
          <a:sy n="92" d="100"/>
        </p:scale>
        <p:origin x="312"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xml"/><Relationship Id="rId32"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Quinn" userId="49ef7d68-749c-4dd8-b137-19339c5a9f8b" providerId="ADAL" clId="{23154D39-0448-4989-9750-5478DE3CE1CA}"/>
    <pc:docChg chg="undo custSel addSld delSld modSld">
      <pc:chgData name="John Quinn" userId="49ef7d68-749c-4dd8-b137-19339c5a9f8b" providerId="ADAL" clId="{23154D39-0448-4989-9750-5478DE3CE1CA}" dt="2026-05-29T14:45:49.293" v="180" actId="207"/>
      <pc:docMkLst>
        <pc:docMk/>
      </pc:docMkLst>
      <pc:sldChg chg="modSp mod">
        <pc:chgData name="John Quinn" userId="49ef7d68-749c-4dd8-b137-19339c5a9f8b" providerId="ADAL" clId="{23154D39-0448-4989-9750-5478DE3CE1CA}" dt="2026-05-29T14:07:14.169" v="6" actId="1076"/>
        <pc:sldMkLst>
          <pc:docMk/>
          <pc:sldMk cId="0" sldId="256"/>
        </pc:sldMkLst>
        <pc:picChg chg="mod">
          <ac:chgData name="John Quinn" userId="49ef7d68-749c-4dd8-b137-19339c5a9f8b" providerId="ADAL" clId="{23154D39-0448-4989-9750-5478DE3CE1CA}" dt="2026-05-29T14:07:02.911" v="3" actId="1076"/>
          <ac:picMkLst>
            <pc:docMk/>
            <pc:sldMk cId="0" sldId="256"/>
            <ac:picMk id="3" creationId="{00000000-0000-0000-0000-000000000000}"/>
          </ac:picMkLst>
        </pc:picChg>
        <pc:picChg chg="mod">
          <ac:chgData name="John Quinn" userId="49ef7d68-749c-4dd8-b137-19339c5a9f8b" providerId="ADAL" clId="{23154D39-0448-4989-9750-5478DE3CE1CA}" dt="2026-05-29T14:07:14.169" v="6" actId="1076"/>
          <ac:picMkLst>
            <pc:docMk/>
            <pc:sldMk cId="0" sldId="256"/>
            <ac:picMk id="4" creationId="{00000000-0000-0000-0000-000000000000}"/>
          </ac:picMkLst>
        </pc:picChg>
      </pc:sldChg>
      <pc:sldChg chg="modSp mod">
        <pc:chgData name="John Quinn" userId="49ef7d68-749c-4dd8-b137-19339c5a9f8b" providerId="ADAL" clId="{23154D39-0448-4989-9750-5478DE3CE1CA}" dt="2026-05-29T14:11:38.251" v="30" actId="1076"/>
        <pc:sldMkLst>
          <pc:docMk/>
          <pc:sldMk cId="0" sldId="259"/>
        </pc:sldMkLst>
        <pc:spChg chg="mod">
          <ac:chgData name="John Quinn" userId="49ef7d68-749c-4dd8-b137-19339c5a9f8b" providerId="ADAL" clId="{23154D39-0448-4989-9750-5478DE3CE1CA}" dt="2026-05-29T14:09:46.965" v="20" actId="20577"/>
          <ac:spMkLst>
            <pc:docMk/>
            <pc:sldMk cId="0" sldId="259"/>
            <ac:spMk id="7" creationId="{00000000-0000-0000-0000-000000000000}"/>
          </ac:spMkLst>
        </pc:spChg>
        <pc:spChg chg="mod">
          <ac:chgData name="John Quinn" userId="49ef7d68-749c-4dd8-b137-19339c5a9f8b" providerId="ADAL" clId="{23154D39-0448-4989-9750-5478DE3CE1CA}" dt="2026-05-29T14:11:30.352" v="29" actId="1076"/>
          <ac:spMkLst>
            <pc:docMk/>
            <pc:sldMk cId="0" sldId="259"/>
            <ac:spMk id="8" creationId="{00000000-0000-0000-0000-000000000000}"/>
          </ac:spMkLst>
        </pc:spChg>
        <pc:spChg chg="mod">
          <ac:chgData name="John Quinn" userId="49ef7d68-749c-4dd8-b137-19339c5a9f8b" providerId="ADAL" clId="{23154D39-0448-4989-9750-5478DE3CE1CA}" dt="2026-05-29T14:11:30.352" v="29" actId="1076"/>
          <ac:spMkLst>
            <pc:docMk/>
            <pc:sldMk cId="0" sldId="259"/>
            <ac:spMk id="9" creationId="{00000000-0000-0000-0000-000000000000}"/>
          </ac:spMkLst>
        </pc:spChg>
        <pc:spChg chg="mod">
          <ac:chgData name="John Quinn" userId="49ef7d68-749c-4dd8-b137-19339c5a9f8b" providerId="ADAL" clId="{23154D39-0448-4989-9750-5478DE3CE1CA}" dt="2026-05-29T14:11:30.352" v="29" actId="1076"/>
          <ac:spMkLst>
            <pc:docMk/>
            <pc:sldMk cId="0" sldId="259"/>
            <ac:spMk id="10" creationId="{00000000-0000-0000-0000-000000000000}"/>
          </ac:spMkLst>
        </pc:spChg>
        <pc:spChg chg="mod">
          <ac:chgData name="John Quinn" userId="49ef7d68-749c-4dd8-b137-19339c5a9f8b" providerId="ADAL" clId="{23154D39-0448-4989-9750-5478DE3CE1CA}" dt="2026-05-29T14:11:30.352" v="29" actId="1076"/>
          <ac:spMkLst>
            <pc:docMk/>
            <pc:sldMk cId="0" sldId="259"/>
            <ac:spMk id="11" creationId="{00000000-0000-0000-0000-000000000000}"/>
          </ac:spMkLst>
        </pc:spChg>
        <pc:spChg chg="mod">
          <ac:chgData name="John Quinn" userId="49ef7d68-749c-4dd8-b137-19339c5a9f8b" providerId="ADAL" clId="{23154D39-0448-4989-9750-5478DE3CE1CA}" dt="2026-05-29T14:11:38.251" v="30" actId="1076"/>
          <ac:spMkLst>
            <pc:docMk/>
            <pc:sldMk cId="0" sldId="259"/>
            <ac:spMk id="12" creationId="{00000000-0000-0000-0000-000000000000}"/>
          </ac:spMkLst>
        </pc:spChg>
        <pc:picChg chg="mod">
          <ac:chgData name="John Quinn" userId="49ef7d68-749c-4dd8-b137-19339c5a9f8b" providerId="ADAL" clId="{23154D39-0448-4989-9750-5478DE3CE1CA}" dt="2026-05-29T14:11:14.902" v="28" actId="1076"/>
          <ac:picMkLst>
            <pc:docMk/>
            <pc:sldMk cId="0" sldId="259"/>
            <ac:picMk id="3" creationId="{00000000-0000-0000-0000-000000000000}"/>
          </ac:picMkLst>
        </pc:picChg>
      </pc:sldChg>
      <pc:sldChg chg="modSp mod">
        <pc:chgData name="John Quinn" userId="49ef7d68-749c-4dd8-b137-19339c5a9f8b" providerId="ADAL" clId="{23154D39-0448-4989-9750-5478DE3CE1CA}" dt="2026-05-29T14:13:25.022" v="61" actId="20577"/>
        <pc:sldMkLst>
          <pc:docMk/>
          <pc:sldMk cId="0" sldId="260"/>
        </pc:sldMkLst>
        <pc:graphicFrameChg chg="modGraphic">
          <ac:chgData name="John Quinn" userId="49ef7d68-749c-4dd8-b137-19339c5a9f8b" providerId="ADAL" clId="{23154D39-0448-4989-9750-5478DE3CE1CA}" dt="2026-05-29T14:13:25.022" v="61" actId="20577"/>
          <ac:graphicFrameMkLst>
            <pc:docMk/>
            <pc:sldMk cId="0" sldId="260"/>
            <ac:graphicFrameMk id="7" creationId="{00000000-0000-0000-0000-000000000000}"/>
          </ac:graphicFrameMkLst>
        </pc:graphicFrameChg>
      </pc:sldChg>
      <pc:sldChg chg="modSp del mod">
        <pc:chgData name="John Quinn" userId="49ef7d68-749c-4dd8-b137-19339c5a9f8b" providerId="ADAL" clId="{23154D39-0448-4989-9750-5478DE3CE1CA}" dt="2026-05-29T14:45:07.409" v="177" actId="47"/>
        <pc:sldMkLst>
          <pc:docMk/>
          <pc:sldMk cId="0" sldId="271"/>
        </pc:sldMkLst>
        <pc:graphicFrameChg chg="modGraphic">
          <ac:chgData name="John Quinn" userId="49ef7d68-749c-4dd8-b137-19339c5a9f8b" providerId="ADAL" clId="{23154D39-0448-4989-9750-5478DE3CE1CA}" dt="2026-05-29T14:32:20.955" v="171" actId="14734"/>
          <ac:graphicFrameMkLst>
            <pc:docMk/>
            <pc:sldMk cId="0" sldId="271"/>
            <ac:graphicFrameMk id="6" creationId="{00000000-0000-0000-0000-000000000000}"/>
          </ac:graphicFrameMkLst>
        </pc:graphicFrameChg>
      </pc:sldChg>
      <pc:sldChg chg="modSp mod">
        <pc:chgData name="John Quinn" userId="49ef7d68-749c-4dd8-b137-19339c5a9f8b" providerId="ADAL" clId="{23154D39-0448-4989-9750-5478DE3CE1CA}" dt="2026-05-29T14:26:15.347" v="125" actId="20577"/>
        <pc:sldMkLst>
          <pc:docMk/>
          <pc:sldMk cId="0" sldId="273"/>
        </pc:sldMkLst>
        <pc:spChg chg="mod">
          <ac:chgData name="John Quinn" userId="49ef7d68-749c-4dd8-b137-19339c5a9f8b" providerId="ADAL" clId="{23154D39-0448-4989-9750-5478DE3CE1CA}" dt="2026-05-29T14:25:16.982" v="64" actId="1076"/>
          <ac:spMkLst>
            <pc:docMk/>
            <pc:sldMk cId="0" sldId="273"/>
            <ac:spMk id="4" creationId="{00000000-0000-0000-0000-000000000000}"/>
          </ac:spMkLst>
        </pc:spChg>
        <pc:spChg chg="mod">
          <ac:chgData name="John Quinn" userId="49ef7d68-749c-4dd8-b137-19339c5a9f8b" providerId="ADAL" clId="{23154D39-0448-4989-9750-5478DE3CE1CA}" dt="2026-05-29T14:25:22.338" v="65" actId="1076"/>
          <ac:spMkLst>
            <pc:docMk/>
            <pc:sldMk cId="0" sldId="273"/>
            <ac:spMk id="5" creationId="{00000000-0000-0000-0000-000000000000}"/>
          </ac:spMkLst>
        </pc:spChg>
        <pc:spChg chg="mod">
          <ac:chgData name="John Quinn" userId="49ef7d68-749c-4dd8-b137-19339c5a9f8b" providerId="ADAL" clId="{23154D39-0448-4989-9750-5478DE3CE1CA}" dt="2026-05-29T14:25:16.982" v="64" actId="1076"/>
          <ac:spMkLst>
            <pc:docMk/>
            <pc:sldMk cId="0" sldId="273"/>
            <ac:spMk id="6" creationId="{00000000-0000-0000-0000-000000000000}"/>
          </ac:spMkLst>
        </pc:spChg>
        <pc:spChg chg="mod">
          <ac:chgData name="John Quinn" userId="49ef7d68-749c-4dd8-b137-19339c5a9f8b" providerId="ADAL" clId="{23154D39-0448-4989-9750-5478DE3CE1CA}" dt="2026-05-29T14:25:16.982" v="64" actId="1076"/>
          <ac:spMkLst>
            <pc:docMk/>
            <pc:sldMk cId="0" sldId="273"/>
            <ac:spMk id="8" creationId="{00000000-0000-0000-0000-000000000000}"/>
          </ac:spMkLst>
        </pc:spChg>
        <pc:spChg chg="mod">
          <ac:chgData name="John Quinn" userId="49ef7d68-749c-4dd8-b137-19339c5a9f8b" providerId="ADAL" clId="{23154D39-0448-4989-9750-5478DE3CE1CA}" dt="2026-05-29T14:25:24.045" v="66" actId="1076"/>
          <ac:spMkLst>
            <pc:docMk/>
            <pc:sldMk cId="0" sldId="273"/>
            <ac:spMk id="9" creationId="{00000000-0000-0000-0000-000000000000}"/>
          </ac:spMkLst>
        </pc:spChg>
        <pc:spChg chg="mod">
          <ac:chgData name="John Quinn" userId="49ef7d68-749c-4dd8-b137-19339c5a9f8b" providerId="ADAL" clId="{23154D39-0448-4989-9750-5478DE3CE1CA}" dt="2026-05-29T14:25:16.982" v="64" actId="1076"/>
          <ac:spMkLst>
            <pc:docMk/>
            <pc:sldMk cId="0" sldId="273"/>
            <ac:spMk id="10" creationId="{00000000-0000-0000-0000-000000000000}"/>
          </ac:spMkLst>
        </pc:spChg>
        <pc:spChg chg="mod">
          <ac:chgData name="John Quinn" userId="49ef7d68-749c-4dd8-b137-19339c5a9f8b" providerId="ADAL" clId="{23154D39-0448-4989-9750-5478DE3CE1CA}" dt="2026-05-29T14:25:16.982" v="64" actId="1076"/>
          <ac:spMkLst>
            <pc:docMk/>
            <pc:sldMk cId="0" sldId="273"/>
            <ac:spMk id="11" creationId="{00000000-0000-0000-0000-000000000000}"/>
          </ac:spMkLst>
        </pc:spChg>
        <pc:spChg chg="mod">
          <ac:chgData name="John Quinn" userId="49ef7d68-749c-4dd8-b137-19339c5a9f8b" providerId="ADAL" clId="{23154D39-0448-4989-9750-5478DE3CE1CA}" dt="2026-05-29T14:26:15.347" v="125" actId="20577"/>
          <ac:spMkLst>
            <pc:docMk/>
            <pc:sldMk cId="0" sldId="273"/>
            <ac:spMk id="12" creationId="{00000000-0000-0000-0000-000000000000}"/>
          </ac:spMkLst>
        </pc:spChg>
        <pc:graphicFrameChg chg="mod">
          <ac:chgData name="John Quinn" userId="49ef7d68-749c-4dd8-b137-19339c5a9f8b" providerId="ADAL" clId="{23154D39-0448-4989-9750-5478DE3CE1CA}" dt="2026-05-29T14:25:16.982" v="64" actId="1076"/>
          <ac:graphicFrameMkLst>
            <pc:docMk/>
            <pc:sldMk cId="0" sldId="273"/>
            <ac:graphicFrameMk id="7" creationId="{00000000-0000-0000-0000-000000000000}"/>
          </ac:graphicFrameMkLst>
        </pc:graphicFrameChg>
        <pc:picChg chg="mod">
          <ac:chgData name="John Quinn" userId="49ef7d68-749c-4dd8-b137-19339c5a9f8b" providerId="ADAL" clId="{23154D39-0448-4989-9750-5478DE3CE1CA}" dt="2026-05-29T14:25:02.974" v="63" actId="1076"/>
          <ac:picMkLst>
            <pc:docMk/>
            <pc:sldMk cId="0" sldId="273"/>
            <ac:picMk id="3" creationId="{00000000-0000-0000-0000-000000000000}"/>
          </ac:picMkLst>
        </pc:picChg>
      </pc:sldChg>
      <pc:sldChg chg="new del">
        <pc:chgData name="John Quinn" userId="49ef7d68-749c-4dd8-b137-19339c5a9f8b" providerId="ADAL" clId="{23154D39-0448-4989-9750-5478DE3CE1CA}" dt="2026-05-29T14:45:00.849" v="176" actId="47"/>
        <pc:sldMkLst>
          <pc:docMk/>
          <pc:sldMk cId="2135662639" sldId="275"/>
        </pc:sldMkLst>
      </pc:sldChg>
      <pc:sldChg chg="modSp add del mod">
        <pc:chgData name="John Quinn" userId="49ef7d68-749c-4dd8-b137-19339c5a9f8b" providerId="ADAL" clId="{23154D39-0448-4989-9750-5478DE3CE1CA}" dt="2026-05-29T14:45:49.293" v="180" actId="207"/>
        <pc:sldMkLst>
          <pc:docMk/>
          <pc:sldMk cId="3544984704" sldId="509"/>
        </pc:sldMkLst>
        <pc:spChg chg="mod">
          <ac:chgData name="John Quinn" userId="49ef7d68-749c-4dd8-b137-19339c5a9f8b" providerId="ADAL" clId="{23154D39-0448-4989-9750-5478DE3CE1CA}" dt="2026-05-29T14:45:49.293" v="180" actId="207"/>
          <ac:spMkLst>
            <pc:docMk/>
            <pc:sldMk cId="3544984704" sldId="509"/>
            <ac:spMk id="7" creationId="{8CEE4A3B-D5AA-4F4B-A889-F56EFE3A747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CC777D-4F34-4166-9651-B274DC47FB56}" type="doc">
      <dgm:prSet loTypeId="urn:microsoft.com/office/officeart/2011/layout/ConvergingText" loCatId="process" qsTypeId="urn:microsoft.com/office/officeart/2005/8/quickstyle/simple1" qsCatId="simple" csTypeId="urn:microsoft.com/office/officeart/2005/8/colors/accent1_2" csCatId="accent1" phldr="1"/>
      <dgm:spPr/>
      <dgm:t>
        <a:bodyPr/>
        <a:lstStyle/>
        <a:p>
          <a:endParaRPr lang="en-US"/>
        </a:p>
      </dgm:t>
    </dgm:pt>
    <dgm:pt modelId="{927A0650-4234-49E7-B1AD-6E709BF2AFE4}">
      <dgm:prSet phldrT="[Text]"/>
      <dgm:spPr>
        <a:solidFill>
          <a:srgbClr val="FF0000"/>
        </a:solidFill>
        <a:ln>
          <a:noFill/>
        </a:ln>
      </dgm:spPr>
      <dgm:t>
        <a:bodyPr/>
        <a:lstStyle/>
        <a:p>
          <a:r>
            <a:rPr lang="en-US" dirty="0"/>
            <a:t>2029-30 EXIT Potentials</a:t>
          </a:r>
        </a:p>
      </dgm:t>
    </dgm:pt>
    <dgm:pt modelId="{E1CACB15-3B57-4E0C-A641-4FCEA9DDAF84}" type="parTrans" cxnId="{01028D4F-2286-47C6-9DD0-DF5361141186}">
      <dgm:prSet/>
      <dgm:spPr/>
      <dgm:t>
        <a:bodyPr/>
        <a:lstStyle/>
        <a:p>
          <a:endParaRPr lang="en-US"/>
        </a:p>
      </dgm:t>
    </dgm:pt>
    <dgm:pt modelId="{2812E164-C59F-48D0-B7B9-E22E0DC29FC9}" type="sibTrans" cxnId="{01028D4F-2286-47C6-9DD0-DF5361141186}">
      <dgm:prSet/>
      <dgm:spPr/>
      <dgm:t>
        <a:bodyPr/>
        <a:lstStyle/>
        <a:p>
          <a:endParaRPr lang="en-US"/>
        </a:p>
      </dgm:t>
    </dgm:pt>
    <dgm:pt modelId="{FA70011F-51B1-4453-BC10-DE795A85EFBA}">
      <dgm:prSet phldrT="[Text]" custT="1"/>
      <dgm:spPr/>
      <dgm:t>
        <a:bodyPr/>
        <a:lstStyle/>
        <a:p>
          <a:r>
            <a:rPr lang="en-US" sz="1100" b="0" i="0" dirty="0">
              <a:latin typeface="Duplicate Sans Light" pitchFamily="2" charset="77"/>
            </a:rPr>
            <a:t>Initial Public Offering</a:t>
          </a:r>
        </a:p>
      </dgm:t>
    </dgm:pt>
    <dgm:pt modelId="{D0979CA6-1D30-4877-9543-7C186D38B936}" type="parTrans" cxnId="{19F0D729-3223-40F0-9760-CCBBDAE35251}">
      <dgm:prSet/>
      <dgm:spPr/>
      <dgm:t>
        <a:bodyPr/>
        <a:lstStyle/>
        <a:p>
          <a:endParaRPr lang="en-US"/>
        </a:p>
      </dgm:t>
    </dgm:pt>
    <dgm:pt modelId="{C16DB434-0890-49C7-AA10-BC4B31EBAC40}" type="sibTrans" cxnId="{19F0D729-3223-40F0-9760-CCBBDAE35251}">
      <dgm:prSet/>
      <dgm:spPr/>
      <dgm:t>
        <a:bodyPr/>
        <a:lstStyle/>
        <a:p>
          <a:endParaRPr lang="en-US"/>
        </a:p>
      </dgm:t>
    </dgm:pt>
    <dgm:pt modelId="{15A89210-B323-4C6E-AC5E-98A7F48139D8}">
      <dgm:prSet phldrT="[Text]" custT="1"/>
      <dgm:spPr/>
      <dgm:t>
        <a:bodyPr/>
        <a:lstStyle/>
        <a:p>
          <a:r>
            <a:rPr lang="en-US" sz="1100" b="0" i="0" dirty="0">
              <a:latin typeface="Duplicate Sans Light" pitchFamily="2" charset="77"/>
            </a:rPr>
            <a:t>DoD Contract</a:t>
          </a:r>
        </a:p>
      </dgm:t>
    </dgm:pt>
    <dgm:pt modelId="{29788081-3892-4317-B7B2-F39CBED0B5E7}" type="parTrans" cxnId="{81CCDE4D-9226-49F0-B0DE-B2AC678214F7}">
      <dgm:prSet/>
      <dgm:spPr/>
      <dgm:t>
        <a:bodyPr/>
        <a:lstStyle/>
        <a:p>
          <a:endParaRPr lang="en-US"/>
        </a:p>
      </dgm:t>
    </dgm:pt>
    <dgm:pt modelId="{09979BAB-9900-4C4C-A017-BB9E624FF013}" type="sibTrans" cxnId="{81CCDE4D-9226-49F0-B0DE-B2AC678214F7}">
      <dgm:prSet/>
      <dgm:spPr/>
      <dgm:t>
        <a:bodyPr/>
        <a:lstStyle/>
        <a:p>
          <a:endParaRPr lang="en-US"/>
        </a:p>
      </dgm:t>
    </dgm:pt>
    <dgm:pt modelId="{C34C1816-98FA-46EE-97D2-68DE722368A3}">
      <dgm:prSet phldrT="[Text]" custT="1"/>
      <dgm:spPr/>
      <dgm:t>
        <a:bodyPr/>
        <a:lstStyle/>
        <a:p>
          <a:r>
            <a:rPr lang="en-US" sz="1000" b="0" i="0" dirty="0">
              <a:latin typeface="Duplicate Sans Light" pitchFamily="2" charset="77"/>
            </a:rPr>
            <a:t>Positioned for Merger or Acquisition</a:t>
          </a:r>
          <a:endParaRPr lang="en-US" sz="1000" b="0" i="0" dirty="0">
            <a:solidFill>
              <a:schemeClr val="bg1">
                <a:lumMod val="50000"/>
                <a:lumOff val="50000"/>
              </a:schemeClr>
            </a:solidFill>
            <a:latin typeface="Duplicate Sans Light" pitchFamily="2" charset="77"/>
          </a:endParaRPr>
        </a:p>
      </dgm:t>
    </dgm:pt>
    <dgm:pt modelId="{B40783BA-3157-42A6-987B-E2FA80E53C8C}" type="parTrans" cxnId="{86239370-A29A-4912-898C-90E81CD9EE70}">
      <dgm:prSet/>
      <dgm:spPr/>
      <dgm:t>
        <a:bodyPr/>
        <a:lstStyle/>
        <a:p>
          <a:endParaRPr lang="en-US"/>
        </a:p>
      </dgm:t>
    </dgm:pt>
    <dgm:pt modelId="{E3C3675F-8574-4BA4-8A55-EF903A461029}" type="sibTrans" cxnId="{86239370-A29A-4912-898C-90E81CD9EE70}">
      <dgm:prSet/>
      <dgm:spPr/>
      <dgm:t>
        <a:bodyPr/>
        <a:lstStyle/>
        <a:p>
          <a:endParaRPr lang="en-US"/>
        </a:p>
      </dgm:t>
    </dgm:pt>
    <dgm:pt modelId="{E446A5D3-25FD-44D2-A486-8936DCD1D336}" type="pres">
      <dgm:prSet presAssocID="{C7CC777D-4F34-4166-9651-B274DC47FB56}" presName="Name0" presStyleCnt="0">
        <dgm:presLayoutVars>
          <dgm:chMax/>
          <dgm:chPref val="1"/>
          <dgm:dir/>
          <dgm:animOne val="branch"/>
          <dgm:animLvl val="lvl"/>
          <dgm:resizeHandles/>
        </dgm:presLayoutVars>
      </dgm:prSet>
      <dgm:spPr/>
    </dgm:pt>
    <dgm:pt modelId="{6C205E5A-3807-4FB9-9538-72F8BCBA05D8}" type="pres">
      <dgm:prSet presAssocID="{927A0650-4234-49E7-B1AD-6E709BF2AFE4}" presName="composite" presStyleCnt="0"/>
      <dgm:spPr/>
    </dgm:pt>
    <dgm:pt modelId="{0259AEF4-7421-4E81-9618-2E5C7161636E}" type="pres">
      <dgm:prSet presAssocID="{927A0650-4234-49E7-B1AD-6E709BF2AFE4}" presName="ParentAccent1" presStyleLbl="alignNode1" presStyleIdx="0" presStyleCnt="34"/>
      <dgm:spPr>
        <a:solidFill>
          <a:srgbClr val="FF0000"/>
        </a:solidFill>
        <a:ln>
          <a:noFill/>
        </a:ln>
      </dgm:spPr>
    </dgm:pt>
    <dgm:pt modelId="{63AF966E-8D6D-48FA-873C-46E931BD833D}" type="pres">
      <dgm:prSet presAssocID="{927A0650-4234-49E7-B1AD-6E709BF2AFE4}" presName="ParentAccent2" presStyleLbl="alignNode1" presStyleIdx="1" presStyleCnt="34"/>
      <dgm:spPr>
        <a:solidFill>
          <a:srgbClr val="FF0000"/>
        </a:solidFill>
        <a:ln>
          <a:noFill/>
        </a:ln>
      </dgm:spPr>
    </dgm:pt>
    <dgm:pt modelId="{B80959DB-28D6-4CEE-BDEA-44F98A4CEE49}" type="pres">
      <dgm:prSet presAssocID="{927A0650-4234-49E7-B1AD-6E709BF2AFE4}" presName="ParentAccent3" presStyleLbl="alignNode1" presStyleIdx="2" presStyleCnt="34"/>
      <dgm:spPr>
        <a:solidFill>
          <a:srgbClr val="FF0000"/>
        </a:solidFill>
        <a:ln>
          <a:noFill/>
        </a:ln>
      </dgm:spPr>
    </dgm:pt>
    <dgm:pt modelId="{DFBC5DD1-6060-4D48-BD7F-2BC0F265DD65}" type="pres">
      <dgm:prSet presAssocID="{927A0650-4234-49E7-B1AD-6E709BF2AFE4}" presName="ParentAccent4" presStyleLbl="alignNode1" presStyleIdx="3" presStyleCnt="34"/>
      <dgm:spPr>
        <a:solidFill>
          <a:srgbClr val="FF0000"/>
        </a:solidFill>
        <a:ln>
          <a:noFill/>
        </a:ln>
      </dgm:spPr>
    </dgm:pt>
    <dgm:pt modelId="{E43ADEE5-A519-4489-8D26-96FB34D57305}" type="pres">
      <dgm:prSet presAssocID="{927A0650-4234-49E7-B1AD-6E709BF2AFE4}" presName="ParentAccent5" presStyleLbl="alignNode1" presStyleIdx="4" presStyleCnt="34"/>
      <dgm:spPr>
        <a:solidFill>
          <a:srgbClr val="FF0000"/>
        </a:solidFill>
        <a:ln>
          <a:noFill/>
        </a:ln>
      </dgm:spPr>
    </dgm:pt>
    <dgm:pt modelId="{9A391C6C-CCB5-4E08-8F88-62D62AF953C4}" type="pres">
      <dgm:prSet presAssocID="{927A0650-4234-49E7-B1AD-6E709BF2AFE4}" presName="ParentAccent6" presStyleLbl="alignNode1" presStyleIdx="5" presStyleCnt="34"/>
      <dgm:spPr>
        <a:solidFill>
          <a:srgbClr val="FF0000"/>
        </a:solidFill>
        <a:ln>
          <a:noFill/>
        </a:ln>
      </dgm:spPr>
    </dgm:pt>
    <dgm:pt modelId="{CB5C31B4-1748-4468-9A09-30EE4D5578C3}" type="pres">
      <dgm:prSet presAssocID="{927A0650-4234-49E7-B1AD-6E709BF2AFE4}" presName="ParentAccent7" presStyleLbl="alignNode1" presStyleIdx="6" presStyleCnt="34"/>
      <dgm:spPr>
        <a:solidFill>
          <a:srgbClr val="FF0000"/>
        </a:solidFill>
        <a:ln>
          <a:noFill/>
        </a:ln>
      </dgm:spPr>
    </dgm:pt>
    <dgm:pt modelId="{E0C61048-F64E-4273-860E-CEE04FDE7F09}" type="pres">
      <dgm:prSet presAssocID="{927A0650-4234-49E7-B1AD-6E709BF2AFE4}" presName="ParentAccent8" presStyleLbl="alignNode1" presStyleIdx="7" presStyleCnt="34"/>
      <dgm:spPr>
        <a:solidFill>
          <a:srgbClr val="FF0000"/>
        </a:solidFill>
        <a:ln>
          <a:noFill/>
        </a:ln>
      </dgm:spPr>
    </dgm:pt>
    <dgm:pt modelId="{8B5ADAF4-7512-401E-AAD9-8012D2FA10D9}" type="pres">
      <dgm:prSet presAssocID="{927A0650-4234-49E7-B1AD-6E709BF2AFE4}" presName="ParentAccent9" presStyleLbl="alignNode1" presStyleIdx="8" presStyleCnt="34"/>
      <dgm:spPr>
        <a:solidFill>
          <a:srgbClr val="FF0000"/>
        </a:solidFill>
        <a:ln>
          <a:noFill/>
        </a:ln>
      </dgm:spPr>
    </dgm:pt>
    <dgm:pt modelId="{7799C585-58BC-426E-95E9-66A3F1BFA4FC}" type="pres">
      <dgm:prSet presAssocID="{927A0650-4234-49E7-B1AD-6E709BF2AFE4}" presName="ParentAccent10" presStyleLbl="alignNode1" presStyleIdx="9" presStyleCnt="34"/>
      <dgm:spPr>
        <a:solidFill>
          <a:srgbClr val="FF0000"/>
        </a:solidFill>
        <a:ln>
          <a:noFill/>
        </a:ln>
      </dgm:spPr>
    </dgm:pt>
    <dgm:pt modelId="{CC31440D-521E-48F6-AE66-FADC6789ECE6}" type="pres">
      <dgm:prSet presAssocID="{927A0650-4234-49E7-B1AD-6E709BF2AFE4}" presName="Parent" presStyleLbl="alignNode1" presStyleIdx="10" presStyleCnt="34" custScaleX="148014" custScaleY="145578" custLinFactNeighborX="29630" custLinFactNeighborY="-738">
        <dgm:presLayoutVars>
          <dgm:chMax val="5"/>
          <dgm:chPref val="3"/>
          <dgm:bulletEnabled val="1"/>
        </dgm:presLayoutVars>
      </dgm:prSet>
      <dgm:spPr/>
    </dgm:pt>
    <dgm:pt modelId="{3801B84F-CA6C-4196-BD13-DCD3EB8709B5}" type="pres">
      <dgm:prSet presAssocID="{FA70011F-51B1-4453-BC10-DE795A85EFBA}" presName="Child1Accent1" presStyleLbl="alignNode1" presStyleIdx="11" presStyleCnt="34"/>
      <dgm:spPr>
        <a:solidFill>
          <a:srgbClr val="FF0000"/>
        </a:solidFill>
        <a:ln>
          <a:noFill/>
        </a:ln>
      </dgm:spPr>
    </dgm:pt>
    <dgm:pt modelId="{EA7F15F4-BC11-452B-AD11-8558DE40472F}" type="pres">
      <dgm:prSet presAssocID="{FA70011F-51B1-4453-BC10-DE795A85EFBA}" presName="Child1Accent2" presStyleLbl="alignNode1" presStyleIdx="12" presStyleCnt="34"/>
      <dgm:spPr>
        <a:solidFill>
          <a:srgbClr val="FF0000"/>
        </a:solidFill>
        <a:ln>
          <a:noFill/>
        </a:ln>
      </dgm:spPr>
    </dgm:pt>
    <dgm:pt modelId="{E1C307BD-6D13-4973-A92E-E36C9AAE84D7}" type="pres">
      <dgm:prSet presAssocID="{FA70011F-51B1-4453-BC10-DE795A85EFBA}" presName="Child1Accent3" presStyleLbl="alignNode1" presStyleIdx="13" presStyleCnt="34"/>
      <dgm:spPr>
        <a:solidFill>
          <a:srgbClr val="FF0000"/>
        </a:solidFill>
        <a:ln>
          <a:noFill/>
        </a:ln>
      </dgm:spPr>
    </dgm:pt>
    <dgm:pt modelId="{C59FF9DA-0E2A-44B3-8FD5-174FD97A1E12}" type="pres">
      <dgm:prSet presAssocID="{FA70011F-51B1-4453-BC10-DE795A85EFBA}" presName="Child1Accent4" presStyleLbl="alignNode1" presStyleIdx="14" presStyleCnt="34"/>
      <dgm:spPr>
        <a:solidFill>
          <a:srgbClr val="FF0000"/>
        </a:solidFill>
        <a:ln>
          <a:noFill/>
        </a:ln>
      </dgm:spPr>
    </dgm:pt>
    <dgm:pt modelId="{023771EB-27EA-42B2-8076-28D155A65C87}" type="pres">
      <dgm:prSet presAssocID="{FA70011F-51B1-4453-BC10-DE795A85EFBA}" presName="Child1Accent5" presStyleLbl="alignNode1" presStyleIdx="15" presStyleCnt="34"/>
      <dgm:spPr>
        <a:solidFill>
          <a:srgbClr val="FF0000"/>
        </a:solidFill>
        <a:ln>
          <a:noFill/>
        </a:ln>
      </dgm:spPr>
    </dgm:pt>
    <dgm:pt modelId="{5A673C9A-B60F-4208-A783-2C306272D0C7}" type="pres">
      <dgm:prSet presAssocID="{FA70011F-51B1-4453-BC10-DE795A85EFBA}" presName="Child1Accent6" presStyleLbl="alignNode1" presStyleIdx="16" presStyleCnt="34"/>
      <dgm:spPr>
        <a:solidFill>
          <a:srgbClr val="FF0000"/>
        </a:solidFill>
        <a:ln>
          <a:noFill/>
        </a:ln>
      </dgm:spPr>
    </dgm:pt>
    <dgm:pt modelId="{094A2FA5-8DD5-4DA3-88A9-3BA586EC30CE}" type="pres">
      <dgm:prSet presAssocID="{FA70011F-51B1-4453-BC10-DE795A85EFBA}" presName="Child1Accent7" presStyleLbl="alignNode1" presStyleIdx="17" presStyleCnt="34"/>
      <dgm:spPr>
        <a:solidFill>
          <a:srgbClr val="FF0000"/>
        </a:solidFill>
        <a:ln>
          <a:noFill/>
        </a:ln>
      </dgm:spPr>
    </dgm:pt>
    <dgm:pt modelId="{5A7FCF40-FD69-45FC-B8A9-DFA846EA5726}" type="pres">
      <dgm:prSet presAssocID="{FA70011F-51B1-4453-BC10-DE795A85EFBA}" presName="Child1Accent8" presStyleLbl="alignNode1" presStyleIdx="18" presStyleCnt="34"/>
      <dgm:spPr/>
    </dgm:pt>
    <dgm:pt modelId="{C5E25861-CBCB-4D8C-A7A6-F748811EE72E}" type="pres">
      <dgm:prSet presAssocID="{FA70011F-51B1-4453-BC10-DE795A85EFBA}" presName="Child1Accent9" presStyleLbl="alignNode1" presStyleIdx="19" presStyleCnt="34"/>
      <dgm:spPr/>
    </dgm:pt>
    <dgm:pt modelId="{9C9BB9A4-66D1-45DD-93B1-4A54B30FC142}" type="pres">
      <dgm:prSet presAssocID="{FA70011F-51B1-4453-BC10-DE795A85EFBA}" presName="Child1" presStyleLbl="revTx" presStyleIdx="0" presStyleCnt="3" custScaleX="196157" custLinFactNeighborX="4716" custLinFactNeighborY="-20255">
        <dgm:presLayoutVars>
          <dgm:chMax/>
          <dgm:chPref val="0"/>
          <dgm:bulletEnabled val="1"/>
        </dgm:presLayoutVars>
      </dgm:prSet>
      <dgm:spPr/>
    </dgm:pt>
    <dgm:pt modelId="{C515A8E6-8F9B-4090-A741-161B997A863B}" type="pres">
      <dgm:prSet presAssocID="{15A89210-B323-4C6E-AC5E-98A7F48139D8}" presName="Child2Accent1" presStyleLbl="alignNode1" presStyleIdx="20" presStyleCnt="34" custLinFactNeighborY="-81655"/>
      <dgm:spPr>
        <a:solidFill>
          <a:srgbClr val="FF0000"/>
        </a:solidFill>
        <a:ln>
          <a:noFill/>
        </a:ln>
      </dgm:spPr>
    </dgm:pt>
    <dgm:pt modelId="{619C3C34-D496-497C-9090-22A187BB6CAF}" type="pres">
      <dgm:prSet presAssocID="{15A89210-B323-4C6E-AC5E-98A7F48139D8}" presName="Child2Accent2" presStyleLbl="alignNode1" presStyleIdx="21" presStyleCnt="34" custLinFactY="-66638" custLinFactNeighborY="-100000"/>
      <dgm:spPr>
        <a:solidFill>
          <a:srgbClr val="FF0000"/>
        </a:solidFill>
        <a:ln>
          <a:noFill/>
        </a:ln>
      </dgm:spPr>
    </dgm:pt>
    <dgm:pt modelId="{051D6D60-3189-401A-AA9D-CE95987530A1}" type="pres">
      <dgm:prSet presAssocID="{15A89210-B323-4C6E-AC5E-98A7F48139D8}" presName="Child2Accent3" presStyleLbl="alignNode1" presStyleIdx="22" presStyleCnt="34" custLinFactY="-66638" custLinFactNeighborY="-100000"/>
      <dgm:spPr>
        <a:solidFill>
          <a:srgbClr val="FF0000"/>
        </a:solidFill>
        <a:ln>
          <a:noFill/>
        </a:ln>
      </dgm:spPr>
    </dgm:pt>
    <dgm:pt modelId="{4C59A25A-0308-4E47-9A15-2B8D72675750}" type="pres">
      <dgm:prSet presAssocID="{15A89210-B323-4C6E-AC5E-98A7F48139D8}" presName="Child2Accent4" presStyleLbl="alignNode1" presStyleIdx="23" presStyleCnt="34" custLinFactY="-66638" custLinFactNeighborY="-100000"/>
      <dgm:spPr>
        <a:solidFill>
          <a:srgbClr val="FF0000"/>
        </a:solidFill>
        <a:ln>
          <a:noFill/>
        </a:ln>
      </dgm:spPr>
    </dgm:pt>
    <dgm:pt modelId="{70CAEBDA-7E84-401A-A48E-50421F3BF1B9}" type="pres">
      <dgm:prSet presAssocID="{15A89210-B323-4C6E-AC5E-98A7F48139D8}" presName="Child2Accent5" presStyleLbl="alignNode1" presStyleIdx="24" presStyleCnt="34" custLinFactY="-66638" custLinFactNeighborY="-100000"/>
      <dgm:spPr>
        <a:solidFill>
          <a:srgbClr val="FF0000"/>
        </a:solidFill>
        <a:ln>
          <a:noFill/>
        </a:ln>
      </dgm:spPr>
    </dgm:pt>
    <dgm:pt modelId="{DC29DA05-5B98-4595-BFEA-ADC31E38B2A4}" type="pres">
      <dgm:prSet presAssocID="{15A89210-B323-4C6E-AC5E-98A7F48139D8}" presName="Child2Accent6" presStyleLbl="alignNode1" presStyleIdx="25" presStyleCnt="34" custLinFactY="-66638" custLinFactNeighborY="-100000"/>
      <dgm:spPr>
        <a:solidFill>
          <a:srgbClr val="FF0000"/>
        </a:solidFill>
        <a:ln>
          <a:noFill/>
        </a:ln>
      </dgm:spPr>
    </dgm:pt>
    <dgm:pt modelId="{3F764BE7-CE73-4351-87F3-F61B29AA2A7B}" type="pres">
      <dgm:prSet presAssocID="{15A89210-B323-4C6E-AC5E-98A7F48139D8}" presName="Child2Accent7" presStyleLbl="alignNode1" presStyleIdx="26" presStyleCnt="34"/>
      <dgm:spPr/>
    </dgm:pt>
    <dgm:pt modelId="{EA0B2825-37D1-4083-8219-4BF166B1B287}" type="pres">
      <dgm:prSet presAssocID="{15A89210-B323-4C6E-AC5E-98A7F48139D8}" presName="Child2" presStyleLbl="revTx" presStyleIdx="1" presStyleCnt="3" custScaleX="224879" custScaleY="134806" custLinFactY="-1671" custLinFactNeighborX="5100" custLinFactNeighborY="-100000">
        <dgm:presLayoutVars>
          <dgm:chMax/>
          <dgm:chPref val="0"/>
          <dgm:bulletEnabled val="1"/>
        </dgm:presLayoutVars>
      </dgm:prSet>
      <dgm:spPr/>
    </dgm:pt>
    <dgm:pt modelId="{40749508-DE86-4E15-8B6B-2C5852BFD44D}" type="pres">
      <dgm:prSet presAssocID="{C34C1816-98FA-46EE-97D2-68DE722368A3}" presName="Child3Accent1" presStyleLbl="alignNode1" presStyleIdx="27" presStyleCnt="34"/>
      <dgm:spPr>
        <a:solidFill>
          <a:srgbClr val="FF0000"/>
        </a:solidFill>
        <a:ln>
          <a:noFill/>
        </a:ln>
      </dgm:spPr>
    </dgm:pt>
    <dgm:pt modelId="{62AD223F-77C0-4827-A09D-8B63847CB5EF}" type="pres">
      <dgm:prSet presAssocID="{C34C1816-98FA-46EE-97D2-68DE722368A3}" presName="Child3Accent2" presStyleLbl="alignNode1" presStyleIdx="28" presStyleCnt="34"/>
      <dgm:spPr>
        <a:solidFill>
          <a:srgbClr val="FF0000"/>
        </a:solidFill>
        <a:ln>
          <a:noFill/>
        </a:ln>
      </dgm:spPr>
    </dgm:pt>
    <dgm:pt modelId="{C02A46F8-6F87-43B9-ADB9-43B46A7E53CB}" type="pres">
      <dgm:prSet presAssocID="{C34C1816-98FA-46EE-97D2-68DE722368A3}" presName="Child3Accent3" presStyleLbl="alignNode1" presStyleIdx="29" presStyleCnt="34"/>
      <dgm:spPr>
        <a:solidFill>
          <a:srgbClr val="FF0000"/>
        </a:solidFill>
        <a:ln>
          <a:noFill/>
        </a:ln>
      </dgm:spPr>
    </dgm:pt>
    <dgm:pt modelId="{7DF0A8AA-EC07-4717-B17C-A2254B45EB22}" type="pres">
      <dgm:prSet presAssocID="{C34C1816-98FA-46EE-97D2-68DE722368A3}" presName="Child3Accent4" presStyleLbl="alignNode1" presStyleIdx="30" presStyleCnt="34"/>
      <dgm:spPr>
        <a:solidFill>
          <a:srgbClr val="FF0000"/>
        </a:solidFill>
        <a:ln>
          <a:noFill/>
        </a:ln>
      </dgm:spPr>
    </dgm:pt>
    <dgm:pt modelId="{A366387B-EFC0-4567-894F-B8995322A132}" type="pres">
      <dgm:prSet presAssocID="{C34C1816-98FA-46EE-97D2-68DE722368A3}" presName="Child3Accent5" presStyleLbl="alignNode1" presStyleIdx="31" presStyleCnt="34"/>
      <dgm:spPr>
        <a:solidFill>
          <a:srgbClr val="FF0000"/>
        </a:solidFill>
        <a:ln>
          <a:noFill/>
        </a:ln>
      </dgm:spPr>
    </dgm:pt>
    <dgm:pt modelId="{A11E41D5-29A0-4139-ADCF-F2CEC06D1224}" type="pres">
      <dgm:prSet presAssocID="{C34C1816-98FA-46EE-97D2-68DE722368A3}" presName="Child3Accent6" presStyleLbl="alignNode1" presStyleIdx="32" presStyleCnt="34"/>
      <dgm:spPr>
        <a:solidFill>
          <a:srgbClr val="FF0000"/>
        </a:solidFill>
        <a:ln>
          <a:noFill/>
        </a:ln>
      </dgm:spPr>
    </dgm:pt>
    <dgm:pt modelId="{B7DC1A33-7999-4FC0-80DE-FB25EB38A9DA}" type="pres">
      <dgm:prSet presAssocID="{C34C1816-98FA-46EE-97D2-68DE722368A3}" presName="Child3Accent7" presStyleLbl="alignNode1" presStyleIdx="33" presStyleCnt="34"/>
      <dgm:spPr>
        <a:solidFill>
          <a:srgbClr val="FF0000"/>
        </a:solidFill>
        <a:ln>
          <a:noFill/>
        </a:ln>
      </dgm:spPr>
    </dgm:pt>
    <dgm:pt modelId="{7038A793-37D7-476F-9873-92C9576E4F36}" type="pres">
      <dgm:prSet presAssocID="{C34C1816-98FA-46EE-97D2-68DE722368A3}" presName="Child3" presStyleLbl="revTx" presStyleIdx="2" presStyleCnt="3" custScaleX="151505" custScaleY="298748" custLinFactY="-24122" custLinFactNeighborX="-17610" custLinFactNeighborY="-100000">
        <dgm:presLayoutVars>
          <dgm:chMax/>
          <dgm:chPref val="0"/>
          <dgm:bulletEnabled val="1"/>
        </dgm:presLayoutVars>
      </dgm:prSet>
      <dgm:spPr/>
    </dgm:pt>
  </dgm:ptLst>
  <dgm:cxnLst>
    <dgm:cxn modelId="{19F0D729-3223-40F0-9760-CCBBDAE35251}" srcId="{927A0650-4234-49E7-B1AD-6E709BF2AFE4}" destId="{FA70011F-51B1-4453-BC10-DE795A85EFBA}" srcOrd="0" destOrd="0" parTransId="{D0979CA6-1D30-4877-9543-7C186D38B936}" sibTransId="{C16DB434-0890-49C7-AA10-BC4B31EBAC40}"/>
    <dgm:cxn modelId="{81CCDE4D-9226-49F0-B0DE-B2AC678214F7}" srcId="{927A0650-4234-49E7-B1AD-6E709BF2AFE4}" destId="{15A89210-B323-4C6E-AC5E-98A7F48139D8}" srcOrd="1" destOrd="0" parTransId="{29788081-3892-4317-B7B2-F39CBED0B5E7}" sibTransId="{09979BAB-9900-4C4C-A017-BB9E624FF013}"/>
    <dgm:cxn modelId="{01028D4F-2286-47C6-9DD0-DF5361141186}" srcId="{C7CC777D-4F34-4166-9651-B274DC47FB56}" destId="{927A0650-4234-49E7-B1AD-6E709BF2AFE4}" srcOrd="0" destOrd="0" parTransId="{E1CACB15-3B57-4E0C-A641-4FCEA9DDAF84}" sibTransId="{2812E164-C59F-48D0-B7B9-E22E0DC29FC9}"/>
    <dgm:cxn modelId="{86239370-A29A-4912-898C-90E81CD9EE70}" srcId="{927A0650-4234-49E7-B1AD-6E709BF2AFE4}" destId="{C34C1816-98FA-46EE-97D2-68DE722368A3}" srcOrd="2" destOrd="0" parTransId="{B40783BA-3157-42A6-987B-E2FA80E53C8C}" sibTransId="{E3C3675F-8574-4BA4-8A55-EF903A461029}"/>
    <dgm:cxn modelId="{999D805A-F071-4167-A6B4-5E7396E90F0C}" type="presOf" srcId="{FA70011F-51B1-4453-BC10-DE795A85EFBA}" destId="{9C9BB9A4-66D1-45DD-93B1-4A54B30FC142}" srcOrd="0" destOrd="0" presId="urn:microsoft.com/office/officeart/2011/layout/ConvergingText"/>
    <dgm:cxn modelId="{3EAD74A4-F3FF-4917-B840-7E9A6EB47814}" type="presOf" srcId="{C7CC777D-4F34-4166-9651-B274DC47FB56}" destId="{E446A5D3-25FD-44D2-A486-8936DCD1D336}" srcOrd="0" destOrd="0" presId="urn:microsoft.com/office/officeart/2011/layout/ConvergingText"/>
    <dgm:cxn modelId="{56E852A7-9851-47F9-A91F-C1BB2C81D60E}" type="presOf" srcId="{15A89210-B323-4C6E-AC5E-98A7F48139D8}" destId="{EA0B2825-37D1-4083-8219-4BF166B1B287}" srcOrd="0" destOrd="0" presId="urn:microsoft.com/office/officeart/2011/layout/ConvergingText"/>
    <dgm:cxn modelId="{6BF843DA-317F-466F-9B54-8E72CAF90071}" type="presOf" srcId="{927A0650-4234-49E7-B1AD-6E709BF2AFE4}" destId="{CC31440D-521E-48F6-AE66-FADC6789ECE6}" srcOrd="0" destOrd="0" presId="urn:microsoft.com/office/officeart/2011/layout/ConvergingText"/>
    <dgm:cxn modelId="{86869BED-C84E-45BA-A4A2-14DE15ABC72E}" type="presOf" srcId="{C34C1816-98FA-46EE-97D2-68DE722368A3}" destId="{7038A793-37D7-476F-9873-92C9576E4F36}" srcOrd="0" destOrd="0" presId="urn:microsoft.com/office/officeart/2011/layout/ConvergingText"/>
    <dgm:cxn modelId="{498ACE0B-5FBC-4B5E-9858-1E790BF2EE17}" type="presParOf" srcId="{E446A5D3-25FD-44D2-A486-8936DCD1D336}" destId="{6C205E5A-3807-4FB9-9538-72F8BCBA05D8}" srcOrd="0" destOrd="0" presId="urn:microsoft.com/office/officeart/2011/layout/ConvergingText"/>
    <dgm:cxn modelId="{D049660C-F38F-4E28-83DC-2B87D9DB7E4E}" type="presParOf" srcId="{6C205E5A-3807-4FB9-9538-72F8BCBA05D8}" destId="{0259AEF4-7421-4E81-9618-2E5C7161636E}" srcOrd="0" destOrd="0" presId="urn:microsoft.com/office/officeart/2011/layout/ConvergingText"/>
    <dgm:cxn modelId="{01EEB275-B9E1-4A9A-8619-F5240F4948A1}" type="presParOf" srcId="{6C205E5A-3807-4FB9-9538-72F8BCBA05D8}" destId="{63AF966E-8D6D-48FA-873C-46E931BD833D}" srcOrd="1" destOrd="0" presId="urn:microsoft.com/office/officeart/2011/layout/ConvergingText"/>
    <dgm:cxn modelId="{95CA26C7-E950-4C4F-A75F-DF15923EFB1A}" type="presParOf" srcId="{6C205E5A-3807-4FB9-9538-72F8BCBA05D8}" destId="{B80959DB-28D6-4CEE-BDEA-44F98A4CEE49}" srcOrd="2" destOrd="0" presId="urn:microsoft.com/office/officeart/2011/layout/ConvergingText"/>
    <dgm:cxn modelId="{FEB658E1-30C7-4FAE-A0F2-D5A24DD7DCC2}" type="presParOf" srcId="{6C205E5A-3807-4FB9-9538-72F8BCBA05D8}" destId="{DFBC5DD1-6060-4D48-BD7F-2BC0F265DD65}" srcOrd="3" destOrd="0" presId="urn:microsoft.com/office/officeart/2011/layout/ConvergingText"/>
    <dgm:cxn modelId="{D276ABE1-9649-411C-B177-E92DD49702EB}" type="presParOf" srcId="{6C205E5A-3807-4FB9-9538-72F8BCBA05D8}" destId="{E43ADEE5-A519-4489-8D26-96FB34D57305}" srcOrd="4" destOrd="0" presId="urn:microsoft.com/office/officeart/2011/layout/ConvergingText"/>
    <dgm:cxn modelId="{38D41055-266A-4103-B498-47A6990D8526}" type="presParOf" srcId="{6C205E5A-3807-4FB9-9538-72F8BCBA05D8}" destId="{9A391C6C-CCB5-4E08-8F88-62D62AF953C4}" srcOrd="5" destOrd="0" presId="urn:microsoft.com/office/officeart/2011/layout/ConvergingText"/>
    <dgm:cxn modelId="{CB7D6C45-A62E-4857-BCB3-67162026A5C8}" type="presParOf" srcId="{6C205E5A-3807-4FB9-9538-72F8BCBA05D8}" destId="{CB5C31B4-1748-4468-9A09-30EE4D5578C3}" srcOrd="6" destOrd="0" presId="urn:microsoft.com/office/officeart/2011/layout/ConvergingText"/>
    <dgm:cxn modelId="{8CBF46EC-9F4C-4482-BABC-DA444B8E300E}" type="presParOf" srcId="{6C205E5A-3807-4FB9-9538-72F8BCBA05D8}" destId="{E0C61048-F64E-4273-860E-CEE04FDE7F09}" srcOrd="7" destOrd="0" presId="urn:microsoft.com/office/officeart/2011/layout/ConvergingText"/>
    <dgm:cxn modelId="{64102734-EF4C-4CB7-B1FA-85DE86E4202F}" type="presParOf" srcId="{6C205E5A-3807-4FB9-9538-72F8BCBA05D8}" destId="{8B5ADAF4-7512-401E-AAD9-8012D2FA10D9}" srcOrd="8" destOrd="0" presId="urn:microsoft.com/office/officeart/2011/layout/ConvergingText"/>
    <dgm:cxn modelId="{1FB0FB49-4600-474C-832E-352B7140C4B0}" type="presParOf" srcId="{6C205E5A-3807-4FB9-9538-72F8BCBA05D8}" destId="{7799C585-58BC-426E-95E9-66A3F1BFA4FC}" srcOrd="9" destOrd="0" presId="urn:microsoft.com/office/officeart/2011/layout/ConvergingText"/>
    <dgm:cxn modelId="{55F527D1-66CC-4327-A38D-ADD3021B680B}" type="presParOf" srcId="{6C205E5A-3807-4FB9-9538-72F8BCBA05D8}" destId="{CC31440D-521E-48F6-AE66-FADC6789ECE6}" srcOrd="10" destOrd="0" presId="urn:microsoft.com/office/officeart/2011/layout/ConvergingText"/>
    <dgm:cxn modelId="{B2593C21-97D4-4443-8436-153484A715C8}" type="presParOf" srcId="{6C205E5A-3807-4FB9-9538-72F8BCBA05D8}" destId="{3801B84F-CA6C-4196-BD13-DCD3EB8709B5}" srcOrd="11" destOrd="0" presId="urn:microsoft.com/office/officeart/2011/layout/ConvergingText"/>
    <dgm:cxn modelId="{E7546A0A-EFB4-425D-AD6E-AF7AFC7B1A29}" type="presParOf" srcId="{6C205E5A-3807-4FB9-9538-72F8BCBA05D8}" destId="{EA7F15F4-BC11-452B-AD11-8558DE40472F}" srcOrd="12" destOrd="0" presId="urn:microsoft.com/office/officeart/2011/layout/ConvergingText"/>
    <dgm:cxn modelId="{644C3172-416A-44F6-815F-6CE6EF17A089}" type="presParOf" srcId="{6C205E5A-3807-4FB9-9538-72F8BCBA05D8}" destId="{E1C307BD-6D13-4973-A92E-E36C9AAE84D7}" srcOrd="13" destOrd="0" presId="urn:microsoft.com/office/officeart/2011/layout/ConvergingText"/>
    <dgm:cxn modelId="{A2E58A4A-236D-47CE-8130-7BDD2D8755D7}" type="presParOf" srcId="{6C205E5A-3807-4FB9-9538-72F8BCBA05D8}" destId="{C59FF9DA-0E2A-44B3-8FD5-174FD97A1E12}" srcOrd="14" destOrd="0" presId="urn:microsoft.com/office/officeart/2011/layout/ConvergingText"/>
    <dgm:cxn modelId="{CF9429EE-A49B-4DE9-9271-88B6990D617A}" type="presParOf" srcId="{6C205E5A-3807-4FB9-9538-72F8BCBA05D8}" destId="{023771EB-27EA-42B2-8076-28D155A65C87}" srcOrd="15" destOrd="0" presId="urn:microsoft.com/office/officeart/2011/layout/ConvergingText"/>
    <dgm:cxn modelId="{5F621584-20F9-4969-9B89-857A54B8660D}" type="presParOf" srcId="{6C205E5A-3807-4FB9-9538-72F8BCBA05D8}" destId="{5A673C9A-B60F-4208-A783-2C306272D0C7}" srcOrd="16" destOrd="0" presId="urn:microsoft.com/office/officeart/2011/layout/ConvergingText"/>
    <dgm:cxn modelId="{A743BA2C-F745-4D17-9EE1-F0E63F7A6327}" type="presParOf" srcId="{6C205E5A-3807-4FB9-9538-72F8BCBA05D8}" destId="{094A2FA5-8DD5-4DA3-88A9-3BA586EC30CE}" srcOrd="17" destOrd="0" presId="urn:microsoft.com/office/officeart/2011/layout/ConvergingText"/>
    <dgm:cxn modelId="{F430C065-C37B-450B-AD90-625CFAD05313}" type="presParOf" srcId="{6C205E5A-3807-4FB9-9538-72F8BCBA05D8}" destId="{5A7FCF40-FD69-45FC-B8A9-DFA846EA5726}" srcOrd="18" destOrd="0" presId="urn:microsoft.com/office/officeart/2011/layout/ConvergingText"/>
    <dgm:cxn modelId="{11901B99-4F45-4826-904D-84C8AB895386}" type="presParOf" srcId="{6C205E5A-3807-4FB9-9538-72F8BCBA05D8}" destId="{C5E25861-CBCB-4D8C-A7A6-F748811EE72E}" srcOrd="19" destOrd="0" presId="urn:microsoft.com/office/officeart/2011/layout/ConvergingText"/>
    <dgm:cxn modelId="{5D8FC046-C178-4709-8EB5-02FEBD560195}" type="presParOf" srcId="{6C205E5A-3807-4FB9-9538-72F8BCBA05D8}" destId="{9C9BB9A4-66D1-45DD-93B1-4A54B30FC142}" srcOrd="20" destOrd="0" presId="urn:microsoft.com/office/officeart/2011/layout/ConvergingText"/>
    <dgm:cxn modelId="{2339796F-896E-4025-85A6-8198279CA851}" type="presParOf" srcId="{6C205E5A-3807-4FB9-9538-72F8BCBA05D8}" destId="{C515A8E6-8F9B-4090-A741-161B997A863B}" srcOrd="21" destOrd="0" presId="urn:microsoft.com/office/officeart/2011/layout/ConvergingText"/>
    <dgm:cxn modelId="{C30BF538-4EC1-40A7-8B09-A8F02DBD384F}" type="presParOf" srcId="{6C205E5A-3807-4FB9-9538-72F8BCBA05D8}" destId="{619C3C34-D496-497C-9090-22A187BB6CAF}" srcOrd="22" destOrd="0" presId="urn:microsoft.com/office/officeart/2011/layout/ConvergingText"/>
    <dgm:cxn modelId="{0BE3AEEE-8127-42F6-BA55-65311E67C5A6}" type="presParOf" srcId="{6C205E5A-3807-4FB9-9538-72F8BCBA05D8}" destId="{051D6D60-3189-401A-AA9D-CE95987530A1}" srcOrd="23" destOrd="0" presId="urn:microsoft.com/office/officeart/2011/layout/ConvergingText"/>
    <dgm:cxn modelId="{E86171B2-FA57-4252-9F33-8449090706A2}" type="presParOf" srcId="{6C205E5A-3807-4FB9-9538-72F8BCBA05D8}" destId="{4C59A25A-0308-4E47-9A15-2B8D72675750}" srcOrd="24" destOrd="0" presId="urn:microsoft.com/office/officeart/2011/layout/ConvergingText"/>
    <dgm:cxn modelId="{842D6894-2920-4818-8CF7-93D823586FE9}" type="presParOf" srcId="{6C205E5A-3807-4FB9-9538-72F8BCBA05D8}" destId="{70CAEBDA-7E84-401A-A48E-50421F3BF1B9}" srcOrd="25" destOrd="0" presId="urn:microsoft.com/office/officeart/2011/layout/ConvergingText"/>
    <dgm:cxn modelId="{99C37DF6-75F6-4DB6-8AB9-BCFAD9DC1274}" type="presParOf" srcId="{6C205E5A-3807-4FB9-9538-72F8BCBA05D8}" destId="{DC29DA05-5B98-4595-BFEA-ADC31E38B2A4}" srcOrd="26" destOrd="0" presId="urn:microsoft.com/office/officeart/2011/layout/ConvergingText"/>
    <dgm:cxn modelId="{0B048673-6026-4635-8001-D930B0B4EE3E}" type="presParOf" srcId="{6C205E5A-3807-4FB9-9538-72F8BCBA05D8}" destId="{3F764BE7-CE73-4351-87F3-F61B29AA2A7B}" srcOrd="27" destOrd="0" presId="urn:microsoft.com/office/officeart/2011/layout/ConvergingText"/>
    <dgm:cxn modelId="{548B5FA9-4F13-4881-9293-9314CDBD51C9}" type="presParOf" srcId="{6C205E5A-3807-4FB9-9538-72F8BCBA05D8}" destId="{EA0B2825-37D1-4083-8219-4BF166B1B287}" srcOrd="28" destOrd="0" presId="urn:microsoft.com/office/officeart/2011/layout/ConvergingText"/>
    <dgm:cxn modelId="{35DD3130-B7CE-46D6-B507-08747ACA348A}" type="presParOf" srcId="{6C205E5A-3807-4FB9-9538-72F8BCBA05D8}" destId="{40749508-DE86-4E15-8B6B-2C5852BFD44D}" srcOrd="29" destOrd="0" presId="urn:microsoft.com/office/officeart/2011/layout/ConvergingText"/>
    <dgm:cxn modelId="{7DF6A800-F75D-4599-BA18-DBB2CA38054E}" type="presParOf" srcId="{6C205E5A-3807-4FB9-9538-72F8BCBA05D8}" destId="{62AD223F-77C0-4827-A09D-8B63847CB5EF}" srcOrd="30" destOrd="0" presId="urn:microsoft.com/office/officeart/2011/layout/ConvergingText"/>
    <dgm:cxn modelId="{9CBABB2F-58BF-440E-84D5-7040EF1B993A}" type="presParOf" srcId="{6C205E5A-3807-4FB9-9538-72F8BCBA05D8}" destId="{C02A46F8-6F87-43B9-ADB9-43B46A7E53CB}" srcOrd="31" destOrd="0" presId="urn:microsoft.com/office/officeart/2011/layout/ConvergingText"/>
    <dgm:cxn modelId="{C3AEDFEC-59A6-476C-AEF9-F57603F76A08}" type="presParOf" srcId="{6C205E5A-3807-4FB9-9538-72F8BCBA05D8}" destId="{7DF0A8AA-EC07-4717-B17C-A2254B45EB22}" srcOrd="32" destOrd="0" presId="urn:microsoft.com/office/officeart/2011/layout/ConvergingText"/>
    <dgm:cxn modelId="{5A563E05-156A-440C-BF4F-9C5A52E7475A}" type="presParOf" srcId="{6C205E5A-3807-4FB9-9538-72F8BCBA05D8}" destId="{A366387B-EFC0-4567-894F-B8995322A132}" srcOrd="33" destOrd="0" presId="urn:microsoft.com/office/officeart/2011/layout/ConvergingText"/>
    <dgm:cxn modelId="{B0CF418E-D76C-49E4-97F3-0F46EE307CD0}" type="presParOf" srcId="{6C205E5A-3807-4FB9-9538-72F8BCBA05D8}" destId="{A11E41D5-29A0-4139-ADCF-F2CEC06D1224}" srcOrd="34" destOrd="0" presId="urn:microsoft.com/office/officeart/2011/layout/ConvergingText"/>
    <dgm:cxn modelId="{2EDDCA02-6655-4D9F-BDCD-C25139AFECC5}" type="presParOf" srcId="{6C205E5A-3807-4FB9-9538-72F8BCBA05D8}" destId="{B7DC1A33-7999-4FC0-80DE-FB25EB38A9DA}" srcOrd="35" destOrd="0" presId="urn:microsoft.com/office/officeart/2011/layout/ConvergingText"/>
    <dgm:cxn modelId="{9A8F4A25-1290-458F-857F-8DEC56BA7CE2}" type="presParOf" srcId="{6C205E5A-3807-4FB9-9538-72F8BCBA05D8}" destId="{7038A793-37D7-476F-9873-92C9576E4F36}" srcOrd="36" destOrd="0" presId="urn:microsoft.com/office/officeart/2011/layout/ConvergingTex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59AEF4-7421-4E81-9618-2E5C7161636E}">
      <dsp:nvSpPr>
        <dsp:cNvPr id="0" name=""/>
        <dsp:cNvSpPr/>
      </dsp:nvSpPr>
      <dsp:spPr>
        <a:xfrm>
          <a:off x="27018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AF966E-8D6D-48FA-873C-46E931BD833D}">
      <dsp:nvSpPr>
        <dsp:cNvPr id="0" name=""/>
        <dsp:cNvSpPr/>
      </dsp:nvSpPr>
      <dsp:spPr>
        <a:xfrm>
          <a:off x="25764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0959DB-28D6-4CEE-BDEA-44F98A4CEE49}">
      <dsp:nvSpPr>
        <dsp:cNvPr id="0" name=""/>
        <dsp:cNvSpPr/>
      </dsp:nvSpPr>
      <dsp:spPr>
        <a:xfrm>
          <a:off x="24510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BC5DD1-6060-4D48-BD7F-2BC0F265DD65}">
      <dsp:nvSpPr>
        <dsp:cNvPr id="0" name=""/>
        <dsp:cNvSpPr/>
      </dsp:nvSpPr>
      <dsp:spPr>
        <a:xfrm>
          <a:off x="2325921"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3ADEE5-A519-4489-8D26-96FB34D57305}">
      <dsp:nvSpPr>
        <dsp:cNvPr id="0" name=""/>
        <dsp:cNvSpPr/>
      </dsp:nvSpPr>
      <dsp:spPr>
        <a:xfrm>
          <a:off x="2200521"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391C6C-CCB5-4E08-8F88-62D62AF953C4}">
      <dsp:nvSpPr>
        <dsp:cNvPr id="0" name=""/>
        <dsp:cNvSpPr/>
      </dsp:nvSpPr>
      <dsp:spPr>
        <a:xfrm>
          <a:off x="2006699" y="752007"/>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5C31B4-1748-4468-9A09-30EE4D5578C3}">
      <dsp:nvSpPr>
        <dsp:cNvPr id="0" name=""/>
        <dsp:cNvSpPr/>
      </dsp:nvSpPr>
      <dsp:spPr>
        <a:xfrm>
          <a:off x="2590309" y="644875"/>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C61048-F64E-4273-860E-CEE04FDE7F09}">
      <dsp:nvSpPr>
        <dsp:cNvPr id="0" name=""/>
        <dsp:cNvSpPr/>
      </dsp:nvSpPr>
      <dsp:spPr>
        <a:xfrm>
          <a:off x="2590309" y="92857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5ADAF4-7512-401E-AAD9-8012D2FA10D9}">
      <dsp:nvSpPr>
        <dsp:cNvPr id="0" name=""/>
        <dsp:cNvSpPr/>
      </dsp:nvSpPr>
      <dsp:spPr>
        <a:xfrm>
          <a:off x="2651341" y="706318"/>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99C585-58BC-426E-95E9-66A3F1BFA4FC}">
      <dsp:nvSpPr>
        <dsp:cNvPr id="0" name=""/>
        <dsp:cNvSpPr/>
      </dsp:nvSpPr>
      <dsp:spPr>
        <a:xfrm>
          <a:off x="2655394" y="86746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31440D-521E-48F6-AE66-FADC6789ECE6}">
      <dsp:nvSpPr>
        <dsp:cNvPr id="0" name=""/>
        <dsp:cNvSpPr/>
      </dsp:nvSpPr>
      <dsp:spPr>
        <a:xfrm>
          <a:off x="1296116" y="311036"/>
          <a:ext cx="1025439" cy="1008667"/>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2029-30 EXIT Potentials</a:t>
          </a:r>
        </a:p>
      </dsp:txBody>
      <dsp:txXfrm>
        <a:off x="1446288" y="458752"/>
        <a:ext cx="725095" cy="713235"/>
      </dsp:txXfrm>
    </dsp:sp>
    <dsp:sp modelId="{3801B84F-CA6C-4196-BD13-DCD3EB8709B5}">
      <dsp:nvSpPr>
        <dsp:cNvPr id="0" name=""/>
        <dsp:cNvSpPr/>
      </dsp:nvSpPr>
      <dsp:spPr>
        <a:xfrm>
          <a:off x="1205427" y="414855"/>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7F15F4-BC11-452B-AD11-8558DE40472F}">
      <dsp:nvSpPr>
        <dsp:cNvPr id="0" name=""/>
        <dsp:cNvSpPr/>
      </dsp:nvSpPr>
      <dsp:spPr>
        <a:xfrm>
          <a:off x="1117694"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C307BD-6D13-4973-A92E-E36C9AAE84D7}">
      <dsp:nvSpPr>
        <dsp:cNvPr id="0" name=""/>
        <dsp:cNvSpPr/>
      </dsp:nvSpPr>
      <dsp:spPr>
        <a:xfrm>
          <a:off x="971553"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9FF9DA-0E2A-44B3-8FD5-174FD97A1E12}">
      <dsp:nvSpPr>
        <dsp:cNvPr id="0" name=""/>
        <dsp:cNvSpPr/>
      </dsp:nvSpPr>
      <dsp:spPr>
        <a:xfrm>
          <a:off x="825412"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771EB-27EA-42B2-8076-28D155A65C87}">
      <dsp:nvSpPr>
        <dsp:cNvPr id="0" name=""/>
        <dsp:cNvSpPr/>
      </dsp:nvSpPr>
      <dsp:spPr>
        <a:xfrm>
          <a:off x="679271"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673C9A-B60F-4208-A783-2C306272D0C7}">
      <dsp:nvSpPr>
        <dsp:cNvPr id="0" name=""/>
        <dsp:cNvSpPr/>
      </dsp:nvSpPr>
      <dsp:spPr>
        <a:xfrm>
          <a:off x="532892"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4A2FA5-8DD5-4DA3-88A9-3BA586EC30CE}">
      <dsp:nvSpPr>
        <dsp:cNvPr id="0" name=""/>
        <dsp:cNvSpPr/>
      </dsp:nvSpPr>
      <dsp:spPr>
        <a:xfrm>
          <a:off x="386751"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9BB9A4-66D1-45DD-93B1-4A54B30FC142}">
      <dsp:nvSpPr>
        <dsp:cNvPr id="0" name=""/>
        <dsp:cNvSpPr/>
      </dsp:nvSpPr>
      <dsp:spPr>
        <a:xfrm>
          <a:off x="38512" y="130394"/>
          <a:ext cx="1573154" cy="176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dirty="0">
              <a:latin typeface="Duplicate Sans Light" pitchFamily="2" charset="77"/>
            </a:rPr>
            <a:t>Initial Public Offering</a:t>
          </a:r>
        </a:p>
      </dsp:txBody>
      <dsp:txXfrm>
        <a:off x="38512" y="130394"/>
        <a:ext cx="1573154" cy="176002"/>
      </dsp:txXfrm>
    </dsp:sp>
    <dsp:sp modelId="{C515A8E6-8F9B-4090-A741-161B997A863B}">
      <dsp:nvSpPr>
        <dsp:cNvPr id="0" name=""/>
        <dsp:cNvSpPr/>
      </dsp:nvSpPr>
      <dsp:spPr>
        <a:xfrm>
          <a:off x="1063338" y="640177"/>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9C3C34-D496-497C-9090-22A187BB6CAF}">
      <dsp:nvSpPr>
        <dsp:cNvPr id="0" name=""/>
        <dsp:cNvSpPr/>
      </dsp:nvSpPr>
      <dsp:spPr>
        <a:xfrm>
          <a:off x="927925"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1D6D60-3189-401A-AA9D-CE95987530A1}">
      <dsp:nvSpPr>
        <dsp:cNvPr id="0" name=""/>
        <dsp:cNvSpPr/>
      </dsp:nvSpPr>
      <dsp:spPr>
        <a:xfrm>
          <a:off x="792751"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59A25A-0308-4E47-9A15-2B8D72675750}">
      <dsp:nvSpPr>
        <dsp:cNvPr id="0" name=""/>
        <dsp:cNvSpPr/>
      </dsp:nvSpPr>
      <dsp:spPr>
        <a:xfrm>
          <a:off x="657338"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CAEBDA-7E84-401A-A48E-50421F3BF1B9}">
      <dsp:nvSpPr>
        <dsp:cNvPr id="0" name=""/>
        <dsp:cNvSpPr/>
      </dsp:nvSpPr>
      <dsp:spPr>
        <a:xfrm>
          <a:off x="522164"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29DA05-5B98-4595-BFEA-ADC31E38B2A4}">
      <dsp:nvSpPr>
        <dsp:cNvPr id="0" name=""/>
        <dsp:cNvSpPr/>
      </dsp:nvSpPr>
      <dsp:spPr>
        <a:xfrm>
          <a:off x="386751"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0B2825-37D1-4083-8219-4BF166B1B287}">
      <dsp:nvSpPr>
        <dsp:cNvPr id="0" name=""/>
        <dsp:cNvSpPr/>
      </dsp:nvSpPr>
      <dsp:spPr>
        <a:xfrm>
          <a:off x="38511" y="401541"/>
          <a:ext cx="1363884" cy="237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dirty="0">
              <a:latin typeface="Duplicate Sans Light" pitchFamily="2" charset="77"/>
            </a:rPr>
            <a:t>DoD Contract</a:t>
          </a:r>
        </a:p>
      </dsp:txBody>
      <dsp:txXfrm>
        <a:off x="38511" y="401541"/>
        <a:ext cx="1363884" cy="237262"/>
      </dsp:txXfrm>
    </dsp:sp>
    <dsp:sp modelId="{40749508-DE86-4E15-8B6B-2C5852BFD44D}">
      <dsp:nvSpPr>
        <dsp:cNvPr id="0" name=""/>
        <dsp:cNvSpPr/>
      </dsp:nvSpPr>
      <dsp:spPr>
        <a:xfrm>
          <a:off x="1205427" y="1083532"/>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AD223F-77C0-4827-A09D-8B63847CB5EF}">
      <dsp:nvSpPr>
        <dsp:cNvPr id="0" name=""/>
        <dsp:cNvSpPr/>
      </dsp:nvSpPr>
      <dsp:spPr>
        <a:xfrm>
          <a:off x="1117694"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2A46F8-6F87-43B9-ADB9-43B46A7E53CB}">
      <dsp:nvSpPr>
        <dsp:cNvPr id="0" name=""/>
        <dsp:cNvSpPr/>
      </dsp:nvSpPr>
      <dsp:spPr>
        <a:xfrm>
          <a:off x="971553"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F0A8AA-EC07-4717-B17C-A2254B45EB22}">
      <dsp:nvSpPr>
        <dsp:cNvPr id="0" name=""/>
        <dsp:cNvSpPr/>
      </dsp:nvSpPr>
      <dsp:spPr>
        <a:xfrm>
          <a:off x="825412"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66387B-EFC0-4567-894F-B8995322A132}">
      <dsp:nvSpPr>
        <dsp:cNvPr id="0" name=""/>
        <dsp:cNvSpPr/>
      </dsp:nvSpPr>
      <dsp:spPr>
        <a:xfrm>
          <a:off x="679271"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1E41D5-29A0-4139-ADCF-F2CEC06D1224}">
      <dsp:nvSpPr>
        <dsp:cNvPr id="0" name=""/>
        <dsp:cNvSpPr/>
      </dsp:nvSpPr>
      <dsp:spPr>
        <a:xfrm>
          <a:off x="532892"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DC1A33-7999-4FC0-80DE-FB25EB38A9DA}">
      <dsp:nvSpPr>
        <dsp:cNvPr id="0" name=""/>
        <dsp:cNvSpPr/>
      </dsp:nvSpPr>
      <dsp:spPr>
        <a:xfrm>
          <a:off x="386751"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38A793-37D7-476F-9873-92C9576E4F36}">
      <dsp:nvSpPr>
        <dsp:cNvPr id="0" name=""/>
        <dsp:cNvSpPr/>
      </dsp:nvSpPr>
      <dsp:spPr>
        <a:xfrm>
          <a:off x="38512" y="652923"/>
          <a:ext cx="1215051" cy="52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44500">
            <a:lnSpc>
              <a:spcPct val="90000"/>
            </a:lnSpc>
            <a:spcBef>
              <a:spcPct val="0"/>
            </a:spcBef>
            <a:spcAft>
              <a:spcPct val="35000"/>
            </a:spcAft>
            <a:buNone/>
          </a:pPr>
          <a:r>
            <a:rPr lang="en-US" sz="1000" b="0" i="0" kern="1200" dirty="0">
              <a:latin typeface="Duplicate Sans Light" pitchFamily="2" charset="77"/>
            </a:rPr>
            <a:t>Positioned for Merger or Acquisition</a:t>
          </a:r>
          <a:endParaRPr lang="en-US" sz="1000" b="0" i="0" kern="1200" dirty="0">
            <a:solidFill>
              <a:schemeClr val="bg1">
                <a:lumMod val="50000"/>
                <a:lumOff val="50000"/>
              </a:schemeClr>
            </a:solidFill>
            <a:latin typeface="Duplicate Sans Light" pitchFamily="2" charset="77"/>
          </a:endParaRPr>
        </a:p>
      </dsp:txBody>
      <dsp:txXfrm>
        <a:off x="38512" y="652923"/>
        <a:ext cx="1215051" cy="525805"/>
      </dsp:txXfrm>
    </dsp:sp>
  </dsp:spTree>
</dsp:drawing>
</file>

<file path=ppt/diagrams/layout1.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AD715-F81E-FF48-BE2A-0050B404F014}"/>
              </a:ext>
            </a:extLst>
          </p:cNvPr>
          <p:cNvSpPr>
            <a:spLocks noGrp="1"/>
          </p:cNvSpPr>
          <p:nvPr>
            <p:ph type="ctrTitle"/>
          </p:nvPr>
        </p:nvSpPr>
        <p:spPr>
          <a:xfrm>
            <a:off x="1524000" y="1122363"/>
            <a:ext cx="9144000" cy="2387600"/>
          </a:xfrm>
        </p:spPr>
        <p:txBody>
          <a:bodyPr anchor="b"/>
          <a:lstStyle>
            <a:lvl1pPr algn="ctr">
              <a:defRPr sz="6000" b="0" i="0">
                <a:latin typeface="Duplicate Sans Light"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A4C21A51-BAB9-F145-B1F6-3E1271035A42}"/>
              </a:ext>
            </a:extLst>
          </p:cNvPr>
          <p:cNvSpPr>
            <a:spLocks noGrp="1"/>
          </p:cNvSpPr>
          <p:nvPr>
            <p:ph type="subTitle" idx="1"/>
          </p:nvPr>
        </p:nvSpPr>
        <p:spPr>
          <a:xfrm>
            <a:off x="1524000" y="3602038"/>
            <a:ext cx="9144000" cy="1655762"/>
          </a:xfrm>
        </p:spPr>
        <p:txBody>
          <a:bodyPr/>
          <a:lstStyle>
            <a:lvl1pPr marL="0" indent="0" algn="ctr">
              <a:buNone/>
              <a:defRPr sz="2400" b="0" i="0">
                <a:latin typeface="Duplicate Sans Light" pitchFamily="2" charset="77"/>
              </a:defRPr>
            </a:lvl1pPr>
            <a:lvl2pPr marL="457192" indent="0" algn="ctr">
              <a:buNone/>
              <a:defRPr sz="2000"/>
            </a:lvl2pPr>
            <a:lvl3pPr marL="914384" indent="0" algn="ctr">
              <a:buNone/>
              <a:defRPr sz="1800"/>
            </a:lvl3pPr>
            <a:lvl4pPr marL="1371576" indent="0" algn="ctr">
              <a:buNone/>
              <a:defRPr sz="1600"/>
            </a:lvl4pPr>
            <a:lvl5pPr marL="1828768" indent="0" algn="ctr">
              <a:buNone/>
              <a:defRPr sz="1600"/>
            </a:lvl5pPr>
            <a:lvl6pPr marL="2285960" indent="0" algn="ctr">
              <a:buNone/>
              <a:defRPr sz="1600"/>
            </a:lvl6pPr>
            <a:lvl7pPr marL="2743152" indent="0" algn="ctr">
              <a:buNone/>
              <a:defRPr sz="1600"/>
            </a:lvl7pPr>
            <a:lvl8pPr marL="3200344" indent="0" algn="ctr">
              <a:buNone/>
              <a:defRPr sz="1600"/>
            </a:lvl8pPr>
            <a:lvl9pPr marL="3657536"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9743F29-7C74-FE45-AA94-5D2E3A5A5276}"/>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1C6F8A84-9005-734C-88E3-9621F860E7AA}"/>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C08754D9-B95F-4942-BB07-8FC370CB4E9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76393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E5856-5BD1-8447-9DA2-D75C107B39B8}"/>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FCB4A877-D1E0-D447-91AF-C413DE764CBA}"/>
              </a:ext>
            </a:extLst>
          </p:cNvPr>
          <p:cNvSpPr>
            <a:spLocks noGrp="1"/>
          </p:cNvSpPr>
          <p:nvPr>
            <p:ph idx="1"/>
          </p:nvPr>
        </p:nvSpPr>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51CBF79-76C4-ED45-B791-9823CE5D05B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D8035812-C702-3F4E-93D7-24B3D471B8D7}"/>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65D74359-623D-5B43-947B-A894CFF6149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544128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9709E-CF7A-6B49-BA9D-35EA8A568527}"/>
              </a:ext>
            </a:extLst>
          </p:cNvPr>
          <p:cNvSpPr>
            <a:spLocks noGrp="1"/>
          </p:cNvSpPr>
          <p:nvPr>
            <p:ph type="title"/>
          </p:nvPr>
        </p:nvSpPr>
        <p:spPr>
          <a:xfrm>
            <a:off x="831850" y="1709738"/>
            <a:ext cx="10515600" cy="2852737"/>
          </a:xfrm>
        </p:spPr>
        <p:txBody>
          <a:bodyPr anchor="b"/>
          <a:lstStyle>
            <a:lvl1pPr>
              <a:defRPr sz="6000"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C8F85538-9BA2-1345-A731-4FA057E03852}"/>
              </a:ext>
            </a:extLst>
          </p:cNvPr>
          <p:cNvSpPr>
            <a:spLocks noGrp="1"/>
          </p:cNvSpPr>
          <p:nvPr>
            <p:ph type="body" idx="1"/>
          </p:nvPr>
        </p:nvSpPr>
        <p:spPr>
          <a:xfrm>
            <a:off x="831850" y="4589463"/>
            <a:ext cx="10515600" cy="1500187"/>
          </a:xfrm>
        </p:spPr>
        <p:txBody>
          <a:bodyPr/>
          <a:lstStyle>
            <a:lvl1pPr marL="0" indent="0">
              <a:buNone/>
              <a:defRPr sz="2400" b="0" i="0">
                <a:solidFill>
                  <a:schemeClr val="tx1">
                    <a:tint val="75000"/>
                  </a:schemeClr>
                </a:solidFill>
                <a:latin typeface="Duplicate Sans Light" pitchFamily="2" charset="77"/>
              </a:defRPr>
            </a:lvl1pPr>
            <a:lvl2pPr marL="457192" indent="0">
              <a:buNone/>
              <a:defRPr sz="2000">
                <a:solidFill>
                  <a:schemeClr val="tx1">
                    <a:tint val="75000"/>
                  </a:schemeClr>
                </a:solidFill>
              </a:defRPr>
            </a:lvl2pPr>
            <a:lvl3pPr marL="914384" indent="0">
              <a:buNone/>
              <a:defRPr sz="1800">
                <a:solidFill>
                  <a:schemeClr val="tx1">
                    <a:tint val="75000"/>
                  </a:schemeClr>
                </a:solidFill>
              </a:defRPr>
            </a:lvl3pPr>
            <a:lvl4pPr marL="1371576" indent="0">
              <a:buNone/>
              <a:defRPr sz="1600">
                <a:solidFill>
                  <a:schemeClr val="tx1">
                    <a:tint val="75000"/>
                  </a:schemeClr>
                </a:solidFill>
              </a:defRPr>
            </a:lvl4pPr>
            <a:lvl5pPr marL="1828768" indent="0">
              <a:buNone/>
              <a:defRPr sz="1600">
                <a:solidFill>
                  <a:schemeClr val="tx1">
                    <a:tint val="75000"/>
                  </a:schemeClr>
                </a:solidFill>
              </a:defRPr>
            </a:lvl5pPr>
            <a:lvl6pPr marL="2285960" indent="0">
              <a:buNone/>
              <a:defRPr sz="1600">
                <a:solidFill>
                  <a:schemeClr val="tx1">
                    <a:tint val="75000"/>
                  </a:schemeClr>
                </a:solidFill>
              </a:defRPr>
            </a:lvl6pPr>
            <a:lvl7pPr marL="2743152" indent="0">
              <a:buNone/>
              <a:defRPr sz="1600">
                <a:solidFill>
                  <a:schemeClr val="tx1">
                    <a:tint val="75000"/>
                  </a:schemeClr>
                </a:solidFill>
              </a:defRPr>
            </a:lvl7pPr>
            <a:lvl8pPr marL="3200344" indent="0">
              <a:buNone/>
              <a:defRPr sz="1600">
                <a:solidFill>
                  <a:schemeClr val="tx1">
                    <a:tint val="75000"/>
                  </a:schemeClr>
                </a:solidFill>
              </a:defRPr>
            </a:lvl8pPr>
            <a:lvl9pPr marL="3657536"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77E9C974-4130-D944-B769-4D341F6724C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F27DE766-9EA3-FD41-8B47-917070E2D08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716D7C3C-E793-EF46-984A-182EE2205041}"/>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595139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EB386-342F-6F46-8763-AC3B6FDBFB8B}"/>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06B1BFC9-94E3-2F45-B2AF-D3519CAFBE37}"/>
              </a:ext>
            </a:extLst>
          </p:cNvPr>
          <p:cNvSpPr>
            <a:spLocks noGrp="1"/>
          </p:cNvSpPr>
          <p:nvPr>
            <p:ph sz="half" idx="1"/>
          </p:nvPr>
        </p:nvSpPr>
        <p:spPr>
          <a:xfrm>
            <a:off x="838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A0EA92-E9CA-054C-A5D1-E795C19B87C1}"/>
              </a:ext>
            </a:extLst>
          </p:cNvPr>
          <p:cNvSpPr>
            <a:spLocks noGrp="1"/>
          </p:cNvSpPr>
          <p:nvPr>
            <p:ph sz="half" idx="2"/>
          </p:nvPr>
        </p:nvSpPr>
        <p:spPr>
          <a:xfrm>
            <a:off x="6172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6C25B6C-F874-4F4A-BE23-21D37F2887BB}"/>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6634D191-60CE-D245-B580-7B43040A4FC9}"/>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5D32B468-09B3-5347-ADEF-4A3082F855C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691203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4FB8A-7386-704D-B386-2F106C49A002}"/>
              </a:ext>
            </a:extLst>
          </p:cNvPr>
          <p:cNvSpPr>
            <a:spLocks noGrp="1"/>
          </p:cNvSpPr>
          <p:nvPr>
            <p:ph type="title"/>
          </p:nvPr>
        </p:nvSpPr>
        <p:spPr>
          <a:xfrm>
            <a:off x="839788" y="365126"/>
            <a:ext cx="10515600" cy="1325563"/>
          </a:xfrm>
        </p:spPr>
        <p:txBody>
          <a:bodyPr/>
          <a:lstStyle>
            <a:lvl1pPr>
              <a:defRPr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398A28B7-BCF3-FC49-BD49-3CFFF330E6FB}"/>
              </a:ext>
            </a:extLst>
          </p:cNvPr>
          <p:cNvSpPr>
            <a:spLocks noGrp="1"/>
          </p:cNvSpPr>
          <p:nvPr>
            <p:ph type="body" idx="1"/>
          </p:nvPr>
        </p:nvSpPr>
        <p:spPr>
          <a:xfrm>
            <a:off x="839789" y="1681163"/>
            <a:ext cx="5157787"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D451BBC-8619-894D-B843-91898CDCAAC1}"/>
              </a:ext>
            </a:extLst>
          </p:cNvPr>
          <p:cNvSpPr>
            <a:spLocks noGrp="1"/>
          </p:cNvSpPr>
          <p:nvPr>
            <p:ph sz="half" idx="2"/>
          </p:nvPr>
        </p:nvSpPr>
        <p:spPr>
          <a:xfrm>
            <a:off x="839789" y="2505075"/>
            <a:ext cx="5157787"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646B831-516D-2D46-8601-B920F1D5C547}"/>
              </a:ext>
            </a:extLst>
          </p:cNvPr>
          <p:cNvSpPr>
            <a:spLocks noGrp="1"/>
          </p:cNvSpPr>
          <p:nvPr>
            <p:ph type="body" sz="quarter" idx="3"/>
          </p:nvPr>
        </p:nvSpPr>
        <p:spPr>
          <a:xfrm>
            <a:off x="6172201" y="1681163"/>
            <a:ext cx="5183188"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9B5319A-1E54-184F-BB77-950C26B98AEB}"/>
              </a:ext>
            </a:extLst>
          </p:cNvPr>
          <p:cNvSpPr>
            <a:spLocks noGrp="1"/>
          </p:cNvSpPr>
          <p:nvPr>
            <p:ph sz="quarter" idx="4"/>
          </p:nvPr>
        </p:nvSpPr>
        <p:spPr>
          <a:xfrm>
            <a:off x="6172201" y="2505075"/>
            <a:ext cx="5183188"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012BEDB-B7C3-8B44-91F8-65D5B5EB1401}"/>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8" name="Footer Placeholder 7">
            <a:extLst>
              <a:ext uri="{FF2B5EF4-FFF2-40B4-BE49-F238E27FC236}">
                <a16:creationId xmlns:a16="http://schemas.microsoft.com/office/drawing/2014/main" id="{EAF8A91D-8455-1C47-92F1-271C189ED9E4}"/>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9" name="Slide Number Placeholder 8">
            <a:extLst>
              <a:ext uri="{FF2B5EF4-FFF2-40B4-BE49-F238E27FC236}">
                <a16:creationId xmlns:a16="http://schemas.microsoft.com/office/drawing/2014/main" id="{4DCEBEB1-7158-5849-86A6-27DC478C05A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87258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83D5-6986-5F4C-9D14-6EDB64D8E8B5}"/>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Date Placeholder 2">
            <a:extLst>
              <a:ext uri="{FF2B5EF4-FFF2-40B4-BE49-F238E27FC236}">
                <a16:creationId xmlns:a16="http://schemas.microsoft.com/office/drawing/2014/main" id="{2068C786-B77E-BD4D-B6C6-B776E9370728}"/>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4" name="Footer Placeholder 3">
            <a:extLst>
              <a:ext uri="{FF2B5EF4-FFF2-40B4-BE49-F238E27FC236}">
                <a16:creationId xmlns:a16="http://schemas.microsoft.com/office/drawing/2014/main" id="{9DAEEE1C-E916-D04A-AA69-79697DD9AAF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5" name="Slide Number Placeholder 4">
            <a:extLst>
              <a:ext uri="{FF2B5EF4-FFF2-40B4-BE49-F238E27FC236}">
                <a16:creationId xmlns:a16="http://schemas.microsoft.com/office/drawing/2014/main" id="{6375FF5C-55AD-604B-AF69-3683F37E270C}"/>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720486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B8C1DF-3A85-1F46-A29F-E9AEC35F1E0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3" name="Footer Placeholder 2">
            <a:extLst>
              <a:ext uri="{FF2B5EF4-FFF2-40B4-BE49-F238E27FC236}">
                <a16:creationId xmlns:a16="http://schemas.microsoft.com/office/drawing/2014/main" id="{36D2539F-55C2-ED40-80B7-924B95474168}"/>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4" name="Slide Number Placeholder 3">
            <a:extLst>
              <a:ext uri="{FF2B5EF4-FFF2-40B4-BE49-F238E27FC236}">
                <a16:creationId xmlns:a16="http://schemas.microsoft.com/office/drawing/2014/main" id="{4AC742FA-B8A1-2F4E-BB4F-C10FA006CA5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49271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D865-C135-874C-B606-C08A6049DF61}"/>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A8B4CF7F-A012-2A4E-8883-8C2C4136C65A}"/>
              </a:ext>
            </a:extLst>
          </p:cNvPr>
          <p:cNvSpPr>
            <a:spLocks noGrp="1"/>
          </p:cNvSpPr>
          <p:nvPr>
            <p:ph idx="1"/>
          </p:nvPr>
        </p:nvSpPr>
        <p:spPr>
          <a:xfrm>
            <a:off x="5183189" y="987425"/>
            <a:ext cx="6172200" cy="4873625"/>
          </a:xfrm>
        </p:spPr>
        <p:txBody>
          <a:bodyPr/>
          <a:lstStyle>
            <a:lvl1pPr>
              <a:defRPr sz="3200" b="0" i="0">
                <a:latin typeface="Duplicate Sans Light" pitchFamily="2" charset="77"/>
              </a:defRPr>
            </a:lvl1pPr>
            <a:lvl2pPr>
              <a:defRPr sz="2800" b="0" i="0">
                <a:latin typeface="Duplicate Sans Light" pitchFamily="2" charset="77"/>
              </a:defRPr>
            </a:lvl2pPr>
            <a:lvl3pPr>
              <a:defRPr sz="2400" b="0" i="0">
                <a:latin typeface="Duplicate Sans Light" pitchFamily="2" charset="77"/>
              </a:defRPr>
            </a:lvl3pPr>
            <a:lvl4pPr>
              <a:defRPr sz="2000" b="0" i="0">
                <a:latin typeface="Duplicate Sans Light" pitchFamily="2" charset="77"/>
              </a:defRPr>
            </a:lvl4pPr>
            <a:lvl5pPr>
              <a:defRPr sz="2000" b="0" i="0">
                <a:latin typeface="Duplicate Sans Light" pitchFamily="2" charset="77"/>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0F16816-74B4-864A-9236-6842F5D2CD94}"/>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5B3FB84-67D5-1149-87FC-C19EA48E259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4E8E749F-70D0-A84D-BF1C-10737C11765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321859BE-55CD-0043-ADEE-1D93095BB9A2}"/>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4524079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89EEE-1B88-7A44-9DEC-52862A88D163}"/>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Picture Placeholder 2">
            <a:extLst>
              <a:ext uri="{FF2B5EF4-FFF2-40B4-BE49-F238E27FC236}">
                <a16:creationId xmlns:a16="http://schemas.microsoft.com/office/drawing/2014/main" id="{09A9A3CE-6715-A84F-AEB5-CB29DE9654EA}"/>
              </a:ext>
            </a:extLst>
          </p:cNvPr>
          <p:cNvSpPr>
            <a:spLocks noGrp="1"/>
          </p:cNvSpPr>
          <p:nvPr>
            <p:ph type="pic" idx="1"/>
          </p:nvPr>
        </p:nvSpPr>
        <p:spPr>
          <a:xfrm>
            <a:off x="5183189" y="987425"/>
            <a:ext cx="6172200" cy="4873625"/>
          </a:xfrm>
        </p:spPr>
        <p:txBody>
          <a:bodyPr/>
          <a:lstStyle>
            <a:lvl1pPr marL="0" indent="0">
              <a:buNone/>
              <a:defRPr sz="3200" b="0" i="0">
                <a:latin typeface="Duplicate Sans Light" pitchFamily="2" charset="77"/>
              </a:defRPr>
            </a:lvl1pPr>
            <a:lvl2pPr marL="457192" indent="0">
              <a:buNone/>
              <a:defRPr sz="2800"/>
            </a:lvl2pPr>
            <a:lvl3pPr marL="914384" indent="0">
              <a:buNone/>
              <a:defRPr sz="2400"/>
            </a:lvl3pPr>
            <a:lvl4pPr marL="1371576" indent="0">
              <a:buNone/>
              <a:defRPr sz="2000"/>
            </a:lvl4pPr>
            <a:lvl5pPr marL="1828768" indent="0">
              <a:buNone/>
              <a:defRPr sz="2000"/>
            </a:lvl5pPr>
            <a:lvl6pPr marL="2285960" indent="0">
              <a:buNone/>
              <a:defRPr sz="2000"/>
            </a:lvl6pPr>
            <a:lvl7pPr marL="2743152" indent="0">
              <a:buNone/>
              <a:defRPr sz="2000"/>
            </a:lvl7pPr>
            <a:lvl8pPr marL="3200344" indent="0">
              <a:buNone/>
              <a:defRPr sz="2000"/>
            </a:lvl8pPr>
            <a:lvl9pPr marL="3657536" indent="0">
              <a:buNone/>
              <a:defRPr sz="2000"/>
            </a:lvl9pPr>
          </a:lstStyle>
          <a:p>
            <a:endParaRPr lang="en-US" dirty="0"/>
          </a:p>
        </p:txBody>
      </p:sp>
      <p:sp>
        <p:nvSpPr>
          <p:cNvPr id="4" name="Text Placeholder 3">
            <a:extLst>
              <a:ext uri="{FF2B5EF4-FFF2-40B4-BE49-F238E27FC236}">
                <a16:creationId xmlns:a16="http://schemas.microsoft.com/office/drawing/2014/main" id="{A4485DEF-C950-CA40-BC19-C9B2DB0D4D38}"/>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3BF1156-302D-CD4B-B264-FE9C6B33CA15}"/>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3CF7C406-B78F-1F46-A4A3-AE8125771EA0}"/>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17A876A8-A3A0-194B-9CA1-0DDBC4AA3045}"/>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47200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B1E6E-F30F-2748-8F76-A2444B2DB393}"/>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22BC5E3C-9EE5-5E4F-A1E6-C0B03796B39C}"/>
              </a:ext>
            </a:extLst>
          </p:cNvPr>
          <p:cNvSpPr>
            <a:spLocks noGrp="1"/>
          </p:cNvSpPr>
          <p:nvPr>
            <p:ph type="body" orient="vert" idx="1"/>
          </p:nvPr>
        </p:nvSpPr>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D3EFAD4-A7B7-DF40-88CE-347F72DE10A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9BF786EB-B54A-1144-A03E-663282437DC2}"/>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3A1E0691-85A1-1846-847A-5F08C24BD92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58946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530F3B-0996-CD40-BD28-704FD950455E}"/>
              </a:ext>
            </a:extLst>
          </p:cNvPr>
          <p:cNvSpPr>
            <a:spLocks noGrp="1"/>
          </p:cNvSpPr>
          <p:nvPr>
            <p:ph type="title" orient="vert"/>
          </p:nvPr>
        </p:nvSpPr>
        <p:spPr>
          <a:xfrm>
            <a:off x="8724900" y="365126"/>
            <a:ext cx="2628900" cy="5811838"/>
          </a:xfrm>
        </p:spPr>
        <p:txBody>
          <a:bodyPr vert="eaVert"/>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8043B2CD-4278-8640-8A70-7A877BFDA6CB}"/>
              </a:ext>
            </a:extLst>
          </p:cNvPr>
          <p:cNvSpPr>
            <a:spLocks noGrp="1"/>
          </p:cNvSpPr>
          <p:nvPr>
            <p:ph type="body" orient="vert" idx="1"/>
          </p:nvPr>
        </p:nvSpPr>
        <p:spPr>
          <a:xfrm>
            <a:off x="838201" y="365126"/>
            <a:ext cx="7734300" cy="5811838"/>
          </a:xfrm>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D0B6317-23AD-544E-A219-6800868F2B7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27A823E0-D0EC-6A4C-BCED-5EBB1CF8E90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FDAEC469-C8AD-4A42-AA45-9E15E528D46E}"/>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7243798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727380-7E14-4B46-A2BB-0150C9D32756}"/>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4480DEC-C0C4-6642-ACE7-42CBACA049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5F92F98-C23E-9249-A668-AAA1403938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71A0A3C0-C74B-3848-9B15-1A037FF819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246E2089-9B8D-E943-B2ED-A9EB7F48F8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478632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84" rtl="0" eaLnBrk="1" latinLnBrk="0" hangingPunct="1">
        <a:lnSpc>
          <a:spcPct val="90000"/>
        </a:lnSpc>
        <a:spcBef>
          <a:spcPct val="0"/>
        </a:spcBef>
        <a:buNone/>
        <a:defRPr sz="4400" b="0" i="0" kern="1200">
          <a:solidFill>
            <a:schemeClr val="tx1"/>
          </a:solidFill>
          <a:latin typeface="Duplicate Sans Light" pitchFamily="2" charset="77"/>
          <a:ea typeface="+mj-ea"/>
          <a:cs typeface="+mj-cs"/>
        </a:defRPr>
      </a:lvl1pPr>
    </p:titleStyle>
    <p:bodyStyle>
      <a:lvl1pPr marL="228596" indent="-228596" algn="l" defTabSz="914384"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788" indent="-228596" algn="l" defTabSz="914384"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2980" indent="-228596" algn="l" defTabSz="914384"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172"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364"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556"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48"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40"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32"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84" rtl="0" eaLnBrk="1" latinLnBrk="0" hangingPunct="1">
        <a:defRPr sz="1800" kern="1200">
          <a:solidFill>
            <a:schemeClr val="tx1"/>
          </a:solidFill>
          <a:latin typeface="+mn-lt"/>
          <a:ea typeface="+mn-ea"/>
          <a:cs typeface="+mn-cs"/>
        </a:defRPr>
      </a:lvl1pPr>
      <a:lvl2pPr marL="457192" algn="l" defTabSz="914384" rtl="0" eaLnBrk="1" latinLnBrk="0" hangingPunct="1">
        <a:defRPr sz="1800" kern="1200">
          <a:solidFill>
            <a:schemeClr val="tx1"/>
          </a:solidFill>
          <a:latin typeface="+mn-lt"/>
          <a:ea typeface="+mn-ea"/>
          <a:cs typeface="+mn-cs"/>
        </a:defRPr>
      </a:lvl2pPr>
      <a:lvl3pPr marL="914384" algn="l" defTabSz="914384" rtl="0" eaLnBrk="1" latinLnBrk="0" hangingPunct="1">
        <a:defRPr sz="1800" kern="1200">
          <a:solidFill>
            <a:schemeClr val="tx1"/>
          </a:solidFill>
          <a:latin typeface="+mn-lt"/>
          <a:ea typeface="+mn-ea"/>
          <a:cs typeface="+mn-cs"/>
        </a:defRPr>
      </a:lvl3pPr>
      <a:lvl4pPr marL="1371576" algn="l" defTabSz="914384" rtl="0" eaLnBrk="1" latinLnBrk="0" hangingPunct="1">
        <a:defRPr sz="1800" kern="1200">
          <a:solidFill>
            <a:schemeClr val="tx1"/>
          </a:solidFill>
          <a:latin typeface="+mn-lt"/>
          <a:ea typeface="+mn-ea"/>
          <a:cs typeface="+mn-cs"/>
        </a:defRPr>
      </a:lvl4pPr>
      <a:lvl5pPr marL="1828768" algn="l" defTabSz="914384" rtl="0" eaLnBrk="1" latinLnBrk="0" hangingPunct="1">
        <a:defRPr sz="1800" kern="1200">
          <a:solidFill>
            <a:schemeClr val="tx1"/>
          </a:solidFill>
          <a:latin typeface="+mn-lt"/>
          <a:ea typeface="+mn-ea"/>
          <a:cs typeface="+mn-cs"/>
        </a:defRPr>
      </a:lvl5pPr>
      <a:lvl6pPr marL="2285960" algn="l" defTabSz="914384" rtl="0" eaLnBrk="1" latinLnBrk="0" hangingPunct="1">
        <a:defRPr sz="1800" kern="1200">
          <a:solidFill>
            <a:schemeClr val="tx1"/>
          </a:solidFill>
          <a:latin typeface="+mn-lt"/>
          <a:ea typeface="+mn-ea"/>
          <a:cs typeface="+mn-cs"/>
        </a:defRPr>
      </a:lvl6pPr>
      <a:lvl7pPr marL="2743152" algn="l" defTabSz="914384" rtl="0" eaLnBrk="1" latinLnBrk="0" hangingPunct="1">
        <a:defRPr sz="1800" kern="1200">
          <a:solidFill>
            <a:schemeClr val="tx1"/>
          </a:solidFill>
          <a:latin typeface="+mn-lt"/>
          <a:ea typeface="+mn-ea"/>
          <a:cs typeface="+mn-cs"/>
        </a:defRPr>
      </a:lvl7pPr>
      <a:lvl8pPr marL="3200344" algn="l" defTabSz="914384" rtl="0" eaLnBrk="1" latinLnBrk="0" hangingPunct="1">
        <a:defRPr sz="1800" kern="1200">
          <a:solidFill>
            <a:schemeClr val="tx1"/>
          </a:solidFill>
          <a:latin typeface="+mn-lt"/>
          <a:ea typeface="+mn-ea"/>
          <a:cs typeface="+mn-cs"/>
        </a:defRPr>
      </a:lvl8pPr>
      <a:lvl9pPr marL="3657536" algn="l" defTabSz="91438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jp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jpe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jpg"/><Relationship Id="rId15" Type="http://schemas.openxmlformats.org/officeDocument/2006/relationships/image" Target="../media/image16.jpg"/><Relationship Id="rId16" Type="http://schemas.openxmlformats.org/officeDocument/2006/relationships/image" Target="../media/image17.tiff"/><Relationship Id="rId17" Type="http://schemas.openxmlformats.org/officeDocument/2006/relationships/image" Target="../media/image18.png"/><Relationship Id="rId18" Type="http://schemas.openxmlformats.org/officeDocument/2006/relationships/diagramData" Target="../diagrams/data1.xml"/><Relationship Id="rId19" Type="http://schemas.openxmlformats.org/officeDocument/2006/relationships/diagramLayout" Target="../diagrams/layout1.xml"/><Relationship Id="rId20" Type="http://schemas.openxmlformats.org/officeDocument/2006/relationships/diagramQuickStyle" Target="../diagrams/quickStyle1.xml"/><Relationship Id="rId21" Type="http://schemas.openxmlformats.org/officeDocument/2006/relationships/diagramColors" Target="../diagrams/colors1.xml"/><Relationship Id="rId22" Type="http://schemas.microsoft.com/office/2007/relationships/diagramDrawing" Target="../diagrams/drawing1.xml"/><Relationship Id="rId23" Type="http://schemas.openxmlformats.org/officeDocument/2006/relationships/image" Target="../media/image19.png"/><Relationship Id="rId24" Type="http://schemas.openxmlformats.org/officeDocument/2006/relationships/image" Target="../media/image20.png"/><Relationship Id="rId25" Type="http://schemas.openxmlformats.org/officeDocument/2006/relationships/image" Target="../media/image21.png"/><Relationship Id="rId26" Type="http://schemas.openxmlformats.org/officeDocument/2006/relationships/image" Target="../media/image22.png"/><Relationship Id="rId27" Type="http://schemas.openxmlformats.org/officeDocument/2006/relationships/image" Target="../media/image2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pic>
        <p:nvPicPr>
          <p:cNvPr id="4" name="Picture 3" descr="exos-letterhead-logo.png"/>
          <p:cNvPicPr>
            <a:picLocks noChangeAspect="1"/>
          </p:cNvPicPr>
          <p:nvPr/>
        </p:nvPicPr>
        <p:blipFill>
          <a:blip r:embed="rId3"/>
          <a:stretch>
            <a:fillRect/>
          </a:stretch>
        </p:blipFill>
        <p:spPr>
          <a:xfrm>
            <a:off x="0" y="0"/>
            <a:ext cx="5938345" cy="1226126"/>
          </a:xfrm>
          <a:prstGeom prst="rect">
            <a:avLst/>
          </a:prstGeom>
        </p:spPr>
      </p:pic>
      <p:sp>
        <p:nvSpPr>
          <p:cNvPr id="5" name="TextBox 4"/>
          <p:cNvSpPr txBox="1"/>
          <p:nvPr/>
        </p:nvSpPr>
        <p:spPr>
          <a:xfrm>
            <a:off x="731520" y="2011680"/>
            <a:ext cx="9144000" cy="1097280"/>
          </a:xfrm>
          <a:prstGeom prst="rect">
            <a:avLst/>
          </a:prstGeom>
          <a:noFill/>
        </p:spPr>
        <p:txBody>
          <a:bodyPr wrap="square">
            <a:spAutoFit/>
          </a:bodyPr>
          <a:lstStyle/>
          <a:p>
            <a:pPr algn="l">
              <a:spcAft>
                <a:spcPts val="400"/>
              </a:spcAft>
            </a:pPr>
            <a:r>
              <a:rPr sz="4800" b="1">
                <a:solidFill>
                  <a:srgbClr val="FFFFFF"/>
                </a:solidFill>
                <a:latin typeface="Calibri"/>
              </a:rPr>
              <a:t>EXOS AEROSPACE</a:t>
            </a:r>
          </a:p>
        </p:txBody>
      </p:sp>
      <p:sp>
        <p:nvSpPr>
          <p:cNvPr id="6" name="TextBox 5"/>
          <p:cNvSpPr txBox="1"/>
          <p:nvPr/>
        </p:nvSpPr>
        <p:spPr>
          <a:xfrm>
            <a:off x="731520" y="3108960"/>
            <a:ext cx="9144000" cy="731520"/>
          </a:xfrm>
          <a:prstGeom prst="rect">
            <a:avLst/>
          </a:prstGeom>
          <a:noFill/>
        </p:spPr>
        <p:txBody>
          <a:bodyPr wrap="square">
            <a:spAutoFit/>
          </a:bodyPr>
          <a:lstStyle/>
          <a:p>
            <a:pPr algn="l">
              <a:spcAft>
                <a:spcPts val="400"/>
              </a:spcAft>
            </a:pPr>
            <a:r>
              <a:rPr sz="2200" b="0">
                <a:solidFill>
                  <a:srgbClr val="009ED9"/>
                </a:solidFill>
                <a:latin typeface="Calibri"/>
              </a:rPr>
              <a:t>Reusable Flight Test Infrastructure for the Space &amp; Defense Industrial Base</a:t>
            </a:r>
          </a:p>
        </p:txBody>
      </p:sp>
      <p:sp>
        <p:nvSpPr>
          <p:cNvPr id="7" name="Rectangle 6"/>
          <p:cNvSpPr/>
          <p:nvPr/>
        </p:nvSpPr>
        <p:spPr>
          <a:xfrm>
            <a:off x="731520" y="3931920"/>
            <a:ext cx="36576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4206240"/>
            <a:ext cx="9144000" cy="1828800"/>
          </a:xfrm>
          <a:prstGeom prst="rect">
            <a:avLst/>
          </a:prstGeom>
          <a:noFill/>
        </p:spPr>
        <p:txBody>
          <a:bodyPr wrap="square">
            <a:spAutoFit/>
          </a:bodyPr>
          <a:lstStyle/>
          <a:p>
            <a:pPr algn="l">
              <a:spcBef>
                <a:spcPts val="0"/>
              </a:spcBef>
              <a:spcAft>
                <a:spcPts val="2000"/>
              </a:spcAft>
            </a:pPr>
            <a:r>
              <a:rPr sz="1600" b="0" i="1">
                <a:solidFill>
                  <a:srgbClr val="CCCCCC"/>
                </a:solidFill>
                <a:latin typeface="Calibri"/>
              </a:rPr>
              <a:t>Licensed Reusable Launch  |  Lunar-Proven Technology  |  Profitable</a:t>
            </a:r>
          </a:p>
          <a:p>
            <a:pPr algn="l">
              <a:spcBef>
                <a:spcPts val="0"/>
              </a:spcBef>
              <a:spcAft>
                <a:spcPts val="800"/>
              </a:spcAft>
            </a:pPr>
            <a:r>
              <a:rPr sz="2000" b="1">
                <a:solidFill>
                  <a:srgbClr val="FFB800"/>
                </a:solidFill>
                <a:latin typeface="Calibri"/>
              </a:rPr>
              <a:t>Raising: $10M Series A</a:t>
            </a:r>
          </a:p>
          <a:p>
            <a:pPr algn="l">
              <a:spcBef>
                <a:spcPts val="0"/>
              </a:spcBef>
              <a:spcAft>
                <a:spcPts val="400"/>
              </a:spcAft>
            </a:pPr>
            <a:r>
              <a:rPr sz="1400" b="0">
                <a:solidFill>
                  <a:srgbClr val="999999"/>
                </a:solidFill>
                <a:latin typeface="Calibri"/>
              </a:rPr>
              <a:t>May 2026</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THE $20 TRILLION BLIND SPOT</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AI conquered software. The physical world is next — and almost nobody can build for it.</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267712"/>
            <a:ext cx="10241280" cy="914400"/>
          </a:xfrm>
          <a:prstGeom prst="rect">
            <a:avLst/>
          </a:prstGeom>
          <a:noFill/>
        </p:spPr>
        <p:txBody>
          <a:bodyPr wrap="square" anchor="t">
            <a:spAutoFit/>
          </a:bodyPr>
          <a:lstStyle/>
          <a:p>
            <a:pPr algn="l"/>
            <a:r>
              <a:rPr sz="1500" b="1">
                <a:solidFill>
                  <a:srgbClr val="FFFFFF"/>
                </a:solidFill>
                <a:latin typeface="Calibri"/>
              </a:rPr>
              <a:t>The last decade of AI value went to BITS.</a:t>
            </a:r>
          </a:p>
          <a:p>
            <a:pPr algn="l">
              <a:spcBef>
                <a:spcPts val="300"/>
              </a:spcBef>
            </a:pPr>
            <a:r>
              <a:rPr sz="1250" b="0">
                <a:solidFill>
                  <a:srgbClr val="CCCCCC"/>
                </a:solidFill>
                <a:latin typeface="Calibri"/>
              </a:rPr>
              <a:t>Code, chat, SaaS, automation. That trade is crowded and commoditized.</a:t>
            </a:r>
          </a:p>
        </p:txBody>
      </p:sp>
      <p:sp>
        <p:nvSpPr>
          <p:cNvPr id="10" name="Rounded Rectangle 9"/>
          <p:cNvSpPr/>
          <p:nvPr/>
        </p:nvSpPr>
        <p:spPr>
          <a:xfrm>
            <a:off x="731520" y="3447288"/>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566160"/>
            <a:ext cx="10241280" cy="914400"/>
          </a:xfrm>
          <a:prstGeom prst="rect">
            <a:avLst/>
          </a:prstGeom>
          <a:noFill/>
        </p:spPr>
        <p:txBody>
          <a:bodyPr wrap="square" anchor="t">
            <a:spAutoFit/>
          </a:bodyPr>
          <a:lstStyle/>
          <a:p>
            <a:pPr algn="l"/>
            <a:r>
              <a:rPr sz="1500" b="1">
                <a:solidFill>
                  <a:srgbClr val="FFFFFF"/>
                </a:solidFill>
                <a:latin typeface="Calibri"/>
              </a:rPr>
              <a:t>The next decade goes to ATOMS.</a:t>
            </a:r>
          </a:p>
          <a:p>
            <a:pPr algn="l">
              <a:spcBef>
                <a:spcPts val="300"/>
              </a:spcBef>
            </a:pPr>
            <a:r>
              <a:rPr sz="1250" b="0">
                <a:solidFill>
                  <a:srgbClr val="CCCCCC"/>
                </a:solidFill>
                <a:latin typeface="Calibri"/>
              </a:rPr>
              <a:t>Aerospace, propulsion, manufacturing, energy, defense hardware — the $20 TRILLION physical economy.</a:t>
            </a:r>
          </a:p>
        </p:txBody>
      </p:sp>
      <p:sp>
        <p:nvSpPr>
          <p:cNvPr id="12" name="Rounded Rectangle 11"/>
          <p:cNvSpPr/>
          <p:nvPr/>
        </p:nvSpPr>
        <p:spPr>
          <a:xfrm>
            <a:off x="731520" y="4745736"/>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864607"/>
            <a:ext cx="10241280" cy="914400"/>
          </a:xfrm>
          <a:prstGeom prst="rect">
            <a:avLst/>
          </a:prstGeom>
          <a:noFill/>
        </p:spPr>
        <p:txBody>
          <a:bodyPr wrap="square" anchor="t">
            <a:spAutoFit/>
          </a:bodyPr>
          <a:lstStyle/>
          <a:p>
            <a:pPr algn="l"/>
            <a:r>
              <a:rPr sz="1500" b="1">
                <a:solidFill>
                  <a:srgbClr val="FFFFFF"/>
                </a:solidFill>
                <a:latin typeface="Calibri"/>
              </a:rPr>
              <a:t>"Almost nobody is building" it — because it is brutally hard.</a:t>
            </a:r>
          </a:p>
          <a:p>
            <a:pPr algn="l">
              <a:spcBef>
                <a:spcPts val="300"/>
              </a:spcBef>
            </a:pPr>
            <a:r>
              <a:rPr sz="1250" b="0">
                <a:solidFill>
                  <a:srgbClr val="CCCCCC"/>
                </a:solidFill>
                <a:latin typeface="Calibri"/>
              </a:rPr>
              <a:t>Real engineering, licensed flight hardware, manufacturing, regulatory clearance. Moats that take years and cannot be cloned like an app.</a:t>
            </a:r>
          </a:p>
        </p:txBody>
      </p:sp>
      <p:sp>
        <p:nvSpPr>
          <p:cNvPr id="14" name="TextBox 13"/>
          <p:cNvSpPr txBox="1"/>
          <p:nvPr/>
        </p:nvSpPr>
        <p:spPr>
          <a:xfrm>
            <a:off x="731520" y="5650992"/>
            <a:ext cx="10698480" cy="640080"/>
          </a:xfrm>
          <a:prstGeom prst="rect">
            <a:avLst/>
          </a:prstGeom>
          <a:noFill/>
        </p:spPr>
        <p:txBody>
          <a:bodyPr wrap="square" anchor="t">
            <a:spAutoFit/>
          </a:bodyPr>
          <a:lstStyle/>
          <a:p>
            <a:pPr algn="l"/>
            <a:r>
              <a:rPr sz="1600" b="1">
                <a:solidFill>
                  <a:srgbClr val="FFB800"/>
                </a:solidFill>
                <a:latin typeface="Calibri"/>
              </a:rPr>
              <a:t>That difficulty is the opportunity. </a:t>
            </a:r>
            <a:r>
              <a:rPr sz="1600" b="1">
                <a:solidFill>
                  <a:srgbClr val="FFFFFF"/>
                </a:solidFill>
                <a:latin typeface="Calibri"/>
              </a:rPr>
              <a:t>Exos is already on the other side of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WHY EXOS IS THE PHYSICAL-AI PLAY</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Four pillars no software company — and almost no hardware company — can assemble.</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295144"/>
            <a:ext cx="4873751" cy="1417320"/>
          </a:xfrm>
          <a:prstGeom prst="rect">
            <a:avLst/>
          </a:prstGeom>
          <a:noFill/>
        </p:spPr>
        <p:txBody>
          <a:bodyPr wrap="square" anchor="t">
            <a:spAutoFit/>
          </a:bodyPr>
          <a:lstStyle/>
          <a:p>
            <a:pPr algn="l"/>
            <a:r>
              <a:rPr sz="1300" b="1">
                <a:solidFill>
                  <a:srgbClr val="009ED9"/>
                </a:solidFill>
                <a:latin typeface="Calibri"/>
              </a:rPr>
              <a:t>1. PHYSICAL AI, ALREADY IN PRODUCTION</a:t>
            </a:r>
          </a:p>
          <a:p>
            <a:pPr algn="l">
              <a:spcBef>
                <a:spcPts val="400"/>
              </a:spcBef>
            </a:pPr>
            <a:r>
              <a:rPr sz="1150" b="0">
                <a:solidFill>
                  <a:srgbClr val="CCCCCC"/>
                </a:solidFill>
                <a:latin typeface="Calibri"/>
              </a:rPr>
              <a:t>AI applied where it is hardest: real flight hardware. Generative turbomachinery design (AxSTREAM), autonomous flight ops, AI-driven test &amp; integration. Operating today — not on a roadmap.</a:t>
            </a:r>
          </a:p>
        </p:txBody>
      </p:sp>
      <p:sp>
        <p:nvSpPr>
          <p:cNvPr id="10" name="Rounded Rectangle 9"/>
          <p:cNvSpPr/>
          <p:nvPr/>
        </p:nvSpPr>
        <p:spPr>
          <a:xfrm>
            <a:off x="6153912"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2295144"/>
            <a:ext cx="4873751" cy="1417320"/>
          </a:xfrm>
          <a:prstGeom prst="rect">
            <a:avLst/>
          </a:prstGeom>
          <a:noFill/>
        </p:spPr>
        <p:txBody>
          <a:bodyPr wrap="square" anchor="t">
            <a:spAutoFit/>
          </a:bodyPr>
          <a:lstStyle/>
          <a:p>
            <a:pPr algn="l"/>
            <a:r>
              <a:rPr sz="1300" b="1">
                <a:solidFill>
                  <a:srgbClr val="009ED9"/>
                </a:solidFill>
                <a:latin typeface="Calibri"/>
              </a:rPr>
              <a:t>2. SCARCE PHYSICAL INFRASTRUCTURE</a:t>
            </a:r>
          </a:p>
          <a:p>
            <a:pPr algn="l">
              <a:spcBef>
                <a:spcPts val="400"/>
              </a:spcBef>
            </a:pPr>
            <a:r>
              <a:rPr sz="1150" b="0">
                <a:solidFill>
                  <a:srgbClr val="CCCCCC"/>
                </a:solidFill>
                <a:latin typeface="Calibri"/>
              </a:rPr>
              <a:t>One of only 3 U.S. FAA-licensed reusable launch companies. The only active commercial suborbital test operator. TRL-9, lunar-proven Scorpius cryo-tank IP. Years-deep moats.</a:t>
            </a:r>
          </a:p>
        </p:txBody>
      </p:sp>
      <p:sp>
        <p:nvSpPr>
          <p:cNvPr id="12" name="Rounded Rectangle 11"/>
          <p:cNvSpPr/>
          <p:nvPr/>
        </p:nvSpPr>
        <p:spPr>
          <a:xfrm>
            <a:off x="731520"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123944"/>
            <a:ext cx="4873751" cy="1417320"/>
          </a:xfrm>
          <a:prstGeom prst="rect">
            <a:avLst/>
          </a:prstGeom>
          <a:noFill/>
        </p:spPr>
        <p:txBody>
          <a:bodyPr wrap="square" anchor="t">
            <a:spAutoFit/>
          </a:bodyPr>
          <a:lstStyle/>
          <a:p>
            <a:pPr algn="l"/>
            <a:r>
              <a:rPr sz="1300" b="1">
                <a:solidFill>
                  <a:srgbClr val="009ED9"/>
                </a:solidFill>
                <a:latin typeface="Calibri"/>
              </a:rPr>
              <a:t>3. RE-INDUSTRIALIZATION &amp; AI-ERA WORKFORCE</a:t>
            </a:r>
          </a:p>
          <a:p>
            <a:pPr algn="l">
              <a:spcBef>
                <a:spcPts val="400"/>
              </a:spcBef>
            </a:pPr>
            <a:r>
              <a:rPr sz="1150" b="0">
                <a:solidFill>
                  <a:srgbClr val="CCCCCC"/>
                </a:solidFill>
                <a:latin typeface="Calibri"/>
              </a:rPr>
              <a:t>Rebuilding domestic aerospace manufacturing in rural Texas &amp; Montana — and pioneering the manufacturing-to-AI workforce transition. The labor &amp; supply-chain side of the thesis.</a:t>
            </a:r>
          </a:p>
        </p:txBody>
      </p:sp>
      <p:sp>
        <p:nvSpPr>
          <p:cNvPr id="14" name="Rounded Rectangle 13"/>
          <p:cNvSpPr/>
          <p:nvPr/>
        </p:nvSpPr>
        <p:spPr>
          <a:xfrm>
            <a:off x="6153912"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123944"/>
            <a:ext cx="4873751" cy="1417320"/>
          </a:xfrm>
          <a:prstGeom prst="rect">
            <a:avLst/>
          </a:prstGeom>
          <a:noFill/>
        </p:spPr>
        <p:txBody>
          <a:bodyPr wrap="square" anchor="t">
            <a:spAutoFit/>
          </a:bodyPr>
          <a:lstStyle/>
          <a:p>
            <a:pPr algn="l"/>
            <a:r>
              <a:rPr sz="1300" b="1">
                <a:solidFill>
                  <a:srgbClr val="009ED9"/>
                </a:solidFill>
                <a:latin typeface="Calibri"/>
              </a:rPr>
              <a:t>4. DE-RISKING THE PHYSICAL FRONTIER</a:t>
            </a:r>
          </a:p>
          <a:p>
            <a:pPr algn="l">
              <a:spcBef>
                <a:spcPts val="400"/>
              </a:spcBef>
            </a:pPr>
            <a:r>
              <a:rPr sz="1150" b="0">
                <a:solidFill>
                  <a:srgbClr val="CCCCCC"/>
                </a:solidFill>
                <a:latin typeface="Calibri"/>
              </a:rPr>
              <a:t>Exos’s reusable suborbital platform is the flight-truth layer the entire physical-space economy needs before committing capital — de-risking orbital, propulsion, in-space architecture.</a:t>
            </a:r>
          </a:p>
        </p:txBody>
      </p:sp>
      <p:sp>
        <p:nvSpPr>
          <p:cNvPr id="16" name="TextBox 15"/>
          <p:cNvSpPr txBox="1"/>
          <p:nvPr/>
        </p:nvSpPr>
        <p:spPr>
          <a:xfrm>
            <a:off x="731520" y="5779008"/>
            <a:ext cx="10698480" cy="548640"/>
          </a:xfrm>
          <a:prstGeom prst="rect">
            <a:avLst/>
          </a:prstGeom>
          <a:noFill/>
        </p:spPr>
        <p:txBody>
          <a:bodyPr wrap="square" anchor="t">
            <a:spAutoFit/>
          </a:bodyPr>
          <a:lstStyle/>
          <a:p>
            <a:pPr algn="l"/>
            <a:r>
              <a:rPr sz="1500" b="1">
                <a:solidFill>
                  <a:srgbClr val="FFB800"/>
                </a:solidFill>
                <a:latin typeface="Calibri"/>
              </a:rPr>
              <a:t>The combination the physical-AI thesis is hunting for — and extraordinarily hard to assemble.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FLIGHT TEST BOTTLENECK</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800" b="1">
                <a:solidFill>
                  <a:srgbClr val="009ED9"/>
                </a:solidFill>
                <a:latin typeface="Calibri"/>
              </a:rPr>
              <a:t>Every orbital program needs flight truth before it commits. There is no substitute.</a:t>
            </a:r>
          </a:p>
        </p:txBody>
      </p:sp>
      <p:sp>
        <p:nvSpPr>
          <p:cNvPr id="7" name="Rounded Rectangle 6"/>
          <p:cNvSpPr/>
          <p:nvPr/>
        </p:nvSpPr>
        <p:spPr>
          <a:xfrm>
            <a:off x="73152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Wind tunnels are saturated</a:t>
            </a:r>
          </a:p>
          <a:p>
            <a:pPr>
              <a:spcBef>
                <a:spcPts val="600"/>
              </a:spcBef>
            </a:pPr>
            <a:r>
              <a:rPr sz="1100">
                <a:solidFill>
                  <a:srgbClr val="CCCCCC"/>
                </a:solidFill>
                <a:latin typeface="Calibri"/>
              </a:rPr>
              <a:t>18-24 month wait times at major facilities nationwide</a:t>
            </a:r>
          </a:p>
        </p:txBody>
      </p:sp>
      <p:sp>
        <p:nvSpPr>
          <p:cNvPr id="8" name="Rounded Rectangle 7"/>
          <p:cNvSpPr/>
          <p:nvPr/>
        </p:nvSpPr>
        <p:spPr>
          <a:xfrm>
            <a:off x="603504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Computational modeling has limits</a:t>
            </a:r>
          </a:p>
          <a:p>
            <a:pPr>
              <a:spcBef>
                <a:spcPts val="600"/>
              </a:spcBef>
            </a:pPr>
            <a:r>
              <a:rPr sz="1100">
                <a:solidFill>
                  <a:srgbClr val="CCCCCC"/>
                </a:solidFill>
                <a:latin typeface="Calibri"/>
              </a:rPr>
              <a:t>Models diverge from reality at hypersonic and reentry regimes</a:t>
            </a:r>
          </a:p>
        </p:txBody>
      </p:sp>
      <p:sp>
        <p:nvSpPr>
          <p:cNvPr id="9" name="Rounded Rectangle 8"/>
          <p:cNvSpPr/>
          <p:nvPr/>
        </p:nvSpPr>
        <p:spPr>
          <a:xfrm>
            <a:off x="73152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Custom test vehicle costs $50M+</a:t>
            </a:r>
          </a:p>
          <a:p>
            <a:pPr>
              <a:spcBef>
                <a:spcPts val="600"/>
              </a:spcBef>
            </a:pPr>
            <a:r>
              <a:rPr sz="1100">
                <a:solidFill>
                  <a:srgbClr val="CCCCCC"/>
                </a:solidFill>
                <a:latin typeface="Calibri"/>
              </a:rPr>
              <a:t>And takes 2-3 years before first flight</a:t>
            </a:r>
          </a:p>
        </p:txBody>
      </p:sp>
      <p:sp>
        <p:nvSpPr>
          <p:cNvPr id="10" name="Rounded Rectangle 9"/>
          <p:cNvSpPr/>
          <p:nvPr/>
        </p:nvSpPr>
        <p:spPr>
          <a:xfrm>
            <a:off x="603504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Failed orbital launch destroys hardware</a:t>
            </a:r>
          </a:p>
          <a:p>
            <a:pPr>
              <a:spcBef>
                <a:spcPts val="600"/>
              </a:spcBef>
            </a:pPr>
            <a:r>
              <a:rPr sz="1100">
                <a:solidFill>
                  <a:srgbClr val="CCCCCC"/>
                </a:solidFill>
                <a:latin typeface="Calibri"/>
              </a:rPr>
              <a:t>No intact hardware = no post-flight analysis</a:t>
            </a:r>
          </a:p>
        </p:txBody>
      </p:sp>
      <p:sp>
        <p:nvSpPr>
          <p:cNvPr id="11" name="TextBox 10"/>
          <p:cNvSpPr txBox="1"/>
          <p:nvPr/>
        </p:nvSpPr>
        <p:spPr>
          <a:xfrm>
            <a:off x="731520" y="5669280"/>
            <a:ext cx="10058400" cy="640080"/>
          </a:xfrm>
          <a:prstGeom prst="rect">
            <a:avLst/>
          </a:prstGeom>
          <a:noFill/>
        </p:spPr>
        <p:txBody>
          <a:bodyPr wrap="square">
            <a:spAutoFit/>
          </a:bodyPr>
          <a:lstStyle/>
          <a:p>
            <a:pPr algn="l">
              <a:spcAft>
                <a:spcPts val="400"/>
              </a:spcAft>
            </a:pPr>
            <a:r>
              <a:rPr sz="1600" b="1">
                <a:solidFill>
                  <a:srgbClr val="FFB800"/>
                </a:solidFill>
                <a:latin typeface="Calibri"/>
              </a:rPr>
              <a:t>The gap: Between simulation and orbital commitment, there is no affordable, rapid, repeatable flight test option.</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EXOS: THE DE-RISKING PLATFORM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500" b="1">
                <a:solidFill>
                  <a:srgbClr val="009ED9"/>
                </a:solidFill>
                <a:latin typeface="Calibri"/>
              </a:rPr>
              <a:t>One of only three U.S.-licensed reusable suborbital launch companies — and the only one currently flying commercial test campaigns</a:t>
            </a:r>
          </a:p>
        </p:txBody>
      </p:sp>
      <p:sp>
        <p:nvSpPr>
          <p:cNvPr id="7" name="Rounded Rectangle 6"/>
          <p:cNvSpPr/>
          <p:nvPr/>
        </p:nvSpPr>
        <p:spPr>
          <a:xfrm>
            <a:off x="73152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FLIGHT TEST AT A FRACTION OF THE COST</a:t>
            </a:r>
          </a:p>
          <a:p>
            <a:pPr>
              <a:spcBef>
                <a:spcPts val="600"/>
              </a:spcBef>
            </a:pPr>
            <a:r>
              <a:rPr sz="1100">
                <a:solidFill>
                  <a:srgbClr val="CCCCCC"/>
                </a:solidFill>
                <a:latin typeface="Calibri"/>
              </a:rPr>
              <a:t>Customers place avionics, flight controls, and subsystems in our BLK3 payload bay. BLK3 flies to space, executes reentry profiles, then recovers. Customers validate hardware survives — before risking an orbital vehicle.</a:t>
            </a:r>
          </a:p>
        </p:txBody>
      </p:sp>
      <p:sp>
        <p:nvSpPr>
          <p:cNvPr id="8" name="Rounded Rectangle 7"/>
          <p:cNvSpPr/>
          <p:nvPr/>
        </p:nvSpPr>
        <p:spPr>
          <a:xfrm>
            <a:off x="429768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SILENT OPERATIONS</a:t>
            </a:r>
          </a:p>
          <a:p>
            <a:pPr>
              <a:spcBef>
                <a:spcPts val="600"/>
              </a:spcBef>
            </a:pPr>
            <a:r>
              <a:rPr sz="1100">
                <a:solidFill>
                  <a:srgbClr val="CCCCCC"/>
                </a:solidFill>
                <a:latin typeface="Calibri"/>
              </a:rPr>
              <a:t>All test operations conducted confidentially until the customer is ready to disclose. Failed tests never become public. Critical for companies with public investors, government stakeholders, or competitive exposure.</a:t>
            </a:r>
          </a:p>
        </p:txBody>
      </p:sp>
      <p:sp>
        <p:nvSpPr>
          <p:cNvPr id="9" name="Rounded Rectangle 8"/>
          <p:cNvSpPr/>
          <p:nvPr/>
        </p:nvSpPr>
        <p:spPr>
          <a:xfrm>
            <a:off x="786384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INTACT HARDWARE RECOVERY</a:t>
            </a:r>
          </a:p>
          <a:p>
            <a:pPr algn="ctr"/>
            <a:r>
              <a:rPr lang="en-US" sz="1100" b="0" dirty="0">
                <a:solidFill>
                  <a:srgbClr val="CCCCCC"/>
                </a:solidFill>
              </a:rPr>
              <a:t>SpaceX and Blue Origin both recover customer hardware intact — but neither currently sells suborbital test services. Exos is the only licensed operator offering commercial suborbital flights with full payload recovery.</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BLK3 PLATFORM</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Precision Suborbital Reusable Launch Vehicle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1954381"/>
          </a:xfrm>
          <a:prstGeom prst="rect">
            <a:avLst/>
          </a:prstGeom>
          <a:noFill/>
        </p:spPr>
        <p:txBody>
          <a:bodyPr wrap="square">
            <a:spAutoFit/>
          </a:bodyPr>
          <a:lstStyle/>
          <a:p>
            <a:pPr algn="l">
              <a:spcBef>
                <a:spcPts val="0"/>
              </a:spcBef>
              <a:spcAft>
                <a:spcPts val="600"/>
              </a:spcAft>
            </a:pPr>
            <a:r>
              <a:rPr lang="en-US" sz="1300" b="0" dirty="0">
                <a:solidFill>
                  <a:srgbClr val="CCCCCC"/>
                </a:solidFill>
              </a:rPr>
              <a:t>•  Suborbital flight profile reaching 100+ km altitude</a:t>
            </a:r>
          </a:p>
          <a:p>
            <a:pPr algn="l">
              <a:spcBef>
                <a:spcPts val="0"/>
              </a:spcBef>
              <a:spcAft>
                <a:spcPts val="600"/>
              </a:spcAft>
            </a:pPr>
            <a:r>
              <a:rPr lang="en-US" sz="1300" b="0" dirty="0">
                <a:solidFill>
                  <a:srgbClr val="CCCCCC"/>
                </a:solidFill>
              </a:rPr>
              <a:t>•  LOX/ethanol propulsion system</a:t>
            </a:r>
          </a:p>
          <a:p>
            <a:pPr algn="l">
              <a:spcBef>
                <a:spcPts val="0"/>
              </a:spcBef>
              <a:spcAft>
                <a:spcPts val="600"/>
              </a:spcAft>
            </a:pPr>
            <a:r>
              <a:rPr lang="en-US" sz="1300" b="0" dirty="0">
                <a:solidFill>
                  <a:srgbClr val="CCCCCC"/>
                </a:solidFill>
              </a:rPr>
              <a:t>•  Multiple flight test articles per mission</a:t>
            </a:r>
          </a:p>
          <a:p>
            <a:pPr algn="l">
              <a:spcBef>
                <a:spcPts val="0"/>
              </a:spcBef>
              <a:spcAft>
                <a:spcPts val="600"/>
              </a:spcAft>
            </a:pPr>
            <a:r>
              <a:rPr lang="en-US" sz="1300" b="0" dirty="0">
                <a:solidFill>
                  <a:srgbClr val="CCCCCC"/>
                </a:solidFill>
              </a:rPr>
              <a:t>•  Vertical launch, parachute recovery, fully reusable</a:t>
            </a:r>
          </a:p>
          <a:p>
            <a:pPr algn="l">
              <a:spcBef>
                <a:spcPts val="0"/>
              </a:spcBef>
              <a:spcAft>
                <a:spcPts val="600"/>
              </a:spcAft>
            </a:pPr>
            <a:r>
              <a:rPr lang="en-US" sz="1300" b="0" dirty="0">
                <a:solidFill>
                  <a:srgbClr val="CCCCCC"/>
                </a:solidFill>
              </a:rPr>
              <a:t>•  Integrated telemetry, tracking, and real-time data return</a:t>
            </a:r>
          </a:p>
          <a:p>
            <a:pPr algn="l">
              <a:spcBef>
                <a:spcPts val="0"/>
              </a:spcBef>
              <a:spcAft>
                <a:spcPts val="600"/>
              </a:spcAft>
            </a:pPr>
            <a:r>
              <a:rPr lang="en-US" sz="1300" b="0" dirty="0">
                <a:solidFill>
                  <a:srgbClr val="CCCCCC"/>
                </a:solidFill>
              </a:rPr>
              <a:t>•  FAA-licensed (3-13-2026) operations from Spaceport America, NM</a:t>
            </a:r>
          </a:p>
          <a:p>
            <a:pPr algn="l">
              <a:spcBef>
                <a:spcPts val="0"/>
              </a:spcBef>
              <a:spcAft>
                <a:spcPts val="600"/>
              </a:spcAft>
            </a:pPr>
            <a:r>
              <a:rPr lang="en-US" sz="1300" b="0" dirty="0">
                <a:solidFill>
                  <a:srgbClr val="CCCCCC"/>
                </a:solidFill>
              </a:rPr>
              <a:t>•  Modular payload bay for diverse customer hardware</a:t>
            </a:r>
          </a:p>
        </p:txBody>
      </p:sp>
      <p:sp>
        <p:nvSpPr>
          <p:cNvPr id="8" name="TextBox 7"/>
          <p:cNvSpPr txBox="1"/>
          <p:nvPr/>
        </p:nvSpPr>
        <p:spPr>
          <a:xfrm>
            <a:off x="6400800" y="640080"/>
            <a:ext cx="5029200" cy="457200"/>
          </a:xfrm>
          <a:prstGeom prst="rect">
            <a:avLst/>
          </a:prstGeom>
          <a:noFill/>
        </p:spPr>
        <p:txBody>
          <a:bodyPr wrap="square">
            <a:spAutoFit/>
          </a:bodyPr>
          <a:lstStyle/>
          <a:p>
            <a:pPr algn="l">
              <a:spcAft>
                <a:spcPts val="400"/>
              </a:spcAft>
            </a:pPr>
            <a:r>
              <a:rPr sz="1500" b="1" dirty="0">
                <a:solidFill>
                  <a:srgbClr val="FFB800"/>
                </a:solidFill>
                <a:latin typeface="Calibri"/>
              </a:rPr>
              <a:t>CUSTOMER PROGRAM PROGRESSION</a:t>
            </a:r>
          </a:p>
        </p:txBody>
      </p:sp>
      <p:sp>
        <p:nvSpPr>
          <p:cNvPr id="9" name="Rounded Rectangle 8"/>
          <p:cNvSpPr/>
          <p:nvPr/>
        </p:nvSpPr>
        <p:spPr>
          <a:xfrm>
            <a:off x="6400800" y="128016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1</a:t>
            </a:r>
          </a:p>
          <a:p>
            <a:pPr>
              <a:spcBef>
                <a:spcPts val="600"/>
              </a:spcBef>
            </a:pPr>
            <a:r>
              <a:rPr sz="1100" dirty="0">
                <a:solidFill>
                  <a:srgbClr val="CCCCCC"/>
                </a:solidFill>
                <a:latin typeface="Calibri"/>
              </a:rPr>
              <a:t>Test avionics, GNC, flight controls via BLK3 suborbital flights</a:t>
            </a:r>
          </a:p>
        </p:txBody>
      </p:sp>
      <p:sp>
        <p:nvSpPr>
          <p:cNvPr id="10" name="Rounded Rectangle 9"/>
          <p:cNvSpPr/>
          <p:nvPr/>
        </p:nvSpPr>
        <p:spPr>
          <a:xfrm>
            <a:off x="6400800" y="256032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2</a:t>
            </a:r>
          </a:p>
          <a:p>
            <a:pPr>
              <a:spcBef>
                <a:spcPts val="600"/>
              </a:spcBef>
            </a:pPr>
            <a:r>
              <a:rPr sz="1100" dirty="0">
                <a:solidFill>
                  <a:srgbClr val="CCCCCC"/>
                </a:solidFill>
                <a:latin typeface="Calibri"/>
              </a:rPr>
              <a:t>Iterate — fly repeatedly until all systems validated</a:t>
            </a:r>
          </a:p>
        </p:txBody>
      </p:sp>
      <p:sp>
        <p:nvSpPr>
          <p:cNvPr id="11" name="Rounded Rectangle 10"/>
          <p:cNvSpPr/>
          <p:nvPr/>
        </p:nvSpPr>
        <p:spPr>
          <a:xfrm>
            <a:off x="6400800" y="3840480"/>
            <a:ext cx="50292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Phase 3</a:t>
            </a:r>
          </a:p>
          <a:p>
            <a:pPr algn="ctr"/>
            <a:r>
              <a:rPr lang="en-US" sz="1100" b="0" dirty="0">
                <a:solidFill>
                  <a:srgbClr val="CCCCCC"/>
                </a:solidFill>
              </a:rPr>
              <a:t>Suborbital proof flight of customer's actual orbital-class vehicle using Exos-developed recovery systems — validating full reentry before orbital commitment</a:t>
            </a:r>
          </a:p>
        </p:txBody>
      </p:sp>
      <p:sp>
        <p:nvSpPr>
          <p:cNvPr id="12" name="TextBox 11"/>
          <p:cNvSpPr txBox="1"/>
          <p:nvPr/>
        </p:nvSpPr>
        <p:spPr>
          <a:xfrm>
            <a:off x="6434051" y="4941916"/>
            <a:ext cx="5029200" cy="548640"/>
          </a:xfrm>
          <a:prstGeom prst="rect">
            <a:avLst/>
          </a:prstGeom>
          <a:noFill/>
        </p:spPr>
        <p:txBody>
          <a:bodyPr wrap="square">
            <a:spAutoFit/>
          </a:bodyPr>
          <a:lstStyle/>
          <a:p>
            <a:pPr algn="l">
              <a:spcAft>
                <a:spcPts val="400"/>
              </a:spcAft>
            </a:pPr>
            <a:r>
              <a:rPr sz="1100" b="1" dirty="0">
                <a:solidFill>
                  <a:srgbClr val="FFB800"/>
                </a:solidFill>
                <a:latin typeface="Calibri"/>
              </a:rPr>
              <a:t>The endgame: Customers graduate from testing subsystems to flying their own orbital vehicle </a:t>
            </a:r>
            <a:r>
              <a:rPr sz="1100" b="1" dirty="0" err="1">
                <a:solidFill>
                  <a:srgbClr val="FFB800"/>
                </a:solidFill>
                <a:latin typeface="Calibri"/>
              </a:rPr>
              <a:t>suborbitally</a:t>
            </a:r>
            <a:r>
              <a:rPr sz="1100" b="1" dirty="0">
                <a:solidFill>
                  <a:srgbClr val="FFB800"/>
                </a:solidFill>
                <a:latin typeface="Calibri"/>
              </a:rPr>
              <a:t> — recovering it intact — before committing to full orbital flight.</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COMPETITIVE MOAT</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Why Exos Is Defensible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extLst>
              <p:ext uri="{D42A27DB-BD31-4B8C-83A1-F6EECF244321}">
                <p14:modId xmlns:p14="http://schemas.microsoft.com/office/powerpoint/2010/main" val="2458028208"/>
              </p:ext>
            </p:extLst>
          </p:nvPr>
        </p:nvGraphicFramePr>
        <p:xfrm>
          <a:off x="731520" y="1737360"/>
          <a:ext cx="10515600" cy="329184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Advantage</a:t>
                      </a:r>
                    </a:p>
                  </a:txBody>
                  <a:tcPr>
                    <a:solidFill>
                      <a:srgbClr val="0A142A"/>
                    </a:solidFill>
                  </a:tcPr>
                </a:tc>
                <a:tc>
                  <a:txBody>
                    <a:bodyPr/>
                    <a:lstStyle/>
                    <a:p>
                      <a:r>
                        <a:rPr sz="1100" b="1">
                          <a:solidFill>
                            <a:srgbClr val="009ED9"/>
                          </a:solidFill>
                          <a:latin typeface="Calibri"/>
                        </a:rPr>
                        <a:t>Detail</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FAA Reusable Launch License</a:t>
                      </a:r>
                    </a:p>
                  </a:txBody>
                  <a:tcPr>
                    <a:solidFill>
                      <a:srgbClr val="0D1220"/>
                    </a:solidFill>
                  </a:tcPr>
                </a:tc>
                <a:tc>
                  <a:txBody>
                    <a:bodyPr/>
                    <a:lstStyle/>
                    <a:p>
                      <a:r>
                        <a:rPr sz="1100">
                          <a:solidFill>
                            <a:srgbClr val="FFFFFF"/>
                          </a:solidFill>
                          <a:latin typeface="Calibri"/>
                        </a:rPr>
                        <a:t>One of only 3 companies in the U.S. Renewed March 2026. Multi-year, multi-site.</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Only Active Commercial Operator</a:t>
                      </a:r>
                    </a:p>
                  </a:txBody>
                  <a:tcPr>
                    <a:solidFill>
                      <a:srgbClr val="101626"/>
                    </a:solidFill>
                  </a:tcPr>
                </a:tc>
                <a:tc>
                  <a:txBody>
                    <a:bodyPr/>
                    <a:lstStyle/>
                    <a:p>
                      <a:r>
                        <a:rPr sz="1100">
                          <a:solidFill>
                            <a:srgbClr val="FFFFFF"/>
                          </a:solidFill>
                          <a:latin typeface="Calibri"/>
                        </a:rPr>
                        <a:t>The only licensed provider currently flying and offering wet-lease flight test services</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20+ Year Flight Heritage</a:t>
                      </a:r>
                    </a:p>
                  </a:txBody>
                  <a:tcPr>
                    <a:solidFill>
                      <a:srgbClr val="0D1220"/>
                    </a:solidFill>
                  </a:tcPr>
                </a:tc>
                <a:tc>
                  <a:txBody>
                    <a:bodyPr/>
                    <a:lstStyle/>
                    <a:p>
                      <a:r>
                        <a:rPr sz="1100">
                          <a:solidFill>
                            <a:srgbClr val="FFFFFF"/>
                          </a:solidFill>
                          <a:latin typeface="Calibri"/>
                        </a:rPr>
                        <a:t>Armadillo Aerospace (2000) → Exos Aerospace (2014). X-Prize, Lunar Lander Challenge, BLK3</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Intact Hardware Recovery</a:t>
                      </a:r>
                    </a:p>
                  </a:txBody>
                  <a:tcPr>
                    <a:solidFill>
                      <a:srgbClr val="101626"/>
                    </a:solidFill>
                  </a:tcPr>
                </a:tc>
                <a:tc>
                  <a:txBody>
                    <a:bodyPr/>
                    <a:lstStyle/>
                    <a:p>
                      <a:r>
                        <a:rPr lang="en-US" sz="1100" dirty="0">
                          <a:solidFill>
                            <a:srgbClr val="FFFFFF"/>
                          </a:solidFill>
                          <a:latin typeface="Calibri"/>
                        </a:rPr>
                        <a:t>R</a:t>
                      </a:r>
                      <a:r>
                        <a:rPr sz="1100" dirty="0">
                          <a:solidFill>
                            <a:srgbClr val="FFFFFF"/>
                          </a:solidFill>
                          <a:latin typeface="Calibri"/>
                        </a:rPr>
                        <a:t>ecovers customer hardware intact from space-flight conditions</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Silent Operations Model</a:t>
                      </a:r>
                    </a:p>
                  </a:txBody>
                  <a:tcPr>
                    <a:solidFill>
                      <a:srgbClr val="0D1220"/>
                    </a:solidFill>
                  </a:tcPr>
                </a:tc>
                <a:tc>
                  <a:txBody>
                    <a:bodyPr/>
                    <a:lstStyle/>
                    <a:p>
                      <a:r>
                        <a:rPr sz="1100">
                          <a:solidFill>
                            <a:srgbClr val="FFFFFF"/>
                          </a:solidFill>
                          <a:latin typeface="Calibri"/>
                        </a:rPr>
                        <a:t>Confidential test campaigns — no other provider offers this systematically</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TRL-9 Lunar Tank Technology</a:t>
                      </a:r>
                    </a:p>
                  </a:txBody>
                  <a:tcPr>
                    <a:solidFill>
                      <a:srgbClr val="101626"/>
                    </a:solidFill>
                  </a:tcPr>
                </a:tc>
                <a:tc>
                  <a:txBody>
                    <a:bodyPr/>
                    <a:lstStyle/>
                    <a:p>
                      <a:r>
                        <a:rPr sz="1100">
                          <a:solidFill>
                            <a:srgbClr val="FFFFFF"/>
                          </a:solidFill>
                          <a:latin typeface="Calibri"/>
                        </a:rPr>
                        <a:t>Scorpius Type 5 tanks flew on Odysseus and Athena lunar missions</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Active DoD Contracts</a:t>
                      </a:r>
                    </a:p>
                  </a:txBody>
                  <a:tcPr>
                    <a:solidFill>
                      <a:srgbClr val="0D1220"/>
                    </a:solidFill>
                  </a:tcPr>
                </a:tc>
                <a:tc>
                  <a:txBody>
                    <a:bodyPr/>
                    <a:lstStyle/>
                    <a:p>
                      <a:r>
                        <a:rPr sz="1100">
                          <a:solidFill>
                            <a:srgbClr val="FFFFFF"/>
                          </a:solidFill>
                          <a:latin typeface="Calibri"/>
                        </a:rPr>
                        <a:t>USAF SBIR Phase II (FA9300-25-C-6022) — RDRE propulsion flight demo</a:t>
                      </a:r>
                    </a:p>
                  </a:txBody>
                  <a:tcPr>
                    <a:solidFill>
                      <a:srgbClr val="0D1220"/>
                    </a:solidFill>
                  </a:tcPr>
                </a:tc>
                <a:extLst>
                  <a:ext uri="{0D108BD9-81ED-4DB2-BD59-A6C34878D82A}">
                    <a16:rowId xmlns:a16="http://schemas.microsoft.com/office/drawing/2014/main" val="10007"/>
                  </a:ext>
                </a:extLst>
              </a:tr>
              <a:tr h="365760">
                <a:tc>
                  <a:txBody>
                    <a:bodyPr/>
                    <a:lstStyle/>
                    <a:p>
                      <a:r>
                        <a:rPr sz="1100">
                          <a:solidFill>
                            <a:srgbClr val="FFFFFF"/>
                          </a:solidFill>
                          <a:latin typeface="Calibri"/>
                        </a:rPr>
                        <a:t>Dual Revenue Streams</a:t>
                      </a:r>
                    </a:p>
                  </a:txBody>
                  <a:tcPr>
                    <a:solidFill>
                      <a:srgbClr val="101626"/>
                    </a:solidFill>
                  </a:tcPr>
                </a:tc>
                <a:tc>
                  <a:txBody>
                    <a:bodyPr/>
                    <a:lstStyle/>
                    <a:p>
                      <a:r>
                        <a:rPr sz="1100" dirty="0">
                          <a:solidFill>
                            <a:srgbClr val="FFFFFF"/>
                          </a:solidFill>
                          <a:latin typeface="Calibri"/>
                        </a:rPr>
                        <a:t>Launch services + tank manufacturing = diversified, not single-product</a:t>
                      </a:r>
                    </a:p>
                  </a:txBody>
                  <a:tcPr>
                    <a:solidFill>
                      <a:srgbClr val="101626"/>
                    </a:solidFill>
                  </a:tcPr>
                </a:tc>
                <a:extLst>
                  <a:ext uri="{0D108BD9-81ED-4DB2-BD59-A6C34878D82A}">
                    <a16:rowId xmlns:a16="http://schemas.microsoft.com/office/drawing/2014/main" val="10008"/>
                  </a:ext>
                </a:extLst>
              </a:tr>
            </a:tbl>
          </a:graphicData>
        </a:graphic>
      </p:graphicFrame>
      <p:sp>
        <p:nvSpPr>
          <p:cNvPr id="8" name="Rectangle 7"/>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STRATEGIC ACQUISITION: SCORPIUS TYPE 5 TANKS</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1">
                <a:solidFill>
                  <a:srgbClr val="FFB800"/>
                </a:solidFill>
                <a:latin typeface="Calibri"/>
              </a:rPr>
              <a:t>World's only TRL-9 cryogenic tank technology — deployed to the lunar surface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2743200"/>
          </a:xfrm>
          <a:prstGeom prst="rect">
            <a:avLst/>
          </a:prstGeom>
          <a:noFill/>
        </p:spPr>
        <p:txBody>
          <a:bodyPr wrap="square">
            <a:spAutoFit/>
          </a:bodyPr>
          <a:lstStyle/>
          <a:p>
            <a:pPr algn="l">
              <a:spcBef>
                <a:spcPts val="0"/>
              </a:spcBef>
              <a:spcAft>
                <a:spcPts val="1000"/>
              </a:spcAft>
            </a:pPr>
            <a:r>
              <a:rPr sz="1400" b="1">
                <a:solidFill>
                  <a:srgbClr val="009ED9"/>
                </a:solidFill>
                <a:latin typeface="Calibri"/>
              </a:rPr>
              <a:t>TANK ADVANTAGES</a:t>
            </a:r>
          </a:p>
          <a:p>
            <a:pPr algn="l">
              <a:spcBef>
                <a:spcPts val="0"/>
              </a:spcBef>
              <a:spcAft>
                <a:spcPts val="600"/>
              </a:spcAft>
            </a:pPr>
            <a:r>
              <a:rPr sz="1200" b="0">
                <a:solidFill>
                  <a:srgbClr val="CCCCCC"/>
                </a:solidFill>
                <a:latin typeface="Calibri"/>
              </a:rPr>
              <a:t>•  ~50% mass reduction vs. metal tanks</a:t>
            </a:r>
          </a:p>
          <a:p>
            <a:pPr algn="l">
              <a:spcBef>
                <a:spcPts val="0"/>
              </a:spcBef>
              <a:spcAft>
                <a:spcPts val="600"/>
              </a:spcAft>
            </a:pPr>
            <a:r>
              <a:rPr sz="1200" b="0">
                <a:solidFill>
                  <a:srgbClr val="CCCCCC"/>
                </a:solidFill>
                <a:latin typeface="Calibri"/>
              </a:rPr>
              <a:t>•  All-composite, corrosion-resistant, export-approved</a:t>
            </a:r>
          </a:p>
          <a:p>
            <a:pPr algn="l">
              <a:spcBef>
                <a:spcPts val="0"/>
              </a:spcBef>
              <a:spcAft>
                <a:spcPts val="600"/>
              </a:spcAft>
            </a:pPr>
            <a:r>
              <a:rPr sz="1200" b="0">
                <a:solidFill>
                  <a:srgbClr val="CCCCCC"/>
                </a:solidFill>
                <a:latin typeface="Calibri"/>
              </a:rPr>
              <a:t>•  Room-temperature cure — no autoclaves required</a:t>
            </a:r>
          </a:p>
          <a:p>
            <a:pPr algn="l">
              <a:spcBef>
                <a:spcPts val="0"/>
              </a:spcBef>
              <a:spcAft>
                <a:spcPts val="600"/>
              </a:spcAft>
            </a:pPr>
            <a:r>
              <a:rPr sz="1200" b="0">
                <a:solidFill>
                  <a:srgbClr val="CCCCCC"/>
                </a:solidFill>
                <a:latin typeface="Calibri"/>
              </a:rPr>
              <a:t>•  Enables LOX-methane and advanced propellants</a:t>
            </a:r>
          </a:p>
          <a:p>
            <a:pPr algn="l">
              <a:spcBef>
                <a:spcPts val="0"/>
              </a:spcBef>
              <a:spcAft>
                <a:spcPts val="600"/>
              </a:spcAft>
            </a:pPr>
            <a:r>
              <a:rPr sz="1200" b="0">
                <a:solidFill>
                  <a:srgbClr val="CCCCCC"/>
                </a:solidFill>
                <a:latin typeface="Calibri"/>
              </a:rPr>
              <a:t>•  Proprietary trade secret manufacturing process</a:t>
            </a:r>
          </a:p>
        </p:txBody>
      </p:sp>
      <p:graphicFrame>
        <p:nvGraphicFramePr>
          <p:cNvPr id="8" name="Table 7"/>
          <p:cNvGraphicFramePr>
            <a:graphicFrameLocks noGrp="1"/>
          </p:cNvGraphicFramePr>
          <p:nvPr/>
        </p:nvGraphicFramePr>
        <p:xfrm>
          <a:off x="6217920" y="1737360"/>
          <a:ext cx="5303520" cy="30175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Value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Acquisition price</a:t>
                      </a:r>
                    </a:p>
                  </a:txBody>
                  <a:tcPr>
                    <a:solidFill>
                      <a:srgbClr val="0D1220"/>
                    </a:solidFill>
                  </a:tcPr>
                </a:tc>
                <a:tc>
                  <a:txBody>
                    <a:bodyPr/>
                    <a:lstStyle/>
                    <a:p>
                      <a:r>
                        <a:rPr sz="1200">
                          <a:solidFill>
                            <a:srgbClr val="CCCCCC"/>
                          </a:solidFill>
                        </a:rPr>
                        <a:t>$3.4M (Right of First Refusal)</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Conservative IP valuation</a:t>
                      </a:r>
                    </a:p>
                  </a:txBody>
                  <a:tcPr>
                    <a:solidFill>
                      <a:srgbClr val="101626"/>
                    </a:solidFill>
                  </a:tcPr>
                </a:tc>
                <a:tc>
                  <a:txBody>
                    <a:bodyPr/>
                    <a:lstStyle/>
                    <a:p>
                      <a:r>
                        <a:rPr sz="1200">
                          <a:solidFill>
                            <a:srgbClr val="CCCCCC"/>
                          </a:solidFill>
                        </a:rPr>
                        <a:t>$20–40M conservative</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Arbitrage multiple</a:t>
                      </a:r>
                    </a:p>
                  </a:txBody>
                  <a:tcPr>
                    <a:solidFill>
                      <a:srgbClr val="0D1220"/>
                    </a:solidFill>
                  </a:tcPr>
                </a:tc>
                <a:tc>
                  <a:txBody>
                    <a:bodyPr/>
                    <a:lstStyle/>
                    <a:p>
                      <a:r>
                        <a:rPr sz="1200">
                          <a:solidFill>
                            <a:srgbClr val="CCCCCC"/>
                          </a:solidFill>
                        </a:rPr>
                        <a:t>6–12x</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Key customer</a:t>
                      </a:r>
                    </a:p>
                  </a:txBody>
                  <a:tcPr>
                    <a:solidFill>
                      <a:srgbClr val="101626"/>
                    </a:solidFill>
                  </a:tcPr>
                </a:tc>
                <a:tc>
                  <a:txBody>
                    <a:bodyPr/>
                    <a:lstStyle/>
                    <a:p>
                      <a:r>
                        <a:rPr sz="1100">
                          <a:solidFill>
                            <a:srgbClr val="FFFFFF"/>
                          </a:solidFill>
                          <a:latin typeface="Calibri"/>
                        </a:rPr>
                        <a:t>Intuitive Machines ($3.2B mkt cap)</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Additional targets</a:t>
                      </a:r>
                    </a:p>
                  </a:txBody>
                  <a:tcPr>
                    <a:solidFill>
                      <a:srgbClr val="0D1220"/>
                    </a:solidFill>
                  </a:tcPr>
                </a:tc>
                <a:tc>
                  <a:txBody>
                    <a:bodyPr/>
                    <a:lstStyle/>
                    <a:p>
                      <a:r>
                        <a:rPr sz="1100">
                          <a:solidFill>
                            <a:srgbClr val="FFFFFF"/>
                          </a:solidFill>
                          <a:latin typeface="Calibri"/>
                        </a:rPr>
                        <a:t>SpaceX, NGC, NASA Artemis</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Terms</a:t>
                      </a:r>
                    </a:p>
                  </a:txBody>
                  <a:tcPr>
                    <a:solidFill>
                      <a:srgbClr val="101626"/>
                    </a:solidFill>
                  </a:tcPr>
                </a:tc>
                <a:tc>
                  <a:txBody>
                    <a:bodyPr/>
                    <a:lstStyle/>
                    <a:p>
                      <a:r>
                        <a:rPr sz="1200">
                          <a:solidFill>
                            <a:srgbClr val="CCCCCC"/>
                          </a:solidFill>
                        </a:rPr>
                        <a:t>$2.4M close + $1M Exos debt repayment at funding (if not converted by Note holders)</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Current ownership</a:t>
                      </a:r>
                    </a:p>
                  </a:txBody>
                  <a:tcPr>
                    <a:solidFill>
                      <a:srgbClr val="0D1220"/>
                    </a:solidFill>
                  </a:tcPr>
                </a:tc>
                <a:tc>
                  <a:txBody>
                    <a:bodyPr/>
                    <a:lstStyle/>
                    <a:p>
                      <a:r>
                        <a:rPr sz="1100">
                          <a:solidFill>
                            <a:srgbClr val="FFFFFF"/>
                          </a:solidFill>
                          <a:latin typeface="Calibri"/>
                        </a:rPr>
                        <a:t>Exos is existing 18% owner</a:t>
                      </a:r>
                    </a:p>
                  </a:txBody>
                  <a:tcPr>
                    <a:solidFill>
                      <a:srgbClr val="0D1220"/>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731520" y="5029200"/>
            <a:ext cx="10515600" cy="1097280"/>
          </a:xfrm>
          <a:prstGeom prst="rect">
            <a:avLst/>
          </a:prstGeom>
          <a:noFill/>
        </p:spPr>
        <p:txBody>
          <a:bodyPr wrap="square">
            <a:spAutoFit/>
          </a:bodyPr>
          <a:lstStyle/>
          <a:p>
            <a:pPr algn="l">
              <a:spcAft>
                <a:spcPts val="400"/>
              </a:spcAft>
            </a:pPr>
            <a:r>
              <a:rPr sz="1200" b="0">
                <a:solidFill>
                  <a:srgbClr val="CCCCCC"/>
                </a:solidFill>
                <a:latin typeface="Calibri"/>
              </a:rPr>
              <a:t>Scorpius Type 5 composite-overwrapped cryogenic tanks served as fuel and LOX tanks on Intuitive Machines' Odysseus (IM-1) and Athena (IM-2) lunar missions — launched aboard SpaceX Falcon 9, funded by NASA CLPS.</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MARKET SIZE &amp; TRACTION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1828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Market Segment</a:t>
                      </a:r>
                    </a:p>
                  </a:txBody>
                  <a:tcPr>
                    <a:solidFill>
                      <a:srgbClr val="0A142A"/>
                    </a:solidFill>
                  </a:tcPr>
                </a:tc>
                <a:tc>
                  <a:txBody>
                    <a:bodyPr/>
                    <a:lstStyle/>
                    <a:p>
                      <a:r>
                        <a:rPr sz="1100" b="1">
                          <a:solidFill>
                            <a:srgbClr val="009ED9"/>
                          </a:solidFill>
                          <a:latin typeface="Calibri"/>
                        </a:rPr>
                        <a:t>Size by 2030</a:t>
                      </a:r>
                    </a:p>
                  </a:txBody>
                  <a:tcPr>
                    <a:solidFill>
                      <a:srgbClr val="0A142A"/>
                    </a:solidFill>
                  </a:tcPr>
                </a:tc>
                <a:tc>
                  <a:txBody>
                    <a:bodyPr/>
                    <a:lstStyle/>
                    <a:p>
                      <a:r>
                        <a:rPr sz="1100" b="1">
                          <a:solidFill>
                            <a:srgbClr val="009ED9"/>
                          </a:solidFill>
                          <a:latin typeface="Calibri"/>
                        </a:rPr>
                        <a:t>Source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Suborbital Flight Test Services</a:t>
                      </a:r>
                    </a:p>
                  </a:txBody>
                  <a:tcPr>
                    <a:solidFill>
                      <a:srgbClr val="0D1220"/>
                    </a:solidFill>
                  </a:tcPr>
                </a:tc>
                <a:tc>
                  <a:txBody>
                    <a:bodyPr/>
                    <a:lstStyle/>
                    <a:p>
                      <a:r>
                        <a:rPr sz="1100">
                          <a:solidFill>
                            <a:srgbClr val="FFFFFF"/>
                          </a:solidFill>
                          <a:latin typeface="Calibri"/>
                        </a:rPr>
                        <a:t>$1.5–2.5B</a:t>
                      </a:r>
                    </a:p>
                  </a:txBody>
                  <a:tcPr>
                    <a:solidFill>
                      <a:srgbClr val="0D1220"/>
                    </a:solidFill>
                  </a:tcPr>
                </a:tc>
                <a:tc>
                  <a:txBody>
                    <a:bodyPr/>
                    <a:lstStyle/>
                    <a:p>
                      <a:r>
                        <a:rPr sz="1100">
                          <a:solidFill>
                            <a:srgbClr val="FFFFFF"/>
                          </a:solidFill>
                          <a:latin typeface="Calibri"/>
                        </a:rPr>
                        <a:t>NSR, FAA AST, Bryce Tech</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Cryogenic Tank Production (Space)</a:t>
                      </a:r>
                    </a:p>
                  </a:txBody>
                  <a:tcPr>
                    <a:solidFill>
                      <a:srgbClr val="101626"/>
                    </a:solidFill>
                  </a:tcPr>
                </a:tc>
                <a:tc>
                  <a:txBody>
                    <a:bodyPr/>
                    <a:lstStyle/>
                    <a:p>
                      <a:r>
                        <a:rPr sz="1100">
                          <a:solidFill>
                            <a:srgbClr val="FFFFFF"/>
                          </a:solidFill>
                          <a:latin typeface="Calibri"/>
                        </a:rPr>
                        <a:t>$2–4B</a:t>
                      </a:r>
                    </a:p>
                  </a:txBody>
                  <a:tcPr>
                    <a:solidFill>
                      <a:srgbClr val="101626"/>
                    </a:solidFill>
                  </a:tcPr>
                </a:tc>
                <a:tc>
                  <a:txBody>
                    <a:bodyPr/>
                    <a:lstStyle/>
                    <a:p>
                      <a:r>
                        <a:rPr sz="1100">
                          <a:solidFill>
                            <a:srgbClr val="FFFFFF"/>
                          </a:solidFill>
                          <a:latin typeface="Calibri"/>
                        </a:rPr>
                        <a:t>In-space refueling + lunar demand</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Advanced Propulsion Systems</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RDRE/detonation programs DoD/NASA</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Total Serviceable Market</a:t>
                      </a:r>
                    </a:p>
                  </a:txBody>
                  <a:tcPr>
                    <a:solidFill>
                      <a:srgbClr val="101626"/>
                    </a:solidFill>
                  </a:tcPr>
                </a:tc>
                <a:tc>
                  <a:txBody>
                    <a:bodyPr/>
                    <a:lstStyle/>
                    <a:p>
                      <a:r>
                        <a:rPr sz="1100">
                          <a:solidFill>
                            <a:srgbClr val="FFFFFF"/>
                          </a:solidFill>
                          <a:latin typeface="Calibri"/>
                        </a:rPr>
                        <a:t>$4.5–8.5B</a:t>
                      </a:r>
                    </a:p>
                  </a:txBody>
                  <a:tcPr>
                    <a:solidFill>
                      <a:srgbClr val="101626"/>
                    </a:solidFill>
                  </a:tcPr>
                </a:tc>
                <a:tc>
                  <a:txBody>
                    <a:bodyPr/>
                    <a:lstStyle/>
                    <a:p>
                      <a:endParaRPr/>
                    </a:p>
                  </a:txBody>
                  <a:tcPr>
                    <a:solidFill>
                      <a:srgbClr val="101626"/>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73152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CURRENT TRACTION</a:t>
            </a:r>
          </a:p>
        </p:txBody>
      </p:sp>
      <p:sp>
        <p:nvSpPr>
          <p:cNvPr id="8" name="TextBox 7"/>
          <p:cNvSpPr txBox="1"/>
          <p:nvPr/>
        </p:nvSpPr>
        <p:spPr>
          <a:xfrm>
            <a:off x="73152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Exos FY2025 Revenue: $1.55M (102% CAGR over 4 years)</a:t>
            </a:r>
          </a:p>
          <a:p>
            <a:pPr algn="l">
              <a:spcBef>
                <a:spcPts val="0"/>
              </a:spcBef>
              <a:spcAft>
                <a:spcPts val="600"/>
              </a:spcAft>
            </a:pPr>
            <a:r>
              <a:rPr sz="1300" b="0">
                <a:solidFill>
                  <a:srgbClr val="CCCCCC"/>
                </a:solidFill>
                <a:latin typeface="Calibri"/>
              </a:rPr>
              <a:t>•  Exos contract revenue Sept 2025 – July 2026: $1.9M</a:t>
            </a:r>
          </a:p>
          <a:p>
            <a:pPr algn="l">
              <a:spcBef>
                <a:spcPts val="0"/>
              </a:spcBef>
              <a:spcAft>
                <a:spcPts val="600"/>
              </a:spcAft>
            </a:pPr>
            <a:r>
              <a:rPr sz="1300" b="0">
                <a:solidFill>
                  <a:srgbClr val="CCCCCC"/>
                </a:solidFill>
                <a:latin typeface="Calibri"/>
              </a:rPr>
              <a:t>•  Scorpius revenue (pro forma): $3.1M for Sept 2025 – Sept 2026</a:t>
            </a:r>
          </a:p>
          <a:p>
            <a:pPr algn="l">
              <a:spcBef>
                <a:spcPts val="0"/>
              </a:spcBef>
              <a:spcAft>
                <a:spcPts val="600"/>
              </a:spcAft>
            </a:pPr>
            <a:r>
              <a:rPr sz="1300" b="0">
                <a:solidFill>
                  <a:srgbClr val="CCCCCC"/>
                </a:solidFill>
                <a:latin typeface="Calibri"/>
              </a:rPr>
              <a:t>•  Combined pro forma annual run-rate: ~$5M</a:t>
            </a:r>
          </a:p>
        </p:txBody>
      </p:sp>
      <p:sp>
        <p:nvSpPr>
          <p:cNvPr id="9" name="TextBox 8"/>
          <p:cNvSpPr txBox="1"/>
          <p:nvPr/>
        </p:nvSpPr>
        <p:spPr>
          <a:xfrm>
            <a:off x="640080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GOVERNMENT PIPELINE</a:t>
            </a:r>
          </a:p>
        </p:txBody>
      </p:sp>
      <p:sp>
        <p:nvSpPr>
          <p:cNvPr id="10" name="TextBox 9"/>
          <p:cNvSpPr txBox="1"/>
          <p:nvPr/>
        </p:nvSpPr>
        <p:spPr>
          <a:xfrm>
            <a:off x="640080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USAF SBIR Phase II — HVRR-RDRE (FA9300-25-C-6022)</a:t>
            </a:r>
          </a:p>
          <a:p>
            <a:pPr algn="l">
              <a:spcBef>
                <a:spcPts val="0"/>
              </a:spcBef>
              <a:spcAft>
                <a:spcPts val="600"/>
              </a:spcAft>
            </a:pPr>
            <a:r>
              <a:rPr sz="1300" b="0">
                <a:solidFill>
                  <a:srgbClr val="CCCCCC"/>
                </a:solidFill>
                <a:latin typeface="Calibri"/>
              </a:rPr>
              <a:t>•  TACFI ($4M) — RDRE development ($2M DoD + $2M match)</a:t>
            </a:r>
          </a:p>
          <a:p>
            <a:pPr algn="l">
              <a:spcBef>
                <a:spcPts val="0"/>
              </a:spcBef>
              <a:spcAft>
                <a:spcPts val="600"/>
              </a:spcAft>
            </a:pPr>
            <a:r>
              <a:rPr sz="1300" b="0">
                <a:solidFill>
                  <a:srgbClr val="CCCCCC"/>
                </a:solidFill>
                <a:latin typeface="Calibri"/>
              </a:rPr>
              <a:t>•  STRATFI ($30M) — follow-on, RDRE operational engine</a:t>
            </a:r>
          </a:p>
          <a:p>
            <a:pPr algn="l">
              <a:spcBef>
                <a:spcPts val="0"/>
              </a:spcBef>
              <a:spcAft>
                <a:spcPts val="600"/>
              </a:spcAft>
            </a:pPr>
            <a:r>
              <a:rPr sz="1300" b="0">
                <a:solidFill>
                  <a:srgbClr val="CCCCCC"/>
                </a:solidFill>
                <a:latin typeface="Calibri"/>
              </a:rPr>
              <a:t>•  Active NASA relationships via Scorpius heritage</a:t>
            </a:r>
          </a:p>
        </p:txBody>
      </p:sp>
      <p:sp>
        <p:nvSpPr>
          <p:cNvPr id="11" name="TextBox 10"/>
          <p:cNvSpPr txBox="1"/>
          <p:nvPr/>
        </p:nvSpPr>
        <p:spPr>
          <a:xfrm>
            <a:off x="731520" y="5943600"/>
            <a:ext cx="10058400" cy="365760"/>
          </a:xfrm>
          <a:prstGeom prst="rect">
            <a:avLst/>
          </a:prstGeom>
          <a:noFill/>
        </p:spPr>
        <p:txBody>
          <a:bodyPr wrap="square">
            <a:spAutoFit/>
          </a:bodyPr>
          <a:lstStyle/>
          <a:p>
            <a:pPr algn="l">
              <a:spcAft>
                <a:spcPts val="400"/>
              </a:spcAft>
            </a:pPr>
            <a:r>
              <a:rPr sz="1000" b="0" i="1">
                <a:solidFill>
                  <a:srgbClr val="999999"/>
                </a:solidFill>
                <a:latin typeface="Calibri"/>
              </a:rPr>
              <a:t>Scorpius revenue shown pro forma pending acquisition close. Not yet consolidated Exos revenue.</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REVENUE GROWTH — HISTORICAL</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800" b="1">
                <a:solidFill>
                  <a:srgbClr val="00C87A"/>
                </a:solidFill>
                <a:latin typeface="Calibri"/>
              </a:rPr>
              <a:t>Consistently Doubling Revenue — 102% CAGR</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011680"/>
            <a:ext cx="1097280" cy="457200"/>
          </a:xfrm>
          <a:prstGeom prst="rect">
            <a:avLst/>
          </a:prstGeom>
          <a:noFill/>
        </p:spPr>
        <p:txBody>
          <a:bodyPr wrap="square">
            <a:spAutoFit/>
          </a:bodyPr>
          <a:lstStyle/>
          <a:p>
            <a:pPr algn="l">
              <a:spcAft>
                <a:spcPts val="400"/>
              </a:spcAft>
            </a:pPr>
            <a:r>
              <a:rPr sz="2000" b="1">
                <a:solidFill>
                  <a:srgbClr val="FFFFFF"/>
                </a:solidFill>
                <a:latin typeface="Calibri"/>
              </a:rPr>
              <a:t>2022</a:t>
            </a:r>
          </a:p>
        </p:txBody>
      </p:sp>
      <p:sp>
        <p:nvSpPr>
          <p:cNvPr id="8" name="Rounded Rectangle 7"/>
          <p:cNvSpPr/>
          <p:nvPr/>
        </p:nvSpPr>
        <p:spPr>
          <a:xfrm>
            <a:off x="2011680" y="2062480"/>
            <a:ext cx="896701" cy="365760"/>
          </a:xfrm>
          <a:prstGeom prst="round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91261" y="2011680"/>
            <a:ext cx="1828800" cy="457200"/>
          </a:xfrm>
          <a:prstGeom prst="rect">
            <a:avLst/>
          </a:prstGeom>
          <a:noFill/>
        </p:spPr>
        <p:txBody>
          <a:bodyPr wrap="square">
            <a:spAutoFit/>
          </a:bodyPr>
          <a:lstStyle/>
          <a:p>
            <a:pPr algn="l">
              <a:spcAft>
                <a:spcPts val="400"/>
              </a:spcAft>
            </a:pPr>
            <a:r>
              <a:rPr sz="1800" b="1">
                <a:solidFill>
                  <a:srgbClr val="FFB800"/>
                </a:solidFill>
                <a:latin typeface="Calibri"/>
              </a:rPr>
              <a:t>$0.19M</a:t>
            </a:r>
          </a:p>
        </p:txBody>
      </p:sp>
      <p:sp>
        <p:nvSpPr>
          <p:cNvPr id="10" name="TextBox 9"/>
          <p:cNvSpPr txBox="1"/>
          <p:nvPr/>
        </p:nvSpPr>
        <p:spPr>
          <a:xfrm>
            <a:off x="731520" y="3108960"/>
            <a:ext cx="1097280" cy="457200"/>
          </a:xfrm>
          <a:prstGeom prst="rect">
            <a:avLst/>
          </a:prstGeom>
          <a:noFill/>
        </p:spPr>
        <p:txBody>
          <a:bodyPr wrap="square">
            <a:spAutoFit/>
          </a:bodyPr>
          <a:lstStyle/>
          <a:p>
            <a:pPr algn="l">
              <a:spcAft>
                <a:spcPts val="400"/>
              </a:spcAft>
            </a:pPr>
            <a:r>
              <a:rPr sz="2000" b="1">
                <a:solidFill>
                  <a:srgbClr val="FFFFFF"/>
                </a:solidFill>
                <a:latin typeface="Calibri"/>
              </a:rPr>
              <a:t>2023</a:t>
            </a:r>
          </a:p>
        </p:txBody>
      </p:sp>
      <p:sp>
        <p:nvSpPr>
          <p:cNvPr id="11" name="Rounded Rectangle 10"/>
          <p:cNvSpPr/>
          <p:nvPr/>
        </p:nvSpPr>
        <p:spPr>
          <a:xfrm>
            <a:off x="2011680" y="3159760"/>
            <a:ext cx="1463039" cy="365760"/>
          </a:xfrm>
          <a:prstGeom prst="round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599" y="3108960"/>
            <a:ext cx="1828800" cy="457200"/>
          </a:xfrm>
          <a:prstGeom prst="rect">
            <a:avLst/>
          </a:prstGeom>
          <a:noFill/>
        </p:spPr>
        <p:txBody>
          <a:bodyPr wrap="square">
            <a:spAutoFit/>
          </a:bodyPr>
          <a:lstStyle/>
          <a:p>
            <a:pPr algn="l">
              <a:spcAft>
                <a:spcPts val="400"/>
              </a:spcAft>
            </a:pPr>
            <a:r>
              <a:rPr sz="1800" b="1">
                <a:solidFill>
                  <a:srgbClr val="FFB800"/>
                </a:solidFill>
                <a:latin typeface="Calibri"/>
              </a:rPr>
              <a:t>$0.31M</a:t>
            </a:r>
          </a:p>
        </p:txBody>
      </p:sp>
      <p:sp>
        <p:nvSpPr>
          <p:cNvPr id="13" name="TextBox 12"/>
          <p:cNvSpPr txBox="1"/>
          <p:nvPr/>
        </p:nvSpPr>
        <p:spPr>
          <a:xfrm>
            <a:off x="731520" y="4206240"/>
            <a:ext cx="1097280" cy="457200"/>
          </a:xfrm>
          <a:prstGeom prst="rect">
            <a:avLst/>
          </a:prstGeom>
          <a:noFill/>
        </p:spPr>
        <p:txBody>
          <a:bodyPr wrap="square">
            <a:spAutoFit/>
          </a:bodyPr>
          <a:lstStyle/>
          <a:p>
            <a:pPr algn="l">
              <a:spcAft>
                <a:spcPts val="400"/>
              </a:spcAft>
            </a:pPr>
            <a:r>
              <a:rPr sz="2000" b="1">
                <a:solidFill>
                  <a:srgbClr val="FFFFFF"/>
                </a:solidFill>
                <a:latin typeface="Calibri"/>
              </a:rPr>
              <a:t>2024</a:t>
            </a:r>
          </a:p>
        </p:txBody>
      </p:sp>
      <p:sp>
        <p:nvSpPr>
          <p:cNvPr id="14" name="Rounded Rectangle 13"/>
          <p:cNvSpPr/>
          <p:nvPr/>
        </p:nvSpPr>
        <p:spPr>
          <a:xfrm>
            <a:off x="2011680" y="4257040"/>
            <a:ext cx="2973274" cy="365760"/>
          </a:xfrm>
          <a:prstGeom prst="round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67834" y="4206240"/>
            <a:ext cx="1828800" cy="457200"/>
          </a:xfrm>
          <a:prstGeom prst="rect">
            <a:avLst/>
          </a:prstGeom>
          <a:noFill/>
        </p:spPr>
        <p:txBody>
          <a:bodyPr wrap="square">
            <a:spAutoFit/>
          </a:bodyPr>
          <a:lstStyle/>
          <a:p>
            <a:pPr algn="l">
              <a:spcAft>
                <a:spcPts val="400"/>
              </a:spcAft>
            </a:pPr>
            <a:r>
              <a:rPr sz="1800" b="1">
                <a:solidFill>
                  <a:srgbClr val="FFB800"/>
                </a:solidFill>
                <a:latin typeface="Calibri"/>
              </a:rPr>
              <a:t>$0.63M</a:t>
            </a:r>
          </a:p>
        </p:txBody>
      </p:sp>
      <p:sp>
        <p:nvSpPr>
          <p:cNvPr id="16" name="TextBox 15"/>
          <p:cNvSpPr txBox="1"/>
          <p:nvPr/>
        </p:nvSpPr>
        <p:spPr>
          <a:xfrm>
            <a:off x="731520" y="5303520"/>
            <a:ext cx="1097280" cy="457200"/>
          </a:xfrm>
          <a:prstGeom prst="rect">
            <a:avLst/>
          </a:prstGeom>
          <a:noFill/>
        </p:spPr>
        <p:txBody>
          <a:bodyPr wrap="square">
            <a:spAutoFit/>
          </a:bodyPr>
          <a:lstStyle/>
          <a:p>
            <a:pPr algn="l">
              <a:spcAft>
                <a:spcPts val="400"/>
              </a:spcAft>
            </a:pPr>
            <a:r>
              <a:rPr sz="2000" b="1">
                <a:solidFill>
                  <a:srgbClr val="FFFFFF"/>
                </a:solidFill>
                <a:latin typeface="Calibri"/>
              </a:rPr>
              <a:t>2025</a:t>
            </a:r>
          </a:p>
        </p:txBody>
      </p:sp>
      <p:sp>
        <p:nvSpPr>
          <p:cNvPr id="17" name="Rounded Rectangle 16"/>
          <p:cNvSpPr/>
          <p:nvPr/>
        </p:nvSpPr>
        <p:spPr>
          <a:xfrm>
            <a:off x="2011680" y="5354320"/>
            <a:ext cx="7315200" cy="365760"/>
          </a:xfrm>
          <a:prstGeom prst="round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0" y="5303520"/>
            <a:ext cx="1828800" cy="457200"/>
          </a:xfrm>
          <a:prstGeom prst="rect">
            <a:avLst/>
          </a:prstGeom>
          <a:noFill/>
        </p:spPr>
        <p:txBody>
          <a:bodyPr wrap="square">
            <a:spAutoFit/>
          </a:bodyPr>
          <a:lstStyle/>
          <a:p>
            <a:pPr algn="l">
              <a:spcAft>
                <a:spcPts val="400"/>
              </a:spcAft>
            </a:pPr>
            <a:r>
              <a:rPr sz="1800" b="1">
                <a:solidFill>
                  <a:srgbClr val="FFB800"/>
                </a:solidFill>
                <a:latin typeface="Calibri"/>
              </a:rPr>
              <a:t>$1.55M</a:t>
            </a:r>
          </a:p>
        </p:txBody>
      </p:sp>
      <p:sp>
        <p:nvSpPr>
          <p:cNvPr id="19" name="Rounded Rectangle 18"/>
          <p:cNvSpPr/>
          <p:nvPr/>
        </p:nvSpPr>
        <p:spPr>
          <a:xfrm>
            <a:off x="6400800" y="1737360"/>
            <a:ext cx="5029200" cy="146304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FIRST PROFITABLE YEAR — 2025</a:t>
            </a:r>
          </a:p>
          <a:p>
            <a:pPr>
              <a:spcBef>
                <a:spcPts val="600"/>
              </a:spcBef>
            </a:pPr>
            <a:r>
              <a:rPr sz="1100">
                <a:solidFill>
                  <a:srgbClr val="CCCCCC"/>
                </a:solidFill>
                <a:latin typeface="Calibri"/>
              </a:rPr>
              <a:t>Revenue: $1.55M
EBITDA: $0.26M (17% margin)
Net Income: $0.20M
Financial figures subject to audit confirmation.</a:t>
            </a:r>
          </a:p>
        </p:txBody>
      </p:sp>
      <p:sp>
        <p:nvSpPr>
          <p:cNvPr id="20" name="Rectangle 1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REVENUE SCALING — PROJECTED</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Government backbone + commercial fleet scaling — ~140% CAGR</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731520" y="1737360"/>
          <a:ext cx="10515600" cy="256032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65760">
                <a:tc>
                  <a:txBody>
                    <a:bodyPr/>
                    <a:lstStyle/>
                    <a:p>
                      <a:r>
                        <a:rPr sz="1100" b="1">
                          <a:solidFill>
                            <a:srgbClr val="009ED9"/>
                          </a:solidFill>
                          <a:latin typeface="Calibri"/>
                        </a:rPr>
                        <a:t>Year</a:t>
                      </a:r>
                    </a:p>
                  </a:txBody>
                  <a:tcPr>
                    <a:solidFill>
                      <a:srgbClr val="0A142A"/>
                    </a:solidFill>
                  </a:tcPr>
                </a:tc>
                <a:tc>
                  <a:txBody>
                    <a:bodyPr/>
                    <a:lstStyle/>
                    <a:p>
                      <a:r>
                        <a:rPr sz="1100" b="1">
                          <a:solidFill>
                            <a:srgbClr val="009ED9"/>
                          </a:solidFill>
                          <a:latin typeface="Calibri"/>
                        </a:rPr>
                        <a:t>BLK4 Commercial</a:t>
                      </a:r>
                    </a:p>
                  </a:txBody>
                  <a:tcPr>
                    <a:solidFill>
                      <a:srgbClr val="0A142A"/>
                    </a:solidFill>
                  </a:tcPr>
                </a:tc>
                <a:tc>
                  <a:txBody>
                    <a:bodyPr/>
                    <a:lstStyle/>
                    <a:p>
                      <a:r>
                        <a:rPr sz="1100" b="1">
                          <a:solidFill>
                            <a:srgbClr val="009ED9"/>
                          </a:solidFill>
                          <a:latin typeface="Calibri"/>
                        </a:rPr>
                        <a:t>Scorpius</a:t>
                      </a:r>
                    </a:p>
                  </a:txBody>
                  <a:tcPr>
                    <a:solidFill>
                      <a:srgbClr val="0A142A"/>
                    </a:solidFill>
                  </a:tcPr>
                </a:tc>
                <a:tc>
                  <a:txBody>
                    <a:bodyPr/>
                    <a:lstStyle/>
                    <a:p>
                      <a:r>
                        <a:rPr sz="1100" b="1">
                          <a:solidFill>
                            <a:srgbClr val="009ED9"/>
                          </a:solidFill>
                          <a:latin typeface="Calibri"/>
                        </a:rPr>
                        <a:t>TACFI/STRATFI</a:t>
                      </a:r>
                    </a:p>
                  </a:txBody>
                  <a:tcPr>
                    <a:solidFill>
                      <a:srgbClr val="0A142A"/>
                    </a:solidFill>
                  </a:tcPr>
                </a:tc>
                <a:tc>
                  <a:txBody>
                    <a:bodyPr/>
                    <a:lstStyle/>
                    <a:p>
                      <a:r>
                        <a:rPr sz="1100" b="1">
                          <a:solidFill>
                            <a:srgbClr val="009ED9"/>
                          </a:solidFill>
                          <a:latin typeface="Calibri"/>
                        </a:rPr>
                        <a:t>Other Gov/Svc</a:t>
                      </a:r>
                    </a:p>
                  </a:txBody>
                  <a:tcPr>
                    <a:solidFill>
                      <a:srgbClr val="0A142A"/>
                    </a:solidFill>
                  </a:tcPr>
                </a:tc>
                <a:tc>
                  <a:txBody>
                    <a:bodyPr/>
                    <a:lstStyle/>
                    <a:p>
                      <a:r>
                        <a:rPr sz="1100" b="1">
                          <a:solidFill>
                            <a:srgbClr val="009ED9"/>
                          </a:solidFill>
                          <a:latin typeface="Calibri"/>
                        </a:rPr>
                        <a:t>Combined</a:t>
                      </a:r>
                    </a:p>
                  </a:txBody>
                  <a:tcPr>
                    <a:solidFill>
                      <a:srgbClr val="0A142A"/>
                    </a:solidFill>
                  </a:tcPr>
                </a:tc>
                <a:tc>
                  <a:txBody>
                    <a:bodyPr/>
                    <a:lstStyle/>
                    <a:p>
                      <a:r>
                        <a:rPr sz="1100" b="1">
                          <a:solidFill>
                            <a:srgbClr val="009ED9"/>
                          </a:solidFill>
                          <a:latin typeface="Calibri"/>
                        </a:rPr>
                        <a:t>YoY</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2025A</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$1.55M</a:t>
                      </a:r>
                    </a:p>
                  </a:txBody>
                  <a:tcPr>
                    <a:solidFill>
                      <a:srgbClr val="0D1220"/>
                    </a:solidFill>
                  </a:tcPr>
                </a:tc>
                <a:tc>
                  <a:txBody>
                    <a:bodyPr/>
                    <a:lstStyle/>
                    <a:p>
                      <a:r>
                        <a:rPr sz="1100">
                          <a:solidFill>
                            <a:srgbClr val="FFFFFF"/>
                          </a:solidFill>
                          <a:latin typeface="Calibri"/>
                        </a:rPr>
                        <a:t>$1.55M</a:t>
                      </a:r>
                    </a:p>
                  </a:txBody>
                  <a:tcPr>
                    <a:solidFill>
                      <a:srgbClr val="0D1220"/>
                    </a:solidFill>
                  </a:tcPr>
                </a:tc>
                <a:tc>
                  <a:txBody>
                    <a:bodyPr/>
                    <a:lstStyle/>
                    <a:p>
                      <a:r>
                        <a:rPr sz="1100">
                          <a:solidFill>
                            <a:srgbClr val="FFFFFF"/>
                          </a:solidFill>
                          <a:latin typeface="Calibri"/>
                        </a:rPr>
                        <a:t>146%</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2026E</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$2.65M</a:t>
                      </a:r>
                    </a:p>
                  </a:txBody>
                  <a:tcPr>
                    <a:solidFill>
                      <a:srgbClr val="101626"/>
                    </a:solidFill>
                  </a:tcPr>
                </a:tc>
                <a:tc>
                  <a:txBody>
                    <a:bodyPr/>
                    <a:lstStyle/>
                    <a:p>
                      <a:r>
                        <a:rPr sz="1100">
                          <a:solidFill>
                            <a:srgbClr val="FFFFFF"/>
                          </a:solidFill>
                          <a:latin typeface="Calibri"/>
                        </a:rPr>
                        <a:t>$0.7M</a:t>
                      </a:r>
                    </a:p>
                  </a:txBody>
                  <a:tcPr>
                    <a:solidFill>
                      <a:srgbClr val="101626"/>
                    </a:solidFill>
                  </a:tcPr>
                </a:tc>
                <a:tc>
                  <a:txBody>
                    <a:bodyPr/>
                    <a:lstStyle/>
                    <a:p>
                      <a:r>
                        <a:rPr sz="1100">
                          <a:solidFill>
                            <a:srgbClr val="FFFFFF"/>
                          </a:solidFill>
                          <a:latin typeface="Calibri"/>
                        </a:rPr>
                        <a:t>$1.1M</a:t>
                      </a:r>
                    </a:p>
                  </a:txBody>
                  <a:tcPr>
                    <a:solidFill>
                      <a:srgbClr val="101626"/>
                    </a:solidFill>
                  </a:tcPr>
                </a:tc>
                <a:tc>
                  <a:txBody>
                    <a:bodyPr/>
                    <a:lstStyle/>
                    <a:p>
                      <a:r>
                        <a:rPr sz="1100">
                          <a:solidFill>
                            <a:srgbClr val="FFFFFF"/>
                          </a:solidFill>
                          <a:latin typeface="Calibri"/>
                        </a:rPr>
                        <a:t>$4.4M</a:t>
                      </a:r>
                    </a:p>
                  </a:txBody>
                  <a:tcPr>
                    <a:solidFill>
                      <a:srgbClr val="101626"/>
                    </a:solidFill>
                  </a:tcPr>
                </a:tc>
                <a:tc>
                  <a:txBody>
                    <a:bodyPr/>
                    <a:lstStyle/>
                    <a:p>
                      <a:r>
                        <a:rPr sz="1100">
                          <a:solidFill>
                            <a:srgbClr val="FFFFFF"/>
                          </a:solidFill>
                          <a:latin typeface="Calibri"/>
                        </a:rPr>
                        <a:t>184%</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2027E</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$3.5M</a:t>
                      </a:r>
                    </a:p>
                  </a:txBody>
                  <a:tcPr>
                    <a:solidFill>
                      <a:srgbClr val="0D1220"/>
                    </a:solidFill>
                  </a:tcPr>
                </a:tc>
                <a:tc>
                  <a:txBody>
                    <a:bodyPr/>
                    <a:lstStyle/>
                    <a:p>
                      <a:r>
                        <a:rPr sz="1100">
                          <a:solidFill>
                            <a:srgbClr val="FFFFFF"/>
                          </a:solidFill>
                          <a:latin typeface="Calibri"/>
                        </a:rPr>
                        <a:t>$2.7M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$6.2M</a:t>
                      </a:r>
                    </a:p>
                  </a:txBody>
                  <a:tcPr>
                    <a:solidFill>
                      <a:srgbClr val="0D1220"/>
                    </a:solidFill>
                  </a:tcPr>
                </a:tc>
                <a:tc>
                  <a:txBody>
                    <a:bodyPr/>
                    <a:lstStyle/>
                    <a:p>
                      <a:r>
                        <a:rPr sz="1100">
                          <a:solidFill>
                            <a:srgbClr val="FFFFFF"/>
                          </a:solidFill>
                          <a:latin typeface="Calibri"/>
                        </a:rPr>
                        <a:t>41%</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2028E</a:t>
                      </a:r>
                    </a:p>
                  </a:txBody>
                  <a:tcPr>
                    <a:solidFill>
                      <a:srgbClr val="101626"/>
                    </a:solidFill>
                  </a:tcPr>
                </a:tc>
                <a:tc>
                  <a:txBody>
                    <a:bodyPr/>
                    <a:lstStyle/>
                    <a:p>
                      <a:r>
                        <a:rPr sz="1100">
                          <a:solidFill>
                            <a:srgbClr val="FFFFFF"/>
                          </a:solidFill>
                          <a:latin typeface="Calibri"/>
                        </a:rPr>
                        <a:t>$9.8M</a:t>
                      </a:r>
                    </a:p>
                  </a:txBody>
                  <a:tcPr>
                    <a:solidFill>
                      <a:srgbClr val="101626"/>
                    </a:solidFill>
                  </a:tcPr>
                </a:tc>
                <a:tc>
                  <a:txBody>
                    <a:bodyPr/>
                    <a:lstStyle/>
                    <a:p>
                      <a:r>
                        <a:rPr sz="1100">
                          <a:solidFill>
                            <a:srgbClr val="FFFFFF"/>
                          </a:solidFill>
                          <a:latin typeface="Calibri"/>
                        </a:rPr>
                        <a:t>$7.0M</a:t>
                      </a:r>
                    </a:p>
                  </a:txBody>
                  <a:tcPr>
                    <a:solidFill>
                      <a:srgbClr val="101626"/>
                    </a:solidFill>
                  </a:tcPr>
                </a:tc>
                <a:tc>
                  <a:txBody>
                    <a:bodyPr/>
                    <a:lstStyle/>
                    <a:p>
                      <a:r>
                        <a:rPr sz="1100">
                          <a:solidFill>
                            <a:srgbClr val="FFFFFF"/>
                          </a:solidFill>
                          <a:latin typeface="Calibri"/>
                        </a:rPr>
                        <a:t>$8.2M</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$25M</a:t>
                      </a:r>
                    </a:p>
                  </a:txBody>
                  <a:tcPr>
                    <a:solidFill>
                      <a:srgbClr val="101626"/>
                    </a:solidFill>
                  </a:tcPr>
                </a:tc>
                <a:tc>
                  <a:txBody>
                    <a:bodyPr/>
                    <a:lstStyle/>
                    <a:p>
                      <a:r>
                        <a:rPr sz="1100">
                          <a:solidFill>
                            <a:srgbClr val="FFFFFF"/>
                          </a:solidFill>
                          <a:latin typeface="Calibri"/>
                        </a:rPr>
                        <a:t>303%</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2029E</a:t>
                      </a:r>
                    </a:p>
                  </a:txBody>
                  <a:tcPr>
                    <a:solidFill>
                      <a:srgbClr val="0D1220"/>
                    </a:solidFill>
                  </a:tcPr>
                </a:tc>
                <a:tc>
                  <a:txBody>
                    <a:bodyPr/>
                    <a:lstStyle/>
                    <a:p>
                      <a:r>
                        <a:rPr sz="1100">
                          <a:solidFill>
                            <a:srgbClr val="FFFFFF"/>
                          </a:solidFill>
                          <a:latin typeface="Calibri"/>
                        </a:rPr>
                        <a:t>$31M</a:t>
                      </a:r>
                    </a:p>
                  </a:txBody>
                  <a:tcPr>
                    <a:solidFill>
                      <a:srgbClr val="0D1220"/>
                    </a:solidFill>
                  </a:tcPr>
                </a:tc>
                <a:tc>
                  <a:txBody>
                    <a:bodyPr/>
                    <a:lstStyle/>
                    <a:p>
                      <a:r>
                        <a:rPr sz="1100">
                          <a:solidFill>
                            <a:srgbClr val="FFFFFF"/>
                          </a:solidFill>
                          <a:latin typeface="Calibri"/>
                        </a:rPr>
                        <a:t>$14M</a:t>
                      </a:r>
                    </a:p>
                  </a:txBody>
                  <a:tcPr>
                    <a:solidFill>
                      <a:srgbClr val="0D1220"/>
                    </a:solidFill>
                  </a:tcPr>
                </a:tc>
                <a:tc>
                  <a:txBody>
                    <a:bodyPr/>
                    <a:lstStyle/>
                    <a:p>
                      <a:r>
                        <a:rPr sz="1100">
                          <a:solidFill>
                            <a:srgbClr val="FFFFFF"/>
                          </a:solidFill>
                          <a:latin typeface="Calibri"/>
                        </a:rPr>
                        <a:t>$10M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$55M</a:t>
                      </a:r>
                    </a:p>
                  </a:txBody>
                  <a:tcPr>
                    <a:solidFill>
                      <a:srgbClr val="0D1220"/>
                    </a:solidFill>
                  </a:tcPr>
                </a:tc>
                <a:tc>
                  <a:txBody>
                    <a:bodyPr/>
                    <a:lstStyle/>
                    <a:p>
                      <a:r>
                        <a:rPr sz="1100">
                          <a:solidFill>
                            <a:srgbClr val="FFFFFF"/>
                          </a:solidFill>
                          <a:latin typeface="Calibri"/>
                        </a:rPr>
                        <a:t>120%</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2030E</a:t>
                      </a:r>
                    </a:p>
                  </a:txBody>
                  <a:tcPr>
                    <a:solidFill>
                      <a:srgbClr val="101626"/>
                    </a:solidFill>
                  </a:tcPr>
                </a:tc>
                <a:tc>
                  <a:txBody>
                    <a:bodyPr/>
                    <a:lstStyle/>
                    <a:p>
                      <a:r>
                        <a:rPr sz="1100">
                          <a:solidFill>
                            <a:srgbClr val="FFFFFF"/>
                          </a:solidFill>
                          <a:latin typeface="Calibri"/>
                        </a:rPr>
                        <a:t>$82M</a:t>
                      </a:r>
                    </a:p>
                  </a:txBody>
                  <a:tcPr>
                    <a:solidFill>
                      <a:srgbClr val="101626"/>
                    </a:solidFill>
                  </a:tcPr>
                </a:tc>
                <a:tc>
                  <a:txBody>
                    <a:bodyPr/>
                    <a:lstStyle/>
                    <a:p>
                      <a:r>
                        <a:rPr sz="1100">
                          <a:solidFill>
                            <a:srgbClr val="FFFFFF"/>
                          </a:solidFill>
                          <a:latin typeface="Calibri"/>
                        </a:rPr>
                        <a:t>$28M</a:t>
                      </a:r>
                    </a:p>
                  </a:txBody>
                  <a:tcPr>
                    <a:solidFill>
                      <a:srgbClr val="101626"/>
                    </a:solidFill>
                  </a:tcPr>
                </a:tc>
                <a:tc>
                  <a:txBody>
                    <a:bodyPr/>
                    <a:lstStyle/>
                    <a:p>
                      <a:r>
                        <a:rPr sz="1100">
                          <a:solidFill>
                            <a:srgbClr val="FFFFFF"/>
                          </a:solidFill>
                          <a:latin typeface="Calibri"/>
                        </a:rPr>
                        <a:t>$10M</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$120M</a:t>
                      </a:r>
                    </a:p>
                  </a:txBody>
                  <a:tcPr>
                    <a:solidFill>
                      <a:srgbClr val="101626"/>
                    </a:solidFill>
                  </a:tcPr>
                </a:tc>
                <a:tc>
                  <a:txBody>
                    <a:bodyPr/>
                    <a:lstStyle/>
                    <a:p>
                      <a:r>
                        <a:rPr sz="1100">
                          <a:solidFill>
                            <a:srgbClr val="FFFFFF"/>
                          </a:solidFill>
                          <a:latin typeface="Calibri"/>
                        </a:rPr>
                        <a:t>118%</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754880"/>
            <a:ext cx="5029200" cy="365760"/>
          </a:xfrm>
          <a:prstGeom prst="rect">
            <a:avLst/>
          </a:prstGeom>
          <a:noFill/>
        </p:spPr>
        <p:txBody>
          <a:bodyPr wrap="square">
            <a:spAutoFit/>
          </a:bodyPr>
          <a:lstStyle/>
          <a:p>
            <a:pPr algn="l">
              <a:spcAft>
                <a:spcPts val="400"/>
              </a:spcAft>
            </a:pPr>
            <a:r>
              <a:rPr sz="1400" b="1">
                <a:solidFill>
                  <a:srgbClr val="FFB800"/>
                </a:solidFill>
                <a:latin typeface="Calibri"/>
              </a:rPr>
              <a:t>UNIT ECONOMICS</a:t>
            </a:r>
          </a:p>
        </p:txBody>
      </p:sp>
      <p:sp>
        <p:nvSpPr>
          <p:cNvPr id="9" name="TextBox 8"/>
          <p:cNvSpPr txBox="1"/>
          <p:nvPr/>
        </p:nvSpPr>
        <p:spPr>
          <a:xfrm>
            <a:off x="731520" y="5120640"/>
            <a:ext cx="5029200" cy="1828800"/>
          </a:xfrm>
          <a:prstGeom prst="rect">
            <a:avLst/>
          </a:prstGeom>
          <a:noFill/>
        </p:spPr>
        <p:txBody>
          <a:bodyPr wrap="square">
            <a:spAutoFit/>
          </a:bodyPr>
          <a:lstStyle/>
          <a:p>
            <a:pPr algn="l">
              <a:spcBef>
                <a:spcPts val="0"/>
              </a:spcBef>
              <a:spcAft>
                <a:spcPts val="400"/>
              </a:spcAft>
            </a:pPr>
            <a:r>
              <a:rPr sz="1200" b="0">
                <a:solidFill>
                  <a:srgbClr val="CCCCCC"/>
                </a:solidFill>
                <a:latin typeface="Calibri"/>
              </a:rPr>
              <a:t>•  BLK4 vehicle sale: $6M/unit, 50%+ gross margin</a:t>
            </a:r>
          </a:p>
          <a:p>
            <a:pPr algn="l">
              <a:spcBef>
                <a:spcPts val="0"/>
              </a:spcBef>
              <a:spcAft>
                <a:spcPts val="400"/>
              </a:spcAft>
            </a:pPr>
            <a:r>
              <a:rPr sz="1200" b="0">
                <a:solidFill>
                  <a:srgbClr val="CCCCCC"/>
                </a:solidFill>
                <a:latin typeface="Calibri"/>
              </a:rPr>
              <a:t>•  BLK4 wet-lease flight: $3.75M/flight, 60%+ margin</a:t>
            </a:r>
          </a:p>
          <a:p>
            <a:pPr algn="l">
              <a:spcBef>
                <a:spcPts val="0"/>
              </a:spcBef>
              <a:spcAft>
                <a:spcPts val="400"/>
              </a:spcAft>
            </a:pPr>
            <a:r>
              <a:rPr sz="1200" b="0">
                <a:solidFill>
                  <a:srgbClr val="CCCCCC"/>
                </a:solidFill>
                <a:latin typeface="Calibri"/>
              </a:rPr>
              <a:t>•  Tank manufacturing: $200K–$1M/unit, 45%+ margin</a:t>
            </a:r>
          </a:p>
          <a:p>
            <a:pPr algn="l">
              <a:spcBef>
                <a:spcPts val="0"/>
              </a:spcBef>
              <a:spcAft>
                <a:spcPts val="400"/>
              </a:spcAft>
            </a:pPr>
            <a:r>
              <a:rPr sz="1200" b="0">
                <a:solidFill>
                  <a:srgbClr val="CCCCCC"/>
                </a:solidFill>
                <a:latin typeface="Calibri"/>
              </a:rPr>
              <a:t>•  TACFI/STRATFI: 30% margin (70% COGS for gov't dev)</a:t>
            </a:r>
          </a:p>
        </p:txBody>
      </p:sp>
      <p:sp>
        <p:nvSpPr>
          <p:cNvPr id="10" name="TextBox 9"/>
          <p:cNvSpPr txBox="1"/>
          <p:nvPr/>
        </p:nvSpPr>
        <p:spPr>
          <a:xfrm>
            <a:off x="731520" y="6217920"/>
            <a:ext cx="10058400" cy="274320"/>
          </a:xfrm>
          <a:prstGeom prst="rect">
            <a:avLst/>
          </a:prstGeom>
          <a:noFill/>
        </p:spPr>
        <p:txBody>
          <a:bodyPr wrap="square">
            <a:spAutoFit/>
          </a:bodyPr>
          <a:lstStyle/>
          <a:p>
            <a:pPr algn="l">
              <a:spcAft>
                <a:spcPts val="400"/>
              </a:spcAft>
            </a:pPr>
            <a:r>
              <a:rPr sz="900" b="0" i="1">
                <a:solidFill>
                  <a:srgbClr val="999999"/>
                </a:solidFill>
                <a:latin typeface="Calibri"/>
              </a:rPr>
              <a:t>Forward-looking projections from March 2026. Actuals through February 2026. See disclaimers on final slide.</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USE OF FUNDS &amp; FINANCIAL PERFORMANCE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80160"/>
            <a:ext cx="10058400" cy="365760"/>
          </a:xfrm>
          <a:prstGeom prst="rect">
            <a:avLst/>
          </a:prstGeom>
          <a:noFill/>
        </p:spPr>
        <p:txBody>
          <a:bodyPr wrap="square">
            <a:spAutoFit/>
          </a:bodyPr>
          <a:lstStyle/>
          <a:p>
            <a:pPr algn="l">
              <a:spcAft>
                <a:spcPts val="400"/>
              </a:spcAft>
            </a:pPr>
            <a:r>
              <a:rPr sz="1800" b="1">
                <a:solidFill>
                  <a:srgbClr val="FFB800"/>
                </a:solidFill>
              </a:rPr>
              <a:t>$10M raised — 100% deployed, zero idle capital</a:t>
            </a:r>
          </a:p>
        </p:txBody>
      </p:sp>
      <p:graphicFrame>
        <p:nvGraphicFramePr>
          <p:cNvPr id="7" name="Table 6"/>
          <p:cNvGraphicFramePr>
            <a:graphicFrameLocks noGrp="1"/>
          </p:cNvGraphicFramePr>
          <p:nvPr/>
        </p:nvGraphicFramePr>
        <p:xfrm>
          <a:off x="731520" y="1828800"/>
          <a:ext cx="10515600" cy="18288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Allocation</a:t>
                      </a:r>
                    </a:p>
                  </a:txBody>
                  <a:tcPr>
                    <a:solidFill>
                      <a:srgbClr val="0A142A"/>
                    </a:solidFill>
                  </a:tcPr>
                </a:tc>
                <a:tc>
                  <a:txBody>
                    <a:bodyPr/>
                    <a:lstStyle/>
                    <a:p>
                      <a:r>
                        <a:rPr sz="1100" b="1">
                          <a:solidFill>
                            <a:srgbClr val="009ED9"/>
                          </a:solidFill>
                          <a:latin typeface="Calibri"/>
                        </a:rPr>
                        <a:t>Amount</a:t>
                      </a:r>
                    </a:p>
                  </a:txBody>
                  <a:tcPr>
                    <a:solidFill>
                      <a:srgbClr val="0A142A"/>
                    </a:solidFill>
                  </a:tcPr>
                </a:tc>
                <a:tc>
                  <a:txBody>
                    <a:bodyPr/>
                    <a:lstStyle/>
                    <a:p>
                      <a:r>
                        <a:rPr sz="1100" b="1">
                          <a:solidFill>
                            <a:srgbClr val="009ED9"/>
                          </a:solidFill>
                          <a:latin typeface="Calibri"/>
                        </a:rPr>
                        <a:t>Purpose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Scorpius Acquisition</a:t>
                      </a:r>
                    </a:p>
                  </a:txBody>
                  <a:tcPr>
                    <a:solidFill>
                      <a:srgbClr val="0D1220"/>
                    </a:solidFill>
                  </a:tcPr>
                </a:tc>
                <a:tc>
                  <a:txBody>
                    <a:bodyPr/>
                    <a:lstStyle/>
                    <a:p>
                      <a:r>
                        <a:rPr sz="1200">
                          <a:solidFill>
                            <a:srgbClr val="CCCCCC"/>
                          </a:solidFill>
                        </a:rPr>
                        <a:t>$3.4M</a:t>
                      </a:r>
                    </a:p>
                  </a:txBody>
                  <a:tcPr>
                    <a:solidFill>
                      <a:srgbClr val="0D1220"/>
                    </a:solidFill>
                  </a:tcPr>
                </a:tc>
                <a:tc>
                  <a:txBody>
                    <a:bodyPr/>
                    <a:lstStyle/>
                    <a:p>
                      <a:r>
                        <a:rPr sz="1200">
                          <a:solidFill>
                            <a:srgbClr val="CCCCCC"/>
                          </a:solidFill>
                        </a:rPr>
                        <a:t>6–12x value on $20–40M IP. ROFR at $3.4M.</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RDRE Development (TACFI match)</a:t>
                      </a:r>
                    </a:p>
                  </a:txBody>
                  <a:tcPr>
                    <a:solidFill>
                      <a:srgbClr val="101626"/>
                    </a:solidFill>
                  </a:tcPr>
                </a:tc>
                <a:tc>
                  <a:txBody>
                    <a:bodyPr/>
                    <a:lstStyle/>
                    <a:p>
                      <a:r>
                        <a:rPr sz="1100">
                          <a:solidFill>
                            <a:srgbClr val="FFFFFF"/>
                          </a:solidFill>
                          <a:latin typeface="Calibri"/>
                        </a:rPr>
                        <a:t>$2M</a:t>
                      </a:r>
                    </a:p>
                  </a:txBody>
                  <a:tcPr>
                    <a:solidFill>
                      <a:srgbClr val="101626"/>
                    </a:solidFill>
                  </a:tcPr>
                </a:tc>
                <a:tc>
                  <a:txBody>
                    <a:bodyPr/>
                    <a:lstStyle/>
                    <a:p>
                      <a:r>
                        <a:rPr sz="1100">
                          <a:solidFill>
                            <a:srgbClr val="FFFFFF"/>
                          </a:solidFill>
                          <a:latin typeface="Calibri"/>
                        </a:rPr>
                        <a:t>Match for $4M TACFI. Unlocks $30M STRATFI.</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BLK3 Vehicle Build</a:t>
                      </a:r>
                    </a:p>
                  </a:txBody>
                  <a:tcPr>
                    <a:solidFill>
                      <a:srgbClr val="0D1220"/>
                    </a:solidFill>
                  </a:tcPr>
                </a:tc>
                <a:tc>
                  <a:txBody>
                    <a:bodyPr/>
                    <a:lstStyle/>
                    <a:p>
                      <a:r>
                        <a:rPr sz="1100">
                          <a:solidFill>
                            <a:srgbClr val="FFFFFF"/>
                          </a:solidFill>
                          <a:latin typeface="Calibri"/>
                        </a:rPr>
                        <a:t>$2.5M</a:t>
                      </a:r>
                    </a:p>
                  </a:txBody>
                  <a:tcPr>
                    <a:solidFill>
                      <a:srgbClr val="0D1220"/>
                    </a:solidFill>
                  </a:tcPr>
                </a:tc>
                <a:tc>
                  <a:txBody>
                    <a:bodyPr/>
                    <a:lstStyle/>
                    <a:p>
                      <a:r>
                        <a:rPr sz="1100">
                          <a:solidFill>
                            <a:srgbClr val="FFFFFF"/>
                          </a:solidFill>
                          <a:latin typeface="Calibri"/>
                        </a:rPr>
                        <a:t>2nd vehicle. Dual-site ops. Doubles capacity.</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Listing + Working Capital</a:t>
                      </a:r>
                    </a:p>
                  </a:txBody>
                  <a:tcPr>
                    <a:solidFill>
                      <a:srgbClr val="101626"/>
                    </a:solidFill>
                  </a:tcPr>
                </a:tc>
                <a:tc>
                  <a:txBody>
                    <a:bodyPr/>
                    <a:lstStyle/>
                    <a:p>
                      <a:r>
                        <a:rPr sz="1200">
                          <a:solidFill>
                            <a:srgbClr val="CCCCCC"/>
                          </a:solidFill>
                        </a:rPr>
                        <a:t>$2.1M</a:t>
                      </a:r>
                    </a:p>
                  </a:txBody>
                  <a:tcPr>
                    <a:solidFill>
                      <a:srgbClr val="101626"/>
                    </a:solidFill>
                  </a:tcPr>
                </a:tc>
                <a:tc>
                  <a:txBody>
                    <a:bodyPr/>
                    <a:lstStyle/>
                    <a:p>
                      <a:r>
                        <a:rPr sz="1100">
                          <a:solidFill>
                            <a:srgbClr val="FFFFFF"/>
                          </a:solidFill>
                          <a:latin typeface="Calibri"/>
                        </a:rPr>
                        <a:t>Public listing costs + operational buffer.</a:t>
                      </a:r>
                    </a:p>
                  </a:txBody>
                  <a:tcPr>
                    <a:solidFill>
                      <a:srgbClr val="101626"/>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731520" y="3840480"/>
            <a:ext cx="105156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CAPITAL AMPLIFICATION</a:t>
            </a:r>
          </a:p>
          <a:p>
            <a:pPr>
              <a:spcBef>
                <a:spcPts val="600"/>
              </a:spcBef>
            </a:pPr>
            <a:r>
              <a:rPr sz="1100">
                <a:solidFill>
                  <a:srgbClr val="CCCCCC"/>
                </a:solidFill>
                <a:latin typeface="Calibri"/>
              </a:rPr>
              <a:t>$10M private capital unlocks $34M in government co-investment (TACFI + STRATFI) — a 3.4x multiplier on investor capital.</a:t>
            </a:r>
          </a:p>
        </p:txBody>
      </p:sp>
      <p:graphicFrame>
        <p:nvGraphicFramePr>
          <p:cNvPr id="9" name="Table 8"/>
          <p:cNvGraphicFramePr>
            <a:graphicFrameLocks noGrp="1"/>
          </p:cNvGraphicFramePr>
          <p:nvPr/>
        </p:nvGraphicFramePr>
        <p:xfrm>
          <a:off x="731520" y="4571000"/>
          <a:ext cx="10515600" cy="2194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CY2026</a:t>
                      </a:r>
                    </a:p>
                  </a:txBody>
                  <a:tcPr>
                    <a:solidFill>
                      <a:srgbClr val="0A142A"/>
                    </a:solidFill>
                  </a:tcPr>
                </a:tc>
                <a:tc>
                  <a:txBody>
                    <a:bodyPr/>
                    <a:lstStyle/>
                    <a:p>
                      <a:r>
                        <a:rPr sz="1100" b="1">
                          <a:solidFill>
                            <a:srgbClr val="009ED9"/>
                          </a:solidFill>
                          <a:latin typeface="Calibri"/>
                        </a:rPr>
                        <a:t>CY2027</a:t>
                      </a:r>
                    </a:p>
                  </a:txBody>
                  <a:tcPr>
                    <a:solidFill>
                      <a:srgbClr val="0A142A"/>
                    </a:solidFill>
                  </a:tcPr>
                </a:tc>
                <a:tc>
                  <a:txBody>
                    <a:bodyPr/>
                    <a:lstStyle/>
                    <a:p>
                      <a:r>
                        <a:rPr sz="1100" b="1">
                          <a:solidFill>
                            <a:srgbClr val="009ED9"/>
                          </a:solidFill>
                          <a:latin typeface="Calibri"/>
                        </a:rPr>
                        <a:t>CY2028</a:t>
                      </a:r>
                    </a:p>
                  </a:txBody>
                  <a:tcPr>
                    <a:solidFill>
                      <a:srgbClr val="0A142A"/>
                    </a:solidFill>
                  </a:tcPr>
                </a:tc>
                <a:tc>
                  <a:txBody>
                    <a:bodyPr/>
                    <a:lstStyle/>
                    <a:p>
                      <a:r>
                        <a:rPr sz="1100" b="1">
                          <a:solidFill>
                            <a:srgbClr val="009ED9"/>
                          </a:solidFill>
                          <a:latin typeface="Calibri"/>
                        </a:rPr>
                        <a:t>CY2029</a:t>
                      </a:r>
                    </a:p>
                  </a:txBody>
                  <a:tcPr>
                    <a:solidFill>
                      <a:srgbClr val="0A142A"/>
                    </a:solidFill>
                  </a:tcPr>
                </a:tc>
                <a:tc>
                  <a:txBody>
                    <a:bodyPr/>
                    <a:lstStyle/>
                    <a:p>
                      <a:r>
                        <a:rPr sz="1100" b="1">
                          <a:solidFill>
                            <a:srgbClr val="009ED9"/>
                          </a:solidFill>
                          <a:latin typeface="Calibri"/>
                        </a:rPr>
                        <a:t>CY2030</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Revenue</a:t>
                      </a:r>
                    </a:p>
                  </a:txBody>
                  <a:tcPr>
                    <a:solidFill>
                      <a:srgbClr val="0D1220"/>
                    </a:solidFill>
                  </a:tcPr>
                </a:tc>
                <a:tc>
                  <a:txBody>
                    <a:bodyPr/>
                    <a:lstStyle/>
                    <a:p>
                      <a:r>
                        <a:rPr sz="1100">
                          <a:solidFill>
                            <a:srgbClr val="FFFFFF"/>
                          </a:solidFill>
                          <a:latin typeface="Calibri"/>
                        </a:rPr>
                        <a:t>$4.4M</a:t>
                      </a:r>
                    </a:p>
                  </a:txBody>
                  <a:tcPr>
                    <a:solidFill>
                      <a:srgbClr val="0D1220"/>
                    </a:solidFill>
                  </a:tcPr>
                </a:tc>
                <a:tc>
                  <a:txBody>
                    <a:bodyPr/>
                    <a:lstStyle/>
                    <a:p>
                      <a:r>
                        <a:rPr sz="1100">
                          <a:solidFill>
                            <a:srgbClr val="FFFFFF"/>
                          </a:solidFill>
                          <a:latin typeface="Calibri"/>
                        </a:rPr>
                        <a:t>$6.2M</a:t>
                      </a:r>
                    </a:p>
                  </a:txBody>
                  <a:tcPr>
                    <a:solidFill>
                      <a:srgbClr val="0D1220"/>
                    </a:solidFill>
                  </a:tcPr>
                </a:tc>
                <a:tc>
                  <a:txBody>
                    <a:bodyPr/>
                    <a:lstStyle/>
                    <a:p>
                      <a:r>
                        <a:rPr sz="1100">
                          <a:solidFill>
                            <a:srgbClr val="FFFFFF"/>
                          </a:solidFill>
                          <a:latin typeface="Calibri"/>
                        </a:rPr>
                        <a:t>$25M</a:t>
                      </a:r>
                    </a:p>
                  </a:txBody>
                  <a:tcPr>
                    <a:solidFill>
                      <a:srgbClr val="0D1220"/>
                    </a:solidFill>
                  </a:tcPr>
                </a:tc>
                <a:tc>
                  <a:txBody>
                    <a:bodyPr/>
                    <a:lstStyle/>
                    <a:p>
                      <a:r>
                        <a:rPr sz="1100">
                          <a:solidFill>
                            <a:srgbClr val="FFFFFF"/>
                          </a:solidFill>
                          <a:latin typeface="Calibri"/>
                        </a:rPr>
                        <a:t>$55M</a:t>
                      </a:r>
                    </a:p>
                  </a:txBody>
                  <a:tcPr>
                    <a:solidFill>
                      <a:srgbClr val="0D1220"/>
                    </a:solidFill>
                  </a:tcPr>
                </a:tc>
                <a:tc>
                  <a:txBody>
                    <a:bodyPr/>
                    <a:lstStyle/>
                    <a:p>
                      <a:r>
                        <a:rPr sz="1100">
                          <a:solidFill>
                            <a:srgbClr val="FFFFFF"/>
                          </a:solidFill>
                          <a:latin typeface="Calibri"/>
                        </a:rPr>
                        <a:t>$120M</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Gross Margin</a:t>
                      </a:r>
                    </a:p>
                  </a:txBody>
                  <a:tcPr>
                    <a:solidFill>
                      <a:srgbClr val="101626"/>
                    </a:solidFill>
                  </a:tcPr>
                </a:tc>
                <a:tc>
                  <a:txBody>
                    <a:bodyPr/>
                    <a:lstStyle/>
                    <a:p>
                      <a:r>
                        <a:rPr sz="1100">
                          <a:solidFill>
                            <a:srgbClr val="FFFFFF"/>
                          </a:solidFill>
                          <a:latin typeface="Calibri"/>
                        </a:rPr>
                        <a:t>42%</a:t>
                      </a:r>
                    </a:p>
                  </a:txBody>
                  <a:tcPr>
                    <a:solidFill>
                      <a:srgbClr val="101626"/>
                    </a:solidFill>
                  </a:tcPr>
                </a:tc>
                <a:tc>
                  <a:txBody>
                    <a:bodyPr/>
                    <a:lstStyle/>
                    <a:p>
                      <a:r>
                        <a:rPr sz="1100">
                          <a:solidFill>
                            <a:srgbClr val="FFFFFF"/>
                          </a:solidFill>
                          <a:latin typeface="Calibri"/>
                        </a:rPr>
                        <a:t>40%</a:t>
                      </a:r>
                    </a:p>
                  </a:txBody>
                  <a:tcPr>
                    <a:solidFill>
                      <a:srgbClr val="101626"/>
                    </a:solidFill>
                  </a:tcPr>
                </a:tc>
                <a:tc>
                  <a:txBody>
                    <a:bodyPr/>
                    <a:lstStyle/>
                    <a:p>
                      <a:r>
                        <a:rPr sz="1100">
                          <a:solidFill>
                            <a:srgbClr val="FFFFFF"/>
                          </a:solidFill>
                          <a:latin typeface="Calibri"/>
                        </a:rPr>
                        <a:t>50%</a:t>
                      </a:r>
                    </a:p>
                  </a:txBody>
                  <a:tcPr>
                    <a:solidFill>
                      <a:srgbClr val="101626"/>
                    </a:solidFill>
                  </a:tcPr>
                </a:tc>
                <a:tc>
                  <a:txBody>
                    <a:bodyPr/>
                    <a:lstStyle/>
                    <a:p>
                      <a:r>
                        <a:rPr sz="1100">
                          <a:solidFill>
                            <a:srgbClr val="FFFFFF"/>
                          </a:solidFill>
                          <a:latin typeface="Calibri"/>
                        </a:rPr>
                        <a:t>55%</a:t>
                      </a:r>
                    </a:p>
                  </a:txBody>
                  <a:tcPr>
                    <a:solidFill>
                      <a:srgbClr val="101626"/>
                    </a:solidFill>
                  </a:tcPr>
                </a:tc>
                <a:tc>
                  <a:txBody>
                    <a:bodyPr/>
                    <a:lstStyle/>
                    <a:p>
                      <a:r>
                        <a:rPr sz="1100">
                          <a:solidFill>
                            <a:srgbClr val="FFFFFF"/>
                          </a:solidFill>
                          <a:latin typeface="Calibri"/>
                        </a:rPr>
                        <a:t>57%</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EBITDA</a:t>
                      </a:r>
                    </a:p>
                  </a:txBody>
                  <a:tcPr>
                    <a:solidFill>
                      <a:srgbClr val="0D1220"/>
                    </a:solidFill>
                  </a:tcPr>
                </a:tc>
                <a:tc>
                  <a:txBody>
                    <a:bodyPr/>
                    <a:lstStyle/>
                    <a:p>
                      <a:r>
                        <a:rPr sz="1100">
                          <a:solidFill>
                            <a:srgbClr val="FFFFFF"/>
                          </a:solidFill>
                          <a:latin typeface="Calibri"/>
                        </a:rPr>
                        <a:t>$0.3M</a:t>
                      </a:r>
                    </a:p>
                  </a:txBody>
                  <a:tcPr>
                    <a:solidFill>
                      <a:srgbClr val="0D1220"/>
                    </a:solidFill>
                  </a:tcPr>
                </a:tc>
                <a:tc>
                  <a:txBody>
                    <a:bodyPr/>
                    <a:lstStyle/>
                    <a:p>
                      <a:r>
                        <a:rPr sz="1100">
                          <a:solidFill>
                            <a:srgbClr val="FFFFFF"/>
                          </a:solidFill>
                          <a:latin typeface="Calibri"/>
                        </a:rPr>
                        <a:t>$0.4M</a:t>
                      </a:r>
                    </a:p>
                  </a:txBody>
                  <a:tcPr>
                    <a:solidFill>
                      <a:srgbClr val="0D1220"/>
                    </a:solidFill>
                  </a:tcPr>
                </a:tc>
                <a:tc>
                  <a:txBody>
                    <a:bodyPr/>
                    <a:lstStyle/>
                    <a:p>
                      <a:r>
                        <a:rPr sz="1100">
                          <a:solidFill>
                            <a:srgbClr val="FFFFFF"/>
                          </a:solidFill>
                          <a:latin typeface="Calibri"/>
                        </a:rPr>
                        <a:t>$4M</a:t>
                      </a:r>
                    </a:p>
                  </a:txBody>
                  <a:tcPr>
                    <a:solidFill>
                      <a:srgbClr val="0D1220"/>
                    </a:solidFill>
                  </a:tcPr>
                </a:tc>
                <a:tc>
                  <a:txBody>
                    <a:bodyPr/>
                    <a:lstStyle/>
                    <a:p>
                      <a:r>
                        <a:rPr sz="1100">
                          <a:solidFill>
                            <a:srgbClr val="FFFFFF"/>
                          </a:solidFill>
                          <a:latin typeface="Calibri"/>
                        </a:rPr>
                        <a:t>$14M</a:t>
                      </a:r>
                    </a:p>
                  </a:txBody>
                  <a:tcPr>
                    <a:solidFill>
                      <a:srgbClr val="0D1220"/>
                    </a:solidFill>
                  </a:tcPr>
                </a:tc>
                <a:tc>
                  <a:txBody>
                    <a:bodyPr/>
                    <a:lstStyle/>
                    <a:p>
                      <a:r>
                        <a:rPr sz="1100">
                          <a:solidFill>
                            <a:srgbClr val="FFFFFF"/>
                          </a:solidFill>
                          <a:latin typeface="Calibri"/>
                        </a:rPr>
                        <a:t>$38M</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EBITDA Margin</a:t>
                      </a:r>
                    </a:p>
                  </a:txBody>
                  <a:tcPr>
                    <a:solidFill>
                      <a:srgbClr val="101626"/>
                    </a:solidFill>
                  </a:tcPr>
                </a:tc>
                <a:tc>
                  <a:txBody>
                    <a:bodyPr/>
                    <a:lstStyle/>
                    <a:p>
                      <a:r>
                        <a:rPr sz="1100">
                          <a:solidFill>
                            <a:srgbClr val="FFFFFF"/>
                          </a:solidFill>
                          <a:latin typeface="Calibri"/>
                        </a:rPr>
                        <a:t>7%</a:t>
                      </a:r>
                    </a:p>
                  </a:txBody>
                  <a:tcPr>
                    <a:solidFill>
                      <a:srgbClr val="101626"/>
                    </a:solidFill>
                  </a:tcPr>
                </a:tc>
                <a:tc>
                  <a:txBody>
                    <a:bodyPr/>
                    <a:lstStyle/>
                    <a:p>
                      <a:r>
                        <a:rPr sz="1100">
                          <a:solidFill>
                            <a:srgbClr val="FFFFFF"/>
                          </a:solidFill>
                          <a:latin typeface="Calibri"/>
                        </a:rPr>
                        <a:t>6%</a:t>
                      </a:r>
                    </a:p>
                  </a:txBody>
                  <a:tcPr>
                    <a:solidFill>
                      <a:srgbClr val="101626"/>
                    </a:solidFill>
                  </a:tcPr>
                </a:tc>
                <a:tc>
                  <a:txBody>
                    <a:bodyPr/>
                    <a:lstStyle/>
                    <a:p>
                      <a:r>
                        <a:rPr sz="1100">
                          <a:solidFill>
                            <a:srgbClr val="FFFFFF"/>
                          </a:solidFill>
                          <a:latin typeface="Calibri"/>
                        </a:rPr>
                        <a:t>16%</a:t>
                      </a:r>
                    </a:p>
                  </a:txBody>
                  <a:tcPr>
                    <a:solidFill>
                      <a:srgbClr val="101626"/>
                    </a:solidFill>
                  </a:tcPr>
                </a:tc>
                <a:tc>
                  <a:txBody>
                    <a:bodyPr/>
                    <a:lstStyle/>
                    <a:p>
                      <a:r>
                        <a:rPr sz="1100">
                          <a:solidFill>
                            <a:srgbClr val="FFFFFF"/>
                          </a:solidFill>
                          <a:latin typeface="Calibri"/>
                        </a:rPr>
                        <a:t>25%</a:t>
                      </a:r>
                    </a:p>
                  </a:txBody>
                  <a:tcPr>
                    <a:solidFill>
                      <a:srgbClr val="101626"/>
                    </a:solidFill>
                  </a:tcPr>
                </a:tc>
                <a:tc>
                  <a:txBody>
                    <a:bodyPr/>
                    <a:lstStyle/>
                    <a:p>
                      <a:r>
                        <a:rPr sz="1100">
                          <a:solidFill>
                            <a:srgbClr val="FFFFFF"/>
                          </a:solidFill>
                          <a:latin typeface="Calibri"/>
                        </a:rPr>
                        <a:t>32%</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Net Income</a:t>
                      </a:r>
                    </a:p>
                  </a:txBody>
                  <a:tcPr>
                    <a:solidFill>
                      <a:srgbClr val="0D1220"/>
                    </a:solidFill>
                  </a:tcPr>
                </a:tc>
                <a:tc>
                  <a:txBody>
                    <a:bodyPr/>
                    <a:lstStyle/>
                    <a:p>
                      <a:r>
                        <a:rPr sz="1100">
                          <a:solidFill>
                            <a:srgbClr val="FFFFFF"/>
                          </a:solidFill>
                          <a:latin typeface="Calibri"/>
                        </a:rPr>
                        <a:t>$0</a:t>
                      </a:r>
                    </a:p>
                  </a:txBody>
                  <a:tcPr>
                    <a:solidFill>
                      <a:srgbClr val="0D1220"/>
                    </a:solidFill>
                  </a:tcPr>
                </a:tc>
                <a:tc>
                  <a:txBody>
                    <a:bodyPr/>
                    <a:lstStyle/>
                    <a:p>
                      <a:r>
                        <a:rPr sz="1100">
                          <a:solidFill>
                            <a:srgbClr val="FFFFFF"/>
                          </a:solidFill>
                          <a:latin typeface="Calibri"/>
                        </a:rPr>
                        <a:t>$0</a:t>
                      </a:r>
                    </a:p>
                  </a:txBody>
                  <a:tcPr>
                    <a:solidFill>
                      <a:srgbClr val="0D1220"/>
                    </a:solidFill>
                  </a:tcPr>
                </a:tc>
                <a:tc>
                  <a:txBody>
                    <a:bodyPr/>
                    <a:lstStyle/>
                    <a:p>
                      <a:r>
                        <a:rPr sz="1100">
                          <a:solidFill>
                            <a:srgbClr val="FFFFFF"/>
                          </a:solidFill>
                          <a:latin typeface="Calibri"/>
                        </a:rPr>
                        <a:t>$2M</a:t>
                      </a:r>
                    </a:p>
                  </a:txBody>
                  <a:tcPr>
                    <a:solidFill>
                      <a:srgbClr val="0D1220"/>
                    </a:solidFill>
                  </a:tcPr>
                </a:tc>
                <a:tc>
                  <a:txBody>
                    <a:bodyPr/>
                    <a:lstStyle/>
                    <a:p>
                      <a:r>
                        <a:rPr sz="1100">
                          <a:solidFill>
                            <a:srgbClr val="FFFFFF"/>
                          </a:solidFill>
                          <a:latin typeface="Calibri"/>
                        </a:rPr>
                        <a:t>$9M</a:t>
                      </a:r>
                    </a:p>
                  </a:txBody>
                  <a:tcPr>
                    <a:solidFill>
                      <a:srgbClr val="0D1220"/>
                    </a:solidFill>
                  </a:tcPr>
                </a:tc>
                <a:tc>
                  <a:txBody>
                    <a:bodyPr/>
                    <a:lstStyle/>
                    <a:p>
                      <a:r>
                        <a:rPr sz="1100">
                          <a:solidFill>
                            <a:srgbClr val="FFFFFF"/>
                          </a:solidFill>
                          <a:latin typeface="Calibri"/>
                        </a:rPr>
                        <a:t>$28M</a:t>
                      </a:r>
                    </a:p>
                  </a:txBody>
                  <a:tcPr>
                    <a:solidFill>
                      <a:srgbClr val="0D1220"/>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MANAGEMENT TEAM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JOHN QUINN — CEO &amp; Co-Founder</a:t>
            </a:r>
          </a:p>
          <a:p>
            <a:pPr>
              <a:spcBef>
                <a:spcPts val="600"/>
              </a:spcBef>
            </a:pPr>
            <a:r>
              <a:rPr sz="1100">
                <a:solidFill>
                  <a:srgbClr val="CCCCCC"/>
                </a:solidFill>
                <a:latin typeface="Calibri"/>
              </a:rPr>
              <a:t>14.5-year U.S. Navy Submarine Service career
$43M ROI in Six Sigma projects at FPL
Company IP sale to Emerson Power
Drives strategy, capital markets, government relations</a:t>
            </a:r>
          </a:p>
        </p:txBody>
      </p:sp>
      <p:sp>
        <p:nvSpPr>
          <p:cNvPr id="7" name="Rounded Rectangle 6"/>
          <p:cNvSpPr/>
          <p:nvPr/>
        </p:nvSpPr>
        <p:spPr>
          <a:xfrm>
            <a:off x="43891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DAVID MITCHELL — President &amp; Co-Founder</a:t>
            </a:r>
          </a:p>
          <a:p>
            <a:pPr>
              <a:spcBef>
                <a:spcPts val="600"/>
              </a:spcBef>
            </a:pPr>
            <a:r>
              <a:rPr sz="1100">
                <a:solidFill>
                  <a:srgbClr val="CCCCCC"/>
                </a:solidFill>
                <a:latin typeface="Calibri"/>
              </a:rPr>
              <a:t>4th-generation energy entrepreneur and investor
Secured private funding enabling Exos to build commercial-grade reusable rockets
Company sale to CITS
Drives financing, corporate development, investor relations</a:t>
            </a:r>
          </a:p>
        </p:txBody>
      </p:sp>
      <p:sp>
        <p:nvSpPr>
          <p:cNvPr id="8" name="Rounded Rectangle 7"/>
          <p:cNvSpPr/>
          <p:nvPr/>
        </p:nvSpPr>
        <p:spPr>
          <a:xfrm>
            <a:off x="80467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RUSSEL BLINK — CTO &amp; Co-Founder</a:t>
            </a:r>
          </a:p>
          <a:p>
            <a:pPr>
              <a:spcBef>
                <a:spcPts val="600"/>
              </a:spcBef>
            </a:pPr>
            <a:r>
              <a:rPr sz="1100">
                <a:solidFill>
                  <a:srgbClr val="CCCCCC"/>
                </a:solidFill>
                <a:latin typeface="Calibri"/>
              </a:rPr>
              <a:t>BS EE, Michigan Technological University
TI Defense → Long Range Systems (VP/Co-founder) → Armadillo Aerospace (VP Eng)
Hundreds of engines, dozens of flying vehicles incl. NASA Lunar Landers</a:t>
            </a:r>
          </a:p>
        </p:txBody>
      </p:sp>
      <p:sp>
        <p:nvSpPr>
          <p:cNvPr id="9" name="Rounded Rectangle 8"/>
          <p:cNvSpPr/>
          <p:nvPr/>
        </p:nvSpPr>
        <p:spPr>
          <a:xfrm>
            <a:off x="7315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NEIL MILBURN — COO &amp; Co-Founder</a:t>
            </a:r>
          </a:p>
          <a:p>
            <a:pPr>
              <a:spcBef>
                <a:spcPts val="600"/>
              </a:spcBef>
            </a:pPr>
            <a:r>
              <a:rPr sz="1100">
                <a:solidFill>
                  <a:srgbClr val="CCCCCC"/>
                </a:solidFill>
                <a:latin typeface="Calibri"/>
              </a:rPr>
              <a:t>Chemical Engineering; co-founded Armadillo Aerospace (2000)
Revolutionized CNG refueling at NASA launch facilities
FAA liaison; company turnarounds and operational excellence</a:t>
            </a:r>
          </a:p>
        </p:txBody>
      </p:sp>
      <p:sp>
        <p:nvSpPr>
          <p:cNvPr id="10" name="Rounded Rectangle 9"/>
          <p:cNvSpPr/>
          <p:nvPr/>
        </p:nvSpPr>
        <p:spPr>
          <a:xfrm>
            <a:off x="43891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KYLE BALLARD — CFO</a:t>
            </a:r>
          </a:p>
          <a:p>
            <a:pPr>
              <a:spcBef>
                <a:spcPts val="600"/>
              </a:spcBef>
            </a:pPr>
            <a:r>
              <a:rPr sz="1100">
                <a:solidFill>
                  <a:srgbClr val="CCCCCC"/>
                </a:solidFill>
                <a:latin typeface="Calibri"/>
              </a:rPr>
              <a:t>Financial operations, reporting, due diligence
Leading SSLC financial analysis and public listing preparation</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OWNERSHIP &amp; GOVERNANCE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5029200" cy="1889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Stake</a:t>
                      </a:r>
                    </a:p>
                  </a:txBody>
                  <a:tcPr>
                    <a:solidFill>
                      <a:srgbClr val="0A142A"/>
                    </a:solidFill>
                  </a:tcPr>
                </a:tc>
                <a:tc>
                  <a:txBody>
                    <a:bodyPr/>
                    <a:lstStyle/>
                    <a:p>
                      <a:r>
                        <a:rPr sz="1100" b="1">
                          <a:solidFill>
                            <a:srgbClr val="009ED9"/>
                          </a:solidFill>
                          <a:latin typeface="Calibri"/>
                        </a:rPr>
                        <a:t>Role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FFFFFF"/>
                          </a:solidFill>
                          <a:latin typeface="Calibri"/>
                        </a:rPr>
                        <a:t>President, Co-founder</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21%</a:t>
                      </a:r>
                    </a:p>
                  </a:txBody>
                  <a:tcPr>
                    <a:solidFill>
                      <a:srgbClr val="101626"/>
                    </a:solidFill>
                  </a:tcPr>
                </a:tc>
                <a:tc>
                  <a:txBody>
                    <a:bodyPr/>
                    <a:lstStyle/>
                    <a:p>
                      <a:r>
                        <a:rPr sz="1100">
                          <a:solidFill>
                            <a:srgbClr val="FFFFFF"/>
                          </a:solidFill>
                          <a:latin typeface="Calibri"/>
                        </a:rPr>
                        <a:t>CEO, Co-founder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CCCCCC"/>
                          </a:solidFill>
                        </a:rPr>
                        <a:t>Common stock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Incentive Stock Option Pool</a:t>
                      </a:r>
                    </a:p>
                  </a:txBody>
                  <a:tcPr>
                    <a:solidFill>
                      <a:srgbClr val="101626"/>
                    </a:solidFill>
                  </a:tcPr>
                </a:tc>
                <a:tc>
                  <a:txBody>
                    <a:bodyPr/>
                    <a:lstStyle/>
                    <a:p>
                      <a:r>
                        <a:rPr sz="1100">
                          <a:solidFill>
                            <a:srgbClr val="FFFFFF"/>
                          </a:solidFill>
                          <a:latin typeface="Calibri"/>
                        </a:rPr>
                        <a:t>5%</a:t>
                      </a:r>
                    </a:p>
                  </a:txBody>
                  <a:tcPr>
                    <a:solidFill>
                      <a:srgbClr val="101626"/>
                    </a:solidFill>
                  </a:tcPr>
                </a:tc>
                <a:tc>
                  <a:txBody>
                    <a:bodyPr/>
                    <a:lstStyle/>
                    <a:p>
                      <a:r>
                        <a:rPr sz="1100">
                          <a:solidFill>
                            <a:srgbClr val="FFFFFF"/>
                          </a:solidFill>
                          <a:latin typeface="Calibri"/>
                        </a:rPr>
                        <a:t>Key employee retention</a:t>
                      </a:r>
                    </a:p>
                  </a:txBody>
                  <a:tcPr>
                    <a:solidFill>
                      <a:srgbClr val="101626"/>
                    </a:solidFill>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6400800" y="1371600"/>
          <a:ext cx="5029200" cy="22555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Post-Listing</a:t>
                      </a:r>
                    </a:p>
                  </a:txBody>
                  <a:tcPr>
                    <a:solidFill>
                      <a:srgbClr val="0A142A"/>
                    </a:solidFill>
                  </a:tcPr>
                </a:tc>
                <a:tc>
                  <a:txBody>
                    <a:bodyPr/>
                    <a:lstStyle/>
                    <a:p>
                      <a:r>
                        <a:rPr sz="1100" b="1">
                          <a:solidFill>
                            <a:srgbClr val="009ED9"/>
                          </a:solidFill>
                          <a:latin typeface="Calibri"/>
                        </a:rPr>
                        <a:t>Status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FFFFFF"/>
                          </a:solidFill>
                          <a:latin typeface="Calibri"/>
                        </a:rPr>
                        <a:t>Active management</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~19%</a:t>
                      </a:r>
                    </a:p>
                  </a:txBody>
                  <a:tcPr>
                    <a:solidFill>
                      <a:srgbClr val="101626"/>
                    </a:solidFill>
                  </a:tcPr>
                </a:tc>
                <a:tc>
                  <a:txBody>
                    <a:bodyPr/>
                    <a:lstStyle/>
                    <a:p>
                      <a:r>
                        <a:rPr sz="1100">
                          <a:solidFill>
                            <a:srgbClr val="FFFFFF"/>
                          </a:solidFill>
                          <a:latin typeface="Calibri"/>
                        </a:rPr>
                        <a:t>Active management</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CCCCCC"/>
                          </a:solidFill>
                        </a:rPr>
                        <a:t>Public float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ESOP</a:t>
                      </a:r>
                    </a:p>
                  </a:txBody>
                  <a:tcPr>
                    <a:solidFill>
                      <a:srgbClr val="101626"/>
                    </a:solidFill>
                  </a:tcPr>
                </a:tc>
                <a:tc>
                  <a:txBody>
                    <a:bodyPr/>
                    <a:lstStyle/>
                    <a:p>
                      <a:r>
                        <a:rPr sz="1100">
                          <a:solidFill>
                            <a:srgbClr val="FFFFFF"/>
                          </a:solidFill>
                          <a:latin typeface="Calibri"/>
                        </a:rPr>
                        <a:t>~4.5%</a:t>
                      </a:r>
                    </a:p>
                  </a:txBody>
                  <a:tcPr>
                    <a:solidFill>
                      <a:srgbClr val="101626"/>
                    </a:solidFill>
                  </a:tcPr>
                </a:tc>
                <a:tc>
                  <a:txBody>
                    <a:bodyPr/>
                    <a:lstStyle/>
                    <a:p>
                      <a:r>
                        <a:rPr sz="1100">
                          <a:solidFill>
                            <a:srgbClr val="FFFFFF"/>
                          </a:solidFill>
                          <a:latin typeface="Calibri"/>
                        </a:rPr>
                        <a:t>Vesting</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CCCCCC"/>
                          </a:solidFill>
                        </a:rPr>
                        <a:t>Series A investors</a:t>
                      </a:r>
                    </a:p>
                  </a:txBody>
                  <a:tcPr>
                    <a:solidFill>
                      <a:srgbClr val="0D1220"/>
                    </a:solidFill>
                  </a:tcPr>
                </a:tc>
                <a:tc>
                  <a:txBody>
                    <a:bodyPr/>
                    <a:lstStyle/>
                    <a:p>
                      <a:r>
                        <a:rPr sz="1100">
                          <a:solidFill>
                            <a:srgbClr val="CCCCCC"/>
                          </a:solidFill>
                        </a:rPr>
                        <a:t>TBD</a:t>
                      </a:r>
                    </a:p>
                  </a:txBody>
                  <a:tcPr>
                    <a:solidFill>
                      <a:srgbClr val="0D1220"/>
                    </a:solidFill>
                  </a:tcPr>
                </a:tc>
                <a:tc>
                  <a:txBody>
                    <a:bodyPr/>
                    <a:lstStyle/>
                    <a:p>
                      <a:r>
                        <a:rPr sz="1100">
                          <a:solidFill>
                            <a:srgbClr val="CCCCCC"/>
                          </a:solidFill>
                        </a:rPr>
                        <a:t>Terms under negotiation</a:t>
                      </a:r>
                    </a:p>
                  </a:txBody>
                  <a:tcPr>
                    <a:solidFill>
                      <a:srgbClr val="0D1220"/>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731520" y="4389120"/>
            <a:ext cx="10058400" cy="2286000"/>
          </a:xfrm>
          <a:prstGeom prst="rect">
            <a:avLst/>
          </a:prstGeom>
          <a:noFill/>
        </p:spPr>
        <p:txBody>
          <a:bodyPr wrap="square">
            <a:spAutoFit/>
          </a:bodyPr>
          <a:lstStyle/>
          <a:p>
            <a:pPr algn="l">
              <a:spcBef>
                <a:spcPts val="0"/>
              </a:spcBef>
              <a:spcAft>
                <a:spcPts val="800"/>
              </a:spcAft>
            </a:pPr>
            <a:r>
              <a:rPr lang="en-US" sz="1400" b="1" dirty="0">
                <a:solidFill>
                  <a:srgbClr val="FFB800"/>
                </a:solidFill>
              </a:rPr>
              <a:t>KEY GOVERNANCE</a:t>
            </a:r>
          </a:p>
          <a:p>
            <a:pPr algn="l">
              <a:spcBef>
                <a:spcPts val="0"/>
              </a:spcBef>
              <a:spcAft>
                <a:spcPts val="800"/>
              </a:spcAft>
            </a:pPr>
            <a:r>
              <a:rPr lang="en-US" sz="1200" b="0" dirty="0">
                <a:solidFill>
                  <a:srgbClr val="CCCCCC"/>
                </a:solidFill>
              </a:rPr>
              <a:t>•  All shares are common stock — no preferred classes</a:t>
            </a:r>
          </a:p>
          <a:p>
            <a:pPr algn="l">
              <a:spcBef>
                <a:spcPts val="0"/>
              </a:spcBef>
              <a:spcAft>
                <a:spcPts val="800"/>
              </a:spcAft>
            </a:pPr>
            <a:r>
              <a:rPr lang="en-US" sz="1200" b="0" dirty="0">
                <a:solidFill>
                  <a:srgbClr val="CCCCCC"/>
                </a:solidFill>
              </a:rPr>
              <a:t>•  Mitchell + Quinn retain 56% effective control</a:t>
            </a:r>
          </a:p>
          <a:p>
            <a:pPr algn="l">
              <a:spcBef>
                <a:spcPts val="0"/>
              </a:spcBef>
              <a:spcAft>
                <a:spcPts val="800"/>
              </a:spcAft>
            </a:pPr>
            <a:r>
              <a:rPr lang="en-US" sz="1200" b="0" dirty="0">
                <a:solidFill>
                  <a:srgbClr val="CCCCCC"/>
                </a:solidFill>
              </a:rPr>
              <a:t>•  EAI (Exos Aerospace Investors) — directed by John Quinn and David Mitchell</a:t>
            </a:r>
          </a:p>
          <a:p>
            <a:pPr algn="l">
              <a:spcBef>
                <a:spcPts val="0"/>
              </a:spcBef>
              <a:spcAft>
                <a:spcPts val="800"/>
              </a:spcAft>
            </a:pPr>
            <a:r>
              <a:rPr lang="en-US" sz="1200" b="0" dirty="0">
                <a:solidFill>
                  <a:srgbClr val="CCCCCC"/>
                </a:solidFill>
              </a:rPr>
              <a:t>•  EAI investors get first liquidity event in 10 years</a:t>
            </a:r>
          </a:p>
          <a:p>
            <a:pPr algn="l">
              <a:spcBef>
                <a:spcPts val="0"/>
              </a:spcBef>
              <a:spcAft>
                <a:spcPts val="800"/>
              </a:spcAft>
            </a:pPr>
            <a:r>
              <a:rPr lang="en-US" sz="1200" b="0" dirty="0">
                <a:solidFill>
                  <a:srgbClr val="CCCCCC"/>
                </a:solidFill>
              </a:rPr>
              <a:t>•  Public float sourced from existing EAI shares</a:t>
            </a:r>
          </a:p>
          <a:p>
            <a:pPr algn="l">
              <a:spcBef>
                <a:spcPts val="0"/>
              </a:spcBef>
              <a:spcAft>
                <a:spcPts val="800"/>
              </a:spcAft>
            </a:pPr>
            <a:r>
              <a:rPr lang="en-US" sz="1200" b="0" dirty="0">
                <a:solidFill>
                  <a:srgbClr val="CCCCCC"/>
                </a:solidFill>
              </a:rPr>
              <a:t>•  Exos Aerospace Systems &amp; Technologies, Inc. — Texas corporation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CORPORATE STRUCTURE &amp; LISTING PATH</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00400" y="1463040"/>
            <a:ext cx="54864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EXOS AEROSPACE SYSTEMS &amp; TECHNOLOGIES, INC. (Texas)</a:t>
            </a:r>
          </a:p>
          <a:p>
            <a:pPr algn="ctr"/>
            <a:r>
              <a:rPr lang="en-US" sz="1100" b="0" dirty="0">
                <a:solidFill>
                  <a:srgbClr val="CCCCCC"/>
                </a:solidFill>
              </a:rPr>
              <a:t>Parent entity — all operations, IP, contracts, and public listing vehicle</a:t>
            </a:r>
          </a:p>
        </p:txBody>
      </p:sp>
      <p:sp>
        <p:nvSpPr>
          <p:cNvPr id="7" name="Rounded Rectangle 6"/>
          <p:cNvSpPr/>
          <p:nvPr/>
        </p:nvSpPr>
        <p:spPr>
          <a:xfrm>
            <a:off x="3657600" y="274320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FAA-LICENSED OPERATIONS</a:t>
            </a:r>
          </a:p>
          <a:p>
            <a:pPr algn="ctr"/>
            <a:r>
              <a:rPr lang="en-US" sz="1100" b="0" dirty="0">
                <a:solidFill>
                  <a:srgbClr val="CCCCCC"/>
                </a:solidFill>
              </a:rPr>
              <a:t>Reusable suborbital launch | ITAR-controlled technology | Government contracts | Spaceport America</a:t>
            </a:r>
          </a:p>
        </p:txBody>
      </p:sp>
      <p:sp>
        <p:nvSpPr>
          <p:cNvPr id="8" name="Rounded Rectangle 7"/>
          <p:cNvSpPr/>
          <p:nvPr/>
        </p:nvSpPr>
        <p:spPr>
          <a:xfrm>
            <a:off x="4114800" y="4206240"/>
            <a:ext cx="45720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SCORPIUS SPACE LAUNCH COMPANY INC</a:t>
            </a:r>
          </a:p>
          <a:p>
            <a:pPr>
              <a:spcBef>
                <a:spcPts val="600"/>
              </a:spcBef>
            </a:pPr>
            <a:r>
              <a:rPr sz="1100">
                <a:solidFill>
                  <a:srgbClr val="CCCCCC"/>
                </a:solidFill>
                <a:latin typeface="Calibri"/>
              </a:rPr>
              <a:t>Cryo tank IP, manufacturing, lunar heritage</a:t>
            </a:r>
          </a:p>
        </p:txBody>
      </p:sp>
      <p:sp>
        <p:nvSpPr>
          <p:cNvPr id="9" name="TextBox 8"/>
          <p:cNvSpPr txBox="1"/>
          <p:nvPr/>
        </p:nvSpPr>
        <p:spPr>
          <a:xfrm>
            <a:off x="731520" y="5303520"/>
            <a:ext cx="5029200" cy="365760"/>
          </a:xfrm>
          <a:prstGeom prst="rect">
            <a:avLst/>
          </a:prstGeom>
          <a:noFill/>
        </p:spPr>
        <p:txBody>
          <a:bodyPr wrap="square">
            <a:spAutoFit/>
          </a:bodyPr>
          <a:lstStyle/>
          <a:p>
            <a:pPr algn="l">
              <a:spcAft>
                <a:spcPts val="400"/>
              </a:spcAft>
            </a:pPr>
            <a:r>
              <a:rPr sz="1400" b="1" dirty="0">
                <a:solidFill>
                  <a:srgbClr val="FFB800"/>
                </a:solidFill>
                <a:latin typeface="Calibri"/>
              </a:rPr>
              <a:t>PUBLIC-MARKET PATH — PRIMARY: TEXAS STOCK EXCHANGE (TXSE)</a:t>
            </a:r>
          </a:p>
        </p:txBody>
      </p:sp>
      <p:sp>
        <p:nvSpPr>
          <p:cNvPr id="10" name="TextBox 9"/>
          <p:cNvSpPr txBox="1"/>
          <p:nvPr/>
        </p:nvSpPr>
        <p:spPr>
          <a:xfrm>
            <a:off x="731520" y="5577840"/>
            <a:ext cx="5029200" cy="1371600"/>
          </a:xfrm>
          <a:prstGeom prst="rect">
            <a:avLst/>
          </a:prstGeom>
          <a:noFill/>
        </p:spPr>
        <p:txBody>
          <a:bodyPr wrap="square">
            <a:spAutoFit/>
          </a:bodyPr>
          <a:lstStyle/>
          <a:p>
            <a:pPr algn="l">
              <a:spcBef>
                <a:spcPts val="0"/>
              </a:spcBef>
              <a:spcAft>
                <a:spcPts val="300"/>
              </a:spcAft>
            </a:pPr>
            <a:r>
              <a:rPr sz="1100" b="0">
                <a:solidFill>
                  <a:srgbClr val="CCCCCC"/>
                </a:solidFill>
                <a:latin typeface="Calibri"/>
              </a:rPr>
              <a:t>Texas Stock Exchange (TXSE) — primary public path; target ~18–24 months, contingent on Series A close + TACFI/STRATFI engagement</a:t>
            </a:r>
          </a:p>
          <a:p>
            <a:pPr algn="l">
              <a:spcBef>
                <a:spcPts val="0"/>
              </a:spcBef>
              <a:spcAft>
                <a:spcPts val="300"/>
              </a:spcAft>
            </a:pPr>
            <a:r>
              <a:rPr sz="1100" b="0">
                <a:solidFill>
                  <a:srgbClr val="CCCCCC"/>
                </a:solidFill>
                <a:latin typeface="Calibri"/>
              </a:rPr>
              <a:t>(Prior Euronext Dublin / EU listing route discontinued)</a:t>
            </a:r>
          </a:p>
          <a:p>
            <a:pPr algn="l">
              <a:spcBef>
                <a:spcPts val="0"/>
              </a:spcBef>
              <a:spcAft>
                <a:spcPts val="300"/>
              </a:spcAft>
            </a:pPr>
            <a:r>
              <a:rPr sz="1100" b="0">
                <a:solidFill>
                  <a:srgbClr val="CCCCCC"/>
                </a:solidFill>
                <a:latin typeface="Calibri"/>
              </a:rPr>
              <a:t>Interim/alternative paths still under evaluation: Reg A+ Tier 2 → NYSE American; OTCQB stepping stone</a:t>
            </a:r>
          </a:p>
          <a:p>
            <a:pPr algn="l">
              <a:spcBef>
                <a:spcPts val="0"/>
              </a:spcBef>
              <a:spcAft>
                <a:spcPts val="300"/>
              </a:spcAft>
            </a:pPr>
            <a:r>
              <a:rPr sz="1100" b="0">
                <a:solidFill>
                  <a:srgbClr val="CCCCCC"/>
                </a:solidFill>
                <a:latin typeface="Calibri"/>
              </a:rPr>
              <a:t/>
            </a:r>
          </a:p>
        </p:txBody>
      </p:sp>
      <p:sp>
        <p:nvSpPr>
          <p:cNvPr id="11" name="TextBox 10"/>
          <p:cNvSpPr txBox="1"/>
          <p:nvPr/>
        </p:nvSpPr>
        <p:spPr>
          <a:xfrm>
            <a:off x="6400800" y="5303520"/>
            <a:ext cx="5029200" cy="365760"/>
          </a:xfrm>
          <a:prstGeom prst="rect">
            <a:avLst/>
          </a:prstGeom>
          <a:noFill/>
        </p:spPr>
        <p:txBody>
          <a:bodyPr wrap="square">
            <a:spAutoFit/>
          </a:bodyPr>
          <a:lstStyle/>
          <a:p>
            <a:pPr algn="l">
              <a:spcAft>
                <a:spcPts val="400"/>
              </a:spcAft>
            </a:pPr>
            <a:r>
              <a:rPr sz="1400" b="1">
                <a:solidFill>
                  <a:srgbClr val="FFB800"/>
                </a:solidFill>
                <a:latin typeface="Calibri"/>
              </a:rPr>
              <a:t>TIMELINE FROM INVESTMENT CLOSE</a:t>
            </a:r>
          </a:p>
        </p:txBody>
      </p:sp>
      <p:sp>
        <p:nvSpPr>
          <p:cNvPr id="12" name="TextBox 11"/>
          <p:cNvSpPr txBox="1"/>
          <p:nvPr/>
        </p:nvSpPr>
        <p:spPr>
          <a:xfrm>
            <a:off x="6400800" y="5577840"/>
            <a:ext cx="5029200" cy="1371600"/>
          </a:xfrm>
          <a:prstGeom prst="rect">
            <a:avLst/>
          </a:prstGeom>
          <a:noFill/>
        </p:spPr>
        <p:txBody>
          <a:bodyPr wrap="square">
            <a:spAutoFit/>
          </a:bodyPr>
          <a:lstStyle/>
          <a:p>
            <a:pPr algn="l">
              <a:spcBef>
                <a:spcPts val="0"/>
              </a:spcBef>
              <a:spcAft>
                <a:spcPts val="300"/>
              </a:spcAft>
            </a:pPr>
            <a:r>
              <a:rPr lang="en-US" sz="1100" b="0" dirty="0">
                <a:solidFill>
                  <a:srgbClr val="CCCCCC"/>
                </a:solidFill>
              </a:rPr>
              <a:t>•  Aug–Oct 2026: Capital deployed + Scorpius close</a:t>
            </a:r>
          </a:p>
          <a:p>
            <a:pPr algn="l">
              <a:spcBef>
                <a:spcPts val="0"/>
              </a:spcBef>
              <a:spcAft>
                <a:spcPts val="300"/>
              </a:spcAft>
            </a:pPr>
            <a:r>
              <a:rPr lang="en-US" sz="1100" b="0" dirty="0">
                <a:solidFill>
                  <a:srgbClr val="CCCCCC"/>
                </a:solidFill>
              </a:rPr>
              <a:t>•  2027: Listing prep + regulatory filings</a:t>
            </a:r>
          </a:p>
          <a:p>
            <a:pPr algn="l">
              <a:spcBef>
                <a:spcPts val="0"/>
              </a:spcBef>
              <a:spcAft>
                <a:spcPts val="300"/>
              </a:spcAft>
            </a:pPr>
            <a:r>
              <a:rPr lang="en-US" sz="1100" b="0" dirty="0">
                <a:solidFill>
                  <a:srgbClr val="CCCCCC"/>
                </a:solidFill>
              </a:rPr>
              <a:t>•  Q1–Q2 2028: Admission to trading</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COMPARABLE VALUATIONS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457200" y="1371600"/>
          <a:ext cx="11247120" cy="21945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320040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Company</a:t>
                      </a:r>
                    </a:p>
                  </a:txBody>
                  <a:tcPr>
                    <a:solidFill>
                      <a:srgbClr val="0A142A"/>
                    </a:solidFill>
                  </a:tcPr>
                </a:tc>
                <a:tc>
                  <a:txBody>
                    <a:bodyPr/>
                    <a:lstStyle/>
                    <a:p>
                      <a:r>
                        <a:rPr sz="1100" b="1">
                          <a:solidFill>
                            <a:srgbClr val="009ED9"/>
                          </a:solidFill>
                          <a:latin typeface="Calibri"/>
                        </a:rPr>
                        <a:t>Exchange</a:t>
                      </a:r>
                    </a:p>
                  </a:txBody>
                  <a:tcPr>
                    <a:solidFill>
                      <a:srgbClr val="0A142A"/>
                    </a:solidFill>
                  </a:tcPr>
                </a:tc>
                <a:tc>
                  <a:txBody>
                    <a:bodyPr/>
                    <a:lstStyle/>
                    <a:p>
                      <a:r>
                        <a:rPr sz="1100" b="1">
                          <a:solidFill>
                            <a:srgbClr val="009ED9"/>
                          </a:solidFill>
                          <a:latin typeface="Calibri"/>
                        </a:rPr>
                        <a:t>Market Cap</a:t>
                      </a:r>
                    </a:p>
                  </a:txBody>
                  <a:tcPr>
                    <a:solidFill>
                      <a:srgbClr val="0A142A"/>
                    </a:solidFill>
                  </a:tcPr>
                </a:tc>
                <a:tc>
                  <a:txBody>
                    <a:bodyPr/>
                    <a:lstStyle/>
                    <a:p>
                      <a:r>
                        <a:rPr sz="1100" b="1">
                          <a:solidFill>
                            <a:srgbClr val="009ED9"/>
                          </a:solidFill>
                          <a:latin typeface="Calibri"/>
                        </a:rPr>
                        <a:t>Revenue</a:t>
                      </a:r>
                    </a:p>
                  </a:txBody>
                  <a:tcPr>
                    <a:solidFill>
                      <a:srgbClr val="0A142A"/>
                    </a:solidFill>
                  </a:tcPr>
                </a:tc>
                <a:tc>
                  <a:txBody>
                    <a:bodyPr/>
                    <a:lstStyle/>
                    <a:p>
                      <a:r>
                        <a:rPr sz="1100" b="1">
                          <a:solidFill>
                            <a:srgbClr val="009ED9"/>
                          </a:solidFill>
                          <a:latin typeface="Calibri"/>
                        </a:rPr>
                        <a:t>Multiple</a:t>
                      </a:r>
                    </a:p>
                  </a:txBody>
                  <a:tcPr>
                    <a:solidFill>
                      <a:srgbClr val="0A142A"/>
                    </a:solidFill>
                  </a:tcPr>
                </a:tc>
                <a:tc>
                  <a:txBody>
                    <a:bodyPr/>
                    <a:lstStyle/>
                    <a:p>
                      <a:r>
                        <a:rPr sz="1100" b="1">
                          <a:solidFill>
                            <a:srgbClr val="009ED9"/>
                          </a:solidFill>
                          <a:latin typeface="Calibri"/>
                        </a:rPr>
                        <a:t>Notes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Rocket Lab (RKLB)</a:t>
                      </a:r>
                    </a:p>
                  </a:txBody>
                  <a:tcPr>
                    <a:solidFill>
                      <a:srgbClr val="0D1220"/>
                    </a:solidFill>
                  </a:tcPr>
                </a:tc>
                <a:tc>
                  <a:txBody>
                    <a:bodyPr/>
                    <a:lstStyle/>
                    <a:p>
                      <a:r>
                        <a:rPr sz="1100">
                          <a:solidFill>
                            <a:srgbClr val="FFFFFF"/>
                          </a:solidFill>
                          <a:latin typeface="Calibri"/>
                        </a:rPr>
                        <a:t>NASDAQ</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$436M</a:t>
                      </a:r>
                    </a:p>
                  </a:txBody>
                  <a:tcPr>
                    <a:solidFill>
                      <a:srgbClr val="0D1220"/>
                    </a:solidFill>
                  </a:tcPr>
                </a:tc>
                <a:tc>
                  <a:txBody>
                    <a:bodyPr/>
                    <a:lstStyle/>
                    <a:p>
                      <a:r>
                        <a:rPr sz="1100">
                          <a:solidFill>
                            <a:srgbClr val="FFFFFF"/>
                          </a:solidFill>
                          <a:latin typeface="Calibri"/>
                        </a:rPr>
                        <a:t>27x</a:t>
                      </a:r>
                    </a:p>
                  </a:txBody>
                  <a:tcPr>
                    <a:solidFill>
                      <a:srgbClr val="0D1220"/>
                    </a:solidFill>
                  </a:tcPr>
                </a:tc>
                <a:tc>
                  <a:txBody>
                    <a:bodyPr/>
                    <a:lstStyle/>
                    <a:p>
                      <a:r>
                        <a:rPr sz="1100">
                          <a:solidFill>
                            <a:srgbClr val="FFFFFF"/>
                          </a:solidFill>
                          <a:latin typeface="Calibri"/>
                        </a:rPr>
                        <a:t>Orbital, M&amp;A-driven</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Intuitive Machines (LUNR)</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$3.2B</a:t>
                      </a:r>
                    </a:p>
                  </a:txBody>
                  <a:tcPr>
                    <a:solidFill>
                      <a:srgbClr val="101626"/>
                    </a:solidFill>
                  </a:tcPr>
                </a:tc>
                <a:tc>
                  <a:txBody>
                    <a:bodyPr/>
                    <a:lstStyle/>
                    <a:p>
                      <a:r>
                        <a:rPr sz="1100">
                          <a:solidFill>
                            <a:srgbClr val="FFFFFF"/>
                          </a:solidFill>
                          <a:latin typeface="Calibri"/>
                        </a:rPr>
                        <a:t>$227M</a:t>
                      </a:r>
                    </a:p>
                  </a:txBody>
                  <a:tcPr>
                    <a:solidFill>
                      <a:srgbClr val="101626"/>
                    </a:solidFill>
                  </a:tcPr>
                </a:tc>
                <a:tc>
                  <a:txBody>
                    <a:bodyPr/>
                    <a:lstStyle/>
                    <a:p>
                      <a:r>
                        <a:rPr sz="1100">
                          <a:solidFill>
                            <a:srgbClr val="FFFFFF"/>
                          </a:solidFill>
                          <a:latin typeface="Calibri"/>
                        </a:rPr>
                        <a:t>14x</a:t>
                      </a:r>
                    </a:p>
                  </a:txBody>
                  <a:tcPr>
                    <a:solidFill>
                      <a:srgbClr val="101626"/>
                    </a:solidFill>
                  </a:tcPr>
                </a:tc>
                <a:tc>
                  <a:txBody>
                    <a:bodyPr/>
                    <a:lstStyle/>
                    <a:p>
                      <a:r>
                        <a:rPr sz="1100">
                          <a:solidFill>
                            <a:srgbClr val="FFFFFF"/>
                          </a:solidFill>
                          <a:latin typeface="Calibri"/>
                        </a:rPr>
                        <a:t>Uses Scorpius tanks</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Spire Global (SPIR)</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$600M</a:t>
                      </a:r>
                    </a:p>
                  </a:txBody>
                  <a:tcPr>
                    <a:solidFill>
                      <a:srgbClr val="0D1220"/>
                    </a:solidFill>
                  </a:tcPr>
                </a:tc>
                <a:tc>
                  <a:txBody>
                    <a:bodyPr/>
                    <a:lstStyle/>
                    <a:p>
                      <a:r>
                        <a:rPr sz="1100">
                          <a:solidFill>
                            <a:srgbClr val="FFFFFF"/>
                          </a:solidFill>
                          <a:latin typeface="Calibri"/>
                        </a:rPr>
                        <a:t>$110M</a:t>
                      </a:r>
                    </a:p>
                  </a:txBody>
                  <a:tcPr>
                    <a:solidFill>
                      <a:srgbClr val="0D1220"/>
                    </a:solidFill>
                  </a:tcPr>
                </a:tc>
                <a:tc>
                  <a:txBody>
                    <a:bodyPr/>
                    <a:lstStyle/>
                    <a:p>
                      <a:r>
                        <a:rPr sz="1100">
                          <a:solidFill>
                            <a:srgbClr val="FFFFFF"/>
                          </a:solidFill>
                          <a:latin typeface="Calibri"/>
                        </a:rPr>
                        <a:t>5x</a:t>
                      </a:r>
                    </a:p>
                  </a:txBody>
                  <a:tcPr>
                    <a:solidFill>
                      <a:srgbClr val="0D1220"/>
                    </a:solidFill>
                  </a:tcPr>
                </a:tc>
                <a:tc>
                  <a:txBody>
                    <a:bodyPr/>
                    <a:lstStyle/>
                    <a:p>
                      <a:r>
                        <a:rPr sz="1100">
                          <a:solidFill>
                            <a:srgbClr val="FFFFFF"/>
                          </a:solidFill>
                          <a:latin typeface="Calibri"/>
                        </a:rPr>
                        <a:t>Space data/analytics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Mynaric (MYNA)</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$180M</a:t>
                      </a:r>
                    </a:p>
                  </a:txBody>
                  <a:tcPr>
                    <a:solidFill>
                      <a:srgbClr val="101626"/>
                    </a:solidFill>
                  </a:tcPr>
                </a:tc>
                <a:tc>
                  <a:txBody>
                    <a:bodyPr/>
                    <a:lstStyle/>
                    <a:p>
                      <a:r>
                        <a:rPr sz="1100">
                          <a:solidFill>
                            <a:srgbClr val="FFFFFF"/>
                          </a:solidFill>
                          <a:latin typeface="Calibri"/>
                        </a:rPr>
                        <a:t>$40M</a:t>
                      </a:r>
                    </a:p>
                  </a:txBody>
                  <a:tcPr>
                    <a:solidFill>
                      <a:srgbClr val="101626"/>
                    </a:solidFill>
                  </a:tcPr>
                </a:tc>
                <a:tc>
                  <a:txBody>
                    <a:bodyPr/>
                    <a:lstStyle/>
                    <a:p>
                      <a:r>
                        <a:rPr sz="1100">
                          <a:solidFill>
                            <a:srgbClr val="FFFFFF"/>
                          </a:solidFill>
                          <a:latin typeface="Calibri"/>
                        </a:rPr>
                        <a:t>4.5x</a:t>
                      </a:r>
                    </a:p>
                  </a:txBody>
                  <a:tcPr>
                    <a:solidFill>
                      <a:srgbClr val="101626"/>
                    </a:solidFill>
                  </a:tcPr>
                </a:tc>
                <a:tc>
                  <a:txBody>
                    <a:bodyPr/>
                    <a:lstStyle/>
                    <a:p>
                      <a:r>
                        <a:rPr sz="1100">
                          <a:solidFill>
                            <a:srgbClr val="FFFFFF"/>
                          </a:solidFill>
                          <a:latin typeface="Calibri"/>
                        </a:rPr>
                        <a:t>Laser comms</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Virgin Galactic (SPCE)</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$320M</a:t>
                      </a:r>
                    </a:p>
                  </a:txBody>
                  <a:tcPr>
                    <a:solidFill>
                      <a:srgbClr val="0D1220"/>
                    </a:solidFill>
                  </a:tcPr>
                </a:tc>
                <a:tc>
                  <a:txBody>
                    <a:bodyPr/>
                    <a:lstStyle/>
                    <a:p>
                      <a:r>
                        <a:rPr sz="1100">
                          <a:solidFill>
                            <a:srgbClr val="FFFFFF"/>
                          </a:solidFill>
                          <a:latin typeface="Calibri"/>
                        </a:rPr>
                        <a:t>$2M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Suborbital tourism</a:t>
                      </a:r>
                    </a:p>
                  </a:txBody>
                  <a:tcPr>
                    <a:solidFill>
                      <a:srgbClr val="0D1220"/>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7315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EXOS VALUATION: $169.7M INDEPENDENT 409A EQUITY VALUE</a:t>
            </a:r>
          </a:p>
          <a:p>
            <a:pPr>
              <a:spcBef>
                <a:spcPts val="600"/>
              </a:spcBef>
            </a:pPr>
            <a:r>
              <a:rPr sz="1100">
                <a:solidFill>
                  <a:srgbClr val="CCCCCC"/>
                </a:solidFill>
                <a:latin typeface="Calibri"/>
              </a:rPr>
              <a:t>Independent 409A (Eqvista, 3/31/26): $169.7M equity; $8.66/share common; DLOM 36.51%
Comps cross-check: 4–6x 2028E combined revenue ($25M) ≈ $100–150M EV — in line with peers adjusted for growth
CY2028 = first year of full commercial operations</a:t>
            </a:r>
          </a:p>
        </p:txBody>
      </p:sp>
      <p:sp>
        <p:nvSpPr>
          <p:cNvPr id="8" name="Rounded Rectangle 7"/>
          <p:cNvSpPr/>
          <p:nvPr/>
        </p:nvSpPr>
        <p:spPr>
          <a:xfrm>
            <a:off x="62179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WHY EXOS IS NOT VIRGIN GALACTIC</a:t>
            </a:r>
          </a:p>
          <a:p>
            <a:pPr>
              <a:spcBef>
                <a:spcPts val="600"/>
              </a:spcBef>
            </a:pPr>
            <a:r>
              <a:rPr sz="1100">
                <a:solidFill>
                  <a:srgbClr val="CCCCCC"/>
                </a:solidFill>
                <a:latin typeface="Calibri"/>
              </a:rPr>
              <a:t>• Sells to gov't/defense (contracted, recurring)
• Already profitable — SPCE never has been
• Owns irreplaceable IP (Scorpius + RDRE)
• $34M gov't funding pipeline = revenue floor</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WHY NOW? MARKET TIMING</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SPACEX IPO (2026–2027)</a:t>
            </a:r>
          </a:p>
          <a:p>
            <a:pPr>
              <a:spcBef>
                <a:spcPts val="600"/>
              </a:spcBef>
            </a:pPr>
            <a:r>
              <a:rPr sz="1100">
                <a:solidFill>
                  <a:srgbClr val="CCCCCC"/>
                </a:solidFill>
                <a:latin typeface="Calibri"/>
              </a:rPr>
              <a:t>The largest space sector event in history. Creates massive retail and institutional interest in anything space-adjacent. A publicly listed Exos captures investor allocation from those seeking diversified space exposure beyond SpaceX.</a:t>
            </a:r>
          </a:p>
        </p:txBody>
      </p:sp>
      <p:sp>
        <p:nvSpPr>
          <p:cNvPr id="7" name="Rounded Rectangle 6"/>
          <p:cNvSpPr/>
          <p:nvPr/>
        </p:nvSpPr>
        <p:spPr>
          <a:xfrm>
            <a:off x="43891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DEFENSE SPENDING SURGE</a:t>
            </a:r>
          </a:p>
          <a:p>
            <a:pPr>
              <a:spcBef>
                <a:spcPts val="600"/>
              </a:spcBef>
            </a:pPr>
            <a:r>
              <a:rPr sz="1100">
                <a:solidFill>
                  <a:srgbClr val="CCCCCC"/>
                </a:solidFill>
                <a:latin typeface="Calibri"/>
              </a:rPr>
              <a:t>NATO nations committed to 2%+ GDP on defense. U.S. and allied governments actively seeking domestic defense/space capabilities. Exos provides flight test infrastructure that supports national security objectives.</a:t>
            </a:r>
          </a:p>
        </p:txBody>
      </p:sp>
      <p:sp>
        <p:nvSpPr>
          <p:cNvPr id="8" name="Rounded Rectangle 7"/>
          <p:cNvSpPr/>
          <p:nvPr/>
        </p:nvSpPr>
        <p:spPr>
          <a:xfrm>
            <a:off x="80467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IN-SPACE REFUELING MARKET</a:t>
            </a:r>
          </a:p>
          <a:p>
            <a:pPr>
              <a:spcBef>
                <a:spcPts val="600"/>
              </a:spcBef>
            </a:pPr>
            <a:r>
              <a:rPr sz="1100">
                <a:solidFill>
                  <a:srgbClr val="CCCCCC"/>
                </a:solidFill>
                <a:latin typeface="Calibri"/>
              </a:rPr>
              <a:t>SpaceX Starship depot, NASA Artemis architecture, commercial space stations — all require cryogenic storage solutions. Scorpius is the only TRL 9 technology available commercially. Market timing is ideal for this acquisition.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0" name="Straight Connector 249">
            <a:extLst>
              <a:ext uri="{FF2B5EF4-FFF2-40B4-BE49-F238E27FC236}">
                <a16:creationId xmlns:a16="http://schemas.microsoft.com/office/drawing/2014/main" id="{05F5189F-7000-F349-8F07-549B491CE0DE}"/>
              </a:ext>
            </a:extLst>
          </p:cNvPr>
          <p:cNvCxnSpPr>
            <a:cxnSpLocks/>
            <a:stCxn id="18" idx="6"/>
          </p:cNvCxnSpPr>
          <p:nvPr/>
        </p:nvCxnSpPr>
        <p:spPr>
          <a:xfrm flipV="1">
            <a:off x="774878" y="3381363"/>
            <a:ext cx="11417123" cy="2036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B97CC9A0-2882-2743-A0BA-3C78230875D7}"/>
              </a:ext>
            </a:extLst>
          </p:cNvPr>
          <p:cNvGrpSpPr/>
          <p:nvPr/>
        </p:nvGrpSpPr>
        <p:grpSpPr>
          <a:xfrm>
            <a:off x="-6795" y="-7680"/>
            <a:ext cx="1423729" cy="2405984"/>
            <a:chOff x="-6796" y="-7680"/>
            <a:chExt cx="1423729" cy="2405984"/>
          </a:xfrm>
        </p:grpSpPr>
        <p:sp>
          <p:nvSpPr>
            <p:cNvPr id="2" name="Text Placeholder 29">
              <a:extLst>
                <a:ext uri="{FF2B5EF4-FFF2-40B4-BE49-F238E27FC236}">
                  <a16:creationId xmlns:a16="http://schemas.microsoft.com/office/drawing/2014/main" id="{0134226A-4BE6-B644-994F-1D1228F619F6}"/>
                </a:ext>
              </a:extLst>
            </p:cNvPr>
            <p:cNvSpPr txBox="1">
              <a:spLocks/>
            </p:cNvSpPr>
            <p:nvPr/>
          </p:nvSpPr>
          <p:spPr>
            <a:xfrm>
              <a:off x="93734" y="1729890"/>
              <a:ext cx="1047990" cy="668414"/>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Armadillo Aerospace Founded by John Carmack</a:t>
              </a:r>
            </a:p>
          </p:txBody>
        </p:sp>
        <p:pic>
          <p:nvPicPr>
            <p:cNvPr id="9" name="Picture 8">
              <a:extLst>
                <a:ext uri="{FF2B5EF4-FFF2-40B4-BE49-F238E27FC236}">
                  <a16:creationId xmlns:a16="http://schemas.microsoft.com/office/drawing/2014/main" id="{8E40D61C-0BD0-4047-99BF-216FCA510497}"/>
                </a:ext>
              </a:extLst>
            </p:cNvPr>
            <p:cNvPicPr>
              <a:picLocks noChangeAspect="1"/>
            </p:cNvPicPr>
            <p:nvPr/>
          </p:nvPicPr>
          <p:blipFill rotWithShape="1">
            <a:blip r:embed="rId2"/>
            <a:srcRect l="10832" r="7819"/>
            <a:stretch/>
          </p:blipFill>
          <p:spPr>
            <a:xfrm>
              <a:off x="-6796" y="-7680"/>
              <a:ext cx="1423729" cy="1223696"/>
            </a:xfrm>
            <a:prstGeom prst="rect">
              <a:avLst/>
            </a:prstGeom>
          </p:spPr>
        </p:pic>
      </p:grpSp>
      <p:grpSp>
        <p:nvGrpSpPr>
          <p:cNvPr id="172" name="Group 171">
            <a:extLst>
              <a:ext uri="{FF2B5EF4-FFF2-40B4-BE49-F238E27FC236}">
                <a16:creationId xmlns:a16="http://schemas.microsoft.com/office/drawing/2014/main" id="{F7D382C9-9F43-AC48-A2DD-48DAF2C85417}"/>
              </a:ext>
            </a:extLst>
          </p:cNvPr>
          <p:cNvGrpSpPr/>
          <p:nvPr/>
        </p:nvGrpSpPr>
        <p:grpSpPr>
          <a:xfrm>
            <a:off x="76201" y="3861926"/>
            <a:ext cx="1204347" cy="2984483"/>
            <a:chOff x="1352913" y="3854267"/>
            <a:chExt cx="1204347" cy="2984483"/>
          </a:xfrm>
        </p:grpSpPr>
        <p:sp>
          <p:nvSpPr>
            <p:cNvPr id="50" name="Text Placeholder 28">
              <a:extLst>
                <a:ext uri="{FF2B5EF4-FFF2-40B4-BE49-F238E27FC236}">
                  <a16:creationId xmlns:a16="http://schemas.microsoft.com/office/drawing/2014/main" id="{9B629466-F313-5B43-AA9F-24DD372A948B}"/>
                </a:ext>
              </a:extLst>
            </p:cNvPr>
            <p:cNvSpPr txBox="1">
              <a:spLocks/>
            </p:cNvSpPr>
            <p:nvPr/>
          </p:nvSpPr>
          <p:spPr>
            <a:xfrm>
              <a:off x="1370447" y="3854267"/>
              <a:ext cx="1179272" cy="837037"/>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84">
                <a:defRPr/>
              </a:pPr>
              <a:r>
                <a:rPr lang="en-US" dirty="0">
                  <a:solidFill>
                    <a:prstClr val="white">
                      <a:tint val="75000"/>
                    </a:prstClr>
                  </a:solidFill>
                  <a:sym typeface="Arial"/>
                </a:rPr>
                <a:t> X-Prize Competition w/Pixel and Texel Round 1 Winners</a:t>
              </a:r>
            </a:p>
          </p:txBody>
        </p:sp>
        <p:pic>
          <p:nvPicPr>
            <p:cNvPr id="51" name="Picture 50">
              <a:extLst>
                <a:ext uri="{FF2B5EF4-FFF2-40B4-BE49-F238E27FC236}">
                  <a16:creationId xmlns:a16="http://schemas.microsoft.com/office/drawing/2014/main" id="{18ED0C30-928B-9042-AC56-19102AC67733}"/>
                </a:ext>
              </a:extLst>
            </p:cNvPr>
            <p:cNvPicPr>
              <a:picLocks noChangeAspect="1"/>
            </p:cNvPicPr>
            <p:nvPr/>
          </p:nvPicPr>
          <p:blipFill>
            <a:blip r:embed="rId3"/>
            <a:stretch>
              <a:fillRect/>
            </a:stretch>
          </p:blipFill>
          <p:spPr>
            <a:xfrm>
              <a:off x="1352913" y="5752903"/>
              <a:ext cx="1204347" cy="1085847"/>
            </a:xfrm>
            <a:prstGeom prst="rect">
              <a:avLst/>
            </a:prstGeom>
          </p:spPr>
        </p:pic>
      </p:grpSp>
      <p:grpSp>
        <p:nvGrpSpPr>
          <p:cNvPr id="174" name="Group 173">
            <a:extLst>
              <a:ext uri="{FF2B5EF4-FFF2-40B4-BE49-F238E27FC236}">
                <a16:creationId xmlns:a16="http://schemas.microsoft.com/office/drawing/2014/main" id="{BD751345-26E3-C341-878A-A5CE9E689EB1}"/>
              </a:ext>
            </a:extLst>
          </p:cNvPr>
          <p:cNvGrpSpPr/>
          <p:nvPr/>
        </p:nvGrpSpPr>
        <p:grpSpPr>
          <a:xfrm>
            <a:off x="1447801" y="0"/>
            <a:ext cx="995353" cy="2434792"/>
            <a:chOff x="2294784" y="1264"/>
            <a:chExt cx="995353" cy="2434792"/>
          </a:xfrm>
        </p:grpSpPr>
        <p:sp>
          <p:nvSpPr>
            <p:cNvPr id="52" name="Text Placeholder 31">
              <a:extLst>
                <a:ext uri="{FF2B5EF4-FFF2-40B4-BE49-F238E27FC236}">
                  <a16:creationId xmlns:a16="http://schemas.microsoft.com/office/drawing/2014/main" id="{8AFE6FE1-A6FB-554B-8D70-CEC726AFC554}"/>
                </a:ext>
              </a:extLst>
            </p:cNvPr>
            <p:cNvSpPr txBox="1">
              <a:spLocks/>
            </p:cNvSpPr>
            <p:nvPr/>
          </p:nvSpPr>
          <p:spPr>
            <a:xfrm>
              <a:off x="2309841" y="1774749"/>
              <a:ext cx="980296" cy="6613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Lunar Lander Challenge 1</a:t>
              </a:r>
              <a:r>
                <a:rPr lang="en-US" sz="1200" baseline="30000" dirty="0">
                  <a:solidFill>
                    <a:prstClr val="white"/>
                  </a:solidFill>
                  <a:sym typeface="Arial"/>
                </a:rPr>
                <a:t>st</a:t>
              </a:r>
              <a:r>
                <a:rPr lang="en-US" sz="1200" dirty="0">
                  <a:solidFill>
                    <a:prstClr val="white"/>
                  </a:solidFill>
                  <a:sym typeface="Arial"/>
                </a:rPr>
                <a:t> Place</a:t>
              </a:r>
            </a:p>
          </p:txBody>
        </p:sp>
        <p:pic>
          <p:nvPicPr>
            <p:cNvPr id="53" name="Picture 52">
              <a:extLst>
                <a:ext uri="{FF2B5EF4-FFF2-40B4-BE49-F238E27FC236}">
                  <a16:creationId xmlns:a16="http://schemas.microsoft.com/office/drawing/2014/main" id="{81D16C87-7D80-F342-A24D-9B4F977C1214}"/>
                </a:ext>
              </a:extLst>
            </p:cNvPr>
            <p:cNvPicPr>
              <a:picLocks noChangeAspect="1"/>
            </p:cNvPicPr>
            <p:nvPr/>
          </p:nvPicPr>
          <p:blipFill>
            <a:blip r:embed="rId4"/>
            <a:stretch>
              <a:fillRect/>
            </a:stretch>
          </p:blipFill>
          <p:spPr>
            <a:xfrm>
              <a:off x="2294784" y="1264"/>
              <a:ext cx="873950" cy="1202595"/>
            </a:xfrm>
            <a:prstGeom prst="rect">
              <a:avLst/>
            </a:prstGeom>
          </p:spPr>
        </p:pic>
      </p:grpSp>
      <p:grpSp>
        <p:nvGrpSpPr>
          <p:cNvPr id="171" name="Group 170">
            <a:extLst>
              <a:ext uri="{FF2B5EF4-FFF2-40B4-BE49-F238E27FC236}">
                <a16:creationId xmlns:a16="http://schemas.microsoft.com/office/drawing/2014/main" id="{7CA0F7DE-FA5B-AC42-A5A6-AAA615674B4E}"/>
              </a:ext>
            </a:extLst>
          </p:cNvPr>
          <p:cNvGrpSpPr/>
          <p:nvPr/>
        </p:nvGrpSpPr>
        <p:grpSpPr>
          <a:xfrm>
            <a:off x="1334350" y="3689003"/>
            <a:ext cx="1421163" cy="3165022"/>
            <a:chOff x="2652891" y="3689002"/>
            <a:chExt cx="1421163" cy="3165022"/>
          </a:xfrm>
        </p:grpSpPr>
        <p:sp>
          <p:nvSpPr>
            <p:cNvPr id="64" name="Text Placeholder 30">
              <a:extLst>
                <a:ext uri="{FF2B5EF4-FFF2-40B4-BE49-F238E27FC236}">
                  <a16:creationId xmlns:a16="http://schemas.microsoft.com/office/drawing/2014/main" id="{94F49064-4A41-9B4B-8A3E-DE0C19202185}"/>
                </a:ext>
              </a:extLst>
            </p:cNvPr>
            <p:cNvSpPr txBox="1">
              <a:spLocks/>
            </p:cNvSpPr>
            <p:nvPr/>
          </p:nvSpPr>
          <p:spPr>
            <a:xfrm>
              <a:off x="2652891" y="3689002"/>
              <a:ext cx="1301208" cy="1177694"/>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84">
                <a:defRPr/>
              </a:pPr>
              <a:r>
                <a:rPr lang="en-US" dirty="0">
                  <a:solidFill>
                    <a:prstClr val="white">
                      <a:tint val="75000"/>
                    </a:prstClr>
                  </a:solidFill>
                  <a:sym typeface="Arial"/>
                </a:rPr>
                <a:t>Lunar lander Challenge2009 Armadillo prize $ winner- NASA Morpheus Sale</a:t>
              </a:r>
            </a:p>
          </p:txBody>
        </p:sp>
        <p:pic>
          <p:nvPicPr>
            <p:cNvPr id="65" name="Picture 64">
              <a:extLst>
                <a:ext uri="{FF2B5EF4-FFF2-40B4-BE49-F238E27FC236}">
                  <a16:creationId xmlns:a16="http://schemas.microsoft.com/office/drawing/2014/main" id="{4F3EE0CA-C51F-FA49-858F-6605AB5D135B}"/>
                </a:ext>
              </a:extLst>
            </p:cNvPr>
            <p:cNvPicPr>
              <a:picLocks noChangeAspect="1"/>
            </p:cNvPicPr>
            <p:nvPr/>
          </p:nvPicPr>
          <p:blipFill>
            <a:blip r:embed="rId5"/>
            <a:stretch>
              <a:fillRect/>
            </a:stretch>
          </p:blipFill>
          <p:spPr>
            <a:xfrm>
              <a:off x="2690142" y="5760562"/>
              <a:ext cx="1383912" cy="1093462"/>
            </a:xfrm>
            <a:prstGeom prst="rect">
              <a:avLst/>
            </a:prstGeom>
          </p:spPr>
        </p:pic>
      </p:grpSp>
      <p:grpSp>
        <p:nvGrpSpPr>
          <p:cNvPr id="175" name="Group 174">
            <a:extLst>
              <a:ext uri="{FF2B5EF4-FFF2-40B4-BE49-F238E27FC236}">
                <a16:creationId xmlns:a16="http://schemas.microsoft.com/office/drawing/2014/main" id="{9755081C-60D2-DB48-8DBC-DCFE562F53F7}"/>
              </a:ext>
            </a:extLst>
          </p:cNvPr>
          <p:cNvGrpSpPr/>
          <p:nvPr/>
        </p:nvGrpSpPr>
        <p:grpSpPr>
          <a:xfrm>
            <a:off x="2330660" y="-4627"/>
            <a:ext cx="1550463" cy="2245769"/>
            <a:chOff x="2516713" y="12957"/>
            <a:chExt cx="2696293" cy="4058372"/>
          </a:xfrm>
        </p:grpSpPr>
        <p:sp>
          <p:nvSpPr>
            <p:cNvPr id="111" name="Text Placeholder 33">
              <a:extLst>
                <a:ext uri="{FF2B5EF4-FFF2-40B4-BE49-F238E27FC236}">
                  <a16:creationId xmlns:a16="http://schemas.microsoft.com/office/drawing/2014/main" id="{7B7F0C78-F6B8-864A-BDB5-DF3758C31578}"/>
                </a:ext>
              </a:extLst>
            </p:cNvPr>
            <p:cNvSpPr txBox="1">
              <a:spLocks/>
            </p:cNvSpPr>
            <p:nvPr/>
          </p:nvSpPr>
          <p:spPr>
            <a:xfrm>
              <a:off x="3021265" y="3234291"/>
              <a:ext cx="1840514" cy="8370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Rocket Racing League  development program</a:t>
              </a:r>
            </a:p>
          </p:txBody>
        </p:sp>
        <p:pic>
          <p:nvPicPr>
            <p:cNvPr id="112" name="Picture 111">
              <a:extLst>
                <a:ext uri="{FF2B5EF4-FFF2-40B4-BE49-F238E27FC236}">
                  <a16:creationId xmlns:a16="http://schemas.microsoft.com/office/drawing/2014/main" id="{CE2744DA-1242-8240-BA05-207078298168}"/>
                </a:ext>
              </a:extLst>
            </p:cNvPr>
            <p:cNvPicPr>
              <a:picLocks noChangeAspect="1"/>
            </p:cNvPicPr>
            <p:nvPr/>
          </p:nvPicPr>
          <p:blipFill>
            <a:blip r:embed="rId6"/>
            <a:stretch>
              <a:fillRect/>
            </a:stretch>
          </p:blipFill>
          <p:spPr>
            <a:xfrm>
              <a:off x="2516713" y="12957"/>
              <a:ext cx="2696293" cy="2236248"/>
            </a:xfrm>
            <a:prstGeom prst="rect">
              <a:avLst/>
            </a:prstGeom>
          </p:spPr>
        </p:pic>
      </p:grpSp>
      <p:grpSp>
        <p:nvGrpSpPr>
          <p:cNvPr id="170" name="Group 169">
            <a:extLst>
              <a:ext uri="{FF2B5EF4-FFF2-40B4-BE49-F238E27FC236}">
                <a16:creationId xmlns:a16="http://schemas.microsoft.com/office/drawing/2014/main" id="{74A6F9BE-F17E-D842-AD5F-39182FA2099B}"/>
              </a:ext>
            </a:extLst>
          </p:cNvPr>
          <p:cNvGrpSpPr/>
          <p:nvPr/>
        </p:nvGrpSpPr>
        <p:grpSpPr>
          <a:xfrm>
            <a:off x="2847158" y="3861564"/>
            <a:ext cx="1301824" cy="3005478"/>
            <a:chOff x="10370476" y="3852521"/>
            <a:chExt cx="1301824" cy="3005478"/>
          </a:xfrm>
        </p:grpSpPr>
        <p:sp>
          <p:nvSpPr>
            <p:cNvPr id="115" name="Text Placeholder 32">
              <a:extLst>
                <a:ext uri="{FF2B5EF4-FFF2-40B4-BE49-F238E27FC236}">
                  <a16:creationId xmlns:a16="http://schemas.microsoft.com/office/drawing/2014/main" id="{9800EAC4-26D8-3E43-88E1-8DBC2DF7B2DE}"/>
                </a:ext>
              </a:extLst>
            </p:cNvPr>
            <p:cNvSpPr txBox="1">
              <a:spLocks/>
            </p:cNvSpPr>
            <p:nvPr/>
          </p:nvSpPr>
          <p:spPr>
            <a:xfrm>
              <a:off x="10406362" y="3852521"/>
              <a:ext cx="1256137" cy="837037"/>
            </a:xfrm>
            <a:prstGeom prst="rect">
              <a:avLst/>
            </a:prstGeom>
            <a:ln w="6350">
              <a:noFill/>
            </a:ln>
          </p:spPr>
          <p:txBody>
            <a:bodyPr vert="horz" lIns="91440" tIns="45720" rIns="91440" bIns="45720" rtlCol="0">
              <a:norm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latin typeface="Duplicate Sans Medium" pitchFamily="2" charset="77"/>
                  <a:sym typeface="Arial"/>
                </a:rPr>
                <a:t>2010-2013</a:t>
              </a:r>
              <a:r>
                <a:rPr lang="en-US" dirty="0">
                  <a:solidFill>
                    <a:prstClr val="white"/>
                  </a:solidFill>
                  <a:sym typeface="Arial"/>
                </a:rPr>
                <a:t> STIG Rocket flies to 95km</a:t>
              </a:r>
            </a:p>
          </p:txBody>
        </p:sp>
        <p:pic>
          <p:nvPicPr>
            <p:cNvPr id="118" name="Picture 117">
              <a:extLst>
                <a:ext uri="{FF2B5EF4-FFF2-40B4-BE49-F238E27FC236}">
                  <a16:creationId xmlns:a16="http://schemas.microsoft.com/office/drawing/2014/main" id="{AA1FFEEA-2509-B94C-B49A-E866AD2FFF10}"/>
                </a:ext>
              </a:extLst>
            </p:cNvPr>
            <p:cNvPicPr>
              <a:picLocks noChangeAspect="1"/>
            </p:cNvPicPr>
            <p:nvPr/>
          </p:nvPicPr>
          <p:blipFill>
            <a:blip r:embed="rId7"/>
            <a:stretch>
              <a:fillRect/>
            </a:stretch>
          </p:blipFill>
          <p:spPr>
            <a:xfrm>
              <a:off x="10370477" y="5755678"/>
              <a:ext cx="909394" cy="1102320"/>
            </a:xfrm>
            <a:prstGeom prst="rect">
              <a:avLst/>
            </a:prstGeom>
          </p:spPr>
        </p:pic>
        <p:pic>
          <p:nvPicPr>
            <p:cNvPr id="116" name="Picture 115">
              <a:extLst>
                <a:ext uri="{FF2B5EF4-FFF2-40B4-BE49-F238E27FC236}">
                  <a16:creationId xmlns:a16="http://schemas.microsoft.com/office/drawing/2014/main" id="{D388C5FD-7DC7-394A-83BA-A97CC56179C9}"/>
                </a:ext>
              </a:extLst>
            </p:cNvPr>
            <p:cNvPicPr>
              <a:picLocks noChangeAspect="1"/>
            </p:cNvPicPr>
            <p:nvPr/>
          </p:nvPicPr>
          <p:blipFill>
            <a:blip r:embed="rId8"/>
            <a:stretch>
              <a:fillRect/>
            </a:stretch>
          </p:blipFill>
          <p:spPr>
            <a:xfrm>
              <a:off x="10370476" y="5735318"/>
              <a:ext cx="441114" cy="545826"/>
            </a:xfrm>
            <a:prstGeom prst="rect">
              <a:avLst/>
            </a:prstGeom>
          </p:spPr>
        </p:pic>
        <p:pic>
          <p:nvPicPr>
            <p:cNvPr id="117" name="Picture 116">
              <a:extLst>
                <a:ext uri="{FF2B5EF4-FFF2-40B4-BE49-F238E27FC236}">
                  <a16:creationId xmlns:a16="http://schemas.microsoft.com/office/drawing/2014/main" id="{514848F5-FDDB-0848-A81B-26D9FD894D19}"/>
                </a:ext>
              </a:extLst>
            </p:cNvPr>
            <p:cNvPicPr>
              <a:picLocks noChangeAspect="1"/>
            </p:cNvPicPr>
            <p:nvPr/>
          </p:nvPicPr>
          <p:blipFill>
            <a:blip r:embed="rId9"/>
            <a:stretch>
              <a:fillRect/>
            </a:stretch>
          </p:blipFill>
          <p:spPr>
            <a:xfrm>
              <a:off x="11325203" y="5746746"/>
              <a:ext cx="347097" cy="1111253"/>
            </a:xfrm>
            <a:prstGeom prst="rect">
              <a:avLst/>
            </a:prstGeom>
          </p:spPr>
        </p:pic>
      </p:grpSp>
      <p:grpSp>
        <p:nvGrpSpPr>
          <p:cNvPr id="22" name="Group 21">
            <a:extLst>
              <a:ext uri="{FF2B5EF4-FFF2-40B4-BE49-F238E27FC236}">
                <a16:creationId xmlns:a16="http://schemas.microsoft.com/office/drawing/2014/main" id="{E602C090-3748-EE41-9733-27DA275AE7B4}"/>
              </a:ext>
            </a:extLst>
          </p:cNvPr>
          <p:cNvGrpSpPr/>
          <p:nvPr/>
        </p:nvGrpSpPr>
        <p:grpSpPr>
          <a:xfrm>
            <a:off x="458331" y="2662318"/>
            <a:ext cx="316547" cy="897677"/>
            <a:chOff x="458330" y="2662318"/>
            <a:chExt cx="316547" cy="897677"/>
          </a:xfrm>
        </p:grpSpPr>
        <p:grpSp>
          <p:nvGrpSpPr>
            <p:cNvPr id="20" name="Group 19">
              <a:extLst>
                <a:ext uri="{FF2B5EF4-FFF2-40B4-BE49-F238E27FC236}">
                  <a16:creationId xmlns:a16="http://schemas.microsoft.com/office/drawing/2014/main" id="{78BA7303-DE4C-904C-832D-4FBC8EA2BAA3}"/>
                </a:ext>
              </a:extLst>
            </p:cNvPr>
            <p:cNvGrpSpPr/>
            <p:nvPr/>
          </p:nvGrpSpPr>
          <p:grpSpPr>
            <a:xfrm>
              <a:off x="458330" y="3243448"/>
              <a:ext cx="316547" cy="316547"/>
              <a:chOff x="762004" y="3201390"/>
              <a:chExt cx="457195" cy="457195"/>
            </a:xfrm>
          </p:grpSpPr>
          <p:sp>
            <p:nvSpPr>
              <p:cNvPr id="16" name="Oval 15">
                <a:extLst>
                  <a:ext uri="{FF2B5EF4-FFF2-40B4-BE49-F238E27FC236}">
                    <a16:creationId xmlns:a16="http://schemas.microsoft.com/office/drawing/2014/main" id="{9FCBBC82-AC46-9B4E-91EC-83CEDA23961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8" name="Oval 17">
                <a:extLst>
                  <a:ext uri="{FF2B5EF4-FFF2-40B4-BE49-F238E27FC236}">
                    <a16:creationId xmlns:a16="http://schemas.microsoft.com/office/drawing/2014/main" id="{6757FD6F-726E-9846-A73A-FE48459EBD8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 name="Oval 18">
                <a:extLst>
                  <a:ext uri="{FF2B5EF4-FFF2-40B4-BE49-F238E27FC236}">
                    <a16:creationId xmlns:a16="http://schemas.microsoft.com/office/drawing/2014/main" id="{F2559950-0179-9947-9CB8-326A3154920E}"/>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43" name="Straight Connector 42">
              <a:extLst>
                <a:ext uri="{FF2B5EF4-FFF2-40B4-BE49-F238E27FC236}">
                  <a16:creationId xmlns:a16="http://schemas.microsoft.com/office/drawing/2014/main" id="{F2DA4D71-EFF6-FB46-BF9C-B59369DE4744}"/>
                </a:ext>
              </a:extLst>
            </p:cNvPr>
            <p:cNvCxnSpPr>
              <a:cxnSpLocks/>
              <a:stCxn id="16" idx="0"/>
            </p:cNvCxnSpPr>
            <p:nvPr/>
          </p:nvCxnSpPr>
          <p:spPr>
            <a:xfrm flipV="1">
              <a:off x="616603" y="2662318"/>
              <a:ext cx="0" cy="59399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3" name="Rectangle 122">
            <a:extLst>
              <a:ext uri="{FF2B5EF4-FFF2-40B4-BE49-F238E27FC236}">
                <a16:creationId xmlns:a16="http://schemas.microsoft.com/office/drawing/2014/main" id="{D3E420DB-D41C-EC48-A371-C917AFDF0950}"/>
              </a:ext>
            </a:extLst>
          </p:cNvPr>
          <p:cNvSpPr/>
          <p:nvPr/>
        </p:nvSpPr>
        <p:spPr>
          <a:xfrm>
            <a:off x="370857"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2000</a:t>
            </a:r>
          </a:p>
        </p:txBody>
      </p:sp>
      <p:sp>
        <p:nvSpPr>
          <p:cNvPr id="70" name="Oval 69">
            <a:extLst>
              <a:ext uri="{FF2B5EF4-FFF2-40B4-BE49-F238E27FC236}">
                <a16:creationId xmlns:a16="http://schemas.microsoft.com/office/drawing/2014/main" id="{3A791FC6-4928-2F4D-8D14-BA5D589831A9}"/>
              </a:ext>
            </a:extLst>
          </p:cNvPr>
          <p:cNvSpPr/>
          <p:nvPr/>
        </p:nvSpPr>
        <p:spPr>
          <a:xfrm rot="10800000">
            <a:off x="1000471" y="3257328"/>
            <a:ext cx="316547" cy="316547"/>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cxnSp>
        <p:nvCxnSpPr>
          <p:cNvPr id="139" name="Straight Connector 138">
            <a:extLst>
              <a:ext uri="{FF2B5EF4-FFF2-40B4-BE49-F238E27FC236}">
                <a16:creationId xmlns:a16="http://schemas.microsoft.com/office/drawing/2014/main" id="{B9B06481-E239-C04A-A089-FCCD4A1F48B0}"/>
              </a:ext>
            </a:extLst>
          </p:cNvPr>
          <p:cNvCxnSpPr>
            <a:cxnSpLocks/>
          </p:cNvCxnSpPr>
          <p:nvPr/>
        </p:nvCxnSpPr>
        <p:spPr>
          <a:xfrm flipH="1">
            <a:off x="6179300" y="4260467"/>
            <a:ext cx="440107" cy="68376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62" name="Rectangle 161">
            <a:extLst>
              <a:ext uri="{FF2B5EF4-FFF2-40B4-BE49-F238E27FC236}">
                <a16:creationId xmlns:a16="http://schemas.microsoft.com/office/drawing/2014/main" id="{AFDBAE9B-9D8C-6347-81D4-369DC63E7832}"/>
              </a:ext>
            </a:extLst>
          </p:cNvPr>
          <p:cNvSpPr/>
          <p:nvPr/>
        </p:nvSpPr>
        <p:spPr>
          <a:xfrm>
            <a:off x="4157499" y="3232194"/>
            <a:ext cx="184731" cy="338554"/>
          </a:xfrm>
          <a:prstGeom prst="rect">
            <a:avLst/>
          </a:prstGeom>
        </p:spPr>
        <p:txBody>
          <a:bodyPr wrap="none">
            <a:spAutoFit/>
          </a:bodyPr>
          <a:lstStyle/>
          <a:p>
            <a:pPr defTabSz="914384">
              <a:defRPr/>
            </a:pPr>
            <a:endParaRPr lang="en-US" sz="1600" dirty="0">
              <a:solidFill>
                <a:prstClr val="white"/>
              </a:solidFill>
              <a:latin typeface="Calibri" panose="020F0502020204030204"/>
              <a:cs typeface="Arial"/>
              <a:sym typeface="Arial"/>
            </a:endParaRPr>
          </a:p>
        </p:txBody>
      </p:sp>
      <p:sp>
        <p:nvSpPr>
          <p:cNvPr id="181" name="Text Placeholder 32">
            <a:extLst>
              <a:ext uri="{FF2B5EF4-FFF2-40B4-BE49-F238E27FC236}">
                <a16:creationId xmlns:a16="http://schemas.microsoft.com/office/drawing/2014/main" id="{D3788FEE-C5AD-CC43-B5E5-2EAF73969D9D}"/>
              </a:ext>
            </a:extLst>
          </p:cNvPr>
          <p:cNvSpPr txBox="1">
            <a:spLocks/>
          </p:cNvSpPr>
          <p:nvPr/>
        </p:nvSpPr>
        <p:spPr>
          <a:xfrm>
            <a:off x="3684237" y="1774751"/>
            <a:ext cx="1330540" cy="384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Super Mod</a:t>
            </a:r>
          </a:p>
          <a:p>
            <a:pPr marL="0" indent="0" algn="ctr" defTabSz="914384">
              <a:buNone/>
              <a:defRPr/>
            </a:pPr>
            <a:r>
              <a:rPr lang="en-US" sz="1200" dirty="0">
                <a:solidFill>
                  <a:prstClr val="white"/>
                </a:solidFill>
                <a:sym typeface="Arial"/>
              </a:rPr>
              <a:t>(VTVL)</a:t>
            </a:r>
          </a:p>
        </p:txBody>
      </p:sp>
      <p:pic>
        <p:nvPicPr>
          <p:cNvPr id="182" name="Picture 181">
            <a:extLst>
              <a:ext uri="{FF2B5EF4-FFF2-40B4-BE49-F238E27FC236}">
                <a16:creationId xmlns:a16="http://schemas.microsoft.com/office/drawing/2014/main" id="{195BAC4E-5D8F-0142-9316-20DAF4D3054A}"/>
              </a:ext>
            </a:extLst>
          </p:cNvPr>
          <p:cNvPicPr>
            <a:picLocks noChangeAspect="1"/>
          </p:cNvPicPr>
          <p:nvPr/>
        </p:nvPicPr>
        <p:blipFill rotWithShape="1">
          <a:blip r:embed="rId10"/>
          <a:srcRect t="3436"/>
          <a:stretch/>
        </p:blipFill>
        <p:spPr>
          <a:xfrm>
            <a:off x="3898333" y="-7679"/>
            <a:ext cx="945249" cy="1215387"/>
          </a:xfrm>
          <a:prstGeom prst="rect">
            <a:avLst/>
          </a:prstGeom>
        </p:spPr>
      </p:pic>
      <p:cxnSp>
        <p:nvCxnSpPr>
          <p:cNvPr id="187" name="Straight Connector 186">
            <a:extLst>
              <a:ext uri="{FF2B5EF4-FFF2-40B4-BE49-F238E27FC236}">
                <a16:creationId xmlns:a16="http://schemas.microsoft.com/office/drawing/2014/main" id="{3FC663D2-0D67-824C-8442-C6FB3023AB64}"/>
              </a:ext>
            </a:extLst>
          </p:cNvPr>
          <p:cNvCxnSpPr>
            <a:cxnSpLocks/>
            <a:stCxn id="179" idx="0"/>
          </p:cNvCxnSpPr>
          <p:nvPr/>
        </p:nvCxnSpPr>
        <p:spPr>
          <a:xfrm flipV="1">
            <a:off x="4407845" y="2660154"/>
            <a:ext cx="0" cy="576055"/>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1" name="Group 200">
            <a:extLst>
              <a:ext uri="{FF2B5EF4-FFF2-40B4-BE49-F238E27FC236}">
                <a16:creationId xmlns:a16="http://schemas.microsoft.com/office/drawing/2014/main" id="{0EB1963F-7B5D-754D-B655-579A9D2FC104}"/>
              </a:ext>
            </a:extLst>
          </p:cNvPr>
          <p:cNvGrpSpPr/>
          <p:nvPr/>
        </p:nvGrpSpPr>
        <p:grpSpPr>
          <a:xfrm>
            <a:off x="4153036" y="3824829"/>
            <a:ext cx="1780283" cy="3006793"/>
            <a:chOff x="1078123" y="3862798"/>
            <a:chExt cx="1780283" cy="3006793"/>
          </a:xfrm>
        </p:grpSpPr>
        <p:sp>
          <p:nvSpPr>
            <p:cNvPr id="202" name="Text Placeholder 32">
              <a:extLst>
                <a:ext uri="{FF2B5EF4-FFF2-40B4-BE49-F238E27FC236}">
                  <a16:creationId xmlns:a16="http://schemas.microsoft.com/office/drawing/2014/main" id="{7569ED2E-CB43-4F48-89A2-92A0F234B407}"/>
                </a:ext>
              </a:extLst>
            </p:cNvPr>
            <p:cNvSpPr txBox="1">
              <a:spLocks/>
            </p:cNvSpPr>
            <p:nvPr/>
          </p:nvSpPr>
          <p:spPr>
            <a:xfrm>
              <a:off x="1078123" y="3862798"/>
              <a:ext cx="169242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Exos Aerospace continues funding of Armadillo Team with new management and commercial objectives</a:t>
              </a:r>
            </a:p>
          </p:txBody>
        </p:sp>
        <p:pic>
          <p:nvPicPr>
            <p:cNvPr id="203" name="Picture 202">
              <a:extLst>
                <a:ext uri="{FF2B5EF4-FFF2-40B4-BE49-F238E27FC236}">
                  <a16:creationId xmlns:a16="http://schemas.microsoft.com/office/drawing/2014/main" id="{C6FEB611-574D-FB42-85E7-438A86909103}"/>
                </a:ext>
              </a:extLst>
            </p:cNvPr>
            <p:cNvPicPr>
              <a:picLocks noChangeAspect="1"/>
            </p:cNvPicPr>
            <p:nvPr/>
          </p:nvPicPr>
          <p:blipFill>
            <a:blip r:embed="rId11"/>
            <a:stretch>
              <a:fillRect/>
            </a:stretch>
          </p:blipFill>
          <p:spPr>
            <a:xfrm>
              <a:off x="1185382" y="5758403"/>
              <a:ext cx="1673024" cy="1111188"/>
            </a:xfrm>
            <a:prstGeom prst="rect">
              <a:avLst/>
            </a:prstGeom>
          </p:spPr>
        </p:pic>
      </p:grpSp>
      <p:sp>
        <p:nvSpPr>
          <p:cNvPr id="224" name="Text Placeholder 32">
            <a:extLst>
              <a:ext uri="{FF2B5EF4-FFF2-40B4-BE49-F238E27FC236}">
                <a16:creationId xmlns:a16="http://schemas.microsoft.com/office/drawing/2014/main" id="{317E6F62-0FFA-1A4A-8F24-C46C10827361}"/>
              </a:ext>
            </a:extLst>
          </p:cNvPr>
          <p:cNvSpPr txBox="1">
            <a:spLocks/>
          </p:cNvSpPr>
          <p:nvPr/>
        </p:nvSpPr>
        <p:spPr>
          <a:xfrm>
            <a:off x="4979487" y="1695205"/>
            <a:ext cx="1611297"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4 Launches and 3 recoveries on 1</a:t>
            </a:r>
            <a:r>
              <a:rPr lang="en-US" baseline="30000" dirty="0">
                <a:solidFill>
                  <a:prstClr val="white"/>
                </a:solidFill>
                <a:sym typeface="Arial"/>
              </a:rPr>
              <a:t>st </a:t>
            </a:r>
            <a:r>
              <a:rPr lang="en-US" dirty="0">
                <a:solidFill>
                  <a:prstClr val="white"/>
                </a:solidFill>
                <a:sym typeface="Arial"/>
              </a:rPr>
              <a:t> SARGE vehicle</a:t>
            </a:r>
          </a:p>
          <a:p>
            <a:pPr defTabSz="914384">
              <a:defRPr/>
            </a:pPr>
            <a:r>
              <a:rPr lang="en-US" dirty="0">
                <a:solidFill>
                  <a:prstClr val="white"/>
                </a:solidFill>
                <a:latin typeface="Duplicate Sans Medium" pitchFamily="2" charset="77"/>
                <a:sym typeface="Arial"/>
              </a:rPr>
              <a:t>Aug 2018 – Oct 2019</a:t>
            </a:r>
          </a:p>
          <a:p>
            <a:pPr defTabSz="914384">
              <a:defRPr/>
            </a:pPr>
            <a:endParaRPr lang="en-US" dirty="0">
              <a:solidFill>
                <a:prstClr val="white"/>
              </a:solidFill>
              <a:sym typeface="Arial"/>
            </a:endParaRPr>
          </a:p>
        </p:txBody>
      </p:sp>
      <p:pic>
        <p:nvPicPr>
          <p:cNvPr id="225" name="Picture 224">
            <a:extLst>
              <a:ext uri="{FF2B5EF4-FFF2-40B4-BE49-F238E27FC236}">
                <a16:creationId xmlns:a16="http://schemas.microsoft.com/office/drawing/2014/main" id="{839BA090-4058-F244-9834-F51CE5F59A1A}"/>
              </a:ext>
            </a:extLst>
          </p:cNvPr>
          <p:cNvPicPr>
            <a:picLocks noChangeAspect="1"/>
          </p:cNvPicPr>
          <p:nvPr/>
        </p:nvPicPr>
        <p:blipFill>
          <a:blip r:embed="rId12"/>
          <a:stretch>
            <a:fillRect/>
          </a:stretch>
        </p:blipFill>
        <p:spPr>
          <a:xfrm>
            <a:off x="5383721" y="-32336"/>
            <a:ext cx="994885" cy="1231761"/>
          </a:xfrm>
          <a:prstGeom prst="rect">
            <a:avLst/>
          </a:prstGeom>
        </p:spPr>
      </p:pic>
      <p:pic>
        <p:nvPicPr>
          <p:cNvPr id="226" name="Picture 225">
            <a:extLst>
              <a:ext uri="{FF2B5EF4-FFF2-40B4-BE49-F238E27FC236}">
                <a16:creationId xmlns:a16="http://schemas.microsoft.com/office/drawing/2014/main" id="{01161775-7701-6445-BAF8-B83595F4D6E0}"/>
              </a:ext>
            </a:extLst>
          </p:cNvPr>
          <p:cNvPicPr>
            <a:picLocks noChangeAspect="1"/>
          </p:cNvPicPr>
          <p:nvPr/>
        </p:nvPicPr>
        <p:blipFill rotWithShape="1">
          <a:blip r:embed="rId13"/>
          <a:srcRect l="13981"/>
          <a:stretch/>
        </p:blipFill>
        <p:spPr>
          <a:xfrm>
            <a:off x="4901029" y="-24011"/>
            <a:ext cx="746824" cy="1223436"/>
          </a:xfrm>
          <a:prstGeom prst="rect">
            <a:avLst/>
          </a:prstGeom>
        </p:spPr>
      </p:pic>
      <p:pic>
        <p:nvPicPr>
          <p:cNvPr id="227" name="Picture 226">
            <a:extLst>
              <a:ext uri="{FF2B5EF4-FFF2-40B4-BE49-F238E27FC236}">
                <a16:creationId xmlns:a16="http://schemas.microsoft.com/office/drawing/2014/main" id="{59E856E3-0134-A349-B382-39FB07E31B77}"/>
              </a:ext>
            </a:extLst>
          </p:cNvPr>
          <p:cNvPicPr>
            <a:picLocks noChangeAspect="1"/>
          </p:cNvPicPr>
          <p:nvPr/>
        </p:nvPicPr>
        <p:blipFill>
          <a:blip r:embed="rId14"/>
          <a:stretch>
            <a:fillRect/>
          </a:stretch>
        </p:blipFill>
        <p:spPr>
          <a:xfrm>
            <a:off x="5946398" y="-38609"/>
            <a:ext cx="592559" cy="395039"/>
          </a:xfrm>
          <a:prstGeom prst="rect">
            <a:avLst/>
          </a:prstGeom>
        </p:spPr>
      </p:pic>
      <p:grpSp>
        <p:nvGrpSpPr>
          <p:cNvPr id="237" name="Group 236">
            <a:extLst>
              <a:ext uri="{FF2B5EF4-FFF2-40B4-BE49-F238E27FC236}">
                <a16:creationId xmlns:a16="http://schemas.microsoft.com/office/drawing/2014/main" id="{47FBA38D-3624-324C-A353-15294698B577}"/>
              </a:ext>
            </a:extLst>
          </p:cNvPr>
          <p:cNvGrpSpPr/>
          <p:nvPr/>
        </p:nvGrpSpPr>
        <p:grpSpPr>
          <a:xfrm>
            <a:off x="6089400" y="3959646"/>
            <a:ext cx="1964807" cy="2871977"/>
            <a:chOff x="4118160" y="4185575"/>
            <a:chExt cx="2210315" cy="2996494"/>
          </a:xfrm>
        </p:grpSpPr>
        <p:sp>
          <p:nvSpPr>
            <p:cNvPr id="238" name="Text Placeholder 32">
              <a:extLst>
                <a:ext uri="{FF2B5EF4-FFF2-40B4-BE49-F238E27FC236}">
                  <a16:creationId xmlns:a16="http://schemas.microsoft.com/office/drawing/2014/main" id="{735AC0AF-F008-C84F-8442-A7DF7D886174}"/>
                </a:ext>
              </a:extLst>
            </p:cNvPr>
            <p:cNvSpPr txBox="1">
              <a:spLocks/>
            </p:cNvSpPr>
            <p:nvPr/>
          </p:nvSpPr>
          <p:spPr>
            <a:xfrm>
              <a:off x="4469736" y="4185575"/>
              <a:ext cx="142933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2021 Phase II Air Force Hypersonic Contract</a:t>
              </a:r>
            </a:p>
          </p:txBody>
        </p:sp>
        <p:pic>
          <p:nvPicPr>
            <p:cNvPr id="240" name="Picture 239">
              <a:extLst>
                <a:ext uri="{FF2B5EF4-FFF2-40B4-BE49-F238E27FC236}">
                  <a16:creationId xmlns:a16="http://schemas.microsoft.com/office/drawing/2014/main" id="{64E35E0C-20F6-3A4D-A921-3195FDF01A06}"/>
                </a:ext>
              </a:extLst>
            </p:cNvPr>
            <p:cNvPicPr>
              <a:picLocks noChangeAspect="1"/>
            </p:cNvPicPr>
            <p:nvPr/>
          </p:nvPicPr>
          <p:blipFill>
            <a:blip r:embed="rId15"/>
            <a:stretch>
              <a:fillRect/>
            </a:stretch>
          </p:blipFill>
          <p:spPr>
            <a:xfrm>
              <a:off x="4118160" y="6037589"/>
              <a:ext cx="2210315" cy="1144480"/>
            </a:xfrm>
            <a:prstGeom prst="rect">
              <a:avLst/>
            </a:prstGeom>
          </p:spPr>
        </p:pic>
      </p:grpSp>
      <p:cxnSp>
        <p:nvCxnSpPr>
          <p:cNvPr id="245" name="Straight Connector 244">
            <a:extLst>
              <a:ext uri="{FF2B5EF4-FFF2-40B4-BE49-F238E27FC236}">
                <a16:creationId xmlns:a16="http://schemas.microsoft.com/office/drawing/2014/main" id="{9FBC1DE2-1C20-444F-B0F4-E35A37D1F2C0}"/>
              </a:ext>
            </a:extLst>
          </p:cNvPr>
          <p:cNvCxnSpPr>
            <a:cxnSpLocks/>
          </p:cNvCxnSpPr>
          <p:nvPr/>
        </p:nvCxnSpPr>
        <p:spPr>
          <a:xfrm flipH="1" flipV="1">
            <a:off x="5767673" y="2650679"/>
            <a:ext cx="1312" cy="61001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3113EB33-ED6B-3949-8484-0FB238054A85}"/>
              </a:ext>
            </a:extLst>
          </p:cNvPr>
          <p:cNvGrpSpPr/>
          <p:nvPr/>
        </p:nvGrpSpPr>
        <p:grpSpPr>
          <a:xfrm>
            <a:off x="10769703" y="-437011"/>
            <a:ext cx="369332" cy="6856508"/>
            <a:chOff x="9308068" y="487595"/>
            <a:chExt cx="369332" cy="6599005"/>
          </a:xfrm>
        </p:grpSpPr>
        <p:cxnSp>
          <p:nvCxnSpPr>
            <p:cNvPr id="254" name="Straight Connector 253">
              <a:extLst>
                <a:ext uri="{FF2B5EF4-FFF2-40B4-BE49-F238E27FC236}">
                  <a16:creationId xmlns:a16="http://schemas.microsoft.com/office/drawing/2014/main" id="{1F018645-0BFB-624C-91C0-B130ABD0FB0B}"/>
                </a:ext>
              </a:extLst>
            </p:cNvPr>
            <p:cNvCxnSpPr>
              <a:cxnSpLocks/>
            </p:cNvCxnSpPr>
            <p:nvPr/>
          </p:nvCxnSpPr>
          <p:spPr>
            <a:xfrm>
              <a:off x="9632067" y="487595"/>
              <a:ext cx="0" cy="659900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55" name="TextBox 254">
              <a:extLst>
                <a:ext uri="{FF2B5EF4-FFF2-40B4-BE49-F238E27FC236}">
                  <a16:creationId xmlns:a16="http://schemas.microsoft.com/office/drawing/2014/main" id="{48885FC4-93EE-7849-9417-0C542331D5A8}"/>
                </a:ext>
              </a:extLst>
            </p:cNvPr>
            <p:cNvSpPr txBox="1"/>
            <p:nvPr/>
          </p:nvSpPr>
          <p:spPr>
            <a:xfrm rot="16200000">
              <a:off x="9093387" y="2369760"/>
              <a:ext cx="798694" cy="369332"/>
            </a:xfrm>
            <a:prstGeom prst="rect">
              <a:avLst/>
            </a:prstGeom>
            <a:noFill/>
          </p:spPr>
          <p:txBody>
            <a:bodyPr wrap="square" rtlCol="0">
              <a:spAutoFit/>
            </a:bodyPr>
            <a:lstStyle/>
            <a:p>
              <a:pPr algn="ctr" defTabSz="914384">
                <a:defRPr/>
              </a:pPr>
              <a:r>
                <a:rPr lang="en-US" dirty="0">
                  <a:solidFill>
                    <a:srgbClr val="C00000"/>
                  </a:solidFill>
                  <a:latin typeface="Duplicate Sans Light" pitchFamily="2" charset="77"/>
                  <a:cs typeface="Arial"/>
                  <a:sym typeface="Arial"/>
                </a:rPr>
                <a:t>Today</a:t>
              </a:r>
            </a:p>
          </p:txBody>
        </p:sp>
      </p:grpSp>
      <p:sp>
        <p:nvSpPr>
          <p:cNvPr id="262" name="Rectangle 261">
            <a:extLst>
              <a:ext uri="{FF2B5EF4-FFF2-40B4-BE49-F238E27FC236}">
                <a16:creationId xmlns:a16="http://schemas.microsoft.com/office/drawing/2014/main" id="{42899B24-B296-B846-8476-C4F16033E316}"/>
              </a:ext>
            </a:extLst>
          </p:cNvPr>
          <p:cNvSpPr/>
          <p:nvPr/>
        </p:nvSpPr>
        <p:spPr>
          <a:xfrm>
            <a:off x="6758112" y="1688528"/>
            <a:ext cx="1651475" cy="1754326"/>
          </a:xfrm>
          <a:prstGeom prst="rect">
            <a:avLst/>
          </a:prstGeom>
        </p:spPr>
        <p:txBody>
          <a:bodyPr wrap="square">
            <a:spAutoFit/>
          </a:bodyPr>
          <a:lstStyle/>
          <a:p>
            <a:pPr defTabSz="914384">
              <a:defRPr/>
            </a:pPr>
            <a:r>
              <a:rPr lang="en-US" sz="1200" dirty="0">
                <a:solidFill>
                  <a:prstClr val="white"/>
                </a:solidFill>
                <a:latin typeface="Duplicate Sans Regular" pitchFamily="2" charset="77"/>
                <a:cs typeface="Arial"/>
                <a:sym typeface="Arial"/>
              </a:rPr>
              <a:t>Italy $6.4M grant LOI.  2022 -2025 Exos Aerospace Italia </a:t>
            </a:r>
            <a:r>
              <a:rPr lang="en-US" sz="1200" dirty="0" err="1">
                <a:solidFill>
                  <a:prstClr val="white"/>
                </a:solidFill>
                <a:latin typeface="Duplicate Sans Regular" pitchFamily="2" charset="77"/>
                <a:cs typeface="Arial"/>
                <a:sym typeface="Arial"/>
              </a:rPr>
              <a:t>Srl</a:t>
            </a:r>
            <a:r>
              <a:rPr lang="en-US" sz="1200" dirty="0">
                <a:solidFill>
                  <a:prstClr val="white"/>
                </a:solidFill>
                <a:latin typeface="Duplicate Sans Regular" pitchFamily="2" charset="77"/>
                <a:cs typeface="Arial"/>
                <a:sym typeface="Arial"/>
              </a:rPr>
              <a:t>  work with Defense on Suborbital Air Launch   development and work with Spaceland.it on microgravity research</a:t>
            </a:r>
          </a:p>
          <a:p>
            <a:pPr defTabSz="914384">
              <a:defRPr/>
            </a:pPr>
            <a:endParaRPr lang="en-US" sz="1200" dirty="0">
              <a:solidFill>
                <a:prstClr val="white"/>
              </a:solidFill>
              <a:latin typeface="Duplicate Sans Regular" pitchFamily="2" charset="77"/>
              <a:cs typeface="Arial"/>
              <a:sym typeface="Arial"/>
            </a:endParaRPr>
          </a:p>
        </p:txBody>
      </p:sp>
      <p:grpSp>
        <p:nvGrpSpPr>
          <p:cNvPr id="263" name="Group 262">
            <a:extLst>
              <a:ext uri="{FF2B5EF4-FFF2-40B4-BE49-F238E27FC236}">
                <a16:creationId xmlns:a16="http://schemas.microsoft.com/office/drawing/2014/main" id="{FA60BE43-1378-C846-9F4C-10206CDF49ED}"/>
              </a:ext>
            </a:extLst>
          </p:cNvPr>
          <p:cNvGrpSpPr/>
          <p:nvPr/>
        </p:nvGrpSpPr>
        <p:grpSpPr>
          <a:xfrm>
            <a:off x="6647049" y="-34606"/>
            <a:ext cx="1145550" cy="1153347"/>
            <a:chOff x="8023332" y="360458"/>
            <a:chExt cx="908606" cy="1073807"/>
          </a:xfrm>
        </p:grpSpPr>
        <p:pic>
          <p:nvPicPr>
            <p:cNvPr id="264" name="Picture 263">
              <a:extLst>
                <a:ext uri="{FF2B5EF4-FFF2-40B4-BE49-F238E27FC236}">
                  <a16:creationId xmlns:a16="http://schemas.microsoft.com/office/drawing/2014/main" id="{9F4BBF18-51FA-CB44-B4FA-7DF24C08EDB1}"/>
                </a:ext>
              </a:extLst>
            </p:cNvPr>
            <p:cNvPicPr>
              <a:picLocks noChangeAspect="1"/>
            </p:cNvPicPr>
            <p:nvPr/>
          </p:nvPicPr>
          <p:blipFill>
            <a:blip r:embed="rId16"/>
            <a:stretch>
              <a:fillRect/>
            </a:stretch>
          </p:blipFill>
          <p:spPr>
            <a:xfrm>
              <a:off x="8023332" y="360458"/>
              <a:ext cx="908606" cy="1073807"/>
            </a:xfrm>
            <a:prstGeom prst="rect">
              <a:avLst/>
            </a:prstGeom>
          </p:spPr>
        </p:pic>
        <p:pic>
          <p:nvPicPr>
            <p:cNvPr id="265" name="Picture 264" descr="A close up of a logo&#10;&#10;Description automatically generated">
              <a:extLst>
                <a:ext uri="{FF2B5EF4-FFF2-40B4-BE49-F238E27FC236}">
                  <a16:creationId xmlns:a16="http://schemas.microsoft.com/office/drawing/2014/main" id="{0EDFFA98-58D0-5744-A65F-6B59D9F086EF}"/>
                </a:ext>
              </a:extLst>
            </p:cNvPr>
            <p:cNvPicPr>
              <a:picLocks noChangeAspect="1"/>
            </p:cNvPicPr>
            <p:nvPr/>
          </p:nvPicPr>
          <p:blipFill>
            <a:blip r:embed="rId17"/>
            <a:stretch>
              <a:fillRect/>
            </a:stretch>
          </p:blipFill>
          <p:spPr>
            <a:xfrm rot="2464851">
              <a:off x="8340622" y="781956"/>
              <a:ext cx="399480" cy="185503"/>
            </a:xfrm>
            <a:prstGeom prst="rect">
              <a:avLst/>
            </a:prstGeom>
          </p:spPr>
        </p:pic>
      </p:grpSp>
      <p:grpSp>
        <p:nvGrpSpPr>
          <p:cNvPr id="48" name="Group 47">
            <a:extLst>
              <a:ext uri="{FF2B5EF4-FFF2-40B4-BE49-F238E27FC236}">
                <a16:creationId xmlns:a16="http://schemas.microsoft.com/office/drawing/2014/main" id="{5BF91C66-C73F-D945-AAB0-2B19C3D96EBF}"/>
              </a:ext>
            </a:extLst>
          </p:cNvPr>
          <p:cNvGrpSpPr/>
          <p:nvPr/>
        </p:nvGrpSpPr>
        <p:grpSpPr>
          <a:xfrm>
            <a:off x="3006346" y="2660155"/>
            <a:ext cx="316547" cy="899841"/>
            <a:chOff x="3298542" y="2660154"/>
            <a:chExt cx="316547" cy="899841"/>
          </a:xfrm>
        </p:grpSpPr>
        <p:cxnSp>
          <p:nvCxnSpPr>
            <p:cNvPr id="154" name="Straight Connector 153">
              <a:extLst>
                <a:ext uri="{FF2B5EF4-FFF2-40B4-BE49-F238E27FC236}">
                  <a16:creationId xmlns:a16="http://schemas.microsoft.com/office/drawing/2014/main" id="{83CB007D-7E63-484B-BA71-DE50F047D356}"/>
                </a:ext>
              </a:extLst>
            </p:cNvPr>
            <p:cNvCxnSpPr>
              <a:cxnSpLocks/>
              <a:stCxn id="168" idx="0"/>
            </p:cNvCxnSpPr>
            <p:nvPr/>
          </p:nvCxnSpPr>
          <p:spPr>
            <a:xfrm flipH="1" flipV="1">
              <a:off x="3448870" y="2660154"/>
              <a:ext cx="7945" cy="59615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903E3315-DE37-EB43-B540-1A79CE7DEDD7}"/>
                </a:ext>
              </a:extLst>
            </p:cNvPr>
            <p:cNvGrpSpPr/>
            <p:nvPr/>
          </p:nvGrpSpPr>
          <p:grpSpPr>
            <a:xfrm>
              <a:off x="3298542" y="3243448"/>
              <a:ext cx="316547" cy="316547"/>
              <a:chOff x="762004" y="3201390"/>
              <a:chExt cx="457195" cy="457195"/>
            </a:xfrm>
          </p:grpSpPr>
          <p:sp>
            <p:nvSpPr>
              <p:cNvPr id="168" name="Oval 167">
                <a:extLst>
                  <a:ext uri="{FF2B5EF4-FFF2-40B4-BE49-F238E27FC236}">
                    <a16:creationId xmlns:a16="http://schemas.microsoft.com/office/drawing/2014/main" id="{45C003D3-C127-1E47-8F34-0CC4B8B75379}"/>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69" name="Oval 168">
                <a:extLst>
                  <a:ext uri="{FF2B5EF4-FFF2-40B4-BE49-F238E27FC236}">
                    <a16:creationId xmlns:a16="http://schemas.microsoft.com/office/drawing/2014/main" id="{EC047F8A-F840-CB4C-A869-5E33AD4539B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76" name="Oval 175">
                <a:extLst>
                  <a:ext uri="{FF2B5EF4-FFF2-40B4-BE49-F238E27FC236}">
                    <a16:creationId xmlns:a16="http://schemas.microsoft.com/office/drawing/2014/main" id="{782BEEBC-D165-114B-866A-351851EB329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grpSp>
        <p:nvGrpSpPr>
          <p:cNvPr id="177" name="Group 176">
            <a:extLst>
              <a:ext uri="{FF2B5EF4-FFF2-40B4-BE49-F238E27FC236}">
                <a16:creationId xmlns:a16="http://schemas.microsoft.com/office/drawing/2014/main" id="{B3F907F6-0631-DC4F-9148-A9C7ACC10A69}"/>
              </a:ext>
            </a:extLst>
          </p:cNvPr>
          <p:cNvGrpSpPr/>
          <p:nvPr/>
        </p:nvGrpSpPr>
        <p:grpSpPr>
          <a:xfrm>
            <a:off x="4249572" y="3236210"/>
            <a:ext cx="316547" cy="316547"/>
            <a:chOff x="762004" y="3201390"/>
            <a:chExt cx="457195" cy="457195"/>
          </a:xfrm>
        </p:grpSpPr>
        <p:sp>
          <p:nvSpPr>
            <p:cNvPr id="178" name="Oval 177">
              <a:extLst>
                <a:ext uri="{FF2B5EF4-FFF2-40B4-BE49-F238E27FC236}">
                  <a16:creationId xmlns:a16="http://schemas.microsoft.com/office/drawing/2014/main" id="{9418756D-4CB2-084B-83FC-9257C085D77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79" name="Oval 178">
              <a:extLst>
                <a:ext uri="{FF2B5EF4-FFF2-40B4-BE49-F238E27FC236}">
                  <a16:creationId xmlns:a16="http://schemas.microsoft.com/office/drawing/2014/main" id="{9BE516B5-8F11-334D-BCF9-6C26179F7F0C}"/>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80" name="Oval 179">
              <a:extLst>
                <a:ext uri="{FF2B5EF4-FFF2-40B4-BE49-F238E27FC236}">
                  <a16:creationId xmlns:a16="http://schemas.microsoft.com/office/drawing/2014/main" id="{61D5D6F5-E86D-5F46-BC85-9C27C104041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191" name="Group 190">
            <a:extLst>
              <a:ext uri="{FF2B5EF4-FFF2-40B4-BE49-F238E27FC236}">
                <a16:creationId xmlns:a16="http://schemas.microsoft.com/office/drawing/2014/main" id="{A9FB6F08-07E3-C845-9E61-2FEE7733EA77}"/>
              </a:ext>
            </a:extLst>
          </p:cNvPr>
          <p:cNvGrpSpPr/>
          <p:nvPr/>
        </p:nvGrpSpPr>
        <p:grpSpPr>
          <a:xfrm>
            <a:off x="4985893" y="3243449"/>
            <a:ext cx="316547" cy="316547"/>
            <a:chOff x="762004" y="3201390"/>
            <a:chExt cx="457195" cy="457195"/>
          </a:xfrm>
        </p:grpSpPr>
        <p:sp>
          <p:nvSpPr>
            <p:cNvPr id="192" name="Oval 191">
              <a:extLst>
                <a:ext uri="{FF2B5EF4-FFF2-40B4-BE49-F238E27FC236}">
                  <a16:creationId xmlns:a16="http://schemas.microsoft.com/office/drawing/2014/main" id="{0DBAE9A4-C466-2B47-BC76-718A199BE15F}"/>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3" name="Oval 192">
              <a:extLst>
                <a:ext uri="{FF2B5EF4-FFF2-40B4-BE49-F238E27FC236}">
                  <a16:creationId xmlns:a16="http://schemas.microsoft.com/office/drawing/2014/main" id="{9AFDE4AE-19DA-B341-BAE7-A61474056E51}"/>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4" name="Oval 193">
              <a:extLst>
                <a:ext uri="{FF2B5EF4-FFF2-40B4-BE49-F238E27FC236}">
                  <a16:creationId xmlns:a16="http://schemas.microsoft.com/office/drawing/2014/main" id="{23393304-48AE-0446-BAE4-BE16CA0D9F1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124" name="Rectangle 123">
            <a:extLst>
              <a:ext uri="{FF2B5EF4-FFF2-40B4-BE49-F238E27FC236}">
                <a16:creationId xmlns:a16="http://schemas.microsoft.com/office/drawing/2014/main" id="{65E99FCD-BC5D-7042-A737-B4158326977A}"/>
              </a:ext>
            </a:extLst>
          </p:cNvPr>
          <p:cNvSpPr/>
          <p:nvPr/>
        </p:nvSpPr>
        <p:spPr>
          <a:xfrm>
            <a:off x="921306"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2006</a:t>
            </a:r>
          </a:p>
        </p:txBody>
      </p:sp>
      <p:grpSp>
        <p:nvGrpSpPr>
          <p:cNvPr id="15" name="Group 14">
            <a:extLst>
              <a:ext uri="{FF2B5EF4-FFF2-40B4-BE49-F238E27FC236}">
                <a16:creationId xmlns:a16="http://schemas.microsoft.com/office/drawing/2014/main" id="{6F83810D-8F09-AC40-B37D-ED26DE93F9A2}"/>
              </a:ext>
            </a:extLst>
          </p:cNvPr>
          <p:cNvGrpSpPr/>
          <p:nvPr/>
        </p:nvGrpSpPr>
        <p:grpSpPr>
          <a:xfrm>
            <a:off x="1794869" y="2686378"/>
            <a:ext cx="316547" cy="873617"/>
            <a:chOff x="1794868" y="2686378"/>
            <a:chExt cx="316547" cy="873617"/>
          </a:xfrm>
        </p:grpSpPr>
        <p:cxnSp>
          <p:nvCxnSpPr>
            <p:cNvPr id="130" name="Straight Connector 129">
              <a:extLst>
                <a:ext uri="{FF2B5EF4-FFF2-40B4-BE49-F238E27FC236}">
                  <a16:creationId xmlns:a16="http://schemas.microsoft.com/office/drawing/2014/main" id="{44582BFA-844F-6549-9F47-6DB62EAE2BDC}"/>
                </a:ext>
              </a:extLst>
            </p:cNvPr>
            <p:cNvCxnSpPr>
              <a:cxnSpLocks/>
              <a:stCxn id="148" idx="0"/>
            </p:cNvCxnSpPr>
            <p:nvPr/>
          </p:nvCxnSpPr>
          <p:spPr>
            <a:xfrm flipV="1">
              <a:off x="1953141" y="2686378"/>
              <a:ext cx="0" cy="56993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52C6E261-9F21-2D49-B7EF-30917AA407AE}"/>
                </a:ext>
              </a:extLst>
            </p:cNvPr>
            <p:cNvGrpSpPr/>
            <p:nvPr/>
          </p:nvGrpSpPr>
          <p:grpSpPr>
            <a:xfrm>
              <a:off x="1794868" y="3243448"/>
              <a:ext cx="316547" cy="316547"/>
              <a:chOff x="762004" y="3201390"/>
              <a:chExt cx="457195" cy="457195"/>
            </a:xfrm>
          </p:grpSpPr>
          <p:sp>
            <p:nvSpPr>
              <p:cNvPr id="148" name="Oval 147">
                <a:extLst>
                  <a:ext uri="{FF2B5EF4-FFF2-40B4-BE49-F238E27FC236}">
                    <a16:creationId xmlns:a16="http://schemas.microsoft.com/office/drawing/2014/main" id="{45A41C49-E033-0B43-A5A1-3B053B80229B}"/>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49" name="Oval 148">
                <a:extLst>
                  <a:ext uri="{FF2B5EF4-FFF2-40B4-BE49-F238E27FC236}">
                    <a16:creationId xmlns:a16="http://schemas.microsoft.com/office/drawing/2014/main" id="{2C8D71FF-3379-764A-8A5F-173EA1991C98}"/>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58" name="Oval 157">
                <a:extLst>
                  <a:ext uri="{FF2B5EF4-FFF2-40B4-BE49-F238E27FC236}">
                    <a16:creationId xmlns:a16="http://schemas.microsoft.com/office/drawing/2014/main" id="{8E29616E-C49F-674B-B0CF-1DD1E0CD90F2}"/>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sp>
        <p:nvSpPr>
          <p:cNvPr id="128" name="Rectangle 127">
            <a:extLst>
              <a:ext uri="{FF2B5EF4-FFF2-40B4-BE49-F238E27FC236}">
                <a16:creationId xmlns:a16="http://schemas.microsoft.com/office/drawing/2014/main" id="{DBB8238E-12F9-364B-B2F9-8F82CC3B2E53}"/>
              </a:ext>
            </a:extLst>
          </p:cNvPr>
          <p:cNvSpPr/>
          <p:nvPr/>
        </p:nvSpPr>
        <p:spPr>
          <a:xfrm>
            <a:off x="1706129"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2008</a:t>
            </a:r>
          </a:p>
        </p:txBody>
      </p:sp>
      <p:grpSp>
        <p:nvGrpSpPr>
          <p:cNvPr id="214" name="Group 213">
            <a:extLst>
              <a:ext uri="{FF2B5EF4-FFF2-40B4-BE49-F238E27FC236}">
                <a16:creationId xmlns:a16="http://schemas.microsoft.com/office/drawing/2014/main" id="{54E6560D-09DC-8F40-88BF-6C24EC744F6C}"/>
              </a:ext>
            </a:extLst>
          </p:cNvPr>
          <p:cNvGrpSpPr/>
          <p:nvPr/>
        </p:nvGrpSpPr>
        <p:grpSpPr>
          <a:xfrm>
            <a:off x="2362201" y="3232194"/>
            <a:ext cx="316547" cy="316547"/>
            <a:chOff x="762004" y="3201390"/>
            <a:chExt cx="457195" cy="457195"/>
          </a:xfrm>
        </p:grpSpPr>
        <p:sp>
          <p:nvSpPr>
            <p:cNvPr id="215" name="Oval 214">
              <a:extLst>
                <a:ext uri="{FF2B5EF4-FFF2-40B4-BE49-F238E27FC236}">
                  <a16:creationId xmlns:a16="http://schemas.microsoft.com/office/drawing/2014/main" id="{10761E6A-146D-5448-A2D6-896D94765F0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16" name="Oval 215">
              <a:extLst>
                <a:ext uri="{FF2B5EF4-FFF2-40B4-BE49-F238E27FC236}">
                  <a16:creationId xmlns:a16="http://schemas.microsoft.com/office/drawing/2014/main" id="{BC2EE945-B71F-7C42-93AF-E59B57B58690}"/>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17" name="Oval 216">
              <a:extLst>
                <a:ext uri="{FF2B5EF4-FFF2-40B4-BE49-F238E27FC236}">
                  <a16:creationId xmlns:a16="http://schemas.microsoft.com/office/drawing/2014/main" id="{06C6A8DE-A5A2-D94D-96A1-77267DFF337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152" name="Rectangle 151">
            <a:extLst>
              <a:ext uri="{FF2B5EF4-FFF2-40B4-BE49-F238E27FC236}">
                <a16:creationId xmlns:a16="http://schemas.microsoft.com/office/drawing/2014/main" id="{153F20DC-295E-9C48-A8FA-8BAE89F7268B}"/>
              </a:ext>
            </a:extLst>
          </p:cNvPr>
          <p:cNvSpPr/>
          <p:nvPr/>
        </p:nvSpPr>
        <p:spPr>
          <a:xfrm>
            <a:off x="2926956" y="3253043"/>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2010</a:t>
            </a:r>
          </a:p>
        </p:txBody>
      </p:sp>
      <p:sp>
        <p:nvSpPr>
          <p:cNvPr id="185" name="Rectangle 184">
            <a:extLst>
              <a:ext uri="{FF2B5EF4-FFF2-40B4-BE49-F238E27FC236}">
                <a16:creationId xmlns:a16="http://schemas.microsoft.com/office/drawing/2014/main" id="{5BAC40A4-15DC-F44A-AA77-BB65F9F4BE87}"/>
              </a:ext>
            </a:extLst>
          </p:cNvPr>
          <p:cNvSpPr/>
          <p:nvPr/>
        </p:nvSpPr>
        <p:spPr>
          <a:xfrm>
            <a:off x="4038221" y="3272976"/>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2011</a:t>
            </a:r>
          </a:p>
        </p:txBody>
      </p:sp>
      <p:sp>
        <p:nvSpPr>
          <p:cNvPr id="206" name="Rectangle 205">
            <a:extLst>
              <a:ext uri="{FF2B5EF4-FFF2-40B4-BE49-F238E27FC236}">
                <a16:creationId xmlns:a16="http://schemas.microsoft.com/office/drawing/2014/main" id="{F74951E1-71CF-C141-BA59-B5D1058F66F2}"/>
              </a:ext>
            </a:extLst>
          </p:cNvPr>
          <p:cNvSpPr/>
          <p:nvPr/>
        </p:nvSpPr>
        <p:spPr>
          <a:xfrm>
            <a:off x="4901029" y="3251281"/>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2015</a:t>
            </a:r>
          </a:p>
        </p:txBody>
      </p:sp>
      <p:sp>
        <p:nvSpPr>
          <p:cNvPr id="243" name="Rectangle 242">
            <a:extLst>
              <a:ext uri="{FF2B5EF4-FFF2-40B4-BE49-F238E27FC236}">
                <a16:creationId xmlns:a16="http://schemas.microsoft.com/office/drawing/2014/main" id="{18B2F0F5-D578-214B-A291-49C76074F8F7}"/>
              </a:ext>
            </a:extLst>
          </p:cNvPr>
          <p:cNvSpPr/>
          <p:nvPr/>
        </p:nvSpPr>
        <p:spPr>
          <a:xfrm>
            <a:off x="6219956" y="3254171"/>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2020</a:t>
            </a:r>
          </a:p>
        </p:txBody>
      </p:sp>
      <p:sp>
        <p:nvSpPr>
          <p:cNvPr id="137" name="Rectangle 136">
            <a:extLst>
              <a:ext uri="{FF2B5EF4-FFF2-40B4-BE49-F238E27FC236}">
                <a16:creationId xmlns:a16="http://schemas.microsoft.com/office/drawing/2014/main" id="{3722967F-9B9F-8241-A29A-36E8E1D39804}"/>
              </a:ext>
            </a:extLst>
          </p:cNvPr>
          <p:cNvSpPr/>
          <p:nvPr/>
        </p:nvSpPr>
        <p:spPr>
          <a:xfrm>
            <a:off x="2276046" y="3253728"/>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2009</a:t>
            </a:r>
          </a:p>
        </p:txBody>
      </p:sp>
      <p:grpSp>
        <p:nvGrpSpPr>
          <p:cNvPr id="218" name="Group 217">
            <a:extLst>
              <a:ext uri="{FF2B5EF4-FFF2-40B4-BE49-F238E27FC236}">
                <a16:creationId xmlns:a16="http://schemas.microsoft.com/office/drawing/2014/main" id="{C82CE72F-B85D-F94A-BCD9-E9E2B4C50AD2}"/>
              </a:ext>
            </a:extLst>
          </p:cNvPr>
          <p:cNvGrpSpPr/>
          <p:nvPr/>
        </p:nvGrpSpPr>
        <p:grpSpPr>
          <a:xfrm>
            <a:off x="3574613" y="3236896"/>
            <a:ext cx="316547" cy="316547"/>
            <a:chOff x="762004" y="3201390"/>
            <a:chExt cx="457195" cy="457195"/>
          </a:xfrm>
        </p:grpSpPr>
        <p:sp>
          <p:nvSpPr>
            <p:cNvPr id="219" name="Oval 218">
              <a:extLst>
                <a:ext uri="{FF2B5EF4-FFF2-40B4-BE49-F238E27FC236}">
                  <a16:creationId xmlns:a16="http://schemas.microsoft.com/office/drawing/2014/main" id="{D9FB6B5B-5957-2540-A43A-A43427C58A3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21" name="Oval 220">
              <a:extLst>
                <a:ext uri="{FF2B5EF4-FFF2-40B4-BE49-F238E27FC236}">
                  <a16:creationId xmlns:a16="http://schemas.microsoft.com/office/drawing/2014/main" id="{B5717212-7438-3145-8917-3D232DE5D4A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22" name="Oval 221">
              <a:extLst>
                <a:ext uri="{FF2B5EF4-FFF2-40B4-BE49-F238E27FC236}">
                  <a16:creationId xmlns:a16="http://schemas.microsoft.com/office/drawing/2014/main" id="{45723BD0-741E-AB48-93EE-F1C23CB01B0A}"/>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251" name="Text Placeholder 32">
            <a:extLst>
              <a:ext uri="{FF2B5EF4-FFF2-40B4-BE49-F238E27FC236}">
                <a16:creationId xmlns:a16="http://schemas.microsoft.com/office/drawing/2014/main" id="{AE9A7C24-600B-A644-9843-DB490C290712}"/>
              </a:ext>
            </a:extLst>
          </p:cNvPr>
          <p:cNvSpPr txBox="1">
            <a:spLocks/>
          </p:cNvSpPr>
          <p:nvPr/>
        </p:nvSpPr>
        <p:spPr>
          <a:xfrm>
            <a:off x="9498837" y="1526356"/>
            <a:ext cx="1266295" cy="1160023"/>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2024- 2026</a:t>
            </a:r>
          </a:p>
          <a:p>
            <a:pPr defTabSz="914384">
              <a:defRPr/>
            </a:pPr>
            <a:r>
              <a:rPr lang="en-US" dirty="0">
                <a:solidFill>
                  <a:prstClr val="white"/>
                </a:solidFill>
                <a:sym typeface="Arial"/>
              </a:rPr>
              <a:t> DoD HVRR Rotating Detonation Rocket Engine  (RDRE)  Test Vehicle Design and build USAF contracts</a:t>
            </a:r>
          </a:p>
          <a:p>
            <a:pPr defTabSz="914384">
              <a:defRPr/>
            </a:pPr>
            <a:endParaRPr lang="en-US" dirty="0">
              <a:solidFill>
                <a:prstClr val="white"/>
              </a:solidFill>
              <a:sym typeface="Arial"/>
            </a:endParaRPr>
          </a:p>
        </p:txBody>
      </p:sp>
      <p:sp>
        <p:nvSpPr>
          <p:cNvPr id="258" name="Rectangle 257">
            <a:extLst>
              <a:ext uri="{FF2B5EF4-FFF2-40B4-BE49-F238E27FC236}">
                <a16:creationId xmlns:a16="http://schemas.microsoft.com/office/drawing/2014/main" id="{11FB1975-BA6E-DE4B-8E83-466C3A74FE60}"/>
              </a:ext>
            </a:extLst>
          </p:cNvPr>
          <p:cNvSpPr/>
          <p:nvPr/>
        </p:nvSpPr>
        <p:spPr>
          <a:xfrm>
            <a:off x="8120487" y="3473856"/>
            <a:ext cx="1334123" cy="2409890"/>
          </a:xfrm>
          <a:prstGeom prst="rect">
            <a:avLst/>
          </a:prstGeom>
        </p:spPr>
        <p:txBody>
          <a:bodyPr wrap="square">
            <a:spAutoFit/>
          </a:bodyPr>
          <a:lstStyle/>
          <a:p>
            <a:pPr algn="ctr" defTabSz="914384">
              <a:defRPr/>
            </a:pPr>
            <a:r>
              <a:rPr lang="en-US" sz="1255" kern="0" dirty="0">
                <a:solidFill>
                  <a:prstClr val="white"/>
                </a:solidFill>
                <a:latin typeface="Arial"/>
                <a:cs typeface="Arial"/>
                <a:sym typeface="Arial"/>
              </a:rPr>
              <a:t>Our OTV-enabled service offers LEO → Moon → Earth round-trip capability — a distinct transport solution powered by technology only we provide.”</a:t>
            </a:r>
            <a:endParaRPr lang="en-US" sz="1200" dirty="0">
              <a:solidFill>
                <a:prstClr val="white"/>
              </a:solidFill>
              <a:latin typeface="Duplicate Sans Light" pitchFamily="2" charset="77"/>
              <a:cs typeface="Arial"/>
              <a:sym typeface="Arial"/>
            </a:endParaRPr>
          </a:p>
        </p:txBody>
      </p:sp>
      <p:sp>
        <p:nvSpPr>
          <p:cNvPr id="268" name="Rectangle 267">
            <a:extLst>
              <a:ext uri="{FF2B5EF4-FFF2-40B4-BE49-F238E27FC236}">
                <a16:creationId xmlns:a16="http://schemas.microsoft.com/office/drawing/2014/main" id="{C3656ABF-70EF-9443-9EF2-413B04690662}"/>
              </a:ext>
            </a:extLst>
          </p:cNvPr>
          <p:cNvSpPr/>
          <p:nvPr/>
        </p:nvSpPr>
        <p:spPr>
          <a:xfrm>
            <a:off x="8847644" y="3773363"/>
            <a:ext cx="1240528" cy="779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84">
              <a:defRPr/>
            </a:pPr>
            <a:endParaRPr lang="en-US" sz="1200" dirty="0">
              <a:solidFill>
                <a:prstClr val="white"/>
              </a:solidFill>
              <a:latin typeface="Duplicate Sans Regular" pitchFamily="2" charset="77"/>
              <a:sym typeface="Arial"/>
            </a:endParaRPr>
          </a:p>
        </p:txBody>
      </p:sp>
      <p:grpSp>
        <p:nvGrpSpPr>
          <p:cNvPr id="270" name="Group 269">
            <a:extLst>
              <a:ext uri="{FF2B5EF4-FFF2-40B4-BE49-F238E27FC236}">
                <a16:creationId xmlns:a16="http://schemas.microsoft.com/office/drawing/2014/main" id="{D15D6BF4-167C-5F43-BC13-1AE10135B4CA}"/>
              </a:ext>
            </a:extLst>
          </p:cNvPr>
          <p:cNvGrpSpPr/>
          <p:nvPr/>
        </p:nvGrpSpPr>
        <p:grpSpPr>
          <a:xfrm>
            <a:off x="7996302" y="3239386"/>
            <a:ext cx="316547" cy="316547"/>
            <a:chOff x="762004" y="3201390"/>
            <a:chExt cx="457195" cy="457195"/>
          </a:xfrm>
        </p:grpSpPr>
        <p:sp>
          <p:nvSpPr>
            <p:cNvPr id="271" name="Oval 270">
              <a:extLst>
                <a:ext uri="{FF2B5EF4-FFF2-40B4-BE49-F238E27FC236}">
                  <a16:creationId xmlns:a16="http://schemas.microsoft.com/office/drawing/2014/main" id="{0EBA82EF-90DF-C949-A572-8B891B919CC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72" name="Oval 271">
              <a:extLst>
                <a:ext uri="{FF2B5EF4-FFF2-40B4-BE49-F238E27FC236}">
                  <a16:creationId xmlns:a16="http://schemas.microsoft.com/office/drawing/2014/main" id="{BF45D0EF-1392-1A45-8B4E-D29D6B5D2EC2}"/>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73" name="Oval 272">
              <a:extLst>
                <a:ext uri="{FF2B5EF4-FFF2-40B4-BE49-F238E27FC236}">
                  <a16:creationId xmlns:a16="http://schemas.microsoft.com/office/drawing/2014/main" id="{9939AA10-CC93-0B4F-878F-E5A13492A44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278" name="Group 277">
            <a:extLst>
              <a:ext uri="{FF2B5EF4-FFF2-40B4-BE49-F238E27FC236}">
                <a16:creationId xmlns:a16="http://schemas.microsoft.com/office/drawing/2014/main" id="{9EC73C57-A794-DC4B-9CF5-23A7AE0F778B}"/>
              </a:ext>
            </a:extLst>
          </p:cNvPr>
          <p:cNvGrpSpPr/>
          <p:nvPr/>
        </p:nvGrpSpPr>
        <p:grpSpPr>
          <a:xfrm>
            <a:off x="9414526" y="3232194"/>
            <a:ext cx="316547" cy="316547"/>
            <a:chOff x="762004" y="3201390"/>
            <a:chExt cx="457195" cy="457195"/>
          </a:xfrm>
        </p:grpSpPr>
        <p:sp>
          <p:nvSpPr>
            <p:cNvPr id="279" name="Oval 278">
              <a:extLst>
                <a:ext uri="{FF2B5EF4-FFF2-40B4-BE49-F238E27FC236}">
                  <a16:creationId xmlns:a16="http://schemas.microsoft.com/office/drawing/2014/main" id="{2F25265E-6CD1-E440-9FC4-1B084319A2C0}"/>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0" name="Oval 279">
              <a:extLst>
                <a:ext uri="{FF2B5EF4-FFF2-40B4-BE49-F238E27FC236}">
                  <a16:creationId xmlns:a16="http://schemas.microsoft.com/office/drawing/2014/main" id="{208ED91F-5499-2A4F-9FA5-27A8807CBC6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1" name="Oval 280">
              <a:extLst>
                <a:ext uri="{FF2B5EF4-FFF2-40B4-BE49-F238E27FC236}">
                  <a16:creationId xmlns:a16="http://schemas.microsoft.com/office/drawing/2014/main" id="{E05CB889-36C7-8247-B86E-3E7299CC1E2F}"/>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282" name="Group 281">
            <a:extLst>
              <a:ext uri="{FF2B5EF4-FFF2-40B4-BE49-F238E27FC236}">
                <a16:creationId xmlns:a16="http://schemas.microsoft.com/office/drawing/2014/main" id="{18F5F1E8-56A8-A947-BB79-8D974A5CFD0E}"/>
              </a:ext>
            </a:extLst>
          </p:cNvPr>
          <p:cNvGrpSpPr/>
          <p:nvPr/>
        </p:nvGrpSpPr>
        <p:grpSpPr>
          <a:xfrm>
            <a:off x="10042221" y="3227067"/>
            <a:ext cx="316547" cy="316547"/>
            <a:chOff x="762004" y="3201390"/>
            <a:chExt cx="457195" cy="457195"/>
          </a:xfrm>
        </p:grpSpPr>
        <p:sp>
          <p:nvSpPr>
            <p:cNvPr id="283" name="Oval 282">
              <a:extLst>
                <a:ext uri="{FF2B5EF4-FFF2-40B4-BE49-F238E27FC236}">
                  <a16:creationId xmlns:a16="http://schemas.microsoft.com/office/drawing/2014/main" id="{D5172C26-1DE0-A14E-913C-EE1154E0EDE1}"/>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4" name="Oval 283">
              <a:extLst>
                <a:ext uri="{FF2B5EF4-FFF2-40B4-BE49-F238E27FC236}">
                  <a16:creationId xmlns:a16="http://schemas.microsoft.com/office/drawing/2014/main" id="{1A82AEBA-6330-2944-9C7E-0C5AE2F5F3D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5" name="Oval 284">
              <a:extLst>
                <a:ext uri="{FF2B5EF4-FFF2-40B4-BE49-F238E27FC236}">
                  <a16:creationId xmlns:a16="http://schemas.microsoft.com/office/drawing/2014/main" id="{52C75B2C-3FFA-B449-B2AC-3FEA196521C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286" name="Straight Connector 285">
            <a:extLst>
              <a:ext uri="{FF2B5EF4-FFF2-40B4-BE49-F238E27FC236}">
                <a16:creationId xmlns:a16="http://schemas.microsoft.com/office/drawing/2014/main" id="{8B7F783A-0E54-0B4D-9CA1-41D280D15DCA}"/>
              </a:ext>
            </a:extLst>
          </p:cNvPr>
          <p:cNvCxnSpPr>
            <a:cxnSpLocks/>
          </p:cNvCxnSpPr>
          <p:nvPr/>
        </p:nvCxnSpPr>
        <p:spPr>
          <a:xfrm flipH="1">
            <a:off x="8161210" y="2991244"/>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91" name="Group 290">
            <a:extLst>
              <a:ext uri="{FF2B5EF4-FFF2-40B4-BE49-F238E27FC236}">
                <a16:creationId xmlns:a16="http://schemas.microsoft.com/office/drawing/2014/main" id="{BD255554-5765-6A42-9AEF-A854CB2E4B77}"/>
              </a:ext>
            </a:extLst>
          </p:cNvPr>
          <p:cNvGrpSpPr/>
          <p:nvPr/>
        </p:nvGrpSpPr>
        <p:grpSpPr>
          <a:xfrm>
            <a:off x="11179459" y="3217498"/>
            <a:ext cx="316547" cy="316547"/>
            <a:chOff x="762004" y="3201390"/>
            <a:chExt cx="457195" cy="457195"/>
          </a:xfrm>
        </p:grpSpPr>
        <p:sp>
          <p:nvSpPr>
            <p:cNvPr id="292" name="Oval 291">
              <a:extLst>
                <a:ext uri="{FF2B5EF4-FFF2-40B4-BE49-F238E27FC236}">
                  <a16:creationId xmlns:a16="http://schemas.microsoft.com/office/drawing/2014/main" id="{C75C9E9B-B4CC-C44E-9409-B4815E1C67D4}"/>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93" name="Oval 292">
              <a:extLst>
                <a:ext uri="{FF2B5EF4-FFF2-40B4-BE49-F238E27FC236}">
                  <a16:creationId xmlns:a16="http://schemas.microsoft.com/office/drawing/2014/main" id="{35746170-F290-7B4F-B385-FDAACCF0043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94" name="Oval 293">
              <a:extLst>
                <a:ext uri="{FF2B5EF4-FFF2-40B4-BE49-F238E27FC236}">
                  <a16:creationId xmlns:a16="http://schemas.microsoft.com/office/drawing/2014/main" id="{433D9D9F-FD1B-B842-9732-4EEA47544236}"/>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295" name="Straight Connector 294">
            <a:extLst>
              <a:ext uri="{FF2B5EF4-FFF2-40B4-BE49-F238E27FC236}">
                <a16:creationId xmlns:a16="http://schemas.microsoft.com/office/drawing/2014/main" id="{E6259372-27C7-3E40-8925-123E12025AA1}"/>
              </a:ext>
            </a:extLst>
          </p:cNvPr>
          <p:cNvCxnSpPr>
            <a:cxnSpLocks/>
            <a:endCxn id="292" idx="0"/>
          </p:cNvCxnSpPr>
          <p:nvPr/>
        </p:nvCxnSpPr>
        <p:spPr>
          <a:xfrm>
            <a:off x="11337731" y="2955686"/>
            <a:ext cx="0" cy="274674"/>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36BE18A3-4514-3347-8214-E5D48A9BFE9A}"/>
              </a:ext>
            </a:extLst>
          </p:cNvPr>
          <p:cNvCxnSpPr>
            <a:cxnSpLocks/>
          </p:cNvCxnSpPr>
          <p:nvPr/>
        </p:nvCxnSpPr>
        <p:spPr>
          <a:xfrm flipH="1">
            <a:off x="10016750" y="3525848"/>
            <a:ext cx="183743" cy="28798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648C29CE-FB8E-5E4F-84DA-95682D56AD80}"/>
              </a:ext>
            </a:extLst>
          </p:cNvPr>
          <p:cNvCxnSpPr>
            <a:cxnSpLocks/>
          </p:cNvCxnSpPr>
          <p:nvPr/>
        </p:nvCxnSpPr>
        <p:spPr>
          <a:xfrm flipH="1">
            <a:off x="8154574" y="2981601"/>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300" name="Rectangle 299">
            <a:extLst>
              <a:ext uri="{FF2B5EF4-FFF2-40B4-BE49-F238E27FC236}">
                <a16:creationId xmlns:a16="http://schemas.microsoft.com/office/drawing/2014/main" id="{688ADBD0-F6F6-5B47-BEDC-BBDC8D2F5769}"/>
              </a:ext>
            </a:extLst>
          </p:cNvPr>
          <p:cNvSpPr/>
          <p:nvPr/>
        </p:nvSpPr>
        <p:spPr>
          <a:xfrm>
            <a:off x="7092446" y="3287439"/>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2021</a:t>
            </a:r>
          </a:p>
        </p:txBody>
      </p:sp>
      <p:sp>
        <p:nvSpPr>
          <p:cNvPr id="301" name="Rectangle 300">
            <a:extLst>
              <a:ext uri="{FF2B5EF4-FFF2-40B4-BE49-F238E27FC236}">
                <a16:creationId xmlns:a16="http://schemas.microsoft.com/office/drawing/2014/main" id="{DC9FD511-7686-B340-A416-A64F8695C442}"/>
              </a:ext>
            </a:extLst>
          </p:cNvPr>
          <p:cNvSpPr/>
          <p:nvPr/>
        </p:nvSpPr>
        <p:spPr>
          <a:xfrm>
            <a:off x="8586455" y="3268899"/>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2022</a:t>
            </a:r>
          </a:p>
        </p:txBody>
      </p:sp>
      <p:sp>
        <p:nvSpPr>
          <p:cNvPr id="302" name="Rectangle 301">
            <a:extLst>
              <a:ext uri="{FF2B5EF4-FFF2-40B4-BE49-F238E27FC236}">
                <a16:creationId xmlns:a16="http://schemas.microsoft.com/office/drawing/2014/main" id="{442170F4-67F0-4342-8142-5D9F8AE7E40F}"/>
              </a:ext>
            </a:extLst>
          </p:cNvPr>
          <p:cNvSpPr/>
          <p:nvPr/>
        </p:nvSpPr>
        <p:spPr>
          <a:xfrm>
            <a:off x="9135323" y="3212412"/>
            <a:ext cx="584182" cy="276999"/>
          </a:xfrm>
          <a:prstGeom prst="rect">
            <a:avLst/>
          </a:prstGeom>
        </p:spPr>
        <p:txBody>
          <a:bodyPr wrap="square">
            <a:spAutoFit/>
          </a:bodyPr>
          <a:lstStyle/>
          <a:p>
            <a:pPr defTabSz="914384">
              <a:defRPr/>
            </a:pPr>
            <a:r>
              <a:rPr lang="en-US" sz="1200" dirty="0">
                <a:solidFill>
                  <a:srgbClr val="FF0000"/>
                </a:solidFill>
                <a:latin typeface="Calibri" panose="020F0502020204030204"/>
                <a:cs typeface="Arial"/>
                <a:sym typeface="Arial"/>
              </a:rPr>
              <a:t>2023</a:t>
            </a:r>
          </a:p>
        </p:txBody>
      </p:sp>
      <p:sp>
        <p:nvSpPr>
          <p:cNvPr id="303" name="Rectangle 302">
            <a:extLst>
              <a:ext uri="{FF2B5EF4-FFF2-40B4-BE49-F238E27FC236}">
                <a16:creationId xmlns:a16="http://schemas.microsoft.com/office/drawing/2014/main" id="{78D77BE1-AF61-BE41-A676-3C7D6E1C469B}"/>
              </a:ext>
            </a:extLst>
          </p:cNvPr>
          <p:cNvSpPr/>
          <p:nvPr/>
        </p:nvSpPr>
        <p:spPr>
          <a:xfrm>
            <a:off x="10663179" y="3217498"/>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2025</a:t>
            </a:r>
          </a:p>
        </p:txBody>
      </p:sp>
      <p:sp>
        <p:nvSpPr>
          <p:cNvPr id="304" name="Rectangle 303">
            <a:extLst>
              <a:ext uri="{FF2B5EF4-FFF2-40B4-BE49-F238E27FC236}">
                <a16:creationId xmlns:a16="http://schemas.microsoft.com/office/drawing/2014/main" id="{0C43A2BF-7A99-3645-B2BE-53801B2A24FE}"/>
              </a:ext>
            </a:extLst>
          </p:cNvPr>
          <p:cNvSpPr/>
          <p:nvPr/>
        </p:nvSpPr>
        <p:spPr>
          <a:xfrm>
            <a:off x="11291931" y="3221065"/>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2028</a:t>
            </a:r>
          </a:p>
        </p:txBody>
      </p:sp>
      <p:sp>
        <p:nvSpPr>
          <p:cNvPr id="151" name="Rectangle 150">
            <a:extLst>
              <a:ext uri="{FF2B5EF4-FFF2-40B4-BE49-F238E27FC236}">
                <a16:creationId xmlns:a16="http://schemas.microsoft.com/office/drawing/2014/main" id="{CFDA4803-78DB-4A0E-A6D6-26120D77239F}"/>
              </a:ext>
            </a:extLst>
          </p:cNvPr>
          <p:cNvSpPr/>
          <p:nvPr/>
        </p:nvSpPr>
        <p:spPr>
          <a:xfrm>
            <a:off x="5616967" y="3247829"/>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2018</a:t>
            </a:r>
          </a:p>
        </p:txBody>
      </p:sp>
      <p:sp>
        <p:nvSpPr>
          <p:cNvPr id="155" name="Rectangle 154">
            <a:extLst>
              <a:ext uri="{FF2B5EF4-FFF2-40B4-BE49-F238E27FC236}">
                <a16:creationId xmlns:a16="http://schemas.microsoft.com/office/drawing/2014/main" id="{FC0E91F2-7D3C-474D-8771-F722E0D6EB75}"/>
              </a:ext>
            </a:extLst>
          </p:cNvPr>
          <p:cNvSpPr/>
          <p:nvPr/>
        </p:nvSpPr>
        <p:spPr>
          <a:xfrm>
            <a:off x="7926328" y="3278193"/>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2021</a:t>
            </a:r>
          </a:p>
        </p:txBody>
      </p:sp>
      <p:sp>
        <p:nvSpPr>
          <p:cNvPr id="157" name="Rectangle 156">
            <a:extLst>
              <a:ext uri="{FF2B5EF4-FFF2-40B4-BE49-F238E27FC236}">
                <a16:creationId xmlns:a16="http://schemas.microsoft.com/office/drawing/2014/main" id="{5EA59299-CC01-4EFE-87E4-CA82C673B0CE}"/>
              </a:ext>
            </a:extLst>
          </p:cNvPr>
          <p:cNvSpPr/>
          <p:nvPr/>
        </p:nvSpPr>
        <p:spPr>
          <a:xfrm>
            <a:off x="9879407" y="3230360"/>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2024</a:t>
            </a:r>
          </a:p>
        </p:txBody>
      </p:sp>
      <p:sp>
        <p:nvSpPr>
          <p:cNvPr id="160" name="Text Placeholder 32">
            <a:extLst>
              <a:ext uri="{FF2B5EF4-FFF2-40B4-BE49-F238E27FC236}">
                <a16:creationId xmlns:a16="http://schemas.microsoft.com/office/drawing/2014/main" id="{0CF02F89-8E9B-4CEF-9BB4-943DA2C9D5B2}"/>
              </a:ext>
            </a:extLst>
          </p:cNvPr>
          <p:cNvSpPr txBox="1">
            <a:spLocks/>
          </p:cNvSpPr>
          <p:nvPr/>
        </p:nvSpPr>
        <p:spPr>
          <a:xfrm>
            <a:off x="11092268" y="1526356"/>
            <a:ext cx="1070196" cy="3045841"/>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2026+</a:t>
            </a:r>
            <a:r>
              <a:rPr lang="en-US" sz="1255" dirty="0">
                <a:solidFill>
                  <a:prstClr val="white"/>
                </a:solidFill>
                <a:highlight>
                  <a:srgbClr val="000000"/>
                </a:highlight>
                <a:latin typeface="Metrophobic" panose="020B0604020202020204" charset="0"/>
                <a:sym typeface="Arial"/>
              </a:rPr>
              <a:t> Technology and Reputation Risk Reduction flights testing your hardware and software on our Reusable Rockets</a:t>
            </a:r>
            <a:endParaRPr lang="en-US" sz="1255" kern="0" dirty="0">
              <a:solidFill>
                <a:prstClr val="white"/>
              </a:solidFill>
              <a:highlight>
                <a:srgbClr val="000000"/>
              </a:highlight>
              <a:latin typeface="Metrophobic" panose="020B0604020202020204" charset="0"/>
              <a:cs typeface="Arial"/>
              <a:sym typeface="Arial"/>
            </a:endParaRPr>
          </a:p>
          <a:p>
            <a:pPr defTabSz="914384">
              <a:defRPr/>
            </a:pPr>
            <a:endParaRPr lang="en-US" dirty="0">
              <a:solidFill>
                <a:prstClr val="white"/>
              </a:solidFill>
              <a:sym typeface="Arial"/>
            </a:endParaRPr>
          </a:p>
          <a:p>
            <a:pPr defTabSz="914384">
              <a:defRPr/>
            </a:pPr>
            <a:endParaRPr lang="en-US" dirty="0">
              <a:solidFill>
                <a:prstClr val="white"/>
              </a:solidFill>
              <a:sym typeface="Arial"/>
            </a:endParaRPr>
          </a:p>
        </p:txBody>
      </p:sp>
      <p:graphicFrame>
        <p:nvGraphicFramePr>
          <p:cNvPr id="163" name="Diagram 162">
            <a:extLst>
              <a:ext uri="{FF2B5EF4-FFF2-40B4-BE49-F238E27FC236}">
                <a16:creationId xmlns:a16="http://schemas.microsoft.com/office/drawing/2014/main" id="{C21A2781-ED4C-4A0E-85F0-6B164897928F}"/>
              </a:ext>
            </a:extLst>
          </p:cNvPr>
          <p:cNvGraphicFramePr/>
          <p:nvPr/>
        </p:nvGraphicFramePr>
        <p:xfrm>
          <a:off x="9421006" y="3694336"/>
          <a:ext cx="2770995" cy="156323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pic>
        <p:nvPicPr>
          <p:cNvPr id="3" name="Picture 2">
            <a:extLst>
              <a:ext uri="{FF2B5EF4-FFF2-40B4-BE49-F238E27FC236}">
                <a16:creationId xmlns:a16="http://schemas.microsoft.com/office/drawing/2014/main" id="{BFA09F6A-F480-CDF0-6206-3AB973FE458D}"/>
              </a:ext>
            </a:extLst>
          </p:cNvPr>
          <p:cNvPicPr>
            <a:picLocks noChangeAspect="1"/>
          </p:cNvPicPr>
          <p:nvPr/>
        </p:nvPicPr>
        <p:blipFill>
          <a:blip r:embed="rId23"/>
          <a:stretch>
            <a:fillRect/>
          </a:stretch>
        </p:blipFill>
        <p:spPr>
          <a:xfrm>
            <a:off x="8285285" y="32910"/>
            <a:ext cx="960829" cy="1085830"/>
          </a:xfrm>
          <a:prstGeom prst="rect">
            <a:avLst/>
          </a:prstGeom>
        </p:spPr>
      </p:pic>
      <p:sp>
        <p:nvSpPr>
          <p:cNvPr id="5" name="Text Placeholder 32">
            <a:extLst>
              <a:ext uri="{FF2B5EF4-FFF2-40B4-BE49-F238E27FC236}">
                <a16:creationId xmlns:a16="http://schemas.microsoft.com/office/drawing/2014/main" id="{40277BD2-187A-4E98-BAC5-DE88605E7A12}"/>
              </a:ext>
            </a:extLst>
          </p:cNvPr>
          <p:cNvSpPr txBox="1">
            <a:spLocks/>
          </p:cNvSpPr>
          <p:nvPr/>
        </p:nvSpPr>
        <p:spPr>
          <a:xfrm>
            <a:off x="8234467" y="1706300"/>
            <a:ext cx="962446"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2022 USAF Contract for Hypersonic Reusable Launch Vehicle</a:t>
            </a:r>
            <a:endParaRPr lang="en-US" dirty="0">
              <a:solidFill>
                <a:prstClr val="white"/>
              </a:solidFill>
              <a:latin typeface="Duplicate Sans Medium" pitchFamily="2" charset="77"/>
              <a:sym typeface="Arial"/>
            </a:endParaRPr>
          </a:p>
          <a:p>
            <a:pPr defTabSz="914384">
              <a:defRPr/>
            </a:pPr>
            <a:endParaRPr lang="en-US" dirty="0">
              <a:solidFill>
                <a:prstClr val="white"/>
              </a:solidFill>
              <a:sym typeface="Arial"/>
            </a:endParaRPr>
          </a:p>
        </p:txBody>
      </p:sp>
      <p:sp>
        <p:nvSpPr>
          <p:cNvPr id="6" name="TextBox 5">
            <a:extLst>
              <a:ext uri="{FF2B5EF4-FFF2-40B4-BE49-F238E27FC236}">
                <a16:creationId xmlns:a16="http://schemas.microsoft.com/office/drawing/2014/main" id="{A9118035-92F0-DE36-0AF3-1DB24D9EEB4F}"/>
              </a:ext>
            </a:extLst>
          </p:cNvPr>
          <p:cNvSpPr txBox="1"/>
          <p:nvPr/>
        </p:nvSpPr>
        <p:spPr>
          <a:xfrm>
            <a:off x="9344841" y="6387362"/>
            <a:ext cx="2781660" cy="461665"/>
          </a:xfrm>
          <a:prstGeom prst="rect">
            <a:avLst/>
          </a:prstGeom>
          <a:noFill/>
        </p:spPr>
        <p:txBody>
          <a:bodyPr wrap="none" rtlCol="0">
            <a:spAutoFit/>
          </a:bodyPr>
          <a:lstStyle/>
          <a:p>
            <a:pPr defTabSz="914384">
              <a:defRPr/>
            </a:pPr>
            <a:r>
              <a:rPr lang="en-US" sz="1200" dirty="0">
                <a:solidFill>
                  <a:prstClr val="white"/>
                </a:solidFill>
                <a:latin typeface="Calibri" panose="020F0502020204030204"/>
                <a:cs typeface="Arial"/>
                <a:sym typeface="Arial"/>
              </a:rPr>
              <a:t>Working with companies like Vaya Space </a:t>
            </a:r>
          </a:p>
          <a:p>
            <a:pPr algn="ctr" defTabSz="914384">
              <a:defRPr/>
            </a:pPr>
            <a:r>
              <a:rPr lang="en-US" sz="1200" dirty="0">
                <a:solidFill>
                  <a:prstClr val="white"/>
                </a:solidFill>
                <a:latin typeface="Calibri" panose="020F0502020204030204"/>
                <a:cs typeface="Arial"/>
                <a:sym typeface="Arial"/>
              </a:rPr>
              <a:t>and others Derisking Orbital access.</a:t>
            </a:r>
          </a:p>
        </p:txBody>
      </p:sp>
      <p:sp>
        <p:nvSpPr>
          <p:cNvPr id="7" name="TextBox 6">
            <a:extLst>
              <a:ext uri="{FF2B5EF4-FFF2-40B4-BE49-F238E27FC236}">
                <a16:creationId xmlns:a16="http://schemas.microsoft.com/office/drawing/2014/main" id="{8CEE4A3B-D5AA-4F4B-A889-F56EFE3A7470}"/>
              </a:ext>
            </a:extLst>
          </p:cNvPr>
          <p:cNvSpPr txBox="1"/>
          <p:nvPr/>
        </p:nvSpPr>
        <p:spPr>
          <a:xfrm>
            <a:off x="58713" y="4973180"/>
            <a:ext cx="8319644" cy="369332"/>
          </a:xfrm>
          <a:prstGeom prst="rect">
            <a:avLst/>
          </a:prstGeom>
          <a:noFill/>
        </p:spPr>
        <p:txBody>
          <a:bodyPr wrap="square" rtlCol="0">
            <a:spAutoFit/>
          </a:bodyPr>
          <a:lstStyle/>
          <a:p>
            <a:pPr defTabSz="914384">
              <a:defRPr/>
            </a:pPr>
            <a:r>
              <a:rPr lang="en-US" b="1" i="1" dirty="0">
                <a:solidFill>
                  <a:schemeClr val="accent4"/>
                </a:solidFill>
                <a:latin typeface="Calibri" panose="020F0502020204030204"/>
                <a:cs typeface="Arial"/>
                <a:sym typeface="Arial"/>
              </a:rPr>
              <a:t>Our Competitive Advantage is demonstrated by what our team has already done: </a:t>
            </a:r>
          </a:p>
        </p:txBody>
      </p:sp>
      <p:pic>
        <p:nvPicPr>
          <p:cNvPr id="24" name="Picture 23">
            <a:extLst>
              <a:ext uri="{FF2B5EF4-FFF2-40B4-BE49-F238E27FC236}">
                <a16:creationId xmlns:a16="http://schemas.microsoft.com/office/drawing/2014/main" id="{AC6D4545-A6A0-F897-B145-AE8C73F5B6A6}"/>
              </a:ext>
            </a:extLst>
          </p:cNvPr>
          <p:cNvPicPr>
            <a:picLocks noChangeAspect="1"/>
          </p:cNvPicPr>
          <p:nvPr/>
        </p:nvPicPr>
        <p:blipFill>
          <a:blip r:embed="rId24"/>
          <a:stretch>
            <a:fillRect/>
          </a:stretch>
        </p:blipFill>
        <p:spPr>
          <a:xfrm>
            <a:off x="9752463" y="10630"/>
            <a:ext cx="759043" cy="1503300"/>
          </a:xfrm>
          <a:prstGeom prst="rect">
            <a:avLst/>
          </a:prstGeom>
        </p:spPr>
      </p:pic>
      <p:pic>
        <p:nvPicPr>
          <p:cNvPr id="26" name="Picture 25">
            <a:extLst>
              <a:ext uri="{FF2B5EF4-FFF2-40B4-BE49-F238E27FC236}">
                <a16:creationId xmlns:a16="http://schemas.microsoft.com/office/drawing/2014/main" id="{555E2522-B5B3-E9FC-1806-6635BB414FA4}"/>
              </a:ext>
            </a:extLst>
          </p:cNvPr>
          <p:cNvPicPr>
            <a:picLocks noChangeAspect="1"/>
          </p:cNvPicPr>
          <p:nvPr/>
        </p:nvPicPr>
        <p:blipFill>
          <a:blip r:embed="rId25"/>
          <a:stretch>
            <a:fillRect/>
          </a:stretch>
        </p:blipFill>
        <p:spPr>
          <a:xfrm>
            <a:off x="8477178" y="5618110"/>
            <a:ext cx="798392" cy="1206981"/>
          </a:xfrm>
          <a:prstGeom prst="rect">
            <a:avLst/>
          </a:prstGeom>
        </p:spPr>
      </p:pic>
      <p:pic>
        <p:nvPicPr>
          <p:cNvPr id="33" name="Picture 32">
            <a:extLst>
              <a:ext uri="{FF2B5EF4-FFF2-40B4-BE49-F238E27FC236}">
                <a16:creationId xmlns:a16="http://schemas.microsoft.com/office/drawing/2014/main" id="{6A86C673-172A-47AC-79A0-C3126C51D997}"/>
              </a:ext>
            </a:extLst>
          </p:cNvPr>
          <p:cNvPicPr>
            <a:picLocks noChangeAspect="1"/>
          </p:cNvPicPr>
          <p:nvPr/>
        </p:nvPicPr>
        <p:blipFill>
          <a:blip r:embed="rId26"/>
          <a:stretch>
            <a:fillRect/>
          </a:stretch>
        </p:blipFill>
        <p:spPr>
          <a:xfrm rot="5400000">
            <a:off x="10881057" y="512031"/>
            <a:ext cx="1503300" cy="463880"/>
          </a:xfrm>
          <a:prstGeom prst="rect">
            <a:avLst/>
          </a:prstGeom>
        </p:spPr>
      </p:pic>
      <p:pic>
        <p:nvPicPr>
          <p:cNvPr id="8" name="Picture 7" descr="A person standing next to a large machine&#10;&#10;AI-generated content may be incorrect.">
            <a:extLst>
              <a:ext uri="{FF2B5EF4-FFF2-40B4-BE49-F238E27FC236}">
                <a16:creationId xmlns:a16="http://schemas.microsoft.com/office/drawing/2014/main" id="{14B418F9-FD1A-F95A-143D-CF5E11B9C6F3}"/>
              </a:ext>
            </a:extLst>
          </p:cNvPr>
          <p:cNvPicPr>
            <a:picLocks noChangeAspect="1"/>
          </p:cNvPicPr>
          <p:nvPr/>
        </p:nvPicPr>
        <p:blipFill>
          <a:blip r:embed="rId27"/>
          <a:stretch>
            <a:fillRect/>
          </a:stretch>
        </p:blipFill>
        <p:spPr>
          <a:xfrm>
            <a:off x="9738741" y="5078258"/>
            <a:ext cx="1745471" cy="1309104"/>
          </a:xfrm>
          <a:prstGeom prst="rect">
            <a:avLst/>
          </a:prstGeom>
        </p:spPr>
      </p:pic>
    </p:spTree>
    <p:extLst>
      <p:ext uri="{BB962C8B-B14F-4D97-AF65-F5344CB8AC3E}">
        <p14:creationId xmlns:p14="http://schemas.microsoft.com/office/powerpoint/2010/main" val="3544984704"/>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RISK FACTORS &amp; MITIGATION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292608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Risk</a:t>
                      </a:r>
                    </a:p>
                  </a:txBody>
                  <a:tcPr>
                    <a:solidFill>
                      <a:srgbClr val="0A142A"/>
                    </a:solidFill>
                  </a:tcPr>
                </a:tc>
                <a:tc>
                  <a:txBody>
                    <a:bodyPr/>
                    <a:lstStyle/>
                    <a:p>
                      <a:r>
                        <a:rPr sz="1100" b="1">
                          <a:solidFill>
                            <a:srgbClr val="009ED9"/>
                          </a:solidFill>
                          <a:latin typeface="Calibri"/>
                        </a:rPr>
                        <a:t>Mitigation</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Regulatory (ITAR, FAA)</a:t>
                      </a:r>
                    </a:p>
                  </a:txBody>
                  <a:tcPr>
                    <a:solidFill>
                      <a:srgbClr val="0D1220"/>
                    </a:solidFill>
                  </a:tcPr>
                </a:tc>
                <a:tc>
                  <a:txBody>
                    <a:bodyPr/>
                    <a:lstStyle/>
                    <a:p>
                      <a:r>
                        <a:rPr sz="1100">
                          <a:solidFill>
                            <a:srgbClr val="FFFFFF"/>
                          </a:solidFill>
                          <a:latin typeface="Calibri"/>
                        </a:rPr>
                        <a:t>15+ year compliance track record; ITAR counsel; clean domestic (Texas) corporate structure</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Scorpius integration</a:t>
                      </a:r>
                    </a:p>
                  </a:txBody>
                  <a:tcPr>
                    <a:solidFill>
                      <a:srgbClr val="101626"/>
                    </a:solidFill>
                  </a:tcPr>
                </a:tc>
                <a:tc>
                  <a:txBody>
                    <a:bodyPr/>
                    <a:lstStyle/>
                    <a:p>
                      <a:r>
                        <a:rPr sz="1100">
                          <a:solidFill>
                            <a:srgbClr val="FFFFFF"/>
                          </a:solidFill>
                          <a:latin typeface="Calibri"/>
                        </a:rPr>
                        <a:t>Exos is existing 18% owner; team/operations already familiar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Technology (RDRE)</a:t>
                      </a:r>
                    </a:p>
                  </a:txBody>
                  <a:tcPr>
                    <a:solidFill>
                      <a:srgbClr val="0D1220"/>
                    </a:solidFill>
                  </a:tcPr>
                </a:tc>
                <a:tc>
                  <a:txBody>
                    <a:bodyPr/>
                    <a:lstStyle/>
                    <a:p>
                      <a:r>
                        <a:rPr sz="1100">
                          <a:solidFill>
                            <a:srgbClr val="FFFFFF"/>
                          </a:solidFill>
                          <a:latin typeface="Calibri"/>
                        </a:rPr>
                        <a:t>SBIR Phase II funded; failure doesn't affect core business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Market liquidity post-listing</a:t>
                      </a:r>
                    </a:p>
                  </a:txBody>
                  <a:tcPr>
                    <a:solidFill>
                      <a:srgbClr val="101626"/>
                    </a:solidFill>
                  </a:tcPr>
                </a:tc>
                <a:tc>
                  <a:txBody>
                    <a:bodyPr/>
                    <a:lstStyle/>
                    <a:p>
                      <a:r>
                        <a:rPr sz="1100">
                          <a:solidFill>
                            <a:srgbClr val="FFFFFF"/>
                          </a:solidFill>
                          <a:latin typeface="Calibri"/>
                        </a:rPr>
                        <a:t>Market maker appointed; EAI sell-down provides volume</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Single customer dependency</a:t>
                      </a:r>
                    </a:p>
                  </a:txBody>
                  <a:tcPr>
                    <a:solidFill>
                      <a:srgbClr val="0D1220"/>
                    </a:solidFill>
                  </a:tcPr>
                </a:tc>
                <a:tc>
                  <a:txBody>
                    <a:bodyPr/>
                    <a:lstStyle/>
                    <a:p>
                      <a:r>
                        <a:rPr sz="1100">
                          <a:solidFill>
                            <a:srgbClr val="FFFFFF"/>
                          </a:solidFill>
                          <a:latin typeface="Calibri"/>
                        </a:rPr>
                        <a:t>Diversified: DoD, NASA, 3 defense primes, commercial, university</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Key person risk</a:t>
                      </a:r>
                    </a:p>
                  </a:txBody>
                  <a:tcPr>
                    <a:solidFill>
                      <a:srgbClr val="101626"/>
                    </a:solidFill>
                  </a:tcPr>
                </a:tc>
                <a:tc>
                  <a:txBody>
                    <a:bodyPr/>
                    <a:lstStyle/>
                    <a:p>
                      <a:r>
                        <a:rPr sz="1100">
                          <a:solidFill>
                            <a:srgbClr val="FFFFFF"/>
                          </a:solidFill>
                          <a:latin typeface="Calibri"/>
                        </a:rPr>
                        <a:t>D&amp;O insurance; COO operational; 50+ years combined exec experience</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BLK4 timeline</a:t>
                      </a:r>
                    </a:p>
                  </a:txBody>
                  <a:tcPr>
                    <a:solidFill>
                      <a:srgbClr val="0D1220"/>
                    </a:solidFill>
                  </a:tcPr>
                </a:tc>
                <a:tc>
                  <a:txBody>
                    <a:bodyPr/>
                    <a:lstStyle/>
                    <a:p>
                      <a:r>
                        <a:rPr sz="1100">
                          <a:solidFill>
                            <a:srgbClr val="FFFFFF"/>
                          </a:solidFill>
                          <a:latin typeface="Calibri"/>
                        </a:rPr>
                        <a:t>18–24 mo. development in projections; CY2026–2027 revenue not BLK4 dependent</a:t>
                      </a:r>
                    </a:p>
                  </a:txBody>
                  <a:tcPr>
                    <a:solidFill>
                      <a:srgbClr val="0D1220"/>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145472"/>
            <a:ext cx="10058400" cy="731520"/>
          </a:xfrm>
          <a:prstGeom prst="rect">
            <a:avLst/>
          </a:prstGeom>
          <a:noFill/>
        </p:spPr>
        <p:txBody>
          <a:bodyPr wrap="square">
            <a:spAutoFit/>
          </a:bodyPr>
          <a:lstStyle/>
          <a:p>
            <a:pPr algn="l">
              <a:spcAft>
                <a:spcPts val="400"/>
              </a:spcAft>
            </a:pPr>
            <a:r>
              <a:rPr sz="4000" b="1">
                <a:solidFill>
                  <a:srgbClr val="FFFFFF"/>
                </a:solidFill>
                <a:latin typeface="Calibri"/>
              </a:rPr>
              <a:t>THE ASK</a:t>
            </a:r>
          </a:p>
        </p:txBody>
      </p:sp>
      <p:sp>
        <p:nvSpPr>
          <p:cNvPr id="5" name="Rectangle 4"/>
          <p:cNvSpPr/>
          <p:nvPr/>
        </p:nvSpPr>
        <p:spPr>
          <a:xfrm>
            <a:off x="731520" y="955617"/>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42752"/>
            <a:ext cx="10058400" cy="457200"/>
          </a:xfrm>
          <a:prstGeom prst="rect">
            <a:avLst/>
          </a:prstGeom>
          <a:noFill/>
        </p:spPr>
        <p:txBody>
          <a:bodyPr wrap="square">
            <a:spAutoFit/>
          </a:bodyPr>
          <a:lstStyle/>
          <a:p>
            <a:pPr algn="l">
              <a:spcAft>
                <a:spcPts val="400"/>
              </a:spcAft>
            </a:pPr>
            <a:r>
              <a:rPr sz="1600" b="1">
                <a:solidFill>
                  <a:srgbClr val="009ED9"/>
                </a:solidFill>
                <a:latin typeface="Calibri"/>
              </a:rPr>
              <a:t>EXOS AEROSPACE — Licensed Reusable Launch | Lunar-Proven Technology | Profitable</a:t>
            </a:r>
          </a:p>
        </p:txBody>
      </p:sp>
      <p:graphicFrame>
        <p:nvGraphicFramePr>
          <p:cNvPr id="7" name="Table 6"/>
          <p:cNvGraphicFramePr>
            <a:graphicFrameLocks noGrp="1"/>
          </p:cNvGraphicFramePr>
          <p:nvPr>
            <p:extLst>
              <p:ext uri="{D42A27DB-BD31-4B8C-83A1-F6EECF244321}">
                <p14:modId xmlns:p14="http://schemas.microsoft.com/office/powerpoint/2010/main" val="2578401430"/>
              </p:ext>
            </p:extLst>
          </p:nvPr>
        </p:nvGraphicFramePr>
        <p:xfrm>
          <a:off x="731520" y="1791392"/>
          <a:ext cx="10515600" cy="256032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endParaRPr/>
                    </a:p>
                  </a:txBody>
                  <a:tcPr>
                    <a:solidFill>
                      <a:srgbClr val="0A142A"/>
                    </a:solidFill>
                  </a:tcPr>
                </a:tc>
                <a:tc>
                  <a:txBody>
                    <a:bodyPr/>
                    <a:lstStyle/>
                    <a:p>
                      <a:endParaRP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Raising</a:t>
                      </a:r>
                    </a:p>
                  </a:txBody>
                  <a:tcPr>
                    <a:solidFill>
                      <a:srgbClr val="0D1220"/>
                    </a:solidFill>
                  </a:tcPr>
                </a:tc>
                <a:tc>
                  <a:txBody>
                    <a:bodyPr/>
                    <a:lstStyle/>
                    <a:p>
                      <a:r>
                        <a:rPr sz="1100">
                          <a:solidFill>
                            <a:srgbClr val="FFFFFF"/>
                          </a:solidFill>
                          <a:latin typeface="Calibri"/>
                        </a:rPr>
                        <a:t>$10M Series A</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Revenue Trajectory</a:t>
                      </a:r>
                    </a:p>
                  </a:txBody>
                  <a:tcPr>
                    <a:solidFill>
                      <a:srgbClr val="101626"/>
                    </a:solidFill>
                  </a:tcPr>
                </a:tc>
                <a:tc>
                  <a:txBody>
                    <a:bodyPr/>
                    <a:lstStyle/>
                    <a:p>
                      <a:r>
                        <a:rPr sz="1100">
                          <a:solidFill>
                            <a:srgbClr val="FFFFFF"/>
                          </a:solidFill>
                          <a:latin typeface="Calibri"/>
                        </a:rPr>
                        <a:t>$4.4M (2026) → $6.2M → $25M → $55M → $120M (2030)</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Reusable Launch License</a:t>
                      </a:r>
                    </a:p>
                  </a:txBody>
                  <a:tcPr>
                    <a:solidFill>
                      <a:srgbClr val="0D1220"/>
                    </a:solidFill>
                  </a:tcPr>
                </a:tc>
                <a:tc>
                  <a:txBody>
                    <a:bodyPr/>
                    <a:lstStyle/>
                    <a:p>
                      <a:r>
                        <a:rPr sz="1100">
                          <a:solidFill>
                            <a:srgbClr val="FFFFFF"/>
                          </a:solidFill>
                          <a:latin typeface="Calibri"/>
                        </a:rPr>
                        <a:t>One of only three U.S. companies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TRL-9 Technology</a:t>
                      </a:r>
                    </a:p>
                  </a:txBody>
                  <a:tcPr>
                    <a:solidFill>
                      <a:srgbClr val="101626"/>
                    </a:solidFill>
                  </a:tcPr>
                </a:tc>
                <a:tc>
                  <a:txBody>
                    <a:bodyPr/>
                    <a:lstStyle/>
                    <a:p>
                      <a:r>
                        <a:rPr sz="1100">
                          <a:solidFill>
                            <a:srgbClr val="FFFFFF"/>
                          </a:solidFill>
                          <a:latin typeface="Calibri"/>
                        </a:rPr>
                        <a:t>Scorpius fuel tanks operating on the Moon</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Gov't Co-Investment</a:t>
                      </a:r>
                    </a:p>
                  </a:txBody>
                  <a:tcPr>
                    <a:solidFill>
                      <a:srgbClr val="0D1220"/>
                    </a:solidFill>
                  </a:tcPr>
                </a:tc>
                <a:tc>
                  <a:txBody>
                    <a:bodyPr/>
                    <a:lstStyle/>
                    <a:p>
                      <a:r>
                        <a:rPr sz="1100">
                          <a:solidFill>
                            <a:srgbClr val="FFFFFF"/>
                          </a:solidFill>
                          <a:latin typeface="Calibri"/>
                        </a:rPr>
                        <a:t>$34M TACFI/STRATFI pipeline — 3.4x multiplier</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Profitability</a:t>
                      </a:r>
                    </a:p>
                  </a:txBody>
                  <a:tcPr>
                    <a:solidFill>
                      <a:srgbClr val="101626"/>
                    </a:solidFill>
                  </a:tcPr>
                </a:tc>
                <a:tc>
                  <a:txBody>
                    <a:bodyPr/>
                    <a:lstStyle/>
                    <a:p>
                      <a:r>
                        <a:rPr sz="1100">
                          <a:solidFill>
                            <a:srgbClr val="FFFFFF"/>
                          </a:solidFill>
                          <a:latin typeface="Calibri"/>
                        </a:rPr>
                        <a:t>EBITDA-positive since 2025 — 17% margin</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$10M ENABLES:</a:t>
            </a:r>
          </a:p>
        </p:txBody>
      </p:sp>
      <p:sp>
        <p:nvSpPr>
          <p:cNvPr id="9" name="TextBox 8"/>
          <p:cNvSpPr txBox="1"/>
          <p:nvPr/>
        </p:nvSpPr>
        <p:spPr>
          <a:xfrm>
            <a:off x="731520" y="4709160"/>
            <a:ext cx="5029200" cy="1371600"/>
          </a:xfrm>
          <a:prstGeom prst="rect">
            <a:avLst/>
          </a:prstGeom>
          <a:noFill/>
        </p:spPr>
        <p:txBody>
          <a:bodyPr wrap="square">
            <a:spAutoFit/>
          </a:bodyPr>
          <a:lstStyle/>
          <a:p>
            <a:pPr algn="l">
              <a:spcBef>
                <a:spcPts val="0"/>
              </a:spcBef>
              <a:spcAft>
                <a:spcPts val="300"/>
              </a:spcAft>
            </a:pPr>
            <a:r>
              <a:rPr lang="en-US" sz="1200" b="0" dirty="0">
                <a:solidFill>
                  <a:srgbClr val="CCCCCC"/>
                </a:solidFill>
              </a:rPr>
              <a:t>•  Scorpius acquisition ($3.4M — Right of First Refusal)</a:t>
            </a:r>
          </a:p>
          <a:p>
            <a:pPr algn="l">
              <a:spcBef>
                <a:spcPts val="0"/>
              </a:spcBef>
              <a:spcAft>
                <a:spcPts val="300"/>
              </a:spcAft>
            </a:pPr>
            <a:r>
              <a:rPr lang="en-US" sz="1200" b="0" dirty="0">
                <a:solidFill>
                  <a:srgbClr val="CCCCCC"/>
                </a:solidFill>
              </a:rPr>
              <a:t>•  TACFI match → unlocks $30M STRATFI</a:t>
            </a:r>
          </a:p>
          <a:p>
            <a:pPr algn="l">
              <a:spcBef>
                <a:spcPts val="0"/>
              </a:spcBef>
              <a:spcAft>
                <a:spcPts val="300"/>
              </a:spcAft>
            </a:pPr>
            <a:r>
              <a:rPr lang="en-US" sz="1200" b="0" dirty="0">
                <a:solidFill>
                  <a:srgbClr val="CCCCCC"/>
                </a:solidFill>
              </a:rPr>
              <a:t>•  BLK4 commercial fleet development</a:t>
            </a:r>
          </a:p>
          <a:p>
            <a:pPr algn="l">
              <a:spcBef>
                <a:spcPts val="0"/>
              </a:spcBef>
              <a:spcAft>
                <a:spcPts val="300"/>
              </a:spcAft>
            </a:pPr>
            <a:r>
              <a:rPr lang="en-US" sz="1200" b="0" dirty="0">
                <a:solidFill>
                  <a:srgbClr val="CCCCCC"/>
                </a:solidFill>
              </a:rPr>
              <a:t>•  Public listing — Texas Stock Exchange (TXSE), ~18–24 mo</a:t>
            </a:r>
          </a:p>
        </p:txBody>
      </p:sp>
      <p:sp>
        <p:nvSpPr>
          <p:cNvPr id="10" name="TextBox 9"/>
          <p:cNvSpPr txBox="1"/>
          <p:nvPr/>
        </p:nvSpPr>
        <p:spPr>
          <a:xfrm>
            <a:off x="640080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NEXT STEPS:</a:t>
            </a:r>
          </a:p>
        </p:txBody>
      </p:sp>
      <p:sp>
        <p:nvSpPr>
          <p:cNvPr id="11" name="TextBox 10"/>
          <p:cNvSpPr txBox="1"/>
          <p:nvPr/>
        </p:nvSpPr>
        <p:spPr>
          <a:xfrm>
            <a:off x="6400800" y="4717472"/>
            <a:ext cx="5029200" cy="1371600"/>
          </a:xfrm>
          <a:prstGeom prst="rect">
            <a:avLst/>
          </a:prstGeom>
          <a:noFill/>
        </p:spPr>
        <p:txBody>
          <a:bodyPr wrap="square">
            <a:spAutoFit/>
          </a:bodyPr>
          <a:lstStyle/>
          <a:p>
            <a:pPr algn="l">
              <a:spcBef>
                <a:spcPts val="0"/>
              </a:spcBef>
              <a:spcAft>
                <a:spcPts val="300"/>
              </a:spcAft>
            </a:pPr>
            <a:r>
              <a:rPr sz="1200" b="0">
                <a:solidFill>
                  <a:srgbClr val="CCCCCC"/>
                </a:solidFill>
                <a:latin typeface="Calibri"/>
              </a:rPr>
              <a:t>1.  Review this materials package and financial model</a:t>
            </a:r>
          </a:p>
          <a:p>
            <a:pPr algn="l">
              <a:spcBef>
                <a:spcPts val="0"/>
              </a:spcBef>
              <a:spcAft>
                <a:spcPts val="300"/>
              </a:spcAft>
            </a:pPr>
            <a:r>
              <a:rPr sz="1200" b="0">
                <a:solidFill>
                  <a:srgbClr val="CCCCCC"/>
                </a:solidFill>
                <a:latin typeface="Calibri"/>
              </a:rPr>
              <a:t>2.  Sign NDA for data room access</a:t>
            </a:r>
          </a:p>
          <a:p>
            <a:pPr algn="l">
              <a:spcBef>
                <a:spcPts val="0"/>
              </a:spcBef>
              <a:spcAft>
                <a:spcPts val="300"/>
              </a:spcAft>
            </a:pPr>
            <a:r>
              <a:rPr sz="1200" b="0">
                <a:solidFill>
                  <a:srgbClr val="CCCCCC"/>
                </a:solidFill>
                <a:latin typeface="Calibri"/>
              </a:rPr>
              <a:t>3.  Management presentation (in person or virtual)</a:t>
            </a:r>
          </a:p>
          <a:p>
            <a:pPr algn="l">
              <a:spcBef>
                <a:spcPts val="0"/>
              </a:spcBef>
              <a:spcAft>
                <a:spcPts val="300"/>
              </a:spcAft>
            </a:pPr>
            <a:r>
              <a:rPr sz="1200" b="0">
                <a:solidFill>
                  <a:srgbClr val="CCCCCC"/>
                </a:solidFill>
                <a:latin typeface="Calibri"/>
              </a:rPr>
              <a:t>4.  Confirm investment structure and timeline</a:t>
            </a:r>
          </a:p>
        </p:txBody>
      </p:sp>
      <p:sp>
        <p:nvSpPr>
          <p:cNvPr id="12" name="Rounded Rectangle 11"/>
          <p:cNvSpPr/>
          <p:nvPr/>
        </p:nvSpPr>
        <p:spPr>
          <a:xfrm>
            <a:off x="3200400" y="5760720"/>
            <a:ext cx="5486400" cy="54864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John Quinn, CEO  |  jquinn@</a:t>
            </a:r>
            <a:r>
              <a:rPr lang="en-US" sz="1300" b="1" dirty="0">
                <a:solidFill>
                  <a:srgbClr val="009ED9"/>
                </a:solidFill>
                <a:latin typeface="Calibri"/>
              </a:rPr>
              <a:t>exosasero.com</a:t>
            </a:r>
            <a:r>
              <a:rPr sz="1300" b="1" dirty="0">
                <a:solidFill>
                  <a:srgbClr val="009ED9"/>
                </a:solidFill>
                <a:latin typeface="Calibri"/>
              </a:rPr>
              <a:t> |  </a:t>
            </a:r>
            <a:r>
              <a:rPr lang="en-US" sz="1300" b="1" dirty="0">
                <a:solidFill>
                  <a:srgbClr val="009ED9"/>
                </a:solidFill>
                <a:latin typeface="Calibri"/>
              </a:rPr>
              <a:t>Mobile 972-740-8355 </a:t>
            </a:r>
          </a:p>
          <a:p>
            <a:pPr algn="ctr"/>
            <a:r>
              <a:rPr sz="1300" b="1" dirty="0">
                <a:solidFill>
                  <a:srgbClr val="009ED9"/>
                </a:solidFill>
                <a:latin typeface="Calibri"/>
              </a:rPr>
              <a:t>Exos Aerospace Systems &amp; Technologies, Inc.</a:t>
            </a:r>
          </a:p>
          <a:p>
            <a:pPr>
              <a:spcBef>
                <a:spcPts val="600"/>
              </a:spcBef>
            </a:pPr>
            <a:endParaRPr sz="1300" b="1" dirty="0">
              <a:solidFill>
                <a:srgbClr val="009ED9"/>
              </a:solidFill>
              <a:latin typeface="Calibri"/>
            </a:endParaRP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IMPORTANT DISCLAIMERS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515600" cy="5029200"/>
          </a:xfrm>
          <a:prstGeom prst="rect">
            <a:avLst/>
          </a:prstGeom>
          <a:noFill/>
        </p:spPr>
        <p:txBody>
          <a:bodyPr wrap="square">
            <a:spAutoFit/>
          </a:bodyPr>
          <a:lstStyle/>
          <a:p>
            <a:pPr algn="l">
              <a:spcBef>
                <a:spcPts val="0"/>
              </a:spcBef>
              <a:spcAft>
                <a:spcPts val="400"/>
              </a:spcAft>
            </a:pPr>
            <a:r>
              <a:rPr sz="1200" b="1">
                <a:solidFill>
                  <a:srgbClr val="009ED9"/>
                </a:solidFill>
                <a:latin typeface="Calibri"/>
              </a:rPr>
              <a:t>PRIVATE &amp; CONFIDENTIAL</a:t>
            </a:r>
          </a:p>
          <a:p>
            <a:pPr algn="l">
              <a:spcBef>
                <a:spcPts val="0"/>
              </a:spcBef>
              <a:spcAft>
                <a:spcPts val="1200"/>
              </a:spcAft>
            </a:pPr>
            <a:r>
              <a:rPr sz="900" b="0">
                <a:solidFill>
                  <a:srgbClr val="CCCCCC"/>
                </a:solidFill>
                <a:latin typeface="Calibri"/>
              </a:rPr>
              <a:t>This presentation is provided for informational purposes only to selected potential investors and does not constitute an offer to sell or a solicitation of an offer to buy any securities of Exos Aerospace Systems &amp; Technologies, Inc. or any affiliated entity.</a:t>
            </a:r>
          </a:p>
          <a:p>
            <a:pPr algn="l">
              <a:spcBef>
                <a:spcPts val="0"/>
              </a:spcBef>
              <a:spcAft>
                <a:spcPts val="400"/>
              </a:spcAft>
            </a:pPr>
            <a:r>
              <a:rPr sz="1200" b="1">
                <a:solidFill>
                  <a:srgbClr val="009ED9"/>
                </a:solidFill>
                <a:latin typeface="Calibri"/>
              </a:rPr>
              <a:t>FORWARD-LOOKING STATEMENTS</a:t>
            </a:r>
          </a:p>
          <a:p>
            <a:pPr algn="l">
              <a:spcBef>
                <a:spcPts val="0"/>
              </a:spcBef>
              <a:spcAft>
                <a:spcPts val="1200"/>
              </a:spcAft>
            </a:pPr>
            <a:r>
              <a:rPr sz="900" b="0">
                <a:solidFill>
                  <a:srgbClr val="CCCCCC"/>
                </a:solidFill>
                <a:latin typeface="Calibri"/>
              </a:rPr>
              <a:t>This presentation contains forward-looking statements within the meaning of applicable securities laws. These statements involve known and unknown risks, uncertainties, and other factors that may cause actual results to differ materially. Forward-looking statements include projections of revenue, earnings, capital expenditures, market size, product development timelines, and business strategy. Risk factors include: delays in vehicle development; failure to close the Scorpius acquisition; loss of government contracts; regulatory changes; competition; inability to raise additional capital; technology risks; and general economic conditions.</a:t>
            </a:r>
          </a:p>
          <a:p>
            <a:pPr algn="l">
              <a:spcBef>
                <a:spcPts val="0"/>
              </a:spcBef>
              <a:spcAft>
                <a:spcPts val="400"/>
              </a:spcAft>
            </a:pPr>
            <a:r>
              <a:rPr sz="1200" b="1">
                <a:solidFill>
                  <a:srgbClr val="009ED9"/>
                </a:solidFill>
                <a:latin typeface="Calibri"/>
              </a:rPr>
              <a:t>NO ASSURANCE</a:t>
            </a:r>
          </a:p>
          <a:p>
            <a:pPr algn="l">
              <a:spcBef>
                <a:spcPts val="0"/>
              </a:spcBef>
              <a:spcAft>
                <a:spcPts val="1200"/>
              </a:spcAft>
            </a:pPr>
            <a:r>
              <a:rPr sz="900" b="0">
                <a:solidFill>
                  <a:srgbClr val="CCCCCC"/>
                </a:solidFill>
                <a:latin typeface="Calibri"/>
              </a:rPr>
              <a:t>There can be no assurance that any projections or forward-looking statements will be realized. Past performance is not indicative of future results. Investors should conduct their own due diligence.</a:t>
            </a:r>
          </a:p>
          <a:p>
            <a:pPr algn="l">
              <a:spcBef>
                <a:spcPts val="0"/>
              </a:spcBef>
              <a:spcAft>
                <a:spcPts val="400"/>
              </a:spcAft>
            </a:pPr>
            <a:r>
              <a:rPr sz="1200" b="1">
                <a:solidFill>
                  <a:srgbClr val="009ED9"/>
                </a:solidFill>
                <a:latin typeface="Calibri"/>
              </a:rPr>
              <a:t>EXPORT CONTROL NOTICE</a:t>
            </a:r>
          </a:p>
          <a:p>
            <a:pPr algn="l">
              <a:spcBef>
                <a:spcPts val="0"/>
              </a:spcBef>
              <a:spcAft>
                <a:spcPts val="1200"/>
              </a:spcAft>
            </a:pPr>
            <a:r>
              <a:rPr sz="900" b="0">
                <a:solidFill>
                  <a:srgbClr val="CCCCCC"/>
                </a:solidFill>
                <a:latin typeface="Calibri"/>
              </a:rPr>
              <a:t>Exos Aerospace maintains full compliance with ITAR and EAR. All controlled technical data and government contract work are performed exclusively by U.S. persons within U.S. facilities. This presentation does not contain controlled technical data. Any international structure maintains full compliance with appropriate isolation.</a:t>
            </a:r>
          </a:p>
          <a:p>
            <a:pPr algn="l">
              <a:spcBef>
                <a:spcPts val="0"/>
              </a:spcBef>
              <a:spcAft>
                <a:spcPts val="400"/>
              </a:spcAft>
            </a:pPr>
            <a:r>
              <a:rPr sz="1200" b="1">
                <a:solidFill>
                  <a:srgbClr val="009ED9"/>
                </a:solidFill>
                <a:latin typeface="Calibri"/>
              </a:rPr>
              <a:t>CONFIDENTIALITY</a:t>
            </a:r>
          </a:p>
          <a:p>
            <a:pPr algn="l">
              <a:spcBef>
                <a:spcPts val="0"/>
              </a:spcBef>
              <a:spcAft>
                <a:spcPts val="800"/>
              </a:spcAft>
            </a:pPr>
            <a:r>
              <a:rPr sz="900" b="0">
                <a:solidFill>
                  <a:srgbClr val="CCCCCC"/>
                </a:solidFill>
                <a:latin typeface="Calibri"/>
              </a:rPr>
              <a:t>This presentation and its contents are strictly confidential. Recipients may not reproduce, distribute, or disclose without prior written consent. All financial figures are management estimates unless otherwise noted. Audited statements will be prepared in connection with the listing process.</a:t>
            </a:r>
          </a:p>
          <a:p>
            <a:pPr algn="l">
              <a:spcBef>
                <a:spcPts val="0"/>
              </a:spcBef>
              <a:spcAft>
                <a:spcPts val="0"/>
              </a:spcAft>
            </a:pPr>
            <a:r>
              <a:rPr sz="1000" b="0" i="1">
                <a:solidFill>
                  <a:srgbClr val="999999"/>
                </a:solidFill>
                <a:latin typeface="Calibri"/>
              </a:rPr>
              <a:t>Exos Aerospace Systems &amp; Technologies, Inc. | Greenville, TX | May 2026</a:t>
            </a:r>
          </a:p>
        </p:txBody>
      </p:sp>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17a3f04-5547-4e83-a675-a0677bb25779" xsi:nil="true"/>
    <lcf76f155ced4ddcb4097134ff3c332f xmlns="e1558a10-1879-455f-b4fa-cfdedf85505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93BA222B086F94CB80A831AC79560FC" ma:contentTypeVersion="13" ma:contentTypeDescription="Create a new document." ma:contentTypeScope="" ma:versionID="0bab313ac1c95545756a4347c05cb29b">
  <xsd:schema xmlns:xsd="http://www.w3.org/2001/XMLSchema" xmlns:xs="http://www.w3.org/2001/XMLSchema" xmlns:p="http://schemas.microsoft.com/office/2006/metadata/properties" xmlns:ns2="e1558a10-1879-455f-b4fa-cfdedf85505e" xmlns:ns3="917a3f04-5547-4e83-a675-a0677bb25779" targetNamespace="http://schemas.microsoft.com/office/2006/metadata/properties" ma:root="true" ma:fieldsID="deb4a5854e9b2c9944a7ea5d825dfb20" ns2:_="" ns3:_="">
    <xsd:import namespace="e1558a10-1879-455f-b4fa-cfdedf85505e"/>
    <xsd:import namespace="917a3f04-5547-4e83-a675-a0677bb25779"/>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558a10-1879-455f-b4fa-cfdedf85505e"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bbbd00b4-2324-4224-9886-28f0fa24cb4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7a3f04-5547-4e83-a675-a0677bb2577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23b004f-eaae-4f4e-933c-a06b1c0d22f7}" ma:internalName="TaxCatchAll" ma:showField="CatchAllData" ma:web="917a3f04-5547-4e83-a675-a0677bb257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4E1208-CA5A-4667-8C4D-84041752A3EA}">
  <ds:schemaRefs>
    <ds:schemaRef ds:uri="http://schemas.microsoft.com/office/2006/metadata/properties"/>
    <ds:schemaRef ds:uri="http://schemas.microsoft.com/office/infopath/2007/PartnerControls"/>
    <ds:schemaRef ds:uri="917a3f04-5547-4e83-a675-a0677bb25779"/>
    <ds:schemaRef ds:uri="e1558a10-1879-455f-b4fa-cfdedf85505e"/>
  </ds:schemaRefs>
</ds:datastoreItem>
</file>

<file path=customXml/itemProps2.xml><?xml version="1.0" encoding="utf-8"?>
<ds:datastoreItem xmlns:ds="http://schemas.openxmlformats.org/officeDocument/2006/customXml" ds:itemID="{40B2AEEC-7AED-4D24-8C5B-8FFFCA181FBC}">
  <ds:schemaRefs>
    <ds:schemaRef ds:uri="http://schemas.microsoft.com/sharepoint/v3/contenttype/forms"/>
  </ds:schemaRefs>
</ds:datastoreItem>
</file>

<file path=customXml/itemProps3.xml><?xml version="1.0" encoding="utf-8"?>
<ds:datastoreItem xmlns:ds="http://schemas.openxmlformats.org/officeDocument/2006/customXml" ds:itemID="{FE184F27-8675-4087-9492-10C0F2B368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558a10-1879-455f-b4fa-cfdedf85505e"/>
    <ds:schemaRef ds:uri="917a3f04-5547-4e83-a675-a0677bb257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25</TotalTime>
  <Words>2962</Words>
  <Application>Microsoft Office PowerPoint</Application>
  <PresentationFormat>Widescreen</PresentationFormat>
  <Paragraphs>467</Paragraphs>
  <Slides>19</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Arial</vt:lpstr>
      <vt:lpstr>Calibri</vt:lpstr>
      <vt:lpstr>Duplicate Sans Light</vt:lpstr>
      <vt:lpstr>Duplicate Sans Medium</vt:lpstr>
      <vt:lpstr>Duplicate Sans Regular</vt:lpstr>
      <vt:lpstr>Metrophobic</vt:lpstr>
      <vt:lpstr>Office Theme</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Quinn</cp:lastModifiedBy>
  <cp:revision>1</cp:revision>
  <dcterms:created xsi:type="dcterms:W3CDTF">2013-01-27T09:14:16Z</dcterms:created>
  <dcterms:modified xsi:type="dcterms:W3CDTF">2026-05-29T14:45:54Z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0x010100B93BA222B086F94CB80A831AC79560FC</vt:lpwstr>
  </property>
  <property fmtid="{D5CDD505-2E9C-101B-9397-08002B2CF9AE}" pid="3" name="MediaServiceImageTags">
    <vt:lpwstr/>
  </property>
</Properties>
</file>