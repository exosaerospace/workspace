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sole action requested of the SSLC board at this meeting is confirmation of the §3 exclusivity provision in the existing May 2025 Asset Acquisition Agreement. Once exclusivity is confirmed, both parties have 90 days to negotiate and execute the definitive agreement and advance to financing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SSLC's own numbers, presented factually and respectfully. The $198K cash figure is from the email draft. The $713K last quarter is from the offer summary. The $5.1M milestone (M1) requires nearly double that quarterly pace starting immediately — this is the context for why the Exos offer provides meaningful value through financing close and earn-out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action needed today is board confirmation of §3 exclusivity in the May 2025 Asset Acquisition Agreement. Once confirmed, the 90-day exclusivity period begins and both teams can proceed to diligence and the definitive agreement. Financing close target: Feb 15th. The financing close triggers ② ($5.36M). The RTO is targeted ~6 months post-financing close but is not assured. All earn-out and milestone payments are independent and verifiable.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confirm §3 exclusivity under the May 2025 Asset Acquisition Agreement.</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algn="l" indent="0" marL="0">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sp>
      <p:sp>
        <p:nvSpPr>
          <p:cNvPr id="6" name="Text 4"/>
          <p:cNvSpPr txBox="1"/>
          <p:nvPr/>
        </p:nvSpPr>
        <p:spPr>
          <a:xfrm>
            <a:off x="640080" y="2999232"/>
            <a:ext cx="7863840" cy="1298448"/>
          </a:xfrm>
          <a:prstGeom prst="rect">
            <a:avLst/>
          </a:prstGeom>
          <a:noFill/>
          <a:ln/>
        </p:spPr>
        <p:txBody>
          <a:bodyPr wrap="square" rtlCol="0" anchor="t"/>
          <a:lstStyle/>
          <a:p>
            <a:pPr indent="0" marL="0">
              <a:buNone/>
            </a:pPr>
            <a:r>
              <a:rPr lang="en-US" sz="1400" b="1" dirty="0">
                <a:solidFill>
                  <a:srgbClr val="F26A21"/>
                </a:solidFill>
              </a:rPr>
              <a:t>Exclusivity period: </a:t>
            </a:r>
            <a:pPr indent="0" marL="0">
              <a:buNone/>
            </a:pPr>
            <a:r>
              <a:rPr lang="en-US" sz="1400" dirty="0">
                <a:solidFill>
                  <a:srgbClr val="CCCCCC"/>
                </a:solidFill>
              </a:rPr>
              <a:t>90 days from board confirmation; extension not unreasonably withheld (§3)
</a:t>
            </a:r>
            <a:pPr indent="0" marL="0">
              <a:buNone/>
            </a:pPr>
            <a:r>
              <a:rPr lang="en-US" sz="1400" b="1" dirty="0">
                <a:solidFill>
                  <a:srgbClr val="F26A21"/>
                </a:solidFill>
              </a:rPr>
              <a:t>Holdback: </a:t>
            </a:r>
            <a:pPr indent="0" marL="0">
              <a:buNone/>
            </a:pPr>
            <a:r>
              <a:rPr lang="en-US" sz="1400" dirty="0">
                <a:solidFill>
                  <a:srgbClr val="CCCCCC"/>
                </a:solidFill>
              </a:rPr>
              <a:t>5% escrow, released at 12-month anniversary (§7)
</a:t>
            </a:r>
            <a:pPr indent="0" marL="0">
              <a:buNone/>
            </a:pPr>
            <a:r>
              <a:rPr lang="en-US" sz="1400" b="1" dirty="0">
                <a:solidFill>
                  <a:srgbClr val="F26A21"/>
                </a:solidFill>
              </a:rPr>
              <a:t>Agreement basis: </a:t>
            </a:r>
            <a:pPr indent="0" marL="0">
              <a:buNone/>
            </a:pPr>
            <a:r>
              <a:rPr lang="en-US" sz="1400" dirty="0">
                <a:solidFill>
                  <a:srgbClr val="CCCCCC"/>
                </a:solidFill>
              </a:rPr>
              <a:t>May 2025 Asset Acquisition Agreement — §3 exclusivity trigger</a:t>
            </a:r>
            <a:endParaRPr lang="en-US" sz="1400" dirty="0"/>
          </a:p>
        </p:txBody>
      </p:sp>
      <p:pic>
        <p:nvPicPr>
          <p:cNvPr id="7"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$198K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on hand</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Current working capital</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A $5.1M fiscal year requires approximately $1.46M per quarter — nearly double last quarter's pace of $713K — starting Oct 1st. Exos's offer removes the funding risk, solves the physical-space and single-winder constraints (with capital in the new year),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p/>
        </p:txBody>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p/>
        </p:txBody>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p/>
        </p:txBody>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txBody>
          <a:bodyPr/>
          <a:p/>
        </p:txBody>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p/>
        </p:txBody>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300" b="1" dirty="0">
                <a:solidFill>
                  <a:srgbClr val="F26A21"/>
                </a:solidFill>
              </a:rPr>
              <a:t>① Cash at close — target by Feb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$3.86M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p/>
        </p:txBody>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p/>
        </p:txBody>
      </p:sp>
      <p:sp>
        <p:nvSpPr>
          <p:cNvPr id="26" name="Text 24"/>
          <p:cNvSpPr txBox="1"/>
          <p:nvPr/>
        </p:nvSpPr>
        <p:spPr>
          <a:xfrm>
            <a:off x="868680" y="4233672"/>
            <a:ext cx="4389120" cy="365760"/>
          </a:xfrm>
          <a:prstGeom prst="rect">
            <a:avLst/>
          </a:prstGeom>
          <a:noFill/>
          <a:ln/>
        </p:spPr>
        <p:txBody>
          <a:bodyPr wrap="square" rtlCol="0" anchor="ctr"/>
          <a:lstStyle/>
          <a:p>
            <a:pPr indent="0" marL="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$4.86M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900" dirty="0">
                <a:solidFill>
                  <a:srgbClr val="CCCCCC"/>
                </a:solidFill>
              </a:rPr>
              <a:t>5% of IM tank revenue/yr</a:t>
            </a:r>
            <a:endParaRPr lang="en-US" sz="900" dirty="0"/>
          </a:p>
          <a:p>
            <a:pPr algn="l" indent="0" marL="0">
              <a:buNone/>
            </a:pPr>
            <a:r>
              <a:rPr lang="en-US" sz="9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900" dirty="0">
                <a:solidFill>
                  <a:srgbClr val="CCCCCC"/>
                </a:solidFill>
              </a:rPr>
              <a:t>Revenue SSLC achieves</a:t>
            </a:r>
            <a:endParaRPr lang="en-US" sz="900" dirty="0"/>
          </a:p>
          <a:p>
            <a:pPr algn="l" indent="0" marL="0">
              <a:buNone/>
            </a:pPr>
            <a:r>
              <a:rPr lang="en-US" sz="9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900" dirty="0">
                <a:solidFill>
                  <a:srgbClr val="F26A21"/>
                </a:solidFill>
              </a:rPr>
              <a:t>$3.0M/yr</a:t>
            </a:r>
            <a:endParaRPr lang="en-US" sz="900" dirty="0"/>
          </a:p>
          <a:p>
            <a:pPr algn="ctr" indent="0" marL="0">
              <a:buNone/>
            </a:pPr>
            <a:r>
              <a:rPr lang="en-US" sz="900" dirty="0">
                <a:solidFill>
                  <a:srgbClr val="F26A21"/>
                </a:solidFill>
              </a:rPr>
              <a:t>→$150K/yr</a:t>
            </a:r>
            <a:endParaRPr lang="en-US" sz="900" dirty="0"/>
          </a:p>
          <a:p>
            <a:pPr algn="ctr" indent="0" marL="0">
              <a:buNone/>
            </a:pPr>
            <a:r>
              <a:rPr lang="en-US" sz="9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900" dirty="0">
                <a:solidFill>
                  <a:srgbClr val="F26A21"/>
                </a:solidFill>
              </a:rPr>
              <a:t>$5.0M/yr</a:t>
            </a:r>
            <a:endParaRPr lang="en-US" sz="900" dirty="0"/>
          </a:p>
          <a:p>
            <a:pPr algn="ctr" indent="0" marL="0">
              <a:buNone/>
            </a:pPr>
            <a:r>
              <a:rPr lang="en-US" sz="900" dirty="0">
                <a:solidFill>
                  <a:srgbClr val="F26A21"/>
                </a:solidFill>
              </a:rPr>
              <a:t>→$250K/yr</a:t>
            </a:r>
            <a:endParaRPr lang="en-US" sz="900" dirty="0"/>
          </a:p>
          <a:p>
            <a:pPr algn="ctr" indent="0" marL="0">
              <a:buNone/>
            </a:pPr>
            <a:r>
              <a:rPr lang="en-US" sz="9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900" dirty="0">
                <a:solidFill>
                  <a:srgbClr val="F26A21"/>
                </a:solidFill>
              </a:rPr>
              <a:t>$6.0M+/yr</a:t>
            </a:r>
            <a:endParaRPr lang="en-US" sz="900" dirty="0"/>
          </a:p>
          <a:p>
            <a:pPr algn="ctr" indent="0" marL="0">
              <a:buNone/>
            </a:pPr>
            <a:r>
              <a:rPr lang="en-US" sz="900" dirty="0">
                <a:solidFill>
                  <a:srgbClr val="F26A21"/>
                </a:solidFill>
              </a:rPr>
              <a:t>→$300K/yr (cap)</a:t>
            </a:r>
            <a:endParaRPr lang="en-US" sz="900" dirty="0"/>
          </a:p>
          <a:p>
            <a:pPr algn="ctr" indent="0" marL="0">
              <a:buNone/>
            </a:pPr>
            <a:r>
              <a:rPr lang="en-US" sz="9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900" dirty="0">
                <a:solidFill>
                  <a:srgbClr val="F26A21"/>
                </a:solidFill>
              </a:rPr>
              <a:t>Annual</a:t>
            </a:r>
            <a:endParaRPr lang="en-US" sz="900" dirty="0"/>
          </a:p>
          <a:p>
            <a:pPr algn="ctr" indent="0" marL="0">
              <a:buNone/>
            </a:pPr>
            <a:r>
              <a:rPr lang="en-US" sz="9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9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9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9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9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9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9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9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9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sp>
      <p:sp>
        <p:nvSpPr>
          <p:cNvPr id="77" name="Text 75"/>
          <p:cNvSpPr txBox="1"/>
          <p:nvPr/>
        </p:nvSpPr>
        <p:spPr>
          <a:xfrm>
            <a:off x="329184" y="3035808"/>
            <a:ext cx="1920240" cy="420624"/>
          </a:xfrm>
          <a:prstGeom prst="rect">
            <a:avLst/>
          </a:prstGeom>
          <a:noFill/>
          <a:ln/>
        </p:spPr>
        <p:txBody>
          <a:bodyPr wrap="square" rtlCol="0" anchor="ctr"/>
          <a:lstStyle/>
          <a:p>
            <a:pPr algn="l" indent="0" marL="0">
              <a:buNone/>
            </a:pPr>
            <a:r>
              <a:rPr lang="en-US" sz="900" dirty="0">
                <a:solidFill>
                  <a:srgbClr val="CCCCCC"/>
                </a:solidFill>
              </a:rPr>
              <a:t>M5  50% reduction in tank build cost</a:t>
            </a:r>
            <a:endParaRPr lang="en-US" sz="900" dirty="0"/>
          </a:p>
          <a:p>
            <a:pPr algn="l" indent="0" marL="0">
              <a:buNone/>
            </a:pPr>
            <a:r>
              <a:rPr lang="en-US" sz="9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sp>
      <p:sp>
        <p:nvSpPr>
          <p:cNvPr id="79" name="Text 77"/>
          <p:cNvSpPr txBox="1"/>
          <p:nvPr/>
        </p:nvSpPr>
        <p:spPr>
          <a:xfrm>
            <a:off x="2386584" y="3035808"/>
            <a:ext cx="1783080" cy="420624"/>
          </a:xfrm>
          <a:prstGeom prst="rect">
            <a:avLst/>
          </a:prstGeom>
          <a:noFill/>
          <a:ln/>
        </p:spPr>
        <p:txBody>
          <a:bodyPr wrap="square" rtlCol="0" anchor="ctr"/>
          <a:lstStyle/>
          <a:p>
            <a:pPr algn="l" indent="0" marL="0">
              <a:buNone/>
            </a:pPr>
            <a:r>
              <a:rPr lang="en-US" sz="900" dirty="0">
                <a:solidFill>
                  <a:srgbClr val="CCCCCC"/>
                </a:solidFill>
              </a:rPr>
              <a:t>50% cost reduction proven</a:t>
            </a:r>
            <a:endParaRPr lang="en-US" sz="900" dirty="0"/>
          </a:p>
          <a:p>
            <a:pPr algn="l" indent="0" marL="0">
              <a:buNone/>
            </a:pPr>
            <a:r>
              <a:rPr lang="en-US" sz="9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sp>
      <p:sp>
        <p:nvSpPr>
          <p:cNvPr id="81" name="Text 79"/>
          <p:cNvSpPr txBox="1"/>
          <p:nvPr/>
        </p:nvSpPr>
        <p:spPr>
          <a:xfrm>
            <a:off x="430682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sp>
      <p:sp>
        <p:nvSpPr>
          <p:cNvPr id="83" name="Text 81"/>
          <p:cNvSpPr txBox="1"/>
          <p:nvPr/>
        </p:nvSpPr>
        <p:spPr>
          <a:xfrm>
            <a:off x="540410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sp>
      <p:sp>
        <p:nvSpPr>
          <p:cNvPr id="85" name="Text 83"/>
          <p:cNvSpPr txBox="1"/>
          <p:nvPr/>
        </p:nvSpPr>
        <p:spPr>
          <a:xfrm>
            <a:off x="6501384" y="3035808"/>
            <a:ext cx="960120" cy="42062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sp>
      <p:sp>
        <p:nvSpPr>
          <p:cNvPr id="87" name="Text 85"/>
          <p:cNvSpPr txBox="1"/>
          <p:nvPr/>
        </p:nvSpPr>
        <p:spPr>
          <a:xfrm>
            <a:off x="7598664" y="3035808"/>
            <a:ext cx="914400" cy="42062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sp>
      <p:sp>
        <p:nvSpPr>
          <p:cNvPr id="89" name="Text 87"/>
          <p:cNvSpPr txBox="1"/>
          <p:nvPr/>
        </p:nvSpPr>
        <p:spPr>
          <a:xfrm>
            <a:off x="329184" y="3493008"/>
            <a:ext cx="1920240" cy="420624"/>
          </a:xfrm>
          <a:prstGeom prst="rect">
            <a:avLst/>
          </a:prstGeom>
          <a:noFill/>
          <a:ln/>
        </p:spPr>
        <p:txBody>
          <a:bodyPr wrap="square" rtlCol="0" anchor="ctr"/>
          <a:lstStyle/>
          <a:p>
            <a:pPr algn="l" indent="0" marL="0">
              <a:buNone/>
            </a:pPr>
            <a:r>
              <a:rPr lang="en-US" sz="900" dirty="0">
                <a:solidFill>
                  <a:srgbClr val="CCCCCC"/>
                </a:solidFill>
              </a:rPr>
              <a:t>Exos stock earn-out at RTO listing</a:t>
            </a:r>
            <a:endParaRPr lang="en-US" sz="900" dirty="0"/>
          </a:p>
          <a:p>
            <a:pPr algn="l" indent="0" marL="0">
              <a:buNone/>
            </a:pPr>
            <a:r>
              <a:rPr lang="en-US" sz="9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sp>
      <p:sp>
        <p:nvSpPr>
          <p:cNvPr id="91" name="Text 89"/>
          <p:cNvSpPr txBox="1"/>
          <p:nvPr/>
        </p:nvSpPr>
        <p:spPr>
          <a:xfrm>
            <a:off x="2386584" y="3493008"/>
            <a:ext cx="1783080" cy="420624"/>
          </a:xfrm>
          <a:prstGeom prst="rect">
            <a:avLst/>
          </a:prstGeom>
          <a:noFill/>
          <a:ln/>
        </p:spPr>
        <p:txBody>
          <a:bodyPr wrap="square" rtlCol="0" anchor="ctr"/>
          <a:lstStyle/>
          <a:p>
            <a:pPr algn="l" indent="0" marL="0">
              <a:buNone/>
            </a:pPr>
            <a:r>
              <a:rPr lang="en-US" sz="9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sp>
      <p:sp>
        <p:nvSpPr>
          <p:cNvPr id="93" name="Text 91"/>
          <p:cNvSpPr txBox="1"/>
          <p:nvPr/>
        </p:nvSpPr>
        <p:spPr>
          <a:xfrm>
            <a:off x="4306824" y="349300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sp>
      <p:sp>
        <p:nvSpPr>
          <p:cNvPr id="95" name="Text 93"/>
          <p:cNvSpPr txBox="1"/>
          <p:nvPr/>
        </p:nvSpPr>
        <p:spPr>
          <a:xfrm>
            <a:off x="5404104" y="349300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sp>
      <p:sp>
        <p:nvSpPr>
          <p:cNvPr id="97" name="Text 95"/>
          <p:cNvSpPr txBox="1"/>
          <p:nvPr/>
        </p:nvSpPr>
        <p:spPr>
          <a:xfrm>
            <a:off x="6501384" y="349300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sp>
      <p:sp>
        <p:nvSpPr>
          <p:cNvPr id="99" name="Text 97"/>
          <p:cNvSpPr txBox="1"/>
          <p:nvPr/>
        </p:nvSpPr>
        <p:spPr>
          <a:xfrm>
            <a:off x="7598664" y="349300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sp>
      <p:sp>
        <p:nvSpPr>
          <p:cNvPr id="101" name="Text 99"/>
          <p:cNvSpPr txBox="1"/>
          <p:nvPr/>
        </p:nvSpPr>
        <p:spPr>
          <a:xfrm>
            <a:off x="329184" y="3950208"/>
            <a:ext cx="1920240" cy="347472"/>
          </a:xfrm>
          <a:prstGeom prst="rect">
            <a:avLst/>
          </a:prstGeom>
          <a:noFill/>
          <a:ln/>
        </p:spPr>
        <p:txBody>
          <a:bodyPr wrap="square" rtlCol="0" anchor="ctr"/>
          <a:lstStyle/>
          <a:p>
            <a:pPr algn="l" indent="0" marL="0">
              <a:buNone/>
            </a:pPr>
            <a:r>
              <a:rPr lang="en-US" sz="9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sp>
      <p:sp>
        <p:nvSpPr>
          <p:cNvPr id="103" name="Text 101"/>
          <p:cNvSpPr txBox="1"/>
          <p:nvPr/>
        </p:nvSpPr>
        <p:spPr>
          <a:xfrm>
            <a:off x="2386584" y="395020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sp>
      <p:sp>
        <p:nvSpPr>
          <p:cNvPr id="105" name="Text 103"/>
          <p:cNvSpPr txBox="1"/>
          <p:nvPr/>
        </p:nvSpPr>
        <p:spPr>
          <a:xfrm>
            <a:off x="4306824" y="395020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sp>
      <p:sp>
        <p:nvSpPr>
          <p:cNvPr id="107" name="Text 105"/>
          <p:cNvSpPr txBox="1"/>
          <p:nvPr/>
        </p:nvSpPr>
        <p:spPr>
          <a:xfrm>
            <a:off x="5404104" y="395020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sp>
      <p:sp>
        <p:nvSpPr>
          <p:cNvPr id="109" name="Text 107"/>
          <p:cNvSpPr txBox="1"/>
          <p:nvPr/>
        </p:nvSpPr>
        <p:spPr>
          <a:xfrm>
            <a:off x="6501384" y="395020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sp>
      <p:sp>
        <p:nvSpPr>
          <p:cNvPr id="111" name="Text 109"/>
          <p:cNvSpPr txBox="1"/>
          <p:nvPr/>
        </p:nvSpPr>
        <p:spPr>
          <a:xfrm>
            <a:off x="7598664" y="395020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p/>
        </p:txBody>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p/>
        </p:txBody>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$5.8M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p/>
        </p:txBody>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9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p/>
        </p:txBody>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$7.4M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p/>
        </p:txBody>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9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p/>
        </p:txBody>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$9.0M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p/>
        </p:txBody>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9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p/>
        </p:txBody>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p/>
        </p:txBody>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$11.5M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p/>
        </p:txBody>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9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p/>
        </p:txBody>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$15.3M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p/>
        </p:txBody>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9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p/>
        </p:txBody>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$18.9M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p/>
        </p:txBody>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900" dirty="0">
                <a:solidFill>
                  <a:srgbClr val="888888"/>
                </a:solidFill>
              </a:rPr>
              <a:t>if held to 2031</a:t>
            </a:r>
            <a:endParaRPr lang="en-US" sz="900" dirty="0"/>
          </a:p>
        </p:txBody>
      </p:sp>
      <p:pic>
        <p:nvPicPr>
          <p:cNvPr id="37" name="Image 0" descr="/Users/exomac/.openclaw/workspace/drafts/SSLC_OptionB_Total_Compensation_5yr_2026-10-07.png">    </p:cNvPr>
          <p:cNvPicPr>
            <a:picLocks noChangeAspect="1"/>
          </p:cNvPicPr>
          <p:nvPr/>
        </p:nvPicPr>
        <p:blipFill>
          <a:blip r:embed="rId1"/>
          <a:stretch>
            <a:fillRect/>
          </a:stretch>
        </p:blipFill>
        <p:spPr>
          <a:xfrm>
            <a:off x="320040" y="2606040"/>
            <a:ext cx="8503920" cy="2194560"/>
          </a:xfrm>
          <a:prstGeom prst="rect">
            <a:avLst/>
          </a:prstGeom>
        </p:spPr>
      </p:pic>
      <p:sp>
        <p:nvSpPr>
          <p:cNvPr id="38" name="Shape 35"/>
          <p:cNvSpPr/>
          <p:nvPr/>
        </p:nvSpPr>
        <p:spPr>
          <a:xfrm>
            <a:off x="320040" y="2542032"/>
            <a:ext cx="8503920" cy="146304"/>
          </a:xfrm>
          <a:prstGeom prst="rect">
            <a:avLst/>
          </a:prstGeom>
          <a:solidFill>
            <a:srgbClr val="222200"/>
          </a:solidFill>
          <a:ln/>
        </p:spPr>
        <p:txBody>
          <a:bodyPr/>
          <a:p/>
        </p:txBody>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800" i="1" dirty="0">
                <a:solidFill>
                  <a:srgbClr val="888888"/>
                </a:solidFill>
              </a:rPr>
              <a:t>④ is a forward-looking projection, not a guarantee; an alternative to ③ — not added to it. RTO may not close.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p/>
        </p:txBody>
      </p:sp>
      <p:sp>
        <p:nvSpPr>
          <p:cNvPr id="5" name="Text 3"/>
          <p:cNvSpPr txBox="1"/>
          <p:nvPr/>
        </p:nvSpPr>
        <p:spPr>
          <a:xfrm>
            <a:off x="548640" y="950976"/>
            <a:ext cx="5303520" cy="292608"/>
          </a:xfrm>
          <a:prstGeom prst="rect">
            <a:avLst/>
          </a:prstGeom>
          <a:noFill/>
          <a:ln/>
        </p:spPr>
        <p:txBody>
          <a:bodyPr wrap="square" rtlCol="0" anchor="ctr"/>
          <a:lstStyle/>
          <a:p>
            <a:pPr indent="0" marL="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p/>
        </p:txBody>
      </p:sp>
      <p:sp>
        <p:nvSpPr>
          <p:cNvPr id="8" name="Text 6"/>
          <p:cNvSpPr txBox="1"/>
          <p:nvPr/>
        </p:nvSpPr>
        <p:spPr>
          <a:xfrm>
            <a:off x="548640" y="1335024"/>
            <a:ext cx="5303520" cy="292608"/>
          </a:xfrm>
          <a:prstGeom prst="rect">
            <a:avLst/>
          </a:prstGeom>
          <a:noFill/>
          <a:ln/>
        </p:spPr>
        <p:txBody>
          <a:bodyPr wrap="square" rtlCol="0" anchor="ctr"/>
          <a:lstStyle/>
          <a:p>
            <a:pPr indent="0" marL="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p/>
        </p:txBody>
      </p:sp>
      <p:sp>
        <p:nvSpPr>
          <p:cNvPr id="13" name="Shape 11"/>
          <p:cNvSpPr/>
          <p:nvPr/>
        </p:nvSpPr>
        <p:spPr>
          <a:xfrm>
            <a:off x="411480" y="2066544"/>
            <a:ext cx="8321040" cy="365760"/>
          </a:xfrm>
          <a:prstGeom prst="rect">
            <a:avLst/>
          </a:prstGeom>
          <a:solidFill>
            <a:srgbClr val="212121"/>
          </a:solidFill>
          <a:ln w="12700">
            <a:solidFill>
              <a:srgbClr val="2A2A2A"/>
            </a:solidFill>
            <a:prstDash val="solid"/>
          </a:ln>
        </p:spPr>
        <p:txBody>
          <a:bodyPr/>
          <a:p/>
        </p:txBody>
      </p:sp>
      <p:sp>
        <p:nvSpPr>
          <p:cNvPr id="14" name="Text 12"/>
          <p:cNvSpPr txBox="1"/>
          <p:nvPr/>
        </p:nvSpPr>
        <p:spPr>
          <a:xfrm>
            <a:off x="548640" y="2103120"/>
            <a:ext cx="5303520" cy="292608"/>
          </a:xfrm>
          <a:prstGeom prst="rect">
            <a:avLst/>
          </a:prstGeom>
          <a:noFill/>
          <a:ln/>
        </p:spPr>
        <p:txBody>
          <a:bodyPr wrap="square" rtlCol="0" anchor="ctr"/>
          <a:lstStyle/>
          <a:p>
            <a:pPr indent="0" marL="0">
              <a:buNone/>
            </a:pPr>
            <a:r>
              <a:rPr lang="en-US" sz="1200" b="1" dirty="0">
                <a:solidFill>
                  <a:srgbClr val="FFFFFF"/>
                </a:solidFill>
              </a:rPr>
              <a:t>Working-capital bridge $500K</a:t>
            </a:r>
            <a:endParaRPr lang="en-US" sz="1200" dirty="0"/>
          </a:p>
        </p:txBody>
      </p:sp>
      <p:sp>
        <p:nvSpPr>
          <p:cNvPr id="15" name="Text 13"/>
          <p:cNvSpPr txBox="1"/>
          <p:nvPr/>
        </p:nvSpPr>
        <p:spPr>
          <a:xfrm>
            <a:off x="5989320" y="2103120"/>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548640" y="2487168"/>
            <a:ext cx="5303520" cy="292608"/>
          </a:xfrm>
          <a:prstGeom prst="rect">
            <a:avLst/>
          </a:prstGeom>
          <a:noFill/>
          <a:ln/>
        </p:spPr>
        <p:txBody>
          <a:bodyPr wrap="square" rtlCol="0" anchor="ctr"/>
          <a:lstStyle/>
          <a:p>
            <a:pPr indent="0" marL="0">
              <a:buNone/>
            </a:pPr>
            <a:r>
              <a:rPr lang="en-US" sz="1200" b="1" dirty="0">
                <a:solidFill>
                  <a:srgbClr val="FFFFFF"/>
                </a:solidFill>
              </a:rPr>
              <a:t>$1.0M Exos stock (EAI units,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p/>
        </p:txBody>
      </p:sp>
      <p:sp>
        <p:nvSpPr>
          <p:cNvPr id="20" name="Text 18"/>
          <p:cNvSpPr txBox="1"/>
          <p:nvPr/>
        </p:nvSpPr>
        <p:spPr>
          <a:xfrm>
            <a:off x="548640" y="2871216"/>
            <a:ext cx="5303520" cy="292608"/>
          </a:xfrm>
          <a:prstGeom prst="rect">
            <a:avLst/>
          </a:prstGeom>
          <a:noFill/>
          <a:ln/>
        </p:spPr>
        <p:txBody>
          <a:bodyPr wrap="square" rtlCol="0" anchor="ctr"/>
          <a:lstStyle/>
          <a:p>
            <a:pPr indent="0" marL="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algn="r" indent="0" marL="0">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8640" y="3255264"/>
            <a:ext cx="5303520" cy="292608"/>
          </a:xfrm>
          <a:prstGeom prst="rect">
            <a:avLst/>
          </a:prstGeom>
          <a:noFill/>
          <a:ln/>
        </p:spPr>
        <p:txBody>
          <a:bodyPr wrap="square" rtlCol="0" anchor="ctr"/>
          <a:lstStyle/>
          <a:p>
            <a:pPr indent="0" marL="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p/>
        </p:txBody>
      </p:sp>
      <p:sp>
        <p:nvSpPr>
          <p:cNvPr id="26" name="Text 24"/>
          <p:cNvSpPr txBox="1"/>
          <p:nvPr/>
        </p:nvSpPr>
        <p:spPr>
          <a:xfrm>
            <a:off x="548640" y="3639312"/>
            <a:ext cx="5303520" cy="292608"/>
          </a:xfrm>
          <a:prstGeom prst="rect">
            <a:avLst/>
          </a:prstGeom>
          <a:noFill/>
          <a:ln/>
        </p:spPr>
        <p:txBody>
          <a:bodyPr wrap="square" rtlCol="0" anchor="ctr"/>
          <a:lstStyle/>
          <a:p>
            <a:pPr indent="0" marL="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algn="r" indent="0" marL="0">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p/>
        </p:txBody>
      </p:sp>
      <p:sp>
        <p:nvSpPr>
          <p:cNvPr id="29" name="Text 27"/>
          <p:cNvSpPr txBox="1"/>
          <p:nvPr/>
        </p:nvSpPr>
        <p:spPr>
          <a:xfrm>
            <a:off x="502920" y="4142232"/>
            <a:ext cx="8229600" cy="457200"/>
          </a:xfrm>
          <a:prstGeom prst="rect">
            <a:avLst/>
          </a:prstGeom>
          <a:noFill/>
          <a:ln/>
        </p:spPr>
        <p:txBody>
          <a:bodyPr wrap="square" rtlCol="0" anchor="ctr"/>
          <a:lstStyle/>
          <a:p>
            <a:pPr algn="ctr" indent="0" marL="0">
              <a:buNone/>
            </a:pPr>
            <a:r>
              <a:rPr lang="en-US" sz="1500" b="1" dirty="0">
                <a:solidFill>
                  <a:srgbClr val="F26A21"/>
                </a:solidFill>
              </a:rPr>
              <a:t>One decision today: confirm §3 exclusivity  →  90 days  →  financing close target Feb 15th</a:t>
            </a:r>
            <a:endParaRPr lang="en-US" sz="1500" dirty="0"/>
          </a:p>
        </p:txBody>
      </p:sp>
      <p:pic>
        <p:nvPicPr>
          <p:cNvPr id="3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algn="ctr" indent="0" marL="0">
              <a:buNone/>
            </a:pPr>
            <a:r>
              <a:rPr lang="en-US" sz="7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algn="r" indent="0" marL="0">
              <a:buNone/>
            </a:pPr>
            <a:r>
              <a:rPr lang="en-US" sz="700" i="1" dirty="0">
                <a:solidFill>
                  <a:srgbClr val="888888"/>
                </a:solidFill>
              </a:rPr>
              <a:t>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sp>
      <p:sp>
        <p:nvSpPr>
          <p:cNvPr id="5" name="Shape 2"/>
          <p:cNvSpPr/>
          <p:nvPr/>
        </p:nvSpPr>
        <p:spPr>
          <a:xfrm>
            <a:off x="1024128" y="1426464"/>
            <a:ext cx="0" cy="201168"/>
          </a:xfrm>
          <a:prstGeom prst="line">
            <a:avLst/>
          </a:prstGeom>
          <a:noFill/>
          <a:ln w="12700">
            <a:solidFill>
              <a:srgbClr val="F26A21"/>
            </a:solidFill>
            <a:prstDash val="solid"/>
          </a:ln>
        </p:spPr>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Confirms Exclusivity</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 — target Feb 15th</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300" b="1" dirty="0">
                <a:solidFill>
                  <a:srgbClr val="F26A21"/>
                </a:solidFill>
              </a:rPr>
              <a:t>The Board is asked to confirm §3 exclusivity. Questions and open items welcome.</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2026-10-10T23:08:01Z</dcterms:created>
  <dcterms:modified xsi:type="dcterms:W3CDTF">2026-10-10T23:08:01Z</dcterms:modified>
</cp:coreProperties>
</file>