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595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Exos Aerospace  |  Recoverable µg Cryo-Transfer Flight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29768"/>
            <a:ext cx="95097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Retiring the on-orbit refuel function: tank-to-tank cryogenic propellant transfer in microgravity on a reusable suborbital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73152"/>
            <a:ext cx="3246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SBIR 2026.R6  |  DAF26BX06-DV513 (D2P2)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457200"/>
            <a:ext cx="3246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Autonomous On-Orbit Logistics &amp; Sustainment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0" y="914400"/>
            <a:ext cx="0" cy="5559552"/>
          </a:xfrm>
          <a:prstGeom prst="line">
            <a:avLst/>
          </a:prstGeom>
          <a:ln w="15875">
            <a:solidFill>
              <a:srgbClr val="1B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440" y="3611880"/>
            <a:ext cx="12006072" cy="0"/>
          </a:xfrm>
          <a:prstGeom prst="line">
            <a:avLst/>
          </a:prstGeom>
          <a:ln w="15875">
            <a:solidFill>
              <a:srgbClr val="1B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blk3_h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60120"/>
            <a:ext cx="3169920" cy="1783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" y="2743200"/>
            <a:ext cx="32004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404040"/>
                </a:solidFill>
                <a:latin typeface="Arial"/>
              </a:rPr>
              <a:t>BLK3 reusable VTVL vehicle, tethered hover test, Greenville 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960120"/>
            <a:ext cx="219456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B3A5C"/>
                </a:solidFill>
                <a:latin typeface="Arial"/>
              </a:rPr>
              <a:t>Concept of Operations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234440"/>
            <a:ext cx="2148840" cy="347472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243584"/>
            <a:ext cx="2130552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1E1E1E"/>
                </a:solidFill>
                <a:latin typeface="Arial"/>
              </a:rPr>
              <a:t>1  Ground 1-g transfer baseline
    (Greenville test set)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636776"/>
            <a:ext cx="2148840" cy="347472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1645920"/>
            <a:ext cx="2130552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1E1E1E"/>
                </a:solidFill>
                <a:latin typeface="Arial"/>
              </a:rPr>
              <a:t>2  Integrate in BLK3 payload bay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039112"/>
            <a:ext cx="2148840" cy="347472"/>
          </a:xfrm>
          <a:prstGeom prst="rect">
            <a:avLst/>
          </a:prstGeom>
          <a:solidFill>
            <a:srgbClr val="C8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2048256"/>
            <a:ext cx="2130552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3  µg coast: tank-to-tank
    cryo transfer, instrumented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2441448"/>
            <a:ext cx="2148840" cy="347472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47288" y="2450592"/>
            <a:ext cx="2130552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1E1E1E"/>
                </a:solidFill>
                <a:latin typeface="Arial"/>
              </a:rPr>
              <a:t>4  Recover · inspect · refly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" y="2944368"/>
            <a:ext cx="5440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B3A5C"/>
                </a:solidFill>
                <a:latin typeface="Arial"/>
              </a:rPr>
              <a:t>Refuel is the gating function of an on-orbit logistics enterprise. Exos flies the transfer hardware in microgravity, brings it back, and flies it again.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42432" y="914400"/>
            <a:ext cx="6336792" cy="239572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890" b="1">
                <a:solidFill>
                  <a:srgbClr val="1B3A5C"/>
                </a:solidFill>
                <a:latin typeface="Arial"/>
              </a:rPr>
              <a:t>Objective</a:t>
            </a:r>
          </a:p>
          <a:p>
            <a:pPr>
              <a:spcAft>
                <a:spcPts val="150"/>
              </a:spcAft>
            </a:pPr>
            <a:r>
              <a:rPr sz="840" b="0">
                <a:solidFill>
                  <a:srgbClr val="1E1E1E"/>
                </a:solidFill>
                <a:latin typeface="Arial"/>
              </a:rPr>
              <a:t>• Demonstrate </a:t>
            </a:r>
            <a:r>
              <a:rPr sz="840" b="1">
                <a:solidFill>
                  <a:srgbClr val="1E1E1E"/>
                </a:solidFill>
                <a:latin typeface="Arial"/>
              </a:rPr>
              <a:t>tank-to-tank cryogenic propellant transfer in microgravity</a:t>
            </a:r>
            <a:r>
              <a:rPr sz="840" b="0">
                <a:solidFill>
                  <a:srgbClr val="1E1E1E"/>
                </a:solidFill>
                <a:latin typeface="Arial"/>
              </a:rPr>
              <a:t> (mass gauging, thermal, pressure, flow) and compare it against a characterized 1-g ground baseline.</a:t>
            </a:r>
          </a:p>
          <a:p>
            <a:pPr>
              <a:spcAft>
                <a:spcPts val="150"/>
              </a:spcAft>
            </a:pPr>
            <a:r>
              <a:rPr sz="840" b="0">
                <a:solidFill>
                  <a:srgbClr val="1E1E1E"/>
                </a:solidFill>
                <a:latin typeface="Arial"/>
              </a:rPr>
              <a:t>• Deliver recovered flight hardware and a flight dataset that de-risks the </a:t>
            </a:r>
            <a:r>
              <a:rPr sz="840" b="1">
                <a:solidFill>
                  <a:srgbClr val="1E1E1E"/>
                </a:solidFill>
                <a:latin typeface="Arial"/>
              </a:rPr>
              <a:t>refuel</a:t>
            </a:r>
            <a:r>
              <a:rPr sz="840" b="0">
                <a:solidFill>
                  <a:srgbClr val="1E1E1E"/>
                </a:solidFill>
                <a:latin typeface="Arial"/>
              </a:rPr>
              <a:t> leg of DV513's resupply / refuel / repair / recover architecture.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890" b="1">
                <a:solidFill>
                  <a:srgbClr val="1B3A5C"/>
                </a:solidFill>
                <a:latin typeface="Arial"/>
              </a:rPr>
              <a:t>Innovation</a:t>
            </a:r>
          </a:p>
          <a:p>
            <a:pPr>
              <a:spcAft>
                <a:spcPts val="150"/>
              </a:spcAft>
            </a:pPr>
            <a:r>
              <a:rPr sz="840" b="0">
                <a:solidFill>
                  <a:srgbClr val="1E1E1E"/>
                </a:solidFill>
                <a:latin typeface="Arial"/>
              </a:rPr>
              <a:t>• </a:t>
            </a:r>
            <a:r>
              <a:rPr sz="840" b="1">
                <a:solidFill>
                  <a:srgbClr val="1E1E1E"/>
                </a:solidFill>
                <a:latin typeface="Arial"/>
              </a:rPr>
              <a:t>Recoverable, repeatable</a:t>
            </a:r>
            <a:r>
              <a:rPr sz="840" b="0">
                <a:solidFill>
                  <a:srgbClr val="1E1E1E"/>
                </a:solidFill>
                <a:latin typeface="Arial"/>
              </a:rPr>
              <a:t> space-environment test points for a fraction of the cost and schedule of an orbital campaign.</a:t>
            </a:r>
          </a:p>
          <a:p>
            <a:pPr>
              <a:spcAft>
                <a:spcPts val="150"/>
              </a:spcAft>
            </a:pPr>
            <a:r>
              <a:rPr sz="840" b="0">
                <a:solidFill>
                  <a:srgbClr val="1E1E1E"/>
                </a:solidFill>
                <a:latin typeface="Arial"/>
              </a:rPr>
              <a:t>• Linerless composite </a:t>
            </a:r>
            <a:r>
              <a:rPr sz="840" b="1">
                <a:solidFill>
                  <a:srgbClr val="1E1E1E"/>
                </a:solidFill>
                <a:latin typeface="Arial"/>
              </a:rPr>
              <a:t>Type-V cryo tankage</a:t>
            </a:r>
            <a:r>
              <a:rPr sz="840" b="0">
                <a:solidFill>
                  <a:srgbClr val="1E1E1E"/>
                </a:solidFill>
                <a:latin typeface="Arial"/>
              </a:rPr>
              <a:t> (the class that flew as fuel and LOX tanks on IM-1 Odysseus and IM-2 Athena) is the leading tank candidate.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890" b="1">
                <a:solidFill>
                  <a:srgbClr val="1B3A5C"/>
                </a:solidFill>
                <a:latin typeface="Arial"/>
              </a:rPr>
              <a:t>Team</a:t>
            </a:r>
          </a:p>
          <a:p>
            <a:pPr>
              <a:spcAft>
                <a:spcPts val="150"/>
              </a:spcAft>
            </a:pPr>
            <a:r>
              <a:rPr sz="840" b="0">
                <a:solidFill>
                  <a:srgbClr val="1E1E1E"/>
                </a:solidFill>
                <a:latin typeface="Arial"/>
              </a:rPr>
              <a:t>• </a:t>
            </a:r>
            <a:r>
              <a:rPr sz="840" b="1">
                <a:solidFill>
                  <a:srgbClr val="1E1E1E"/>
                </a:solidFill>
                <a:latin typeface="Arial"/>
              </a:rPr>
              <a:t>Exos</a:t>
            </a:r>
            <a:r>
              <a:rPr sz="840" b="0">
                <a:solidFill>
                  <a:srgbClr val="1E1E1E"/>
                </a:solidFill>
                <a:latin typeface="Arial"/>
              </a:rPr>
              <a:t> (prime / integrator, BLK3 flight + Greenville transfer test set) · </a:t>
            </a:r>
            <a:r>
              <a:rPr sz="840" b="1">
                <a:solidFill>
                  <a:srgbClr val="1E1E1E"/>
                </a:solidFill>
                <a:latin typeface="Arial"/>
              </a:rPr>
              <a:t>Princeton Cryogenics</a:t>
            </a:r>
            <a:r>
              <a:rPr sz="840" b="0">
                <a:solidFill>
                  <a:srgbClr val="1E1E1E"/>
                </a:solidFill>
                <a:latin typeface="Arial"/>
              </a:rPr>
              <a:t> (transfer system, cryo-thermal) · </a:t>
            </a:r>
            <a:r>
              <a:rPr sz="840" b="1">
                <a:solidFill>
                  <a:srgbClr val="1E1E1E"/>
                </a:solidFill>
                <a:latin typeface="Arial"/>
              </a:rPr>
              <a:t>Scorpius Space Launch Co.</a:t>
            </a:r>
            <a:r>
              <a:rPr sz="840" b="0">
                <a:solidFill>
                  <a:srgbClr val="1E1E1E"/>
                </a:solidFill>
                <a:latin typeface="Arial"/>
              </a:rPr>
              <a:t> (Type-V tankage, subject to trade).</a:t>
            </a:r>
          </a:p>
          <a:p>
            <a:pPr>
              <a:spcAft>
                <a:spcPts val="150"/>
              </a:spcAft>
            </a:pPr>
            <a:r>
              <a:rPr sz="840" b="0">
                <a:solidFill>
                  <a:srgbClr val="1E1E1E"/>
                </a:solidFill>
                <a:latin typeface="Arial"/>
              </a:rPr>
              <a:t>• </a:t>
            </a:r>
            <a:r>
              <a:rPr sz="840" b="1">
                <a:solidFill>
                  <a:srgbClr val="1E1E1E"/>
                </a:solidFill>
                <a:latin typeface="Arial"/>
              </a:rPr>
              <a:t>Lockheed Martin (proposed):</a:t>
            </a:r>
            <a:r>
              <a:rPr sz="840" b="0">
                <a:solidFill>
                  <a:srgbClr val="1E1E1E"/>
                </a:solidFill>
                <a:latin typeface="Arial"/>
              </a:rPr>
              <a:t> active Phase II teammate. Receiver-side / architecture requirements, data review, and the Phase III transition path.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2" y="3328416"/>
            <a:ext cx="633679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C86A1E"/>
                </a:solidFill>
                <a:latin typeface="Arial"/>
              </a:rPr>
              <a:t>Ask of LM:</a:t>
            </a:r>
            <a:r>
              <a:rPr sz="880" b="0">
                <a:solidFill>
                  <a:srgbClr val="C86A1E"/>
                </a:solidFill>
                <a:latin typeface="Arial"/>
              </a:rPr>
              <a:t> Letter of Support + Phase II teaming on DV513.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3657600"/>
            <a:ext cx="539496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B3A5C"/>
                </a:solidFill>
                <a:latin typeface="Arial"/>
              </a:rPr>
              <a:t>Cost and Schedule ($K, 12-month D2P2)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82880" y="3913632"/>
          <a:ext cx="53949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914400"/>
              </a:tblGrid>
              <a:tr h="193040"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Element</a:t>
                      </a:r>
                    </a:p>
                  </a:txBody>
                  <a:tcPr marT="0" marB="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$K</a:t>
                      </a:r>
                    </a:p>
                  </a:txBody>
                  <a:tcPr marT="0" marB="0">
                    <a:solidFill>
                      <a:srgbClr val="1B3A5C"/>
                    </a:solidFill>
                  </a:tcPr>
                </a:tc>
              </a:tr>
              <a:tr h="19304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1E1E1E"/>
                          </a:solidFill>
                          <a:latin typeface="Arial"/>
                        </a:rPr>
                        <a:t>Exos labor: PM, systems eng., integration, test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1E1E1E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19304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1E1E1E"/>
                          </a:solidFill>
                          <a:latin typeface="Arial"/>
                        </a:rPr>
                        <a:t>Princeton Cryogenics: transfer system &amp; cryo-thermal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1E1E1E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19304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1E1E1E"/>
                          </a:solidFill>
                          <a:latin typeface="Arial"/>
                        </a:rPr>
                        <a:t>Source/receiver tank set (Type-V candidate)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1E1E1E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19304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1E1E1E"/>
                          </a:solidFill>
                          <a:latin typeface="Arial"/>
                        </a:rPr>
                        <a:t>Transfer hardware, QD, instrumentation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1E1E1E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19304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1E1E1E"/>
                          </a:solidFill>
                          <a:latin typeface="Arial"/>
                        </a:rPr>
                        <a:t>Ground transfer campaign (Greenville)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1E1E1E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19304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1E1E1E"/>
                          </a:solidFill>
                          <a:latin typeface="Arial"/>
                        </a:rPr>
                        <a:t>Flight integration + suborbital demo ops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1E1E1E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19304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1E1E1E"/>
                          </a:solidFill>
                          <a:latin typeface="Arial"/>
                        </a:rPr>
                        <a:t>Travel, reserve, G&amp;A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1E1E1E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193040"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1E1E1E"/>
                          </a:solidFill>
                          <a:latin typeface="Arial"/>
                        </a:rPr>
                        <a:t>Total (12 months)</a:t>
                      </a:r>
                    </a:p>
                  </a:txBody>
                  <a:tcPr marT="0" marB="0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1">
                          <a:solidFill>
                            <a:srgbClr val="1E1E1E"/>
                          </a:solidFill>
                          <a:latin typeface="Arial"/>
                        </a:rPr>
                        <a:t>985</a:t>
                      </a:r>
                    </a:p>
                  </a:txBody>
                  <a:tcPr marT="0" marB="0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82880" y="5760720"/>
            <a:ext cx="5394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1">
                <a:solidFill>
                  <a:srgbClr val="1E1E1E"/>
                </a:solidFill>
                <a:latin typeface="Arial"/>
              </a:rPr>
              <a:t>Milestones:</a:t>
            </a:r>
            <a:r>
              <a:rPr sz="740" b="0">
                <a:solidFill>
                  <a:srgbClr val="1E1E1E"/>
                </a:solidFill>
                <a:latin typeface="Arial"/>
              </a:rPr>
              <a:t> M1 SRR + cryogen/surrogate decision (Mo 2) · M2 PDR + tank down-select (Mo 4) · M3 CDR (Mo 7) · M4 ground 1-g transfer campaign (Mo 9) · M5 µg flight transfer + recovery (Mo 12) · final report + transition package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" y="6245352"/>
            <a:ext cx="539496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680" b="0">
                <a:solidFill>
                  <a:srgbClr val="404040"/>
                </a:solidFill>
                <a:latin typeface="Arial"/>
              </a:rPr>
              <a:t>Proposal-stage estimate. TABA (if allowed) is additive. LM Phase II scope/share to be set jointly.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42432" y="3657600"/>
            <a:ext cx="630936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B3A5C"/>
                </a:solidFill>
                <a:latin typeface="Arial"/>
              </a:rPr>
              <a:t>Success &amp;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42432" y="3904487"/>
            <a:ext cx="6309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60" b="1">
                <a:solidFill>
                  <a:srgbClr val="1E1E1E"/>
                </a:solidFill>
                <a:latin typeface="Arial"/>
              </a:rPr>
              <a:t>Success:</a:t>
            </a:r>
            <a:r>
              <a:rPr sz="860" b="0">
                <a:solidFill>
                  <a:srgbClr val="1E1E1E"/>
                </a:solidFill>
                <a:latin typeface="Arial"/>
              </a:rPr>
              <a:t> an instrumented µg cryogenic transfer, recovered and inspected, with a flight-vs-1-g dataset and a transition package delivered.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4389120"/>
            <a:ext cx="292608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4389120"/>
            <a:ext cx="292608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9048" y="4370832"/>
            <a:ext cx="4480560" cy="420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10" b="1">
                <a:solidFill>
                  <a:srgbClr val="1E1E1E"/>
                </a:solidFill>
                <a:latin typeface="Arial"/>
              </a:rPr>
              <a:t>D2P2 (DV513)</a:t>
            </a:r>
            <a:r>
              <a:rPr sz="810" b="0">
                <a:solidFill>
                  <a:srgbClr val="1E1E1E"/>
                </a:solidFill>
                <a:latin typeface="Arial"/>
              </a:rPr>
              <a:t> — recoverable µg cryo-transfer flight demo, LM on the team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4370832"/>
            <a:ext cx="1508760" cy="420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1B3A5C"/>
                </a:solidFill>
                <a:latin typeface="Arial"/>
              </a:rPr>
              <a:t>$985K / 12 mo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4864608"/>
            <a:ext cx="292608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4864608"/>
            <a:ext cx="292608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9048" y="4846320"/>
            <a:ext cx="4480560" cy="420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10" b="1">
                <a:solidFill>
                  <a:srgbClr val="1E1E1E"/>
                </a:solidFill>
                <a:latin typeface="Arial"/>
              </a:rPr>
              <a:t>Phase III with LM</a:t>
            </a:r>
            <a:r>
              <a:rPr sz="810" b="0">
                <a:solidFill>
                  <a:srgbClr val="1E1E1E"/>
                </a:solidFill>
                <a:latin typeface="Arial"/>
              </a:rPr>
              <a:t> — transfer + tankage scaled into LM on-orbit logistics / depot architectures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4846320"/>
            <a:ext cx="1508760" cy="420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1B3A5C"/>
                </a:solidFill>
                <a:latin typeface="Arial"/>
              </a:rPr>
              <a:t>LM-integrated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5340096"/>
            <a:ext cx="292608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0" y="5340096"/>
            <a:ext cx="292608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9048" y="5321808"/>
            <a:ext cx="4480560" cy="420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10" b="1">
                <a:solidFill>
                  <a:srgbClr val="1E1E1E"/>
                </a:solidFill>
                <a:latin typeface="Arial"/>
              </a:rPr>
              <a:t>USSF sustainment</a:t>
            </a:r>
            <a:r>
              <a:rPr sz="810" b="0">
                <a:solidFill>
                  <a:srgbClr val="1E1E1E"/>
                </a:solidFill>
                <a:latin typeface="Arial"/>
              </a:rPr>
              <a:t> — refuel capability for LEO/MEO/GEO/cislunar assets; repeat flights qualify upgrades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5321808"/>
            <a:ext cx="1508760" cy="420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1B3A5C"/>
                </a:solidFill>
                <a:latin typeface="Arial"/>
              </a:rPr>
              <a:t>SSC / SpaceWERX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5815583"/>
            <a:ext cx="292608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0" y="5815583"/>
            <a:ext cx="292608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9048" y="5797296"/>
            <a:ext cx="4480560" cy="420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10" b="1">
                <a:solidFill>
                  <a:srgbClr val="1E1E1E"/>
                </a:solidFill>
                <a:latin typeface="Arial"/>
              </a:rPr>
              <a:t>Commercial OTV</a:t>
            </a:r>
            <a:r>
              <a:rPr sz="810" b="0">
                <a:solidFill>
                  <a:srgbClr val="1E1E1E"/>
                </a:solidFill>
                <a:latin typeface="Arial"/>
              </a:rPr>
              <a:t> — Type-V tank sets already baseline tankage for a commercial OTV program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5797296"/>
            <a:ext cx="1508760" cy="420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1B3A5C"/>
                </a:solidFill>
                <a:latin typeface="Arial"/>
              </a:rPr>
              <a:t>dual-use pull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6510528"/>
            <a:ext cx="108813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404040"/>
                </a:solidFill>
                <a:latin typeface="Arial"/>
              </a:rPr>
              <a:t>Distribution: non-proprietary summary; no export-controlled data (no LM NDA in place). Nothing is awarded. BLK3 received its FAA launch license Mar 2026 and is preparing for flight; Exos has flown commercial payloads since 2018 (SARGE). Type-V tanks are flight-proven as tankage; in-space cryo transfer on this architecture has not been demonstrated and is the objective of this effort.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510528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595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Exos × Lockheed Martin  |  DAF26BX06-DV513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29768"/>
            <a:ext cx="95097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Backup: why Exos, and what we are asking of Lockheed Martin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73152"/>
            <a:ext cx="3246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SBIR 2026.R6  |  DAF26BX06-DV513 (D2P2)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5760720" cy="539496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50" b="1">
                <a:solidFill>
                  <a:srgbClr val="1B3A5C"/>
                </a:solidFill>
                <a:latin typeface="Arial"/>
              </a:rPr>
              <a:t>Why Exos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One of only three FAA-licensed vertical-takeoff reusable rocket operators with demonstrated recovery/reflight (with SpaceX and Blue Origin).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Commercial payloads flown since 2018 (SARGE). BLK3 is our latest FAA-licensed vehicle (Mar 2026).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Minimal infrastructure: needs a pad plus power/comms. Fast, recoverable, repeatable test cadence.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Greenville propellant-transfer ground test set for the 1-g baseline before any flight.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Current USAF SBIR Phase II performer (FA9300-25-C-6022).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50" b="1">
                <a:solidFill>
                  <a:srgbClr val="1B3A5C"/>
                </a:solidFill>
                <a:latin typeface="Arial"/>
              </a:rPr>
              <a:t>Tankage heritage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Scorpius linerless composite Type-V cryo tanks flew as fuel and LOX tanks on IM-1 Odysseus and IM-2 Athena (TRL 9 as tankage).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Exos holds an 18% stake in Scorpius; Type-V tanks are a leading candidate, subject to a fit/cost/schedule trade.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05840"/>
            <a:ext cx="5760720" cy="539496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50" b="1">
                <a:solidFill>
                  <a:srgbClr val="1B3A5C"/>
                </a:solidFill>
                <a:latin typeface="Arial"/>
              </a:rPr>
              <a:t>Proposed LM role (Phase II)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Define receiver-side and interface requirements from LM on-orbit logistics / servicing architectures.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Participate in design reviews (SRR / PDR / CDR) and flight data review.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Co-own the Phase III transition plan into LM programs and USSF sustainment.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50" b="1">
                <a:solidFill>
                  <a:srgbClr val="1B3A5C"/>
                </a:solidFill>
                <a:latin typeface="Arial"/>
              </a:rPr>
              <a:t>Ask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Letter of Support for the DV513 D2P2 submission.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Confirmation of LM Phase II teaming intent; Exos will report the government award outcome to LM.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An NDA if LM wants technical detail beyond this non-proprietary summary.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50" b="1">
                <a:solidFill>
                  <a:srgbClr val="1B3A5C"/>
                </a:solidFill>
                <a:latin typeface="Arial"/>
              </a:rPr>
              <a:t>Point of contact</a:t>
            </a:r>
          </a:p>
          <a:p>
            <a:pPr>
              <a:spcAft>
                <a:spcPts val="150"/>
              </a:spcAft>
            </a:pPr>
            <a:r>
              <a:rPr sz="1100" b="0">
                <a:solidFill>
                  <a:srgbClr val="1E1E1E"/>
                </a:solidFill>
                <a:latin typeface="Arial"/>
              </a:rPr>
              <a:t>• John Quinn, Cofounder &amp; CEO · jquinn@exosaero.com · +1 (972) 740-8355 · www.exosaero.com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108813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404040"/>
                </a:solidFill>
                <a:latin typeface="Arial"/>
              </a:rPr>
              <a:t>Distribution: non-proprietary summary; no export-controlled data (no LM NDA in place). Nothing is awarded. BLK3 received its FAA launch license Mar 2026 and is preparing for flight; Exos has flown commercial payloads since 2018 (SARGE). Type-V tanks are flight-proven as tankage; in-space cryo transfer on this architecture has not been demonstrated and is the objective of this effort.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